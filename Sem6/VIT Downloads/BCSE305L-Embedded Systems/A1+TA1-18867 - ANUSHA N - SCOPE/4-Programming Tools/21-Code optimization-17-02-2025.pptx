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9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7" r:id="rId32"/>
    <p:sldId id="288" r:id="rId33"/>
    <p:sldId id="289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33CC33"/>
    <a:srgbClr val="FF00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8892CB-6D68-D27B-F2C9-677D967720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AE2F6-E8F3-DDB4-40F6-AC03685D95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3264C43-35A3-42D3-9384-207B6E09BA9E}" type="datetimeFigureOut">
              <a:rPr lang="en-US"/>
              <a:pPr>
                <a:defRPr/>
              </a:pPr>
              <a:t>2/27/2024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E44C8FF-B2A4-65B3-ADBB-C9E755897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F3FFC6F-40E5-E2F8-A40B-2485EA855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C563C-CAE3-446B-D1AF-82B5D5E7FD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7F163-9C9E-E121-60B2-2F5EC23F7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503A7E-49CE-4EEF-B26A-38AEC1C858E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957E407A-EF22-53C9-CF7D-21C8F52B54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EA893EDC-1216-E0CB-21E2-25842C816B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6C708BEA-4599-9D10-DFA9-9E6DCDA52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48EE5B-E0F4-43D6-9251-CAB018E7488B}" type="slidenum">
              <a:rPr lang="en-US" altLang="en-US" sz="1200"/>
              <a:pPr/>
              <a:t>65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8D655B91-E739-33DF-4507-B6817976F3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6BC50473-9756-17D8-E7F6-36E19565A9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BF09FB2E-1504-00D7-2CE6-3C82628C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A401FC-BC26-4531-B811-133621131DAB}" type="slidenum">
              <a:rPr lang="en-US" altLang="en-US" sz="1200"/>
              <a:pPr/>
              <a:t>66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A:\paint.GIF">
            <a:extLst>
              <a:ext uri="{FF2B5EF4-FFF2-40B4-BE49-F238E27FC236}">
                <a16:creationId xmlns:a16="http://schemas.microsoft.com/office/drawing/2014/main" id="{0A1C1BC0-B1E0-4F3B-47B1-2BDED3A79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7721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>
                <a:latin typeface="Arial Black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A81A2-47C7-5C5D-5690-04A23302E8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29350"/>
            <a:ext cx="19304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FC089-23BF-4DB4-10CE-A19EF6468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64E654-8C08-662D-41D7-AF5E2C4BE3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fld id="{1C279C4C-1F7C-4BD2-B7EE-3856149ABF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202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C5ED1F-CDE1-0563-3BC5-C7F8CFC3FC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40D6D0-F1CF-EE36-9C6E-2FC7BAAEE7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680B6C-F08F-6C80-AEEE-C63A638BCC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5FEE63-C7EA-46A5-A75C-AC367F31D9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37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0DE86C-F930-9F4A-9323-244ED9D838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BAA4E7-623A-DF15-A399-FE8CED7B6D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819AA5-05F0-9EF8-499E-A3B50D288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1EB6F0-C099-479C-9CDE-DC37D556DB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024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7FC49-45FB-F5CB-8C68-0E4E89F4EF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2E33C6-42B1-BA11-5F9D-F6DA2FBD94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5BD796-AC0E-7687-3A9B-86F9D622EA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362842-1FDD-4A41-A6A8-DE409AD583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7326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8B186E2-B028-E65F-C693-CD34DFD80A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9E71FE6-F903-68CB-B6C8-193E1E9D98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1752457-5E62-466E-EB60-D2F9F259A3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D98455-BFE5-4BBE-8B18-E6144DCFE8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026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795B64-44EE-A13F-EE18-D3497E1003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0C3EFE-7DB7-F5F8-6F5D-BF9CF4358A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5EE3A70-7C56-3B17-E79F-28CFD22C6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84A462-4787-4BDC-B3E4-D9C4C16E03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75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A8AC5EA-FBFB-BB18-0895-40F0589089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886A01-DB7F-E746-4E67-D2E6C88D5B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17991AA-ED1E-6480-8676-A43A7CC297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6996D1-FE40-4289-B592-B345C982FA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108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C08C0-3CB6-360E-17AA-8D05E4B382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93E7AB-C8D3-75C3-381F-525F513BDC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06DB87-CE8C-482A-A648-2B6A92C814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B9FD63-93E5-4726-9C30-FC050D1374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221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781A1-42BA-01DB-F190-33710304F7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81C13-B042-935A-F2B1-E1AFA9BA75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C02D0-638C-6D51-3C17-F3EB75E8E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E3A6A0-9385-442C-B956-83E2AA2D2E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96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FCF37B-7D16-0D0E-9967-B754044EF9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3485AE-AE37-BCCB-2E84-B83D84465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42411E-79B7-FE62-C04E-F39200621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E11CAA-D536-4B56-96AE-B8BC798DDA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54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8600" y="228600"/>
            <a:ext cx="2057400" cy="5829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019800" cy="582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C20A67-AE3C-7C1D-614F-EF65478AB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BC4D6D-5DBC-3B60-345C-6B4159202E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4B0981-B401-6E3D-51A8-95B3F46BBA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A8318-4EB4-4A57-9927-EC03C93232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79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972F6D9-7492-1220-7BFD-167EC8D45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CD979C3-6D3B-40B1-CEDE-0BD95498E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367DF46-7313-41F4-D27E-55D5905C6A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18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2008 Wayne Wolf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CF17E97-7848-FDB2-9DB4-C0A8E6FD411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2935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Overheads for Computers as Components 2nd ed.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CDBC4B62-0EBD-317C-413E-F9CD1C14D4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1000" y="6229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fld id="{E84397A8-3701-4C01-AACE-40698ADAC5FC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7" descr="A:\paint.GIF">
            <a:extLst>
              <a:ext uri="{FF2B5EF4-FFF2-40B4-BE49-F238E27FC236}">
                <a16:creationId xmlns:a16="http://schemas.microsoft.com/office/drawing/2014/main" id="{0D962D80-2725-EE33-FEBE-3AC46131A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z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y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Monotype Sorts" pitchFamily="2" charset="2"/>
        <a:buChar char="x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63EC0B8-352E-BE20-5BDD-18CA66B8F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design and analysis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C4879B3-2C54-0795-6A6A-DC971986C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Compilation flow.</a:t>
            </a:r>
          </a:p>
          <a:p>
            <a:r>
              <a:rPr lang="en-US" altLang="en-US"/>
              <a:t>Basic statement translation.</a:t>
            </a:r>
          </a:p>
          <a:p>
            <a:r>
              <a:rPr lang="en-US" altLang="en-US" dirty="0"/>
              <a:t>Basic optimizations.</a:t>
            </a:r>
          </a:p>
          <a:p>
            <a:r>
              <a:rPr lang="en-US" altLang="en-US" dirty="0"/>
              <a:t>Interpreters and just-in-time compilers.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C5C2453-9E4C-EDB1-884B-995A39684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Compilation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5D84EE0-5BF5-A8B4-E108-2FBE3407C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Compilation strategy :</a:t>
            </a:r>
          </a:p>
          <a:p>
            <a:pPr lvl="1"/>
            <a:r>
              <a:rPr lang="en-US" altLang="en-US"/>
              <a:t>compilation = translation + optimization</a:t>
            </a:r>
          </a:p>
          <a:p>
            <a:r>
              <a:rPr lang="en-US" altLang="en-US"/>
              <a:t>Compiler determines quality of code:</a:t>
            </a:r>
          </a:p>
          <a:p>
            <a:pPr lvl="1"/>
            <a:r>
              <a:rPr lang="en-US" altLang="en-US"/>
              <a:t>use of CPU resources;</a:t>
            </a:r>
          </a:p>
          <a:p>
            <a:pPr lvl="1"/>
            <a:r>
              <a:rPr lang="en-US" altLang="en-US"/>
              <a:t>memory access scheduling;</a:t>
            </a:r>
          </a:p>
          <a:p>
            <a:pPr lvl="1"/>
            <a:r>
              <a:rPr lang="en-US" altLang="en-US"/>
              <a:t>code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ED609AF-F69D-4B8E-1F12-B3C21881F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compilation phases</a:t>
            </a:r>
          </a:p>
        </p:txBody>
      </p:sp>
      <p:sp>
        <p:nvSpPr>
          <p:cNvPr id="5123" name="Oval 4">
            <a:extLst>
              <a:ext uri="{FF2B5EF4-FFF2-40B4-BE49-F238E27FC236}">
                <a16:creationId xmlns:a16="http://schemas.microsoft.com/office/drawing/2014/main" id="{0999B5CD-D92A-3339-B9AF-2D9114F41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676400"/>
            <a:ext cx="12954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HLL</a:t>
            </a:r>
          </a:p>
        </p:txBody>
      </p:sp>
      <p:sp>
        <p:nvSpPr>
          <p:cNvPr id="5124" name="Rectangle 5">
            <a:extLst>
              <a:ext uri="{FF2B5EF4-FFF2-40B4-BE49-F238E27FC236}">
                <a16:creationId xmlns:a16="http://schemas.microsoft.com/office/drawing/2014/main" id="{9C7BFDB9-2D10-EA10-D0D4-2B8869C3F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514600"/>
            <a:ext cx="4038600" cy="609600"/>
          </a:xfrm>
          <a:prstGeom prst="rect">
            <a:avLst/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parsing, symbol table</a:t>
            </a:r>
            <a:endParaRPr lang="en-US" altLang="en-US"/>
          </a:p>
        </p:txBody>
      </p:sp>
      <p:sp>
        <p:nvSpPr>
          <p:cNvPr id="5125" name="Rectangle 6">
            <a:extLst>
              <a:ext uri="{FF2B5EF4-FFF2-40B4-BE49-F238E27FC236}">
                <a16:creationId xmlns:a16="http://schemas.microsoft.com/office/drawing/2014/main" id="{C949750E-67EF-3980-DF40-7EB3A719F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429000"/>
            <a:ext cx="2895600" cy="762000"/>
          </a:xfrm>
          <a:prstGeom prst="rect">
            <a:avLst/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</a:rPr>
              <a:t>machine-independent</a:t>
            </a:r>
          </a:p>
          <a:p>
            <a:pPr algn="ctr"/>
            <a:r>
              <a:rPr lang="en-US" altLang="en-US">
                <a:solidFill>
                  <a:schemeClr val="bg1"/>
                </a:solidFill>
              </a:rPr>
              <a:t>optimizations</a:t>
            </a:r>
            <a:endParaRPr lang="en-US" altLang="en-US"/>
          </a:p>
        </p:txBody>
      </p:sp>
      <p:sp>
        <p:nvSpPr>
          <p:cNvPr id="5126" name="Rectangle 7">
            <a:extLst>
              <a:ext uri="{FF2B5EF4-FFF2-40B4-BE49-F238E27FC236}">
                <a16:creationId xmlns:a16="http://schemas.microsoft.com/office/drawing/2014/main" id="{FFCBD05F-7A50-3D86-7F22-0872D2C9F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419600"/>
            <a:ext cx="4038600" cy="762000"/>
          </a:xfrm>
          <a:prstGeom prst="rect">
            <a:avLst/>
          </a:prstGeom>
          <a:solidFill>
            <a:srgbClr val="00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Instruction-level optimizations</a:t>
            </a:r>
          </a:p>
          <a:p>
            <a:r>
              <a:rPr lang="en-US" altLang="en-US">
                <a:solidFill>
                  <a:schemeClr val="bg1"/>
                </a:solidFill>
              </a:rPr>
              <a:t>and code generation</a:t>
            </a:r>
          </a:p>
        </p:txBody>
      </p:sp>
      <p:sp>
        <p:nvSpPr>
          <p:cNvPr id="5127" name="Oval 12">
            <a:extLst>
              <a:ext uri="{FF2B5EF4-FFF2-40B4-BE49-F238E27FC236}">
                <a16:creationId xmlns:a16="http://schemas.microsoft.com/office/drawing/2014/main" id="{429C6EE2-B2E4-B4FB-A3AA-AA01C0F79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410200"/>
            <a:ext cx="1905000" cy="609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assembly</a:t>
            </a:r>
          </a:p>
        </p:txBody>
      </p:sp>
      <p:sp>
        <p:nvSpPr>
          <p:cNvPr id="5128" name="Line 13">
            <a:extLst>
              <a:ext uri="{FF2B5EF4-FFF2-40B4-BE49-F238E27FC236}">
                <a16:creationId xmlns:a16="http://schemas.microsoft.com/office/drawing/2014/main" id="{9398BDBE-F66C-A8E4-7A35-59B8A6D6A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286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Line 14">
            <a:extLst>
              <a:ext uri="{FF2B5EF4-FFF2-40B4-BE49-F238E27FC236}">
                <a16:creationId xmlns:a16="http://schemas.microsoft.com/office/drawing/2014/main" id="{C918471C-BAC6-AB72-A691-66D08F5BB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124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0" name="Line 15">
            <a:extLst>
              <a:ext uri="{FF2B5EF4-FFF2-40B4-BE49-F238E27FC236}">
                <a16:creationId xmlns:a16="http://schemas.microsoft.com/office/drawing/2014/main" id="{1666792D-B234-AC1A-152E-A84ABDB73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191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16">
            <a:extLst>
              <a:ext uri="{FF2B5EF4-FFF2-40B4-BE49-F238E27FC236}">
                <a16:creationId xmlns:a16="http://schemas.microsoft.com/office/drawing/2014/main" id="{24F3A32D-CB54-DCD2-FC8E-1ABBD3C0D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181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48E4D60-C9F6-481B-9FCF-E3DB3D363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Statement translation and optimization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3C79EED-EA27-7E14-1C99-8E1E9CB2EC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/>
              <a:t>PARSING </a:t>
            </a:r>
          </a:p>
          <a:p>
            <a:r>
              <a:rPr lang="en-US" altLang="en-US">
                <a:solidFill>
                  <a:srgbClr val="C00000"/>
                </a:solidFill>
              </a:rPr>
              <a:t>Lexical anaysis</a:t>
            </a:r>
            <a:r>
              <a:rPr lang="en-US" altLang="en-US"/>
              <a:t>– Variable and symbol tokens are created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   It removes space, comments ,quotations</a:t>
            </a:r>
          </a:p>
          <a:p>
            <a:r>
              <a:rPr lang="en-US" altLang="en-US">
                <a:solidFill>
                  <a:srgbClr val="C00000"/>
                </a:solidFill>
              </a:rPr>
              <a:t>Syntax anaysis</a:t>
            </a:r>
            <a:r>
              <a:rPr lang="en-US" altLang="en-US"/>
              <a:t>– DFG/CDFG created</a:t>
            </a:r>
          </a:p>
          <a:p>
            <a:r>
              <a:rPr lang="en-US" altLang="en-US">
                <a:solidFill>
                  <a:srgbClr val="C00000"/>
                </a:solidFill>
              </a:rPr>
              <a:t>Semantic analysi</a:t>
            </a:r>
            <a:r>
              <a:rPr lang="en-US" altLang="en-US"/>
              <a:t>s—Assembly code generated for the DFG/CDFG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04C0F6-01BD-FA90-7BF7-3D104D30E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Statement translation and optimization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A73449B-35FF-E3DB-8D7D-98A97811DE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Source code is translated into intermediate form such as CDFG.</a:t>
            </a:r>
          </a:p>
          <a:p>
            <a:r>
              <a:rPr lang="en-US" altLang="en-US"/>
              <a:t>CDFG is transformed/optimized.</a:t>
            </a:r>
          </a:p>
          <a:p>
            <a:r>
              <a:rPr lang="en-US" altLang="en-US"/>
              <a:t>CDFG is translated into instructions with optimization decisions.</a:t>
            </a:r>
          </a:p>
          <a:p>
            <a:r>
              <a:rPr lang="en-US" altLang="en-US"/>
              <a:t>Instructions are further optimized.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01C3EC2-9045-2F0F-5D7C-29A8374C6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Arithmetic expressions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4B7A17-F45D-48E8-BCF9-98A1A2B432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85950"/>
            <a:ext cx="4013200" cy="55245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/>
              <a:t>a*b + 5*(c-d)</a:t>
            </a:r>
          </a:p>
        </p:txBody>
      </p:sp>
      <p:sp>
        <p:nvSpPr>
          <p:cNvPr id="8196" name="Text Box 5">
            <a:extLst>
              <a:ext uri="{FF2B5EF4-FFF2-40B4-BE49-F238E27FC236}">
                <a16:creationId xmlns:a16="http://schemas.microsoft.com/office/drawing/2014/main" id="{90EC545E-DCC3-0C9B-39A3-E28BA472C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2632075"/>
            <a:ext cx="1487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expression</a:t>
            </a:r>
            <a:endParaRPr lang="en-US" altLang="en-US"/>
          </a:p>
        </p:txBody>
      </p:sp>
      <p:sp>
        <p:nvSpPr>
          <p:cNvPr id="8197" name="Text Box 6">
            <a:extLst>
              <a:ext uri="{FF2B5EF4-FFF2-40B4-BE49-F238E27FC236}">
                <a16:creationId xmlns:a16="http://schemas.microsoft.com/office/drawing/2014/main" id="{AA1C6745-34C3-5DFF-48D9-924DFD6B4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680075"/>
            <a:ext cx="795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DFG</a:t>
            </a:r>
          </a:p>
        </p:txBody>
      </p:sp>
      <p:sp>
        <p:nvSpPr>
          <p:cNvPr id="8198" name="Oval 8">
            <a:extLst>
              <a:ext uri="{FF2B5EF4-FFF2-40B4-BE49-F238E27FC236}">
                <a16:creationId xmlns:a16="http://schemas.microsoft.com/office/drawing/2014/main" id="{30537DB1-7D9B-6FC7-D9AF-82F99FEFC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384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*</a:t>
            </a:r>
          </a:p>
        </p:txBody>
      </p:sp>
      <p:sp>
        <p:nvSpPr>
          <p:cNvPr id="8199" name="Oval 9">
            <a:extLst>
              <a:ext uri="{FF2B5EF4-FFF2-40B4-BE49-F238E27FC236}">
                <a16:creationId xmlns:a16="http://schemas.microsoft.com/office/drawing/2014/main" id="{41253991-8EFE-C478-10E3-B0A4FFFBB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4384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-</a:t>
            </a:r>
          </a:p>
        </p:txBody>
      </p:sp>
      <p:sp>
        <p:nvSpPr>
          <p:cNvPr id="8200" name="Oval 10">
            <a:extLst>
              <a:ext uri="{FF2B5EF4-FFF2-40B4-BE49-F238E27FC236}">
                <a16:creationId xmlns:a16="http://schemas.microsoft.com/office/drawing/2014/main" id="{4E46A1BF-431A-D92E-174A-21826685D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5052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*</a:t>
            </a:r>
          </a:p>
        </p:txBody>
      </p:sp>
      <p:sp>
        <p:nvSpPr>
          <p:cNvPr id="8201" name="Oval 11">
            <a:extLst>
              <a:ext uri="{FF2B5EF4-FFF2-40B4-BE49-F238E27FC236}">
                <a16:creationId xmlns:a16="http://schemas.microsoft.com/office/drawing/2014/main" id="{7506774C-BE16-7328-3B08-553B607B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5720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+</a:t>
            </a:r>
          </a:p>
        </p:txBody>
      </p:sp>
      <p:sp>
        <p:nvSpPr>
          <p:cNvPr id="8202" name="Line 12">
            <a:extLst>
              <a:ext uri="{FF2B5EF4-FFF2-40B4-BE49-F238E27FC236}">
                <a16:creationId xmlns:a16="http://schemas.microsoft.com/office/drawing/2014/main" id="{2CDDFFAF-043C-9833-8E56-57B671A66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2860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Line 13">
            <a:extLst>
              <a:ext uri="{FF2B5EF4-FFF2-40B4-BE49-F238E27FC236}">
                <a16:creationId xmlns:a16="http://schemas.microsoft.com/office/drawing/2014/main" id="{502F8916-FC91-B0EC-2682-CAB9C0CDED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2286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Line 14">
            <a:extLst>
              <a:ext uri="{FF2B5EF4-FFF2-40B4-BE49-F238E27FC236}">
                <a16:creationId xmlns:a16="http://schemas.microsoft.com/office/drawing/2014/main" id="{34B5B96D-3A49-DD36-465D-F55C11008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5" name="Line 15">
            <a:extLst>
              <a:ext uri="{FF2B5EF4-FFF2-40B4-BE49-F238E27FC236}">
                <a16:creationId xmlns:a16="http://schemas.microsoft.com/office/drawing/2014/main" id="{4E016C59-D04D-BB74-636B-0C4794135B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43800" y="23622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6" name="Line 16">
            <a:extLst>
              <a:ext uri="{FF2B5EF4-FFF2-40B4-BE49-F238E27FC236}">
                <a16:creationId xmlns:a16="http://schemas.microsoft.com/office/drawing/2014/main" id="{6944F7AF-C5EB-ABCF-168F-6B29BC8FF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971800"/>
            <a:ext cx="7620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7" name="Line 17">
            <a:extLst>
              <a:ext uri="{FF2B5EF4-FFF2-40B4-BE49-F238E27FC236}">
                <a16:creationId xmlns:a16="http://schemas.microsoft.com/office/drawing/2014/main" id="{67588E35-BA36-8F3D-350F-6029EDB783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5105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8" name="Line 18">
            <a:extLst>
              <a:ext uri="{FF2B5EF4-FFF2-40B4-BE49-F238E27FC236}">
                <a16:creationId xmlns:a16="http://schemas.microsoft.com/office/drawing/2014/main" id="{FC32E418-F58C-D18B-D1FB-DC61448CE1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29718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9" name="Line 19">
            <a:extLst>
              <a:ext uri="{FF2B5EF4-FFF2-40B4-BE49-F238E27FC236}">
                <a16:creationId xmlns:a16="http://schemas.microsoft.com/office/drawing/2014/main" id="{FDD6F0BA-BA53-2C76-1D0F-A55F0EF09A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32766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0" name="Line 20">
            <a:extLst>
              <a:ext uri="{FF2B5EF4-FFF2-40B4-BE49-F238E27FC236}">
                <a16:creationId xmlns:a16="http://schemas.microsoft.com/office/drawing/2014/main" id="{25B46024-A2E8-229F-8854-D70EA710E6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72200" y="40386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1" name="Text Box 21">
            <a:extLst>
              <a:ext uri="{FF2B5EF4-FFF2-40B4-BE49-F238E27FC236}">
                <a16:creationId xmlns:a16="http://schemas.microsoft.com/office/drawing/2014/main" id="{09528FBB-93F2-AC43-0CE2-EF0E4BA4A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8288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</a:t>
            </a:r>
          </a:p>
        </p:txBody>
      </p:sp>
      <p:sp>
        <p:nvSpPr>
          <p:cNvPr id="8212" name="Text Box 22">
            <a:extLst>
              <a:ext uri="{FF2B5EF4-FFF2-40B4-BE49-F238E27FC236}">
                <a16:creationId xmlns:a16="http://schemas.microsoft.com/office/drawing/2014/main" id="{EBCE3B34-B89C-5A4A-79F8-C228212F9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1793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</a:t>
            </a:r>
          </a:p>
        </p:txBody>
      </p:sp>
      <p:sp>
        <p:nvSpPr>
          <p:cNvPr id="8213" name="Text Box 23">
            <a:extLst>
              <a:ext uri="{FF2B5EF4-FFF2-40B4-BE49-F238E27FC236}">
                <a16:creationId xmlns:a16="http://schemas.microsoft.com/office/drawing/2014/main" id="{62132A7B-8DF9-9A87-90AE-D00CB6863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5" y="18700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c</a:t>
            </a:r>
          </a:p>
        </p:txBody>
      </p:sp>
      <p:sp>
        <p:nvSpPr>
          <p:cNvPr id="8214" name="Text Box 24">
            <a:extLst>
              <a:ext uri="{FF2B5EF4-FFF2-40B4-BE49-F238E27FC236}">
                <a16:creationId xmlns:a16="http://schemas.microsoft.com/office/drawing/2014/main" id="{D1A9F0B9-90BE-503A-FFAE-1226A86DF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18700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</a:t>
            </a:r>
          </a:p>
        </p:txBody>
      </p:sp>
      <p:sp>
        <p:nvSpPr>
          <p:cNvPr id="8215" name="Text Box 25">
            <a:extLst>
              <a:ext uri="{FF2B5EF4-FFF2-40B4-BE49-F238E27FC236}">
                <a16:creationId xmlns:a16="http://schemas.microsoft.com/office/drawing/2014/main" id="{699A53CD-8419-2D18-F060-A1F5C9911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2860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0" name="Rectangle 30">
            <a:extLst>
              <a:ext uri="{FF2B5EF4-FFF2-40B4-BE49-F238E27FC236}">
                <a16:creationId xmlns:a16="http://schemas.microsoft.com/office/drawing/2014/main" id="{8DD04FBB-8CE9-7779-4FD9-E201654B7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286000"/>
            <a:ext cx="11430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2</a:t>
            </a:r>
            <a:endParaRPr lang="en-US" altLang="en-US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EBDD627B-00BF-8016-909D-4FA59FDCD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352800"/>
            <a:ext cx="11430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3</a:t>
            </a:r>
            <a:endParaRPr lang="en-US" altLang="en-US"/>
          </a:p>
        </p:txBody>
      </p:sp>
      <p:sp>
        <p:nvSpPr>
          <p:cNvPr id="10272" name="Rectangle 32">
            <a:extLst>
              <a:ext uri="{FF2B5EF4-FFF2-40B4-BE49-F238E27FC236}">
                <a16:creationId xmlns:a16="http://schemas.microsoft.com/office/drawing/2014/main" id="{EE5E959C-8278-2AC8-3572-5B044F622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419600"/>
            <a:ext cx="11430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4</a:t>
            </a:r>
            <a:endParaRPr lang="en-US" altLang="en-US"/>
          </a:p>
        </p:txBody>
      </p:sp>
      <p:sp>
        <p:nvSpPr>
          <p:cNvPr id="10268" name="Rectangle 28">
            <a:extLst>
              <a:ext uri="{FF2B5EF4-FFF2-40B4-BE49-F238E27FC236}">
                <a16:creationId xmlns:a16="http://schemas.microsoft.com/office/drawing/2014/main" id="{947C872F-0D08-A617-7F56-68DE12C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0"/>
            <a:ext cx="1143000" cy="685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1</a:t>
            </a:r>
            <a:endParaRPr lang="en-US" altLang="en-US"/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BC49308B-486F-2816-FA71-643B8C29A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Arithmetic expressions, cont’d.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38FDB55F-367D-4F10-2787-E77A205F47F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22800" y="1885950"/>
            <a:ext cx="4013200" cy="146685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1600"/>
              <a:t>ADR r4,a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/>
              <a:t>MOV r1,[r4]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/>
              <a:t>ADR r4,b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/>
              <a:t>MOV r2,[r4]</a:t>
            </a:r>
          </a:p>
          <a:p>
            <a:pPr>
              <a:buFont typeface="Monotype Sorts" pitchFamily="2" charset="2"/>
              <a:buNone/>
            </a:pPr>
            <a:r>
              <a:rPr lang="en-US" altLang="en-US" sz="1600"/>
              <a:t>ADD r3,r1,r2</a:t>
            </a:r>
            <a:endParaRPr lang="en-US" altLang="en-US" sz="2000"/>
          </a:p>
        </p:txBody>
      </p:sp>
      <p:sp>
        <p:nvSpPr>
          <p:cNvPr id="9224" name="Text Box 5">
            <a:extLst>
              <a:ext uri="{FF2B5EF4-FFF2-40B4-BE49-F238E27FC236}">
                <a16:creationId xmlns:a16="http://schemas.microsoft.com/office/drawing/2014/main" id="{3E917A6C-74BC-E9DB-80DE-F4221BC5D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5603875"/>
            <a:ext cx="795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DFG</a:t>
            </a:r>
          </a:p>
        </p:txBody>
      </p:sp>
      <p:sp>
        <p:nvSpPr>
          <p:cNvPr id="9225" name="Oval 6">
            <a:extLst>
              <a:ext uri="{FF2B5EF4-FFF2-40B4-BE49-F238E27FC236}">
                <a16:creationId xmlns:a16="http://schemas.microsoft.com/office/drawing/2014/main" id="{8EA88666-5453-8A7B-C4F1-41B9AABF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3622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*</a:t>
            </a:r>
          </a:p>
        </p:txBody>
      </p:sp>
      <p:sp>
        <p:nvSpPr>
          <p:cNvPr id="9226" name="Oval 7">
            <a:extLst>
              <a:ext uri="{FF2B5EF4-FFF2-40B4-BE49-F238E27FC236}">
                <a16:creationId xmlns:a16="http://schemas.microsoft.com/office/drawing/2014/main" id="{060D03C4-820F-DA32-3A68-76C52FA07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3622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-</a:t>
            </a:r>
          </a:p>
        </p:txBody>
      </p:sp>
      <p:sp>
        <p:nvSpPr>
          <p:cNvPr id="9227" name="Oval 8">
            <a:extLst>
              <a:ext uri="{FF2B5EF4-FFF2-40B4-BE49-F238E27FC236}">
                <a16:creationId xmlns:a16="http://schemas.microsoft.com/office/drawing/2014/main" id="{3BD30066-0577-D6C7-6F85-D7CC1795F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4290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*</a:t>
            </a:r>
          </a:p>
        </p:txBody>
      </p:sp>
      <p:sp>
        <p:nvSpPr>
          <p:cNvPr id="9228" name="Oval 9">
            <a:extLst>
              <a:ext uri="{FF2B5EF4-FFF2-40B4-BE49-F238E27FC236}">
                <a16:creationId xmlns:a16="http://schemas.microsoft.com/office/drawing/2014/main" id="{07E9DCAF-854F-4C55-655D-C7E773511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495800"/>
            <a:ext cx="533400" cy="533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+</a:t>
            </a:r>
          </a:p>
        </p:txBody>
      </p:sp>
      <p:sp>
        <p:nvSpPr>
          <p:cNvPr id="9229" name="Line 10">
            <a:extLst>
              <a:ext uri="{FF2B5EF4-FFF2-40B4-BE49-F238E27FC236}">
                <a16:creationId xmlns:a16="http://schemas.microsoft.com/office/drawing/2014/main" id="{3D8E6194-50B4-883A-B116-0C05E369A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209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Line 11">
            <a:extLst>
              <a:ext uri="{FF2B5EF4-FFF2-40B4-BE49-F238E27FC236}">
                <a16:creationId xmlns:a16="http://schemas.microsoft.com/office/drawing/2014/main" id="{89FABEF3-2420-F291-4735-B6E40B7362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47800" y="22098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Line 12">
            <a:extLst>
              <a:ext uri="{FF2B5EF4-FFF2-40B4-BE49-F238E27FC236}">
                <a16:creationId xmlns:a16="http://schemas.microsoft.com/office/drawing/2014/main" id="{6258CF0C-02DF-5641-46A5-813D69CC4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286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Line 13">
            <a:extLst>
              <a:ext uri="{FF2B5EF4-FFF2-40B4-BE49-F238E27FC236}">
                <a16:creationId xmlns:a16="http://schemas.microsoft.com/office/drawing/2014/main" id="{533DF739-0DC6-FC7A-4A94-70A49F549A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86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Line 14">
            <a:extLst>
              <a:ext uri="{FF2B5EF4-FFF2-40B4-BE49-F238E27FC236}">
                <a16:creationId xmlns:a16="http://schemas.microsoft.com/office/drawing/2014/main" id="{A98B5BED-DED9-18A1-4B7B-CFF6573B50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895600"/>
            <a:ext cx="7620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4" name="Line 15">
            <a:extLst>
              <a:ext uri="{FF2B5EF4-FFF2-40B4-BE49-F238E27FC236}">
                <a16:creationId xmlns:a16="http://schemas.microsoft.com/office/drawing/2014/main" id="{D845607F-2E8F-5F12-E0AB-F15D3A5409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5" name="Line 16">
            <a:extLst>
              <a:ext uri="{FF2B5EF4-FFF2-40B4-BE49-F238E27FC236}">
                <a16:creationId xmlns:a16="http://schemas.microsoft.com/office/drawing/2014/main" id="{020B24A2-36DA-3B85-74E0-617D58EBFB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28956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6" name="Line 17">
            <a:extLst>
              <a:ext uri="{FF2B5EF4-FFF2-40B4-BE49-F238E27FC236}">
                <a16:creationId xmlns:a16="http://schemas.microsoft.com/office/drawing/2014/main" id="{8EFA4B5E-1D62-9387-C377-E4A6B413E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2004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7" name="Line 18">
            <a:extLst>
              <a:ext uri="{FF2B5EF4-FFF2-40B4-BE49-F238E27FC236}">
                <a16:creationId xmlns:a16="http://schemas.microsoft.com/office/drawing/2014/main" id="{868212C7-AACC-0D9D-8EC3-C64E018310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62200" y="3962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8" name="Text Box 19">
            <a:extLst>
              <a:ext uri="{FF2B5EF4-FFF2-40B4-BE49-F238E27FC236}">
                <a16:creationId xmlns:a16="http://schemas.microsoft.com/office/drawing/2014/main" id="{69E8FF27-C954-33B3-0970-B57D12CBA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</a:t>
            </a:r>
          </a:p>
        </p:txBody>
      </p:sp>
      <p:sp>
        <p:nvSpPr>
          <p:cNvPr id="9239" name="Text Box 20">
            <a:extLst>
              <a:ext uri="{FF2B5EF4-FFF2-40B4-BE49-F238E27FC236}">
                <a16:creationId xmlns:a16="http://schemas.microsoft.com/office/drawing/2014/main" id="{632E7665-FAA5-970F-1073-21D91EB41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1717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</a:t>
            </a:r>
          </a:p>
        </p:txBody>
      </p:sp>
      <p:sp>
        <p:nvSpPr>
          <p:cNvPr id="9240" name="Text Box 21">
            <a:extLst>
              <a:ext uri="{FF2B5EF4-FFF2-40B4-BE49-F238E27FC236}">
                <a16:creationId xmlns:a16="http://schemas.microsoft.com/office/drawing/2014/main" id="{5450BE2C-E255-2272-87ED-A2F45A3B0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17938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c</a:t>
            </a:r>
          </a:p>
        </p:txBody>
      </p:sp>
      <p:sp>
        <p:nvSpPr>
          <p:cNvPr id="9241" name="Text Box 22">
            <a:extLst>
              <a:ext uri="{FF2B5EF4-FFF2-40B4-BE49-F238E27FC236}">
                <a16:creationId xmlns:a16="http://schemas.microsoft.com/office/drawing/2014/main" id="{5C2C7FF4-D631-1442-984F-EA952C0C6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1793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d</a:t>
            </a:r>
          </a:p>
        </p:txBody>
      </p:sp>
      <p:sp>
        <p:nvSpPr>
          <p:cNvPr id="9242" name="Text Box 23">
            <a:extLst>
              <a:ext uri="{FF2B5EF4-FFF2-40B4-BE49-F238E27FC236}">
                <a16:creationId xmlns:a16="http://schemas.microsoft.com/office/drawing/2014/main" id="{4403E049-A505-9565-2F9F-D2A86A3BB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2784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10273" name="Rectangle 33">
            <a:extLst>
              <a:ext uri="{FF2B5EF4-FFF2-40B4-BE49-F238E27FC236}">
                <a16:creationId xmlns:a16="http://schemas.microsoft.com/office/drawing/2014/main" id="{6F09AC10-8DC0-C733-2091-A5FD7E3D9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352800"/>
            <a:ext cx="40132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600">
                <a:latin typeface="Tahoma" panose="020B0604030504040204" pitchFamily="34" charset="0"/>
              </a:rPr>
              <a:t>ADR r4,c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600">
                <a:latin typeface="Tahoma" panose="020B0604030504040204" pitchFamily="34" charset="0"/>
              </a:rPr>
              <a:t>MOV r1,[r4]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600">
                <a:latin typeface="Tahoma" panose="020B0604030504040204" pitchFamily="34" charset="0"/>
              </a:rPr>
              <a:t>ADR r4,d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600">
                <a:latin typeface="Tahoma" panose="020B0604030504040204" pitchFamily="34" charset="0"/>
              </a:rPr>
              <a:t>MOV r5,[r4]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600">
                <a:latin typeface="Tahoma" panose="020B0604030504040204" pitchFamily="34" charset="0"/>
              </a:rPr>
              <a:t>SUB r6,r4,r5</a:t>
            </a:r>
            <a:endParaRPr kumimoji="1"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74" name="Rectangle 34">
            <a:extLst>
              <a:ext uri="{FF2B5EF4-FFF2-40B4-BE49-F238E27FC236}">
                <a16:creationId xmlns:a16="http://schemas.microsoft.com/office/drawing/2014/main" id="{87DB4B67-DA3A-4557-7336-814503831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00600"/>
            <a:ext cx="4013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600">
                <a:latin typeface="Tahoma" panose="020B0604030504040204" pitchFamily="34" charset="0"/>
              </a:rPr>
              <a:t>MUL r7,r6,#5</a:t>
            </a:r>
            <a:endParaRPr kumimoji="1"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75" name="Rectangle 35">
            <a:extLst>
              <a:ext uri="{FF2B5EF4-FFF2-40B4-BE49-F238E27FC236}">
                <a16:creationId xmlns:a16="http://schemas.microsoft.com/office/drawing/2014/main" id="{B599564F-5CE8-F82D-4CE8-9ACF57DF3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05400"/>
            <a:ext cx="4013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600">
                <a:latin typeface="Tahoma" panose="020B0604030504040204" pitchFamily="34" charset="0"/>
              </a:rPr>
              <a:t>ADD r8,r7,r3</a:t>
            </a:r>
            <a:endParaRPr kumimoji="1" lang="en-US" altLang="en-US" sz="2000">
              <a:latin typeface="Tahoma" panose="020B0604030504040204" pitchFamily="34" charset="0"/>
            </a:endParaRPr>
          </a:p>
        </p:txBody>
      </p:sp>
      <p:sp>
        <p:nvSpPr>
          <p:cNvPr id="9246" name="Text Box 36">
            <a:extLst>
              <a:ext uri="{FF2B5EF4-FFF2-40B4-BE49-F238E27FC236}">
                <a16:creationId xmlns:a16="http://schemas.microsoft.com/office/drawing/2014/main" id="{EA86D715-79EA-3F8B-A8CD-D7B7FFEDE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5603875"/>
            <a:ext cx="758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code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" grpId="0" animBg="1" autoUpdateAnimBg="0"/>
      <p:bldP spid="10271" grpId="0" animBg="1" autoUpdateAnimBg="0"/>
      <p:bldP spid="10272" grpId="0" animBg="1" autoUpdateAnimBg="0"/>
      <p:bldP spid="10268" grpId="0" animBg="1" autoUpdateAnimBg="0"/>
      <p:bldP spid="10244" grpId="0" autoUpdateAnimBg="0"/>
      <p:bldP spid="10273" grpId="0" autoUpdateAnimBg="0"/>
      <p:bldP spid="10274" grpId="0" autoUpdateAnimBg="0"/>
      <p:bldP spid="1027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6DB27B-0C96-4F82-5A4A-C14541590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code generation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5A46074-57CA-4849-DC95-0D524D818D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/>
              <a:t>if (a+b &gt; 0)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x = 5;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else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x = 7;</a:t>
            </a:r>
          </a:p>
        </p:txBody>
      </p:sp>
      <p:sp>
        <p:nvSpPr>
          <p:cNvPr id="10244" name="AutoShape 5">
            <a:extLst>
              <a:ext uri="{FF2B5EF4-FFF2-40B4-BE49-F238E27FC236}">
                <a16:creationId xmlns:a16="http://schemas.microsoft.com/office/drawing/2014/main" id="{4C1DD405-0318-A81E-1C3D-172616BA9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743200"/>
            <a:ext cx="1981200" cy="609600"/>
          </a:xfrm>
          <a:prstGeom prst="hexagon">
            <a:avLst>
              <a:gd name="adj" fmla="val 81250"/>
              <a:gd name="vf" fmla="val 11547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a+b&gt;0</a:t>
            </a:r>
          </a:p>
        </p:txBody>
      </p:sp>
      <p:sp>
        <p:nvSpPr>
          <p:cNvPr id="10245" name="Rectangle 6">
            <a:extLst>
              <a:ext uri="{FF2B5EF4-FFF2-40B4-BE49-F238E27FC236}">
                <a16:creationId xmlns:a16="http://schemas.microsoft.com/office/drawing/2014/main" id="{55EA1EEA-AA1D-FD0A-F722-B90CBA49F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743200"/>
            <a:ext cx="10668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x=5</a:t>
            </a:r>
          </a:p>
        </p:txBody>
      </p:sp>
      <p:sp>
        <p:nvSpPr>
          <p:cNvPr id="10246" name="Rectangle 7">
            <a:extLst>
              <a:ext uri="{FF2B5EF4-FFF2-40B4-BE49-F238E27FC236}">
                <a16:creationId xmlns:a16="http://schemas.microsoft.com/office/drawing/2014/main" id="{E231627E-EF59-4EFE-73EE-E2B424536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962400"/>
            <a:ext cx="10668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x=7</a:t>
            </a:r>
          </a:p>
        </p:txBody>
      </p:sp>
      <p:sp>
        <p:nvSpPr>
          <p:cNvPr id="10247" name="Line 8">
            <a:extLst>
              <a:ext uri="{FF2B5EF4-FFF2-40B4-BE49-F238E27FC236}">
                <a16:creationId xmlns:a16="http://schemas.microsoft.com/office/drawing/2014/main" id="{7B45865A-B58B-0646-2CC9-ACDBF69A56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3048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9">
            <a:extLst>
              <a:ext uri="{FF2B5EF4-FFF2-40B4-BE49-F238E27FC236}">
                <a16:creationId xmlns:a16="http://schemas.microsoft.com/office/drawing/2014/main" id="{AD0525EC-5BD6-0494-74C6-E2E7435D0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352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Line 10">
            <a:extLst>
              <a:ext uri="{FF2B5EF4-FFF2-40B4-BE49-F238E27FC236}">
                <a16:creationId xmlns:a16="http://schemas.microsoft.com/office/drawing/2014/main" id="{3A6A8435-ACB2-3DBD-DE10-9A776CF353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57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0250" name="AutoShape 11">
            <a:extLst>
              <a:ext uri="{FF2B5EF4-FFF2-40B4-BE49-F238E27FC236}">
                <a16:creationId xmlns:a16="http://schemas.microsoft.com/office/drawing/2014/main" id="{35C71F0D-DC1B-520B-A68F-168CF0B632D6}"/>
              </a:ext>
            </a:extLst>
          </p:cNvPr>
          <p:cNvCxnSpPr>
            <a:cxnSpLocks noChangeShapeType="1"/>
            <a:stCxn id="10245" idx="2"/>
          </p:cNvCxnSpPr>
          <p:nvPr/>
        </p:nvCxnSpPr>
        <p:spPr bwMode="auto">
          <a:xfrm rot="5400000">
            <a:off x="5486400" y="3124200"/>
            <a:ext cx="1828800" cy="2286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6" name="Rectangle 18">
            <a:extLst>
              <a:ext uri="{FF2B5EF4-FFF2-40B4-BE49-F238E27FC236}">
                <a16:creationId xmlns:a16="http://schemas.microsoft.com/office/drawing/2014/main" id="{23E273A8-7619-7CA7-4702-3E035DB59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352800"/>
            <a:ext cx="2514600" cy="1066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3</a:t>
            </a:r>
            <a:endParaRPr lang="en-US" altLang="en-US"/>
          </a:p>
        </p:txBody>
      </p:sp>
      <p:sp>
        <p:nvSpPr>
          <p:cNvPr id="12305" name="Rectangle 17">
            <a:extLst>
              <a:ext uri="{FF2B5EF4-FFF2-40B4-BE49-F238E27FC236}">
                <a16:creationId xmlns:a16="http://schemas.microsoft.com/office/drawing/2014/main" id="{8D19D87A-EF38-2A78-FA8E-DC9EF178D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209800"/>
            <a:ext cx="1752600" cy="1066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>
                <a:solidFill>
                  <a:schemeClr val="bg1"/>
                </a:solidFill>
              </a:rPr>
              <a:t>2</a:t>
            </a:r>
            <a:endParaRPr lang="en-US" altLang="en-US"/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387FF3BF-302B-0CD9-90CA-C7235D5D1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09800"/>
            <a:ext cx="2514600" cy="1066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chemeClr val="bg1"/>
                </a:solidFill>
              </a:rPr>
              <a:t>1</a:t>
            </a:r>
            <a:endParaRPr lang="en-US" altLang="en-US"/>
          </a:p>
        </p:txBody>
      </p:sp>
      <p:sp>
        <p:nvSpPr>
          <p:cNvPr id="11269" name="Rectangle 2">
            <a:extLst>
              <a:ext uri="{FF2B5EF4-FFF2-40B4-BE49-F238E27FC236}">
                <a16:creationId xmlns:a16="http://schemas.microsoft.com/office/drawing/2014/main" id="{068CF208-7A01-B818-272B-2F1E1CE0B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 code generation, cont’d.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F6C1DB21-0798-D3A2-9363-810E7DD53E7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51400" y="1657350"/>
            <a:ext cx="4013200" cy="200025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1800"/>
              <a:t>	ADR r5,a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LDR r1,[r5]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ADR r5,b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LDR r2,b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ADD r3,r1,r2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BLE label3</a:t>
            </a:r>
            <a:endParaRPr lang="en-US" altLang="en-US"/>
          </a:p>
        </p:txBody>
      </p:sp>
      <p:sp>
        <p:nvSpPr>
          <p:cNvPr id="11271" name="AutoShape 5">
            <a:extLst>
              <a:ext uri="{FF2B5EF4-FFF2-40B4-BE49-F238E27FC236}">
                <a16:creationId xmlns:a16="http://schemas.microsoft.com/office/drawing/2014/main" id="{B1D29484-5A52-1B89-EF5D-F436CA31F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1981200" cy="609600"/>
          </a:xfrm>
          <a:prstGeom prst="hexagon">
            <a:avLst>
              <a:gd name="adj" fmla="val 81250"/>
              <a:gd name="vf" fmla="val 11547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a+b&gt;0</a:t>
            </a:r>
          </a:p>
        </p:txBody>
      </p:sp>
      <p:sp>
        <p:nvSpPr>
          <p:cNvPr id="11272" name="Rectangle 6">
            <a:extLst>
              <a:ext uri="{FF2B5EF4-FFF2-40B4-BE49-F238E27FC236}">
                <a16:creationId xmlns:a16="http://schemas.microsoft.com/office/drawing/2014/main" id="{A3275C97-89CA-CC82-D3FE-C7077921C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438400"/>
            <a:ext cx="10668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x=5</a:t>
            </a:r>
          </a:p>
        </p:txBody>
      </p:sp>
      <p:sp>
        <p:nvSpPr>
          <p:cNvPr id="11273" name="Rectangle 7">
            <a:extLst>
              <a:ext uri="{FF2B5EF4-FFF2-40B4-BE49-F238E27FC236}">
                <a16:creationId xmlns:a16="http://schemas.microsoft.com/office/drawing/2014/main" id="{ECD1E320-56C7-5383-A7C9-D04365859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657600"/>
            <a:ext cx="10668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x=7</a:t>
            </a:r>
          </a:p>
        </p:txBody>
      </p:sp>
      <p:sp>
        <p:nvSpPr>
          <p:cNvPr id="11274" name="Line 8">
            <a:extLst>
              <a:ext uri="{FF2B5EF4-FFF2-40B4-BE49-F238E27FC236}">
                <a16:creationId xmlns:a16="http://schemas.microsoft.com/office/drawing/2014/main" id="{6429DBD8-FB92-9B56-C5B1-9DFA4855B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743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9">
            <a:extLst>
              <a:ext uri="{FF2B5EF4-FFF2-40B4-BE49-F238E27FC236}">
                <a16:creationId xmlns:a16="http://schemas.microsoft.com/office/drawing/2014/main" id="{82EA65B0-F969-092A-F2E6-C312131919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3048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0">
            <a:extLst>
              <a:ext uri="{FF2B5EF4-FFF2-40B4-BE49-F238E27FC236}">
                <a16:creationId xmlns:a16="http://schemas.microsoft.com/office/drawing/2014/main" id="{14E8641A-39B3-2EFA-1C5B-03F18C2FDF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267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1277" name="AutoShape 11">
            <a:extLst>
              <a:ext uri="{FF2B5EF4-FFF2-40B4-BE49-F238E27FC236}">
                <a16:creationId xmlns:a16="http://schemas.microsoft.com/office/drawing/2014/main" id="{DEA8A65A-D6F4-E1CC-0EC6-A194F33DCB58}"/>
              </a:ext>
            </a:extLst>
          </p:cNvPr>
          <p:cNvCxnSpPr>
            <a:cxnSpLocks noChangeShapeType="1"/>
            <a:stCxn id="11272" idx="2"/>
          </p:cNvCxnSpPr>
          <p:nvPr/>
        </p:nvCxnSpPr>
        <p:spPr bwMode="auto">
          <a:xfrm rot="5400000">
            <a:off x="1981200" y="2819400"/>
            <a:ext cx="1828800" cy="2286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608A77F9-1221-6D85-E79C-0376B2368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581400"/>
            <a:ext cx="4013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	LDR r3,#5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	ADR r5,x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	STR r3,[r5]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	B stmtent</a:t>
            </a:r>
            <a:endParaRPr kumimoji="1" lang="en-US" altLang="en-US" sz="2800">
              <a:latin typeface="Tahoma" panose="020B0604030504040204" pitchFamily="34" charset="0"/>
            </a:endParaRPr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06464DA8-9700-774E-D575-FCD6A91A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876800"/>
            <a:ext cx="40132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	LDR r3,#7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	ADR r5,x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	STR r3,[r5]</a:t>
            </a:r>
          </a:p>
          <a:p>
            <a:pPr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en-US" altLang="en-US" sz="1800">
                <a:latin typeface="Tahoma" panose="020B0604030504040204" pitchFamily="34" charset="0"/>
              </a:rPr>
              <a:t>stmtent ...</a:t>
            </a:r>
            <a:endParaRPr kumimoji="1" lang="en-US" altLang="en-US" sz="28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6" grpId="0" animBg="1" autoUpdateAnimBg="0"/>
      <p:bldP spid="12305" grpId="0" animBg="1" autoUpdateAnimBg="0"/>
      <p:bldP spid="12304" grpId="0" animBg="1" autoUpdateAnimBg="0"/>
      <p:bldP spid="12292" grpId="0" autoUpdateAnimBg="0"/>
      <p:bldP spid="12300" grpId="0" autoUpdateAnimBg="0"/>
      <p:bldP spid="1230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D4AD61E-A735-78D4-4B60-F4F15ADA50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 linkage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3154400-E5B7-6E37-4653-B631A8F59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Need code to:</a:t>
            </a:r>
          </a:p>
          <a:p>
            <a:pPr lvl="1"/>
            <a:r>
              <a:rPr lang="en-US" altLang="en-US"/>
              <a:t>call and return;</a:t>
            </a:r>
          </a:p>
          <a:p>
            <a:pPr lvl="1"/>
            <a:r>
              <a:rPr lang="en-US" altLang="en-US"/>
              <a:t>pass parameters and results.</a:t>
            </a:r>
          </a:p>
          <a:p>
            <a:r>
              <a:rPr lang="en-US" altLang="en-US"/>
              <a:t>Parameters and returns are passed on stack.</a:t>
            </a:r>
          </a:p>
          <a:p>
            <a:pPr lvl="1"/>
            <a:r>
              <a:rPr lang="en-US" altLang="en-US"/>
              <a:t>Procedures with few parameters may use registers.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C1C92BD-3B5A-E104-7E95-99C853C6A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 stacks</a:t>
            </a: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8582FCFE-EE4A-434E-B1C6-519882BA8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981200"/>
            <a:ext cx="1295400" cy="1600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proc1</a:t>
            </a:r>
          </a:p>
        </p:txBody>
      </p:sp>
      <p:sp>
        <p:nvSpPr>
          <p:cNvPr id="13316" name="Line 5">
            <a:extLst>
              <a:ext uri="{FF2B5EF4-FFF2-40B4-BE49-F238E27FC236}">
                <a16:creationId xmlns:a16="http://schemas.microsoft.com/office/drawing/2014/main" id="{B83E2E05-FB4F-02F9-7504-8141BE62E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1752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Text Box 6">
            <a:extLst>
              <a:ext uri="{FF2B5EF4-FFF2-40B4-BE49-F238E27FC236}">
                <a16:creationId xmlns:a16="http://schemas.microsoft.com/office/drawing/2014/main" id="{EAED0ECC-4B47-DF0B-F131-9496BE783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81200"/>
            <a:ext cx="1047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growth</a:t>
            </a:r>
          </a:p>
        </p:txBody>
      </p:sp>
      <p:sp>
        <p:nvSpPr>
          <p:cNvPr id="13318" name="Text Box 7">
            <a:extLst>
              <a:ext uri="{FF2B5EF4-FFF2-40B4-BE49-F238E27FC236}">
                <a16:creationId xmlns:a16="http://schemas.microsoft.com/office/drawing/2014/main" id="{D22F7FF6-5BD0-1143-BA2B-75340DD1B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438400"/>
            <a:ext cx="223202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proc1(int a) {</a:t>
            </a:r>
          </a:p>
          <a:p>
            <a:r>
              <a:rPr lang="en-US" altLang="en-US"/>
              <a:t>	proc2(5);</a:t>
            </a:r>
          </a:p>
          <a:p>
            <a:r>
              <a:rPr lang="en-US" altLang="en-US"/>
              <a:t>}</a:t>
            </a:r>
          </a:p>
        </p:txBody>
      </p:sp>
      <p:sp>
        <p:nvSpPr>
          <p:cNvPr id="13319" name="Rectangle 8">
            <a:extLst>
              <a:ext uri="{FF2B5EF4-FFF2-40B4-BE49-F238E27FC236}">
                <a16:creationId xmlns:a16="http://schemas.microsoft.com/office/drawing/2014/main" id="{5447B7F1-87CC-E164-72C2-610E9A248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581400"/>
            <a:ext cx="1295400" cy="1600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proc2</a:t>
            </a:r>
          </a:p>
        </p:txBody>
      </p:sp>
      <p:sp>
        <p:nvSpPr>
          <p:cNvPr id="13320" name="Line 9">
            <a:extLst>
              <a:ext uri="{FF2B5EF4-FFF2-40B4-BE49-F238E27FC236}">
                <a16:creationId xmlns:a16="http://schemas.microsoft.com/office/drawing/2014/main" id="{39C790EA-A590-EE6C-741D-4F186D044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105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1" name="Text Box 10">
            <a:extLst>
              <a:ext uri="{FF2B5EF4-FFF2-40B4-BE49-F238E27FC236}">
                <a16:creationId xmlns:a16="http://schemas.microsoft.com/office/drawing/2014/main" id="{22C8C4AF-D568-F5C5-DCBA-CCD62B32E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841875"/>
            <a:ext cx="17478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SP</a:t>
            </a:r>
            <a:endParaRPr lang="en-US" altLang="en-US"/>
          </a:p>
          <a:p>
            <a:r>
              <a:rPr lang="en-US" altLang="en-US"/>
              <a:t>stack pointer</a:t>
            </a:r>
          </a:p>
        </p:txBody>
      </p:sp>
      <p:sp>
        <p:nvSpPr>
          <p:cNvPr id="13322" name="Line 11">
            <a:extLst>
              <a:ext uri="{FF2B5EF4-FFF2-40B4-BE49-F238E27FC236}">
                <a16:creationId xmlns:a16="http://schemas.microsoft.com/office/drawing/2014/main" id="{02822F40-4D83-88DE-CB61-5DDBAF4C9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505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3" name="Text Box 12">
            <a:extLst>
              <a:ext uri="{FF2B5EF4-FFF2-40B4-BE49-F238E27FC236}">
                <a16:creationId xmlns:a16="http://schemas.microsoft.com/office/drawing/2014/main" id="{E324FA97-92FA-0521-ACAC-B673EE89D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3241675"/>
            <a:ext cx="18319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FP</a:t>
            </a:r>
            <a:endParaRPr lang="en-US" altLang="en-US"/>
          </a:p>
          <a:p>
            <a:r>
              <a:rPr lang="en-US" altLang="en-US"/>
              <a:t>frame pointer</a:t>
            </a:r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6182BAE0-6C79-2115-C678-7B1382946819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4572000"/>
            <a:ext cx="4625975" cy="609600"/>
            <a:chOff x="2208" y="2880"/>
            <a:chExt cx="2914" cy="384"/>
          </a:xfrm>
        </p:grpSpPr>
        <p:sp>
          <p:nvSpPr>
            <p:cNvPr id="13325" name="Rectangle 13">
              <a:extLst>
                <a:ext uri="{FF2B5EF4-FFF2-40B4-BE49-F238E27FC236}">
                  <a16:creationId xmlns:a16="http://schemas.microsoft.com/office/drawing/2014/main" id="{21EE23FD-777A-CFFE-A098-E48B29489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880"/>
              <a:ext cx="816" cy="24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5</a:t>
              </a:r>
            </a:p>
          </p:txBody>
        </p:sp>
        <p:sp>
          <p:nvSpPr>
            <p:cNvPr id="13326" name="AutoShape 14">
              <a:extLst>
                <a:ext uri="{FF2B5EF4-FFF2-40B4-BE49-F238E27FC236}">
                  <a16:creationId xmlns:a16="http://schemas.microsoft.com/office/drawing/2014/main" id="{033CF922-AF69-5601-0B4A-24B2D85BA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2880"/>
              <a:ext cx="144" cy="384"/>
            </a:xfrm>
            <a:prstGeom prst="rightBrace">
              <a:avLst>
                <a:gd name="adj1" fmla="val 2222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327" name="Text Box 15">
              <a:extLst>
                <a:ext uri="{FF2B5EF4-FFF2-40B4-BE49-F238E27FC236}">
                  <a16:creationId xmlns:a16="http://schemas.microsoft.com/office/drawing/2014/main" id="{1669857A-7770-7E26-DF00-14F8F4554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4" y="2906"/>
              <a:ext cx="18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>
                  <a:solidFill>
                    <a:srgbClr val="0099FF"/>
                  </a:solidFill>
                </a:rPr>
                <a:t>accessed relative to SP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E51AD5F-38CB-0B31-7DA0-6DF29B58A9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ARM procedure linkage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BE12C8F-15F2-EFE0-074C-B7C1E74779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APCS (ARM Procedure Call Standard):</a:t>
            </a:r>
          </a:p>
          <a:p>
            <a:pPr lvl="1"/>
            <a:r>
              <a:rPr lang="en-US" altLang="en-US"/>
              <a:t>r0-r3 pass parameters into procedure. Extra parameters are put on stack frame.</a:t>
            </a:r>
          </a:p>
          <a:p>
            <a:pPr lvl="1"/>
            <a:r>
              <a:rPr lang="en-US" altLang="en-US"/>
              <a:t>r0 holds return value.</a:t>
            </a:r>
          </a:p>
          <a:p>
            <a:pPr lvl="1"/>
            <a:r>
              <a:rPr lang="en-US" altLang="en-US"/>
              <a:t>r4-r7 hold register values.</a:t>
            </a:r>
          </a:p>
          <a:p>
            <a:pPr lvl="1"/>
            <a:r>
              <a:rPr lang="en-US" altLang="en-US"/>
              <a:t>r11 is frame pointer, r13 is stack pointer.</a:t>
            </a:r>
          </a:p>
          <a:p>
            <a:pPr lvl="1"/>
            <a:r>
              <a:rPr lang="en-US" altLang="en-US"/>
              <a:t>r10 holds limiting address on stack size to check for stack overflows.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D596A51-297A-FDA1-5EC2-5A3818F49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structures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270DB83-60D4-6631-05A4-16F3642DF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Different types of data structures use different data layouts.</a:t>
            </a:r>
          </a:p>
          <a:p>
            <a:r>
              <a:rPr lang="en-US" altLang="en-US"/>
              <a:t>Some offsets into data structure can be computed at compile time, others must be computed at run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7880042-25E1-2DC4-9C34-0576BD419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One-dimensional arrays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23185ED-CB43-880A-5A22-7A3F1C33C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704850"/>
          </a:xfrm>
        </p:spPr>
        <p:txBody>
          <a:bodyPr/>
          <a:lstStyle/>
          <a:p>
            <a:r>
              <a:rPr lang="en-US" altLang="en-US"/>
              <a:t>C array name points to 0th element: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066BDFCE-8A65-A30F-CCF5-2E4013ADA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971800"/>
            <a:ext cx="2057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a[0]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D36F959E-3071-E9FB-DC7E-736F5E0D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505200"/>
            <a:ext cx="2057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a[1]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43BFDFFA-CA5D-78C3-3B30-240696C65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038600"/>
            <a:ext cx="2057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a[2]</a:t>
            </a:r>
          </a:p>
        </p:txBody>
      </p:sp>
      <p:sp>
        <p:nvSpPr>
          <p:cNvPr id="16391" name="Line 7">
            <a:extLst>
              <a:ext uri="{FF2B5EF4-FFF2-40B4-BE49-F238E27FC236}">
                <a16:creationId xmlns:a16="http://schemas.microsoft.com/office/drawing/2014/main" id="{372FF6B6-A7C9-64A9-D20D-FFDC48640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3200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Text Box 8">
            <a:extLst>
              <a:ext uri="{FF2B5EF4-FFF2-40B4-BE49-F238E27FC236}">
                <a16:creationId xmlns:a16="http://schemas.microsoft.com/office/drawing/2014/main" id="{85ED1F46-2B56-FF74-CBC6-201BD1DA7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30130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</a:t>
            </a:r>
          </a:p>
        </p:txBody>
      </p:sp>
      <p:sp>
        <p:nvSpPr>
          <p:cNvPr id="17417" name="Text Box 9">
            <a:extLst>
              <a:ext uri="{FF2B5EF4-FFF2-40B4-BE49-F238E27FC236}">
                <a16:creationId xmlns:a16="http://schemas.microsoft.com/office/drawing/2014/main" id="{C0909CB5-ED3A-4953-9A4A-E37187C77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3470275"/>
            <a:ext cx="1398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= *(a + 1)</a:t>
            </a:r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E443A20B-8D4A-17D1-0356-8A1DC509A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90800"/>
            <a:ext cx="20574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8ACD44C-4FC4-C8F3-4BA2-F7E0C7463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Two-dimensional arrays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C21DE20-A889-6B45-C6A6-B25CBCDBA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781050"/>
          </a:xfrm>
        </p:spPr>
        <p:txBody>
          <a:bodyPr/>
          <a:lstStyle/>
          <a:p>
            <a:r>
              <a:rPr lang="en-US" altLang="en-US"/>
              <a:t>Column-major layout: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EC218EE-A29A-7CDC-CF8B-869AE6361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743200"/>
            <a:ext cx="2057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a[0,0]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C7D91215-3C19-CAC9-AF08-1E2B8CB40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276600"/>
            <a:ext cx="2057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a[0,1]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6AF01DB-E208-95CA-641F-5AA660DCA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495800"/>
            <a:ext cx="2057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a[1,0]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F6ADFBBE-DEB0-FA35-102C-8E848FA1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90800"/>
            <a:ext cx="20574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0523A695-6579-C4D9-D872-C199F98AE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5029200"/>
            <a:ext cx="2057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a[1,1]</a:t>
            </a: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45618BCD-8919-F087-9035-B4AB3CC98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5" y="4994275"/>
            <a:ext cx="1533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= a[i*M+j]</a:t>
            </a:r>
          </a:p>
        </p:txBody>
      </p:sp>
      <p:sp>
        <p:nvSpPr>
          <p:cNvPr id="17418" name="Text Box 10">
            <a:extLst>
              <a:ext uri="{FF2B5EF4-FFF2-40B4-BE49-F238E27FC236}">
                <a16:creationId xmlns:a16="http://schemas.microsoft.com/office/drawing/2014/main" id="{4BE09841-7634-4780-D2D9-6960A69EC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6576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...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225F9389-CEBD-5554-12EC-8EA8B2F3C7A9}"/>
              </a:ext>
            </a:extLst>
          </p:cNvPr>
          <p:cNvGrpSpPr>
            <a:grpSpLocks/>
          </p:cNvGrpSpPr>
          <p:nvPr/>
        </p:nvGrpSpPr>
        <p:grpSpPr bwMode="auto">
          <a:xfrm>
            <a:off x="1965325" y="2743200"/>
            <a:ext cx="4418013" cy="2251075"/>
            <a:chOff x="1238" y="1728"/>
            <a:chExt cx="2783" cy="1418"/>
          </a:xfrm>
        </p:grpSpPr>
        <p:sp>
          <p:nvSpPr>
            <p:cNvPr id="17420" name="AutoShape 11">
              <a:extLst>
                <a:ext uri="{FF2B5EF4-FFF2-40B4-BE49-F238E27FC236}">
                  <a16:creationId xmlns:a16="http://schemas.microsoft.com/office/drawing/2014/main" id="{20006A0A-62D2-79B6-2A80-BE75A5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728"/>
              <a:ext cx="144" cy="912"/>
            </a:xfrm>
            <a:prstGeom prst="rightBrace">
              <a:avLst>
                <a:gd name="adj1" fmla="val 5277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421" name="Text Box 12">
              <a:extLst>
                <a:ext uri="{FF2B5EF4-FFF2-40B4-BE49-F238E27FC236}">
                  <a16:creationId xmlns:a16="http://schemas.microsoft.com/office/drawing/2014/main" id="{C2FFBCA4-13D2-BFCA-71FF-DCE544408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4" y="1994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M</a:t>
              </a:r>
            </a:p>
          </p:txBody>
        </p:sp>
        <p:sp>
          <p:nvSpPr>
            <p:cNvPr id="17422" name="Line 13">
              <a:extLst>
                <a:ext uri="{FF2B5EF4-FFF2-40B4-BE49-F238E27FC236}">
                  <a16:creationId xmlns:a16="http://schemas.microsoft.com/office/drawing/2014/main" id="{41CB6F25-31C2-01AB-3AFB-F3066BCE9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1872"/>
              <a:ext cx="52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Line 14">
              <a:extLst>
                <a:ext uri="{FF2B5EF4-FFF2-40B4-BE49-F238E27FC236}">
                  <a16:creationId xmlns:a16="http://schemas.microsoft.com/office/drawing/2014/main" id="{A5E07457-9085-FE87-5279-F94F8D69B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544"/>
              <a:ext cx="52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4" name="Text Box 15">
              <a:extLst>
                <a:ext uri="{FF2B5EF4-FFF2-40B4-BE49-F238E27FC236}">
                  <a16:creationId xmlns:a16="http://schemas.microsoft.com/office/drawing/2014/main" id="{CA6B8CE8-881C-B1CD-C04E-7336AE4A0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2858"/>
              <a:ext cx="2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...</a:t>
              </a:r>
            </a:p>
          </p:txBody>
        </p:sp>
        <p:sp>
          <p:nvSpPr>
            <p:cNvPr id="17425" name="Text Box 16">
              <a:extLst>
                <a:ext uri="{FF2B5EF4-FFF2-40B4-BE49-F238E27FC236}">
                  <a16:creationId xmlns:a16="http://schemas.microsoft.com/office/drawing/2014/main" id="{168658D9-C7EC-5E13-EEEA-DCB0D2D9D9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" y="24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688CFA4-A8DC-FEB7-0799-A58A283B0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Structures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921FB37-36F4-23E0-F407-5E3F5AB57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628650"/>
          </a:xfrm>
        </p:spPr>
        <p:txBody>
          <a:bodyPr/>
          <a:lstStyle/>
          <a:p>
            <a:r>
              <a:rPr lang="en-US" altLang="en-US"/>
              <a:t>Fields within structures are static offsets: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98C09F59-D850-0256-02D0-CD5567E74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971800"/>
            <a:ext cx="16002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field1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863C77EE-46DF-2E32-89DD-8305133B3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114800"/>
            <a:ext cx="16002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field2</a:t>
            </a:r>
          </a:p>
        </p:txBody>
      </p:sp>
      <p:sp>
        <p:nvSpPr>
          <p:cNvPr id="18438" name="Rectangle 7">
            <a:extLst>
              <a:ext uri="{FF2B5EF4-FFF2-40B4-BE49-F238E27FC236}">
                <a16:creationId xmlns:a16="http://schemas.microsoft.com/office/drawing/2014/main" id="{995EB4D6-9611-EFA6-090C-952CC03E7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90800"/>
            <a:ext cx="16002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8439" name="Line 8">
            <a:extLst>
              <a:ext uri="{FF2B5EF4-FFF2-40B4-BE49-F238E27FC236}">
                <a16:creationId xmlns:a16="http://schemas.microsoft.com/office/drawing/2014/main" id="{1E679662-F808-10C5-11D9-FC6BFD5555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048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9">
            <a:extLst>
              <a:ext uri="{FF2B5EF4-FFF2-40B4-BE49-F238E27FC236}">
                <a16:creationId xmlns:a16="http://schemas.microsoft.com/office/drawing/2014/main" id="{53688591-E1F5-25C6-9E58-993CE49A1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860675"/>
            <a:ext cx="657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aptr</a:t>
            </a:r>
          </a:p>
        </p:txBody>
      </p:sp>
      <p:sp>
        <p:nvSpPr>
          <p:cNvPr id="18441" name="Text Box 10">
            <a:extLst>
              <a:ext uri="{FF2B5EF4-FFF2-40B4-BE49-F238E27FC236}">
                <a16:creationId xmlns:a16="http://schemas.microsoft.com/office/drawing/2014/main" id="{AE7A4F93-AABD-9051-559B-88A3F8D81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3165475"/>
            <a:ext cx="3770313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struct {</a:t>
            </a:r>
          </a:p>
          <a:p>
            <a:r>
              <a:rPr lang="en-US" altLang="en-US"/>
              <a:t>   int field1;</a:t>
            </a:r>
          </a:p>
          <a:p>
            <a:r>
              <a:rPr lang="en-US" altLang="en-US"/>
              <a:t>   char field2;</a:t>
            </a:r>
          </a:p>
          <a:p>
            <a:r>
              <a:rPr lang="en-US" altLang="en-US"/>
              <a:t>} mystruct;</a:t>
            </a:r>
          </a:p>
          <a:p>
            <a:endParaRPr lang="en-US" altLang="en-US"/>
          </a:p>
          <a:p>
            <a:r>
              <a:rPr lang="en-US" altLang="en-US"/>
              <a:t>struct mystruct a, *aptr = &amp;a;</a:t>
            </a:r>
          </a:p>
          <a:p>
            <a:endParaRPr lang="en-US" altLang="en-US"/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679883CC-1EAD-0A20-ACC2-67FD5CFF75F6}"/>
              </a:ext>
            </a:extLst>
          </p:cNvPr>
          <p:cNvGrpSpPr>
            <a:grpSpLocks/>
          </p:cNvGrpSpPr>
          <p:nvPr/>
        </p:nvGrpSpPr>
        <p:grpSpPr bwMode="auto">
          <a:xfrm>
            <a:off x="7102475" y="3006725"/>
            <a:ext cx="1116013" cy="1143000"/>
            <a:chOff x="4474" y="1894"/>
            <a:chExt cx="703" cy="720"/>
          </a:xfrm>
        </p:grpSpPr>
        <p:sp>
          <p:nvSpPr>
            <p:cNvPr id="18446" name="Line 11">
              <a:extLst>
                <a:ext uri="{FF2B5EF4-FFF2-40B4-BE49-F238E27FC236}">
                  <a16:creationId xmlns:a16="http://schemas.microsoft.com/office/drawing/2014/main" id="{3D0CA29C-35A4-155C-8725-F40F17024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189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Text Box 12">
              <a:extLst>
                <a:ext uri="{FF2B5EF4-FFF2-40B4-BE49-F238E27FC236}">
                  <a16:creationId xmlns:a16="http://schemas.microsoft.com/office/drawing/2014/main" id="{F15ED95E-02FC-D2DE-3B1F-5A8B72FDB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112"/>
              <a:ext cx="6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4 bytes</a:t>
              </a: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8BE416AD-34C0-A9BE-36D3-0E7FA465B1E9}"/>
              </a:ext>
            </a:extLst>
          </p:cNvPr>
          <p:cNvGrpSpPr>
            <a:grpSpLocks/>
          </p:cNvGrpSpPr>
          <p:nvPr/>
        </p:nvGrpSpPr>
        <p:grpSpPr bwMode="auto">
          <a:xfrm>
            <a:off x="7026275" y="4038600"/>
            <a:ext cx="1854200" cy="457200"/>
            <a:chOff x="4426" y="2544"/>
            <a:chExt cx="1168" cy="288"/>
          </a:xfrm>
        </p:grpSpPr>
        <p:sp>
          <p:nvSpPr>
            <p:cNvPr id="18444" name="Line 13">
              <a:extLst>
                <a:ext uri="{FF2B5EF4-FFF2-40B4-BE49-F238E27FC236}">
                  <a16:creationId xmlns:a16="http://schemas.microsoft.com/office/drawing/2014/main" id="{AA9BD24E-812D-9793-5DB1-1F83DC2448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6" y="266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Text Box 14">
              <a:extLst>
                <a:ext uri="{FF2B5EF4-FFF2-40B4-BE49-F238E27FC236}">
                  <a16:creationId xmlns:a16="http://schemas.microsoft.com/office/drawing/2014/main" id="{7B5B9A9B-514D-3AE1-8897-97F96AC7C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544"/>
              <a:ext cx="8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/>
                <a:t>*(aptr+4)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7350060-EAE9-9A3A-D908-77A70EB06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Expression simplification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3E90D48-AEB3-013E-FE8B-661B43C3C4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Constant folding:</a:t>
            </a:r>
          </a:p>
          <a:p>
            <a:pPr lvl="1"/>
            <a:r>
              <a:rPr lang="en-US" altLang="en-US"/>
              <a:t>8+1 = 9</a:t>
            </a:r>
          </a:p>
          <a:p>
            <a:r>
              <a:rPr lang="en-US" altLang="en-US"/>
              <a:t>Algebraic:</a:t>
            </a:r>
          </a:p>
          <a:p>
            <a:pPr lvl="1"/>
            <a:r>
              <a:rPr lang="en-US" altLang="en-US"/>
              <a:t>a*b + a*c = a*(b+c)</a:t>
            </a:r>
          </a:p>
          <a:p>
            <a:r>
              <a:rPr lang="en-US" altLang="en-US"/>
              <a:t>Strength reduction:</a:t>
            </a:r>
          </a:p>
          <a:p>
            <a:pPr lvl="1"/>
            <a:r>
              <a:rPr lang="en-US" altLang="en-US"/>
              <a:t>a*2 = a&lt;&lt;1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B1FCB28-8A51-1B5C-647F-999A99071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Dead code elimination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45C85C1-31FC-6D69-5963-AD3E7090A1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4013200" cy="4953000"/>
          </a:xfrm>
        </p:spPr>
        <p:txBody>
          <a:bodyPr/>
          <a:lstStyle/>
          <a:p>
            <a:r>
              <a:rPr lang="en-US" altLang="en-US" dirty="0"/>
              <a:t>Dead code:</a:t>
            </a:r>
          </a:p>
          <a:p>
            <a:r>
              <a:rPr lang="en-US" altLang="en-US" dirty="0"/>
              <a:t>Code that will never be executed can be safely removed from the program.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dirty="0"/>
              <a:t>#define DEBUG 0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 dirty="0"/>
              <a:t>if (DEBUG) </a:t>
            </a:r>
            <a:r>
              <a:rPr lang="en-US" altLang="en-US" sz="2400" dirty="0" err="1"/>
              <a:t>dbg</a:t>
            </a:r>
            <a:r>
              <a:rPr lang="en-US" altLang="en-US" sz="2400" dirty="0"/>
              <a:t>(p1);</a:t>
            </a:r>
            <a:endParaRPr lang="en-US" altLang="en-US" dirty="0"/>
          </a:p>
          <a:p>
            <a:r>
              <a:rPr lang="en-US" altLang="en-US" dirty="0"/>
              <a:t>Can be eliminated by analysis of control flow, constant folding.</a:t>
            </a:r>
          </a:p>
        </p:txBody>
      </p:sp>
      <p:sp>
        <p:nvSpPr>
          <p:cNvPr id="20484" name="AutoShape 5">
            <a:extLst>
              <a:ext uri="{FF2B5EF4-FFF2-40B4-BE49-F238E27FC236}">
                <a16:creationId xmlns:a16="http://schemas.microsoft.com/office/drawing/2014/main" id="{9086FDE3-41EB-438F-26A6-9120BD21E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590800"/>
            <a:ext cx="1371600" cy="9906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0</a:t>
            </a:r>
          </a:p>
        </p:txBody>
      </p:sp>
      <p:sp>
        <p:nvSpPr>
          <p:cNvPr id="20485" name="Line 6">
            <a:extLst>
              <a:ext uri="{FF2B5EF4-FFF2-40B4-BE49-F238E27FC236}">
                <a16:creationId xmlns:a16="http://schemas.microsoft.com/office/drawing/2014/main" id="{CDF9C434-3259-3031-6DCF-B726B4330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581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7">
            <a:extLst>
              <a:ext uri="{FF2B5EF4-FFF2-40B4-BE49-F238E27FC236}">
                <a16:creationId xmlns:a16="http://schemas.microsoft.com/office/drawing/2014/main" id="{8C5BB93E-AB8E-177F-E791-79194AC37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20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Rectangle 8">
            <a:extLst>
              <a:ext uri="{FF2B5EF4-FFF2-40B4-BE49-F238E27FC236}">
                <a16:creationId xmlns:a16="http://schemas.microsoft.com/office/drawing/2014/main" id="{C32B8221-4AE7-9D31-477A-1A0CAE630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962400"/>
            <a:ext cx="12954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dbg(p1);</a:t>
            </a:r>
          </a:p>
        </p:txBody>
      </p:sp>
      <p:sp>
        <p:nvSpPr>
          <p:cNvPr id="20488" name="Line 9">
            <a:extLst>
              <a:ext uri="{FF2B5EF4-FFF2-40B4-BE49-F238E27FC236}">
                <a16:creationId xmlns:a16="http://schemas.microsoft.com/office/drawing/2014/main" id="{8FC302BF-DD76-B9D3-A98D-1976A0AB6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4495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0489" name="AutoShape 10">
            <a:extLst>
              <a:ext uri="{FF2B5EF4-FFF2-40B4-BE49-F238E27FC236}">
                <a16:creationId xmlns:a16="http://schemas.microsoft.com/office/drawing/2014/main" id="{7FA90650-31AE-31A7-3D35-5FFF78E19E4B}"/>
              </a:ext>
            </a:extLst>
          </p:cNvPr>
          <p:cNvCxnSpPr>
            <a:cxnSpLocks noChangeShapeType="1"/>
            <a:stCxn id="20484" idx="3"/>
            <a:endCxn id="20487" idx="3"/>
          </p:cNvCxnSpPr>
          <p:nvPr/>
        </p:nvCxnSpPr>
        <p:spPr bwMode="auto">
          <a:xfrm flipH="1">
            <a:off x="7467600" y="3086100"/>
            <a:ext cx="76200" cy="1143000"/>
          </a:xfrm>
          <a:prstGeom prst="bentConnector3">
            <a:avLst>
              <a:gd name="adj1" fmla="val -3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0" name="Text Box 11">
            <a:extLst>
              <a:ext uri="{FF2B5EF4-FFF2-40B4-BE49-F238E27FC236}">
                <a16:creationId xmlns:a16="http://schemas.microsoft.com/office/drawing/2014/main" id="{5BC9C6CF-E0AB-8F3E-C3D4-5B0539841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3470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20491" name="Text Box 12">
            <a:extLst>
              <a:ext uri="{FF2B5EF4-FFF2-40B4-BE49-F238E27FC236}">
                <a16:creationId xmlns:a16="http://schemas.microsoft.com/office/drawing/2014/main" id="{157D2861-A80C-1998-F132-C19059484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2555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0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C05A669A-0457-1B3F-28F9-54D351646FAF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810000"/>
            <a:ext cx="762000" cy="914400"/>
            <a:chOff x="4080" y="2400"/>
            <a:chExt cx="480" cy="576"/>
          </a:xfrm>
        </p:grpSpPr>
        <p:sp>
          <p:nvSpPr>
            <p:cNvPr id="20496" name="Line 13">
              <a:extLst>
                <a:ext uri="{FF2B5EF4-FFF2-40B4-BE49-F238E27FC236}">
                  <a16:creationId xmlns:a16="http://schemas.microsoft.com/office/drawing/2014/main" id="{0EF9E057-5FCC-69F5-3CAE-C2AD4719F5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400"/>
              <a:ext cx="432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7" name="Line 14">
              <a:extLst>
                <a:ext uri="{FF2B5EF4-FFF2-40B4-BE49-F238E27FC236}">
                  <a16:creationId xmlns:a16="http://schemas.microsoft.com/office/drawing/2014/main" id="{728B2C00-5D11-65CE-F806-B848C7EC2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28" y="2400"/>
              <a:ext cx="432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8">
            <a:extLst>
              <a:ext uri="{FF2B5EF4-FFF2-40B4-BE49-F238E27FC236}">
                <a16:creationId xmlns:a16="http://schemas.microsoft.com/office/drawing/2014/main" id="{1022D440-BAF8-C45C-4C11-015ABC3A716E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514600"/>
            <a:ext cx="1066800" cy="1295400"/>
            <a:chOff x="3984" y="1584"/>
            <a:chExt cx="672" cy="816"/>
          </a:xfrm>
        </p:grpSpPr>
        <p:sp>
          <p:nvSpPr>
            <p:cNvPr id="20494" name="Line 16">
              <a:extLst>
                <a:ext uri="{FF2B5EF4-FFF2-40B4-BE49-F238E27FC236}">
                  <a16:creationId xmlns:a16="http://schemas.microsoft.com/office/drawing/2014/main" id="{32E6CA86-7090-BD1F-EE67-E95C766E88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1632"/>
              <a:ext cx="672" cy="7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5" name="Line 17">
              <a:extLst>
                <a:ext uri="{FF2B5EF4-FFF2-40B4-BE49-F238E27FC236}">
                  <a16:creationId xmlns:a16="http://schemas.microsoft.com/office/drawing/2014/main" id="{DFDE0E4F-4C4A-9789-55D4-E352957DC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672" cy="76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5BAEC08-BBFB-EA1E-0394-7A2B1529B7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 inlining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1C39772-A85A-9B42-DA57-333931D0A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Eliminates procedure linkage overhead:</a:t>
            </a:r>
          </a:p>
          <a:p>
            <a:pPr>
              <a:buFont typeface="Monotype Sorts" pitchFamily="2" charset="2"/>
              <a:buNone/>
            </a:pPr>
            <a:endParaRPr lang="en-US" altLang="en-US" sz="2800"/>
          </a:p>
          <a:p>
            <a:pPr>
              <a:buFont typeface="Monotype Sorts" pitchFamily="2" charset="2"/>
              <a:buNone/>
            </a:pPr>
            <a:r>
              <a:rPr lang="en-US" altLang="en-US" sz="2800"/>
              <a:t>int foo(a,b,c) { return a + b - c;}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/>
              <a:t>z = foo(w,x,y);</a:t>
            </a:r>
            <a:endParaRPr lang="en-US" altLang="en-US"/>
          </a:p>
          <a:p>
            <a:pPr>
              <a:buFont typeface="Monotype Sorts" pitchFamily="2" charset="2"/>
              <a:buNone/>
            </a:pPr>
            <a:r>
              <a:rPr kumimoji="0" lang="en-US" altLang="en-US">
                <a:solidFill>
                  <a:srgbClr val="FF0000"/>
                </a:solidFill>
                <a:latin typeface="Wingdings" panose="05000000000000000000" pitchFamily="2" charset="2"/>
              </a:rPr>
              <a:t>ð</a:t>
            </a:r>
            <a:endParaRPr kumimoji="0" lang="en-US" altLang="en-US">
              <a:latin typeface="Wingdings" panose="05000000000000000000" pitchFamily="2" charset="2"/>
            </a:endParaRPr>
          </a:p>
          <a:p>
            <a:pPr>
              <a:buFont typeface="Monotype Sorts" pitchFamily="2" charset="2"/>
              <a:buNone/>
            </a:pPr>
            <a:r>
              <a:rPr kumimoji="0" lang="en-US" altLang="en-US" sz="2400"/>
              <a:t>z = w + x + y;</a:t>
            </a:r>
            <a:endParaRPr kumimoji="0" lang="en-US" altLang="en-US">
              <a:latin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3DD6171-4287-DF5E-4A20-83DE7526A7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Loop transformations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713E6453-3746-E379-9C64-9FFC67F13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Goals:</a:t>
            </a:r>
          </a:p>
          <a:p>
            <a:pPr lvl="1"/>
            <a:r>
              <a:rPr lang="en-US" altLang="en-US" dirty="0"/>
              <a:t>reduce loop overhead;</a:t>
            </a:r>
          </a:p>
          <a:p>
            <a:pPr lvl="1"/>
            <a:r>
              <a:rPr lang="en-US" altLang="en-US" dirty="0"/>
              <a:t>increase opportunities for pipelining;</a:t>
            </a:r>
          </a:p>
          <a:p>
            <a:pPr lvl="1"/>
            <a:r>
              <a:rPr lang="en-US" altLang="en-US" dirty="0"/>
              <a:t>improve memory system performance.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Loop unrolling</a:t>
            </a:r>
          </a:p>
          <a:p>
            <a:pPr lvl="1"/>
            <a:r>
              <a:rPr lang="en-US" altLang="en-US" dirty="0"/>
              <a:t>Loop fusion and distribution</a:t>
            </a:r>
          </a:p>
          <a:p>
            <a:pPr lvl="1"/>
            <a:r>
              <a:rPr lang="en-US" altLang="en-US" dirty="0"/>
              <a:t>Loop tiling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2542CAE-2773-2BDA-21A0-F72C95DF6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unrolling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5F0BD5F-2827-5805-7E9C-CEAB1BF45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Reduces loop overhead, enables some other optimizations.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for (i=0; i&lt;4; i++)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a[i] = b[i] * c[i];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4000">
                <a:solidFill>
                  <a:srgbClr val="FF0000"/>
                </a:solidFill>
                <a:latin typeface="Wingdings" panose="05000000000000000000" pitchFamily="2" charset="2"/>
              </a:rPr>
              <a:t>ð</a:t>
            </a:r>
            <a:endParaRPr lang="en-US" altLang="en-US"/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for (i=0; i&lt;2; i++)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a[i*2] = b[i*2] * c[i*2];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a[i*2+1] = b[i*2+1] * c[i*2+1];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8AB992B-0D6D-249C-E376-0EB09C408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fusion and distribution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6D165CB-BF15-B2B5-E0BA-0F1416FE7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Fusion combines two loops into 1: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for (i=0; i&lt;N; i++) a[i] = b[i] * 5;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for (j=0; j&lt;N; j++) w[j] = c[j] * d[j];</a:t>
            </a:r>
          </a:p>
          <a:p>
            <a:pPr>
              <a:buFont typeface="Monotype Sorts" pitchFamily="2" charset="2"/>
              <a:buNone/>
            </a:pPr>
            <a:r>
              <a:rPr kumimoji="0" lang="en-US" altLang="en-US" sz="2400">
                <a:solidFill>
                  <a:srgbClr val="FF0000"/>
                </a:solidFill>
                <a:latin typeface="Wingdings" panose="05000000000000000000" pitchFamily="2" charset="2"/>
              </a:rPr>
              <a:t>ð</a:t>
            </a:r>
            <a:r>
              <a:rPr lang="en-US" altLang="en-US" sz="2400"/>
              <a:t> for (i=0; i&lt;N; i++)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a[i] = b[i] * 5; w[i] = c[i] * d[i];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}</a:t>
            </a:r>
            <a:endParaRPr lang="en-US" altLang="en-US"/>
          </a:p>
          <a:p>
            <a:r>
              <a:rPr lang="en-US" altLang="en-US"/>
              <a:t>Distribution breaks one loop into two.</a:t>
            </a:r>
          </a:p>
          <a:p>
            <a:r>
              <a:rPr lang="en-US" altLang="en-US"/>
              <a:t>Changes optimizations within loop body.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9316022-1BF7-96B5-A561-34548EE31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tiling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0D1161E-959B-1195-CAB1-C06C4837D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Breaks one loop into a nest of loops.</a:t>
            </a:r>
          </a:p>
          <a:p>
            <a:r>
              <a:rPr lang="en-US" altLang="en-US"/>
              <a:t>Changes order of accesses within array.</a:t>
            </a:r>
          </a:p>
          <a:p>
            <a:pPr lvl="1"/>
            <a:r>
              <a:rPr lang="en-US" altLang="en-US"/>
              <a:t>Changes cache behavior.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70242C2-7848-D2D1-6DDC-DDA05F730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tiling example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C60983A-7380-EB15-829F-ABBF34F812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85950"/>
            <a:ext cx="4013200" cy="123825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000"/>
              <a:t>for (i=0; i&lt;N; i++)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 for (j=0; j&lt;N; j++)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	c[i] = a[i,j]*b[i];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AAC72D72-41EF-A953-6F89-4DFD98631B1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114800" y="1905000"/>
            <a:ext cx="4749800" cy="192405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000"/>
              <a:t>for (i=0; i&lt;N; i+=2)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   for (j=0; j&lt;N; j+=2)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       for (ii=0; ii&lt;min(i+2,n); ii++)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          for (jj=0; jj&lt;min(j+2,N); jj++)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	c[ii] = a[ii,jj]*b[ii];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A2E70249-AFEE-820D-795E-7ECB0464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886200"/>
            <a:ext cx="2209800" cy="2209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/>
          </a:p>
        </p:txBody>
      </p:sp>
      <p:sp>
        <p:nvSpPr>
          <p:cNvPr id="26630" name="Line 6">
            <a:extLst>
              <a:ext uri="{FF2B5EF4-FFF2-40B4-BE49-F238E27FC236}">
                <a16:creationId xmlns:a16="http://schemas.microsoft.com/office/drawing/2014/main" id="{BE2F45A2-5794-AEE7-3C24-6784F97EB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114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Line 7">
            <a:extLst>
              <a:ext uri="{FF2B5EF4-FFF2-40B4-BE49-F238E27FC236}">
                <a16:creationId xmlns:a16="http://schemas.microsoft.com/office/drawing/2014/main" id="{C7B6449B-5F2B-0701-B23A-7448802D6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495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2" name="Line 8">
            <a:extLst>
              <a:ext uri="{FF2B5EF4-FFF2-40B4-BE49-F238E27FC236}">
                <a16:creationId xmlns:a16="http://schemas.microsoft.com/office/drawing/2014/main" id="{22C6D154-460C-A161-4645-6ECF670C62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4114800"/>
            <a:ext cx="20574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9">
            <a:extLst>
              <a:ext uri="{FF2B5EF4-FFF2-40B4-BE49-F238E27FC236}">
                <a16:creationId xmlns:a16="http://schemas.microsoft.com/office/drawing/2014/main" id="{EFCE9584-1355-9775-9C53-73B4D4C5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86200"/>
            <a:ext cx="2209800" cy="2209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4" name="Rectangle 10">
            <a:extLst>
              <a:ext uri="{FF2B5EF4-FFF2-40B4-BE49-F238E27FC236}">
                <a16:creationId xmlns:a16="http://schemas.microsoft.com/office/drawing/2014/main" id="{467F38A9-510E-062B-D460-27AF2194B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86200"/>
            <a:ext cx="914400" cy="9144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35" name="Line 11">
            <a:extLst>
              <a:ext uri="{FF2B5EF4-FFF2-40B4-BE49-F238E27FC236}">
                <a16:creationId xmlns:a16="http://schemas.microsoft.com/office/drawing/2014/main" id="{6891343F-995A-7D27-5532-752C739F3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962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Line 12">
            <a:extLst>
              <a:ext uri="{FF2B5EF4-FFF2-40B4-BE49-F238E27FC236}">
                <a16:creationId xmlns:a16="http://schemas.microsoft.com/office/drawing/2014/main" id="{A5D638F6-4CF6-74A4-51EE-5EE168795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267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13">
            <a:extLst>
              <a:ext uri="{FF2B5EF4-FFF2-40B4-BE49-F238E27FC236}">
                <a16:creationId xmlns:a16="http://schemas.microsoft.com/office/drawing/2014/main" id="{160AEAFF-BF25-30C4-1804-C7CA4142D1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4495800"/>
            <a:ext cx="20574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Line 15">
            <a:extLst>
              <a:ext uri="{FF2B5EF4-FFF2-40B4-BE49-F238E27FC236}">
                <a16:creationId xmlns:a16="http://schemas.microsoft.com/office/drawing/2014/main" id="{85B1A3AA-2FF5-D660-E56F-2376CCE28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876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Line 16">
            <a:extLst>
              <a:ext uri="{FF2B5EF4-FFF2-40B4-BE49-F238E27FC236}">
                <a16:creationId xmlns:a16="http://schemas.microsoft.com/office/drawing/2014/main" id="{8468C796-D912-F3FE-A608-A42DC08EE6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4876800"/>
            <a:ext cx="20574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0" name="Line 17">
            <a:extLst>
              <a:ext uri="{FF2B5EF4-FFF2-40B4-BE49-F238E27FC236}">
                <a16:creationId xmlns:a16="http://schemas.microsoft.com/office/drawing/2014/main" id="{DB88A2FB-4040-8EAE-9A04-16AC797D0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257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18">
            <a:extLst>
              <a:ext uri="{FF2B5EF4-FFF2-40B4-BE49-F238E27FC236}">
                <a16:creationId xmlns:a16="http://schemas.microsoft.com/office/drawing/2014/main" id="{6D5767BA-A076-E49C-3663-422D8C7340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0600" y="5257800"/>
            <a:ext cx="20574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19">
            <a:extLst>
              <a:ext uri="{FF2B5EF4-FFF2-40B4-BE49-F238E27FC236}">
                <a16:creationId xmlns:a16="http://schemas.microsoft.com/office/drawing/2014/main" id="{EB26DE59-96EE-437A-22C6-B114C2CA8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572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3" name="Line 20">
            <a:extLst>
              <a:ext uri="{FF2B5EF4-FFF2-40B4-BE49-F238E27FC236}">
                <a16:creationId xmlns:a16="http://schemas.microsoft.com/office/drawing/2014/main" id="{EAFB59E9-393B-54DF-A1FA-B4599206A2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3962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4" name="Line 21">
            <a:extLst>
              <a:ext uri="{FF2B5EF4-FFF2-40B4-BE49-F238E27FC236}">
                <a16:creationId xmlns:a16="http://schemas.microsoft.com/office/drawing/2014/main" id="{667F5396-44D0-0F33-C99E-65DE0F5957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267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Rectangle 22">
            <a:extLst>
              <a:ext uri="{FF2B5EF4-FFF2-40B4-BE49-F238E27FC236}">
                <a16:creationId xmlns:a16="http://schemas.microsoft.com/office/drawing/2014/main" id="{121CD491-7494-8B51-71C8-1AAD0F14E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886200"/>
            <a:ext cx="914400" cy="9144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6646" name="Line 23">
            <a:extLst>
              <a:ext uri="{FF2B5EF4-FFF2-40B4-BE49-F238E27FC236}">
                <a16:creationId xmlns:a16="http://schemas.microsoft.com/office/drawing/2014/main" id="{053164CD-1EA6-A089-2B06-C61B93831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962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Line 24">
            <a:extLst>
              <a:ext uri="{FF2B5EF4-FFF2-40B4-BE49-F238E27FC236}">
                <a16:creationId xmlns:a16="http://schemas.microsoft.com/office/drawing/2014/main" id="{569E6674-6429-556A-82AC-5BF18A2EF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267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8" name="Line 25">
            <a:extLst>
              <a:ext uri="{FF2B5EF4-FFF2-40B4-BE49-F238E27FC236}">
                <a16:creationId xmlns:a16="http://schemas.microsoft.com/office/drawing/2014/main" id="{07B13830-5A49-C566-A8A4-A9E9B356A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4572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9" name="Line 26">
            <a:extLst>
              <a:ext uri="{FF2B5EF4-FFF2-40B4-BE49-F238E27FC236}">
                <a16:creationId xmlns:a16="http://schemas.microsoft.com/office/drawing/2014/main" id="{DE2D478A-592A-7EC8-58BD-DB53C2A14A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39624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0" name="Line 27">
            <a:extLst>
              <a:ext uri="{FF2B5EF4-FFF2-40B4-BE49-F238E27FC236}">
                <a16:creationId xmlns:a16="http://schemas.microsoft.com/office/drawing/2014/main" id="{1B637641-E6C3-004B-3942-94480FF8C2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4267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1" name="Line 28">
            <a:extLst>
              <a:ext uri="{FF2B5EF4-FFF2-40B4-BE49-F238E27FC236}">
                <a16:creationId xmlns:a16="http://schemas.microsoft.com/office/drawing/2014/main" id="{D5699940-7FA2-DED8-9096-EC5CD7EAF9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3962400"/>
            <a:ext cx="152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2" name="Line 29">
            <a:extLst>
              <a:ext uri="{FF2B5EF4-FFF2-40B4-BE49-F238E27FC236}">
                <a16:creationId xmlns:a16="http://schemas.microsoft.com/office/drawing/2014/main" id="{FBEC5F5C-E7EE-E638-9FB1-4F1E50A30E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3962400"/>
            <a:ext cx="152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50BAF13-BE62-A123-BE89-8629CF203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 padding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29793A4-52D8-8D8F-092F-90D3338FD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1162050"/>
          </a:xfrm>
        </p:spPr>
        <p:txBody>
          <a:bodyPr/>
          <a:lstStyle/>
          <a:p>
            <a:r>
              <a:rPr lang="en-US" altLang="en-US"/>
              <a:t>Add array elements to change mapping into cache: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C7F4D2A-E731-E58D-61C1-9AC7F9F1F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5052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a[0,0]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09BB9C14-AF72-B52A-9F48-11292FF62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5052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a[0,1]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FB58BAB3-3E66-A43E-D8DA-D24C09ED6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5052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a[0,2]</a:t>
            </a:r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26575F13-A740-2C8F-097D-51D72CBBB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4196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a[1,0]</a:t>
            </a:r>
          </a:p>
        </p:txBody>
      </p:sp>
      <p:sp>
        <p:nvSpPr>
          <p:cNvPr id="27656" name="Rectangle 8">
            <a:extLst>
              <a:ext uri="{FF2B5EF4-FFF2-40B4-BE49-F238E27FC236}">
                <a16:creationId xmlns:a16="http://schemas.microsoft.com/office/drawing/2014/main" id="{95001B7C-B4CC-A6E3-1A15-74F018FA0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4196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a[1,1]</a:t>
            </a:r>
          </a:p>
        </p:txBody>
      </p:sp>
      <p:sp>
        <p:nvSpPr>
          <p:cNvPr id="27657" name="Rectangle 9">
            <a:extLst>
              <a:ext uri="{FF2B5EF4-FFF2-40B4-BE49-F238E27FC236}">
                <a16:creationId xmlns:a16="http://schemas.microsoft.com/office/drawing/2014/main" id="{A9590F7B-C3EB-0AE2-7807-582021862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4196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a[1,2]</a:t>
            </a:r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A7705FD0-DFFF-2AB0-500C-ECCF15BCA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5603875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before</a:t>
            </a:r>
          </a:p>
        </p:txBody>
      </p:sp>
      <p:sp>
        <p:nvSpPr>
          <p:cNvPr id="27659" name="Rectangle 11">
            <a:extLst>
              <a:ext uri="{FF2B5EF4-FFF2-40B4-BE49-F238E27FC236}">
                <a16:creationId xmlns:a16="http://schemas.microsoft.com/office/drawing/2014/main" id="{F6BEC43B-968A-73AF-E983-1797AEFA9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5052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a[0,0]</a:t>
            </a:r>
          </a:p>
        </p:txBody>
      </p:sp>
      <p:sp>
        <p:nvSpPr>
          <p:cNvPr id="27660" name="Rectangle 12">
            <a:extLst>
              <a:ext uri="{FF2B5EF4-FFF2-40B4-BE49-F238E27FC236}">
                <a16:creationId xmlns:a16="http://schemas.microsoft.com/office/drawing/2014/main" id="{40E78A1B-4388-6F3D-3CC6-5024CB467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5052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a[0,1]</a:t>
            </a:r>
          </a:p>
        </p:txBody>
      </p:sp>
      <p:sp>
        <p:nvSpPr>
          <p:cNvPr id="27661" name="Rectangle 13">
            <a:extLst>
              <a:ext uri="{FF2B5EF4-FFF2-40B4-BE49-F238E27FC236}">
                <a16:creationId xmlns:a16="http://schemas.microsoft.com/office/drawing/2014/main" id="{6F3711B8-97B5-D940-ABAC-173FE63F4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5052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a[0,2]</a:t>
            </a:r>
          </a:p>
        </p:txBody>
      </p:sp>
      <p:sp>
        <p:nvSpPr>
          <p:cNvPr id="27662" name="Rectangle 14">
            <a:extLst>
              <a:ext uri="{FF2B5EF4-FFF2-40B4-BE49-F238E27FC236}">
                <a16:creationId xmlns:a16="http://schemas.microsoft.com/office/drawing/2014/main" id="{B7A707CB-E65F-043D-D231-4E611D3C2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4196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a[1,0]</a:t>
            </a:r>
          </a:p>
        </p:txBody>
      </p:sp>
      <p:sp>
        <p:nvSpPr>
          <p:cNvPr id="27663" name="Rectangle 15">
            <a:extLst>
              <a:ext uri="{FF2B5EF4-FFF2-40B4-BE49-F238E27FC236}">
                <a16:creationId xmlns:a16="http://schemas.microsoft.com/office/drawing/2014/main" id="{B629F93C-16DC-CDB5-B582-26360B2C1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4196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a[1,1]</a:t>
            </a:r>
          </a:p>
        </p:txBody>
      </p:sp>
      <p:sp>
        <p:nvSpPr>
          <p:cNvPr id="27664" name="Rectangle 16">
            <a:extLst>
              <a:ext uri="{FF2B5EF4-FFF2-40B4-BE49-F238E27FC236}">
                <a16:creationId xmlns:a16="http://schemas.microsoft.com/office/drawing/2014/main" id="{D1EB3A14-5543-5D5E-30B5-6F8CD30D6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419600"/>
            <a:ext cx="9144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a[1,2]</a:t>
            </a:r>
          </a:p>
        </p:txBody>
      </p:sp>
      <p:sp>
        <p:nvSpPr>
          <p:cNvPr id="27665" name="Text Box 17">
            <a:extLst>
              <a:ext uri="{FF2B5EF4-FFF2-40B4-BE49-F238E27FC236}">
                <a16:creationId xmlns:a16="http://schemas.microsoft.com/office/drawing/2014/main" id="{1A2D4E1A-7D0F-45A0-84A9-A9560935E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38800"/>
            <a:ext cx="74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after</a:t>
            </a:r>
          </a:p>
        </p:txBody>
      </p:sp>
      <p:sp>
        <p:nvSpPr>
          <p:cNvPr id="27666" name="Rectangle 18">
            <a:extLst>
              <a:ext uri="{FF2B5EF4-FFF2-40B4-BE49-F238E27FC236}">
                <a16:creationId xmlns:a16="http://schemas.microsoft.com/office/drawing/2014/main" id="{66D087FE-DD80-FF0D-E7CD-93E7BFD1F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05200"/>
            <a:ext cx="914400" cy="9144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a[0,2]</a:t>
            </a:r>
          </a:p>
        </p:txBody>
      </p:sp>
      <p:sp>
        <p:nvSpPr>
          <p:cNvPr id="27667" name="Rectangle 19">
            <a:extLst>
              <a:ext uri="{FF2B5EF4-FFF2-40B4-BE49-F238E27FC236}">
                <a16:creationId xmlns:a16="http://schemas.microsoft.com/office/drawing/2014/main" id="{E96A2A4F-DF7B-7FDA-0933-8846B10FF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419600"/>
            <a:ext cx="914400" cy="9144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a[1,2]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C640839A-B662-9ACC-F878-01114FF925F9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505200"/>
            <a:ext cx="2743200" cy="1828800"/>
            <a:chOff x="480" y="2208"/>
            <a:chExt cx="1728" cy="1152"/>
          </a:xfrm>
        </p:grpSpPr>
        <p:sp>
          <p:nvSpPr>
            <p:cNvPr id="27670" name="Rectangle 20">
              <a:extLst>
                <a:ext uri="{FF2B5EF4-FFF2-40B4-BE49-F238E27FC236}">
                  <a16:creationId xmlns:a16="http://schemas.microsoft.com/office/drawing/2014/main" id="{B27023A0-ED69-616E-DB98-EBD2D9091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208"/>
              <a:ext cx="1728" cy="5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671" name="Rectangle 21">
              <a:extLst>
                <a:ext uri="{FF2B5EF4-FFF2-40B4-BE49-F238E27FC236}">
                  <a16:creationId xmlns:a16="http://schemas.microsoft.com/office/drawing/2014/main" id="{F2B8680F-1B33-70DB-7F3F-DF2F88F2F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784"/>
              <a:ext cx="576" cy="5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0743" name="Rectangle 23">
            <a:extLst>
              <a:ext uri="{FF2B5EF4-FFF2-40B4-BE49-F238E27FC236}">
                <a16:creationId xmlns:a16="http://schemas.microsoft.com/office/drawing/2014/main" id="{5B2A5196-BB1B-F7A5-168E-2B1C62161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505200"/>
            <a:ext cx="3657600" cy="914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3C367F16-F979-F572-47EA-893BA7FF8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Register allocation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1D7EB46-F29E-E639-5B2C-39BDD8F685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Goals:</a:t>
            </a:r>
          </a:p>
          <a:p>
            <a:pPr lvl="1"/>
            <a:r>
              <a:rPr lang="en-US" altLang="en-US"/>
              <a:t>choose register to hold each variable;</a:t>
            </a:r>
          </a:p>
          <a:p>
            <a:pPr lvl="1"/>
            <a:r>
              <a:rPr lang="en-US" altLang="en-US"/>
              <a:t>determine lifespan of varible in the register.</a:t>
            </a:r>
          </a:p>
          <a:p>
            <a:r>
              <a:rPr lang="en-US" altLang="en-US"/>
              <a:t>Basic case: within basic block.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D51EF02-24E8-62C2-C68B-AB0181216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Register lifetime graph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427A410-D40F-D72F-2180-93BF957B1E7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/>
              <a:t>w = a + b;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x = c + w;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y = c + d;</a:t>
            </a:r>
          </a:p>
        </p:txBody>
      </p:sp>
      <p:sp>
        <p:nvSpPr>
          <p:cNvPr id="29700" name="Line 5">
            <a:extLst>
              <a:ext uri="{FF2B5EF4-FFF2-40B4-BE49-F238E27FC236}">
                <a16:creationId xmlns:a16="http://schemas.microsoft.com/office/drawing/2014/main" id="{8F9ED2BB-97DB-CBE6-A77B-E5DC2C4D4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648200"/>
            <a:ext cx="411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Text Box 6">
            <a:extLst>
              <a:ext uri="{FF2B5EF4-FFF2-40B4-BE49-F238E27FC236}">
                <a16:creationId xmlns:a16="http://schemas.microsoft.com/office/drawing/2014/main" id="{14B58AD7-FABF-D2FA-2797-BA179C14A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7925" y="4765675"/>
            <a:ext cx="723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time</a:t>
            </a:r>
          </a:p>
        </p:txBody>
      </p:sp>
      <p:sp>
        <p:nvSpPr>
          <p:cNvPr id="29702" name="Line 7">
            <a:extLst>
              <a:ext uri="{FF2B5EF4-FFF2-40B4-BE49-F238E27FC236}">
                <a16:creationId xmlns:a16="http://schemas.microsoft.com/office/drawing/2014/main" id="{07F21CAA-6C28-4600-76E4-036571927E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19050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Text Box 8">
            <a:extLst>
              <a:ext uri="{FF2B5EF4-FFF2-40B4-BE49-F238E27FC236}">
                <a16:creationId xmlns:a16="http://schemas.microsoft.com/office/drawing/2014/main" id="{A4B04E33-48C2-30EE-0AA3-17736CD69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133600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a</a:t>
            </a:r>
            <a:endParaRPr lang="en-US" altLang="en-US"/>
          </a:p>
        </p:txBody>
      </p:sp>
      <p:sp>
        <p:nvSpPr>
          <p:cNvPr id="29704" name="Text Box 9">
            <a:extLst>
              <a:ext uri="{FF2B5EF4-FFF2-40B4-BE49-F238E27FC236}">
                <a16:creationId xmlns:a16="http://schemas.microsoft.com/office/drawing/2014/main" id="{EF08B198-F90E-C6D5-9D99-A417F3047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514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b</a:t>
            </a:r>
            <a:endParaRPr lang="en-US" altLang="en-US"/>
          </a:p>
        </p:txBody>
      </p:sp>
      <p:sp>
        <p:nvSpPr>
          <p:cNvPr id="29705" name="Text Box 10">
            <a:extLst>
              <a:ext uri="{FF2B5EF4-FFF2-40B4-BE49-F238E27FC236}">
                <a16:creationId xmlns:a16="http://schemas.microsoft.com/office/drawing/2014/main" id="{3A09423E-A1B9-80BF-6DFA-0659659C5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895600"/>
            <a:ext cx="296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c</a:t>
            </a:r>
            <a:endParaRPr lang="en-US" altLang="en-US"/>
          </a:p>
        </p:txBody>
      </p:sp>
      <p:sp>
        <p:nvSpPr>
          <p:cNvPr id="29706" name="Text Box 11">
            <a:extLst>
              <a:ext uri="{FF2B5EF4-FFF2-40B4-BE49-F238E27FC236}">
                <a16:creationId xmlns:a16="http://schemas.microsoft.com/office/drawing/2014/main" id="{747653BF-5751-3224-4564-64F88A7AB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2004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d</a:t>
            </a:r>
            <a:endParaRPr lang="en-US" altLang="en-US"/>
          </a:p>
        </p:txBody>
      </p:sp>
      <p:sp>
        <p:nvSpPr>
          <p:cNvPr id="29707" name="Text Box 12">
            <a:extLst>
              <a:ext uri="{FF2B5EF4-FFF2-40B4-BE49-F238E27FC236}">
                <a16:creationId xmlns:a16="http://schemas.microsoft.com/office/drawing/2014/main" id="{D1BF5511-DCAE-8232-9422-4B8F572E4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50520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w</a:t>
            </a:r>
            <a:endParaRPr lang="en-US" altLang="en-US"/>
          </a:p>
        </p:txBody>
      </p:sp>
      <p:sp>
        <p:nvSpPr>
          <p:cNvPr id="29708" name="Text Box 13">
            <a:extLst>
              <a:ext uri="{FF2B5EF4-FFF2-40B4-BE49-F238E27FC236}">
                <a16:creationId xmlns:a16="http://schemas.microsoft.com/office/drawing/2014/main" id="{2BA53CF5-F2C8-5ACE-A0B5-228CF875C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810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x</a:t>
            </a:r>
            <a:endParaRPr lang="en-US" altLang="en-US"/>
          </a:p>
        </p:txBody>
      </p:sp>
      <p:sp>
        <p:nvSpPr>
          <p:cNvPr id="29709" name="Text Box 14">
            <a:extLst>
              <a:ext uri="{FF2B5EF4-FFF2-40B4-BE49-F238E27FC236}">
                <a16:creationId xmlns:a16="http://schemas.microsoft.com/office/drawing/2014/main" id="{431909BF-F204-C122-7F30-C95D281DD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114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y</a:t>
            </a:r>
            <a:endParaRPr lang="en-US" altLang="en-US"/>
          </a:p>
        </p:txBody>
      </p:sp>
      <p:sp>
        <p:nvSpPr>
          <p:cNvPr id="29710" name="Line 15">
            <a:extLst>
              <a:ext uri="{FF2B5EF4-FFF2-40B4-BE49-F238E27FC236}">
                <a16:creationId xmlns:a16="http://schemas.microsoft.com/office/drawing/2014/main" id="{A193ED7B-3DE6-ABD2-ED86-40E3D130C9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648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1" name="Text Box 16">
            <a:extLst>
              <a:ext uri="{FF2B5EF4-FFF2-40B4-BE49-F238E27FC236}">
                <a16:creationId xmlns:a16="http://schemas.microsoft.com/office/drawing/2014/main" id="{89AF5A26-3A29-AD1C-DFF6-A84921C58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800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1</a:t>
            </a:r>
            <a:endParaRPr lang="en-US" altLang="en-US"/>
          </a:p>
        </p:txBody>
      </p:sp>
      <p:sp>
        <p:nvSpPr>
          <p:cNvPr id="29712" name="Line 17">
            <a:extLst>
              <a:ext uri="{FF2B5EF4-FFF2-40B4-BE49-F238E27FC236}">
                <a16:creationId xmlns:a16="http://schemas.microsoft.com/office/drawing/2014/main" id="{5C5DEFB8-537C-7F3D-F3BE-DCFF41B3B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4648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Text Box 18">
            <a:extLst>
              <a:ext uri="{FF2B5EF4-FFF2-40B4-BE49-F238E27FC236}">
                <a16:creationId xmlns:a16="http://schemas.microsoft.com/office/drawing/2014/main" id="{044E7F1B-C60B-3215-CCB6-B4C0BC418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800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2</a:t>
            </a:r>
            <a:endParaRPr lang="en-US" altLang="en-US"/>
          </a:p>
        </p:txBody>
      </p:sp>
      <p:sp>
        <p:nvSpPr>
          <p:cNvPr id="29714" name="Line 19">
            <a:extLst>
              <a:ext uri="{FF2B5EF4-FFF2-40B4-BE49-F238E27FC236}">
                <a16:creationId xmlns:a16="http://schemas.microsoft.com/office/drawing/2014/main" id="{1681EFA9-A437-431A-5387-376BD4992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4648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Text Box 20">
            <a:extLst>
              <a:ext uri="{FF2B5EF4-FFF2-40B4-BE49-F238E27FC236}">
                <a16:creationId xmlns:a16="http://schemas.microsoft.com/office/drawing/2014/main" id="{2A89B4F0-56D8-E33A-9426-509EFE55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8006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3</a:t>
            </a:r>
            <a:endParaRPr lang="en-US" altLang="en-US"/>
          </a:p>
        </p:txBody>
      </p:sp>
      <p:sp>
        <p:nvSpPr>
          <p:cNvPr id="29716" name="Rectangle 21">
            <a:extLst>
              <a:ext uri="{FF2B5EF4-FFF2-40B4-BE49-F238E27FC236}">
                <a16:creationId xmlns:a16="http://schemas.microsoft.com/office/drawing/2014/main" id="{A5E1EB0E-BD4C-9CC3-577C-E3051F28D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286000"/>
            <a:ext cx="304800" cy="228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7" name="Rectangle 22">
            <a:extLst>
              <a:ext uri="{FF2B5EF4-FFF2-40B4-BE49-F238E27FC236}">
                <a16:creationId xmlns:a16="http://schemas.microsoft.com/office/drawing/2014/main" id="{2902E1F4-35F5-7FA2-FF98-4B6EFE15C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590800"/>
            <a:ext cx="304800" cy="228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8" name="Rectangle 23">
            <a:extLst>
              <a:ext uri="{FF2B5EF4-FFF2-40B4-BE49-F238E27FC236}">
                <a16:creationId xmlns:a16="http://schemas.microsoft.com/office/drawing/2014/main" id="{F6080D0E-05DE-E9E8-4EFC-87575CBA8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971800"/>
            <a:ext cx="1219200" cy="228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19" name="Rectangle 24">
            <a:extLst>
              <a:ext uri="{FF2B5EF4-FFF2-40B4-BE49-F238E27FC236}">
                <a16:creationId xmlns:a16="http://schemas.microsoft.com/office/drawing/2014/main" id="{50779898-E3A7-28C0-E6CC-644DD2A7F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352800"/>
            <a:ext cx="304800" cy="228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0" name="Rectangle 25">
            <a:extLst>
              <a:ext uri="{FF2B5EF4-FFF2-40B4-BE49-F238E27FC236}">
                <a16:creationId xmlns:a16="http://schemas.microsoft.com/office/drawing/2014/main" id="{C234D4AF-56DF-EBA7-039B-C70FB1A64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657600"/>
            <a:ext cx="1219200" cy="228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1" name="Rectangle 26">
            <a:extLst>
              <a:ext uri="{FF2B5EF4-FFF2-40B4-BE49-F238E27FC236}">
                <a16:creationId xmlns:a16="http://schemas.microsoft.com/office/drawing/2014/main" id="{D05F31A7-1434-AFAB-0F52-EF2C779EB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267200"/>
            <a:ext cx="304800" cy="228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2" name="Rectangle 27">
            <a:extLst>
              <a:ext uri="{FF2B5EF4-FFF2-40B4-BE49-F238E27FC236}">
                <a16:creationId xmlns:a16="http://schemas.microsoft.com/office/drawing/2014/main" id="{AD33F794-02D0-BA7E-09EA-157BBEACD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038600"/>
            <a:ext cx="304800" cy="2286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29723" name="Text Box 28">
            <a:extLst>
              <a:ext uri="{FF2B5EF4-FFF2-40B4-BE49-F238E27FC236}">
                <a16:creationId xmlns:a16="http://schemas.microsoft.com/office/drawing/2014/main" id="{BFC1DDF4-39B0-E30A-A3B9-AD25D83C3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1946275"/>
            <a:ext cx="59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t=1</a:t>
            </a:r>
          </a:p>
        </p:txBody>
      </p:sp>
      <p:sp>
        <p:nvSpPr>
          <p:cNvPr id="29724" name="Text Box 29">
            <a:extLst>
              <a:ext uri="{FF2B5EF4-FFF2-40B4-BE49-F238E27FC236}">
                <a16:creationId xmlns:a16="http://schemas.microsoft.com/office/drawing/2014/main" id="{486F00D5-5249-513B-006F-E7DC6B8C5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438400"/>
            <a:ext cx="59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t=2</a:t>
            </a:r>
          </a:p>
        </p:txBody>
      </p:sp>
      <p:sp>
        <p:nvSpPr>
          <p:cNvPr id="29725" name="Text Box 30">
            <a:extLst>
              <a:ext uri="{FF2B5EF4-FFF2-40B4-BE49-F238E27FC236}">
                <a16:creationId xmlns:a16="http://schemas.microsoft.com/office/drawing/2014/main" id="{F435BB34-0340-15F9-9C51-BFD1317BA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971800"/>
            <a:ext cx="59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t=3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1956696-F4B7-E05B-AB69-25DBD6AC2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Instruction scheduling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3A35B5B-2C83-C427-760D-793828E029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Non-pipelined machines do not need instruction scheduling: any order of instructions that satisfies data dependencies runs equally fast.</a:t>
            </a:r>
          </a:p>
          <a:p>
            <a:r>
              <a:rPr lang="en-US" altLang="en-US"/>
              <a:t>In pipelined machines, execution time of one instruction depends on the nearby instructions: </a:t>
            </a:r>
            <a:r>
              <a:rPr lang="en-US" altLang="en-US">
                <a:solidFill>
                  <a:srgbClr val="FF0000"/>
                </a:solidFill>
              </a:rPr>
              <a:t>opcode</a:t>
            </a:r>
            <a:r>
              <a:rPr lang="en-US" altLang="en-US"/>
              <a:t>, </a:t>
            </a:r>
            <a:r>
              <a:rPr lang="en-US" altLang="en-US">
                <a:solidFill>
                  <a:srgbClr val="FF0000"/>
                </a:solidFill>
              </a:rPr>
              <a:t>operands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4A8D517-D421-79DC-6495-E4E81E63B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Reservation table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222A853-8E5E-7E75-09A0-A6700D1F262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/>
              <a:t>A reservation table relates instructions/time to CPU resources.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89879FBD-65BE-6EC8-B823-4563E95E798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/>
              <a:t>Time/instr	A	B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instr1		X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instr2		X	X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instr3		X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instr4			X</a:t>
            </a:r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2B9F1999-0B9C-36E1-7935-BCA3E8973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362200"/>
            <a:ext cx="3581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6">
            <a:extLst>
              <a:ext uri="{FF2B5EF4-FFF2-40B4-BE49-F238E27FC236}">
                <a16:creationId xmlns:a16="http://schemas.microsoft.com/office/drawing/2014/main" id="{56A328D7-84BD-3D0F-EEC7-776205B04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981200"/>
            <a:ext cx="0" cy="2438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7">
            <a:extLst>
              <a:ext uri="{FF2B5EF4-FFF2-40B4-BE49-F238E27FC236}">
                <a16:creationId xmlns:a16="http://schemas.microsoft.com/office/drawing/2014/main" id="{E14E9338-4D40-2F33-AEB1-94C1E61E3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981200"/>
            <a:ext cx="0" cy="2438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E822B6A-04F6-9D86-147F-DC165A3FD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pipelining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B3790B9-B2BF-B82F-C105-6051B9FF7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Schedules instructions across loop iterations.</a:t>
            </a:r>
          </a:p>
          <a:p>
            <a:r>
              <a:rPr lang="en-US" altLang="en-US"/>
              <a:t>Reduces instruction latency in iteration i by inserting instructions from iteration i+1.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A469849-A2B8-BFBB-9508-B9AF9D9A79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Instruction selection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B4225EF-C723-84E2-CF89-194F3E73C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2686050"/>
          </a:xfrm>
        </p:spPr>
        <p:txBody>
          <a:bodyPr/>
          <a:lstStyle/>
          <a:p>
            <a:r>
              <a:rPr lang="en-US" altLang="en-US"/>
              <a:t>May be several ways to implement an operation or sequence of operations.</a:t>
            </a:r>
          </a:p>
          <a:p>
            <a:r>
              <a:rPr lang="en-US" altLang="en-US"/>
              <a:t>Represent operations as graphs, match possible instruction sequences onto graph.</a:t>
            </a:r>
          </a:p>
        </p:txBody>
      </p:sp>
      <p:sp>
        <p:nvSpPr>
          <p:cNvPr id="33796" name="Oval 4">
            <a:extLst>
              <a:ext uri="{FF2B5EF4-FFF2-40B4-BE49-F238E27FC236}">
                <a16:creationId xmlns:a16="http://schemas.microsoft.com/office/drawing/2014/main" id="{C2F53736-7CBA-F25F-96BD-3D7BB1A5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4864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*</a:t>
            </a:r>
          </a:p>
        </p:txBody>
      </p:sp>
      <p:sp>
        <p:nvSpPr>
          <p:cNvPr id="33797" name="Oval 5">
            <a:extLst>
              <a:ext uri="{FF2B5EF4-FFF2-40B4-BE49-F238E27FC236}">
                <a16:creationId xmlns:a16="http://schemas.microsoft.com/office/drawing/2014/main" id="{1D9E2F4F-98FC-CB17-7B13-3D968301F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8006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+</a:t>
            </a:r>
          </a:p>
        </p:txBody>
      </p:sp>
      <p:sp>
        <p:nvSpPr>
          <p:cNvPr id="33798" name="Line 6">
            <a:extLst>
              <a:ext uri="{FF2B5EF4-FFF2-40B4-BE49-F238E27FC236}">
                <a16:creationId xmlns:a16="http://schemas.microsoft.com/office/drawing/2014/main" id="{E7177A45-3C88-60E9-2D4A-22B3028E6E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5257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7">
            <a:extLst>
              <a:ext uri="{FF2B5EF4-FFF2-40B4-BE49-F238E27FC236}">
                <a16:creationId xmlns:a16="http://schemas.microsoft.com/office/drawing/2014/main" id="{FCE9465A-FBA7-5E0E-5394-47EDA6EDA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52578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8">
            <a:extLst>
              <a:ext uri="{FF2B5EF4-FFF2-40B4-BE49-F238E27FC236}">
                <a16:creationId xmlns:a16="http://schemas.microsoft.com/office/drawing/2014/main" id="{BD18D473-5C7E-8A57-B2CA-F31C9DF0A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572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F31208FE-10BC-00A6-9AFB-DE88866E05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4572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Text Box 10">
            <a:extLst>
              <a:ext uri="{FF2B5EF4-FFF2-40B4-BE49-F238E27FC236}">
                <a16:creationId xmlns:a16="http://schemas.microsoft.com/office/drawing/2014/main" id="{65FE927E-2ACC-D52F-5C70-06326FBF1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5832475"/>
            <a:ext cx="1487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expression</a:t>
            </a:r>
            <a:endParaRPr lang="en-US" altLang="en-US"/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9675315C-10E4-853D-1702-0F136316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5832475"/>
            <a:ext cx="1349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templates</a:t>
            </a:r>
          </a:p>
        </p:txBody>
      </p:sp>
      <p:sp>
        <p:nvSpPr>
          <p:cNvPr id="33804" name="Oval 12">
            <a:extLst>
              <a:ext uri="{FF2B5EF4-FFF2-40B4-BE49-F238E27FC236}">
                <a16:creationId xmlns:a16="http://schemas.microsoft.com/office/drawing/2014/main" id="{1818CF17-7CB4-0F72-5184-729DDFC6D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9530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*</a:t>
            </a:r>
          </a:p>
        </p:txBody>
      </p:sp>
      <p:sp>
        <p:nvSpPr>
          <p:cNvPr id="33805" name="Line 13">
            <a:extLst>
              <a:ext uri="{FF2B5EF4-FFF2-40B4-BE49-F238E27FC236}">
                <a16:creationId xmlns:a16="http://schemas.microsoft.com/office/drawing/2014/main" id="{68380C2F-E738-56B3-EB35-329B210368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724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Line 14">
            <a:extLst>
              <a:ext uri="{FF2B5EF4-FFF2-40B4-BE49-F238E27FC236}">
                <a16:creationId xmlns:a16="http://schemas.microsoft.com/office/drawing/2014/main" id="{5C51519E-ED30-6217-8EFE-DA175817E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724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Oval 15">
            <a:extLst>
              <a:ext uri="{FF2B5EF4-FFF2-40B4-BE49-F238E27FC236}">
                <a16:creationId xmlns:a16="http://schemas.microsoft.com/office/drawing/2014/main" id="{3D3239F4-E61B-77F0-0920-0350484E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9530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+</a:t>
            </a:r>
          </a:p>
        </p:txBody>
      </p:sp>
      <p:sp>
        <p:nvSpPr>
          <p:cNvPr id="33808" name="Line 16">
            <a:extLst>
              <a:ext uri="{FF2B5EF4-FFF2-40B4-BE49-F238E27FC236}">
                <a16:creationId xmlns:a16="http://schemas.microsoft.com/office/drawing/2014/main" id="{90F37FD9-74C0-002E-3497-379BD184C7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724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Line 17">
            <a:extLst>
              <a:ext uri="{FF2B5EF4-FFF2-40B4-BE49-F238E27FC236}">
                <a16:creationId xmlns:a16="http://schemas.microsoft.com/office/drawing/2014/main" id="{E56B83B4-7975-DED4-5764-BEEE21445E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4724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Oval 18">
            <a:extLst>
              <a:ext uri="{FF2B5EF4-FFF2-40B4-BE49-F238E27FC236}">
                <a16:creationId xmlns:a16="http://schemas.microsoft.com/office/drawing/2014/main" id="{18BB2262-DE84-3731-4449-289FC5F9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54102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*</a:t>
            </a:r>
          </a:p>
        </p:txBody>
      </p:sp>
      <p:sp>
        <p:nvSpPr>
          <p:cNvPr id="33811" name="Oval 19">
            <a:extLst>
              <a:ext uri="{FF2B5EF4-FFF2-40B4-BE49-F238E27FC236}">
                <a16:creationId xmlns:a16="http://schemas.microsoft.com/office/drawing/2014/main" id="{835005A3-360F-00BC-AA77-23609B2DA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724400"/>
            <a:ext cx="457200" cy="4572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+</a:t>
            </a:r>
          </a:p>
        </p:txBody>
      </p:sp>
      <p:sp>
        <p:nvSpPr>
          <p:cNvPr id="33812" name="Line 20">
            <a:extLst>
              <a:ext uri="{FF2B5EF4-FFF2-40B4-BE49-F238E27FC236}">
                <a16:creationId xmlns:a16="http://schemas.microsoft.com/office/drawing/2014/main" id="{577ABF2B-CFF2-089A-63F5-77D2F67266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5181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3" name="Line 21">
            <a:extLst>
              <a:ext uri="{FF2B5EF4-FFF2-40B4-BE49-F238E27FC236}">
                <a16:creationId xmlns:a16="http://schemas.microsoft.com/office/drawing/2014/main" id="{79535C90-37CD-806E-A166-0F49F8315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5181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4" name="Line 22">
            <a:extLst>
              <a:ext uri="{FF2B5EF4-FFF2-40B4-BE49-F238E27FC236}">
                <a16:creationId xmlns:a16="http://schemas.microsoft.com/office/drawing/2014/main" id="{BD0D3ACF-B515-6EA6-A214-CA4E2BBC5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4495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5" name="Line 23">
            <a:extLst>
              <a:ext uri="{FF2B5EF4-FFF2-40B4-BE49-F238E27FC236}">
                <a16:creationId xmlns:a16="http://schemas.microsoft.com/office/drawing/2014/main" id="{4763702F-925E-B5EF-0AE6-ED53ACA6A3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0" y="4495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Text Box 24">
            <a:extLst>
              <a:ext uri="{FF2B5EF4-FFF2-40B4-BE49-F238E27FC236}">
                <a16:creationId xmlns:a16="http://schemas.microsoft.com/office/drawing/2014/main" id="{73992C68-CE66-B5DB-C76A-09B7EB394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486400"/>
            <a:ext cx="749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MUL</a:t>
            </a:r>
            <a:endParaRPr lang="en-US" altLang="en-US"/>
          </a:p>
        </p:txBody>
      </p:sp>
      <p:sp>
        <p:nvSpPr>
          <p:cNvPr id="33817" name="Text Box 25">
            <a:extLst>
              <a:ext uri="{FF2B5EF4-FFF2-40B4-BE49-F238E27FC236}">
                <a16:creationId xmlns:a16="http://schemas.microsoft.com/office/drawing/2014/main" id="{27D8C2B4-8DBE-6A6E-D75E-BC29F69C3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486400"/>
            <a:ext cx="73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ADD</a:t>
            </a:r>
            <a:endParaRPr lang="en-US" altLang="en-US"/>
          </a:p>
        </p:txBody>
      </p:sp>
      <p:sp>
        <p:nvSpPr>
          <p:cNvPr id="33818" name="Text Box 26">
            <a:extLst>
              <a:ext uri="{FF2B5EF4-FFF2-40B4-BE49-F238E27FC236}">
                <a16:creationId xmlns:a16="http://schemas.microsoft.com/office/drawing/2014/main" id="{F0501122-7077-8C84-E60D-D2D2C85EA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5943600"/>
            <a:ext cx="962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/>
              <a:t>MADD</a:t>
            </a:r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DE77B-F90B-A290-57E4-7854C5B03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your compiler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CD52525-ABDE-2892-5EA4-07C0A2C10E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Understand various optimization levels (-O1, -O2, etc.)</a:t>
            </a:r>
          </a:p>
          <a:p>
            <a:r>
              <a:rPr lang="en-US" altLang="en-US"/>
              <a:t>Look at mixed compiler/assembler output.  </a:t>
            </a:r>
          </a:p>
          <a:p>
            <a:r>
              <a:rPr lang="en-US" altLang="en-US"/>
              <a:t>Modifying compiler output requires care:</a:t>
            </a:r>
          </a:p>
          <a:p>
            <a:pPr lvl="1"/>
            <a:r>
              <a:rPr lang="en-US" altLang="en-US"/>
              <a:t>correctness;</a:t>
            </a:r>
          </a:p>
          <a:p>
            <a:pPr lvl="1"/>
            <a:r>
              <a:rPr lang="en-US" altLang="en-US"/>
              <a:t>loss of hand-tweaked code.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4E43053-FA83-8104-B7DB-99C9300281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Interpreters and JIT compilers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1AE05EC-02AA-764B-A8D0-91E0D5411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Interpreter</a:t>
            </a:r>
            <a:r>
              <a:rPr lang="en-US" altLang="en-US"/>
              <a:t>: translates and executes program statements on-the-fly.</a:t>
            </a:r>
          </a:p>
          <a:p>
            <a:r>
              <a:rPr lang="en-US" altLang="en-US">
                <a:solidFill>
                  <a:srgbClr val="FF0000"/>
                </a:solidFill>
              </a:rPr>
              <a:t>JIT compiler</a:t>
            </a:r>
            <a:r>
              <a:rPr lang="en-US" altLang="en-US"/>
              <a:t>: compiles small sections of code into instructions during program execution.</a:t>
            </a:r>
          </a:p>
          <a:p>
            <a:pPr lvl="1"/>
            <a:r>
              <a:rPr lang="en-US" altLang="en-US"/>
              <a:t>Eliminates some translation overhead.</a:t>
            </a:r>
          </a:p>
          <a:p>
            <a:pPr lvl="1"/>
            <a:r>
              <a:rPr lang="en-US" altLang="en-US"/>
              <a:t>Often requires more memory.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3">
            <a:extLst>
              <a:ext uri="{FF2B5EF4-FFF2-40B4-BE49-F238E27FC236}">
                <a16:creationId xmlns:a16="http://schemas.microsoft.com/office/drawing/2014/main" id="{EC8BBA04-520A-6F29-8F98-3AE9D28FFA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6867" name="Footer Placeholder 4">
            <a:extLst>
              <a:ext uri="{FF2B5EF4-FFF2-40B4-BE49-F238E27FC236}">
                <a16:creationId xmlns:a16="http://schemas.microsoft.com/office/drawing/2014/main" id="{DE36129E-3F27-FDF8-B0A3-F72940A9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273BE40F-BE17-0098-2CE6-323EB18F3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design and analysis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3F8C4C7B-91C3-AD17-CC45-673D597FC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Program-level performance analysis.</a:t>
            </a:r>
          </a:p>
          <a:p>
            <a:r>
              <a:rPr lang="en-US" altLang="en-US"/>
              <a:t>Optimizing for:</a:t>
            </a:r>
          </a:p>
          <a:p>
            <a:pPr lvl="1"/>
            <a:r>
              <a:rPr lang="en-US" altLang="en-US"/>
              <a:t>Execution time.</a:t>
            </a:r>
          </a:p>
          <a:p>
            <a:pPr lvl="1"/>
            <a:r>
              <a:rPr lang="en-US" altLang="en-US"/>
              <a:t>Energy/power.</a:t>
            </a:r>
          </a:p>
          <a:p>
            <a:pPr lvl="1"/>
            <a:r>
              <a:rPr lang="en-US" altLang="en-US"/>
              <a:t>Program size.</a:t>
            </a:r>
          </a:p>
          <a:p>
            <a:r>
              <a:rPr lang="en-US" altLang="en-US"/>
              <a:t>Program validation and testing.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64ECAEA-CF38-4BFB-ACA0-D5864BF37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Program-level performance analysis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53F6318-849A-C4FA-09A2-B32DDCDB116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z="2400"/>
              <a:t>Need to understand performance in detail:</a:t>
            </a:r>
          </a:p>
          <a:p>
            <a:pPr lvl="1"/>
            <a:r>
              <a:rPr lang="en-US" altLang="en-US" sz="2000"/>
              <a:t>Real-time behavior, not just typical.</a:t>
            </a:r>
          </a:p>
          <a:p>
            <a:pPr lvl="1"/>
            <a:r>
              <a:rPr lang="en-US" altLang="en-US" sz="2000"/>
              <a:t>On complex platforms.</a:t>
            </a:r>
          </a:p>
          <a:p>
            <a:r>
              <a:rPr lang="en-US" altLang="en-US" sz="2400"/>
              <a:t>Program performance </a:t>
            </a:r>
            <a:r>
              <a:rPr lang="en-US" altLang="en-US" sz="2400">
                <a:latin typeface="Symbol" panose="05050102010706020507" pitchFamily="18" charset="2"/>
              </a:rPr>
              <a:t>¹</a:t>
            </a:r>
            <a:r>
              <a:rPr lang="en-US" altLang="en-US" sz="2400"/>
              <a:t> CPU performance:</a:t>
            </a:r>
          </a:p>
          <a:p>
            <a:pPr lvl="1"/>
            <a:r>
              <a:rPr lang="en-US" altLang="en-US" sz="2000"/>
              <a:t>Pipeline, cache are windows into program.</a:t>
            </a:r>
          </a:p>
          <a:p>
            <a:pPr lvl="1"/>
            <a:r>
              <a:rPr lang="en-US" altLang="en-US" sz="2000"/>
              <a:t>We must analyze the entire program.</a:t>
            </a:r>
          </a:p>
        </p:txBody>
      </p:sp>
      <p:sp>
        <p:nvSpPr>
          <p:cNvPr id="37892" name="Date Placeholder 3">
            <a:extLst>
              <a:ext uri="{FF2B5EF4-FFF2-40B4-BE49-F238E27FC236}">
                <a16:creationId xmlns:a16="http://schemas.microsoft.com/office/drawing/2014/main" id="{4A767D37-74DC-82B0-DAB0-CFF45B96617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7893" name="Footer Placeholder 4">
            <a:extLst>
              <a:ext uri="{FF2B5EF4-FFF2-40B4-BE49-F238E27FC236}">
                <a16:creationId xmlns:a16="http://schemas.microsoft.com/office/drawing/2014/main" id="{3773E5D4-81D2-B4EE-AFB2-FC3B4F54D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7894" name="Picture 6" descr="f05-22-P374397.eps">
            <a:extLst>
              <a:ext uri="{FF2B5EF4-FFF2-40B4-BE49-F238E27FC236}">
                <a16:creationId xmlns:a16="http://schemas.microsoft.com/office/drawing/2014/main" id="{0A588977-FE6F-807C-FB7E-1A822E45B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362200"/>
            <a:ext cx="4886325" cy="220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>
            <a:extLst>
              <a:ext uri="{FF2B5EF4-FFF2-40B4-BE49-F238E27FC236}">
                <a16:creationId xmlns:a16="http://schemas.microsoft.com/office/drawing/2014/main" id="{B77D2E9D-3438-E92F-3838-9371EFDEDB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8915" name="Footer Placeholder 4">
            <a:extLst>
              <a:ext uri="{FF2B5EF4-FFF2-40B4-BE49-F238E27FC236}">
                <a16:creationId xmlns:a16="http://schemas.microsoft.com/office/drawing/2014/main" id="{CE5AAF88-2432-0502-7FD7-88AA0AE1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21FDF857-8FA8-79C1-266A-D2C086540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Complexities of program performance</a:t>
            </a: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2CC3681E-DB2D-69A0-695D-C0D92735F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Varies with input data:</a:t>
            </a:r>
          </a:p>
          <a:p>
            <a:pPr lvl="1"/>
            <a:r>
              <a:rPr lang="en-US" altLang="en-US"/>
              <a:t>Different-length paths.</a:t>
            </a:r>
          </a:p>
          <a:p>
            <a:r>
              <a:rPr lang="en-US" altLang="en-US"/>
              <a:t>Cache effects.</a:t>
            </a:r>
          </a:p>
          <a:p>
            <a:r>
              <a:rPr lang="en-US" altLang="en-US"/>
              <a:t>Instruction-level performance variations:</a:t>
            </a:r>
          </a:p>
          <a:p>
            <a:pPr lvl="1"/>
            <a:r>
              <a:rPr lang="en-US" altLang="en-US"/>
              <a:t>Pipeline interlocks.</a:t>
            </a:r>
          </a:p>
          <a:p>
            <a:pPr lvl="1"/>
            <a:r>
              <a:rPr lang="en-US" altLang="en-US"/>
              <a:t>Fetch times.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3">
            <a:extLst>
              <a:ext uri="{FF2B5EF4-FFF2-40B4-BE49-F238E27FC236}">
                <a16:creationId xmlns:a16="http://schemas.microsoft.com/office/drawing/2014/main" id="{2576E942-308B-CD3A-AE9D-9A58B1BEA72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39939" name="Footer Placeholder 4">
            <a:extLst>
              <a:ext uri="{FF2B5EF4-FFF2-40B4-BE49-F238E27FC236}">
                <a16:creationId xmlns:a16="http://schemas.microsoft.com/office/drawing/2014/main" id="{5F710638-31B5-C183-8638-079F55EAB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51559731-7F89-FD4B-AC72-94522E212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to measure program performance</a:t>
            </a: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5CF3D088-030C-B9F3-1A16-63E803272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Simulate execution of the CPU.</a:t>
            </a:r>
          </a:p>
          <a:p>
            <a:pPr lvl="1"/>
            <a:r>
              <a:rPr lang="en-US" altLang="en-US" dirty="0"/>
              <a:t>Makes CPU state visible.</a:t>
            </a:r>
          </a:p>
          <a:p>
            <a:r>
              <a:rPr lang="en-US" altLang="en-US" dirty="0"/>
              <a:t>Measure on real CPU using timer.</a:t>
            </a:r>
          </a:p>
          <a:p>
            <a:pPr lvl="1"/>
            <a:r>
              <a:rPr lang="en-US" altLang="en-US" dirty="0"/>
              <a:t>Requires modifying the program to control the timer.</a:t>
            </a:r>
          </a:p>
          <a:p>
            <a:r>
              <a:rPr lang="en-US" altLang="en-US" dirty="0"/>
              <a:t>Measure on real CPU using logic analyzer.</a:t>
            </a:r>
          </a:p>
          <a:p>
            <a:pPr lvl="1"/>
            <a:r>
              <a:rPr lang="en-US" altLang="en-US" dirty="0"/>
              <a:t>Requires events visible on the pins.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Date Placeholder 3">
            <a:extLst>
              <a:ext uri="{FF2B5EF4-FFF2-40B4-BE49-F238E27FC236}">
                <a16:creationId xmlns:a16="http://schemas.microsoft.com/office/drawing/2014/main" id="{1B1F4E84-0077-B028-698F-5B99877231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0963" name="Footer Placeholder 4">
            <a:extLst>
              <a:ext uri="{FF2B5EF4-FFF2-40B4-BE49-F238E27FC236}">
                <a16:creationId xmlns:a16="http://schemas.microsoft.com/office/drawing/2014/main" id="{040E4C1F-3E05-BFF3-9B8D-04710599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FF4D474B-8F70-08F4-D1CB-C86468E032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performance metrics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E531E2FD-B65B-4AF6-C972-AA45BE4FB6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Average-case execution time.</a:t>
            </a:r>
          </a:p>
          <a:p>
            <a:pPr lvl="1"/>
            <a:r>
              <a:rPr lang="en-US" altLang="en-US"/>
              <a:t>Typically used in application programming.</a:t>
            </a:r>
          </a:p>
          <a:p>
            <a:r>
              <a:rPr lang="en-US" altLang="en-US"/>
              <a:t>Worst-case execution time.</a:t>
            </a:r>
          </a:p>
          <a:p>
            <a:pPr lvl="1"/>
            <a:r>
              <a:rPr lang="en-US" altLang="en-US"/>
              <a:t>A component in deadline satisfaction.</a:t>
            </a:r>
          </a:p>
          <a:p>
            <a:r>
              <a:rPr lang="en-US" altLang="en-US"/>
              <a:t>Best-case execution time.</a:t>
            </a:r>
          </a:p>
          <a:p>
            <a:pPr lvl="1"/>
            <a:r>
              <a:rPr lang="en-US" altLang="en-US"/>
              <a:t>Task-level interactions can cause best-case program behavior to result in worst-case system behavior.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3">
            <a:extLst>
              <a:ext uri="{FF2B5EF4-FFF2-40B4-BE49-F238E27FC236}">
                <a16:creationId xmlns:a16="http://schemas.microsoft.com/office/drawing/2014/main" id="{B1A08A7C-4829-2A5A-EFDF-DD60CD2189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1987" name="Footer Placeholder 4">
            <a:extLst>
              <a:ext uri="{FF2B5EF4-FFF2-40B4-BE49-F238E27FC236}">
                <a16:creationId xmlns:a16="http://schemas.microsoft.com/office/drawing/2014/main" id="{23786FB9-77CA-307E-5ECB-32F77A5A5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63F7EB74-D17F-9576-C6C6-31B4943918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Elements of program performance</a:t>
            </a: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4A957491-BFE5-2E85-4EFA-5F8C1906E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Basic program execution time formula: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execution time = program path + instruction timing</a:t>
            </a:r>
          </a:p>
          <a:p>
            <a:r>
              <a:rPr lang="en-US" altLang="en-US" sz="2800"/>
              <a:t>Solving these problems independently helps simplify analysis.</a:t>
            </a:r>
          </a:p>
          <a:p>
            <a:pPr lvl="1"/>
            <a:r>
              <a:rPr lang="en-US" altLang="en-US" sz="2400"/>
              <a:t>Easier to separate on simpler CPUs.</a:t>
            </a:r>
          </a:p>
          <a:p>
            <a:r>
              <a:rPr lang="en-US" altLang="en-US" sz="2800"/>
              <a:t>Accurate performance analysis requires:</a:t>
            </a:r>
          </a:p>
          <a:p>
            <a:pPr lvl="1"/>
            <a:r>
              <a:rPr lang="en-US" altLang="en-US" sz="2400"/>
              <a:t>Assembly/binary code.</a:t>
            </a:r>
          </a:p>
          <a:p>
            <a:pPr lvl="1"/>
            <a:r>
              <a:rPr lang="en-US" altLang="en-US" sz="2400"/>
              <a:t>Execution platform.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74393E1-9E0B-273A-D446-58A530DF0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Data-dependent paths in an if statement</a:t>
            </a:r>
          </a:p>
        </p:txBody>
      </p:sp>
      <p:sp>
        <p:nvSpPr>
          <p:cNvPr id="43011" name="Content Placeholder 5">
            <a:extLst>
              <a:ext uri="{FF2B5EF4-FFF2-40B4-BE49-F238E27FC236}">
                <a16:creationId xmlns:a16="http://schemas.microsoft.com/office/drawing/2014/main" id="{4D230079-C113-67D4-EA2E-D934977C9A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000"/>
              <a:t>if (a || b) { /* T1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if ( c ) /* T2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	x = r*s+t; /* A1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else y=r+s; /* A2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z = r+s+u; /* A3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}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else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if ( c ) /* T3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	y = r-t; /* A4 */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}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FB128848-1536-4F48-9E21-BCA46851755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22800" y="1885950"/>
          <a:ext cx="4013200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path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T1=F, T3=F: no assignments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T1=F, T3=T: A4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T2=F:</a:t>
                      </a:r>
                      <a:r>
                        <a:rPr lang="en-US" sz="1600" baseline="0" dirty="0"/>
                        <a:t> A2,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T2=T: A1, A3</a:t>
                      </a:r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T2=F: A2,</a:t>
                      </a:r>
                      <a:r>
                        <a:rPr lang="en-US" sz="1600" baseline="0" dirty="0"/>
                        <a:t>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T2=T:</a:t>
                      </a:r>
                      <a:r>
                        <a:rPr lang="en-US" sz="1600" baseline="0" dirty="0"/>
                        <a:t> A1,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T2=F:</a:t>
                      </a:r>
                      <a:r>
                        <a:rPr lang="en-US" sz="1600" baseline="0" dirty="0"/>
                        <a:t> A2,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T1=T, T2=T:</a:t>
                      </a:r>
                      <a:r>
                        <a:rPr lang="en-US" sz="1600" baseline="0" dirty="0"/>
                        <a:t> A1, A3</a:t>
                      </a:r>
                      <a:endParaRPr lang="en-US" sz="16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064" name="Date Placeholder 3">
            <a:extLst>
              <a:ext uri="{FF2B5EF4-FFF2-40B4-BE49-F238E27FC236}">
                <a16:creationId xmlns:a16="http://schemas.microsoft.com/office/drawing/2014/main" id="{03A5967F-FF87-A629-E62C-3699F4F4F19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3065" name="Footer Placeholder 4">
            <a:extLst>
              <a:ext uri="{FF2B5EF4-FFF2-40B4-BE49-F238E27FC236}">
                <a16:creationId xmlns:a16="http://schemas.microsoft.com/office/drawing/2014/main" id="{FBDDAFDB-D38A-24CC-C3F9-6F219CE9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344BA44-A48A-B43E-B1C6-D68D8F486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Paths in a loop</a:t>
            </a:r>
          </a:p>
        </p:txBody>
      </p:sp>
      <p:sp>
        <p:nvSpPr>
          <p:cNvPr id="44035" name="Content Placeholder 5">
            <a:extLst>
              <a:ext uri="{FF2B5EF4-FFF2-40B4-BE49-F238E27FC236}">
                <a16:creationId xmlns:a16="http://schemas.microsoft.com/office/drawing/2014/main" id="{DE5FC75C-2390-B086-6A6A-CF77F00172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for (i=0, f=0; i&lt;N; i++) 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f = f + c[i] * x[i];</a:t>
            </a:r>
          </a:p>
        </p:txBody>
      </p:sp>
      <p:sp>
        <p:nvSpPr>
          <p:cNvPr id="44036" name="Date Placeholder 3">
            <a:extLst>
              <a:ext uri="{FF2B5EF4-FFF2-40B4-BE49-F238E27FC236}">
                <a16:creationId xmlns:a16="http://schemas.microsoft.com/office/drawing/2014/main" id="{0B3EAC59-EFE1-CBE5-4C42-453952DF9D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4037" name="Footer Placeholder 4">
            <a:extLst>
              <a:ext uri="{FF2B5EF4-FFF2-40B4-BE49-F238E27FC236}">
                <a16:creationId xmlns:a16="http://schemas.microsoft.com/office/drawing/2014/main" id="{62D2DFD8-EDB6-FA20-F348-38ACFE1D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4038" name="Rectangle 7">
            <a:extLst>
              <a:ext uri="{FF2B5EF4-FFF2-40B4-BE49-F238E27FC236}">
                <a16:creationId xmlns:a16="http://schemas.microsoft.com/office/drawing/2014/main" id="{DC17CFA7-4719-B6B4-CA94-A43A75955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05000"/>
            <a:ext cx="1066800" cy="914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i=0</a:t>
            </a:r>
          </a:p>
          <a:p>
            <a:pPr algn="ctr"/>
            <a:r>
              <a:rPr lang="en-US" altLang="en-US"/>
              <a:t>f=0</a:t>
            </a:r>
          </a:p>
        </p:txBody>
      </p:sp>
      <p:sp>
        <p:nvSpPr>
          <p:cNvPr id="44039" name="Hexagon 8">
            <a:extLst>
              <a:ext uri="{FF2B5EF4-FFF2-40B4-BE49-F238E27FC236}">
                <a16:creationId xmlns:a16="http://schemas.microsoft.com/office/drawing/2014/main" id="{917090DC-601A-AC53-0285-465C39A5B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0"/>
            <a:ext cx="1066800" cy="609600"/>
          </a:xfrm>
          <a:prstGeom prst="hexagon">
            <a:avLst>
              <a:gd name="adj" fmla="val 25002"/>
              <a:gd name="vf" fmla="val 11547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i=N</a:t>
            </a:r>
          </a:p>
        </p:txBody>
      </p:sp>
      <p:sp>
        <p:nvSpPr>
          <p:cNvPr id="44040" name="Rectangle 9">
            <a:extLst>
              <a:ext uri="{FF2B5EF4-FFF2-40B4-BE49-F238E27FC236}">
                <a16:creationId xmlns:a16="http://schemas.microsoft.com/office/drawing/2014/main" id="{79E14A33-5789-9BA0-1916-8CF71CBA5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267200"/>
            <a:ext cx="24384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f = f + c[i] * x[i]</a:t>
            </a:r>
          </a:p>
        </p:txBody>
      </p:sp>
      <p:sp>
        <p:nvSpPr>
          <p:cNvPr id="44041" name="Rectangle 10">
            <a:extLst>
              <a:ext uri="{FF2B5EF4-FFF2-40B4-BE49-F238E27FC236}">
                <a16:creationId xmlns:a16="http://schemas.microsoft.com/office/drawing/2014/main" id="{F2E8231E-0753-46BD-C154-0B4C43F6D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181600"/>
            <a:ext cx="24384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 = i + 1</a:t>
            </a:r>
          </a:p>
        </p:txBody>
      </p:sp>
      <p:cxnSp>
        <p:nvCxnSpPr>
          <p:cNvPr id="44042" name="Straight Arrow Connector 12">
            <a:extLst>
              <a:ext uri="{FF2B5EF4-FFF2-40B4-BE49-F238E27FC236}">
                <a16:creationId xmlns:a16="http://schemas.microsoft.com/office/drawing/2014/main" id="{51C9B605-C9F7-58C6-BC4A-70F7E9886ACD}"/>
              </a:ext>
            </a:extLst>
          </p:cNvPr>
          <p:cNvCxnSpPr>
            <a:cxnSpLocks noChangeShapeType="1"/>
            <a:stCxn id="44038" idx="2"/>
          </p:cNvCxnSpPr>
          <p:nvPr/>
        </p:nvCxnSpPr>
        <p:spPr bwMode="auto">
          <a:xfrm rot="5400000">
            <a:off x="6438901" y="3009900"/>
            <a:ext cx="3810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3" name="Straight Arrow Connector 14">
            <a:extLst>
              <a:ext uri="{FF2B5EF4-FFF2-40B4-BE49-F238E27FC236}">
                <a16:creationId xmlns:a16="http://schemas.microsoft.com/office/drawing/2014/main" id="{AFF462FC-E73D-0B73-E64C-979389CF1FC8}"/>
              </a:ext>
            </a:extLst>
          </p:cNvPr>
          <p:cNvCxnSpPr>
            <a:cxnSpLocks noChangeShapeType="1"/>
            <a:stCxn id="44039" idx="2"/>
          </p:cNvCxnSpPr>
          <p:nvPr/>
        </p:nvCxnSpPr>
        <p:spPr bwMode="auto">
          <a:xfrm rot="10800000">
            <a:off x="5562600" y="3505200"/>
            <a:ext cx="5334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4" name="TextBox 16">
            <a:extLst>
              <a:ext uri="{FF2B5EF4-FFF2-40B4-BE49-F238E27FC236}">
                <a16:creationId xmlns:a16="http://schemas.microsoft.com/office/drawing/2014/main" id="{A59B9501-519E-FCC5-C93B-B55ABC41E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89560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N</a:t>
            </a:r>
          </a:p>
        </p:txBody>
      </p:sp>
      <p:sp>
        <p:nvSpPr>
          <p:cNvPr id="44045" name="TextBox 17">
            <a:extLst>
              <a:ext uri="{FF2B5EF4-FFF2-40B4-BE49-F238E27FC236}">
                <a16:creationId xmlns:a16="http://schemas.microsoft.com/office/drawing/2014/main" id="{E80C915C-25EA-086E-C8F9-9D0DED884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81000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Y</a:t>
            </a:r>
          </a:p>
        </p:txBody>
      </p:sp>
      <p:cxnSp>
        <p:nvCxnSpPr>
          <p:cNvPr id="44046" name="Straight Arrow Connector 21">
            <a:extLst>
              <a:ext uri="{FF2B5EF4-FFF2-40B4-BE49-F238E27FC236}">
                <a16:creationId xmlns:a16="http://schemas.microsoft.com/office/drawing/2014/main" id="{34E6ADB2-CF58-9288-92B7-038ECCD7004E}"/>
              </a:ext>
            </a:extLst>
          </p:cNvPr>
          <p:cNvCxnSpPr>
            <a:cxnSpLocks noChangeShapeType="1"/>
            <a:endCxn id="44040" idx="0"/>
          </p:cNvCxnSpPr>
          <p:nvPr/>
        </p:nvCxnSpPr>
        <p:spPr bwMode="auto">
          <a:xfrm rot="5400000">
            <a:off x="6402388" y="4038600"/>
            <a:ext cx="455612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7" name="Straight Arrow Connector 26">
            <a:extLst>
              <a:ext uri="{FF2B5EF4-FFF2-40B4-BE49-F238E27FC236}">
                <a16:creationId xmlns:a16="http://schemas.microsoft.com/office/drawing/2014/main" id="{DD635C27-F8C9-FFF0-5A24-872DBA000909}"/>
              </a:ext>
            </a:extLst>
          </p:cNvPr>
          <p:cNvCxnSpPr>
            <a:cxnSpLocks noChangeShapeType="1"/>
            <a:stCxn id="44040" idx="2"/>
            <a:endCxn id="44041" idx="0"/>
          </p:cNvCxnSpPr>
          <p:nvPr/>
        </p:nvCxnSpPr>
        <p:spPr bwMode="auto">
          <a:xfrm rot="5400000">
            <a:off x="6438901" y="4991100"/>
            <a:ext cx="3810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Straight Connector 30">
            <a:extLst>
              <a:ext uri="{FF2B5EF4-FFF2-40B4-BE49-F238E27FC236}">
                <a16:creationId xmlns:a16="http://schemas.microsoft.com/office/drawing/2014/main" id="{3DA6B435-4514-FB6C-0EB6-B7E1C0BB74BB}"/>
              </a:ext>
            </a:extLst>
          </p:cNvPr>
          <p:cNvCxnSpPr>
            <a:cxnSpLocks noChangeShapeType="1"/>
            <a:stCxn id="44041" idx="2"/>
          </p:cNvCxnSpPr>
          <p:nvPr/>
        </p:nvCxnSpPr>
        <p:spPr bwMode="auto">
          <a:xfrm rot="5400000">
            <a:off x="6515101" y="5829300"/>
            <a:ext cx="228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Straight Connector 32">
            <a:extLst>
              <a:ext uri="{FF2B5EF4-FFF2-40B4-BE49-F238E27FC236}">
                <a16:creationId xmlns:a16="http://schemas.microsoft.com/office/drawing/2014/main" id="{E679FBBD-D6A4-31E6-6E4C-2F6EF4749CC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029200" y="5943600"/>
            <a:ext cx="16002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Straight Connector 34">
            <a:extLst>
              <a:ext uri="{FF2B5EF4-FFF2-40B4-BE49-F238E27FC236}">
                <a16:creationId xmlns:a16="http://schemas.microsoft.com/office/drawing/2014/main" id="{CADD7E56-F589-B99D-A1EE-BBC2FD2E240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390901" y="4305300"/>
            <a:ext cx="3276600" cy="31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Straight Connector 38">
            <a:extLst>
              <a:ext uri="{FF2B5EF4-FFF2-40B4-BE49-F238E27FC236}">
                <a16:creationId xmlns:a16="http://schemas.microsoft.com/office/drawing/2014/main" id="{9EFF399C-1D7F-78DA-945C-0266EA598F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29200" y="2667000"/>
            <a:ext cx="5334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2" name="Straight Arrow Connector 40">
            <a:extLst>
              <a:ext uri="{FF2B5EF4-FFF2-40B4-BE49-F238E27FC236}">
                <a16:creationId xmlns:a16="http://schemas.microsoft.com/office/drawing/2014/main" id="{8865F5C5-92AC-7570-52C1-16CFC4FA6BDF}"/>
              </a:ext>
            </a:extLst>
          </p:cNvPr>
          <p:cNvCxnSpPr>
            <a:cxnSpLocks noChangeShapeType="1"/>
            <a:endCxn id="44039" idx="1"/>
          </p:cNvCxnSpPr>
          <p:nvPr/>
        </p:nvCxnSpPr>
        <p:spPr bwMode="auto">
          <a:xfrm>
            <a:off x="5562600" y="2667000"/>
            <a:ext cx="685800" cy="533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194548E-CA59-EE8D-C60A-AB8C41CAD18E}"/>
              </a:ext>
            </a:extLst>
          </p:cNvPr>
          <p:cNvCxnSpPr/>
          <p:nvPr/>
        </p:nvCxnSpPr>
        <p:spPr bwMode="auto">
          <a:xfrm rot="5400000">
            <a:off x="5867401" y="2286000"/>
            <a:ext cx="1371600" cy="31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20A9292-A85B-85B4-2A3A-B506AEBA75F2}"/>
              </a:ext>
            </a:extLst>
          </p:cNvPr>
          <p:cNvCxnSpPr/>
          <p:nvPr/>
        </p:nvCxnSpPr>
        <p:spPr bwMode="auto">
          <a:xfrm rot="5400000">
            <a:off x="5181601" y="4419600"/>
            <a:ext cx="2743200" cy="31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95A1710-ECF9-1D88-185B-66573FE03A21}"/>
              </a:ext>
            </a:extLst>
          </p:cNvPr>
          <p:cNvCxnSpPr/>
          <p:nvPr/>
        </p:nvCxnSpPr>
        <p:spPr bwMode="auto">
          <a:xfrm rot="5400000">
            <a:off x="6210301" y="3314700"/>
            <a:ext cx="381000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F833776-96D2-3373-6BF0-48D2FB5D3DB7}"/>
              </a:ext>
            </a:extLst>
          </p:cNvPr>
          <p:cNvCxnSpPr/>
          <p:nvPr/>
        </p:nvCxnSpPr>
        <p:spPr bwMode="auto">
          <a:xfrm rot="10800000">
            <a:off x="5715000" y="3505200"/>
            <a:ext cx="6858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ate Placeholder 3">
            <a:extLst>
              <a:ext uri="{FF2B5EF4-FFF2-40B4-BE49-F238E27FC236}">
                <a16:creationId xmlns:a16="http://schemas.microsoft.com/office/drawing/2014/main" id="{5DAEA935-67BC-C162-DAB4-9EECB0222A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5059" name="Footer Placeholder 4">
            <a:extLst>
              <a:ext uri="{FF2B5EF4-FFF2-40B4-BE49-F238E27FC236}">
                <a16:creationId xmlns:a16="http://schemas.microsoft.com/office/drawing/2014/main" id="{009A424C-209F-557A-DF19-F34C720D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8F02E686-B48E-3DF0-DBB5-4804A271B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Instruction timing</a:t>
            </a: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1C45E599-FA9C-AB29-A543-3C5C41BB2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Not all instructions take the same amount of time.</a:t>
            </a:r>
          </a:p>
          <a:p>
            <a:pPr lvl="1"/>
            <a:r>
              <a:rPr lang="en-US" altLang="en-US" sz="2000"/>
              <a:t>Multi-cycle instructions.</a:t>
            </a:r>
          </a:p>
          <a:p>
            <a:pPr lvl="1"/>
            <a:r>
              <a:rPr lang="en-US" altLang="en-US" sz="2000"/>
              <a:t>Fetches.</a:t>
            </a:r>
          </a:p>
          <a:p>
            <a:r>
              <a:rPr lang="en-US" altLang="en-US" sz="2400"/>
              <a:t>Execution times of instructions are not independent.</a:t>
            </a:r>
          </a:p>
          <a:p>
            <a:pPr lvl="1"/>
            <a:r>
              <a:rPr lang="en-US" altLang="en-US" sz="2000"/>
              <a:t>Pipeline interlocks.</a:t>
            </a:r>
          </a:p>
          <a:p>
            <a:pPr lvl="1"/>
            <a:r>
              <a:rPr lang="en-US" altLang="en-US" sz="2000"/>
              <a:t>Cache effects.</a:t>
            </a:r>
          </a:p>
          <a:p>
            <a:r>
              <a:rPr lang="en-US" altLang="en-US" sz="2400"/>
              <a:t>Execution times may vary with operand value.</a:t>
            </a:r>
          </a:p>
          <a:p>
            <a:pPr lvl="1"/>
            <a:r>
              <a:rPr lang="en-US" altLang="en-US" sz="2000"/>
              <a:t>Floating-point operations.</a:t>
            </a:r>
          </a:p>
          <a:p>
            <a:pPr lvl="1"/>
            <a:r>
              <a:rPr lang="en-US" altLang="en-US" sz="2000"/>
              <a:t>Some multi-cycle integer operations.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ate Placeholder 3">
            <a:extLst>
              <a:ext uri="{FF2B5EF4-FFF2-40B4-BE49-F238E27FC236}">
                <a16:creationId xmlns:a16="http://schemas.microsoft.com/office/drawing/2014/main" id="{CCE94361-B0A0-18D7-3138-7A5B3C64F1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6083" name="Footer Placeholder 4">
            <a:extLst>
              <a:ext uri="{FF2B5EF4-FFF2-40B4-BE49-F238E27FC236}">
                <a16:creationId xmlns:a16="http://schemas.microsoft.com/office/drawing/2014/main" id="{813CB71B-C48B-6B8B-8B57-2E19E8B81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F9E35A76-F30C-B16F-61C1-7635659B11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Mesaurement-driven performance analysis</a:t>
            </a: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675B5A9C-5002-7308-7227-C40AC1274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Not so easy as it sounds:</a:t>
            </a:r>
          </a:p>
          <a:p>
            <a:pPr lvl="1"/>
            <a:r>
              <a:rPr lang="en-US" altLang="en-US"/>
              <a:t>Must actually have access to the CPU.</a:t>
            </a:r>
          </a:p>
          <a:p>
            <a:pPr lvl="1"/>
            <a:r>
              <a:rPr lang="en-US" altLang="en-US"/>
              <a:t>Must know data inputs that give worst/best case performance.</a:t>
            </a:r>
          </a:p>
          <a:p>
            <a:pPr lvl="1"/>
            <a:r>
              <a:rPr lang="en-US" altLang="en-US"/>
              <a:t>Must make state visible.</a:t>
            </a:r>
          </a:p>
          <a:p>
            <a:r>
              <a:rPr lang="en-US" altLang="en-US"/>
              <a:t>Still an important method for performance analysis.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Date Placeholder 3">
            <a:extLst>
              <a:ext uri="{FF2B5EF4-FFF2-40B4-BE49-F238E27FC236}">
                <a16:creationId xmlns:a16="http://schemas.microsoft.com/office/drawing/2014/main" id="{166DB143-EBE8-7254-51B5-9ED32BCF29C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7107" name="Footer Placeholder 4">
            <a:extLst>
              <a:ext uri="{FF2B5EF4-FFF2-40B4-BE49-F238E27FC236}">
                <a16:creationId xmlns:a16="http://schemas.microsoft.com/office/drawing/2014/main" id="{23EF52B3-6267-A9BB-7204-473D3F8C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7A476F8B-2A20-E501-0EB7-7B3802FE8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Feeding the program</a:t>
            </a: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91EA428B-976D-21B2-2762-9BC273DB7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Need to know the desired input values.</a:t>
            </a:r>
          </a:p>
          <a:p>
            <a:r>
              <a:rPr lang="en-US" altLang="en-US"/>
              <a:t>May need to write software scaffolding to generate the input values.</a:t>
            </a:r>
          </a:p>
          <a:p>
            <a:r>
              <a:rPr lang="en-US" altLang="en-US"/>
              <a:t>Software scaffolding may also need to examine outputs to generate feedback-driven inputs.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3">
            <a:extLst>
              <a:ext uri="{FF2B5EF4-FFF2-40B4-BE49-F238E27FC236}">
                <a16:creationId xmlns:a16="http://schemas.microsoft.com/office/drawing/2014/main" id="{1B1FAAB4-3F17-F9E2-BA69-C3712ACD713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8131" name="Footer Placeholder 4">
            <a:extLst>
              <a:ext uri="{FF2B5EF4-FFF2-40B4-BE49-F238E27FC236}">
                <a16:creationId xmlns:a16="http://schemas.microsoft.com/office/drawing/2014/main" id="{0008D02B-3972-AA1E-A905-27BA473C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5C77D5AC-7C61-EA5B-3DCF-6EBCCEE37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Trace-driven measurement</a:t>
            </a: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1E14C20B-514E-AE01-448A-0A1329C03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Trace-driven:</a:t>
            </a:r>
          </a:p>
          <a:p>
            <a:pPr lvl="1"/>
            <a:r>
              <a:rPr lang="en-US" altLang="en-US"/>
              <a:t>Instrument the program.</a:t>
            </a:r>
          </a:p>
          <a:p>
            <a:pPr lvl="1"/>
            <a:r>
              <a:rPr lang="en-US" altLang="en-US"/>
              <a:t>Save information about the path.</a:t>
            </a:r>
          </a:p>
          <a:p>
            <a:r>
              <a:rPr lang="en-US" altLang="en-US"/>
              <a:t>Requires modifying the program.</a:t>
            </a:r>
          </a:p>
          <a:p>
            <a:r>
              <a:rPr lang="en-US" altLang="en-US"/>
              <a:t>Trace files are large.</a:t>
            </a:r>
          </a:p>
          <a:p>
            <a:r>
              <a:rPr lang="en-US" altLang="en-US"/>
              <a:t>Widely used for cache analysis.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Date Placeholder 3">
            <a:extLst>
              <a:ext uri="{FF2B5EF4-FFF2-40B4-BE49-F238E27FC236}">
                <a16:creationId xmlns:a16="http://schemas.microsoft.com/office/drawing/2014/main" id="{3F4273DE-5BBF-87FA-2322-9A25FC65246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49155" name="Footer Placeholder 4">
            <a:extLst>
              <a:ext uri="{FF2B5EF4-FFF2-40B4-BE49-F238E27FC236}">
                <a16:creationId xmlns:a16="http://schemas.microsoft.com/office/drawing/2014/main" id="{F0AD3DC6-BB43-EFDC-B5B6-A0A7065B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5E755DC3-1EF8-B9A5-51A6-46C379AD0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Physical measurement</a:t>
            </a: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90C9B20F-8334-1E00-4D0F-3922579DF9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In-circuit emulator allows tracing.</a:t>
            </a:r>
          </a:p>
          <a:p>
            <a:pPr lvl="1"/>
            <a:r>
              <a:rPr lang="en-US" altLang="en-US" sz="2400"/>
              <a:t>Affects execution timing.</a:t>
            </a:r>
          </a:p>
          <a:p>
            <a:r>
              <a:rPr lang="en-US" altLang="en-US" sz="2800"/>
              <a:t>Logic analyzer can measure behavior at pins.</a:t>
            </a:r>
          </a:p>
          <a:p>
            <a:pPr lvl="1"/>
            <a:r>
              <a:rPr lang="en-US" altLang="en-US" sz="2400"/>
              <a:t>Address bus can be analyzed to look for events.</a:t>
            </a:r>
          </a:p>
          <a:p>
            <a:pPr lvl="1"/>
            <a:r>
              <a:rPr lang="en-US" altLang="en-US" sz="2400"/>
              <a:t>Code can be modified to make events visible.</a:t>
            </a:r>
          </a:p>
          <a:p>
            <a:r>
              <a:rPr lang="en-US" altLang="en-US" sz="2800"/>
              <a:t>Particularly important for real-world input streams.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3">
            <a:extLst>
              <a:ext uri="{FF2B5EF4-FFF2-40B4-BE49-F238E27FC236}">
                <a16:creationId xmlns:a16="http://schemas.microsoft.com/office/drawing/2014/main" id="{5158F075-43BA-0894-65AD-EC61E2DE43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0179" name="Footer Placeholder 4">
            <a:extLst>
              <a:ext uri="{FF2B5EF4-FFF2-40B4-BE49-F238E27FC236}">
                <a16:creationId xmlns:a16="http://schemas.microsoft.com/office/drawing/2014/main" id="{27E5C2B6-37C3-B7AE-8D1A-9B3D3EDA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2E320B5A-4534-4DD8-1098-C273E1D7E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CPU simulation</a:t>
            </a: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21E26B0A-420D-BE01-AE06-94D93F975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Some simulators are less accurate.</a:t>
            </a:r>
          </a:p>
          <a:p>
            <a:r>
              <a:rPr lang="en-US" altLang="en-US"/>
              <a:t>Cycle-accurate simulator provides accurate clock-cycle timing.</a:t>
            </a:r>
          </a:p>
          <a:p>
            <a:pPr lvl="1"/>
            <a:r>
              <a:rPr lang="en-US" altLang="en-US"/>
              <a:t>Simulator models CPU internals.</a:t>
            </a:r>
          </a:p>
          <a:p>
            <a:pPr lvl="1"/>
            <a:r>
              <a:rPr lang="en-US" altLang="en-US"/>
              <a:t>Simulator writer must know how CPU works.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C92A314-D49B-F551-47AA-C12E2AADA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SimpleScalar FIR filter simulation</a:t>
            </a:r>
          </a:p>
        </p:txBody>
      </p:sp>
      <p:sp>
        <p:nvSpPr>
          <p:cNvPr id="51203" name="Content Placeholder 5">
            <a:extLst>
              <a:ext uri="{FF2B5EF4-FFF2-40B4-BE49-F238E27FC236}">
                <a16:creationId xmlns:a16="http://schemas.microsoft.com/office/drawing/2014/main" id="{76CA7F56-CCF9-A5D6-556C-296599D54A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int x[N] = {8, 17, … };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int c[N] = {1, 2, … };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main()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int i, k, f;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for (k=0; k&lt;COUNT; k++)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	for (i=0; i&lt;N; i++)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		f += c[i]*x[i];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}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7BDD824-0326-A0DD-41F1-CE5A0AF8FA9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622800" y="1885950"/>
          <a:ext cx="4013199" cy="2027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543">
                <a:tc>
                  <a:txBody>
                    <a:bodyPr/>
                    <a:lstStyle/>
                    <a:p>
                      <a:r>
                        <a:rPr lang="en-US" sz="1800" dirty="0"/>
                        <a:t>N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total </a:t>
                      </a:r>
                      <a:r>
                        <a:rPr lang="en-US" sz="1800" dirty="0" err="1"/>
                        <a:t>sim</a:t>
                      </a:r>
                      <a:r>
                        <a:rPr lang="en-US" sz="1800" dirty="0"/>
                        <a:t> cycles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sim</a:t>
                      </a:r>
                      <a:r>
                        <a:rPr lang="en-US" sz="1800" dirty="0"/>
                        <a:t> cycles per filter execution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100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25854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259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1,000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155759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156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98"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1,0000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1451840</a:t>
                      </a:r>
                    </a:p>
                  </a:txBody>
                  <a:tcPr marT="45727" marB="45727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/>
                        <a:t>145</a:t>
                      </a:r>
                    </a:p>
                  </a:txBody>
                  <a:tcPr marT="45727" marB="4572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1226" name="Date Placeholder 3">
            <a:extLst>
              <a:ext uri="{FF2B5EF4-FFF2-40B4-BE49-F238E27FC236}">
                <a16:creationId xmlns:a16="http://schemas.microsoft.com/office/drawing/2014/main" id="{54E8BEE5-B535-1B44-CACA-A5FAA7BDB35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1227" name="Footer Placeholder 4">
            <a:extLst>
              <a:ext uri="{FF2B5EF4-FFF2-40B4-BE49-F238E27FC236}">
                <a16:creationId xmlns:a16="http://schemas.microsoft.com/office/drawing/2014/main" id="{AFFF78B6-9FF8-2C61-D13D-5F301141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ate Placeholder 3">
            <a:extLst>
              <a:ext uri="{FF2B5EF4-FFF2-40B4-BE49-F238E27FC236}">
                <a16:creationId xmlns:a16="http://schemas.microsoft.com/office/drawing/2014/main" id="{094ED02A-4582-2DF4-97D3-FB1DC66B343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2227" name="Footer Placeholder 4">
            <a:extLst>
              <a:ext uri="{FF2B5EF4-FFF2-40B4-BE49-F238E27FC236}">
                <a16:creationId xmlns:a16="http://schemas.microsoft.com/office/drawing/2014/main" id="{0AA79B8D-68C2-90D6-AF8D-06C4B496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907D7AFF-39E4-42F3-7E03-BBA1E14B1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optimization motivation</a:t>
            </a: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B336832B-C0DD-0741-7186-DCD0FC8264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Embedded systems must often meet deadlines.</a:t>
            </a:r>
          </a:p>
          <a:p>
            <a:pPr lvl="1"/>
            <a:r>
              <a:rPr lang="en-US" altLang="en-US"/>
              <a:t>Faster may not be fast enough.</a:t>
            </a:r>
          </a:p>
          <a:p>
            <a:r>
              <a:rPr lang="en-US" altLang="en-US"/>
              <a:t>Need to be able to analyze execution time.</a:t>
            </a:r>
          </a:p>
          <a:p>
            <a:pPr lvl="1"/>
            <a:r>
              <a:rPr lang="en-US" altLang="en-US"/>
              <a:t>Worst-case, not typical.</a:t>
            </a:r>
          </a:p>
          <a:p>
            <a:r>
              <a:rPr lang="en-US" altLang="en-US"/>
              <a:t>Need techniques for reliably improving execution time.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3">
            <a:extLst>
              <a:ext uri="{FF2B5EF4-FFF2-40B4-BE49-F238E27FC236}">
                <a16:creationId xmlns:a16="http://schemas.microsoft.com/office/drawing/2014/main" id="{E7F4251D-F3B5-3E8E-CAE3-BE4D1BDE43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3251" name="Footer Placeholder 4">
            <a:extLst>
              <a:ext uri="{FF2B5EF4-FFF2-40B4-BE49-F238E27FC236}">
                <a16:creationId xmlns:a16="http://schemas.microsoft.com/office/drawing/2014/main" id="{508C0110-18D6-FFE6-A398-91FF0F15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9BB94550-1AE0-B805-3687-5492F2A6D1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Programs and performance analysis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60C2F6BC-162B-438C-7BCE-FEE8AE18A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Best results come from analyzing optimized instructions, not high-level language code:</a:t>
            </a:r>
          </a:p>
          <a:p>
            <a:pPr lvl="1"/>
            <a:r>
              <a:rPr lang="en-US" altLang="en-US"/>
              <a:t>non-obvious translations of HLL statements into instructions;</a:t>
            </a:r>
          </a:p>
          <a:p>
            <a:pPr lvl="1"/>
            <a:r>
              <a:rPr lang="en-US" altLang="en-US"/>
              <a:t>code may move;</a:t>
            </a:r>
          </a:p>
          <a:p>
            <a:pPr lvl="1"/>
            <a:r>
              <a:rPr lang="en-US" altLang="en-US"/>
              <a:t>cache effects are hard to predict.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3">
            <a:extLst>
              <a:ext uri="{FF2B5EF4-FFF2-40B4-BE49-F238E27FC236}">
                <a16:creationId xmlns:a16="http://schemas.microsoft.com/office/drawing/2014/main" id="{3480FC64-3769-B339-55D1-1C0A925751D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4275" name="Footer Placeholder 4">
            <a:extLst>
              <a:ext uri="{FF2B5EF4-FFF2-40B4-BE49-F238E27FC236}">
                <a16:creationId xmlns:a16="http://schemas.microsoft.com/office/drawing/2014/main" id="{215D6943-C553-84F3-4F3D-A425A6DA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A0C43225-D11D-8B84-869E-99C66B422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optimizations</a:t>
            </a: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82E79B4A-93A5-C35B-D099-175B3E69D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178800" cy="4610100"/>
          </a:xfrm>
        </p:spPr>
        <p:txBody>
          <a:bodyPr/>
          <a:lstStyle/>
          <a:p>
            <a:r>
              <a:rPr lang="en-US" altLang="en-US" dirty="0"/>
              <a:t>Loops are good targets for optimization.</a:t>
            </a:r>
          </a:p>
          <a:p>
            <a:r>
              <a:rPr lang="en-US" altLang="en-US" dirty="0"/>
              <a:t>Basic loop optimizations:</a:t>
            </a:r>
          </a:p>
          <a:p>
            <a:pPr lvl="1"/>
            <a:r>
              <a:rPr lang="en-US" altLang="en-US" dirty="0"/>
              <a:t>code motion;</a:t>
            </a:r>
          </a:p>
          <a:p>
            <a:pPr lvl="1"/>
            <a:r>
              <a:rPr lang="en-US" altLang="en-US" dirty="0"/>
              <a:t>induction-variable elimination;</a:t>
            </a:r>
          </a:p>
          <a:p>
            <a:pPr lvl="1"/>
            <a:r>
              <a:rPr lang="en-US" altLang="en-US" dirty="0"/>
              <a:t>strength reduction (x*2 -&gt; x&lt;&lt;1).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Date Placeholder 4">
            <a:extLst>
              <a:ext uri="{FF2B5EF4-FFF2-40B4-BE49-F238E27FC236}">
                <a16:creationId xmlns:a16="http://schemas.microsoft.com/office/drawing/2014/main" id="{3E7A1E89-8EC4-C4B1-2AEE-6EFEB41008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5299" name="Footer Placeholder 5">
            <a:extLst>
              <a:ext uri="{FF2B5EF4-FFF2-40B4-BE49-F238E27FC236}">
                <a16:creationId xmlns:a16="http://schemas.microsoft.com/office/drawing/2014/main" id="{EF93E162-636A-26BA-387E-C67B5FDE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4415AC35-A224-F951-CF15-CED4E81C5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Code motion</a:t>
            </a:r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7C462404-348A-D5B3-DF99-C3EFB32BADF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2400"/>
              <a:t>for (i=0; i&lt;N*M; i++)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2400"/>
              <a:t>	z[i] = a[i] + b[i];</a:t>
            </a:r>
          </a:p>
        </p:txBody>
      </p:sp>
      <p:sp>
        <p:nvSpPr>
          <p:cNvPr id="55302" name="AutoShape 6">
            <a:extLst>
              <a:ext uri="{FF2B5EF4-FFF2-40B4-BE49-F238E27FC236}">
                <a16:creationId xmlns:a16="http://schemas.microsoft.com/office/drawing/2014/main" id="{86B506AC-FDB1-394E-385C-1B1F7AC72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895600"/>
            <a:ext cx="1524000" cy="685800"/>
          </a:xfrm>
          <a:prstGeom prst="flowChartDecision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i&lt;N*M</a:t>
            </a:r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27457B0F-81D0-8173-A2AE-0A3A8ADAE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981200"/>
            <a:ext cx="1219200" cy="609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i=0;</a:t>
            </a:r>
          </a:p>
        </p:txBody>
      </p:sp>
      <p:sp>
        <p:nvSpPr>
          <p:cNvPr id="55304" name="Rectangle 8">
            <a:extLst>
              <a:ext uri="{FF2B5EF4-FFF2-40B4-BE49-F238E27FC236}">
                <a16:creationId xmlns:a16="http://schemas.microsoft.com/office/drawing/2014/main" id="{F7F28C6A-84B0-3BB1-54A7-E03197AEB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886200"/>
            <a:ext cx="22098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2000"/>
              <a:t>z[i] = a[i] + b[i];</a:t>
            </a:r>
          </a:p>
        </p:txBody>
      </p:sp>
      <p:sp>
        <p:nvSpPr>
          <p:cNvPr id="55305" name="Rectangle 9">
            <a:extLst>
              <a:ext uri="{FF2B5EF4-FFF2-40B4-BE49-F238E27FC236}">
                <a16:creationId xmlns:a16="http://schemas.microsoft.com/office/drawing/2014/main" id="{41703DCB-E3C8-A139-6D60-30EF9545B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876800"/>
            <a:ext cx="1447800" cy="533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i = i+1;</a:t>
            </a:r>
          </a:p>
        </p:txBody>
      </p:sp>
      <p:sp>
        <p:nvSpPr>
          <p:cNvPr id="55306" name="Line 10">
            <a:extLst>
              <a:ext uri="{FF2B5EF4-FFF2-40B4-BE49-F238E27FC236}">
                <a16:creationId xmlns:a16="http://schemas.microsoft.com/office/drawing/2014/main" id="{BFB09D72-4998-FA53-D675-543367647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590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7" name="Line 11">
            <a:extLst>
              <a:ext uri="{FF2B5EF4-FFF2-40B4-BE49-F238E27FC236}">
                <a16:creationId xmlns:a16="http://schemas.microsoft.com/office/drawing/2014/main" id="{DAF1DC43-C7B0-013E-2BCA-D37133FAD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3581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8" name="Line 12">
            <a:extLst>
              <a:ext uri="{FF2B5EF4-FFF2-40B4-BE49-F238E27FC236}">
                <a16:creationId xmlns:a16="http://schemas.microsoft.com/office/drawing/2014/main" id="{508405EC-C6B7-235B-FDAB-E054CEBF7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9" name="Line 13">
            <a:extLst>
              <a:ext uri="{FF2B5EF4-FFF2-40B4-BE49-F238E27FC236}">
                <a16:creationId xmlns:a16="http://schemas.microsoft.com/office/drawing/2014/main" id="{0FD0C068-9B9C-0AAD-47DE-E8D72929DE5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3276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0" name="Text Box 14">
            <a:extLst>
              <a:ext uri="{FF2B5EF4-FFF2-40B4-BE49-F238E27FC236}">
                <a16:creationId xmlns:a16="http://schemas.microsoft.com/office/drawing/2014/main" id="{FBF647A3-4641-E72B-E491-D528F8F53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28606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N</a:t>
            </a:r>
          </a:p>
        </p:txBody>
      </p:sp>
      <p:sp>
        <p:nvSpPr>
          <p:cNvPr id="55311" name="Text Box 15">
            <a:extLst>
              <a:ext uri="{FF2B5EF4-FFF2-40B4-BE49-F238E27FC236}">
                <a16:creationId xmlns:a16="http://schemas.microsoft.com/office/drawing/2014/main" id="{0F675B3C-C98F-EE94-083C-6200A0A6C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339407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Y</a:t>
            </a:r>
          </a:p>
        </p:txBody>
      </p:sp>
      <p:cxnSp>
        <p:nvCxnSpPr>
          <p:cNvPr id="55312" name="AutoShape 16">
            <a:extLst>
              <a:ext uri="{FF2B5EF4-FFF2-40B4-BE49-F238E27FC236}">
                <a16:creationId xmlns:a16="http://schemas.microsoft.com/office/drawing/2014/main" id="{33BD6B09-2AEA-4E44-4D4D-746F93A63363}"/>
              </a:ext>
            </a:extLst>
          </p:cNvPr>
          <p:cNvCxnSpPr>
            <a:cxnSpLocks noChangeShapeType="1"/>
            <a:stCxn id="55305" idx="1"/>
            <a:endCxn id="55302" idx="1"/>
          </p:cNvCxnSpPr>
          <p:nvPr/>
        </p:nvCxnSpPr>
        <p:spPr bwMode="auto">
          <a:xfrm rot="10800000" flipH="1">
            <a:off x="5715000" y="3238500"/>
            <a:ext cx="1588" cy="1905000"/>
          </a:xfrm>
          <a:prstGeom prst="bentConnector3">
            <a:avLst>
              <a:gd name="adj1" fmla="val -3700001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25" name="Line 17">
            <a:extLst>
              <a:ext uri="{FF2B5EF4-FFF2-40B4-BE49-F238E27FC236}">
                <a16:creationId xmlns:a16="http://schemas.microsoft.com/office/drawing/2014/main" id="{01C9BF46-C2C6-B4AC-58E8-1483B2D7A3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286000"/>
            <a:ext cx="152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79233E94-60E3-4837-C8F7-F14A9008FAE2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1981200"/>
            <a:ext cx="1905000" cy="1600200"/>
            <a:chOff x="3504" y="1248"/>
            <a:chExt cx="1200" cy="1008"/>
          </a:xfrm>
        </p:grpSpPr>
        <p:sp>
          <p:nvSpPr>
            <p:cNvPr id="55315" name="AutoShape 18">
              <a:extLst>
                <a:ext uri="{FF2B5EF4-FFF2-40B4-BE49-F238E27FC236}">
                  <a16:creationId xmlns:a16="http://schemas.microsoft.com/office/drawing/2014/main" id="{2B9D99EE-C849-22DC-C99E-557277D2D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824"/>
              <a:ext cx="960" cy="432"/>
            </a:xfrm>
            <a:prstGeom prst="flowChartDecision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i&lt;X</a:t>
              </a:r>
            </a:p>
          </p:txBody>
        </p:sp>
        <p:sp>
          <p:nvSpPr>
            <p:cNvPr id="55316" name="Rectangle 19">
              <a:extLst>
                <a:ext uri="{FF2B5EF4-FFF2-40B4-BE49-F238E27FC236}">
                  <a16:creationId xmlns:a16="http://schemas.microsoft.com/office/drawing/2014/main" id="{D16EE19D-DB35-AD21-261F-45C44621B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248"/>
              <a:ext cx="1200" cy="384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en-US"/>
                <a:t>i=0; X = N*M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3">
            <a:extLst>
              <a:ext uri="{FF2B5EF4-FFF2-40B4-BE49-F238E27FC236}">
                <a16:creationId xmlns:a16="http://schemas.microsoft.com/office/drawing/2014/main" id="{4C410E0A-61A0-9C5A-D335-CDAE692031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6323" name="Footer Placeholder 4">
            <a:extLst>
              <a:ext uri="{FF2B5EF4-FFF2-40B4-BE49-F238E27FC236}">
                <a16:creationId xmlns:a16="http://schemas.microsoft.com/office/drawing/2014/main" id="{A244D56D-D98D-40B2-D057-8A5A568F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670266B8-D52A-FFD1-79A3-86E878788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Induction variable elimination</a:t>
            </a:r>
          </a:p>
        </p:txBody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39F0D0FA-9D94-DFEB-8B00-F09D043D4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Induction variable</a:t>
            </a:r>
            <a:r>
              <a:rPr lang="en-US" altLang="en-US"/>
              <a:t>: loop index.</a:t>
            </a:r>
          </a:p>
          <a:p>
            <a:r>
              <a:rPr lang="en-US" altLang="en-US"/>
              <a:t>Consider loop: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/>
              <a:t>for (i=0; i&lt;N; i++)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/>
              <a:t>	for (j=0; j&lt;M; j++)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/>
              <a:t>		z[i,j] = b[i,j];</a:t>
            </a:r>
          </a:p>
          <a:p>
            <a:r>
              <a:rPr lang="en-US" altLang="en-US"/>
              <a:t>Rather than recompute i*M+j for each array in each iteration, share induction variable between arrays, increment at end of loop body.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Date Placeholder 3">
            <a:extLst>
              <a:ext uri="{FF2B5EF4-FFF2-40B4-BE49-F238E27FC236}">
                <a16:creationId xmlns:a16="http://schemas.microsoft.com/office/drawing/2014/main" id="{420A38CE-3FBB-C261-B718-997DE0EE347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7347" name="Footer Placeholder 4">
            <a:extLst>
              <a:ext uri="{FF2B5EF4-FFF2-40B4-BE49-F238E27FC236}">
                <a16:creationId xmlns:a16="http://schemas.microsoft.com/office/drawing/2014/main" id="{BC1D39BA-0F4A-FBE4-F33F-F8753D0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id="{61E28B56-74F9-8581-9792-2419E928F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analysis</a:t>
            </a:r>
          </a:p>
        </p:txBody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0C06DF18-B26F-BC19-070F-0755E19B2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Loop nest</a:t>
            </a:r>
            <a:r>
              <a:rPr lang="en-US" altLang="en-US"/>
              <a:t>: set of loops, one inside other.</a:t>
            </a:r>
          </a:p>
          <a:p>
            <a:r>
              <a:rPr lang="en-US" altLang="en-US">
                <a:solidFill>
                  <a:srgbClr val="FF0000"/>
                </a:solidFill>
              </a:rPr>
              <a:t>Perfect loop nest</a:t>
            </a:r>
            <a:r>
              <a:rPr lang="en-US" altLang="en-US"/>
              <a:t>: no conditionals in nest.</a:t>
            </a:r>
          </a:p>
          <a:p>
            <a:r>
              <a:rPr lang="en-US" altLang="en-US"/>
              <a:t>Because loops use large quantities of data, cache conflicts are common.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3">
            <a:extLst>
              <a:ext uri="{FF2B5EF4-FFF2-40B4-BE49-F238E27FC236}">
                <a16:creationId xmlns:a16="http://schemas.microsoft.com/office/drawing/2014/main" id="{A2D599FC-3EC5-E1E9-E158-5C203758AC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8371" name="Footer Placeholder 4">
            <a:extLst>
              <a:ext uri="{FF2B5EF4-FFF2-40B4-BE49-F238E27FC236}">
                <a16:creationId xmlns:a16="http://schemas.microsoft.com/office/drawing/2014/main" id="{EDA2736F-412E-449B-57E1-A7E2E21E9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id="{432AD232-E20B-4DDD-850F-5EC3418E3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 conflicts in cache</a:t>
            </a:r>
          </a:p>
        </p:txBody>
      </p:sp>
      <p:sp>
        <p:nvSpPr>
          <p:cNvPr id="58373" name="Rectangle 4">
            <a:extLst>
              <a:ext uri="{FF2B5EF4-FFF2-40B4-BE49-F238E27FC236}">
                <a16:creationId xmlns:a16="http://schemas.microsoft.com/office/drawing/2014/main" id="{306E69ED-EB01-D6B1-2943-99E30EF4E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981200"/>
            <a:ext cx="15240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8374" name="Rectangle 5">
            <a:extLst>
              <a:ext uri="{FF2B5EF4-FFF2-40B4-BE49-F238E27FC236}">
                <a16:creationId xmlns:a16="http://schemas.microsoft.com/office/drawing/2014/main" id="{971A8EF5-8A0E-88BC-35CD-C3641FD22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438400"/>
            <a:ext cx="152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8375" name="Rectangle 6">
            <a:extLst>
              <a:ext uri="{FF2B5EF4-FFF2-40B4-BE49-F238E27FC236}">
                <a16:creationId xmlns:a16="http://schemas.microsoft.com/office/drawing/2014/main" id="{0C5FDEE0-17CD-E8DE-59ED-60331FD66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114800"/>
            <a:ext cx="152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8376" name="Line 7">
            <a:extLst>
              <a:ext uri="{FF2B5EF4-FFF2-40B4-BE49-F238E27FC236}">
                <a16:creationId xmlns:a16="http://schemas.microsoft.com/office/drawing/2014/main" id="{CBA5521D-B574-0DC9-0B20-4705591C8F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438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7" name="Text Box 8">
            <a:extLst>
              <a:ext uri="{FF2B5EF4-FFF2-40B4-BE49-F238E27FC236}">
                <a16:creationId xmlns:a16="http://schemas.microsoft.com/office/drawing/2014/main" id="{1138E766-1F7C-3BEB-4220-C8847546D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2251075"/>
            <a:ext cx="903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a[0,0]</a:t>
            </a:r>
          </a:p>
        </p:txBody>
      </p:sp>
      <p:sp>
        <p:nvSpPr>
          <p:cNvPr id="58378" name="Line 9">
            <a:extLst>
              <a:ext uri="{FF2B5EF4-FFF2-40B4-BE49-F238E27FC236}">
                <a16:creationId xmlns:a16="http://schemas.microsoft.com/office/drawing/2014/main" id="{1492F4F9-46F7-9E59-4BBC-C8931B666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2675" y="41497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Text Box 10">
            <a:extLst>
              <a:ext uri="{FF2B5EF4-FFF2-40B4-BE49-F238E27FC236}">
                <a16:creationId xmlns:a16="http://schemas.microsoft.com/office/drawing/2014/main" id="{FD90C539-06FF-59CD-B93F-8EFD3FA8F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962400"/>
            <a:ext cx="920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b[0,0]</a:t>
            </a:r>
          </a:p>
        </p:txBody>
      </p:sp>
      <p:sp>
        <p:nvSpPr>
          <p:cNvPr id="58380" name="Text Box 11">
            <a:extLst>
              <a:ext uri="{FF2B5EF4-FFF2-40B4-BE49-F238E27FC236}">
                <a16:creationId xmlns:a16="http://schemas.microsoft.com/office/drawing/2014/main" id="{6E738C18-8D7A-7728-3A18-AD72F70C8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791200"/>
            <a:ext cx="1882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main memory</a:t>
            </a:r>
          </a:p>
        </p:txBody>
      </p:sp>
      <p:sp>
        <p:nvSpPr>
          <p:cNvPr id="58381" name="Text Box 12">
            <a:extLst>
              <a:ext uri="{FF2B5EF4-FFF2-40B4-BE49-F238E27FC236}">
                <a16:creationId xmlns:a16="http://schemas.microsoft.com/office/drawing/2014/main" id="{40D40718-DC73-4EA6-FB7B-C6D181AA6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8725" y="5832475"/>
            <a:ext cx="876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cache</a:t>
            </a:r>
          </a:p>
        </p:txBody>
      </p:sp>
      <p:sp>
        <p:nvSpPr>
          <p:cNvPr id="58382" name="Rectangle 13">
            <a:extLst>
              <a:ext uri="{FF2B5EF4-FFF2-40B4-BE49-F238E27FC236}">
                <a16:creationId xmlns:a16="http://schemas.microsoft.com/office/drawing/2014/main" id="{C9113D98-F90F-F6CF-6397-4E0B4F716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48768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8383" name="Rectangle 15">
            <a:extLst>
              <a:ext uri="{FF2B5EF4-FFF2-40B4-BE49-F238E27FC236}">
                <a16:creationId xmlns:a16="http://schemas.microsoft.com/office/drawing/2014/main" id="{5120B331-2C7C-093B-3BA3-65D282CEE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1024</a:t>
            </a:r>
          </a:p>
        </p:txBody>
      </p:sp>
      <p:sp>
        <p:nvSpPr>
          <p:cNvPr id="58384" name="Rectangle 19">
            <a:extLst>
              <a:ext uri="{FF2B5EF4-FFF2-40B4-BE49-F238E27FC236}">
                <a16:creationId xmlns:a16="http://schemas.microsoft.com/office/drawing/2014/main" id="{01F2841A-8C42-B399-6010-350A6DEF5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8385" name="Rectangle 20">
            <a:extLst>
              <a:ext uri="{FF2B5EF4-FFF2-40B4-BE49-F238E27FC236}">
                <a16:creationId xmlns:a16="http://schemas.microsoft.com/office/drawing/2014/main" id="{73E01370-1A41-537E-B1F5-1F0DE9032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8386" name="Rectangle 21">
            <a:extLst>
              <a:ext uri="{FF2B5EF4-FFF2-40B4-BE49-F238E27FC236}">
                <a16:creationId xmlns:a16="http://schemas.microsoft.com/office/drawing/2014/main" id="{1DB8FEF6-1F10-ED17-537B-B169611B5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819400"/>
            <a:ext cx="1219200" cy="4572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4099</a:t>
            </a:r>
          </a:p>
        </p:txBody>
      </p:sp>
      <p:sp>
        <p:nvSpPr>
          <p:cNvPr id="58387" name="Rectangle 22">
            <a:extLst>
              <a:ext uri="{FF2B5EF4-FFF2-40B4-BE49-F238E27FC236}">
                <a16:creationId xmlns:a16="http://schemas.microsoft.com/office/drawing/2014/main" id="{FBDA55EE-5383-0154-112F-26670CE6B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276600"/>
            <a:ext cx="4876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58388" name="Text Box 23">
            <a:extLst>
              <a:ext uri="{FF2B5EF4-FFF2-40B4-BE49-F238E27FC236}">
                <a16:creationId xmlns:a16="http://schemas.microsoft.com/office/drawing/2014/main" id="{CADD143C-A608-CEF4-BCA8-10CF653DB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3927475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...</a:t>
            </a:r>
          </a:p>
        </p:txBody>
      </p:sp>
      <p:sp>
        <p:nvSpPr>
          <p:cNvPr id="58389" name="Rectangle 24">
            <a:extLst>
              <a:ext uri="{FF2B5EF4-FFF2-40B4-BE49-F238E27FC236}">
                <a16:creationId xmlns:a16="http://schemas.microsoft.com/office/drawing/2014/main" id="{6EB2BDAF-9EE8-83D6-B22E-A1ADD59FA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2438400"/>
            <a:ext cx="1524000" cy="3810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1024</a:t>
            </a:r>
          </a:p>
        </p:txBody>
      </p:sp>
      <p:sp>
        <p:nvSpPr>
          <p:cNvPr id="58390" name="Rectangle 26">
            <a:extLst>
              <a:ext uri="{FF2B5EF4-FFF2-40B4-BE49-F238E27FC236}">
                <a16:creationId xmlns:a16="http://schemas.microsoft.com/office/drawing/2014/main" id="{41B7B2AB-E1A1-B2F0-6BC6-7D41B3A43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114800"/>
            <a:ext cx="1524000" cy="381000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4099</a:t>
            </a:r>
          </a:p>
        </p:txBody>
      </p:sp>
      <p:sp>
        <p:nvSpPr>
          <p:cNvPr id="58391" name="Line 27">
            <a:extLst>
              <a:ext uri="{FF2B5EF4-FFF2-40B4-BE49-F238E27FC236}">
                <a16:creationId xmlns:a16="http://schemas.microsoft.com/office/drawing/2014/main" id="{AEC4A108-0E3E-E4D1-203F-EC30D1E36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90800"/>
            <a:ext cx="1295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92" name="Line 28">
            <a:extLst>
              <a:ext uri="{FF2B5EF4-FFF2-40B4-BE49-F238E27FC236}">
                <a16:creationId xmlns:a16="http://schemas.microsoft.com/office/drawing/2014/main" id="{27FB4FEF-59AA-5071-FF12-EC76C5E05F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3200400"/>
            <a:ext cx="510540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Date Placeholder 3">
            <a:extLst>
              <a:ext uri="{FF2B5EF4-FFF2-40B4-BE49-F238E27FC236}">
                <a16:creationId xmlns:a16="http://schemas.microsoft.com/office/drawing/2014/main" id="{1A0FA7C3-1E71-3DF1-57A7-6920B6B12A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59395" name="Footer Placeholder 4">
            <a:extLst>
              <a:ext uri="{FF2B5EF4-FFF2-40B4-BE49-F238E27FC236}">
                <a16:creationId xmlns:a16="http://schemas.microsoft.com/office/drawing/2014/main" id="{85D43CF5-2151-5A0E-0978-7D543AF65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18C0CC45-927D-D8A3-AE53-5B7E044F4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Array conflicts, cont’d.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3D8682D5-C34C-19BF-15D1-587EE7AAA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Array elements conflict because they are in the same line, even if not mapped to same location.</a:t>
            </a:r>
          </a:p>
          <a:p>
            <a:r>
              <a:rPr lang="en-US" altLang="en-US"/>
              <a:t>Solutions:</a:t>
            </a:r>
          </a:p>
          <a:p>
            <a:pPr lvl="1"/>
            <a:r>
              <a:rPr lang="en-US" altLang="en-US"/>
              <a:t>move one array;</a:t>
            </a:r>
          </a:p>
          <a:p>
            <a:pPr lvl="1"/>
            <a:r>
              <a:rPr lang="en-US" altLang="en-US"/>
              <a:t>pad array.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3">
            <a:extLst>
              <a:ext uri="{FF2B5EF4-FFF2-40B4-BE49-F238E27FC236}">
                <a16:creationId xmlns:a16="http://schemas.microsoft.com/office/drawing/2014/main" id="{E84E5E3D-243B-883B-623C-754A428B225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0419" name="Footer Placeholder 4">
            <a:extLst>
              <a:ext uri="{FF2B5EF4-FFF2-40B4-BE49-F238E27FC236}">
                <a16:creationId xmlns:a16="http://schemas.microsoft.com/office/drawing/2014/main" id="{4A3F6EC3-AF78-45C1-6EAA-197A7547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82259972-AA61-A607-2141-5F6B8F59F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Performance optimization hints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02BB952F-0BB3-AE1C-0267-9E55A8C35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registers efficiently.</a:t>
            </a:r>
          </a:p>
          <a:p>
            <a:r>
              <a:rPr lang="en-US" altLang="en-US"/>
              <a:t>Use page mode memory accesses.</a:t>
            </a:r>
          </a:p>
          <a:p>
            <a:r>
              <a:rPr lang="en-US" altLang="en-US"/>
              <a:t>Analyze cache behavior:</a:t>
            </a:r>
          </a:p>
          <a:p>
            <a:pPr lvl="1"/>
            <a:r>
              <a:rPr lang="en-US" altLang="en-US"/>
              <a:t>instruction conflicts can be handled by rewriting code, rescheudling;</a:t>
            </a:r>
          </a:p>
          <a:p>
            <a:pPr lvl="1"/>
            <a:r>
              <a:rPr lang="en-US" altLang="en-US"/>
              <a:t>conflicting scalar data can easily be moved;</a:t>
            </a:r>
          </a:p>
          <a:p>
            <a:pPr lvl="1"/>
            <a:r>
              <a:rPr lang="en-US" altLang="en-US"/>
              <a:t>conflicting array data can be moved, padded.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Date Placeholder 3">
            <a:extLst>
              <a:ext uri="{FF2B5EF4-FFF2-40B4-BE49-F238E27FC236}">
                <a16:creationId xmlns:a16="http://schemas.microsoft.com/office/drawing/2014/main" id="{1B70F847-2FC7-72F8-447A-8ECB47C065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1443" name="Footer Placeholder 4">
            <a:extLst>
              <a:ext uri="{FF2B5EF4-FFF2-40B4-BE49-F238E27FC236}">
                <a16:creationId xmlns:a16="http://schemas.microsoft.com/office/drawing/2014/main" id="{86CD2D49-E9A1-6B5E-CF51-80C05E68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id="{E3331089-E006-1FEE-D3C1-D6F1ACB98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Energy/power optimization</a:t>
            </a:r>
          </a:p>
        </p:txBody>
      </p:sp>
      <p:sp>
        <p:nvSpPr>
          <p:cNvPr id="61445" name="Rectangle 3">
            <a:extLst>
              <a:ext uri="{FF2B5EF4-FFF2-40B4-BE49-F238E27FC236}">
                <a16:creationId xmlns:a16="http://schemas.microsoft.com/office/drawing/2014/main" id="{523B44D4-749D-AC2A-658B-1CC3D98DA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Energy</a:t>
            </a:r>
            <a:r>
              <a:rPr lang="en-US" altLang="en-US"/>
              <a:t>: ability to do work.</a:t>
            </a:r>
          </a:p>
          <a:p>
            <a:pPr lvl="1"/>
            <a:r>
              <a:rPr lang="en-US" altLang="en-US"/>
              <a:t>Most important in battery-powered systems.</a:t>
            </a:r>
          </a:p>
          <a:p>
            <a:r>
              <a:rPr lang="en-US" altLang="en-US">
                <a:solidFill>
                  <a:srgbClr val="FF0000"/>
                </a:solidFill>
              </a:rPr>
              <a:t>Power</a:t>
            </a:r>
            <a:r>
              <a:rPr lang="en-US" altLang="en-US"/>
              <a:t>: energy per unit time.</a:t>
            </a:r>
          </a:p>
          <a:p>
            <a:pPr lvl="1"/>
            <a:r>
              <a:rPr lang="en-US" altLang="en-US"/>
              <a:t>Important even in wall-plug systems---power becomes heat.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3">
            <a:extLst>
              <a:ext uri="{FF2B5EF4-FFF2-40B4-BE49-F238E27FC236}">
                <a16:creationId xmlns:a16="http://schemas.microsoft.com/office/drawing/2014/main" id="{07550B4E-9BF5-68D4-7B6C-34772B17ECD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2467" name="Footer Placeholder 4">
            <a:extLst>
              <a:ext uri="{FF2B5EF4-FFF2-40B4-BE49-F238E27FC236}">
                <a16:creationId xmlns:a16="http://schemas.microsoft.com/office/drawing/2014/main" id="{134527F7-1B7B-8CD8-0005-3B1F1ECEF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832FF92E-C896-321A-F3DB-28CB45C71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Measuring energy consumption</a:t>
            </a:r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7D55B14C-D779-5F4C-FCC6-79F2C078C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85950"/>
            <a:ext cx="8178800" cy="704850"/>
          </a:xfrm>
        </p:spPr>
        <p:txBody>
          <a:bodyPr/>
          <a:lstStyle/>
          <a:p>
            <a:r>
              <a:rPr lang="en-US" altLang="en-US"/>
              <a:t>Execute a small loop, measure current:</a:t>
            </a:r>
          </a:p>
        </p:txBody>
      </p:sp>
      <p:sp>
        <p:nvSpPr>
          <p:cNvPr id="62470" name="Rectangle 4">
            <a:extLst>
              <a:ext uri="{FF2B5EF4-FFF2-40B4-BE49-F238E27FC236}">
                <a16:creationId xmlns:a16="http://schemas.microsoft.com/office/drawing/2014/main" id="{9012D1B0-D13A-387C-7CD0-1900E9FE0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429000"/>
            <a:ext cx="1981200" cy="1981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/>
              <a:t>while (TRUE)</a:t>
            </a:r>
          </a:p>
          <a:p>
            <a:pPr algn="ctr"/>
            <a:r>
              <a:rPr lang="en-US" altLang="en-US"/>
              <a:t>a();</a:t>
            </a:r>
          </a:p>
        </p:txBody>
      </p:sp>
      <p:sp>
        <p:nvSpPr>
          <p:cNvPr id="62471" name="Line 6">
            <a:extLst>
              <a:ext uri="{FF2B5EF4-FFF2-40B4-BE49-F238E27FC236}">
                <a16:creationId xmlns:a16="http://schemas.microsoft.com/office/drawing/2014/main" id="{0BEDC087-CE63-4C1D-FFD4-040D45287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1910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2" name="Line 7">
            <a:extLst>
              <a:ext uri="{FF2B5EF4-FFF2-40B4-BE49-F238E27FC236}">
                <a16:creationId xmlns:a16="http://schemas.microsoft.com/office/drawing/2014/main" id="{741DD470-652F-F2C9-25B7-CB57973CD1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4196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Line 9">
            <a:extLst>
              <a:ext uri="{FF2B5EF4-FFF2-40B4-BE49-F238E27FC236}">
                <a16:creationId xmlns:a16="http://schemas.microsoft.com/office/drawing/2014/main" id="{CC5864DB-6395-0C50-B3DF-4F83469B24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048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4" name="Line 10">
            <a:extLst>
              <a:ext uri="{FF2B5EF4-FFF2-40B4-BE49-F238E27FC236}">
                <a16:creationId xmlns:a16="http://schemas.microsoft.com/office/drawing/2014/main" id="{4550DE07-C554-A487-8064-74D32916A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3048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5" name="Line 11">
            <a:extLst>
              <a:ext uri="{FF2B5EF4-FFF2-40B4-BE49-F238E27FC236}">
                <a16:creationId xmlns:a16="http://schemas.microsoft.com/office/drawing/2014/main" id="{7D0B755C-0169-13E0-D244-9A1170A11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048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6" name="Line 12">
            <a:extLst>
              <a:ext uri="{FF2B5EF4-FFF2-40B4-BE49-F238E27FC236}">
                <a16:creationId xmlns:a16="http://schemas.microsoft.com/office/drawing/2014/main" id="{F83553AC-6F48-C836-B156-28BBAF5A73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4196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7" name="Line 13">
            <a:extLst>
              <a:ext uri="{FF2B5EF4-FFF2-40B4-BE49-F238E27FC236}">
                <a16:creationId xmlns:a16="http://schemas.microsoft.com/office/drawing/2014/main" id="{5A9A35C7-209C-8CB8-4118-2733BF61D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57912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8" name="Line 14">
            <a:extLst>
              <a:ext uri="{FF2B5EF4-FFF2-40B4-BE49-F238E27FC236}">
                <a16:creationId xmlns:a16="http://schemas.microsoft.com/office/drawing/2014/main" id="{0DFD8922-4452-563C-1B19-B3BABBF4E9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5410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9" name="Line 15">
            <a:extLst>
              <a:ext uri="{FF2B5EF4-FFF2-40B4-BE49-F238E27FC236}">
                <a16:creationId xmlns:a16="http://schemas.microsoft.com/office/drawing/2014/main" id="{FF3D1380-C0AA-F32A-DB3C-AF177212D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819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80" name="Text Box 16">
            <a:extLst>
              <a:ext uri="{FF2B5EF4-FFF2-40B4-BE49-F238E27FC236}">
                <a16:creationId xmlns:a16="http://schemas.microsoft.com/office/drawing/2014/main" id="{1D2F22C2-656B-8244-AB50-CCB3EDD54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325" y="2555875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I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Date Placeholder 3">
            <a:extLst>
              <a:ext uri="{FF2B5EF4-FFF2-40B4-BE49-F238E27FC236}">
                <a16:creationId xmlns:a16="http://schemas.microsoft.com/office/drawing/2014/main" id="{A8AA74B8-102D-39E9-18B3-D5B4FC67AB9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3491" name="Footer Placeholder 4">
            <a:extLst>
              <a:ext uri="{FF2B5EF4-FFF2-40B4-BE49-F238E27FC236}">
                <a16:creationId xmlns:a16="http://schemas.microsoft.com/office/drawing/2014/main" id="{154939B9-046E-835D-F647-5F83FBFB0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id="{CD55A147-CD6A-2BDF-D0C6-D8DDFF4BBB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Sources of energy consumption</a:t>
            </a:r>
          </a:p>
        </p:txBody>
      </p:sp>
      <p:sp>
        <p:nvSpPr>
          <p:cNvPr id="63493" name="Rectangle 3">
            <a:extLst>
              <a:ext uri="{FF2B5EF4-FFF2-40B4-BE49-F238E27FC236}">
                <a16:creationId xmlns:a16="http://schemas.microsoft.com/office/drawing/2014/main" id="{D91EC57A-45E8-7B25-2C72-8346E1051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Relative energy per operation (Catthoor et al):</a:t>
            </a:r>
          </a:p>
          <a:p>
            <a:pPr lvl="1"/>
            <a:r>
              <a:rPr lang="en-US" altLang="en-US"/>
              <a:t>memory transfer: 33</a:t>
            </a:r>
          </a:p>
          <a:p>
            <a:pPr lvl="1"/>
            <a:r>
              <a:rPr lang="en-US" altLang="en-US"/>
              <a:t>external I/O: 10</a:t>
            </a:r>
          </a:p>
          <a:p>
            <a:pPr lvl="1"/>
            <a:r>
              <a:rPr lang="en-US" altLang="en-US"/>
              <a:t>SRAM write: 9</a:t>
            </a:r>
          </a:p>
          <a:p>
            <a:pPr lvl="1"/>
            <a:r>
              <a:rPr lang="en-US" altLang="en-US"/>
              <a:t>SRAM read: 4.4</a:t>
            </a:r>
          </a:p>
          <a:p>
            <a:pPr lvl="1"/>
            <a:r>
              <a:rPr lang="en-US" altLang="en-US"/>
              <a:t>multiply: 3.6</a:t>
            </a:r>
          </a:p>
          <a:p>
            <a:pPr lvl="1"/>
            <a:r>
              <a:rPr lang="en-US" altLang="en-US"/>
              <a:t>add: 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3">
            <a:extLst>
              <a:ext uri="{FF2B5EF4-FFF2-40B4-BE49-F238E27FC236}">
                <a16:creationId xmlns:a16="http://schemas.microsoft.com/office/drawing/2014/main" id="{0D0B1B10-485C-CEDB-E872-7CA38E96DA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4515" name="Footer Placeholder 4">
            <a:extLst>
              <a:ext uri="{FF2B5EF4-FFF2-40B4-BE49-F238E27FC236}">
                <a16:creationId xmlns:a16="http://schemas.microsoft.com/office/drawing/2014/main" id="{4CEB3FB9-81D7-8536-DD96-219DEE2D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11F7D26A-3BA9-7478-9490-4F057FB26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behavior is important</a:t>
            </a:r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4F5B3E35-E417-05E7-5807-F99C5997B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Energy consumption has a sweet spot as cache size changes: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cache too small</a:t>
            </a:r>
            <a:r>
              <a:rPr lang="en-US" altLang="en-US"/>
              <a:t>: program thrashes, burning energy on external memory accesses;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cache too large</a:t>
            </a:r>
            <a:r>
              <a:rPr lang="en-US" altLang="en-US"/>
              <a:t>: cache itself burns too much power.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Date Placeholder 3">
            <a:extLst>
              <a:ext uri="{FF2B5EF4-FFF2-40B4-BE49-F238E27FC236}">
                <a16:creationId xmlns:a16="http://schemas.microsoft.com/office/drawing/2014/main" id="{A53F20D3-731E-2A02-945E-38789181998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5539" name="Footer Placeholder 4">
            <a:extLst>
              <a:ext uri="{FF2B5EF4-FFF2-40B4-BE49-F238E27FC236}">
                <a16:creationId xmlns:a16="http://schemas.microsoft.com/office/drawing/2014/main" id="{B4C8152A-76E5-65EA-3B62-6E165657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5540" name="Rectangle 2">
            <a:extLst>
              <a:ext uri="{FF2B5EF4-FFF2-40B4-BE49-F238E27FC236}">
                <a16:creationId xmlns:a16="http://schemas.microsoft.com/office/drawing/2014/main" id="{FD10594D-F7E6-5286-5E95-E34B60AC3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Cache sweet spot</a:t>
            </a:r>
          </a:p>
        </p:txBody>
      </p:sp>
      <p:pic>
        <p:nvPicPr>
          <p:cNvPr id="65541" name="Picture 5" descr="f05-25-P374397.eps">
            <a:extLst>
              <a:ext uri="{FF2B5EF4-FFF2-40B4-BE49-F238E27FC236}">
                <a16:creationId xmlns:a16="http://schemas.microsoft.com/office/drawing/2014/main" id="{812BD176-3E3D-2A15-62BE-185A05E71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24000"/>
            <a:ext cx="3198813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2" name="TextBox 6">
            <a:extLst>
              <a:ext uri="{FF2B5EF4-FFF2-40B4-BE49-F238E27FC236}">
                <a16:creationId xmlns:a16="http://schemas.microsoft.com/office/drawing/2014/main" id="{CC52C64B-7644-DCCF-9781-9F500F111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410200"/>
            <a:ext cx="2084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/>
              <a:t>[Li98] © 1998 IEEE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3">
            <a:extLst>
              <a:ext uri="{FF2B5EF4-FFF2-40B4-BE49-F238E27FC236}">
                <a16:creationId xmlns:a16="http://schemas.microsoft.com/office/drawing/2014/main" id="{327EE91B-ABD5-89D5-3DE5-38BE9FDBD55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6563" name="Footer Placeholder 4">
            <a:extLst>
              <a:ext uri="{FF2B5EF4-FFF2-40B4-BE49-F238E27FC236}">
                <a16:creationId xmlns:a16="http://schemas.microsoft.com/office/drawing/2014/main" id="{2CCD6F74-46F1-F2D0-BA80-4838DC8E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A0D6106F-D34B-B70C-3475-D76405847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Optimizing for energy</a:t>
            </a:r>
          </a:p>
        </p:txBody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8E36F24E-0A69-B0C4-1AD5-6B16E176C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First-order optimization:</a:t>
            </a:r>
          </a:p>
          <a:p>
            <a:pPr lvl="1"/>
            <a:r>
              <a:rPr lang="en-US" altLang="en-US">
                <a:solidFill>
                  <a:srgbClr val="FF0000"/>
                </a:solidFill>
              </a:rPr>
              <a:t>high performance = low energy</a:t>
            </a:r>
            <a:r>
              <a:rPr lang="en-US" altLang="en-US"/>
              <a:t>.</a:t>
            </a:r>
          </a:p>
          <a:p>
            <a:r>
              <a:rPr lang="en-US" altLang="en-US"/>
              <a:t>Not many instructions trade speed for energy.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Date Placeholder 3">
            <a:extLst>
              <a:ext uri="{FF2B5EF4-FFF2-40B4-BE49-F238E27FC236}">
                <a16:creationId xmlns:a16="http://schemas.microsoft.com/office/drawing/2014/main" id="{A242E922-A39D-7EEB-5024-53B9B5F7E8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7587" name="Footer Placeholder 4">
            <a:extLst>
              <a:ext uri="{FF2B5EF4-FFF2-40B4-BE49-F238E27FC236}">
                <a16:creationId xmlns:a16="http://schemas.microsoft.com/office/drawing/2014/main" id="{1CF0D45A-B467-FE5D-1031-BF5BA7385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EA771C78-D0C4-4504-9F7C-FF066B693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Optimizing for energy, cont’d.</a:t>
            </a:r>
          </a:p>
        </p:txBody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E37CF1AB-AD2D-6EB6-B286-36FC65F11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 registers efficiently.</a:t>
            </a:r>
          </a:p>
          <a:p>
            <a:r>
              <a:rPr lang="en-US" altLang="en-US"/>
              <a:t>Identify and eliminate cache conflicts.</a:t>
            </a:r>
          </a:p>
          <a:p>
            <a:r>
              <a:rPr lang="en-US" altLang="en-US"/>
              <a:t>Moderate loop unrolling eliminates some loop overhead instructions.</a:t>
            </a:r>
          </a:p>
          <a:p>
            <a:r>
              <a:rPr lang="en-US" altLang="en-US"/>
              <a:t>Eliminate pipeline stalls.</a:t>
            </a:r>
          </a:p>
          <a:p>
            <a:r>
              <a:rPr lang="en-US" altLang="en-US"/>
              <a:t>Inlining procedures may help: reduces linkage, but may increase cache thrashing.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12227869-CC12-8A78-2266-DE59E7DD5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Efficient loops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CB3D591-3C34-8DC0-96EF-5FA718B47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General rules:</a:t>
            </a:r>
          </a:p>
          <a:p>
            <a:pPr lvl="1"/>
            <a:r>
              <a:rPr lang="en-US" altLang="en-US"/>
              <a:t>Don’t use function calls.</a:t>
            </a:r>
          </a:p>
          <a:p>
            <a:pPr lvl="1"/>
            <a:r>
              <a:rPr lang="en-US" altLang="en-US"/>
              <a:t>Keep loop body small to enable local repeat (only forward branches).</a:t>
            </a:r>
          </a:p>
          <a:p>
            <a:pPr lvl="1"/>
            <a:r>
              <a:rPr lang="en-US" altLang="en-US"/>
              <a:t>Use unsigned integer for loop counter.</a:t>
            </a:r>
          </a:p>
          <a:p>
            <a:pPr lvl="1"/>
            <a:r>
              <a:rPr lang="en-US" altLang="en-US"/>
              <a:t>Use &lt;= to test loop counter.</a:t>
            </a:r>
          </a:p>
          <a:p>
            <a:pPr lvl="1"/>
            <a:r>
              <a:rPr lang="en-US" altLang="en-US"/>
              <a:t>Make use of compiler---global optimization, software pipelining.</a:t>
            </a:r>
          </a:p>
        </p:txBody>
      </p:sp>
      <p:sp>
        <p:nvSpPr>
          <p:cNvPr id="68612" name="Date Placeholder 3">
            <a:extLst>
              <a:ext uri="{FF2B5EF4-FFF2-40B4-BE49-F238E27FC236}">
                <a16:creationId xmlns:a16="http://schemas.microsoft.com/office/drawing/2014/main" id="{D4C70A0C-1FFE-0533-9D70-EF8143B87F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8613" name="Footer Placeholder 4">
            <a:extLst>
              <a:ext uri="{FF2B5EF4-FFF2-40B4-BE49-F238E27FC236}">
                <a16:creationId xmlns:a16="http://schemas.microsoft.com/office/drawing/2014/main" id="{A20A72AD-D5C6-56A8-5D3A-36510B8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0EAACDD-3D10-C9DE-411F-64FF97FAB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Single-instruction repeat loop example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CF01114C-660E-A17F-AEE6-0F2BA316E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STM #4000h,AR2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	; load pointer to source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STM #100h,AR3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	; load pointer to destination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RPT #(1024-1)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MVDD *AR2+,*AR3+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>
                <a:latin typeface="Arial Unicode MS" panose="020B0604020202020204" pitchFamily="34" charset="-128"/>
              </a:rPr>
              <a:t>	; move</a:t>
            </a:r>
          </a:p>
        </p:txBody>
      </p:sp>
      <p:sp>
        <p:nvSpPr>
          <p:cNvPr id="69636" name="Date Placeholder 3">
            <a:extLst>
              <a:ext uri="{FF2B5EF4-FFF2-40B4-BE49-F238E27FC236}">
                <a16:creationId xmlns:a16="http://schemas.microsoft.com/office/drawing/2014/main" id="{AF1C10B1-AE39-9DC4-5360-0E36D7C0C2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69637" name="Footer Placeholder 4">
            <a:extLst>
              <a:ext uri="{FF2B5EF4-FFF2-40B4-BE49-F238E27FC236}">
                <a16:creationId xmlns:a16="http://schemas.microsoft.com/office/drawing/2014/main" id="{CA5BE26A-EC47-E590-A3E8-58375920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Date Placeholder 3">
            <a:extLst>
              <a:ext uri="{FF2B5EF4-FFF2-40B4-BE49-F238E27FC236}">
                <a16:creationId xmlns:a16="http://schemas.microsoft.com/office/drawing/2014/main" id="{8905032A-3C09-2B58-8AD6-4A42FE9811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0659" name="Footer Placeholder 4">
            <a:extLst>
              <a:ext uri="{FF2B5EF4-FFF2-40B4-BE49-F238E27FC236}">
                <a16:creationId xmlns:a16="http://schemas.microsoft.com/office/drawing/2014/main" id="{4FBED69A-E785-5C34-22FA-4C7FA5DD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DE4D96A6-2354-2CB7-6AAE-A359856DA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Optimizing for program size</a:t>
            </a:r>
          </a:p>
        </p:txBody>
      </p:sp>
      <p:sp>
        <p:nvSpPr>
          <p:cNvPr id="70661" name="Rectangle 3">
            <a:extLst>
              <a:ext uri="{FF2B5EF4-FFF2-40B4-BE49-F238E27FC236}">
                <a16:creationId xmlns:a16="http://schemas.microsoft.com/office/drawing/2014/main" id="{B249BC0D-975C-1BFC-42C9-B77623A8C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Goal:</a:t>
            </a:r>
          </a:p>
          <a:p>
            <a:pPr lvl="1"/>
            <a:r>
              <a:rPr lang="en-US" altLang="en-US"/>
              <a:t>reduce hardware cost of memory;</a:t>
            </a:r>
          </a:p>
          <a:p>
            <a:pPr lvl="1"/>
            <a:r>
              <a:rPr lang="en-US" altLang="en-US"/>
              <a:t>reduce power consumption of memory units.</a:t>
            </a:r>
          </a:p>
          <a:p>
            <a:r>
              <a:rPr lang="en-US" altLang="en-US"/>
              <a:t>Two opportunities:</a:t>
            </a:r>
          </a:p>
          <a:p>
            <a:pPr lvl="1"/>
            <a:r>
              <a:rPr lang="en-US" altLang="en-US"/>
              <a:t>data;</a:t>
            </a:r>
          </a:p>
          <a:p>
            <a:pPr lvl="1"/>
            <a:r>
              <a:rPr lang="en-US" altLang="en-US"/>
              <a:t>instructions.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Date Placeholder 3">
            <a:extLst>
              <a:ext uri="{FF2B5EF4-FFF2-40B4-BE49-F238E27FC236}">
                <a16:creationId xmlns:a16="http://schemas.microsoft.com/office/drawing/2014/main" id="{21AE02C2-0859-FDA3-84EC-EA461934AE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1683" name="Footer Placeholder 4">
            <a:extLst>
              <a:ext uri="{FF2B5EF4-FFF2-40B4-BE49-F238E27FC236}">
                <a16:creationId xmlns:a16="http://schemas.microsoft.com/office/drawing/2014/main" id="{BD9F6B58-6430-55B7-1C63-DB2C6607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606D3C94-6DA9-5C5B-FE3D-4B98F173B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size minimization</a:t>
            </a: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E41AEE67-990A-3E55-4B60-7DEFD4560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Reuse constants, variables, data buffers in different parts of code.</a:t>
            </a:r>
          </a:p>
          <a:p>
            <a:pPr lvl="1"/>
            <a:r>
              <a:rPr lang="en-US" altLang="en-US"/>
              <a:t>Requires careful verification of correctness.</a:t>
            </a:r>
          </a:p>
          <a:p>
            <a:r>
              <a:rPr lang="en-US" altLang="en-US"/>
              <a:t>Generate data using instructions.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Date Placeholder 3">
            <a:extLst>
              <a:ext uri="{FF2B5EF4-FFF2-40B4-BE49-F238E27FC236}">
                <a16:creationId xmlns:a16="http://schemas.microsoft.com/office/drawing/2014/main" id="{407F0395-2272-B682-87C8-43FDBC77D2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2707" name="Footer Placeholder 4">
            <a:extLst>
              <a:ext uri="{FF2B5EF4-FFF2-40B4-BE49-F238E27FC236}">
                <a16:creationId xmlns:a16="http://schemas.microsoft.com/office/drawing/2014/main" id="{B93019A2-6701-12E0-DBEE-B5CC1B4A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2708" name="Rectangle 2">
            <a:extLst>
              <a:ext uri="{FF2B5EF4-FFF2-40B4-BE49-F238E27FC236}">
                <a16:creationId xmlns:a16="http://schemas.microsoft.com/office/drawing/2014/main" id="{CEA16577-1675-DCAE-CDE8-47A2C577E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Reducing code size</a:t>
            </a:r>
          </a:p>
        </p:txBody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F2BFCB1D-B6A0-E240-E6DC-35BA78691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Avoid function inlining.</a:t>
            </a:r>
          </a:p>
          <a:p>
            <a:r>
              <a:rPr lang="en-US" altLang="en-US"/>
              <a:t>Choose CPU with compact instructions.</a:t>
            </a:r>
          </a:p>
          <a:p>
            <a:r>
              <a:rPr lang="en-US" altLang="en-US"/>
              <a:t>Use specialized instructions where possible.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Date Placeholder 3">
            <a:extLst>
              <a:ext uri="{FF2B5EF4-FFF2-40B4-BE49-F238E27FC236}">
                <a16:creationId xmlns:a16="http://schemas.microsoft.com/office/drawing/2014/main" id="{0E816D33-6F3E-F346-1E05-B9AD051EABE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3731" name="Footer Placeholder 4">
            <a:extLst>
              <a:ext uri="{FF2B5EF4-FFF2-40B4-BE49-F238E27FC236}">
                <a16:creationId xmlns:a16="http://schemas.microsoft.com/office/drawing/2014/main" id="{E6381001-5851-B2AC-0D43-ACAA4860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F3EFDCEC-BF74-140E-9F91-29BCB6E5C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Program validation and testing</a:t>
            </a:r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4ACA8A17-D47D-E2C4-7E82-CC2223899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But does it work?</a:t>
            </a:r>
          </a:p>
          <a:p>
            <a:r>
              <a:rPr lang="en-US" altLang="en-US"/>
              <a:t>Concentrate here on functional verification.</a:t>
            </a:r>
          </a:p>
          <a:p>
            <a:r>
              <a:rPr lang="en-US" altLang="en-US"/>
              <a:t>Major testing strategies:</a:t>
            </a:r>
          </a:p>
          <a:p>
            <a:pPr lvl="1"/>
            <a:r>
              <a:rPr lang="en-US" altLang="en-US"/>
              <a:t>Black box doesn’t look at the source code.</a:t>
            </a:r>
          </a:p>
          <a:p>
            <a:pPr lvl="1"/>
            <a:r>
              <a:rPr lang="en-US" altLang="en-US"/>
              <a:t>Clear box (white box) does look at the source code.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Date Placeholder 3">
            <a:extLst>
              <a:ext uri="{FF2B5EF4-FFF2-40B4-BE49-F238E27FC236}">
                <a16:creationId xmlns:a16="http://schemas.microsoft.com/office/drawing/2014/main" id="{5A596680-4D01-DCF9-099D-D48BE8F732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4755" name="Footer Placeholder 4">
            <a:extLst>
              <a:ext uri="{FF2B5EF4-FFF2-40B4-BE49-F238E27FC236}">
                <a16:creationId xmlns:a16="http://schemas.microsoft.com/office/drawing/2014/main" id="{9EE7562A-495B-4973-74C2-83B0C5E1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4756" name="Rectangle 2">
            <a:extLst>
              <a:ext uri="{FF2B5EF4-FFF2-40B4-BE49-F238E27FC236}">
                <a16:creationId xmlns:a16="http://schemas.microsoft.com/office/drawing/2014/main" id="{A948BFB1-F941-E335-7BE0-1B8B118447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Clear-box testing</a:t>
            </a:r>
          </a:p>
        </p:txBody>
      </p:sp>
      <p:sp>
        <p:nvSpPr>
          <p:cNvPr id="74757" name="Rectangle 3">
            <a:extLst>
              <a:ext uri="{FF2B5EF4-FFF2-40B4-BE49-F238E27FC236}">
                <a16:creationId xmlns:a16="http://schemas.microsoft.com/office/drawing/2014/main" id="{75FC5435-714E-57F9-6B14-200C19557D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Examine the source code to determine whether it works:</a:t>
            </a:r>
          </a:p>
          <a:p>
            <a:pPr lvl="1"/>
            <a:r>
              <a:rPr lang="en-US" altLang="en-US" sz="2400"/>
              <a:t>Can you actually exercise a path?</a:t>
            </a:r>
          </a:p>
          <a:p>
            <a:pPr lvl="1"/>
            <a:r>
              <a:rPr lang="en-US" altLang="en-US" sz="2400"/>
              <a:t>Do you get the value you expect along a path?</a:t>
            </a:r>
          </a:p>
          <a:p>
            <a:r>
              <a:rPr lang="en-US" altLang="en-US" sz="2800"/>
              <a:t>Testing procedure: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Controllability</a:t>
            </a:r>
            <a:r>
              <a:rPr lang="en-US" altLang="en-US" sz="2400"/>
              <a:t>: rovide program with inputs.</a:t>
            </a:r>
          </a:p>
          <a:p>
            <a:pPr lvl="1"/>
            <a:r>
              <a:rPr lang="en-US" altLang="en-US" sz="2400"/>
              <a:t>Execute.</a:t>
            </a:r>
          </a:p>
          <a:p>
            <a:pPr lvl="1"/>
            <a:r>
              <a:rPr lang="en-US" altLang="en-US" sz="2400">
                <a:solidFill>
                  <a:srgbClr val="FF0000"/>
                </a:solidFill>
              </a:rPr>
              <a:t>Observability</a:t>
            </a:r>
            <a:r>
              <a:rPr lang="en-US" altLang="en-US" sz="2400"/>
              <a:t>: examine outputs.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7BCE067E-1EE5-78B4-E383-92482EA22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Controlling and observing programs</a:t>
            </a:r>
          </a:p>
        </p:txBody>
      </p:sp>
      <p:sp>
        <p:nvSpPr>
          <p:cNvPr id="75779" name="Content Placeholder 5">
            <a:extLst>
              <a:ext uri="{FF2B5EF4-FFF2-40B4-BE49-F238E27FC236}">
                <a16:creationId xmlns:a16="http://schemas.microsoft.com/office/drawing/2014/main" id="{7803DFFA-B5A8-FCFF-D00A-9F4FFDDA27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altLang="en-US" sz="1800"/>
              <a:t>firout = 0.0;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for (j=curr, k=0; j&lt;N; j++, k++) 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firout += buff[j] * c[k];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for (j=0; j&lt;curr; j++, k++)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	firout += buff[j] * c[k];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if (firout &gt; 100.0) firout = 100.0;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800"/>
              <a:t>if (firout &lt; -100.0) firout = -100.0;</a:t>
            </a:r>
          </a:p>
        </p:txBody>
      </p:sp>
      <p:sp>
        <p:nvSpPr>
          <p:cNvPr id="75780" name="Content Placeholder 6">
            <a:extLst>
              <a:ext uri="{FF2B5EF4-FFF2-40B4-BE49-F238E27FC236}">
                <a16:creationId xmlns:a16="http://schemas.microsoft.com/office/drawing/2014/main" id="{F7BB9E8D-EB49-942D-6C30-1C03E05856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Controllability:</a:t>
            </a:r>
          </a:p>
          <a:p>
            <a:pPr lvl="1"/>
            <a:r>
              <a:rPr lang="en-US" altLang="en-US"/>
              <a:t>Must fill circular buffer with desired N values.</a:t>
            </a:r>
          </a:p>
          <a:p>
            <a:pPr lvl="1"/>
            <a:r>
              <a:rPr lang="en-US" altLang="en-US"/>
              <a:t>Other code governs how we access the buffer.</a:t>
            </a:r>
          </a:p>
          <a:p>
            <a:r>
              <a:rPr lang="en-US" altLang="en-US"/>
              <a:t>Observability:</a:t>
            </a:r>
          </a:p>
          <a:p>
            <a:pPr lvl="1"/>
            <a:r>
              <a:rPr lang="en-US" altLang="en-US"/>
              <a:t>Want to examine firout before limit testing.</a:t>
            </a:r>
          </a:p>
        </p:txBody>
      </p:sp>
      <p:sp>
        <p:nvSpPr>
          <p:cNvPr id="75781" name="Date Placeholder 3">
            <a:extLst>
              <a:ext uri="{FF2B5EF4-FFF2-40B4-BE49-F238E27FC236}">
                <a16:creationId xmlns:a16="http://schemas.microsoft.com/office/drawing/2014/main" id="{8D2B9813-40A2-5311-72C8-7568CC7B2DB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5782" name="Footer Placeholder 4">
            <a:extLst>
              <a:ext uri="{FF2B5EF4-FFF2-40B4-BE49-F238E27FC236}">
                <a16:creationId xmlns:a16="http://schemas.microsoft.com/office/drawing/2014/main" id="{12433AB8-8896-94E1-B390-AF037269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3">
            <a:extLst>
              <a:ext uri="{FF2B5EF4-FFF2-40B4-BE49-F238E27FC236}">
                <a16:creationId xmlns:a16="http://schemas.microsoft.com/office/drawing/2014/main" id="{A0F73EE9-5AAC-0D2B-DC93-D4C1913DED1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6803" name="Footer Placeholder 4">
            <a:extLst>
              <a:ext uri="{FF2B5EF4-FFF2-40B4-BE49-F238E27FC236}">
                <a16:creationId xmlns:a16="http://schemas.microsoft.com/office/drawing/2014/main" id="{63A75126-2432-72DB-4A64-2457A933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6804" name="Rectangle 2">
            <a:extLst>
              <a:ext uri="{FF2B5EF4-FFF2-40B4-BE49-F238E27FC236}">
                <a16:creationId xmlns:a16="http://schemas.microsoft.com/office/drawing/2014/main" id="{CF9682FC-7F3D-FD84-0585-DC90BF95E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Execution paths and testing</a:t>
            </a:r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5CD50132-4AB2-9F98-77E2-D0AA7C7A6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Paths are important in functional testing as well as performance analysis.</a:t>
            </a:r>
          </a:p>
          <a:p>
            <a:r>
              <a:rPr lang="en-US" altLang="en-US"/>
              <a:t>In general, an exponential number of paths through the program.</a:t>
            </a:r>
          </a:p>
          <a:p>
            <a:pPr lvl="1"/>
            <a:r>
              <a:rPr lang="en-US" altLang="en-US"/>
              <a:t>Show that some paths dominate others.</a:t>
            </a:r>
          </a:p>
          <a:p>
            <a:pPr lvl="1"/>
            <a:r>
              <a:rPr lang="en-US" altLang="en-US"/>
              <a:t>Heuristically limit paths.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E6BB4938-5279-281B-DB6F-B891F91C46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Choosing the paths to test</a:t>
            </a:r>
          </a:p>
        </p:txBody>
      </p:sp>
      <p:sp>
        <p:nvSpPr>
          <p:cNvPr id="77827" name="Content Placeholder 5">
            <a:extLst>
              <a:ext uri="{FF2B5EF4-FFF2-40B4-BE49-F238E27FC236}">
                <a16:creationId xmlns:a16="http://schemas.microsoft.com/office/drawing/2014/main" id="{F6A2E4D1-C115-807B-73E3-C975007C31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Possible criteria:</a:t>
            </a:r>
          </a:p>
          <a:p>
            <a:pPr lvl="1"/>
            <a:r>
              <a:rPr lang="en-US" altLang="en-US"/>
              <a:t>Execute every statement at least once.</a:t>
            </a:r>
          </a:p>
          <a:p>
            <a:pPr lvl="1"/>
            <a:r>
              <a:rPr lang="en-US" altLang="en-US"/>
              <a:t>Execute every branch direction at least once.</a:t>
            </a:r>
          </a:p>
          <a:p>
            <a:r>
              <a:rPr lang="en-US" altLang="en-US"/>
              <a:t>Equivalent for structured programs.</a:t>
            </a:r>
          </a:p>
          <a:p>
            <a:r>
              <a:rPr lang="en-US" altLang="en-US"/>
              <a:t>Not true for gotos.</a:t>
            </a:r>
          </a:p>
        </p:txBody>
      </p:sp>
      <p:sp>
        <p:nvSpPr>
          <p:cNvPr id="77828" name="Date Placeholder 3">
            <a:extLst>
              <a:ext uri="{FF2B5EF4-FFF2-40B4-BE49-F238E27FC236}">
                <a16:creationId xmlns:a16="http://schemas.microsoft.com/office/drawing/2014/main" id="{C19CE874-2A70-DC55-FB12-76292E889AB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7829" name="Footer Placeholder 4">
            <a:extLst>
              <a:ext uri="{FF2B5EF4-FFF2-40B4-BE49-F238E27FC236}">
                <a16:creationId xmlns:a16="http://schemas.microsoft.com/office/drawing/2014/main" id="{3510F0B8-CC29-93C2-CC03-11154064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7830" name="Rectangle 7">
            <a:extLst>
              <a:ext uri="{FF2B5EF4-FFF2-40B4-BE49-F238E27FC236}">
                <a16:creationId xmlns:a16="http://schemas.microsoft.com/office/drawing/2014/main" id="{370E7573-A8A7-939D-121C-7E70AAAAB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905000"/>
            <a:ext cx="990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7831" name="Diamond 8">
            <a:extLst>
              <a:ext uri="{FF2B5EF4-FFF2-40B4-BE49-F238E27FC236}">
                <a16:creationId xmlns:a16="http://schemas.microsoft.com/office/drawing/2014/main" id="{5C7EA3B4-9CF6-8241-9A7F-4D2A22E1B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667000"/>
            <a:ext cx="990600" cy="38100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cxnSp>
        <p:nvCxnSpPr>
          <p:cNvPr id="77832" name="Straight Arrow Connector 10">
            <a:extLst>
              <a:ext uri="{FF2B5EF4-FFF2-40B4-BE49-F238E27FC236}">
                <a16:creationId xmlns:a16="http://schemas.microsoft.com/office/drawing/2014/main" id="{3A74542C-C8DB-D28B-F81F-9FC1BDEF0195}"/>
              </a:ext>
            </a:extLst>
          </p:cNvPr>
          <p:cNvCxnSpPr>
            <a:cxnSpLocks noChangeShapeType="1"/>
            <a:stCxn id="77830" idx="2"/>
            <a:endCxn id="77831" idx="0"/>
          </p:cNvCxnSpPr>
          <p:nvPr/>
        </p:nvCxnSpPr>
        <p:spPr bwMode="auto">
          <a:xfrm rot="5400000">
            <a:off x="6362701" y="25146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33" name="Rectangle 16">
            <a:extLst>
              <a:ext uri="{FF2B5EF4-FFF2-40B4-BE49-F238E27FC236}">
                <a16:creationId xmlns:a16="http://schemas.microsoft.com/office/drawing/2014/main" id="{19821E93-9FA0-8F9E-696C-2FE3D7CE8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590800"/>
            <a:ext cx="990600" cy="533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7834" name="Rectangle 17">
            <a:extLst>
              <a:ext uri="{FF2B5EF4-FFF2-40B4-BE49-F238E27FC236}">
                <a16:creationId xmlns:a16="http://schemas.microsoft.com/office/drawing/2014/main" id="{2C240183-83BB-89FC-C0C5-E41C0C508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352800"/>
            <a:ext cx="990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77835" name="Diamond 18">
            <a:extLst>
              <a:ext uri="{FF2B5EF4-FFF2-40B4-BE49-F238E27FC236}">
                <a16:creationId xmlns:a16="http://schemas.microsoft.com/office/drawing/2014/main" id="{7BB505F9-85DE-515C-CE85-EBE4CA9A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114800"/>
            <a:ext cx="990600" cy="38100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cxnSp>
        <p:nvCxnSpPr>
          <p:cNvPr id="77836" name="Straight Arrow Connector 21">
            <a:extLst>
              <a:ext uri="{FF2B5EF4-FFF2-40B4-BE49-F238E27FC236}">
                <a16:creationId xmlns:a16="http://schemas.microsoft.com/office/drawing/2014/main" id="{514BAD34-4826-2789-EB83-F47320E72967}"/>
              </a:ext>
            </a:extLst>
          </p:cNvPr>
          <p:cNvCxnSpPr>
            <a:cxnSpLocks noChangeShapeType="1"/>
            <a:stCxn id="77831" idx="2"/>
            <a:endCxn id="77834" idx="0"/>
          </p:cNvCxnSpPr>
          <p:nvPr/>
        </p:nvCxnSpPr>
        <p:spPr bwMode="auto">
          <a:xfrm rot="5400000">
            <a:off x="6362701" y="32004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7" name="Straight Arrow Connector 24">
            <a:extLst>
              <a:ext uri="{FF2B5EF4-FFF2-40B4-BE49-F238E27FC236}">
                <a16:creationId xmlns:a16="http://schemas.microsoft.com/office/drawing/2014/main" id="{E76AD6AA-08C0-7A62-6844-DD17AA4BD442}"/>
              </a:ext>
            </a:extLst>
          </p:cNvPr>
          <p:cNvCxnSpPr>
            <a:cxnSpLocks noChangeShapeType="1"/>
            <a:stCxn id="77834" idx="2"/>
            <a:endCxn id="77835" idx="0"/>
          </p:cNvCxnSpPr>
          <p:nvPr/>
        </p:nvCxnSpPr>
        <p:spPr bwMode="auto">
          <a:xfrm rot="5400000">
            <a:off x="6362701" y="39624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38" name="Straight Arrow Connector 26">
            <a:extLst>
              <a:ext uri="{FF2B5EF4-FFF2-40B4-BE49-F238E27FC236}">
                <a16:creationId xmlns:a16="http://schemas.microsoft.com/office/drawing/2014/main" id="{BD411EAF-F660-6C43-0A35-42066C978D28}"/>
              </a:ext>
            </a:extLst>
          </p:cNvPr>
          <p:cNvCxnSpPr>
            <a:cxnSpLocks noChangeShapeType="1"/>
            <a:stCxn id="77831" idx="3"/>
            <a:endCxn id="77833" idx="1"/>
          </p:cNvCxnSpPr>
          <p:nvPr/>
        </p:nvCxnSpPr>
        <p:spPr bwMode="auto">
          <a:xfrm>
            <a:off x="7010400" y="2857500"/>
            <a:ext cx="4572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39" name="Rectangle 29">
            <a:extLst>
              <a:ext uri="{FF2B5EF4-FFF2-40B4-BE49-F238E27FC236}">
                <a16:creationId xmlns:a16="http://schemas.microsoft.com/office/drawing/2014/main" id="{394BBCD3-59C0-F688-FE71-05A88B261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800600"/>
            <a:ext cx="990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/>
          </a:p>
        </p:txBody>
      </p:sp>
      <p:cxnSp>
        <p:nvCxnSpPr>
          <p:cNvPr id="77840" name="Straight Arrow Connector 31">
            <a:extLst>
              <a:ext uri="{FF2B5EF4-FFF2-40B4-BE49-F238E27FC236}">
                <a16:creationId xmlns:a16="http://schemas.microsoft.com/office/drawing/2014/main" id="{416B40DE-B96E-7348-450C-098826B26396}"/>
              </a:ext>
            </a:extLst>
          </p:cNvPr>
          <p:cNvCxnSpPr>
            <a:cxnSpLocks noChangeShapeType="1"/>
            <a:stCxn id="77835" idx="2"/>
            <a:endCxn id="77839" idx="0"/>
          </p:cNvCxnSpPr>
          <p:nvPr/>
        </p:nvCxnSpPr>
        <p:spPr bwMode="auto">
          <a:xfrm rot="5400000">
            <a:off x="6362701" y="4648200"/>
            <a:ext cx="304800" cy="31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41" name="Shape 33">
            <a:extLst>
              <a:ext uri="{FF2B5EF4-FFF2-40B4-BE49-F238E27FC236}">
                <a16:creationId xmlns:a16="http://schemas.microsoft.com/office/drawing/2014/main" id="{209AF4ED-48CB-F68C-F341-B5645D58AD22}"/>
              </a:ext>
            </a:extLst>
          </p:cNvPr>
          <p:cNvCxnSpPr>
            <a:cxnSpLocks noChangeShapeType="1"/>
            <a:stCxn id="77833" idx="2"/>
            <a:endCxn id="77839" idx="3"/>
          </p:cNvCxnSpPr>
          <p:nvPr/>
        </p:nvCxnSpPr>
        <p:spPr bwMode="auto">
          <a:xfrm rot="5400000">
            <a:off x="6534150" y="3600450"/>
            <a:ext cx="1905000" cy="9525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842" name="Elbow Connector 35">
            <a:extLst>
              <a:ext uri="{FF2B5EF4-FFF2-40B4-BE49-F238E27FC236}">
                <a16:creationId xmlns:a16="http://schemas.microsoft.com/office/drawing/2014/main" id="{7162AC97-BD25-0DD7-00EA-8BCB14FEFA6C}"/>
              </a:ext>
            </a:extLst>
          </p:cNvPr>
          <p:cNvCxnSpPr>
            <a:cxnSpLocks noChangeShapeType="1"/>
            <a:stCxn id="77835" idx="1"/>
            <a:endCxn id="77830" idx="1"/>
          </p:cNvCxnSpPr>
          <p:nvPr/>
        </p:nvCxnSpPr>
        <p:spPr bwMode="auto">
          <a:xfrm rot="10800000">
            <a:off x="6019800" y="2133600"/>
            <a:ext cx="1588" cy="2171700"/>
          </a:xfrm>
          <a:prstGeom prst="bentConnector3">
            <a:avLst>
              <a:gd name="adj1" fmla="val 14395468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920B5A-7736-138C-9088-B578148032B1}"/>
              </a:ext>
            </a:extLst>
          </p:cNvPr>
          <p:cNvCxnSpPr/>
          <p:nvPr/>
        </p:nvCxnSpPr>
        <p:spPr bwMode="auto">
          <a:xfrm rot="5400000">
            <a:off x="4838701" y="3619500"/>
            <a:ext cx="2971800" cy="31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0FDAE70-609A-4EB1-E621-F70B1D35D0EF}"/>
              </a:ext>
            </a:extLst>
          </p:cNvPr>
          <p:cNvCxnSpPr/>
          <p:nvPr/>
        </p:nvCxnSpPr>
        <p:spPr bwMode="auto">
          <a:xfrm rot="5400000">
            <a:off x="6286501" y="2476500"/>
            <a:ext cx="685800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2ECEC53-481E-F6DA-FC7C-6D83B1A5A7C4}"/>
              </a:ext>
            </a:extLst>
          </p:cNvPr>
          <p:cNvCxnSpPr/>
          <p:nvPr/>
        </p:nvCxnSpPr>
        <p:spPr bwMode="auto">
          <a:xfrm>
            <a:off x="6629400" y="2819400"/>
            <a:ext cx="121920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DE8BE3A-4E4E-FCF4-36F0-5F55F9087470}"/>
              </a:ext>
            </a:extLst>
          </p:cNvPr>
          <p:cNvCxnSpPr/>
          <p:nvPr/>
        </p:nvCxnSpPr>
        <p:spPr bwMode="auto">
          <a:xfrm rot="5400000">
            <a:off x="6819901" y="3848100"/>
            <a:ext cx="2057400" cy="31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D507CE-670D-209E-FA25-9F3D6D937CE8}"/>
              </a:ext>
            </a:extLst>
          </p:cNvPr>
          <p:cNvCxnSpPr/>
          <p:nvPr/>
        </p:nvCxnSpPr>
        <p:spPr bwMode="auto">
          <a:xfrm rot="10800000">
            <a:off x="6705600" y="4876800"/>
            <a:ext cx="1143000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3A937747-48EB-EF08-803C-24B9C9E018C3}"/>
              </a:ext>
            </a:extLst>
          </p:cNvPr>
          <p:cNvCxnSpPr>
            <a:stCxn id="77835" idx="1"/>
            <a:endCxn id="77830" idx="1"/>
          </p:cNvCxnSpPr>
          <p:nvPr/>
        </p:nvCxnSpPr>
        <p:spPr bwMode="auto">
          <a:xfrm rot="10800000">
            <a:off x="6019800" y="2133600"/>
            <a:ext cx="1588" cy="2171700"/>
          </a:xfrm>
          <a:prstGeom prst="bentConnector3">
            <a:avLst>
              <a:gd name="adj1" fmla="val 14395466"/>
            </a:avLst>
          </a:prstGeom>
          <a:ln>
            <a:solidFill>
              <a:schemeClr val="accent1"/>
            </a:solidFill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E26C8B9-9FBB-D239-51C8-A0CCF51A8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895600"/>
            <a:ext cx="1627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>
                <a:solidFill>
                  <a:srgbClr val="FF0000"/>
                </a:solidFill>
              </a:rPr>
              <a:t>not covered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7BFE412-0436-1B84-9317-0A0957C9C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Basis paths</a:t>
            </a:r>
          </a:p>
        </p:txBody>
      </p:sp>
      <p:pic>
        <p:nvPicPr>
          <p:cNvPr id="78851" name="Content Placeholder 7" descr="f05-26-P374397.eps">
            <a:extLst>
              <a:ext uri="{FF2B5EF4-FFF2-40B4-BE49-F238E27FC236}">
                <a16:creationId xmlns:a16="http://schemas.microsoft.com/office/drawing/2014/main" id="{67ADD626-72CD-9CAF-E084-0755D4C2A8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438400"/>
            <a:ext cx="4013200" cy="2870200"/>
          </a:xfrm>
        </p:spPr>
      </p:pic>
      <p:sp>
        <p:nvSpPr>
          <p:cNvPr id="78852" name="Content Placeholder 8">
            <a:extLst>
              <a:ext uri="{FF2B5EF4-FFF2-40B4-BE49-F238E27FC236}">
                <a16:creationId xmlns:a16="http://schemas.microsoft.com/office/drawing/2014/main" id="{C2673652-78D4-4567-1F7B-FC867FD22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1905000"/>
            <a:ext cx="4013200" cy="4171950"/>
          </a:xfrm>
        </p:spPr>
        <p:txBody>
          <a:bodyPr/>
          <a:lstStyle/>
          <a:p>
            <a:r>
              <a:rPr lang="en-US" altLang="en-US"/>
              <a:t>Approximate CDFG with undirected graph.</a:t>
            </a:r>
          </a:p>
          <a:p>
            <a:r>
              <a:rPr lang="en-US" altLang="en-US"/>
              <a:t>Undirected graphs have basis paths:</a:t>
            </a:r>
          </a:p>
          <a:p>
            <a:pPr lvl="1"/>
            <a:r>
              <a:rPr lang="en-US" altLang="en-US"/>
              <a:t>All paths are linear combinations of basis paths.</a:t>
            </a:r>
          </a:p>
        </p:txBody>
      </p:sp>
      <p:sp>
        <p:nvSpPr>
          <p:cNvPr id="78853" name="Date Placeholder 3">
            <a:extLst>
              <a:ext uri="{FF2B5EF4-FFF2-40B4-BE49-F238E27FC236}">
                <a16:creationId xmlns:a16="http://schemas.microsoft.com/office/drawing/2014/main" id="{01FB7CDA-FBDB-2082-3BDD-09FA85BEC08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8854" name="Footer Placeholder 4">
            <a:extLst>
              <a:ext uri="{FF2B5EF4-FFF2-40B4-BE49-F238E27FC236}">
                <a16:creationId xmlns:a16="http://schemas.microsoft.com/office/drawing/2014/main" id="{8AFF27F2-076C-B069-C362-C086A68E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EF5CFBD-29E8-B15E-45ED-C1BF83919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Cyclomatic complexity</a:t>
            </a:r>
          </a:p>
        </p:txBody>
      </p:sp>
      <p:pic>
        <p:nvPicPr>
          <p:cNvPr id="79875" name="Content Placeholder 9" descr="f05-27-P374397.eps">
            <a:extLst>
              <a:ext uri="{FF2B5EF4-FFF2-40B4-BE49-F238E27FC236}">
                <a16:creationId xmlns:a16="http://schemas.microsoft.com/office/drawing/2014/main" id="{15408850-F47F-2B3B-EFD4-414DC0F607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209800"/>
            <a:ext cx="4013200" cy="3659188"/>
          </a:xfrm>
        </p:spPr>
      </p:pic>
      <p:sp>
        <p:nvSpPr>
          <p:cNvPr id="79876" name="Date Placeholder 3">
            <a:extLst>
              <a:ext uri="{FF2B5EF4-FFF2-40B4-BE49-F238E27FC236}">
                <a16:creationId xmlns:a16="http://schemas.microsoft.com/office/drawing/2014/main" id="{B6E2FB58-C01A-79D5-C935-3F8EF68EBBC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79877" name="Footer Placeholder 4">
            <a:extLst>
              <a:ext uri="{FF2B5EF4-FFF2-40B4-BE49-F238E27FC236}">
                <a16:creationId xmlns:a16="http://schemas.microsoft.com/office/drawing/2014/main" id="{1C76D953-4A7A-0840-823E-0C600870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9878" name="Content Placeholder 8">
            <a:extLst>
              <a:ext uri="{FF2B5EF4-FFF2-40B4-BE49-F238E27FC236}">
                <a16:creationId xmlns:a16="http://schemas.microsoft.com/office/drawing/2014/main" id="{F2FA3B65-C48A-0943-7B58-CBDFA2466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4013200" cy="4171950"/>
          </a:xfrm>
        </p:spPr>
        <p:txBody>
          <a:bodyPr/>
          <a:lstStyle/>
          <a:p>
            <a:r>
              <a:rPr lang="en-US" altLang="en-US"/>
              <a:t>Cyclomatic complexity is a bound on the size of basis sets:</a:t>
            </a:r>
          </a:p>
          <a:p>
            <a:pPr lvl="1"/>
            <a:r>
              <a:rPr lang="en-US" altLang="en-US"/>
              <a:t>e = # edges</a:t>
            </a:r>
          </a:p>
          <a:p>
            <a:pPr lvl="1"/>
            <a:r>
              <a:rPr lang="en-US" altLang="en-US"/>
              <a:t>n = # nodes</a:t>
            </a:r>
          </a:p>
          <a:p>
            <a:pPr lvl="1"/>
            <a:r>
              <a:rPr lang="en-US" altLang="en-US"/>
              <a:t>p = number of graph components</a:t>
            </a:r>
          </a:p>
          <a:p>
            <a:pPr lvl="1"/>
            <a:r>
              <a:rPr lang="en-US" altLang="en-US"/>
              <a:t>M = e – n + 2p.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504C2D40-D788-59A5-F3C8-BCD5C58B5E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Branch testing</a:t>
            </a:r>
          </a:p>
        </p:txBody>
      </p:sp>
      <p:sp>
        <p:nvSpPr>
          <p:cNvPr id="80899" name="Content Placeholder 5">
            <a:extLst>
              <a:ext uri="{FF2B5EF4-FFF2-40B4-BE49-F238E27FC236}">
                <a16:creationId xmlns:a16="http://schemas.microsoft.com/office/drawing/2014/main" id="{49044303-D0FA-E550-8A6B-22D250174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Heuristic for testing branches.</a:t>
            </a:r>
          </a:p>
          <a:p>
            <a:pPr lvl="1"/>
            <a:r>
              <a:rPr lang="en-US" altLang="en-US"/>
              <a:t>Exercise true and false branches of conditional.</a:t>
            </a:r>
          </a:p>
          <a:p>
            <a:pPr lvl="1"/>
            <a:r>
              <a:rPr lang="en-US" altLang="en-US"/>
              <a:t>Exercise every simple condition at least once.</a:t>
            </a:r>
          </a:p>
        </p:txBody>
      </p:sp>
      <p:sp>
        <p:nvSpPr>
          <p:cNvPr id="80900" name="Date Placeholder 3">
            <a:extLst>
              <a:ext uri="{FF2B5EF4-FFF2-40B4-BE49-F238E27FC236}">
                <a16:creationId xmlns:a16="http://schemas.microsoft.com/office/drawing/2014/main" id="{7026C225-BC8E-9748-6C75-12E498A380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0901" name="Footer Placeholder 4">
            <a:extLst>
              <a:ext uri="{FF2B5EF4-FFF2-40B4-BE49-F238E27FC236}">
                <a16:creationId xmlns:a16="http://schemas.microsoft.com/office/drawing/2014/main" id="{AB85775D-3F9A-3FE6-47C3-AF1ABBC45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F0459E4-7271-6DEE-9272-B431C979F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Branch testing example</a:t>
            </a:r>
          </a:p>
        </p:txBody>
      </p:sp>
      <p:sp>
        <p:nvSpPr>
          <p:cNvPr id="81923" name="Content Placeholder 5">
            <a:extLst>
              <a:ext uri="{FF2B5EF4-FFF2-40B4-BE49-F238E27FC236}">
                <a16:creationId xmlns:a16="http://schemas.microsoft.com/office/drawing/2014/main" id="{E7978DAA-01D8-01BB-D2CE-75CD9E5A43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Correct:</a:t>
            </a:r>
          </a:p>
          <a:p>
            <a:pPr lvl="1"/>
            <a:r>
              <a:rPr lang="en-US" altLang="en-US"/>
              <a:t>if (a || (b &gt;= c)) { printf(“OK\n”); }</a:t>
            </a:r>
          </a:p>
          <a:p>
            <a:r>
              <a:rPr lang="en-US" altLang="en-US"/>
              <a:t>Incorrect:</a:t>
            </a:r>
          </a:p>
          <a:p>
            <a:pPr lvl="1"/>
            <a:r>
              <a:rPr lang="en-US" altLang="en-US"/>
              <a:t>if (a &amp;&amp; (b &gt;= c)) { printf(“OK\n”); }</a:t>
            </a:r>
          </a:p>
        </p:txBody>
      </p:sp>
      <p:sp>
        <p:nvSpPr>
          <p:cNvPr id="81924" name="Content Placeholder 6">
            <a:extLst>
              <a:ext uri="{FF2B5EF4-FFF2-40B4-BE49-F238E27FC236}">
                <a16:creationId xmlns:a16="http://schemas.microsoft.com/office/drawing/2014/main" id="{2D76C2BB-4937-05EF-1723-1F97D21AD0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Test:</a:t>
            </a:r>
          </a:p>
          <a:p>
            <a:pPr lvl="1"/>
            <a:r>
              <a:rPr lang="en-US" altLang="en-US"/>
              <a:t>a = F</a:t>
            </a:r>
          </a:p>
          <a:p>
            <a:pPr lvl="1"/>
            <a:r>
              <a:rPr lang="en-US" altLang="en-US"/>
              <a:t>(b &gt;=c) = T</a:t>
            </a:r>
          </a:p>
          <a:p>
            <a:r>
              <a:rPr lang="en-US" altLang="en-US"/>
              <a:t>Example:</a:t>
            </a:r>
          </a:p>
          <a:p>
            <a:pPr lvl="1"/>
            <a:r>
              <a:rPr lang="en-US" altLang="en-US"/>
              <a:t>Correct: [0 || (3 &gt;= 2)] = T</a:t>
            </a:r>
          </a:p>
          <a:p>
            <a:pPr lvl="1"/>
            <a:r>
              <a:rPr lang="en-US" altLang="en-US"/>
              <a:t>Incorrect: [0 &amp;&amp; (3 &gt;= 2)] = F</a:t>
            </a:r>
          </a:p>
        </p:txBody>
      </p:sp>
      <p:sp>
        <p:nvSpPr>
          <p:cNvPr id="81925" name="Date Placeholder 3">
            <a:extLst>
              <a:ext uri="{FF2B5EF4-FFF2-40B4-BE49-F238E27FC236}">
                <a16:creationId xmlns:a16="http://schemas.microsoft.com/office/drawing/2014/main" id="{F7CE4176-527C-B6BE-2AB2-EFF3C65F1D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1926" name="Footer Placeholder 4">
            <a:extLst>
              <a:ext uri="{FF2B5EF4-FFF2-40B4-BE49-F238E27FC236}">
                <a16:creationId xmlns:a16="http://schemas.microsoft.com/office/drawing/2014/main" id="{5ED3393E-9FAE-42E6-E9E3-DD43205F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D80E002-8867-8DFB-2064-13BAED5E0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Another branch testing example</a:t>
            </a:r>
          </a:p>
        </p:txBody>
      </p:sp>
      <p:sp>
        <p:nvSpPr>
          <p:cNvPr id="82947" name="Content Placeholder 5">
            <a:extLst>
              <a:ext uri="{FF2B5EF4-FFF2-40B4-BE49-F238E27FC236}">
                <a16:creationId xmlns:a16="http://schemas.microsoft.com/office/drawing/2014/main" id="{A43F2689-1493-4AFE-0405-7C4EA4FAC1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Correct:</a:t>
            </a:r>
          </a:p>
          <a:p>
            <a:pPr lvl="1"/>
            <a:r>
              <a:rPr lang="en-US" altLang="en-US" sz="2000"/>
              <a:t>if ((x == good_pointer) &amp;&amp; x-&gt;field1 == 3)) { printf(“got the value\n”); }</a:t>
            </a:r>
          </a:p>
          <a:p>
            <a:r>
              <a:rPr lang="en-US" altLang="en-US"/>
              <a:t>Incorrect:</a:t>
            </a:r>
          </a:p>
          <a:p>
            <a:pPr marL="742950" lvl="2" indent="-342900">
              <a:buFont typeface="Monotype Sorts" pitchFamily="2" charset="2"/>
              <a:buChar char="z"/>
            </a:pPr>
            <a:r>
              <a:rPr lang="en-US" altLang="en-US"/>
              <a:t>if ((x = good_pointer) &amp;&amp; x-&gt;field1 == 3)) { printf(“got the value\n”); }</a:t>
            </a:r>
          </a:p>
        </p:txBody>
      </p:sp>
      <p:sp>
        <p:nvSpPr>
          <p:cNvPr id="82948" name="Content Placeholder 6">
            <a:extLst>
              <a:ext uri="{FF2B5EF4-FFF2-40B4-BE49-F238E27FC236}">
                <a16:creationId xmlns:a16="http://schemas.microsoft.com/office/drawing/2014/main" id="{ADEB7ED0-7DF6-E6B2-1B1C-AD72CBE390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/>
              <a:t>Incorrect code changes pointer.</a:t>
            </a:r>
          </a:p>
          <a:p>
            <a:pPr lvl="1"/>
            <a:r>
              <a:rPr lang="en-US" altLang="en-US"/>
              <a:t>Assignment returns new LHS in C.</a:t>
            </a:r>
          </a:p>
          <a:p>
            <a:r>
              <a:rPr lang="en-US" altLang="en-US"/>
              <a:t>Test that catches error:</a:t>
            </a:r>
          </a:p>
          <a:p>
            <a:pPr lvl="1"/>
            <a:r>
              <a:rPr lang="en-US" altLang="en-US"/>
              <a:t>(x != good_pointer) &amp;&amp; x-&gt;field1 = 3)</a:t>
            </a:r>
          </a:p>
        </p:txBody>
      </p:sp>
      <p:sp>
        <p:nvSpPr>
          <p:cNvPr id="82949" name="Date Placeholder 3">
            <a:extLst>
              <a:ext uri="{FF2B5EF4-FFF2-40B4-BE49-F238E27FC236}">
                <a16:creationId xmlns:a16="http://schemas.microsoft.com/office/drawing/2014/main" id="{7F503B85-6CFB-AF86-46C9-40D5C9E6B6B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2950" name="Footer Placeholder 4">
            <a:extLst>
              <a:ext uri="{FF2B5EF4-FFF2-40B4-BE49-F238E27FC236}">
                <a16:creationId xmlns:a16="http://schemas.microsoft.com/office/drawing/2014/main" id="{6C7995CC-CC07-79A5-EDCF-31970E0A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C5B083-E69A-A552-EEC3-D933F9CCC8BF}"/>
              </a:ext>
            </a:extLst>
          </p:cNvPr>
          <p:cNvCxnSpPr/>
          <p:nvPr/>
        </p:nvCxnSpPr>
        <p:spPr bwMode="auto">
          <a:xfrm rot="10800000" flipV="1">
            <a:off x="2057400" y="2667000"/>
            <a:ext cx="2895600" cy="13716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D11B86B3-8780-0F38-79EB-ED096D4B2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Domain testing</a:t>
            </a:r>
          </a:p>
        </p:txBody>
      </p:sp>
      <p:sp>
        <p:nvSpPr>
          <p:cNvPr id="83971" name="Content Placeholder 5">
            <a:extLst>
              <a:ext uri="{FF2B5EF4-FFF2-40B4-BE49-F238E27FC236}">
                <a16:creationId xmlns:a16="http://schemas.microsoft.com/office/drawing/2014/main" id="{76E1212C-56F7-5A89-7DF7-7F0F444A97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Heuristic test for linear inequalities.</a:t>
            </a:r>
          </a:p>
          <a:p>
            <a:r>
              <a:rPr lang="en-US" altLang="en-US"/>
              <a:t>Test on each side + boundary of inequality.</a:t>
            </a:r>
          </a:p>
        </p:txBody>
      </p:sp>
      <p:pic>
        <p:nvPicPr>
          <p:cNvPr id="83972" name="Content Placeholder 7" descr="f05-28-P374397.eps">
            <a:extLst>
              <a:ext uri="{FF2B5EF4-FFF2-40B4-BE49-F238E27FC236}">
                <a16:creationId xmlns:a16="http://schemas.microsoft.com/office/drawing/2014/main" id="{3A854C73-18E7-935D-F5C8-333533CA01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22800" y="2035175"/>
            <a:ext cx="4013200" cy="3873500"/>
          </a:xfrm>
        </p:spPr>
      </p:pic>
      <p:sp>
        <p:nvSpPr>
          <p:cNvPr id="83973" name="Date Placeholder 3">
            <a:extLst>
              <a:ext uri="{FF2B5EF4-FFF2-40B4-BE49-F238E27FC236}">
                <a16:creationId xmlns:a16="http://schemas.microsoft.com/office/drawing/2014/main" id="{EE554A80-4A6E-C9B5-AF49-92EBA6462AD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3974" name="Footer Placeholder 4">
            <a:extLst>
              <a:ext uri="{FF2B5EF4-FFF2-40B4-BE49-F238E27FC236}">
                <a16:creationId xmlns:a16="http://schemas.microsoft.com/office/drawing/2014/main" id="{2313E8F9-92AF-969D-835B-0A3E9D3C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0064D04-C629-7AC8-3B22-D3BA3A751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Def-use pairs</a:t>
            </a:r>
          </a:p>
        </p:txBody>
      </p:sp>
      <p:sp>
        <p:nvSpPr>
          <p:cNvPr id="84995" name="Content Placeholder 5">
            <a:extLst>
              <a:ext uri="{FF2B5EF4-FFF2-40B4-BE49-F238E27FC236}">
                <a16:creationId xmlns:a16="http://schemas.microsoft.com/office/drawing/2014/main" id="{50D652C9-0CA7-4EA0-E709-F048B7B48C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/>
              <a:t>Variable def-use:</a:t>
            </a:r>
          </a:p>
          <a:p>
            <a:pPr lvl="1"/>
            <a:r>
              <a:rPr lang="en-US" altLang="en-US"/>
              <a:t>Def when value is assigned (defined).</a:t>
            </a:r>
          </a:p>
          <a:p>
            <a:pPr lvl="1"/>
            <a:r>
              <a:rPr lang="en-US" altLang="en-US"/>
              <a:t>Use when used on right-hand side.</a:t>
            </a:r>
          </a:p>
          <a:p>
            <a:r>
              <a:rPr lang="en-US" altLang="en-US"/>
              <a:t>Exercise each def-use pair.</a:t>
            </a:r>
          </a:p>
          <a:p>
            <a:pPr lvl="1"/>
            <a:r>
              <a:rPr lang="en-US" altLang="en-US"/>
              <a:t>Requires testing correct path.</a:t>
            </a:r>
          </a:p>
        </p:txBody>
      </p:sp>
      <p:pic>
        <p:nvPicPr>
          <p:cNvPr id="84996" name="Content Placeholder 7" descr="f05-29-P374397.eps">
            <a:extLst>
              <a:ext uri="{FF2B5EF4-FFF2-40B4-BE49-F238E27FC236}">
                <a16:creationId xmlns:a16="http://schemas.microsoft.com/office/drawing/2014/main" id="{AF920791-C74E-BEFC-D0B0-FB2662FAF9F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2362200"/>
            <a:ext cx="2928938" cy="2378075"/>
          </a:xfrm>
        </p:spPr>
      </p:pic>
      <p:sp>
        <p:nvSpPr>
          <p:cNvPr id="84997" name="Date Placeholder 3">
            <a:extLst>
              <a:ext uri="{FF2B5EF4-FFF2-40B4-BE49-F238E27FC236}">
                <a16:creationId xmlns:a16="http://schemas.microsoft.com/office/drawing/2014/main" id="{9D4A6F6B-12AD-83BC-DB1B-0F1BDEB4EB5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4998" name="Footer Placeholder 4">
            <a:extLst>
              <a:ext uri="{FF2B5EF4-FFF2-40B4-BE49-F238E27FC236}">
                <a16:creationId xmlns:a16="http://schemas.microsoft.com/office/drawing/2014/main" id="{323539E3-23F5-F5D0-0723-85505EAE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Date Placeholder 3">
            <a:extLst>
              <a:ext uri="{FF2B5EF4-FFF2-40B4-BE49-F238E27FC236}">
                <a16:creationId xmlns:a16="http://schemas.microsoft.com/office/drawing/2014/main" id="{2AB13EFB-36B5-AF43-14EE-05A27094BC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6019" name="Footer Placeholder 4">
            <a:extLst>
              <a:ext uri="{FF2B5EF4-FFF2-40B4-BE49-F238E27FC236}">
                <a16:creationId xmlns:a16="http://schemas.microsoft.com/office/drawing/2014/main" id="{74D4B2AB-30E6-DDE0-AC55-50F10B31C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6020" name="Rectangle 2">
            <a:extLst>
              <a:ext uri="{FF2B5EF4-FFF2-40B4-BE49-F238E27FC236}">
                <a16:creationId xmlns:a16="http://schemas.microsoft.com/office/drawing/2014/main" id="{35920305-512A-B800-C141-6930759EE2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Loop testing</a:t>
            </a:r>
          </a:p>
        </p:txBody>
      </p:sp>
      <p:sp>
        <p:nvSpPr>
          <p:cNvPr id="86021" name="Rectangle 3">
            <a:extLst>
              <a:ext uri="{FF2B5EF4-FFF2-40B4-BE49-F238E27FC236}">
                <a16:creationId xmlns:a16="http://schemas.microsoft.com/office/drawing/2014/main" id="{80C48E40-2207-9EE7-4329-4436EC0D1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Loops need specialized tests to be tested efficiently.</a:t>
            </a:r>
          </a:p>
          <a:p>
            <a:r>
              <a:rPr lang="en-US" altLang="en-US"/>
              <a:t>Heuristic testing strategy:</a:t>
            </a:r>
          </a:p>
          <a:p>
            <a:pPr lvl="1"/>
            <a:r>
              <a:rPr lang="en-US" altLang="en-US"/>
              <a:t>Skip loop entirely.</a:t>
            </a:r>
          </a:p>
          <a:p>
            <a:pPr lvl="1"/>
            <a:r>
              <a:rPr lang="en-US" altLang="en-US"/>
              <a:t>One loop iteration.</a:t>
            </a:r>
          </a:p>
          <a:p>
            <a:pPr lvl="1"/>
            <a:r>
              <a:rPr lang="en-US" altLang="en-US"/>
              <a:t>Two loop iterations.</a:t>
            </a:r>
          </a:p>
          <a:p>
            <a:pPr lvl="1"/>
            <a:r>
              <a:rPr lang="en-US" altLang="en-US"/>
              <a:t># iterations much below max.</a:t>
            </a:r>
          </a:p>
          <a:p>
            <a:pPr lvl="1"/>
            <a:r>
              <a:rPr lang="en-US" altLang="en-US"/>
              <a:t>n-1, n, n+1 iterations where n is max.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Date Placeholder 3">
            <a:extLst>
              <a:ext uri="{FF2B5EF4-FFF2-40B4-BE49-F238E27FC236}">
                <a16:creationId xmlns:a16="http://schemas.microsoft.com/office/drawing/2014/main" id="{1836849F-7312-052F-CC61-B3838B28D5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7043" name="Footer Placeholder 4">
            <a:extLst>
              <a:ext uri="{FF2B5EF4-FFF2-40B4-BE49-F238E27FC236}">
                <a16:creationId xmlns:a16="http://schemas.microsoft.com/office/drawing/2014/main" id="{C7AE0EEB-3D5E-F13C-DDC5-C11DD8EF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7044" name="Rectangle 2">
            <a:extLst>
              <a:ext uri="{FF2B5EF4-FFF2-40B4-BE49-F238E27FC236}">
                <a16:creationId xmlns:a16="http://schemas.microsoft.com/office/drawing/2014/main" id="{01A980BD-E5C7-FAE5-C767-D843A7008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Black-box testing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C34178BF-4CBD-A97E-406C-D6C3FD20C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Complements clear-box testing.</a:t>
            </a:r>
          </a:p>
          <a:p>
            <a:pPr lvl="1"/>
            <a:r>
              <a:rPr lang="en-US" altLang="en-US"/>
              <a:t>May require a large number of tests.</a:t>
            </a:r>
          </a:p>
          <a:p>
            <a:r>
              <a:rPr lang="en-US" altLang="en-US"/>
              <a:t>Tests software in different ways.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Date Placeholder 3">
            <a:extLst>
              <a:ext uri="{FF2B5EF4-FFF2-40B4-BE49-F238E27FC236}">
                <a16:creationId xmlns:a16="http://schemas.microsoft.com/office/drawing/2014/main" id="{A7A80AD8-82F4-B3D8-1E5F-BC05782ACD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8067" name="Footer Placeholder 4">
            <a:extLst>
              <a:ext uri="{FF2B5EF4-FFF2-40B4-BE49-F238E27FC236}">
                <a16:creationId xmlns:a16="http://schemas.microsoft.com/office/drawing/2014/main" id="{A4E2AA74-3EB2-E685-DE0B-09605B1A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9A3183D5-AA75-9E06-F95B-68839AA97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Black-box test vectors</a:t>
            </a:r>
          </a:p>
        </p:txBody>
      </p:sp>
      <p:sp>
        <p:nvSpPr>
          <p:cNvPr id="88069" name="Rectangle 3">
            <a:extLst>
              <a:ext uri="{FF2B5EF4-FFF2-40B4-BE49-F238E27FC236}">
                <a16:creationId xmlns:a16="http://schemas.microsoft.com/office/drawing/2014/main" id="{9D066F20-DD6B-8237-7587-8035A66AF4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Random tests.</a:t>
            </a:r>
          </a:p>
          <a:p>
            <a:pPr lvl="1"/>
            <a:r>
              <a:rPr lang="en-US" altLang="en-US"/>
              <a:t>May weight distribution based on software specification.</a:t>
            </a:r>
          </a:p>
          <a:p>
            <a:r>
              <a:rPr lang="en-US" altLang="en-US"/>
              <a:t>Regression tests.</a:t>
            </a:r>
          </a:p>
          <a:p>
            <a:pPr lvl="1"/>
            <a:r>
              <a:rPr lang="en-US" altLang="en-US"/>
              <a:t>Tests of previous versions, bugs, etc.</a:t>
            </a:r>
          </a:p>
          <a:p>
            <a:pPr lvl="1"/>
            <a:r>
              <a:rPr lang="en-US" altLang="en-US"/>
              <a:t>May be clear-box tests of previous versions.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Date Placeholder 3">
            <a:extLst>
              <a:ext uri="{FF2B5EF4-FFF2-40B4-BE49-F238E27FC236}">
                <a16:creationId xmlns:a16="http://schemas.microsoft.com/office/drawing/2014/main" id="{2430C01C-4C3D-46C0-9D7B-53AD0CD5382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© 2008 Wayne Wolf</a:t>
            </a:r>
          </a:p>
        </p:txBody>
      </p:sp>
      <p:sp>
        <p:nvSpPr>
          <p:cNvPr id="89091" name="Footer Placeholder 4">
            <a:extLst>
              <a:ext uri="{FF2B5EF4-FFF2-40B4-BE49-F238E27FC236}">
                <a16:creationId xmlns:a16="http://schemas.microsoft.com/office/drawing/2014/main" id="{509A455C-E92C-A09A-7E2D-8337A9E5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>
                <a:solidFill>
                  <a:schemeClr val="bg2"/>
                </a:solidFill>
                <a:latin typeface="Arial" panose="020B0604020202020204" pitchFamily="34" charset="0"/>
              </a:rPr>
              <a:t>Overheads for 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Computers as Components 2</a:t>
            </a:r>
            <a:r>
              <a:rPr lang="en-US" altLang="en-US" sz="1400" i="1" baseline="30000">
                <a:solidFill>
                  <a:schemeClr val="bg2"/>
                </a:solidFill>
                <a:latin typeface="Arial" panose="020B0604020202020204" pitchFamily="34" charset="0"/>
              </a:rPr>
              <a:t>nd</a:t>
            </a:r>
            <a:r>
              <a:rPr lang="en-US" altLang="en-US" sz="1400" i="1">
                <a:solidFill>
                  <a:schemeClr val="bg2"/>
                </a:solidFill>
                <a:latin typeface="Arial" panose="020B0604020202020204" pitchFamily="34" charset="0"/>
              </a:rPr>
              <a:t> ed.</a:t>
            </a:r>
            <a:endParaRPr lang="en-US" altLang="en-US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89092" name="Rectangle 2">
            <a:extLst>
              <a:ext uri="{FF2B5EF4-FFF2-40B4-BE49-F238E27FC236}">
                <a16:creationId xmlns:a16="http://schemas.microsoft.com/office/drawing/2014/main" id="{90F46B04-38C4-D0D4-055E-2B529D934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much testing is enough?</a:t>
            </a:r>
          </a:p>
        </p:txBody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C4766F81-3355-572F-A485-CFF600585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Exhaustive testing is impractical.</a:t>
            </a:r>
          </a:p>
          <a:p>
            <a:r>
              <a:rPr lang="en-US" altLang="en-US" sz="2800"/>
              <a:t>One important measure of test quality---bugs escaping into field.</a:t>
            </a:r>
          </a:p>
          <a:p>
            <a:r>
              <a:rPr lang="en-US" altLang="en-US" sz="2800"/>
              <a:t>Good organizations can test software to give very low field bug report rates.</a:t>
            </a:r>
          </a:p>
          <a:p>
            <a:r>
              <a:rPr lang="en-US" altLang="en-US" sz="2800"/>
              <a:t>Error injection measures test quality:</a:t>
            </a:r>
          </a:p>
          <a:p>
            <a:pPr lvl="1"/>
            <a:r>
              <a:rPr lang="en-US" altLang="en-US" sz="2400"/>
              <a:t>Add known bugs.</a:t>
            </a:r>
          </a:p>
          <a:p>
            <a:pPr lvl="1"/>
            <a:r>
              <a:rPr lang="en-US" altLang="en-US" sz="2400"/>
              <a:t>Run your tests.</a:t>
            </a:r>
          </a:p>
          <a:p>
            <a:pPr lvl="1"/>
            <a:r>
              <a:rPr lang="en-US" altLang="en-US" sz="2400"/>
              <a:t>Determine % injected bugs that are caught.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mporary Portrait">
  <a:themeElements>
    <a:clrScheme name="Contemporary Portrait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ontemporary Portrait">
      <a:majorFont>
        <a:latin typeface="Arial Black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ntemporary Portrait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Portrait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Portrait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 Portrait.pot</Template>
  <TotalTime>804</TotalTime>
  <Words>4403</Words>
  <Application>Microsoft Office PowerPoint</Application>
  <PresentationFormat>On-screen Show (4:3)</PresentationFormat>
  <Paragraphs>803</Paragraphs>
  <Slides>85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5" baseType="lpstr">
      <vt:lpstr>Arial</vt:lpstr>
      <vt:lpstr>Arial Black</vt:lpstr>
      <vt:lpstr>Arial Unicode MS</vt:lpstr>
      <vt:lpstr>Calibri</vt:lpstr>
      <vt:lpstr>Monotype Sorts</vt:lpstr>
      <vt:lpstr>Symbol</vt:lpstr>
      <vt:lpstr>Tahoma</vt:lpstr>
      <vt:lpstr>Times New Roman</vt:lpstr>
      <vt:lpstr>Wingdings</vt:lpstr>
      <vt:lpstr>Contemporary Portrait</vt:lpstr>
      <vt:lpstr>Program design and analysis</vt:lpstr>
      <vt:lpstr>Compilation</vt:lpstr>
      <vt:lpstr>Basic compilation phases</vt:lpstr>
      <vt:lpstr>Statement translation and optimization</vt:lpstr>
      <vt:lpstr>Statement translation and optimization</vt:lpstr>
      <vt:lpstr>Arithmetic expressions</vt:lpstr>
      <vt:lpstr>Arithmetic expressions, cont’d.</vt:lpstr>
      <vt:lpstr>Control code generation</vt:lpstr>
      <vt:lpstr>Control code generation, cont’d.</vt:lpstr>
      <vt:lpstr>Procedure linkage</vt:lpstr>
      <vt:lpstr>Procedure stacks</vt:lpstr>
      <vt:lpstr>ARM procedure linkage</vt:lpstr>
      <vt:lpstr>Data structures</vt:lpstr>
      <vt:lpstr>One-dimensional arrays</vt:lpstr>
      <vt:lpstr>Two-dimensional arrays</vt:lpstr>
      <vt:lpstr>Structures</vt:lpstr>
      <vt:lpstr>Expression simplification</vt:lpstr>
      <vt:lpstr>Dead code elimination</vt:lpstr>
      <vt:lpstr>Procedure inlining</vt:lpstr>
      <vt:lpstr>Loop transformations</vt:lpstr>
      <vt:lpstr>Loop unrolling</vt:lpstr>
      <vt:lpstr>Loop fusion and distribution</vt:lpstr>
      <vt:lpstr>Loop tiling</vt:lpstr>
      <vt:lpstr>Loop tiling example</vt:lpstr>
      <vt:lpstr>Array padding</vt:lpstr>
      <vt:lpstr>Register allocation</vt:lpstr>
      <vt:lpstr>Register lifetime graph</vt:lpstr>
      <vt:lpstr>Instruction scheduling</vt:lpstr>
      <vt:lpstr>Reservation table</vt:lpstr>
      <vt:lpstr>Software pipelining</vt:lpstr>
      <vt:lpstr>Instruction selection</vt:lpstr>
      <vt:lpstr>Using your compiler</vt:lpstr>
      <vt:lpstr>Interpreters and JIT compilers</vt:lpstr>
      <vt:lpstr>Program design and analysis</vt:lpstr>
      <vt:lpstr>Program-level performance analysis</vt:lpstr>
      <vt:lpstr>Complexities of program performance</vt:lpstr>
      <vt:lpstr>How to measure program performance</vt:lpstr>
      <vt:lpstr>Program performance metrics</vt:lpstr>
      <vt:lpstr>Elements of program performance</vt:lpstr>
      <vt:lpstr>Data-dependent paths in an if statement</vt:lpstr>
      <vt:lpstr>Paths in a loop</vt:lpstr>
      <vt:lpstr>Instruction timing</vt:lpstr>
      <vt:lpstr>Mesaurement-driven performance analysis</vt:lpstr>
      <vt:lpstr>Feeding the program</vt:lpstr>
      <vt:lpstr>Trace-driven measurement</vt:lpstr>
      <vt:lpstr>Physical measurement</vt:lpstr>
      <vt:lpstr>CPU simulation</vt:lpstr>
      <vt:lpstr>SimpleScalar FIR filter simulation</vt:lpstr>
      <vt:lpstr>Performance optimization motivation</vt:lpstr>
      <vt:lpstr>Programs and performance analysis</vt:lpstr>
      <vt:lpstr>Loop optimizations</vt:lpstr>
      <vt:lpstr>Code motion</vt:lpstr>
      <vt:lpstr>Induction variable elimination</vt:lpstr>
      <vt:lpstr>Cache analysis</vt:lpstr>
      <vt:lpstr>Array conflicts in cache</vt:lpstr>
      <vt:lpstr>Array conflicts, cont’d.</vt:lpstr>
      <vt:lpstr>Performance optimization hints</vt:lpstr>
      <vt:lpstr>Energy/power optimization</vt:lpstr>
      <vt:lpstr>Measuring energy consumption</vt:lpstr>
      <vt:lpstr>Sources of energy consumption</vt:lpstr>
      <vt:lpstr>Cache behavior is important</vt:lpstr>
      <vt:lpstr>Cache sweet spot</vt:lpstr>
      <vt:lpstr>Optimizing for energy</vt:lpstr>
      <vt:lpstr>Optimizing for energy, cont’d.</vt:lpstr>
      <vt:lpstr>Efficient loops</vt:lpstr>
      <vt:lpstr>Single-instruction repeat loop example</vt:lpstr>
      <vt:lpstr>Optimizing for program size</vt:lpstr>
      <vt:lpstr>Data size minimization</vt:lpstr>
      <vt:lpstr>Reducing code size</vt:lpstr>
      <vt:lpstr>Program validation and testing</vt:lpstr>
      <vt:lpstr>Clear-box testing</vt:lpstr>
      <vt:lpstr>Controlling and observing programs</vt:lpstr>
      <vt:lpstr>Execution paths and testing</vt:lpstr>
      <vt:lpstr>Choosing the paths to test</vt:lpstr>
      <vt:lpstr>Basis paths</vt:lpstr>
      <vt:lpstr>Cyclomatic complexity</vt:lpstr>
      <vt:lpstr>Branch testing</vt:lpstr>
      <vt:lpstr>Branch testing example</vt:lpstr>
      <vt:lpstr>Another branch testing example</vt:lpstr>
      <vt:lpstr>Domain testing</vt:lpstr>
      <vt:lpstr>Def-use pairs</vt:lpstr>
      <vt:lpstr>Loop testing</vt:lpstr>
      <vt:lpstr>Black-box testing</vt:lpstr>
      <vt:lpstr>Black-box test vectors</vt:lpstr>
      <vt:lpstr>How much testing is enough?</vt:lpstr>
    </vt:vector>
  </TitlesOfParts>
  <Company>Princeton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Wayne Wolf</dc:creator>
  <cp:lastModifiedBy>Anusha N</cp:lastModifiedBy>
  <cp:revision>43</cp:revision>
  <dcterms:created xsi:type="dcterms:W3CDTF">2000-07-09T10:33:27Z</dcterms:created>
  <dcterms:modified xsi:type="dcterms:W3CDTF">2024-02-27T15:45:26Z</dcterms:modified>
</cp:coreProperties>
</file>