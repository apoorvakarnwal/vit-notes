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54"/>
  </p:notesMasterIdLst>
  <p:sldIdLst>
    <p:sldId id="256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5" r:id="rId12"/>
    <p:sldId id="294" r:id="rId13"/>
    <p:sldId id="296" r:id="rId14"/>
    <p:sldId id="297" r:id="rId15"/>
    <p:sldId id="298" r:id="rId16"/>
    <p:sldId id="257" r:id="rId17"/>
    <p:sldId id="262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99" r:id="rId30"/>
    <p:sldId id="278" r:id="rId31"/>
    <p:sldId id="279" r:id="rId32"/>
    <p:sldId id="283" r:id="rId33"/>
    <p:sldId id="284" r:id="rId34"/>
    <p:sldId id="280" r:id="rId35"/>
    <p:sldId id="281" r:id="rId36"/>
    <p:sldId id="282" r:id="rId37"/>
    <p:sldId id="300" r:id="rId38"/>
    <p:sldId id="301" r:id="rId39"/>
    <p:sldId id="302" r:id="rId40"/>
    <p:sldId id="303" r:id="rId41"/>
    <p:sldId id="304" r:id="rId42"/>
    <p:sldId id="305" r:id="rId43"/>
    <p:sldId id="306" r:id="rId44"/>
    <p:sldId id="307" r:id="rId45"/>
    <p:sldId id="308" r:id="rId46"/>
    <p:sldId id="309" r:id="rId47"/>
    <p:sldId id="310" r:id="rId48"/>
    <p:sldId id="311" r:id="rId49"/>
    <p:sldId id="312" r:id="rId50"/>
    <p:sldId id="313" r:id="rId51"/>
    <p:sldId id="314" r:id="rId52"/>
    <p:sldId id="315" r:id="rId5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FF"/>
    <a:srgbClr val="99FF66"/>
    <a:srgbClr val="99CC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39C6DFB-E5D7-CB7A-AF32-9372FAE3DD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535B47-4FD8-F81D-4ADA-59ACF8C43A2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CF4DCC4-CF95-4C71-BF8A-0989B6046D4A}" type="datetimeFigureOut">
              <a:rPr lang="en-US"/>
              <a:pPr>
                <a:defRPr/>
              </a:pPr>
              <a:t>2/20/2024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702B3B0-63E1-5483-2CB0-1C10B528D7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3A5FB48-BD9A-CBEA-953A-77F2B67F91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C862D-956C-020A-DF8C-635C13A0128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FCF87-8BF3-617F-88FA-46031BDAD4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3FE1D76-1DDD-4927-8BE5-BCF896B5B52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>
            <a:extLst>
              <a:ext uri="{FF2B5EF4-FFF2-40B4-BE49-F238E27FC236}">
                <a16:creationId xmlns:a16="http://schemas.microsoft.com/office/drawing/2014/main" id="{F8FD1EEC-6BE6-0207-5997-C280BBEBBC2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>
            <a:extLst>
              <a:ext uri="{FF2B5EF4-FFF2-40B4-BE49-F238E27FC236}">
                <a16:creationId xmlns:a16="http://schemas.microsoft.com/office/drawing/2014/main" id="{6D905855-BF25-FA6A-0C7F-4049EA230F7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7348" name="Slide Number Placeholder 3">
            <a:extLst>
              <a:ext uri="{FF2B5EF4-FFF2-40B4-BE49-F238E27FC236}">
                <a16:creationId xmlns:a16="http://schemas.microsoft.com/office/drawing/2014/main" id="{CAD54BF6-40C6-B671-69DD-1429F480CB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A9C4061-39D7-40F7-AB9C-9FE71A5164B7}" type="slidenum">
              <a:rPr lang="en-US" altLang="en-US" sz="1200"/>
              <a:pPr/>
              <a:t>32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>
            <a:extLst>
              <a:ext uri="{FF2B5EF4-FFF2-40B4-BE49-F238E27FC236}">
                <a16:creationId xmlns:a16="http://schemas.microsoft.com/office/drawing/2014/main" id="{301A9946-0FA1-C867-C1B6-BCB40726530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Notes Placeholder 2">
            <a:extLst>
              <a:ext uri="{FF2B5EF4-FFF2-40B4-BE49-F238E27FC236}">
                <a16:creationId xmlns:a16="http://schemas.microsoft.com/office/drawing/2014/main" id="{15D2A658-28CC-9722-4221-D72DEF440C7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8372" name="Slide Number Placeholder 3">
            <a:extLst>
              <a:ext uri="{FF2B5EF4-FFF2-40B4-BE49-F238E27FC236}">
                <a16:creationId xmlns:a16="http://schemas.microsoft.com/office/drawing/2014/main" id="{5214C438-0B83-FB17-ED6E-1BE6D18C6C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92C8356-68ED-4418-A2FE-88A8A624A857}" type="slidenum">
              <a:rPr lang="en-US" altLang="en-US" sz="1200"/>
              <a:pPr/>
              <a:t>33</a:t>
            </a:fld>
            <a:endParaRPr lang="en-US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A:\paint.GIF">
            <a:extLst>
              <a:ext uri="{FF2B5EF4-FFF2-40B4-BE49-F238E27FC236}">
                <a16:creationId xmlns:a16="http://schemas.microsoft.com/office/drawing/2014/main" id="{E1BD3C9E-FEE0-8D99-3F72-8268F5D02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28800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7721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3886200"/>
            <a:ext cx="6400800" cy="1771650"/>
          </a:xfrm>
        </p:spPr>
        <p:txBody>
          <a:bodyPr/>
          <a:lstStyle>
            <a:lvl1pPr marL="0" indent="0">
              <a:buFont typeface="Monotype Sorts" pitchFamily="2" charset="2"/>
              <a:buNone/>
              <a:defRPr>
                <a:latin typeface="Arial Black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E0FFB3-300C-F6AE-9BB7-530A9CCE2E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11200" y="6229350"/>
            <a:ext cx="1930400" cy="514350"/>
          </a:xfrm>
        </p:spPr>
        <p:txBody>
          <a:bodyPr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877633-0585-6D04-5226-C1DD6689DB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49600" y="6229350"/>
            <a:ext cx="2844800" cy="514350"/>
          </a:xfrm>
        </p:spPr>
        <p:txBody>
          <a:bodyPr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9C28B8-6782-D342-4A0A-76D4D07475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04000" y="6229350"/>
            <a:ext cx="1828800" cy="514350"/>
          </a:xfrm>
        </p:spPr>
        <p:txBody>
          <a:bodyPr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fld id="{0334D1C3-2DAF-471C-8449-EBAD7E6649B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2838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E4C837C-2A8A-3926-5D49-C183CA8021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Morgan Kaufman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6BF0C73-A3FB-D062-685A-9BEEB0F715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</a:t>
            </a:r>
            <a:r>
              <a:rPr lang="en-US" i="1"/>
              <a:t>Computers as Components</a:t>
            </a: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681DC40-EF88-EC2D-013C-336249596D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59C5D9-2E52-47DF-AAC3-C7FB8D9657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1374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C15FD4F-DD17-F04E-5FF3-9A704B4CD3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Morgan Kaufman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CC595B3-63FE-05F5-2784-7B94D5E87B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</a:t>
            </a:r>
            <a:r>
              <a:rPr lang="en-US" i="1"/>
              <a:t>Computers as Components</a:t>
            </a: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25A2171-73DC-0E5C-6A09-B189C9CC44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1E4716-D411-44DB-9AA8-DAB05D80E04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6678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85950"/>
            <a:ext cx="4013200" cy="4171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2800" y="1885950"/>
            <a:ext cx="4013200" cy="4171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54675A-7AA8-6DCD-3701-1A01D68B6A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Morgan Kaufman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FFE676-F8A7-E46D-6E55-4D424FA53E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</a:t>
            </a:r>
            <a:r>
              <a:rPr lang="en-US" i="1"/>
              <a:t>Computers as Components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C5D5A5-085F-02AA-74E2-BC345BB18E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61D00C-6BA0-48FC-8E0E-A0F697E059D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6424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D7E8D87-A6D5-D2F0-6AF5-57D86E3C92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Morgan Kaufman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BA0FA01-469F-1FED-EBF9-A27BC6E317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</a:t>
            </a:r>
            <a:r>
              <a:rPr lang="en-US" i="1"/>
              <a:t>Computers as Components</a:t>
            </a: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B369D0E-80FC-9CBD-067F-7337962702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A5A882-125A-4B73-8713-A980D942A0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4083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45B4F7D-C7E4-8DDD-708E-E279447B20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Morgan Kaufman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A62C1D6-D866-A223-075A-F0AF3F8A96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</a:t>
            </a:r>
            <a:r>
              <a:rPr lang="en-US" i="1"/>
              <a:t>Computers as Components</a:t>
            </a: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B1C528A-EA96-067A-0572-B81CE12DC9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FBE3B6-AF7F-4544-9434-7662D72D26D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6619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4472346-EDB8-CE15-DEAA-D6FC482EDF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Morgan Kaufman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F2812C0-22C5-815C-12F8-8FBD500498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</a:t>
            </a:r>
            <a:r>
              <a:rPr lang="en-US" i="1"/>
              <a:t>Computers as Components</a:t>
            </a: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95F7431-7EF3-A8F9-E49E-4B793577C2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285C81-8CEA-40A8-B73B-52A46713554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4873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2754B5-7DF4-AD2C-6806-6CC28E7B38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Morgan Kaufman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B2AC2B-2973-293F-51F1-E95E7AE660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</a:t>
            </a:r>
            <a:r>
              <a:rPr lang="en-US" i="1"/>
              <a:t>Computers as Components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2FFD15-3E57-485E-A657-AFC7F1D47D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B7ED6C-1A95-4868-95E1-05C81358AA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321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F05334-D98D-E922-A620-B508960570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Morgan Kaufman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B62CC4-8F20-7029-E85B-2367BC7D51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</a:t>
            </a:r>
            <a:r>
              <a:rPr lang="en-US" i="1"/>
              <a:t>Computers as Components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75E810-AFC2-9AC1-61E6-AA46560CC1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F5E418-A54D-4DB0-A4F0-A0619F09C7C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5999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6E26931-218A-77D0-4E17-955B6ACE6A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Morgan Kaufman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9AEFDE8-5DF3-B3BC-20E5-DE49671891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</a:t>
            </a:r>
            <a:r>
              <a:rPr lang="en-US" i="1"/>
              <a:t>Computers as Components</a:t>
            </a: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5513F1E-D464-39C6-51A4-239DC1DB6D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8E895F-87B4-4C39-B089-E28DDE1E0B5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013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8600" y="228600"/>
            <a:ext cx="2057400" cy="5829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6400" y="228600"/>
            <a:ext cx="6019800" cy="582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7FD18AB-FC04-1DFF-3BF1-8EEEAC53F5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Morgan Kaufman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4C51C49-FA5A-9488-BACE-43624F61F1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</a:t>
            </a:r>
            <a:r>
              <a:rPr lang="en-US" i="1"/>
              <a:t>Computers as Components</a:t>
            </a: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42AD441-B1D0-D3FB-00ED-E4C00D641C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A980D9-FE35-4F30-985E-0847B6BEA12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0836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B6FAE68-B849-3BD5-3E04-C32015DAB1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6539925-BA83-3F0E-52AF-702AE5B2F1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85950"/>
            <a:ext cx="8178800" cy="417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961D1ECA-48E9-E17D-DAFD-116CBFBD188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31800" y="622935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solidFill>
                  <a:schemeClr val="bg2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© 2000 Morgan Kaufman</a:t>
            </a: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6FA6DEAB-4072-B01E-E142-17C005EADDC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2935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solidFill>
                  <a:schemeClr val="bg2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Overheads for </a:t>
            </a:r>
            <a:r>
              <a:rPr lang="en-US" i="1"/>
              <a:t>Computers as Components</a:t>
            </a:r>
            <a:endParaRPr lang="en-US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5F936983-F86B-EBD5-EDCD-63D54370392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1000" y="622935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fld id="{540005CA-8942-44D8-A3C9-B4BB2011836C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1031" name="Picture 7" descr="A:\paint.GIF">
            <a:extLst>
              <a:ext uri="{FF2B5EF4-FFF2-40B4-BE49-F238E27FC236}">
                <a16:creationId xmlns:a16="http://schemas.microsoft.com/office/drawing/2014/main" id="{A99D9C96-7A89-C08D-5530-77AC4D334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314450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Monotype Sorts" pitchFamily="2" charset="2"/>
        <a:buChar char="z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Monotype Sorts" pitchFamily="2" charset="2"/>
        <a:buChar char="y"/>
        <a:defRPr kumimoji="1"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Monotype Sorts" pitchFamily="2" charset="2"/>
        <a:buChar char="x"/>
        <a:defRPr kumimoji="1"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Date Placeholder 3">
            <a:extLst>
              <a:ext uri="{FF2B5EF4-FFF2-40B4-BE49-F238E27FC236}">
                <a16:creationId xmlns:a16="http://schemas.microsoft.com/office/drawing/2014/main" id="{30B3A98D-3312-0DD0-6267-A1B863F2D6B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3075" name="Footer Placeholder 4">
            <a:extLst>
              <a:ext uri="{FF2B5EF4-FFF2-40B4-BE49-F238E27FC236}">
                <a16:creationId xmlns:a16="http://schemas.microsoft.com/office/drawing/2014/main" id="{5CF18BD1-A3D1-18D7-AE55-0EB24903B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076" name="Rectangle 2">
            <a:extLst>
              <a:ext uri="{FF2B5EF4-FFF2-40B4-BE49-F238E27FC236}">
                <a16:creationId xmlns:a16="http://schemas.microsoft.com/office/drawing/2014/main" id="{578BF425-81CA-BAAC-63CD-58575BA066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Program design and analysis</a:t>
            </a:r>
          </a:p>
        </p:txBody>
      </p:sp>
      <p:sp>
        <p:nvSpPr>
          <p:cNvPr id="3077" name="Rectangle 3">
            <a:extLst>
              <a:ext uri="{FF2B5EF4-FFF2-40B4-BE49-F238E27FC236}">
                <a16:creationId xmlns:a16="http://schemas.microsoft.com/office/drawing/2014/main" id="{DF3247E4-6986-5384-F8D2-05D0C5E56B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Program-level performance analysis.</a:t>
            </a:r>
          </a:p>
          <a:p>
            <a:r>
              <a:rPr lang="en-US" altLang="en-US"/>
              <a:t>Optimizing for:</a:t>
            </a:r>
          </a:p>
          <a:p>
            <a:pPr lvl="1"/>
            <a:r>
              <a:rPr lang="en-US" altLang="en-US"/>
              <a:t>Execution time.</a:t>
            </a:r>
          </a:p>
          <a:p>
            <a:pPr lvl="1"/>
            <a:r>
              <a:rPr lang="en-US" altLang="en-US"/>
              <a:t>Energy/power.</a:t>
            </a:r>
          </a:p>
          <a:p>
            <a:pPr lvl="1"/>
            <a:r>
              <a:rPr lang="en-US" altLang="en-US"/>
              <a:t>Program size.</a:t>
            </a:r>
          </a:p>
          <a:p>
            <a:r>
              <a:rPr lang="en-US" altLang="en-US"/>
              <a:t>Program validation and testing.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15403E6-8003-0CDC-3F9B-A6249912FE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Program-level performance analysis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81446F7A-ECC7-4A25-2D7A-53B0543A763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 sz="2400"/>
              <a:t>Need to understand performance in detail:</a:t>
            </a:r>
          </a:p>
          <a:p>
            <a:pPr lvl="1"/>
            <a:r>
              <a:rPr lang="en-US" altLang="en-US" sz="2000"/>
              <a:t>Real-time behavior, not just typical.</a:t>
            </a:r>
          </a:p>
          <a:p>
            <a:pPr lvl="1"/>
            <a:r>
              <a:rPr lang="en-US" altLang="en-US" sz="2000"/>
              <a:t>On complex platforms.</a:t>
            </a:r>
          </a:p>
          <a:p>
            <a:r>
              <a:rPr lang="en-US" altLang="en-US" sz="2400"/>
              <a:t>Program performance </a:t>
            </a:r>
            <a:r>
              <a:rPr lang="en-US" altLang="en-US" sz="2400">
                <a:latin typeface="Symbol" panose="05050102010706020507" pitchFamily="18" charset="2"/>
              </a:rPr>
              <a:t>¹</a:t>
            </a:r>
            <a:r>
              <a:rPr lang="en-US" altLang="en-US" sz="2400"/>
              <a:t> CPU performance:</a:t>
            </a:r>
          </a:p>
          <a:p>
            <a:pPr lvl="1"/>
            <a:r>
              <a:rPr lang="en-US" altLang="en-US" sz="2000"/>
              <a:t>Pipeline, cache are windows into program.</a:t>
            </a:r>
          </a:p>
          <a:p>
            <a:pPr lvl="1"/>
            <a:r>
              <a:rPr lang="en-US" altLang="en-US" sz="2000"/>
              <a:t>We must analyze the entire program.</a:t>
            </a:r>
          </a:p>
        </p:txBody>
      </p:sp>
      <p:sp>
        <p:nvSpPr>
          <p:cNvPr id="4100" name="Date Placeholder 3">
            <a:extLst>
              <a:ext uri="{FF2B5EF4-FFF2-40B4-BE49-F238E27FC236}">
                <a16:creationId xmlns:a16="http://schemas.microsoft.com/office/drawing/2014/main" id="{98FECCA8-BDA1-945B-51CD-984C1832440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4101" name="Footer Placeholder 4">
            <a:extLst>
              <a:ext uri="{FF2B5EF4-FFF2-40B4-BE49-F238E27FC236}">
                <a16:creationId xmlns:a16="http://schemas.microsoft.com/office/drawing/2014/main" id="{5408F9E3-2327-064F-B27D-0476D98E9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pic>
        <p:nvPicPr>
          <p:cNvPr id="4102" name="Picture 6" descr="f05-22-P374397.eps">
            <a:extLst>
              <a:ext uri="{FF2B5EF4-FFF2-40B4-BE49-F238E27FC236}">
                <a16:creationId xmlns:a16="http://schemas.microsoft.com/office/drawing/2014/main" id="{8ED741EB-41F9-7B8E-61CC-35D242B3C8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362200"/>
            <a:ext cx="4886325" cy="220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Date Placeholder 3">
            <a:extLst>
              <a:ext uri="{FF2B5EF4-FFF2-40B4-BE49-F238E27FC236}">
                <a16:creationId xmlns:a16="http://schemas.microsoft.com/office/drawing/2014/main" id="{741698C8-9083-0265-92D3-A85AF184928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5123" name="Footer Placeholder 4">
            <a:extLst>
              <a:ext uri="{FF2B5EF4-FFF2-40B4-BE49-F238E27FC236}">
                <a16:creationId xmlns:a16="http://schemas.microsoft.com/office/drawing/2014/main" id="{ED2D0D77-3055-32D6-D1F6-D605B779A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5124" name="Rectangle 2">
            <a:extLst>
              <a:ext uri="{FF2B5EF4-FFF2-40B4-BE49-F238E27FC236}">
                <a16:creationId xmlns:a16="http://schemas.microsoft.com/office/drawing/2014/main" id="{A1ECAE9E-CCF8-1EBB-E99E-76B781DA83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Complexities of program performance</a:t>
            </a:r>
          </a:p>
        </p:txBody>
      </p:sp>
      <p:sp>
        <p:nvSpPr>
          <p:cNvPr id="5125" name="Rectangle 3">
            <a:extLst>
              <a:ext uri="{FF2B5EF4-FFF2-40B4-BE49-F238E27FC236}">
                <a16:creationId xmlns:a16="http://schemas.microsoft.com/office/drawing/2014/main" id="{69759364-950F-2819-51A2-E7DEF8C3AB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Varies with input data:</a:t>
            </a:r>
          </a:p>
          <a:p>
            <a:pPr lvl="1"/>
            <a:r>
              <a:rPr lang="en-US" altLang="en-US"/>
              <a:t>Different-length paths.</a:t>
            </a:r>
          </a:p>
          <a:p>
            <a:r>
              <a:rPr lang="en-US" altLang="en-US"/>
              <a:t>Cache effects.</a:t>
            </a:r>
          </a:p>
          <a:p>
            <a:r>
              <a:rPr lang="en-US" altLang="en-US"/>
              <a:t>Instruction-level performance variations:</a:t>
            </a:r>
          </a:p>
          <a:p>
            <a:pPr lvl="1"/>
            <a:r>
              <a:rPr lang="en-US" altLang="en-US"/>
              <a:t>Pipeline interlocks.</a:t>
            </a:r>
          </a:p>
          <a:p>
            <a:pPr lvl="1"/>
            <a:r>
              <a:rPr lang="en-US" altLang="en-US"/>
              <a:t>Fetch times.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Date Placeholder 3">
            <a:extLst>
              <a:ext uri="{FF2B5EF4-FFF2-40B4-BE49-F238E27FC236}">
                <a16:creationId xmlns:a16="http://schemas.microsoft.com/office/drawing/2014/main" id="{D0F30123-6BAC-258B-6274-B6C9B725596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6147" name="Footer Placeholder 4">
            <a:extLst>
              <a:ext uri="{FF2B5EF4-FFF2-40B4-BE49-F238E27FC236}">
                <a16:creationId xmlns:a16="http://schemas.microsoft.com/office/drawing/2014/main" id="{E77C9549-6CDD-8E40-DCB6-CB834FE2F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8926C6CC-1840-ED5C-B816-F646B9F254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How to measure program performance</a:t>
            </a:r>
          </a:p>
        </p:txBody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F442F343-A5F4-EDCB-C08F-36A88FD697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Simulate execution of the CPU.</a:t>
            </a:r>
          </a:p>
          <a:p>
            <a:pPr lvl="1"/>
            <a:r>
              <a:rPr lang="en-US" altLang="en-US"/>
              <a:t>Makes CPU state visible.</a:t>
            </a:r>
          </a:p>
          <a:p>
            <a:r>
              <a:rPr lang="en-US" altLang="en-US"/>
              <a:t>Measure on real CPU using timer.</a:t>
            </a:r>
          </a:p>
          <a:p>
            <a:pPr lvl="1"/>
            <a:r>
              <a:rPr lang="en-US" altLang="en-US"/>
              <a:t>Requires modifying the program to control the timer.</a:t>
            </a:r>
          </a:p>
          <a:p>
            <a:r>
              <a:rPr lang="en-US" altLang="en-US"/>
              <a:t>Measure on real CPU using logic analyzer.</a:t>
            </a:r>
          </a:p>
          <a:p>
            <a:pPr lvl="1"/>
            <a:r>
              <a:rPr lang="en-US" altLang="en-US"/>
              <a:t>Requires events visible on the pins.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>
            <a:extLst>
              <a:ext uri="{FF2B5EF4-FFF2-40B4-BE49-F238E27FC236}">
                <a16:creationId xmlns:a16="http://schemas.microsoft.com/office/drawing/2014/main" id="{2D663F2B-AE80-10EE-A68A-1843E7DFD1C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7171" name="Footer Placeholder 4">
            <a:extLst>
              <a:ext uri="{FF2B5EF4-FFF2-40B4-BE49-F238E27FC236}">
                <a16:creationId xmlns:a16="http://schemas.microsoft.com/office/drawing/2014/main" id="{E92B8717-FEE6-A359-670E-CCDE53181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CB68EF82-39B1-3BED-1097-1EED28ABCF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Program performance metrics</a:t>
            </a:r>
          </a:p>
        </p:txBody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7C2BB5CC-7E3D-F6E0-27A3-9D527A3FC4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Average-case execution time.</a:t>
            </a:r>
          </a:p>
          <a:p>
            <a:pPr lvl="1"/>
            <a:r>
              <a:rPr lang="en-US" altLang="en-US"/>
              <a:t>Typically used in application programming.</a:t>
            </a:r>
          </a:p>
          <a:p>
            <a:r>
              <a:rPr lang="en-US" altLang="en-US"/>
              <a:t>Worst-case execution time.</a:t>
            </a:r>
          </a:p>
          <a:p>
            <a:pPr lvl="1"/>
            <a:r>
              <a:rPr lang="en-US" altLang="en-US"/>
              <a:t>A component in deadline satisfaction.</a:t>
            </a:r>
          </a:p>
          <a:p>
            <a:r>
              <a:rPr lang="en-US" altLang="en-US"/>
              <a:t>Best-case execution time.</a:t>
            </a:r>
          </a:p>
          <a:p>
            <a:pPr lvl="1"/>
            <a:r>
              <a:rPr lang="en-US" altLang="en-US"/>
              <a:t>Task-level interactions can cause best-case program behavior to result in worst-case system behavior.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Date Placeholder 3">
            <a:extLst>
              <a:ext uri="{FF2B5EF4-FFF2-40B4-BE49-F238E27FC236}">
                <a16:creationId xmlns:a16="http://schemas.microsoft.com/office/drawing/2014/main" id="{AFDB3A56-ED0A-78F1-56B6-C0B73843643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8195" name="Footer Placeholder 4">
            <a:extLst>
              <a:ext uri="{FF2B5EF4-FFF2-40B4-BE49-F238E27FC236}">
                <a16:creationId xmlns:a16="http://schemas.microsoft.com/office/drawing/2014/main" id="{B35F5613-E3F6-E659-EF31-989AE0A52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5D1DEFD1-E6D5-6BCE-36C6-732877EF6D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Elements of program performance</a:t>
            </a:r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E4C04696-A1A8-5514-BAD3-2F86ED5B90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/>
              <a:t>Basic program execution time formula:</a:t>
            </a:r>
          </a:p>
          <a:p>
            <a:pPr lvl="1"/>
            <a:r>
              <a:rPr lang="en-US" altLang="en-US" sz="2400">
                <a:solidFill>
                  <a:srgbClr val="FF0000"/>
                </a:solidFill>
              </a:rPr>
              <a:t>execution time = program path + instruction timing</a:t>
            </a:r>
          </a:p>
          <a:p>
            <a:r>
              <a:rPr lang="en-US" altLang="en-US" sz="2800"/>
              <a:t>Solving these problems independently helps simplify analysis.</a:t>
            </a:r>
          </a:p>
          <a:p>
            <a:pPr lvl="1"/>
            <a:r>
              <a:rPr lang="en-US" altLang="en-US" sz="2400"/>
              <a:t>Easier to separate on simpler CPUs.</a:t>
            </a:r>
          </a:p>
          <a:p>
            <a:r>
              <a:rPr lang="en-US" altLang="en-US" sz="2800"/>
              <a:t>Accurate performance analysis requires:</a:t>
            </a:r>
          </a:p>
          <a:p>
            <a:pPr lvl="1"/>
            <a:r>
              <a:rPr lang="en-US" altLang="en-US" sz="2400"/>
              <a:t>Assembly/binary code.</a:t>
            </a:r>
          </a:p>
          <a:p>
            <a:pPr lvl="1"/>
            <a:r>
              <a:rPr lang="en-US" altLang="en-US" sz="2400"/>
              <a:t>Execution platform.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D5FD2CA2-9ABD-E0D5-6D3B-682082A76A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Data-dependent paths in an if statement</a:t>
            </a:r>
          </a:p>
        </p:txBody>
      </p:sp>
      <p:sp>
        <p:nvSpPr>
          <p:cNvPr id="9219" name="Content Placeholder 5">
            <a:extLst>
              <a:ext uri="{FF2B5EF4-FFF2-40B4-BE49-F238E27FC236}">
                <a16:creationId xmlns:a16="http://schemas.microsoft.com/office/drawing/2014/main" id="{8FC80454-D53C-7BCE-F735-A777C7A16D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 sz="2000"/>
              <a:t>if (a || b) { /* T1 */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	if ( c ) /* T2 */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		x = r*s+t; /* A1 */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	else y=r+s; /* A2 */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	z = r+s+u; /* A3 */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	}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else {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	if ( c ) /* T3 */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		y = r-t; /* A4 */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}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9144A61D-7A00-4126-C9B0-FDDF9A007BF3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622800" y="1885950"/>
          <a:ext cx="4013200" cy="3336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769">
                <a:tc>
                  <a:txBody>
                    <a:bodyPr/>
                    <a:lstStyle/>
                    <a:p>
                      <a:r>
                        <a:rPr lang="en-US" sz="1800" dirty="0"/>
                        <a:t>a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path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T1=F, T3=F: no assignments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T1=F, T3=T: A4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T1=T, T2=F:</a:t>
                      </a:r>
                      <a:r>
                        <a:rPr lang="en-US" sz="1600" baseline="0" dirty="0"/>
                        <a:t> A2, A3</a:t>
                      </a:r>
                      <a:endParaRPr lang="en-US" sz="1600" dirty="0"/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T1=T, T2=T: A1, A3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T1=T, T2=F: A2,</a:t>
                      </a:r>
                      <a:r>
                        <a:rPr lang="en-US" sz="1600" baseline="0" dirty="0"/>
                        <a:t> A3</a:t>
                      </a:r>
                      <a:endParaRPr lang="en-US" sz="1600" dirty="0"/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T1=T, T2=T:</a:t>
                      </a:r>
                      <a:r>
                        <a:rPr lang="en-US" sz="1600" baseline="0" dirty="0"/>
                        <a:t> A1, A3</a:t>
                      </a:r>
                      <a:endParaRPr lang="en-US" sz="1600" dirty="0"/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T1=T, T2=F:</a:t>
                      </a:r>
                      <a:r>
                        <a:rPr lang="en-US" sz="1600" baseline="0" dirty="0"/>
                        <a:t> A2, A3</a:t>
                      </a:r>
                      <a:endParaRPr lang="en-US" sz="1600" dirty="0"/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T1=T, T2=T:</a:t>
                      </a:r>
                      <a:r>
                        <a:rPr lang="en-US" sz="1600" baseline="0" dirty="0"/>
                        <a:t> A1, A3</a:t>
                      </a:r>
                      <a:endParaRPr lang="en-US" sz="1600" dirty="0"/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272" name="Date Placeholder 3">
            <a:extLst>
              <a:ext uri="{FF2B5EF4-FFF2-40B4-BE49-F238E27FC236}">
                <a16:creationId xmlns:a16="http://schemas.microsoft.com/office/drawing/2014/main" id="{8A175830-293D-2A65-C0C8-4DBE7F92562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9273" name="Footer Placeholder 4">
            <a:extLst>
              <a:ext uri="{FF2B5EF4-FFF2-40B4-BE49-F238E27FC236}">
                <a16:creationId xmlns:a16="http://schemas.microsoft.com/office/drawing/2014/main" id="{1B0F5B50-17C3-60A2-44B9-B88F4D78F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16D0E73-80D3-37DE-F016-431FA69073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Paths in a loop</a:t>
            </a:r>
          </a:p>
        </p:txBody>
      </p:sp>
      <p:sp>
        <p:nvSpPr>
          <p:cNvPr id="10243" name="Content Placeholder 5">
            <a:extLst>
              <a:ext uri="{FF2B5EF4-FFF2-40B4-BE49-F238E27FC236}">
                <a16:creationId xmlns:a16="http://schemas.microsoft.com/office/drawing/2014/main" id="{11AB5374-A4BC-0815-12CC-3677424D4E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 sz="2400"/>
              <a:t>for (i=0, f=0; i&lt;N; i++) 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	f = f + c[i] * x[i];</a:t>
            </a:r>
          </a:p>
        </p:txBody>
      </p:sp>
      <p:sp>
        <p:nvSpPr>
          <p:cNvPr id="10244" name="Date Placeholder 3">
            <a:extLst>
              <a:ext uri="{FF2B5EF4-FFF2-40B4-BE49-F238E27FC236}">
                <a16:creationId xmlns:a16="http://schemas.microsoft.com/office/drawing/2014/main" id="{41DBBD49-23DD-6094-2DC3-C5372861E7C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10245" name="Footer Placeholder 4">
            <a:extLst>
              <a:ext uri="{FF2B5EF4-FFF2-40B4-BE49-F238E27FC236}">
                <a16:creationId xmlns:a16="http://schemas.microsoft.com/office/drawing/2014/main" id="{461DEFA8-85BD-311B-36E6-6CF0F6D55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0246" name="Rectangle 7">
            <a:extLst>
              <a:ext uri="{FF2B5EF4-FFF2-40B4-BE49-F238E27FC236}">
                <a16:creationId xmlns:a16="http://schemas.microsoft.com/office/drawing/2014/main" id="{A0EE4941-7A3A-BBA9-8A62-052EACE67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905000"/>
            <a:ext cx="1066800" cy="914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i=0</a:t>
            </a:r>
          </a:p>
          <a:p>
            <a:pPr algn="ctr"/>
            <a:r>
              <a:rPr lang="en-US" altLang="en-US"/>
              <a:t>f=0</a:t>
            </a:r>
          </a:p>
        </p:txBody>
      </p:sp>
      <p:sp>
        <p:nvSpPr>
          <p:cNvPr id="10247" name="Hexagon 8">
            <a:extLst>
              <a:ext uri="{FF2B5EF4-FFF2-40B4-BE49-F238E27FC236}">
                <a16:creationId xmlns:a16="http://schemas.microsoft.com/office/drawing/2014/main" id="{84DFC098-8047-4632-480C-46C271A4E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200400"/>
            <a:ext cx="1066800" cy="609600"/>
          </a:xfrm>
          <a:prstGeom prst="hexagon">
            <a:avLst>
              <a:gd name="adj" fmla="val 25002"/>
              <a:gd name="vf" fmla="val 11547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i=N</a:t>
            </a:r>
          </a:p>
        </p:txBody>
      </p:sp>
      <p:sp>
        <p:nvSpPr>
          <p:cNvPr id="10248" name="Rectangle 9">
            <a:extLst>
              <a:ext uri="{FF2B5EF4-FFF2-40B4-BE49-F238E27FC236}">
                <a16:creationId xmlns:a16="http://schemas.microsoft.com/office/drawing/2014/main" id="{0ED892D0-5CED-60FF-480D-FFE1720D1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267200"/>
            <a:ext cx="2438400" cy="533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f = f + c[i] * x[i]</a:t>
            </a:r>
          </a:p>
        </p:txBody>
      </p:sp>
      <p:sp>
        <p:nvSpPr>
          <p:cNvPr id="10249" name="Rectangle 10">
            <a:extLst>
              <a:ext uri="{FF2B5EF4-FFF2-40B4-BE49-F238E27FC236}">
                <a16:creationId xmlns:a16="http://schemas.microsoft.com/office/drawing/2014/main" id="{B23908FE-D8A1-1688-AB54-895E44787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5181600"/>
            <a:ext cx="2438400" cy="533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i = i + 1</a:t>
            </a:r>
          </a:p>
        </p:txBody>
      </p:sp>
      <p:cxnSp>
        <p:nvCxnSpPr>
          <p:cNvPr id="10250" name="Straight Arrow Connector 12">
            <a:extLst>
              <a:ext uri="{FF2B5EF4-FFF2-40B4-BE49-F238E27FC236}">
                <a16:creationId xmlns:a16="http://schemas.microsoft.com/office/drawing/2014/main" id="{4427716C-A8A5-BB6C-F4C0-1FDF4D5C92E5}"/>
              </a:ext>
            </a:extLst>
          </p:cNvPr>
          <p:cNvCxnSpPr>
            <a:cxnSpLocks noChangeShapeType="1"/>
            <a:stCxn id="10246" idx="2"/>
          </p:cNvCxnSpPr>
          <p:nvPr/>
        </p:nvCxnSpPr>
        <p:spPr bwMode="auto">
          <a:xfrm rot="5400000">
            <a:off x="6438901" y="3009900"/>
            <a:ext cx="381000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51" name="Straight Arrow Connector 14">
            <a:extLst>
              <a:ext uri="{FF2B5EF4-FFF2-40B4-BE49-F238E27FC236}">
                <a16:creationId xmlns:a16="http://schemas.microsoft.com/office/drawing/2014/main" id="{872FF1FE-3A63-6E56-9584-C8C9E3D78CFE}"/>
              </a:ext>
            </a:extLst>
          </p:cNvPr>
          <p:cNvCxnSpPr>
            <a:cxnSpLocks noChangeShapeType="1"/>
            <a:stCxn id="10247" idx="2"/>
          </p:cNvCxnSpPr>
          <p:nvPr/>
        </p:nvCxnSpPr>
        <p:spPr bwMode="auto">
          <a:xfrm rot="10800000">
            <a:off x="5562600" y="3505200"/>
            <a:ext cx="5334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52" name="TextBox 16">
            <a:extLst>
              <a:ext uri="{FF2B5EF4-FFF2-40B4-BE49-F238E27FC236}">
                <a16:creationId xmlns:a16="http://schemas.microsoft.com/office/drawing/2014/main" id="{B7013E82-83A0-D893-33D0-A0F66230F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895600"/>
            <a:ext cx="4079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N</a:t>
            </a:r>
          </a:p>
        </p:txBody>
      </p:sp>
      <p:sp>
        <p:nvSpPr>
          <p:cNvPr id="10253" name="TextBox 17">
            <a:extLst>
              <a:ext uri="{FF2B5EF4-FFF2-40B4-BE49-F238E27FC236}">
                <a16:creationId xmlns:a16="http://schemas.microsoft.com/office/drawing/2014/main" id="{002B08FA-3386-4AFC-5348-55200BBDF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3810000"/>
            <a:ext cx="4079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Y</a:t>
            </a:r>
          </a:p>
        </p:txBody>
      </p:sp>
      <p:cxnSp>
        <p:nvCxnSpPr>
          <p:cNvPr id="10254" name="Straight Arrow Connector 21">
            <a:extLst>
              <a:ext uri="{FF2B5EF4-FFF2-40B4-BE49-F238E27FC236}">
                <a16:creationId xmlns:a16="http://schemas.microsoft.com/office/drawing/2014/main" id="{C9B1DDBB-D34E-5CB4-FB12-87A64BF51346}"/>
              </a:ext>
            </a:extLst>
          </p:cNvPr>
          <p:cNvCxnSpPr>
            <a:cxnSpLocks noChangeShapeType="1"/>
            <a:endCxn id="10248" idx="0"/>
          </p:cNvCxnSpPr>
          <p:nvPr/>
        </p:nvCxnSpPr>
        <p:spPr bwMode="auto">
          <a:xfrm rot="5400000">
            <a:off x="6402388" y="4038600"/>
            <a:ext cx="455612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55" name="Straight Arrow Connector 26">
            <a:extLst>
              <a:ext uri="{FF2B5EF4-FFF2-40B4-BE49-F238E27FC236}">
                <a16:creationId xmlns:a16="http://schemas.microsoft.com/office/drawing/2014/main" id="{3EE0964B-83D7-2EA9-D4D3-4D0DDBABF57C}"/>
              </a:ext>
            </a:extLst>
          </p:cNvPr>
          <p:cNvCxnSpPr>
            <a:cxnSpLocks noChangeShapeType="1"/>
            <a:stCxn id="10248" idx="2"/>
            <a:endCxn id="10249" idx="0"/>
          </p:cNvCxnSpPr>
          <p:nvPr/>
        </p:nvCxnSpPr>
        <p:spPr bwMode="auto">
          <a:xfrm rot="5400000">
            <a:off x="6438901" y="4991100"/>
            <a:ext cx="381000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56" name="Straight Connector 30">
            <a:extLst>
              <a:ext uri="{FF2B5EF4-FFF2-40B4-BE49-F238E27FC236}">
                <a16:creationId xmlns:a16="http://schemas.microsoft.com/office/drawing/2014/main" id="{77F7A9D3-A2EA-D29D-87A5-4EF6196231D9}"/>
              </a:ext>
            </a:extLst>
          </p:cNvPr>
          <p:cNvCxnSpPr>
            <a:cxnSpLocks noChangeShapeType="1"/>
            <a:stCxn id="10249" idx="2"/>
          </p:cNvCxnSpPr>
          <p:nvPr/>
        </p:nvCxnSpPr>
        <p:spPr bwMode="auto">
          <a:xfrm rot="5400000">
            <a:off x="6515101" y="5829300"/>
            <a:ext cx="228600" cy="317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57" name="Straight Connector 32">
            <a:extLst>
              <a:ext uri="{FF2B5EF4-FFF2-40B4-BE49-F238E27FC236}">
                <a16:creationId xmlns:a16="http://schemas.microsoft.com/office/drawing/2014/main" id="{5AFBCC60-FAF7-2A95-0BB7-6AF346967DFD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5029200" y="5943600"/>
            <a:ext cx="16002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58" name="Straight Connector 34">
            <a:extLst>
              <a:ext uri="{FF2B5EF4-FFF2-40B4-BE49-F238E27FC236}">
                <a16:creationId xmlns:a16="http://schemas.microsoft.com/office/drawing/2014/main" id="{332457AA-8E57-EBB3-C10C-EA8C344F1C54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3390901" y="4305300"/>
            <a:ext cx="3276600" cy="317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59" name="Straight Connector 38">
            <a:extLst>
              <a:ext uri="{FF2B5EF4-FFF2-40B4-BE49-F238E27FC236}">
                <a16:creationId xmlns:a16="http://schemas.microsoft.com/office/drawing/2014/main" id="{66180794-D2A6-45CC-CA0F-A179605C93D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029200" y="2667000"/>
            <a:ext cx="5334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60" name="Straight Arrow Connector 40">
            <a:extLst>
              <a:ext uri="{FF2B5EF4-FFF2-40B4-BE49-F238E27FC236}">
                <a16:creationId xmlns:a16="http://schemas.microsoft.com/office/drawing/2014/main" id="{8C823E65-580F-A236-A665-33ADC1013A19}"/>
              </a:ext>
            </a:extLst>
          </p:cNvPr>
          <p:cNvCxnSpPr>
            <a:cxnSpLocks noChangeShapeType="1"/>
            <a:endCxn id="10247" idx="3"/>
          </p:cNvCxnSpPr>
          <p:nvPr/>
        </p:nvCxnSpPr>
        <p:spPr bwMode="auto">
          <a:xfrm>
            <a:off x="5562600" y="2667000"/>
            <a:ext cx="685800" cy="533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58F6772-86A2-C1BA-226E-3DDEDB38DD47}"/>
              </a:ext>
            </a:extLst>
          </p:cNvPr>
          <p:cNvCxnSpPr/>
          <p:nvPr/>
        </p:nvCxnSpPr>
        <p:spPr bwMode="auto">
          <a:xfrm rot="5400000">
            <a:off x="5867401" y="2286000"/>
            <a:ext cx="1371600" cy="317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E979C93-BDED-35D9-2A6E-F3962FCFC04C}"/>
              </a:ext>
            </a:extLst>
          </p:cNvPr>
          <p:cNvCxnSpPr/>
          <p:nvPr/>
        </p:nvCxnSpPr>
        <p:spPr bwMode="auto">
          <a:xfrm rot="5400000">
            <a:off x="5181601" y="4419600"/>
            <a:ext cx="2743200" cy="317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E58DFD6-7D7B-8B5F-631E-BCACAE6C152B}"/>
              </a:ext>
            </a:extLst>
          </p:cNvPr>
          <p:cNvCxnSpPr/>
          <p:nvPr/>
        </p:nvCxnSpPr>
        <p:spPr bwMode="auto">
          <a:xfrm rot="5400000">
            <a:off x="6210301" y="3314700"/>
            <a:ext cx="381000" cy="317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662E9E8-D38B-3941-D7CE-202BD8D77555}"/>
              </a:ext>
            </a:extLst>
          </p:cNvPr>
          <p:cNvCxnSpPr/>
          <p:nvPr/>
        </p:nvCxnSpPr>
        <p:spPr bwMode="auto">
          <a:xfrm rot="10800000">
            <a:off x="5715000" y="3505200"/>
            <a:ext cx="685800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Date Placeholder 3">
            <a:extLst>
              <a:ext uri="{FF2B5EF4-FFF2-40B4-BE49-F238E27FC236}">
                <a16:creationId xmlns:a16="http://schemas.microsoft.com/office/drawing/2014/main" id="{3DA2EA98-3152-3390-2065-BCFED4A1DAD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11267" name="Footer Placeholder 4">
            <a:extLst>
              <a:ext uri="{FF2B5EF4-FFF2-40B4-BE49-F238E27FC236}">
                <a16:creationId xmlns:a16="http://schemas.microsoft.com/office/drawing/2014/main" id="{C9A9C1CA-6AF8-28C9-6807-D5962BCBF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1268" name="Rectangle 2">
            <a:extLst>
              <a:ext uri="{FF2B5EF4-FFF2-40B4-BE49-F238E27FC236}">
                <a16:creationId xmlns:a16="http://schemas.microsoft.com/office/drawing/2014/main" id="{5886E95F-4EBC-5C92-2098-4629488A9B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Instruction timing</a:t>
            </a:r>
          </a:p>
        </p:txBody>
      </p:sp>
      <p:sp>
        <p:nvSpPr>
          <p:cNvPr id="11269" name="Rectangle 3">
            <a:extLst>
              <a:ext uri="{FF2B5EF4-FFF2-40B4-BE49-F238E27FC236}">
                <a16:creationId xmlns:a16="http://schemas.microsoft.com/office/drawing/2014/main" id="{279D202E-ADA8-220B-D711-DABCFFD5D2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Not all instructions take the same amount of time.</a:t>
            </a:r>
          </a:p>
          <a:p>
            <a:pPr lvl="1"/>
            <a:r>
              <a:rPr lang="en-US" altLang="en-US" sz="2000"/>
              <a:t>Multi-cycle instructions.</a:t>
            </a:r>
          </a:p>
          <a:p>
            <a:pPr lvl="1"/>
            <a:r>
              <a:rPr lang="en-US" altLang="en-US" sz="2000"/>
              <a:t>Fetches.</a:t>
            </a:r>
          </a:p>
          <a:p>
            <a:r>
              <a:rPr lang="en-US" altLang="en-US" sz="2400"/>
              <a:t>Execution times of instructions are not independent.</a:t>
            </a:r>
          </a:p>
          <a:p>
            <a:pPr lvl="1"/>
            <a:r>
              <a:rPr lang="en-US" altLang="en-US" sz="2000"/>
              <a:t>Pipeline interlocks.</a:t>
            </a:r>
          </a:p>
          <a:p>
            <a:pPr lvl="1"/>
            <a:r>
              <a:rPr lang="en-US" altLang="en-US" sz="2000"/>
              <a:t>Cache effects.</a:t>
            </a:r>
          </a:p>
          <a:p>
            <a:r>
              <a:rPr lang="en-US" altLang="en-US" sz="2400"/>
              <a:t>Execution times may vary with operand value.</a:t>
            </a:r>
          </a:p>
          <a:p>
            <a:pPr lvl="1"/>
            <a:r>
              <a:rPr lang="en-US" altLang="en-US" sz="2000"/>
              <a:t>Floating-point operations.</a:t>
            </a:r>
          </a:p>
          <a:p>
            <a:pPr lvl="1"/>
            <a:r>
              <a:rPr lang="en-US" altLang="en-US" sz="2000"/>
              <a:t>Some multi-cycle integer operations.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Date Placeholder 3">
            <a:extLst>
              <a:ext uri="{FF2B5EF4-FFF2-40B4-BE49-F238E27FC236}">
                <a16:creationId xmlns:a16="http://schemas.microsoft.com/office/drawing/2014/main" id="{29215B93-7595-58DF-8B9F-3A705A6B7A5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12291" name="Footer Placeholder 4">
            <a:extLst>
              <a:ext uri="{FF2B5EF4-FFF2-40B4-BE49-F238E27FC236}">
                <a16:creationId xmlns:a16="http://schemas.microsoft.com/office/drawing/2014/main" id="{5671F107-6D3E-2958-E442-9EE430333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2292" name="Rectangle 2">
            <a:extLst>
              <a:ext uri="{FF2B5EF4-FFF2-40B4-BE49-F238E27FC236}">
                <a16:creationId xmlns:a16="http://schemas.microsoft.com/office/drawing/2014/main" id="{45FA5FAC-7206-6A0C-B158-6CEB4815AC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Mesaurement-driven performance analysis</a:t>
            </a:r>
          </a:p>
        </p:txBody>
      </p:sp>
      <p:sp>
        <p:nvSpPr>
          <p:cNvPr id="12293" name="Rectangle 3">
            <a:extLst>
              <a:ext uri="{FF2B5EF4-FFF2-40B4-BE49-F238E27FC236}">
                <a16:creationId xmlns:a16="http://schemas.microsoft.com/office/drawing/2014/main" id="{505050DB-D99A-557E-31E8-C7954CFBD4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Not so easy as it sounds:</a:t>
            </a:r>
          </a:p>
          <a:p>
            <a:pPr lvl="1"/>
            <a:r>
              <a:rPr lang="en-US" altLang="en-US"/>
              <a:t>Must actually have access to the CPU.</a:t>
            </a:r>
          </a:p>
          <a:p>
            <a:pPr lvl="1"/>
            <a:r>
              <a:rPr lang="en-US" altLang="en-US"/>
              <a:t>Must know data inputs that give worst/best case performance.</a:t>
            </a:r>
          </a:p>
          <a:p>
            <a:pPr lvl="1"/>
            <a:r>
              <a:rPr lang="en-US" altLang="en-US"/>
              <a:t>Must make state visible.</a:t>
            </a:r>
          </a:p>
          <a:p>
            <a:r>
              <a:rPr lang="en-US" altLang="en-US"/>
              <a:t>Still an important method for performance analysis.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Date Placeholder 3">
            <a:extLst>
              <a:ext uri="{FF2B5EF4-FFF2-40B4-BE49-F238E27FC236}">
                <a16:creationId xmlns:a16="http://schemas.microsoft.com/office/drawing/2014/main" id="{4915198E-6779-9B6A-F238-19633052881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13315" name="Footer Placeholder 4">
            <a:extLst>
              <a:ext uri="{FF2B5EF4-FFF2-40B4-BE49-F238E27FC236}">
                <a16:creationId xmlns:a16="http://schemas.microsoft.com/office/drawing/2014/main" id="{412F6100-366B-14D2-BB29-8EAE037D8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7FA407F9-7308-D89E-3367-5C32E29298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Feeding the program</a:t>
            </a:r>
          </a:p>
        </p:txBody>
      </p:sp>
      <p:sp>
        <p:nvSpPr>
          <p:cNvPr id="13317" name="Rectangle 3">
            <a:extLst>
              <a:ext uri="{FF2B5EF4-FFF2-40B4-BE49-F238E27FC236}">
                <a16:creationId xmlns:a16="http://schemas.microsoft.com/office/drawing/2014/main" id="{A6FB83D0-7ACF-087A-799F-14E258D99C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Need to know the desired input values.</a:t>
            </a:r>
          </a:p>
          <a:p>
            <a:r>
              <a:rPr lang="en-US" altLang="en-US"/>
              <a:t>May need to write software scaffolding to generate the input values.</a:t>
            </a:r>
          </a:p>
          <a:p>
            <a:r>
              <a:rPr lang="en-US" altLang="en-US"/>
              <a:t>Software scaffolding may also need to examine outputs to generate feedback-driven inputs.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Date Placeholder 3">
            <a:extLst>
              <a:ext uri="{FF2B5EF4-FFF2-40B4-BE49-F238E27FC236}">
                <a16:creationId xmlns:a16="http://schemas.microsoft.com/office/drawing/2014/main" id="{C0B6521F-2DFA-7D68-564B-BBAA658C4FA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14339" name="Footer Placeholder 4">
            <a:extLst>
              <a:ext uri="{FF2B5EF4-FFF2-40B4-BE49-F238E27FC236}">
                <a16:creationId xmlns:a16="http://schemas.microsoft.com/office/drawing/2014/main" id="{2654DBDE-06A8-1482-0842-C3B7DE938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4340" name="Rectangle 2">
            <a:extLst>
              <a:ext uri="{FF2B5EF4-FFF2-40B4-BE49-F238E27FC236}">
                <a16:creationId xmlns:a16="http://schemas.microsoft.com/office/drawing/2014/main" id="{28FD77BE-6022-3A31-D9FF-50673E7EA6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Trace-driven measurement</a:t>
            </a:r>
          </a:p>
        </p:txBody>
      </p:sp>
      <p:sp>
        <p:nvSpPr>
          <p:cNvPr id="14341" name="Rectangle 3">
            <a:extLst>
              <a:ext uri="{FF2B5EF4-FFF2-40B4-BE49-F238E27FC236}">
                <a16:creationId xmlns:a16="http://schemas.microsoft.com/office/drawing/2014/main" id="{CFDD0C8D-3126-50EE-4464-B3733FF1CE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Trace-driven:</a:t>
            </a:r>
          </a:p>
          <a:p>
            <a:pPr lvl="1"/>
            <a:r>
              <a:rPr lang="en-US" altLang="en-US"/>
              <a:t>Instrument the program.</a:t>
            </a:r>
          </a:p>
          <a:p>
            <a:pPr lvl="1"/>
            <a:r>
              <a:rPr lang="en-US" altLang="en-US"/>
              <a:t>Save information about the path.</a:t>
            </a:r>
          </a:p>
          <a:p>
            <a:r>
              <a:rPr lang="en-US" altLang="en-US"/>
              <a:t>Requires modifying the program.</a:t>
            </a:r>
          </a:p>
          <a:p>
            <a:r>
              <a:rPr lang="en-US" altLang="en-US"/>
              <a:t>Trace files are large.</a:t>
            </a:r>
          </a:p>
          <a:p>
            <a:r>
              <a:rPr lang="en-US" altLang="en-US"/>
              <a:t>Widely used for cache analysis.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Date Placeholder 3">
            <a:extLst>
              <a:ext uri="{FF2B5EF4-FFF2-40B4-BE49-F238E27FC236}">
                <a16:creationId xmlns:a16="http://schemas.microsoft.com/office/drawing/2014/main" id="{9DFDD23E-DF67-C02A-A705-5957ABFF0E7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15363" name="Footer Placeholder 4">
            <a:extLst>
              <a:ext uri="{FF2B5EF4-FFF2-40B4-BE49-F238E27FC236}">
                <a16:creationId xmlns:a16="http://schemas.microsoft.com/office/drawing/2014/main" id="{3FCCCA8F-2609-CA65-9D14-A74D2BD52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96E498C2-98F4-7E64-FE60-0FD2B79847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Physical measurement</a:t>
            </a:r>
          </a:p>
        </p:txBody>
      </p:sp>
      <p:sp>
        <p:nvSpPr>
          <p:cNvPr id="15365" name="Rectangle 3">
            <a:extLst>
              <a:ext uri="{FF2B5EF4-FFF2-40B4-BE49-F238E27FC236}">
                <a16:creationId xmlns:a16="http://schemas.microsoft.com/office/drawing/2014/main" id="{D54114EE-CA9D-4AB1-83BB-206C525E8B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/>
              <a:t>In-circuit emulator allows tracing.</a:t>
            </a:r>
          </a:p>
          <a:p>
            <a:pPr lvl="1"/>
            <a:r>
              <a:rPr lang="en-US" altLang="en-US" sz="2400"/>
              <a:t>Affects execution timing.</a:t>
            </a:r>
          </a:p>
          <a:p>
            <a:r>
              <a:rPr lang="en-US" altLang="en-US" sz="2800"/>
              <a:t>Logic analyzer can measure behavior at pins.</a:t>
            </a:r>
          </a:p>
          <a:p>
            <a:pPr lvl="1"/>
            <a:r>
              <a:rPr lang="en-US" altLang="en-US" sz="2400"/>
              <a:t>Address bus can be analyzed to look for events.</a:t>
            </a:r>
          </a:p>
          <a:p>
            <a:pPr lvl="1"/>
            <a:r>
              <a:rPr lang="en-US" altLang="en-US" sz="2400"/>
              <a:t>Code can be modified to make events visible.</a:t>
            </a:r>
          </a:p>
          <a:p>
            <a:r>
              <a:rPr lang="en-US" altLang="en-US" sz="2800"/>
              <a:t>Particularly important for real-world input streams.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Date Placeholder 3">
            <a:extLst>
              <a:ext uri="{FF2B5EF4-FFF2-40B4-BE49-F238E27FC236}">
                <a16:creationId xmlns:a16="http://schemas.microsoft.com/office/drawing/2014/main" id="{25282D97-1251-8440-A13E-B2249EA654E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16387" name="Footer Placeholder 4">
            <a:extLst>
              <a:ext uri="{FF2B5EF4-FFF2-40B4-BE49-F238E27FC236}">
                <a16:creationId xmlns:a16="http://schemas.microsoft.com/office/drawing/2014/main" id="{4620B6E1-8EC4-4078-D862-26EC25485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F9195CAA-FE92-55FA-EDB6-4CCE8A4273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CPU simulation</a:t>
            </a:r>
          </a:p>
        </p:txBody>
      </p:sp>
      <p:sp>
        <p:nvSpPr>
          <p:cNvPr id="16389" name="Rectangle 3">
            <a:extLst>
              <a:ext uri="{FF2B5EF4-FFF2-40B4-BE49-F238E27FC236}">
                <a16:creationId xmlns:a16="http://schemas.microsoft.com/office/drawing/2014/main" id="{E26EA1FF-30DF-1EF2-0C0B-611C3F8761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Some simulators are less accurate.</a:t>
            </a:r>
          </a:p>
          <a:p>
            <a:r>
              <a:rPr lang="en-US" altLang="en-US"/>
              <a:t>Cycle-accurate simulator provides accurate clock-cycle timing.</a:t>
            </a:r>
          </a:p>
          <a:p>
            <a:pPr lvl="1"/>
            <a:r>
              <a:rPr lang="en-US" altLang="en-US"/>
              <a:t>Simulator models CPU internals.</a:t>
            </a:r>
          </a:p>
          <a:p>
            <a:pPr lvl="1"/>
            <a:r>
              <a:rPr lang="en-US" altLang="en-US"/>
              <a:t>Simulator writer must know how CPU works.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79AF074E-E117-52F0-85F4-CE8DA68E45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SimpleScalar FIR filter simulation</a:t>
            </a:r>
          </a:p>
        </p:txBody>
      </p:sp>
      <p:sp>
        <p:nvSpPr>
          <p:cNvPr id="17411" name="Content Placeholder 5">
            <a:extLst>
              <a:ext uri="{FF2B5EF4-FFF2-40B4-BE49-F238E27FC236}">
                <a16:creationId xmlns:a16="http://schemas.microsoft.com/office/drawing/2014/main" id="{D8BA13E4-3BCC-4EFE-3802-E17F125B12C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 sz="2400"/>
              <a:t>int x[N] = {8, 17, … };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int c[N] = {1, 2, … };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main() {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	int i, k, f;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	for (k=0; k&lt;COUNT; k++)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		for (i=0; i&lt;N; i++)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			f += c[i]*x[i];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}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44E98E9-F307-A78F-3D4F-6D6C71BEAB71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622800" y="1885950"/>
          <a:ext cx="4013200" cy="2027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5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543">
                <a:tc>
                  <a:txBody>
                    <a:bodyPr/>
                    <a:lstStyle/>
                    <a:p>
                      <a:r>
                        <a:rPr lang="en-US" sz="1800" dirty="0"/>
                        <a:t>N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total </a:t>
                      </a:r>
                      <a:r>
                        <a:rPr lang="en-US" sz="1800" dirty="0" err="1"/>
                        <a:t>sim</a:t>
                      </a:r>
                      <a:r>
                        <a:rPr lang="en-US" sz="1800" dirty="0"/>
                        <a:t> cycles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sim</a:t>
                      </a:r>
                      <a:r>
                        <a:rPr lang="en-US" sz="1800" dirty="0"/>
                        <a:t> cycles per filter execution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100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25854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259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1,000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155759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156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1,0000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1451840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145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434" name="Date Placeholder 3">
            <a:extLst>
              <a:ext uri="{FF2B5EF4-FFF2-40B4-BE49-F238E27FC236}">
                <a16:creationId xmlns:a16="http://schemas.microsoft.com/office/drawing/2014/main" id="{D2EB01A5-2E49-8C0A-0D0B-EDB82E9BFB4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17435" name="Footer Placeholder 4">
            <a:extLst>
              <a:ext uri="{FF2B5EF4-FFF2-40B4-BE49-F238E27FC236}">
                <a16:creationId xmlns:a16="http://schemas.microsoft.com/office/drawing/2014/main" id="{1B3A8E66-E9F9-FCB9-501E-78CB5D6E8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Date Placeholder 3">
            <a:extLst>
              <a:ext uri="{FF2B5EF4-FFF2-40B4-BE49-F238E27FC236}">
                <a16:creationId xmlns:a16="http://schemas.microsoft.com/office/drawing/2014/main" id="{36A4E5FC-40CC-A9BF-3510-B06F3C17063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18435" name="Footer Placeholder 4">
            <a:extLst>
              <a:ext uri="{FF2B5EF4-FFF2-40B4-BE49-F238E27FC236}">
                <a16:creationId xmlns:a16="http://schemas.microsoft.com/office/drawing/2014/main" id="{DA82217A-18AC-5B97-DEC1-755003064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7BA1D3B0-EFB7-F24D-DEDA-89A43BBB3E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Performance optimization motivation</a:t>
            </a:r>
          </a:p>
        </p:txBody>
      </p:sp>
      <p:sp>
        <p:nvSpPr>
          <p:cNvPr id="18437" name="Rectangle 3">
            <a:extLst>
              <a:ext uri="{FF2B5EF4-FFF2-40B4-BE49-F238E27FC236}">
                <a16:creationId xmlns:a16="http://schemas.microsoft.com/office/drawing/2014/main" id="{A8677086-04EA-DDB6-3398-471787EA04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Embedded systems must often meet deadlines.</a:t>
            </a:r>
          </a:p>
          <a:p>
            <a:pPr lvl="1"/>
            <a:r>
              <a:rPr lang="en-US" altLang="en-US"/>
              <a:t>Faster may not be fast enough.</a:t>
            </a:r>
          </a:p>
          <a:p>
            <a:r>
              <a:rPr lang="en-US" altLang="en-US"/>
              <a:t>Need to be able to analyze execution time.</a:t>
            </a:r>
          </a:p>
          <a:p>
            <a:pPr lvl="1"/>
            <a:r>
              <a:rPr lang="en-US" altLang="en-US"/>
              <a:t>Worst-case, not typical.</a:t>
            </a:r>
          </a:p>
          <a:p>
            <a:r>
              <a:rPr lang="en-US" altLang="en-US"/>
              <a:t>Need techniques for reliably improving execution time.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Date Placeholder 3">
            <a:extLst>
              <a:ext uri="{FF2B5EF4-FFF2-40B4-BE49-F238E27FC236}">
                <a16:creationId xmlns:a16="http://schemas.microsoft.com/office/drawing/2014/main" id="{7E01B4C3-A94F-E2A8-0E21-64C70B802E9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19459" name="Footer Placeholder 4">
            <a:extLst>
              <a:ext uri="{FF2B5EF4-FFF2-40B4-BE49-F238E27FC236}">
                <a16:creationId xmlns:a16="http://schemas.microsoft.com/office/drawing/2014/main" id="{F88CDF22-2C5E-4892-355F-534E3A58A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DB2E01ED-66F8-0902-996A-CB68263EE4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Programs and performance analysis</a:t>
            </a:r>
          </a:p>
        </p:txBody>
      </p:sp>
      <p:sp>
        <p:nvSpPr>
          <p:cNvPr id="19461" name="Rectangle 3">
            <a:extLst>
              <a:ext uri="{FF2B5EF4-FFF2-40B4-BE49-F238E27FC236}">
                <a16:creationId xmlns:a16="http://schemas.microsoft.com/office/drawing/2014/main" id="{5C517703-F0C0-F88A-E61C-B703902479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Best results come from analyzing optimized instructions, not high-level language code:</a:t>
            </a:r>
          </a:p>
          <a:p>
            <a:pPr lvl="1"/>
            <a:r>
              <a:rPr lang="en-US" altLang="en-US"/>
              <a:t>non-obvious translations of HLL statements into instructions;</a:t>
            </a:r>
          </a:p>
          <a:p>
            <a:pPr lvl="1"/>
            <a:r>
              <a:rPr lang="en-US" altLang="en-US"/>
              <a:t>code may move;</a:t>
            </a:r>
          </a:p>
          <a:p>
            <a:pPr lvl="1"/>
            <a:r>
              <a:rPr lang="en-US" altLang="en-US"/>
              <a:t>cache effects are hard to predict.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Date Placeholder 3">
            <a:extLst>
              <a:ext uri="{FF2B5EF4-FFF2-40B4-BE49-F238E27FC236}">
                <a16:creationId xmlns:a16="http://schemas.microsoft.com/office/drawing/2014/main" id="{10EA3253-13ED-DB3C-8A31-54CD5532FF2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20483" name="Footer Placeholder 4">
            <a:extLst>
              <a:ext uri="{FF2B5EF4-FFF2-40B4-BE49-F238E27FC236}">
                <a16:creationId xmlns:a16="http://schemas.microsoft.com/office/drawing/2014/main" id="{D0BD2A42-CB92-C193-6616-34CFFED47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49EA150B-16B7-0A69-E1B2-53EF523147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Loop optimizations</a:t>
            </a:r>
          </a:p>
        </p:txBody>
      </p:sp>
      <p:sp>
        <p:nvSpPr>
          <p:cNvPr id="20485" name="Rectangle 3">
            <a:extLst>
              <a:ext uri="{FF2B5EF4-FFF2-40B4-BE49-F238E27FC236}">
                <a16:creationId xmlns:a16="http://schemas.microsoft.com/office/drawing/2014/main" id="{42D9A651-437E-F154-D505-BED7943126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Loops are good targets for optimization.</a:t>
            </a:r>
          </a:p>
          <a:p>
            <a:r>
              <a:rPr lang="en-US" altLang="en-US"/>
              <a:t>Basic loop optimizations:</a:t>
            </a:r>
          </a:p>
          <a:p>
            <a:pPr lvl="1"/>
            <a:r>
              <a:rPr lang="en-US" altLang="en-US"/>
              <a:t>code motion;</a:t>
            </a:r>
          </a:p>
          <a:p>
            <a:pPr lvl="1"/>
            <a:r>
              <a:rPr lang="en-US" altLang="en-US"/>
              <a:t>induction-variable elimination;</a:t>
            </a:r>
          </a:p>
          <a:p>
            <a:pPr lvl="1"/>
            <a:r>
              <a:rPr lang="en-US" altLang="en-US"/>
              <a:t>strength reduction (x*2 -&gt; x&lt;&lt;1).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Date Placeholder 4">
            <a:extLst>
              <a:ext uri="{FF2B5EF4-FFF2-40B4-BE49-F238E27FC236}">
                <a16:creationId xmlns:a16="http://schemas.microsoft.com/office/drawing/2014/main" id="{09328AA1-09CA-8C57-D310-47A1FCBC992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21507" name="Footer Placeholder 5">
            <a:extLst>
              <a:ext uri="{FF2B5EF4-FFF2-40B4-BE49-F238E27FC236}">
                <a16:creationId xmlns:a16="http://schemas.microsoft.com/office/drawing/2014/main" id="{E160B205-A4FC-816F-B62E-8A3341B94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66DFE693-F6E7-89F7-1C4E-D809A8E53B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Code motion</a:t>
            </a:r>
          </a:p>
        </p:txBody>
      </p:sp>
      <p:sp>
        <p:nvSpPr>
          <p:cNvPr id="21509" name="Rectangle 3">
            <a:extLst>
              <a:ext uri="{FF2B5EF4-FFF2-40B4-BE49-F238E27FC236}">
                <a16:creationId xmlns:a16="http://schemas.microsoft.com/office/drawing/2014/main" id="{323B736C-912D-C0AE-580E-B2CB4828561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 sz="2400"/>
              <a:t>for (i=0; i&lt;N*M; i++)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	z[i] = a[i] + b[i];</a:t>
            </a:r>
          </a:p>
        </p:txBody>
      </p:sp>
      <p:sp>
        <p:nvSpPr>
          <p:cNvPr id="21510" name="AutoShape 6">
            <a:extLst>
              <a:ext uri="{FF2B5EF4-FFF2-40B4-BE49-F238E27FC236}">
                <a16:creationId xmlns:a16="http://schemas.microsoft.com/office/drawing/2014/main" id="{0E41CC24-D80E-B253-56D7-187508E89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2895600"/>
            <a:ext cx="1524000" cy="685800"/>
          </a:xfrm>
          <a:prstGeom prst="flowChartDecision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i&lt;N*M</a:t>
            </a:r>
          </a:p>
        </p:txBody>
      </p:sp>
      <p:sp>
        <p:nvSpPr>
          <p:cNvPr id="21511" name="Rectangle 7">
            <a:extLst>
              <a:ext uri="{FF2B5EF4-FFF2-40B4-BE49-F238E27FC236}">
                <a16:creationId xmlns:a16="http://schemas.microsoft.com/office/drawing/2014/main" id="{8A362D15-1DCF-DF88-F470-D5E81CE34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1981200"/>
            <a:ext cx="1219200" cy="6096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i=0;</a:t>
            </a:r>
          </a:p>
        </p:txBody>
      </p:sp>
      <p:sp>
        <p:nvSpPr>
          <p:cNvPr id="21512" name="Rectangle 8">
            <a:extLst>
              <a:ext uri="{FF2B5EF4-FFF2-40B4-BE49-F238E27FC236}">
                <a16:creationId xmlns:a16="http://schemas.microsoft.com/office/drawing/2014/main" id="{463EAC60-661B-4A5B-4FA6-74FF7E15A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3886200"/>
            <a:ext cx="2209800" cy="533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000"/>
              <a:t>z[i] = a[i] + b[i];</a:t>
            </a:r>
          </a:p>
        </p:txBody>
      </p:sp>
      <p:sp>
        <p:nvSpPr>
          <p:cNvPr id="21513" name="Rectangle 9">
            <a:extLst>
              <a:ext uri="{FF2B5EF4-FFF2-40B4-BE49-F238E27FC236}">
                <a16:creationId xmlns:a16="http://schemas.microsoft.com/office/drawing/2014/main" id="{D58CD5CA-59B9-B591-32D4-D33E2F990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876800"/>
            <a:ext cx="1447800" cy="533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i = i+1;</a:t>
            </a:r>
          </a:p>
        </p:txBody>
      </p:sp>
      <p:sp>
        <p:nvSpPr>
          <p:cNvPr id="21514" name="Line 10">
            <a:extLst>
              <a:ext uri="{FF2B5EF4-FFF2-40B4-BE49-F238E27FC236}">
                <a16:creationId xmlns:a16="http://schemas.microsoft.com/office/drawing/2014/main" id="{E170F4E6-A791-B6AF-E752-B7A5A2D119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2590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5" name="Line 11">
            <a:extLst>
              <a:ext uri="{FF2B5EF4-FFF2-40B4-BE49-F238E27FC236}">
                <a16:creationId xmlns:a16="http://schemas.microsoft.com/office/drawing/2014/main" id="{652CCA58-446C-A1BF-CBB5-46F7D18A4044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3581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6" name="Line 12">
            <a:extLst>
              <a:ext uri="{FF2B5EF4-FFF2-40B4-BE49-F238E27FC236}">
                <a16:creationId xmlns:a16="http://schemas.microsoft.com/office/drawing/2014/main" id="{553F01FE-C67A-792F-565B-E1D950802511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4419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7" name="Line 13">
            <a:extLst>
              <a:ext uri="{FF2B5EF4-FFF2-40B4-BE49-F238E27FC236}">
                <a16:creationId xmlns:a16="http://schemas.microsoft.com/office/drawing/2014/main" id="{4A775EE2-7FF1-5E08-137A-488F9E0C93FD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3276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8" name="Text Box 14">
            <a:extLst>
              <a:ext uri="{FF2B5EF4-FFF2-40B4-BE49-F238E27FC236}">
                <a16:creationId xmlns:a16="http://schemas.microsoft.com/office/drawing/2014/main" id="{0EE960BF-8AD0-5945-47A4-BF88701629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9325" y="2860675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N</a:t>
            </a:r>
          </a:p>
        </p:txBody>
      </p:sp>
      <p:sp>
        <p:nvSpPr>
          <p:cNvPr id="21519" name="Text Box 15">
            <a:extLst>
              <a:ext uri="{FF2B5EF4-FFF2-40B4-BE49-F238E27FC236}">
                <a16:creationId xmlns:a16="http://schemas.microsoft.com/office/drawing/2014/main" id="{4E4EE663-BA1A-CADC-F84A-38AFB2C933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7725" y="3394075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Y</a:t>
            </a:r>
          </a:p>
        </p:txBody>
      </p:sp>
      <p:cxnSp>
        <p:nvCxnSpPr>
          <p:cNvPr id="21520" name="AutoShape 16">
            <a:extLst>
              <a:ext uri="{FF2B5EF4-FFF2-40B4-BE49-F238E27FC236}">
                <a16:creationId xmlns:a16="http://schemas.microsoft.com/office/drawing/2014/main" id="{034FBB4C-33FA-E3A2-7F28-D83028D0041D}"/>
              </a:ext>
            </a:extLst>
          </p:cNvPr>
          <p:cNvCxnSpPr>
            <a:cxnSpLocks noChangeShapeType="1"/>
            <a:stCxn id="21513" idx="1"/>
            <a:endCxn id="21510" idx="1"/>
          </p:cNvCxnSpPr>
          <p:nvPr/>
        </p:nvCxnSpPr>
        <p:spPr bwMode="auto">
          <a:xfrm rot="10800000" flipH="1">
            <a:off x="5715000" y="3238500"/>
            <a:ext cx="1588" cy="1905000"/>
          </a:xfrm>
          <a:prstGeom prst="bentConnector3">
            <a:avLst>
              <a:gd name="adj1" fmla="val -37000014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25" name="Line 17">
            <a:extLst>
              <a:ext uri="{FF2B5EF4-FFF2-40B4-BE49-F238E27FC236}">
                <a16:creationId xmlns:a16="http://schemas.microsoft.com/office/drawing/2014/main" id="{3034DEA1-FE4C-CA42-968B-AA146EE241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1800" y="2286000"/>
            <a:ext cx="15240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20">
            <a:extLst>
              <a:ext uri="{FF2B5EF4-FFF2-40B4-BE49-F238E27FC236}">
                <a16:creationId xmlns:a16="http://schemas.microsoft.com/office/drawing/2014/main" id="{586879C6-0C11-2DFB-D674-6A3FE87C8F88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1981200"/>
            <a:ext cx="1905000" cy="1600200"/>
            <a:chOff x="3504" y="1248"/>
            <a:chExt cx="1200" cy="1008"/>
          </a:xfrm>
        </p:grpSpPr>
        <p:sp>
          <p:nvSpPr>
            <p:cNvPr id="21523" name="AutoShape 18">
              <a:extLst>
                <a:ext uri="{FF2B5EF4-FFF2-40B4-BE49-F238E27FC236}">
                  <a16:creationId xmlns:a16="http://schemas.microsoft.com/office/drawing/2014/main" id="{E704E704-A1C0-2F8D-03E3-58B44B95C5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1824"/>
              <a:ext cx="960" cy="432"/>
            </a:xfrm>
            <a:prstGeom prst="flowChartDecision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/>
                <a:t>i&lt;X</a:t>
              </a:r>
            </a:p>
          </p:txBody>
        </p:sp>
        <p:sp>
          <p:nvSpPr>
            <p:cNvPr id="21524" name="Rectangle 19">
              <a:extLst>
                <a:ext uri="{FF2B5EF4-FFF2-40B4-BE49-F238E27FC236}">
                  <a16:creationId xmlns:a16="http://schemas.microsoft.com/office/drawing/2014/main" id="{6EAF359D-58E8-F868-8E3E-1BC4FD6ACB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1248"/>
              <a:ext cx="1200" cy="38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/>
                <a:t>i=0; X = N*M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Date Placeholder 3">
            <a:extLst>
              <a:ext uri="{FF2B5EF4-FFF2-40B4-BE49-F238E27FC236}">
                <a16:creationId xmlns:a16="http://schemas.microsoft.com/office/drawing/2014/main" id="{B0EC8288-AE37-AA89-1D16-5DCA6983523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22531" name="Footer Placeholder 4">
            <a:extLst>
              <a:ext uri="{FF2B5EF4-FFF2-40B4-BE49-F238E27FC236}">
                <a16:creationId xmlns:a16="http://schemas.microsoft.com/office/drawing/2014/main" id="{8748D361-AFAD-9666-5B60-A4FAF6C0F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AEE4B299-827C-739C-0241-3A91316C40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Induction variable elimination</a:t>
            </a:r>
          </a:p>
        </p:txBody>
      </p:sp>
      <p:sp>
        <p:nvSpPr>
          <p:cNvPr id="22533" name="Rectangle 3">
            <a:extLst>
              <a:ext uri="{FF2B5EF4-FFF2-40B4-BE49-F238E27FC236}">
                <a16:creationId xmlns:a16="http://schemas.microsoft.com/office/drawing/2014/main" id="{D99D9188-91F9-456A-1C57-619E9CB399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solidFill>
                  <a:srgbClr val="FF0000"/>
                </a:solidFill>
              </a:rPr>
              <a:t>Induction variable</a:t>
            </a:r>
            <a:r>
              <a:rPr lang="en-US" altLang="en-US"/>
              <a:t>: loop index.</a:t>
            </a:r>
          </a:p>
          <a:p>
            <a:r>
              <a:rPr lang="en-US" altLang="en-US"/>
              <a:t>Consider loop: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/>
              <a:t>for (i=0; i&lt;N; i++)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/>
              <a:t>	for (j=0; j&lt;M; j++)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/>
              <a:t>		z[i,j] = b[i,j];</a:t>
            </a:r>
          </a:p>
          <a:p>
            <a:r>
              <a:rPr lang="en-US" altLang="en-US"/>
              <a:t>Rather than recompute i*M+j for each array in each iteration, share induction variable between arrays, increment at end of loop body.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Date Placeholder 3">
            <a:extLst>
              <a:ext uri="{FF2B5EF4-FFF2-40B4-BE49-F238E27FC236}">
                <a16:creationId xmlns:a16="http://schemas.microsoft.com/office/drawing/2014/main" id="{DC97ABAE-2B65-0134-7439-8FC419493B1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23555" name="Footer Placeholder 4">
            <a:extLst>
              <a:ext uri="{FF2B5EF4-FFF2-40B4-BE49-F238E27FC236}">
                <a16:creationId xmlns:a16="http://schemas.microsoft.com/office/drawing/2014/main" id="{0554A004-4E30-1500-95B9-D19F861D4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F2916762-666D-A946-0161-99E69D179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Cache analysis</a:t>
            </a:r>
          </a:p>
        </p:txBody>
      </p:sp>
      <p:sp>
        <p:nvSpPr>
          <p:cNvPr id="23557" name="Rectangle 3">
            <a:extLst>
              <a:ext uri="{FF2B5EF4-FFF2-40B4-BE49-F238E27FC236}">
                <a16:creationId xmlns:a16="http://schemas.microsoft.com/office/drawing/2014/main" id="{F49B727C-1558-4FDE-557A-1F476DF89D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solidFill>
                  <a:srgbClr val="FF0000"/>
                </a:solidFill>
              </a:rPr>
              <a:t>Loop nest</a:t>
            </a:r>
            <a:r>
              <a:rPr lang="en-US" altLang="en-US"/>
              <a:t>: set of loops, one inside other.</a:t>
            </a:r>
          </a:p>
          <a:p>
            <a:r>
              <a:rPr lang="en-US" altLang="en-US">
                <a:solidFill>
                  <a:srgbClr val="FF0000"/>
                </a:solidFill>
              </a:rPr>
              <a:t>Perfect loop nest</a:t>
            </a:r>
            <a:r>
              <a:rPr lang="en-US" altLang="en-US"/>
              <a:t>: no conditionals in nest.</a:t>
            </a:r>
          </a:p>
          <a:p>
            <a:r>
              <a:rPr lang="en-US" altLang="en-US"/>
              <a:t>Because loops use large quantities of data, cache conflicts are common.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Date Placeholder 3">
            <a:extLst>
              <a:ext uri="{FF2B5EF4-FFF2-40B4-BE49-F238E27FC236}">
                <a16:creationId xmlns:a16="http://schemas.microsoft.com/office/drawing/2014/main" id="{2722FACD-18C7-518E-3282-4ABFEAE4432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24579" name="Footer Placeholder 4">
            <a:extLst>
              <a:ext uri="{FF2B5EF4-FFF2-40B4-BE49-F238E27FC236}">
                <a16:creationId xmlns:a16="http://schemas.microsoft.com/office/drawing/2014/main" id="{1F69FEC6-0C9A-E24D-2107-613B91962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607FCD31-06D3-4EC3-51A4-71C084F40F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Array conflicts in cache</a:t>
            </a:r>
          </a:p>
        </p:txBody>
      </p:sp>
      <p:sp>
        <p:nvSpPr>
          <p:cNvPr id="24581" name="Rectangle 4">
            <a:extLst>
              <a:ext uri="{FF2B5EF4-FFF2-40B4-BE49-F238E27FC236}">
                <a16:creationId xmlns:a16="http://schemas.microsoft.com/office/drawing/2014/main" id="{4133F452-DDDA-B832-5EC6-7BBF1AC1C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981200"/>
            <a:ext cx="1524000" cy="3657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4582" name="Rectangle 5">
            <a:extLst>
              <a:ext uri="{FF2B5EF4-FFF2-40B4-BE49-F238E27FC236}">
                <a16:creationId xmlns:a16="http://schemas.microsoft.com/office/drawing/2014/main" id="{A84AE7A7-C771-91B4-F7A9-A8B4D58DB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438400"/>
            <a:ext cx="152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4583" name="Rectangle 6">
            <a:extLst>
              <a:ext uri="{FF2B5EF4-FFF2-40B4-BE49-F238E27FC236}">
                <a16:creationId xmlns:a16="http://schemas.microsoft.com/office/drawing/2014/main" id="{59F97289-EA4B-D992-EA76-D9C9E3514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4114800"/>
            <a:ext cx="152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4584" name="Line 7">
            <a:extLst>
              <a:ext uri="{FF2B5EF4-FFF2-40B4-BE49-F238E27FC236}">
                <a16:creationId xmlns:a16="http://schemas.microsoft.com/office/drawing/2014/main" id="{0289E522-C066-DA0E-DE80-8AF12CFBFDC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4384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5" name="Text Box 8">
            <a:extLst>
              <a:ext uri="{FF2B5EF4-FFF2-40B4-BE49-F238E27FC236}">
                <a16:creationId xmlns:a16="http://schemas.microsoft.com/office/drawing/2014/main" id="{EA4C7FF9-9C61-649A-1D43-9FAAE81A63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" y="2251075"/>
            <a:ext cx="903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a[0,0]</a:t>
            </a:r>
          </a:p>
        </p:txBody>
      </p:sp>
      <p:sp>
        <p:nvSpPr>
          <p:cNvPr id="24586" name="Line 9">
            <a:extLst>
              <a:ext uri="{FF2B5EF4-FFF2-40B4-BE49-F238E27FC236}">
                <a16:creationId xmlns:a16="http://schemas.microsoft.com/office/drawing/2014/main" id="{EE82D6EE-234F-0175-F799-C0EABAD74E2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2675" y="4149725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7" name="Text Box 10">
            <a:extLst>
              <a:ext uri="{FF2B5EF4-FFF2-40B4-BE49-F238E27FC236}">
                <a16:creationId xmlns:a16="http://schemas.microsoft.com/office/drawing/2014/main" id="{7F1533BE-7D8F-E18D-3121-BA7AA69DCB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962400"/>
            <a:ext cx="920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b[0,0]</a:t>
            </a:r>
          </a:p>
        </p:txBody>
      </p:sp>
      <p:sp>
        <p:nvSpPr>
          <p:cNvPr id="24588" name="Text Box 11">
            <a:extLst>
              <a:ext uri="{FF2B5EF4-FFF2-40B4-BE49-F238E27FC236}">
                <a16:creationId xmlns:a16="http://schemas.microsoft.com/office/drawing/2014/main" id="{747F6EDC-3A79-8B27-BF5E-957B2E231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791200"/>
            <a:ext cx="1882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main memory</a:t>
            </a:r>
          </a:p>
        </p:txBody>
      </p:sp>
      <p:sp>
        <p:nvSpPr>
          <p:cNvPr id="24589" name="Text Box 12">
            <a:extLst>
              <a:ext uri="{FF2B5EF4-FFF2-40B4-BE49-F238E27FC236}">
                <a16:creationId xmlns:a16="http://schemas.microsoft.com/office/drawing/2014/main" id="{9088F21E-BB0A-A1AF-0AA3-973F5A7DA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8725" y="5832475"/>
            <a:ext cx="876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cache</a:t>
            </a:r>
          </a:p>
        </p:txBody>
      </p:sp>
      <p:sp>
        <p:nvSpPr>
          <p:cNvPr id="24590" name="Rectangle 13">
            <a:extLst>
              <a:ext uri="{FF2B5EF4-FFF2-40B4-BE49-F238E27FC236}">
                <a16:creationId xmlns:a16="http://schemas.microsoft.com/office/drawing/2014/main" id="{41A24170-595E-B74E-6780-55C1DA160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819400"/>
            <a:ext cx="4876800" cy="251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4591" name="Rectangle 15">
            <a:extLst>
              <a:ext uri="{FF2B5EF4-FFF2-40B4-BE49-F238E27FC236}">
                <a16:creationId xmlns:a16="http://schemas.microsoft.com/office/drawing/2014/main" id="{BE2EECDC-0909-996A-2DF6-5BB2A5D48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819400"/>
            <a:ext cx="1219200" cy="457200"/>
          </a:xfrm>
          <a:prstGeom prst="rect">
            <a:avLst/>
          </a:prstGeom>
          <a:solidFill>
            <a:srgbClr val="99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1024</a:t>
            </a:r>
          </a:p>
        </p:txBody>
      </p:sp>
      <p:sp>
        <p:nvSpPr>
          <p:cNvPr id="24592" name="Rectangle 19">
            <a:extLst>
              <a:ext uri="{FF2B5EF4-FFF2-40B4-BE49-F238E27FC236}">
                <a16:creationId xmlns:a16="http://schemas.microsoft.com/office/drawing/2014/main" id="{BE87AD86-B8A4-5F32-D42A-0F711D79F6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819400"/>
            <a:ext cx="1219200" cy="457200"/>
          </a:xfrm>
          <a:prstGeom prst="rect">
            <a:avLst/>
          </a:prstGeom>
          <a:solidFill>
            <a:srgbClr val="99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4593" name="Rectangle 20">
            <a:extLst>
              <a:ext uri="{FF2B5EF4-FFF2-40B4-BE49-F238E27FC236}">
                <a16:creationId xmlns:a16="http://schemas.microsoft.com/office/drawing/2014/main" id="{F727F0AB-BB44-C3B6-CAAE-F6ACB00E7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2819400"/>
            <a:ext cx="1219200" cy="457200"/>
          </a:xfrm>
          <a:prstGeom prst="rect">
            <a:avLst/>
          </a:prstGeom>
          <a:solidFill>
            <a:srgbClr val="99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4594" name="Rectangle 21">
            <a:extLst>
              <a:ext uri="{FF2B5EF4-FFF2-40B4-BE49-F238E27FC236}">
                <a16:creationId xmlns:a16="http://schemas.microsoft.com/office/drawing/2014/main" id="{C1B0EDDF-027E-E6EE-A881-86029A96C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2819400"/>
            <a:ext cx="1219200" cy="457200"/>
          </a:xfrm>
          <a:prstGeom prst="rect">
            <a:avLst/>
          </a:prstGeom>
          <a:solidFill>
            <a:srgbClr val="99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4099</a:t>
            </a:r>
          </a:p>
        </p:txBody>
      </p:sp>
      <p:sp>
        <p:nvSpPr>
          <p:cNvPr id="24595" name="Rectangle 22">
            <a:extLst>
              <a:ext uri="{FF2B5EF4-FFF2-40B4-BE49-F238E27FC236}">
                <a16:creationId xmlns:a16="http://schemas.microsoft.com/office/drawing/2014/main" id="{7096198E-DCAD-440B-CCDE-F0C6AF511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276600"/>
            <a:ext cx="48768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4596" name="Text Box 23">
            <a:extLst>
              <a:ext uri="{FF2B5EF4-FFF2-40B4-BE49-F238E27FC236}">
                <a16:creationId xmlns:a16="http://schemas.microsoft.com/office/drawing/2014/main" id="{D44BC163-59BE-165F-04F9-834511998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1525" y="3927475"/>
            <a:ext cx="41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...</a:t>
            </a:r>
          </a:p>
        </p:txBody>
      </p:sp>
      <p:sp>
        <p:nvSpPr>
          <p:cNvPr id="24597" name="Rectangle 24">
            <a:extLst>
              <a:ext uri="{FF2B5EF4-FFF2-40B4-BE49-F238E27FC236}">
                <a16:creationId xmlns:a16="http://schemas.microsoft.com/office/drawing/2014/main" id="{AABCD2FD-C612-800D-A53B-D339BB167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438400"/>
            <a:ext cx="1524000" cy="381000"/>
          </a:xfrm>
          <a:prstGeom prst="rect">
            <a:avLst/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1024</a:t>
            </a:r>
          </a:p>
        </p:txBody>
      </p:sp>
      <p:sp>
        <p:nvSpPr>
          <p:cNvPr id="24598" name="Rectangle 26">
            <a:extLst>
              <a:ext uri="{FF2B5EF4-FFF2-40B4-BE49-F238E27FC236}">
                <a16:creationId xmlns:a16="http://schemas.microsoft.com/office/drawing/2014/main" id="{62A060B1-C50A-87FA-45A1-72C988587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4114800"/>
            <a:ext cx="1524000" cy="381000"/>
          </a:xfrm>
          <a:prstGeom prst="rect">
            <a:avLst/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4099</a:t>
            </a:r>
          </a:p>
        </p:txBody>
      </p:sp>
      <p:sp>
        <p:nvSpPr>
          <p:cNvPr id="24599" name="Line 27">
            <a:extLst>
              <a:ext uri="{FF2B5EF4-FFF2-40B4-BE49-F238E27FC236}">
                <a16:creationId xmlns:a16="http://schemas.microsoft.com/office/drawing/2014/main" id="{825A4555-9883-A68F-CC20-EDF73143BCB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590800"/>
            <a:ext cx="129540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0" name="Line 28">
            <a:extLst>
              <a:ext uri="{FF2B5EF4-FFF2-40B4-BE49-F238E27FC236}">
                <a16:creationId xmlns:a16="http://schemas.microsoft.com/office/drawing/2014/main" id="{3D318AF8-393C-8CDC-E80A-89BF0BFD90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43200" y="3200400"/>
            <a:ext cx="5105400" cy="1143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Date Placeholder 3">
            <a:extLst>
              <a:ext uri="{FF2B5EF4-FFF2-40B4-BE49-F238E27FC236}">
                <a16:creationId xmlns:a16="http://schemas.microsoft.com/office/drawing/2014/main" id="{6A7A8C19-D312-E5E3-B84F-3AB94B3C8BE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25603" name="Footer Placeholder 4">
            <a:extLst>
              <a:ext uri="{FF2B5EF4-FFF2-40B4-BE49-F238E27FC236}">
                <a16:creationId xmlns:a16="http://schemas.microsoft.com/office/drawing/2014/main" id="{1814E95C-D1DB-ABD8-C444-2FCA54FE2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5604" name="Rectangle 2">
            <a:extLst>
              <a:ext uri="{FF2B5EF4-FFF2-40B4-BE49-F238E27FC236}">
                <a16:creationId xmlns:a16="http://schemas.microsoft.com/office/drawing/2014/main" id="{30868B57-6354-7303-2B91-AC585E62D7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Array conflicts, cont’d.</a:t>
            </a:r>
          </a:p>
        </p:txBody>
      </p:sp>
      <p:sp>
        <p:nvSpPr>
          <p:cNvPr id="25605" name="Rectangle 3">
            <a:extLst>
              <a:ext uri="{FF2B5EF4-FFF2-40B4-BE49-F238E27FC236}">
                <a16:creationId xmlns:a16="http://schemas.microsoft.com/office/drawing/2014/main" id="{3F23EC75-4677-13D9-6222-31EEB2847D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Array elements conflict because they are in the same line, even if not mapped to same location.</a:t>
            </a:r>
          </a:p>
          <a:p>
            <a:r>
              <a:rPr lang="en-US" altLang="en-US"/>
              <a:t>Solutions:</a:t>
            </a:r>
          </a:p>
          <a:p>
            <a:pPr lvl="1"/>
            <a:r>
              <a:rPr lang="en-US" altLang="en-US"/>
              <a:t>move one array;</a:t>
            </a:r>
          </a:p>
          <a:p>
            <a:pPr lvl="1"/>
            <a:r>
              <a:rPr lang="en-US" altLang="en-US"/>
              <a:t>pad array.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Date Placeholder 3">
            <a:extLst>
              <a:ext uri="{FF2B5EF4-FFF2-40B4-BE49-F238E27FC236}">
                <a16:creationId xmlns:a16="http://schemas.microsoft.com/office/drawing/2014/main" id="{E638A538-E66B-110E-413E-719E765A16A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26627" name="Footer Placeholder 4">
            <a:extLst>
              <a:ext uri="{FF2B5EF4-FFF2-40B4-BE49-F238E27FC236}">
                <a16:creationId xmlns:a16="http://schemas.microsoft.com/office/drawing/2014/main" id="{74E9039A-5F24-1EA3-F7FD-B53A6DA2B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DB64A795-BEE5-FF14-0EB5-6F066ACEED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Performance optimization hints</a:t>
            </a:r>
          </a:p>
        </p:txBody>
      </p:sp>
      <p:sp>
        <p:nvSpPr>
          <p:cNvPr id="26629" name="Rectangle 3">
            <a:extLst>
              <a:ext uri="{FF2B5EF4-FFF2-40B4-BE49-F238E27FC236}">
                <a16:creationId xmlns:a16="http://schemas.microsoft.com/office/drawing/2014/main" id="{31CF7B27-C089-9429-F0DC-8940FB1220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Use registers efficiently.</a:t>
            </a:r>
          </a:p>
          <a:p>
            <a:r>
              <a:rPr lang="en-US" altLang="en-US"/>
              <a:t>Use page mode memory accesses.</a:t>
            </a:r>
          </a:p>
          <a:p>
            <a:r>
              <a:rPr lang="en-US" altLang="en-US"/>
              <a:t>Analyze cache behavior:</a:t>
            </a:r>
          </a:p>
          <a:p>
            <a:pPr lvl="1"/>
            <a:r>
              <a:rPr lang="en-US" altLang="en-US"/>
              <a:t>instruction conflicts can be handled by rewriting code, rescheudling;</a:t>
            </a:r>
          </a:p>
          <a:p>
            <a:pPr lvl="1"/>
            <a:r>
              <a:rPr lang="en-US" altLang="en-US"/>
              <a:t>conflicting scalar data can easily be moved;</a:t>
            </a:r>
          </a:p>
          <a:p>
            <a:pPr lvl="1"/>
            <a:r>
              <a:rPr lang="en-US" altLang="en-US"/>
              <a:t>conflicting array data can be moved, padded.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Date Placeholder 3">
            <a:extLst>
              <a:ext uri="{FF2B5EF4-FFF2-40B4-BE49-F238E27FC236}">
                <a16:creationId xmlns:a16="http://schemas.microsoft.com/office/drawing/2014/main" id="{B3B847EE-3E30-95F0-DBE0-68AF819A668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27651" name="Footer Placeholder 4">
            <a:extLst>
              <a:ext uri="{FF2B5EF4-FFF2-40B4-BE49-F238E27FC236}">
                <a16:creationId xmlns:a16="http://schemas.microsoft.com/office/drawing/2014/main" id="{78E256FD-98F9-AD79-51C1-AD61B3464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55FB0E8C-E4BF-657F-BFE0-E976DB7321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Energy/power optimization</a:t>
            </a:r>
          </a:p>
        </p:txBody>
      </p:sp>
      <p:sp>
        <p:nvSpPr>
          <p:cNvPr id="27653" name="Rectangle 3">
            <a:extLst>
              <a:ext uri="{FF2B5EF4-FFF2-40B4-BE49-F238E27FC236}">
                <a16:creationId xmlns:a16="http://schemas.microsoft.com/office/drawing/2014/main" id="{A407F795-289E-CA80-22B3-B4FBEFC569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solidFill>
                  <a:srgbClr val="FF0000"/>
                </a:solidFill>
              </a:rPr>
              <a:t>Energy</a:t>
            </a:r>
            <a:r>
              <a:rPr lang="en-US" altLang="en-US"/>
              <a:t>: ability to do work.</a:t>
            </a:r>
          </a:p>
          <a:p>
            <a:pPr lvl="1"/>
            <a:r>
              <a:rPr lang="en-US" altLang="en-US"/>
              <a:t>Most important in battery-powered systems.</a:t>
            </a:r>
          </a:p>
          <a:p>
            <a:r>
              <a:rPr lang="en-US" altLang="en-US">
                <a:solidFill>
                  <a:srgbClr val="FF0000"/>
                </a:solidFill>
              </a:rPr>
              <a:t>Power</a:t>
            </a:r>
            <a:r>
              <a:rPr lang="en-US" altLang="en-US"/>
              <a:t>: energy per unit time.</a:t>
            </a:r>
          </a:p>
          <a:p>
            <a:pPr lvl="1"/>
            <a:r>
              <a:rPr lang="en-US" altLang="en-US"/>
              <a:t>Important even in wall-plug systems---power becomes heat.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Date Placeholder 3">
            <a:extLst>
              <a:ext uri="{FF2B5EF4-FFF2-40B4-BE49-F238E27FC236}">
                <a16:creationId xmlns:a16="http://schemas.microsoft.com/office/drawing/2014/main" id="{F7ACCACE-378F-1CCF-6C9B-550228E4355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28675" name="Footer Placeholder 4">
            <a:extLst>
              <a:ext uri="{FF2B5EF4-FFF2-40B4-BE49-F238E27FC236}">
                <a16:creationId xmlns:a16="http://schemas.microsoft.com/office/drawing/2014/main" id="{1E461103-8652-EBF3-62B4-29EFA40ED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BC079834-8527-E059-A631-C83CAC7F89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Measuring energy consumption</a:t>
            </a:r>
          </a:p>
        </p:txBody>
      </p:sp>
      <p:sp>
        <p:nvSpPr>
          <p:cNvPr id="28677" name="Rectangle 3">
            <a:extLst>
              <a:ext uri="{FF2B5EF4-FFF2-40B4-BE49-F238E27FC236}">
                <a16:creationId xmlns:a16="http://schemas.microsoft.com/office/drawing/2014/main" id="{78459967-F474-F117-BFB3-05EF5DEE00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885950"/>
            <a:ext cx="8178800" cy="704850"/>
          </a:xfrm>
        </p:spPr>
        <p:txBody>
          <a:bodyPr/>
          <a:lstStyle/>
          <a:p>
            <a:r>
              <a:rPr lang="en-US" altLang="en-US"/>
              <a:t>Execute a small loop, measure current:</a:t>
            </a:r>
          </a:p>
        </p:txBody>
      </p:sp>
      <p:sp>
        <p:nvSpPr>
          <p:cNvPr id="28678" name="Rectangle 4">
            <a:extLst>
              <a:ext uri="{FF2B5EF4-FFF2-40B4-BE49-F238E27FC236}">
                <a16:creationId xmlns:a16="http://schemas.microsoft.com/office/drawing/2014/main" id="{14CA8BD3-71FC-C596-BF1B-73D40EB7C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429000"/>
            <a:ext cx="1981200" cy="1981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while (TRUE)</a:t>
            </a:r>
          </a:p>
          <a:p>
            <a:pPr algn="ctr"/>
            <a:r>
              <a:rPr lang="en-US" altLang="en-US"/>
              <a:t>a();</a:t>
            </a:r>
          </a:p>
        </p:txBody>
      </p:sp>
      <p:sp>
        <p:nvSpPr>
          <p:cNvPr id="28679" name="Line 6">
            <a:extLst>
              <a:ext uri="{FF2B5EF4-FFF2-40B4-BE49-F238E27FC236}">
                <a16:creationId xmlns:a16="http://schemas.microsoft.com/office/drawing/2014/main" id="{8C9D6045-BC10-B0A9-463D-488C1F6BCF5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4191000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0" name="Line 7">
            <a:extLst>
              <a:ext uri="{FF2B5EF4-FFF2-40B4-BE49-F238E27FC236}">
                <a16:creationId xmlns:a16="http://schemas.microsoft.com/office/drawing/2014/main" id="{2727EDE9-26CF-C29F-68DF-EFFEDDFF0E22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44196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1" name="Line 9">
            <a:extLst>
              <a:ext uri="{FF2B5EF4-FFF2-40B4-BE49-F238E27FC236}">
                <a16:creationId xmlns:a16="http://schemas.microsoft.com/office/drawing/2014/main" id="{596F83FC-BAD8-08A6-B070-A1293186CB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30480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2" name="Line 10">
            <a:extLst>
              <a:ext uri="{FF2B5EF4-FFF2-40B4-BE49-F238E27FC236}">
                <a16:creationId xmlns:a16="http://schemas.microsoft.com/office/drawing/2014/main" id="{DE8CCC06-A240-93B9-F50B-7229A87EE9F2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04800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3" name="Line 11">
            <a:extLst>
              <a:ext uri="{FF2B5EF4-FFF2-40B4-BE49-F238E27FC236}">
                <a16:creationId xmlns:a16="http://schemas.microsoft.com/office/drawing/2014/main" id="{70813173-AD05-DD6E-C224-F89BB1BCC74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3048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4" name="Line 12">
            <a:extLst>
              <a:ext uri="{FF2B5EF4-FFF2-40B4-BE49-F238E27FC236}">
                <a16:creationId xmlns:a16="http://schemas.microsoft.com/office/drawing/2014/main" id="{0F1F4CFE-733A-C93C-9455-6EA8F534D6A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4419600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5" name="Line 13">
            <a:extLst>
              <a:ext uri="{FF2B5EF4-FFF2-40B4-BE49-F238E27FC236}">
                <a16:creationId xmlns:a16="http://schemas.microsoft.com/office/drawing/2014/main" id="{4ED3549D-163F-EC27-8C97-860A52810FA8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57912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6" name="Line 14">
            <a:extLst>
              <a:ext uri="{FF2B5EF4-FFF2-40B4-BE49-F238E27FC236}">
                <a16:creationId xmlns:a16="http://schemas.microsoft.com/office/drawing/2014/main" id="{0F6D97C2-72AC-1819-1D04-B3D0D43EA7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5410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7" name="Line 15">
            <a:extLst>
              <a:ext uri="{FF2B5EF4-FFF2-40B4-BE49-F238E27FC236}">
                <a16:creationId xmlns:a16="http://schemas.microsoft.com/office/drawing/2014/main" id="{53157FA3-778B-2B5D-712E-DB6B16AD9F9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28194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8" name="Text Box 16">
            <a:extLst>
              <a:ext uri="{FF2B5EF4-FFF2-40B4-BE49-F238E27FC236}">
                <a16:creationId xmlns:a16="http://schemas.microsoft.com/office/drawing/2014/main" id="{6D2483E8-9167-2AEB-5BFE-57F4432C2D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3325" y="2555875"/>
            <a:ext cx="28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Date Placeholder 3">
            <a:extLst>
              <a:ext uri="{FF2B5EF4-FFF2-40B4-BE49-F238E27FC236}">
                <a16:creationId xmlns:a16="http://schemas.microsoft.com/office/drawing/2014/main" id="{805E64A7-A4A4-5030-66C4-5A4AC26D8ED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29699" name="Footer Placeholder 4">
            <a:extLst>
              <a:ext uri="{FF2B5EF4-FFF2-40B4-BE49-F238E27FC236}">
                <a16:creationId xmlns:a16="http://schemas.microsoft.com/office/drawing/2014/main" id="{0F3638DD-B015-7FDC-87B8-B37AEF1D4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9700" name="Rectangle 2">
            <a:extLst>
              <a:ext uri="{FF2B5EF4-FFF2-40B4-BE49-F238E27FC236}">
                <a16:creationId xmlns:a16="http://schemas.microsoft.com/office/drawing/2014/main" id="{61810C73-03D7-04D0-BDFE-813D9F7AD5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Sources of energy consumption</a:t>
            </a:r>
          </a:p>
        </p:txBody>
      </p:sp>
      <p:sp>
        <p:nvSpPr>
          <p:cNvPr id="29701" name="Rectangle 3">
            <a:extLst>
              <a:ext uri="{FF2B5EF4-FFF2-40B4-BE49-F238E27FC236}">
                <a16:creationId xmlns:a16="http://schemas.microsoft.com/office/drawing/2014/main" id="{87086D70-8096-F7FF-BAEA-89DC1DAB6D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Relative energy per operation (Catthoor et al):</a:t>
            </a:r>
          </a:p>
          <a:p>
            <a:pPr lvl="1"/>
            <a:r>
              <a:rPr lang="en-US" altLang="en-US"/>
              <a:t>memory transfer: 33</a:t>
            </a:r>
          </a:p>
          <a:p>
            <a:pPr lvl="1"/>
            <a:r>
              <a:rPr lang="en-US" altLang="en-US"/>
              <a:t>external I/O: 10</a:t>
            </a:r>
          </a:p>
          <a:p>
            <a:pPr lvl="1"/>
            <a:r>
              <a:rPr lang="en-US" altLang="en-US"/>
              <a:t>SRAM write: 9</a:t>
            </a:r>
          </a:p>
          <a:p>
            <a:pPr lvl="1"/>
            <a:r>
              <a:rPr lang="en-US" altLang="en-US"/>
              <a:t>SRAM read: 4.4</a:t>
            </a:r>
          </a:p>
          <a:p>
            <a:pPr lvl="1"/>
            <a:r>
              <a:rPr lang="en-US" altLang="en-US"/>
              <a:t>multiply: 3.6</a:t>
            </a:r>
          </a:p>
          <a:p>
            <a:pPr lvl="1"/>
            <a:r>
              <a:rPr lang="en-US" altLang="en-US"/>
              <a:t>add: 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Date Placeholder 3">
            <a:extLst>
              <a:ext uri="{FF2B5EF4-FFF2-40B4-BE49-F238E27FC236}">
                <a16:creationId xmlns:a16="http://schemas.microsoft.com/office/drawing/2014/main" id="{B9DB9360-2D00-40A2-02CE-A4DE8ADC110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30723" name="Footer Placeholder 4">
            <a:extLst>
              <a:ext uri="{FF2B5EF4-FFF2-40B4-BE49-F238E27FC236}">
                <a16:creationId xmlns:a16="http://schemas.microsoft.com/office/drawing/2014/main" id="{F686541B-289E-07A6-8F14-53A9218CB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10AC642F-62CD-83ED-12D8-A3A1EAF147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Cache behavior is important</a:t>
            </a:r>
          </a:p>
        </p:txBody>
      </p:sp>
      <p:sp>
        <p:nvSpPr>
          <p:cNvPr id="30725" name="Rectangle 3">
            <a:extLst>
              <a:ext uri="{FF2B5EF4-FFF2-40B4-BE49-F238E27FC236}">
                <a16:creationId xmlns:a16="http://schemas.microsoft.com/office/drawing/2014/main" id="{E7746A27-57E4-1008-7757-42C39DBF0A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Energy consumption has a sweet spot as cache size changes:</a:t>
            </a:r>
          </a:p>
          <a:p>
            <a:pPr lvl="1"/>
            <a:r>
              <a:rPr lang="en-US" altLang="en-US">
                <a:solidFill>
                  <a:srgbClr val="FF0000"/>
                </a:solidFill>
              </a:rPr>
              <a:t>cache too small</a:t>
            </a:r>
            <a:r>
              <a:rPr lang="en-US" altLang="en-US"/>
              <a:t>: program thrashes, burning energy on external memory accesses;</a:t>
            </a:r>
          </a:p>
          <a:p>
            <a:pPr lvl="1"/>
            <a:r>
              <a:rPr lang="en-US" altLang="en-US">
                <a:solidFill>
                  <a:srgbClr val="FF0000"/>
                </a:solidFill>
              </a:rPr>
              <a:t>cache too large</a:t>
            </a:r>
            <a:r>
              <a:rPr lang="en-US" altLang="en-US"/>
              <a:t>: cache itself burns too much power.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Date Placeholder 3">
            <a:extLst>
              <a:ext uri="{FF2B5EF4-FFF2-40B4-BE49-F238E27FC236}">
                <a16:creationId xmlns:a16="http://schemas.microsoft.com/office/drawing/2014/main" id="{A3A78010-82D9-F515-3206-1B7BCDB23E8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31747" name="Footer Placeholder 4">
            <a:extLst>
              <a:ext uri="{FF2B5EF4-FFF2-40B4-BE49-F238E27FC236}">
                <a16:creationId xmlns:a16="http://schemas.microsoft.com/office/drawing/2014/main" id="{FF25B938-D172-900F-BACC-1F5A8C5CB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4F2A5492-2719-04D4-EC03-6CCD59517A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Cache sweet spot</a:t>
            </a:r>
          </a:p>
        </p:txBody>
      </p:sp>
      <p:pic>
        <p:nvPicPr>
          <p:cNvPr id="31749" name="Picture 5" descr="f05-25-P374397.eps">
            <a:extLst>
              <a:ext uri="{FF2B5EF4-FFF2-40B4-BE49-F238E27FC236}">
                <a16:creationId xmlns:a16="http://schemas.microsoft.com/office/drawing/2014/main" id="{FBFE47E3-56A5-9FED-13DF-3E26445687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524000"/>
            <a:ext cx="3198813" cy="465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0" name="TextBox 6">
            <a:extLst>
              <a:ext uri="{FF2B5EF4-FFF2-40B4-BE49-F238E27FC236}">
                <a16:creationId xmlns:a16="http://schemas.microsoft.com/office/drawing/2014/main" id="{C3F57A78-CFCD-B198-58EA-CDD0CE67B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5410200"/>
            <a:ext cx="20843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/>
              <a:t>[Li98] © 1998 IEEE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Date Placeholder 3">
            <a:extLst>
              <a:ext uri="{FF2B5EF4-FFF2-40B4-BE49-F238E27FC236}">
                <a16:creationId xmlns:a16="http://schemas.microsoft.com/office/drawing/2014/main" id="{17F6B7FB-2D0E-9000-143A-01FA2640B25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32771" name="Footer Placeholder 4">
            <a:extLst>
              <a:ext uri="{FF2B5EF4-FFF2-40B4-BE49-F238E27FC236}">
                <a16:creationId xmlns:a16="http://schemas.microsoft.com/office/drawing/2014/main" id="{8F72FC42-46AF-2311-3FE6-9B1E23CBB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8E961D53-FDBC-E943-A4D7-9357E3961B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Optimizing for energy</a:t>
            </a:r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917D195E-EAC4-5C7C-BB39-1246E0D514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First-order optimization:</a:t>
            </a:r>
          </a:p>
          <a:p>
            <a:pPr lvl="1"/>
            <a:r>
              <a:rPr lang="en-US" altLang="en-US">
                <a:solidFill>
                  <a:srgbClr val="FF0000"/>
                </a:solidFill>
              </a:rPr>
              <a:t>high performance = low energy</a:t>
            </a:r>
            <a:r>
              <a:rPr lang="en-US" altLang="en-US"/>
              <a:t>.</a:t>
            </a:r>
          </a:p>
          <a:p>
            <a:r>
              <a:rPr lang="en-US" altLang="en-US"/>
              <a:t>Not many instructions trade speed for energy.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Date Placeholder 3">
            <a:extLst>
              <a:ext uri="{FF2B5EF4-FFF2-40B4-BE49-F238E27FC236}">
                <a16:creationId xmlns:a16="http://schemas.microsoft.com/office/drawing/2014/main" id="{66E953D7-7FF2-0B6F-1530-F5F2D161F99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33795" name="Footer Placeholder 4">
            <a:extLst>
              <a:ext uri="{FF2B5EF4-FFF2-40B4-BE49-F238E27FC236}">
                <a16:creationId xmlns:a16="http://schemas.microsoft.com/office/drawing/2014/main" id="{B06AFA4C-8280-E8C9-C2C2-5A3FF59C3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9E2CAB7C-8D9F-EB12-2049-65D6289BE7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Optimizing for energy, cont’d.</a:t>
            </a:r>
          </a:p>
        </p:txBody>
      </p:sp>
      <p:sp>
        <p:nvSpPr>
          <p:cNvPr id="33797" name="Rectangle 3">
            <a:extLst>
              <a:ext uri="{FF2B5EF4-FFF2-40B4-BE49-F238E27FC236}">
                <a16:creationId xmlns:a16="http://schemas.microsoft.com/office/drawing/2014/main" id="{4571E749-A902-FA31-8797-312BBB275D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Use registers efficiently.</a:t>
            </a:r>
          </a:p>
          <a:p>
            <a:r>
              <a:rPr lang="en-US" altLang="en-US"/>
              <a:t>Identify and eliminate cache conflicts.</a:t>
            </a:r>
          </a:p>
          <a:p>
            <a:r>
              <a:rPr lang="en-US" altLang="en-US"/>
              <a:t>Moderate loop unrolling eliminates some loop overhead instructions.</a:t>
            </a:r>
          </a:p>
          <a:p>
            <a:r>
              <a:rPr lang="en-US" altLang="en-US"/>
              <a:t>Eliminate pipeline stalls.</a:t>
            </a:r>
          </a:p>
          <a:p>
            <a:r>
              <a:rPr lang="en-US" altLang="en-US"/>
              <a:t>Inlining procedures may help: reduces linkage, but may increase cache thrashing.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6FD0370F-C550-7AC0-B789-10B2DF2A6D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Efficient loops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2FA52B6A-0DA3-F13D-74E4-9292CC60DD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General rules:</a:t>
            </a:r>
          </a:p>
          <a:p>
            <a:pPr lvl="1"/>
            <a:r>
              <a:rPr lang="en-US" altLang="en-US"/>
              <a:t>Don’t use function calls.</a:t>
            </a:r>
          </a:p>
          <a:p>
            <a:pPr lvl="1"/>
            <a:r>
              <a:rPr lang="en-US" altLang="en-US"/>
              <a:t>Keep loop body small to enable local repeat (only forward branches).</a:t>
            </a:r>
          </a:p>
          <a:p>
            <a:pPr lvl="1"/>
            <a:r>
              <a:rPr lang="en-US" altLang="en-US"/>
              <a:t>Use unsigned integer for loop counter.</a:t>
            </a:r>
          </a:p>
          <a:p>
            <a:pPr lvl="1"/>
            <a:r>
              <a:rPr lang="en-US" altLang="en-US"/>
              <a:t>Use &lt;= to test loop counter.</a:t>
            </a:r>
          </a:p>
          <a:p>
            <a:pPr lvl="1"/>
            <a:r>
              <a:rPr lang="en-US" altLang="en-US"/>
              <a:t>Make use of compiler---global optimization, software pipelining.</a:t>
            </a:r>
          </a:p>
        </p:txBody>
      </p:sp>
      <p:sp>
        <p:nvSpPr>
          <p:cNvPr id="34820" name="Date Placeholder 3">
            <a:extLst>
              <a:ext uri="{FF2B5EF4-FFF2-40B4-BE49-F238E27FC236}">
                <a16:creationId xmlns:a16="http://schemas.microsoft.com/office/drawing/2014/main" id="{CB7BD242-0110-055B-A3E8-6862F78C70B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34821" name="Footer Placeholder 4">
            <a:extLst>
              <a:ext uri="{FF2B5EF4-FFF2-40B4-BE49-F238E27FC236}">
                <a16:creationId xmlns:a16="http://schemas.microsoft.com/office/drawing/2014/main" id="{E8496F9C-67C7-E674-F2DB-1C46972D1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DD8AF3DF-5182-51E7-BD98-EE2AF93486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Single-instruction repeat loop example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DB66DEC-D0EA-43D9-6E15-F1F0457A0E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Arial Unicode MS" panose="020B0604020202020204" pitchFamily="34" charset="-128"/>
              </a:rPr>
              <a:t>STM #4000h,AR2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Arial Unicode MS" panose="020B0604020202020204" pitchFamily="34" charset="-128"/>
              </a:rPr>
              <a:t>	; load pointer to source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Arial Unicode MS" panose="020B0604020202020204" pitchFamily="34" charset="-128"/>
              </a:rPr>
              <a:t>STM #100h,AR3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Arial Unicode MS" panose="020B0604020202020204" pitchFamily="34" charset="-128"/>
              </a:rPr>
              <a:t>	; load pointer to destination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Arial Unicode MS" panose="020B0604020202020204" pitchFamily="34" charset="-128"/>
              </a:rPr>
              <a:t>RPT #(1024-1)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Arial Unicode MS" panose="020B0604020202020204" pitchFamily="34" charset="-128"/>
              </a:rPr>
              <a:t>MVDD *AR2+,*AR3+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Arial Unicode MS" panose="020B0604020202020204" pitchFamily="34" charset="-128"/>
              </a:rPr>
              <a:t>	; move</a:t>
            </a:r>
          </a:p>
        </p:txBody>
      </p:sp>
      <p:sp>
        <p:nvSpPr>
          <p:cNvPr id="35844" name="Date Placeholder 3">
            <a:extLst>
              <a:ext uri="{FF2B5EF4-FFF2-40B4-BE49-F238E27FC236}">
                <a16:creationId xmlns:a16="http://schemas.microsoft.com/office/drawing/2014/main" id="{A011C20F-1794-55E3-A2D4-1D81002CD83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35845" name="Footer Placeholder 4">
            <a:extLst>
              <a:ext uri="{FF2B5EF4-FFF2-40B4-BE49-F238E27FC236}">
                <a16:creationId xmlns:a16="http://schemas.microsoft.com/office/drawing/2014/main" id="{17981AA8-0D9D-454A-DC27-2067B42BA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Date Placeholder 3">
            <a:extLst>
              <a:ext uri="{FF2B5EF4-FFF2-40B4-BE49-F238E27FC236}">
                <a16:creationId xmlns:a16="http://schemas.microsoft.com/office/drawing/2014/main" id="{71DE2DB8-448D-340D-6A04-C417A95EB65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36867" name="Footer Placeholder 4">
            <a:extLst>
              <a:ext uri="{FF2B5EF4-FFF2-40B4-BE49-F238E27FC236}">
                <a16:creationId xmlns:a16="http://schemas.microsoft.com/office/drawing/2014/main" id="{D0265482-4387-3B10-621E-A174040A9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id="{1870D462-783F-7962-1CAE-CDCF9FFAC3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Optimizing for program size</a:t>
            </a:r>
          </a:p>
        </p:txBody>
      </p:sp>
      <p:sp>
        <p:nvSpPr>
          <p:cNvPr id="36869" name="Rectangle 3">
            <a:extLst>
              <a:ext uri="{FF2B5EF4-FFF2-40B4-BE49-F238E27FC236}">
                <a16:creationId xmlns:a16="http://schemas.microsoft.com/office/drawing/2014/main" id="{8555E6FF-A89D-F324-CA19-38556AE340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Goal:</a:t>
            </a:r>
          </a:p>
          <a:p>
            <a:pPr lvl="1"/>
            <a:r>
              <a:rPr lang="en-US" altLang="en-US"/>
              <a:t>reduce hardware cost of memory;</a:t>
            </a:r>
          </a:p>
          <a:p>
            <a:pPr lvl="1"/>
            <a:r>
              <a:rPr lang="en-US" altLang="en-US"/>
              <a:t>reduce power consumption of memory units.</a:t>
            </a:r>
          </a:p>
          <a:p>
            <a:r>
              <a:rPr lang="en-US" altLang="en-US"/>
              <a:t>Two opportunities:</a:t>
            </a:r>
          </a:p>
          <a:p>
            <a:pPr lvl="1"/>
            <a:r>
              <a:rPr lang="en-US" altLang="en-US"/>
              <a:t>data;</a:t>
            </a:r>
          </a:p>
          <a:p>
            <a:pPr lvl="1"/>
            <a:r>
              <a:rPr lang="en-US" altLang="en-US"/>
              <a:t>instructions.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Date Placeholder 3">
            <a:extLst>
              <a:ext uri="{FF2B5EF4-FFF2-40B4-BE49-F238E27FC236}">
                <a16:creationId xmlns:a16="http://schemas.microsoft.com/office/drawing/2014/main" id="{A3A2A381-5609-09DB-7FAB-C0F555F42B3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37891" name="Footer Placeholder 4">
            <a:extLst>
              <a:ext uri="{FF2B5EF4-FFF2-40B4-BE49-F238E27FC236}">
                <a16:creationId xmlns:a16="http://schemas.microsoft.com/office/drawing/2014/main" id="{529B54E5-A025-5B52-61A3-8D1368213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7892" name="Rectangle 2">
            <a:extLst>
              <a:ext uri="{FF2B5EF4-FFF2-40B4-BE49-F238E27FC236}">
                <a16:creationId xmlns:a16="http://schemas.microsoft.com/office/drawing/2014/main" id="{2AA3F031-6398-891B-CE75-27666935C4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 size minimization</a:t>
            </a:r>
          </a:p>
        </p:txBody>
      </p:sp>
      <p:sp>
        <p:nvSpPr>
          <p:cNvPr id="37893" name="Rectangle 3">
            <a:extLst>
              <a:ext uri="{FF2B5EF4-FFF2-40B4-BE49-F238E27FC236}">
                <a16:creationId xmlns:a16="http://schemas.microsoft.com/office/drawing/2014/main" id="{59A7AF39-FFED-2A6A-44E4-6E4A4C7DB3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Reuse constants, variables, data buffers in different parts of code.</a:t>
            </a:r>
          </a:p>
          <a:p>
            <a:pPr lvl="1"/>
            <a:r>
              <a:rPr lang="en-US" altLang="en-US"/>
              <a:t>Requires careful verification of correctness.</a:t>
            </a:r>
          </a:p>
          <a:p>
            <a:r>
              <a:rPr lang="en-US" altLang="en-US"/>
              <a:t>Generate data using instructions.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Date Placeholder 3">
            <a:extLst>
              <a:ext uri="{FF2B5EF4-FFF2-40B4-BE49-F238E27FC236}">
                <a16:creationId xmlns:a16="http://schemas.microsoft.com/office/drawing/2014/main" id="{5CB21951-09B8-7D61-576F-31CE27AC0A4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38915" name="Footer Placeholder 4">
            <a:extLst>
              <a:ext uri="{FF2B5EF4-FFF2-40B4-BE49-F238E27FC236}">
                <a16:creationId xmlns:a16="http://schemas.microsoft.com/office/drawing/2014/main" id="{213A596A-7133-AD47-4B25-A71C9DD3A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8916" name="Rectangle 2">
            <a:extLst>
              <a:ext uri="{FF2B5EF4-FFF2-40B4-BE49-F238E27FC236}">
                <a16:creationId xmlns:a16="http://schemas.microsoft.com/office/drawing/2014/main" id="{9E22383B-7E31-D369-447A-E9CFD387F1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Reducing code size</a:t>
            </a:r>
          </a:p>
        </p:txBody>
      </p:sp>
      <p:sp>
        <p:nvSpPr>
          <p:cNvPr id="38917" name="Rectangle 3">
            <a:extLst>
              <a:ext uri="{FF2B5EF4-FFF2-40B4-BE49-F238E27FC236}">
                <a16:creationId xmlns:a16="http://schemas.microsoft.com/office/drawing/2014/main" id="{B4F8C849-FA0E-54D8-A646-5295A64705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Avoid function inlining.</a:t>
            </a:r>
          </a:p>
          <a:p>
            <a:r>
              <a:rPr lang="en-US" altLang="en-US"/>
              <a:t>Choose CPU with compact instructions.</a:t>
            </a:r>
          </a:p>
          <a:p>
            <a:r>
              <a:rPr lang="en-US" altLang="en-US"/>
              <a:t>Use specialized instructions where possible.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Date Placeholder 3">
            <a:extLst>
              <a:ext uri="{FF2B5EF4-FFF2-40B4-BE49-F238E27FC236}">
                <a16:creationId xmlns:a16="http://schemas.microsoft.com/office/drawing/2014/main" id="{DE19E7B7-3874-7A17-2DEF-86FB55C13FE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39939" name="Footer Placeholder 4">
            <a:extLst>
              <a:ext uri="{FF2B5EF4-FFF2-40B4-BE49-F238E27FC236}">
                <a16:creationId xmlns:a16="http://schemas.microsoft.com/office/drawing/2014/main" id="{4DAA910A-734E-5788-E2F4-67E2D8CBC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9940" name="Rectangle 2">
            <a:extLst>
              <a:ext uri="{FF2B5EF4-FFF2-40B4-BE49-F238E27FC236}">
                <a16:creationId xmlns:a16="http://schemas.microsoft.com/office/drawing/2014/main" id="{93EBB566-CFAA-53DF-BC90-629C955172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Program validation and testing</a:t>
            </a:r>
          </a:p>
        </p:txBody>
      </p:sp>
      <p:sp>
        <p:nvSpPr>
          <p:cNvPr id="39941" name="Rectangle 3">
            <a:extLst>
              <a:ext uri="{FF2B5EF4-FFF2-40B4-BE49-F238E27FC236}">
                <a16:creationId xmlns:a16="http://schemas.microsoft.com/office/drawing/2014/main" id="{7FFBF6C0-198F-180B-B4DE-027A738858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But does it work?</a:t>
            </a:r>
          </a:p>
          <a:p>
            <a:r>
              <a:rPr lang="en-US" altLang="en-US"/>
              <a:t>Concentrate here on functional verification.</a:t>
            </a:r>
          </a:p>
          <a:p>
            <a:r>
              <a:rPr lang="en-US" altLang="en-US"/>
              <a:t>Major testing strategies:</a:t>
            </a:r>
          </a:p>
          <a:p>
            <a:pPr lvl="1"/>
            <a:r>
              <a:rPr lang="en-US" altLang="en-US"/>
              <a:t>Black box doesn’t look at the source code.</a:t>
            </a:r>
          </a:p>
          <a:p>
            <a:pPr lvl="1"/>
            <a:r>
              <a:rPr lang="en-US" altLang="en-US"/>
              <a:t>Clear box (white box) does look at the source code.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Date Placeholder 3">
            <a:extLst>
              <a:ext uri="{FF2B5EF4-FFF2-40B4-BE49-F238E27FC236}">
                <a16:creationId xmlns:a16="http://schemas.microsoft.com/office/drawing/2014/main" id="{F6C6246B-6BF4-0D09-9D7E-BCA502E101B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40963" name="Footer Placeholder 4">
            <a:extLst>
              <a:ext uri="{FF2B5EF4-FFF2-40B4-BE49-F238E27FC236}">
                <a16:creationId xmlns:a16="http://schemas.microsoft.com/office/drawing/2014/main" id="{DD9644CF-8AD7-A8B8-CFAE-66341E963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0964" name="Rectangle 2">
            <a:extLst>
              <a:ext uri="{FF2B5EF4-FFF2-40B4-BE49-F238E27FC236}">
                <a16:creationId xmlns:a16="http://schemas.microsoft.com/office/drawing/2014/main" id="{9D9B707C-2B69-06AE-927F-F3B75CFC3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Clear-box testing</a:t>
            </a:r>
          </a:p>
        </p:txBody>
      </p:sp>
      <p:sp>
        <p:nvSpPr>
          <p:cNvPr id="40965" name="Rectangle 3">
            <a:extLst>
              <a:ext uri="{FF2B5EF4-FFF2-40B4-BE49-F238E27FC236}">
                <a16:creationId xmlns:a16="http://schemas.microsoft.com/office/drawing/2014/main" id="{C55D4CE3-1D52-276F-0CCF-0AFBDE8DE1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/>
              <a:t>Examine the source code to determine whether it works:</a:t>
            </a:r>
          </a:p>
          <a:p>
            <a:pPr lvl="1"/>
            <a:r>
              <a:rPr lang="en-US" altLang="en-US" sz="2400"/>
              <a:t>Can you actually exercise a path?</a:t>
            </a:r>
          </a:p>
          <a:p>
            <a:pPr lvl="1"/>
            <a:r>
              <a:rPr lang="en-US" altLang="en-US" sz="2400"/>
              <a:t>Do you get the value you expect along a path?</a:t>
            </a:r>
          </a:p>
          <a:p>
            <a:r>
              <a:rPr lang="en-US" altLang="en-US" sz="2800"/>
              <a:t>Testing procedure:</a:t>
            </a:r>
          </a:p>
          <a:p>
            <a:pPr lvl="1"/>
            <a:r>
              <a:rPr lang="en-US" altLang="en-US" sz="2400">
                <a:solidFill>
                  <a:srgbClr val="FF0000"/>
                </a:solidFill>
              </a:rPr>
              <a:t>Controllability</a:t>
            </a:r>
            <a:r>
              <a:rPr lang="en-US" altLang="en-US" sz="2400"/>
              <a:t>: rovide program with inputs.</a:t>
            </a:r>
          </a:p>
          <a:p>
            <a:pPr lvl="1"/>
            <a:r>
              <a:rPr lang="en-US" altLang="en-US" sz="2400"/>
              <a:t>Execute.</a:t>
            </a:r>
          </a:p>
          <a:p>
            <a:pPr lvl="1"/>
            <a:r>
              <a:rPr lang="en-US" altLang="en-US" sz="2400">
                <a:solidFill>
                  <a:srgbClr val="FF0000"/>
                </a:solidFill>
              </a:rPr>
              <a:t>Observability</a:t>
            </a:r>
            <a:r>
              <a:rPr lang="en-US" altLang="en-US" sz="2400"/>
              <a:t>: examine outputs.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C6F571C0-9FFC-CB13-AABA-22D240BCF4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Controlling and observing programs</a:t>
            </a:r>
          </a:p>
        </p:txBody>
      </p:sp>
      <p:sp>
        <p:nvSpPr>
          <p:cNvPr id="41987" name="Content Placeholder 5">
            <a:extLst>
              <a:ext uri="{FF2B5EF4-FFF2-40B4-BE49-F238E27FC236}">
                <a16:creationId xmlns:a16="http://schemas.microsoft.com/office/drawing/2014/main" id="{3B9CFDA3-8DDD-0E54-49B7-3C51DA8ADE9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 sz="1800"/>
              <a:t>firout = 0.0;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/>
              <a:t>for (j=curr, k=0; j&lt;N; j++, k++) 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/>
              <a:t>	firout += buff[j] * c[k];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/>
              <a:t>for (j=0; j&lt;curr; j++, k++)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/>
              <a:t>	firout += buff[j] * c[k];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/>
              <a:t>if (firout &gt; 100.0) firout = 100.0;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/>
              <a:t>if (firout &lt; -100.0) firout = -100.0;</a:t>
            </a:r>
          </a:p>
        </p:txBody>
      </p:sp>
      <p:sp>
        <p:nvSpPr>
          <p:cNvPr id="41988" name="Content Placeholder 6">
            <a:extLst>
              <a:ext uri="{FF2B5EF4-FFF2-40B4-BE49-F238E27FC236}">
                <a16:creationId xmlns:a16="http://schemas.microsoft.com/office/drawing/2014/main" id="{80F15346-211A-55A4-73C4-84D25FDEF04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en-US"/>
              <a:t>Controllability:</a:t>
            </a:r>
          </a:p>
          <a:p>
            <a:pPr lvl="1"/>
            <a:r>
              <a:rPr lang="en-US" altLang="en-US"/>
              <a:t>Must fill circular buffer with desired N values.</a:t>
            </a:r>
          </a:p>
          <a:p>
            <a:pPr lvl="1"/>
            <a:r>
              <a:rPr lang="en-US" altLang="en-US"/>
              <a:t>Other code governs how we access the buffer.</a:t>
            </a:r>
          </a:p>
          <a:p>
            <a:r>
              <a:rPr lang="en-US" altLang="en-US"/>
              <a:t>Observability:</a:t>
            </a:r>
          </a:p>
          <a:p>
            <a:pPr lvl="1"/>
            <a:r>
              <a:rPr lang="en-US" altLang="en-US"/>
              <a:t>Want to examine firout before limit testing.</a:t>
            </a:r>
          </a:p>
        </p:txBody>
      </p:sp>
      <p:sp>
        <p:nvSpPr>
          <p:cNvPr id="41989" name="Date Placeholder 3">
            <a:extLst>
              <a:ext uri="{FF2B5EF4-FFF2-40B4-BE49-F238E27FC236}">
                <a16:creationId xmlns:a16="http://schemas.microsoft.com/office/drawing/2014/main" id="{8942B314-AF12-A1DA-11D0-E58AC72F4AB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41990" name="Footer Placeholder 4">
            <a:extLst>
              <a:ext uri="{FF2B5EF4-FFF2-40B4-BE49-F238E27FC236}">
                <a16:creationId xmlns:a16="http://schemas.microsoft.com/office/drawing/2014/main" id="{53972C62-7E23-3833-B0FD-9D0C6CC63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Date Placeholder 3">
            <a:extLst>
              <a:ext uri="{FF2B5EF4-FFF2-40B4-BE49-F238E27FC236}">
                <a16:creationId xmlns:a16="http://schemas.microsoft.com/office/drawing/2014/main" id="{048C60CB-D39F-AB4E-5CE6-BB52C3663FB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43011" name="Footer Placeholder 4">
            <a:extLst>
              <a:ext uri="{FF2B5EF4-FFF2-40B4-BE49-F238E27FC236}">
                <a16:creationId xmlns:a16="http://schemas.microsoft.com/office/drawing/2014/main" id="{A34E99A9-2EA0-0071-7881-8CC9AA995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3012" name="Rectangle 2">
            <a:extLst>
              <a:ext uri="{FF2B5EF4-FFF2-40B4-BE49-F238E27FC236}">
                <a16:creationId xmlns:a16="http://schemas.microsoft.com/office/drawing/2014/main" id="{512259ED-AA76-32A6-0E74-713FFC7FDF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Execution paths and testing</a:t>
            </a:r>
          </a:p>
        </p:txBody>
      </p:sp>
      <p:sp>
        <p:nvSpPr>
          <p:cNvPr id="43013" name="Rectangle 3">
            <a:extLst>
              <a:ext uri="{FF2B5EF4-FFF2-40B4-BE49-F238E27FC236}">
                <a16:creationId xmlns:a16="http://schemas.microsoft.com/office/drawing/2014/main" id="{7F88CF37-3BAD-8444-79C5-871169EBFB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Paths are important in functional testing as well as performance analysis.</a:t>
            </a:r>
          </a:p>
          <a:p>
            <a:r>
              <a:rPr lang="en-US" altLang="en-US"/>
              <a:t>In general, an exponential number of paths through the program.</a:t>
            </a:r>
          </a:p>
          <a:p>
            <a:pPr lvl="1"/>
            <a:r>
              <a:rPr lang="en-US" altLang="en-US"/>
              <a:t>Show that some paths dominate others.</a:t>
            </a:r>
          </a:p>
          <a:p>
            <a:pPr lvl="1"/>
            <a:r>
              <a:rPr lang="en-US" altLang="en-US"/>
              <a:t>Heuristically limit paths.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EFFC5EB8-96A0-5BE1-3381-A7722FD4C0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Choosing the paths to test</a:t>
            </a:r>
          </a:p>
        </p:txBody>
      </p:sp>
      <p:sp>
        <p:nvSpPr>
          <p:cNvPr id="44035" name="Content Placeholder 5">
            <a:extLst>
              <a:ext uri="{FF2B5EF4-FFF2-40B4-BE49-F238E27FC236}">
                <a16:creationId xmlns:a16="http://schemas.microsoft.com/office/drawing/2014/main" id="{BD2C4E76-6140-7C10-230F-5E0DBC25F8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/>
              <a:t>Possible criteria:</a:t>
            </a:r>
          </a:p>
          <a:p>
            <a:pPr lvl="1"/>
            <a:r>
              <a:rPr lang="en-US" altLang="en-US"/>
              <a:t>Execute every statement at least once.</a:t>
            </a:r>
          </a:p>
          <a:p>
            <a:pPr lvl="1"/>
            <a:r>
              <a:rPr lang="en-US" altLang="en-US"/>
              <a:t>Execute every branch direction at least once.</a:t>
            </a:r>
          </a:p>
          <a:p>
            <a:r>
              <a:rPr lang="en-US" altLang="en-US"/>
              <a:t>Equivalent for structured programs.</a:t>
            </a:r>
          </a:p>
          <a:p>
            <a:r>
              <a:rPr lang="en-US" altLang="en-US"/>
              <a:t>Not true for gotos.</a:t>
            </a:r>
          </a:p>
        </p:txBody>
      </p:sp>
      <p:sp>
        <p:nvSpPr>
          <p:cNvPr id="44036" name="Date Placeholder 3">
            <a:extLst>
              <a:ext uri="{FF2B5EF4-FFF2-40B4-BE49-F238E27FC236}">
                <a16:creationId xmlns:a16="http://schemas.microsoft.com/office/drawing/2014/main" id="{1B96BF4B-2B63-F903-A836-1CA18E46089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44037" name="Footer Placeholder 4">
            <a:extLst>
              <a:ext uri="{FF2B5EF4-FFF2-40B4-BE49-F238E27FC236}">
                <a16:creationId xmlns:a16="http://schemas.microsoft.com/office/drawing/2014/main" id="{B706ADDE-6B2F-CA49-DE38-FBDBCA455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4038" name="Rectangle 7">
            <a:extLst>
              <a:ext uri="{FF2B5EF4-FFF2-40B4-BE49-F238E27FC236}">
                <a16:creationId xmlns:a16="http://schemas.microsoft.com/office/drawing/2014/main" id="{EC6A5845-629D-CA34-EBEF-3EF0B66D1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1905000"/>
            <a:ext cx="9906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44039" name="Diamond 8">
            <a:extLst>
              <a:ext uri="{FF2B5EF4-FFF2-40B4-BE49-F238E27FC236}">
                <a16:creationId xmlns:a16="http://schemas.microsoft.com/office/drawing/2014/main" id="{48A1C03E-52ED-FC53-6D7E-733A40D2C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667000"/>
            <a:ext cx="990600" cy="381000"/>
          </a:xfrm>
          <a:prstGeom prst="diamond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cxnSp>
        <p:nvCxnSpPr>
          <p:cNvPr id="44040" name="Straight Arrow Connector 10">
            <a:extLst>
              <a:ext uri="{FF2B5EF4-FFF2-40B4-BE49-F238E27FC236}">
                <a16:creationId xmlns:a16="http://schemas.microsoft.com/office/drawing/2014/main" id="{0BC5AB73-AE5C-6193-5F4D-72BDF93B6854}"/>
              </a:ext>
            </a:extLst>
          </p:cNvPr>
          <p:cNvCxnSpPr>
            <a:cxnSpLocks noChangeShapeType="1"/>
            <a:stCxn id="44038" idx="2"/>
            <a:endCxn id="44039" idx="0"/>
          </p:cNvCxnSpPr>
          <p:nvPr/>
        </p:nvCxnSpPr>
        <p:spPr bwMode="auto">
          <a:xfrm rot="5400000">
            <a:off x="6362701" y="2514600"/>
            <a:ext cx="304800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041" name="Rectangle 16">
            <a:extLst>
              <a:ext uri="{FF2B5EF4-FFF2-40B4-BE49-F238E27FC236}">
                <a16:creationId xmlns:a16="http://schemas.microsoft.com/office/drawing/2014/main" id="{6470EA17-F55E-28F3-9365-10F650B55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2590800"/>
            <a:ext cx="990600" cy="533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44042" name="Rectangle 17">
            <a:extLst>
              <a:ext uri="{FF2B5EF4-FFF2-40B4-BE49-F238E27FC236}">
                <a16:creationId xmlns:a16="http://schemas.microsoft.com/office/drawing/2014/main" id="{80BA7C40-7912-BF9B-FC26-32BB875F3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3352800"/>
            <a:ext cx="9906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44043" name="Diamond 18">
            <a:extLst>
              <a:ext uri="{FF2B5EF4-FFF2-40B4-BE49-F238E27FC236}">
                <a16:creationId xmlns:a16="http://schemas.microsoft.com/office/drawing/2014/main" id="{6BB500E7-A392-F072-470C-B002228DF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4114800"/>
            <a:ext cx="990600" cy="381000"/>
          </a:xfrm>
          <a:prstGeom prst="diamond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cxnSp>
        <p:nvCxnSpPr>
          <p:cNvPr id="44044" name="Straight Arrow Connector 21">
            <a:extLst>
              <a:ext uri="{FF2B5EF4-FFF2-40B4-BE49-F238E27FC236}">
                <a16:creationId xmlns:a16="http://schemas.microsoft.com/office/drawing/2014/main" id="{32A33A25-87B0-E087-AEBA-1AEE214FB186}"/>
              </a:ext>
            </a:extLst>
          </p:cNvPr>
          <p:cNvCxnSpPr>
            <a:cxnSpLocks noChangeShapeType="1"/>
            <a:stCxn id="44039" idx="2"/>
            <a:endCxn id="44042" idx="0"/>
          </p:cNvCxnSpPr>
          <p:nvPr/>
        </p:nvCxnSpPr>
        <p:spPr bwMode="auto">
          <a:xfrm rot="5400000">
            <a:off x="6362701" y="3200400"/>
            <a:ext cx="304800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5" name="Straight Arrow Connector 24">
            <a:extLst>
              <a:ext uri="{FF2B5EF4-FFF2-40B4-BE49-F238E27FC236}">
                <a16:creationId xmlns:a16="http://schemas.microsoft.com/office/drawing/2014/main" id="{65B77522-D087-B7FB-A29C-18B8037E6A95}"/>
              </a:ext>
            </a:extLst>
          </p:cNvPr>
          <p:cNvCxnSpPr>
            <a:cxnSpLocks noChangeShapeType="1"/>
            <a:stCxn id="44042" idx="2"/>
            <a:endCxn id="44043" idx="0"/>
          </p:cNvCxnSpPr>
          <p:nvPr/>
        </p:nvCxnSpPr>
        <p:spPr bwMode="auto">
          <a:xfrm rot="5400000">
            <a:off x="6362701" y="3962400"/>
            <a:ext cx="304800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6" name="Straight Arrow Connector 26">
            <a:extLst>
              <a:ext uri="{FF2B5EF4-FFF2-40B4-BE49-F238E27FC236}">
                <a16:creationId xmlns:a16="http://schemas.microsoft.com/office/drawing/2014/main" id="{5A40D54D-57B3-282C-4392-0C52604C7862}"/>
              </a:ext>
            </a:extLst>
          </p:cNvPr>
          <p:cNvCxnSpPr>
            <a:cxnSpLocks noChangeShapeType="1"/>
            <a:stCxn id="44039" idx="3"/>
            <a:endCxn id="44041" idx="1"/>
          </p:cNvCxnSpPr>
          <p:nvPr/>
        </p:nvCxnSpPr>
        <p:spPr bwMode="auto">
          <a:xfrm>
            <a:off x="7010400" y="2857500"/>
            <a:ext cx="4572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047" name="Rectangle 29">
            <a:extLst>
              <a:ext uri="{FF2B5EF4-FFF2-40B4-BE49-F238E27FC236}">
                <a16:creationId xmlns:a16="http://schemas.microsoft.com/office/drawing/2014/main" id="{A4ABB301-9FB7-B8F7-56BD-8249FA0EC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4800600"/>
            <a:ext cx="9906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cxnSp>
        <p:nvCxnSpPr>
          <p:cNvPr id="44048" name="Straight Arrow Connector 31">
            <a:extLst>
              <a:ext uri="{FF2B5EF4-FFF2-40B4-BE49-F238E27FC236}">
                <a16:creationId xmlns:a16="http://schemas.microsoft.com/office/drawing/2014/main" id="{7319AE9D-53FE-4D03-F0BA-DF030C97DE94}"/>
              </a:ext>
            </a:extLst>
          </p:cNvPr>
          <p:cNvCxnSpPr>
            <a:cxnSpLocks noChangeShapeType="1"/>
            <a:stCxn id="44043" idx="2"/>
            <a:endCxn id="44047" idx="0"/>
          </p:cNvCxnSpPr>
          <p:nvPr/>
        </p:nvCxnSpPr>
        <p:spPr bwMode="auto">
          <a:xfrm rot="5400000">
            <a:off x="6362701" y="4648200"/>
            <a:ext cx="304800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9" name="Shape 33">
            <a:extLst>
              <a:ext uri="{FF2B5EF4-FFF2-40B4-BE49-F238E27FC236}">
                <a16:creationId xmlns:a16="http://schemas.microsoft.com/office/drawing/2014/main" id="{E7BD1B43-373D-712C-5EEE-94BA43937AC8}"/>
              </a:ext>
            </a:extLst>
          </p:cNvPr>
          <p:cNvCxnSpPr>
            <a:cxnSpLocks noChangeShapeType="1"/>
            <a:stCxn id="44041" idx="2"/>
            <a:endCxn id="44047" idx="3"/>
          </p:cNvCxnSpPr>
          <p:nvPr/>
        </p:nvCxnSpPr>
        <p:spPr bwMode="auto">
          <a:xfrm rot="5400000">
            <a:off x="6534150" y="3600450"/>
            <a:ext cx="1905000" cy="952500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0" name="Elbow Connector 35">
            <a:extLst>
              <a:ext uri="{FF2B5EF4-FFF2-40B4-BE49-F238E27FC236}">
                <a16:creationId xmlns:a16="http://schemas.microsoft.com/office/drawing/2014/main" id="{AB1902CB-472B-57B0-2576-B14C0A326C24}"/>
              </a:ext>
            </a:extLst>
          </p:cNvPr>
          <p:cNvCxnSpPr>
            <a:cxnSpLocks noChangeShapeType="1"/>
            <a:stCxn id="44043" idx="1"/>
            <a:endCxn id="44038" idx="1"/>
          </p:cNvCxnSpPr>
          <p:nvPr/>
        </p:nvCxnSpPr>
        <p:spPr bwMode="auto">
          <a:xfrm rot="10800000">
            <a:off x="6019800" y="2133600"/>
            <a:ext cx="1588" cy="2171700"/>
          </a:xfrm>
          <a:prstGeom prst="bentConnector3">
            <a:avLst>
              <a:gd name="adj1" fmla="val 14395468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D77B137-C735-1297-27EE-A2E54F1CFCE4}"/>
              </a:ext>
            </a:extLst>
          </p:cNvPr>
          <p:cNvCxnSpPr/>
          <p:nvPr/>
        </p:nvCxnSpPr>
        <p:spPr bwMode="auto">
          <a:xfrm rot="5400000">
            <a:off x="4838701" y="3619500"/>
            <a:ext cx="2971800" cy="317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B6272CA-BD68-C550-FD12-A2F2A208C425}"/>
              </a:ext>
            </a:extLst>
          </p:cNvPr>
          <p:cNvCxnSpPr/>
          <p:nvPr/>
        </p:nvCxnSpPr>
        <p:spPr bwMode="auto">
          <a:xfrm rot="5400000">
            <a:off x="6286501" y="2476500"/>
            <a:ext cx="685800" cy="317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E07DF36-5279-9446-399D-8B786796BF23}"/>
              </a:ext>
            </a:extLst>
          </p:cNvPr>
          <p:cNvCxnSpPr/>
          <p:nvPr/>
        </p:nvCxnSpPr>
        <p:spPr bwMode="auto">
          <a:xfrm>
            <a:off x="6629400" y="2819400"/>
            <a:ext cx="1219200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B26BFE0-05E7-0A7E-BE77-F533DFBC29AA}"/>
              </a:ext>
            </a:extLst>
          </p:cNvPr>
          <p:cNvCxnSpPr/>
          <p:nvPr/>
        </p:nvCxnSpPr>
        <p:spPr bwMode="auto">
          <a:xfrm rot="5400000">
            <a:off x="6819901" y="3848100"/>
            <a:ext cx="2057400" cy="317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7ABD15C-72AA-CFCA-951F-BE3CFCE7D82F}"/>
              </a:ext>
            </a:extLst>
          </p:cNvPr>
          <p:cNvCxnSpPr/>
          <p:nvPr/>
        </p:nvCxnSpPr>
        <p:spPr bwMode="auto">
          <a:xfrm rot="10800000">
            <a:off x="6705600" y="4876800"/>
            <a:ext cx="1143000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9F8C553A-5C3F-06E4-EEA7-0E79E8F4A089}"/>
              </a:ext>
            </a:extLst>
          </p:cNvPr>
          <p:cNvCxnSpPr>
            <a:stCxn id="44043" idx="1"/>
            <a:endCxn id="44038" idx="1"/>
          </p:cNvCxnSpPr>
          <p:nvPr/>
        </p:nvCxnSpPr>
        <p:spPr bwMode="auto">
          <a:xfrm rot="10800000">
            <a:off x="6019800" y="2133600"/>
            <a:ext cx="1588" cy="2171700"/>
          </a:xfrm>
          <a:prstGeom prst="bentConnector3">
            <a:avLst>
              <a:gd name="adj1" fmla="val 14395466"/>
            </a:avLst>
          </a:prstGeom>
          <a:ln>
            <a:solidFill>
              <a:schemeClr val="accent1"/>
            </a:solidFill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2C2B2A30-2EB8-1098-94B7-DFCDF87AFA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2895600"/>
            <a:ext cx="16271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>
                <a:solidFill>
                  <a:srgbClr val="FF0000"/>
                </a:solidFill>
              </a:rPr>
              <a:t>not covered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7B869CC5-DEBE-6F71-9630-9E78BDC3CA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Basis paths</a:t>
            </a:r>
          </a:p>
        </p:txBody>
      </p:sp>
      <p:pic>
        <p:nvPicPr>
          <p:cNvPr id="45059" name="Content Placeholder 7" descr="f05-26-P374397.eps">
            <a:extLst>
              <a:ext uri="{FF2B5EF4-FFF2-40B4-BE49-F238E27FC236}">
                <a16:creationId xmlns:a16="http://schemas.microsoft.com/office/drawing/2014/main" id="{180B7892-E478-2572-54A3-5275754EAA4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2438400"/>
            <a:ext cx="4013200" cy="2870200"/>
          </a:xfrm>
        </p:spPr>
      </p:pic>
      <p:sp>
        <p:nvSpPr>
          <p:cNvPr id="45060" name="Content Placeholder 8">
            <a:extLst>
              <a:ext uri="{FF2B5EF4-FFF2-40B4-BE49-F238E27FC236}">
                <a16:creationId xmlns:a16="http://schemas.microsoft.com/office/drawing/2014/main" id="{F88D65C4-7763-E9C7-0D93-506798514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1905000"/>
            <a:ext cx="4013200" cy="4171950"/>
          </a:xfrm>
        </p:spPr>
        <p:txBody>
          <a:bodyPr/>
          <a:lstStyle/>
          <a:p>
            <a:r>
              <a:rPr lang="en-US" altLang="en-US"/>
              <a:t>Approximate CDFG with undirected graph.</a:t>
            </a:r>
          </a:p>
          <a:p>
            <a:r>
              <a:rPr lang="en-US" altLang="en-US"/>
              <a:t>Undirected graphs have basis paths:</a:t>
            </a:r>
          </a:p>
          <a:p>
            <a:pPr lvl="1"/>
            <a:r>
              <a:rPr lang="en-US" altLang="en-US"/>
              <a:t>All paths are linear combinations of basis paths.</a:t>
            </a:r>
          </a:p>
        </p:txBody>
      </p:sp>
      <p:sp>
        <p:nvSpPr>
          <p:cNvPr id="45061" name="Date Placeholder 3">
            <a:extLst>
              <a:ext uri="{FF2B5EF4-FFF2-40B4-BE49-F238E27FC236}">
                <a16:creationId xmlns:a16="http://schemas.microsoft.com/office/drawing/2014/main" id="{6EFD6B51-AC0D-5B9D-1BDD-6554806F2B3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45062" name="Footer Placeholder 4">
            <a:extLst>
              <a:ext uri="{FF2B5EF4-FFF2-40B4-BE49-F238E27FC236}">
                <a16:creationId xmlns:a16="http://schemas.microsoft.com/office/drawing/2014/main" id="{9C4EE258-7DAE-AA82-B9CD-3A356278F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CB121F60-B30F-6AE8-1172-1CA897868A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Cyclomatic complexity</a:t>
            </a:r>
          </a:p>
        </p:txBody>
      </p:sp>
      <p:pic>
        <p:nvPicPr>
          <p:cNvPr id="46083" name="Content Placeholder 9" descr="f05-27-P374397.eps">
            <a:extLst>
              <a:ext uri="{FF2B5EF4-FFF2-40B4-BE49-F238E27FC236}">
                <a16:creationId xmlns:a16="http://schemas.microsoft.com/office/drawing/2014/main" id="{F5638A46-437D-0E1B-0AC6-1CE4B350917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2209800"/>
            <a:ext cx="4013200" cy="3659188"/>
          </a:xfrm>
        </p:spPr>
      </p:pic>
      <p:sp>
        <p:nvSpPr>
          <p:cNvPr id="46084" name="Date Placeholder 3">
            <a:extLst>
              <a:ext uri="{FF2B5EF4-FFF2-40B4-BE49-F238E27FC236}">
                <a16:creationId xmlns:a16="http://schemas.microsoft.com/office/drawing/2014/main" id="{831871BE-2677-74FE-7F58-288E00F7A73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46085" name="Footer Placeholder 4">
            <a:extLst>
              <a:ext uri="{FF2B5EF4-FFF2-40B4-BE49-F238E27FC236}">
                <a16:creationId xmlns:a16="http://schemas.microsoft.com/office/drawing/2014/main" id="{FF7B13AD-4478-896D-83E5-BEC7AA520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6086" name="Content Placeholder 8">
            <a:extLst>
              <a:ext uri="{FF2B5EF4-FFF2-40B4-BE49-F238E27FC236}">
                <a16:creationId xmlns:a16="http://schemas.microsoft.com/office/drawing/2014/main" id="{D99ADD71-AB13-777A-7450-294B875FE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905000"/>
            <a:ext cx="4013200" cy="4171950"/>
          </a:xfrm>
        </p:spPr>
        <p:txBody>
          <a:bodyPr/>
          <a:lstStyle/>
          <a:p>
            <a:r>
              <a:rPr lang="en-US" altLang="en-US"/>
              <a:t>Cyclomatic complexity is a bound on the size of basis sets:</a:t>
            </a:r>
          </a:p>
          <a:p>
            <a:pPr lvl="1"/>
            <a:r>
              <a:rPr lang="en-US" altLang="en-US"/>
              <a:t>e = # edges</a:t>
            </a:r>
          </a:p>
          <a:p>
            <a:pPr lvl="1"/>
            <a:r>
              <a:rPr lang="en-US" altLang="en-US"/>
              <a:t>n = # nodes</a:t>
            </a:r>
          </a:p>
          <a:p>
            <a:pPr lvl="1"/>
            <a:r>
              <a:rPr lang="en-US" altLang="en-US"/>
              <a:t>p = number of graph components</a:t>
            </a:r>
          </a:p>
          <a:p>
            <a:pPr lvl="1"/>
            <a:r>
              <a:rPr lang="en-US" altLang="en-US"/>
              <a:t>M = e – n + 2p.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B8ED5916-715E-B9E6-61F7-FF546EC8C8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Branch testing</a:t>
            </a:r>
          </a:p>
        </p:txBody>
      </p:sp>
      <p:sp>
        <p:nvSpPr>
          <p:cNvPr id="47107" name="Content Placeholder 5">
            <a:extLst>
              <a:ext uri="{FF2B5EF4-FFF2-40B4-BE49-F238E27FC236}">
                <a16:creationId xmlns:a16="http://schemas.microsoft.com/office/drawing/2014/main" id="{CC8A02A2-E9E1-FCFF-E994-E0C958A19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Heuristic for testing branches.</a:t>
            </a:r>
          </a:p>
          <a:p>
            <a:pPr lvl="1"/>
            <a:r>
              <a:rPr lang="en-US" altLang="en-US"/>
              <a:t>Exercise true and false branches of conditional.</a:t>
            </a:r>
          </a:p>
          <a:p>
            <a:pPr lvl="1"/>
            <a:r>
              <a:rPr lang="en-US" altLang="en-US"/>
              <a:t>Exercise every simple condition at least once.</a:t>
            </a:r>
          </a:p>
        </p:txBody>
      </p:sp>
      <p:sp>
        <p:nvSpPr>
          <p:cNvPr id="47108" name="Date Placeholder 3">
            <a:extLst>
              <a:ext uri="{FF2B5EF4-FFF2-40B4-BE49-F238E27FC236}">
                <a16:creationId xmlns:a16="http://schemas.microsoft.com/office/drawing/2014/main" id="{53D0CF2D-B95F-4E16-E0F8-1EDB08FAE9E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47109" name="Footer Placeholder 4">
            <a:extLst>
              <a:ext uri="{FF2B5EF4-FFF2-40B4-BE49-F238E27FC236}">
                <a16:creationId xmlns:a16="http://schemas.microsoft.com/office/drawing/2014/main" id="{50278B9E-C0FC-4A7D-A8D8-0A806099D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51997B8B-99F0-F55B-77C3-EBD11E3AC7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Branch testing example</a:t>
            </a:r>
          </a:p>
        </p:txBody>
      </p:sp>
      <p:sp>
        <p:nvSpPr>
          <p:cNvPr id="48131" name="Content Placeholder 5">
            <a:extLst>
              <a:ext uri="{FF2B5EF4-FFF2-40B4-BE49-F238E27FC236}">
                <a16:creationId xmlns:a16="http://schemas.microsoft.com/office/drawing/2014/main" id="{7F7B7E0A-F807-8F0D-4A8B-409785DE55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/>
              <a:t>Correct:</a:t>
            </a:r>
          </a:p>
          <a:p>
            <a:pPr lvl="1"/>
            <a:r>
              <a:rPr lang="en-US" altLang="en-US"/>
              <a:t>if (a || (b &gt;= c)) { printf(“OK\n”); }</a:t>
            </a:r>
          </a:p>
          <a:p>
            <a:r>
              <a:rPr lang="en-US" altLang="en-US"/>
              <a:t>Incorrect:</a:t>
            </a:r>
          </a:p>
          <a:p>
            <a:pPr lvl="1"/>
            <a:r>
              <a:rPr lang="en-US" altLang="en-US"/>
              <a:t>if (a &amp;&amp; (b &gt;= c)) { printf(“OK\n”); }</a:t>
            </a:r>
          </a:p>
        </p:txBody>
      </p:sp>
      <p:sp>
        <p:nvSpPr>
          <p:cNvPr id="48132" name="Content Placeholder 6">
            <a:extLst>
              <a:ext uri="{FF2B5EF4-FFF2-40B4-BE49-F238E27FC236}">
                <a16:creationId xmlns:a16="http://schemas.microsoft.com/office/drawing/2014/main" id="{8BAE510C-03FF-8C83-EF2C-7848F5F0D92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en-US"/>
              <a:t>Test:</a:t>
            </a:r>
          </a:p>
          <a:p>
            <a:pPr lvl="1"/>
            <a:r>
              <a:rPr lang="en-US" altLang="en-US"/>
              <a:t>a = F</a:t>
            </a:r>
          </a:p>
          <a:p>
            <a:pPr lvl="1"/>
            <a:r>
              <a:rPr lang="en-US" altLang="en-US"/>
              <a:t>(b &gt;=c) = T</a:t>
            </a:r>
          </a:p>
          <a:p>
            <a:r>
              <a:rPr lang="en-US" altLang="en-US"/>
              <a:t>Example:</a:t>
            </a:r>
          </a:p>
          <a:p>
            <a:pPr lvl="1"/>
            <a:r>
              <a:rPr lang="en-US" altLang="en-US"/>
              <a:t>Correct: [0 || (3 &gt;= 2)] = T</a:t>
            </a:r>
          </a:p>
          <a:p>
            <a:pPr lvl="1"/>
            <a:r>
              <a:rPr lang="en-US" altLang="en-US"/>
              <a:t>Incorrect: [0 &amp;&amp; (3 &gt;= 2)] = F</a:t>
            </a:r>
          </a:p>
        </p:txBody>
      </p:sp>
      <p:sp>
        <p:nvSpPr>
          <p:cNvPr id="48133" name="Date Placeholder 3">
            <a:extLst>
              <a:ext uri="{FF2B5EF4-FFF2-40B4-BE49-F238E27FC236}">
                <a16:creationId xmlns:a16="http://schemas.microsoft.com/office/drawing/2014/main" id="{0DA82F37-430D-DACE-7EB0-9026AF4648D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48134" name="Footer Placeholder 4">
            <a:extLst>
              <a:ext uri="{FF2B5EF4-FFF2-40B4-BE49-F238E27FC236}">
                <a16:creationId xmlns:a16="http://schemas.microsoft.com/office/drawing/2014/main" id="{85A04AA2-5D98-D08E-3DD7-D51FA33FA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0F669F9D-81A5-B345-12DD-93CBB7B81C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Another branch testing example</a:t>
            </a:r>
          </a:p>
        </p:txBody>
      </p:sp>
      <p:sp>
        <p:nvSpPr>
          <p:cNvPr id="49155" name="Content Placeholder 5">
            <a:extLst>
              <a:ext uri="{FF2B5EF4-FFF2-40B4-BE49-F238E27FC236}">
                <a16:creationId xmlns:a16="http://schemas.microsoft.com/office/drawing/2014/main" id="{F6804C91-99A1-B380-3DB7-CEF08C934C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/>
              <a:t>Correct:</a:t>
            </a:r>
          </a:p>
          <a:p>
            <a:pPr lvl="1"/>
            <a:r>
              <a:rPr lang="en-US" altLang="en-US" sz="2000"/>
              <a:t>if ((x == good_pointer) &amp;&amp; x-&gt;field1 == 3)) { printf(“got the value\n”); }</a:t>
            </a:r>
          </a:p>
          <a:p>
            <a:r>
              <a:rPr lang="en-US" altLang="en-US"/>
              <a:t>Incorrect:</a:t>
            </a:r>
          </a:p>
          <a:p>
            <a:pPr marL="742950" lvl="2" indent="-342900">
              <a:buFont typeface="Monotype Sorts" pitchFamily="2" charset="2"/>
              <a:buChar char="z"/>
            </a:pPr>
            <a:r>
              <a:rPr lang="en-US" altLang="en-US"/>
              <a:t>if ((x = good_pointer) &amp;&amp; x-&gt;field1 == 3)) { printf(“got the value\n”); }</a:t>
            </a:r>
          </a:p>
        </p:txBody>
      </p:sp>
      <p:sp>
        <p:nvSpPr>
          <p:cNvPr id="49156" name="Content Placeholder 6">
            <a:extLst>
              <a:ext uri="{FF2B5EF4-FFF2-40B4-BE49-F238E27FC236}">
                <a16:creationId xmlns:a16="http://schemas.microsoft.com/office/drawing/2014/main" id="{90A0ECF3-0737-26AD-03DC-5951E13A0A1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en-US"/>
              <a:t>Incorrect code changes pointer.</a:t>
            </a:r>
          </a:p>
          <a:p>
            <a:pPr lvl="1"/>
            <a:r>
              <a:rPr lang="en-US" altLang="en-US"/>
              <a:t>Assignment returns new LHS in C.</a:t>
            </a:r>
          </a:p>
          <a:p>
            <a:r>
              <a:rPr lang="en-US" altLang="en-US"/>
              <a:t>Test that catches error:</a:t>
            </a:r>
          </a:p>
          <a:p>
            <a:pPr lvl="1"/>
            <a:r>
              <a:rPr lang="en-US" altLang="en-US"/>
              <a:t>(x != good_pointer) &amp;&amp; x-&gt;field1 = 3)</a:t>
            </a:r>
          </a:p>
        </p:txBody>
      </p:sp>
      <p:sp>
        <p:nvSpPr>
          <p:cNvPr id="49157" name="Date Placeholder 3">
            <a:extLst>
              <a:ext uri="{FF2B5EF4-FFF2-40B4-BE49-F238E27FC236}">
                <a16:creationId xmlns:a16="http://schemas.microsoft.com/office/drawing/2014/main" id="{264728A5-056D-0E5F-572B-FB05FCAB492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49158" name="Footer Placeholder 4">
            <a:extLst>
              <a:ext uri="{FF2B5EF4-FFF2-40B4-BE49-F238E27FC236}">
                <a16:creationId xmlns:a16="http://schemas.microsoft.com/office/drawing/2014/main" id="{78E052AE-E8A8-CC1B-D021-D5D87082B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02E36AD-F641-7484-EE57-E067005F8ED8}"/>
              </a:ext>
            </a:extLst>
          </p:cNvPr>
          <p:cNvCxnSpPr/>
          <p:nvPr/>
        </p:nvCxnSpPr>
        <p:spPr bwMode="auto">
          <a:xfrm rot="10800000" flipV="1">
            <a:off x="2057400" y="2667000"/>
            <a:ext cx="2895600" cy="13716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65678682-A952-2190-C9E1-72E0AD06BB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Domain testing</a:t>
            </a:r>
          </a:p>
        </p:txBody>
      </p:sp>
      <p:sp>
        <p:nvSpPr>
          <p:cNvPr id="50179" name="Content Placeholder 5">
            <a:extLst>
              <a:ext uri="{FF2B5EF4-FFF2-40B4-BE49-F238E27FC236}">
                <a16:creationId xmlns:a16="http://schemas.microsoft.com/office/drawing/2014/main" id="{819151BB-E67F-DF7C-186A-91285A488C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/>
              <a:t>Heuristic test for linear inequalities.</a:t>
            </a:r>
          </a:p>
          <a:p>
            <a:r>
              <a:rPr lang="en-US" altLang="en-US"/>
              <a:t>Test on each side + boundary of inequality.</a:t>
            </a:r>
          </a:p>
        </p:txBody>
      </p:sp>
      <p:pic>
        <p:nvPicPr>
          <p:cNvPr id="50180" name="Content Placeholder 7" descr="f05-28-P374397.eps">
            <a:extLst>
              <a:ext uri="{FF2B5EF4-FFF2-40B4-BE49-F238E27FC236}">
                <a16:creationId xmlns:a16="http://schemas.microsoft.com/office/drawing/2014/main" id="{0BA457E4-301A-DA71-9183-EBFA494472D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22800" y="2035175"/>
            <a:ext cx="4013200" cy="3873500"/>
          </a:xfrm>
        </p:spPr>
      </p:pic>
      <p:sp>
        <p:nvSpPr>
          <p:cNvPr id="50181" name="Date Placeholder 3">
            <a:extLst>
              <a:ext uri="{FF2B5EF4-FFF2-40B4-BE49-F238E27FC236}">
                <a16:creationId xmlns:a16="http://schemas.microsoft.com/office/drawing/2014/main" id="{5C7F4201-4265-8C69-6D44-E435CFAFB7D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50182" name="Footer Placeholder 4">
            <a:extLst>
              <a:ext uri="{FF2B5EF4-FFF2-40B4-BE49-F238E27FC236}">
                <a16:creationId xmlns:a16="http://schemas.microsoft.com/office/drawing/2014/main" id="{05D330AE-59A9-DCEA-2000-61FB33081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03AF37DA-4673-EFA0-B485-C168C03353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Def-use pairs</a:t>
            </a:r>
          </a:p>
        </p:txBody>
      </p:sp>
      <p:sp>
        <p:nvSpPr>
          <p:cNvPr id="51203" name="Content Placeholder 5">
            <a:extLst>
              <a:ext uri="{FF2B5EF4-FFF2-40B4-BE49-F238E27FC236}">
                <a16:creationId xmlns:a16="http://schemas.microsoft.com/office/drawing/2014/main" id="{148D045B-DEBF-66BF-A035-47C8468518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/>
              <a:t>Variable def-use:</a:t>
            </a:r>
          </a:p>
          <a:p>
            <a:pPr lvl="1"/>
            <a:r>
              <a:rPr lang="en-US" altLang="en-US"/>
              <a:t>Def when value is assigned (defined).</a:t>
            </a:r>
          </a:p>
          <a:p>
            <a:pPr lvl="1"/>
            <a:r>
              <a:rPr lang="en-US" altLang="en-US"/>
              <a:t>Use when used on right-hand side.</a:t>
            </a:r>
          </a:p>
          <a:p>
            <a:r>
              <a:rPr lang="en-US" altLang="en-US"/>
              <a:t>Exercise each def-use pair.</a:t>
            </a:r>
          </a:p>
          <a:p>
            <a:pPr lvl="1"/>
            <a:r>
              <a:rPr lang="en-US" altLang="en-US"/>
              <a:t>Requires testing correct path.</a:t>
            </a:r>
          </a:p>
        </p:txBody>
      </p:sp>
      <p:pic>
        <p:nvPicPr>
          <p:cNvPr id="51204" name="Content Placeholder 7" descr="f05-29-P374397.eps">
            <a:extLst>
              <a:ext uri="{FF2B5EF4-FFF2-40B4-BE49-F238E27FC236}">
                <a16:creationId xmlns:a16="http://schemas.microsoft.com/office/drawing/2014/main" id="{E768A07E-51D1-5CB3-F79D-E7260427CE2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10200" y="2362200"/>
            <a:ext cx="2928938" cy="2378075"/>
          </a:xfrm>
        </p:spPr>
      </p:pic>
      <p:sp>
        <p:nvSpPr>
          <p:cNvPr id="51205" name="Date Placeholder 3">
            <a:extLst>
              <a:ext uri="{FF2B5EF4-FFF2-40B4-BE49-F238E27FC236}">
                <a16:creationId xmlns:a16="http://schemas.microsoft.com/office/drawing/2014/main" id="{F4B180E8-96D0-D55A-2AFA-E9485165A2F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51206" name="Footer Placeholder 4">
            <a:extLst>
              <a:ext uri="{FF2B5EF4-FFF2-40B4-BE49-F238E27FC236}">
                <a16:creationId xmlns:a16="http://schemas.microsoft.com/office/drawing/2014/main" id="{50EDC8C4-2BC6-ADF1-9D7D-2D6FB2911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Date Placeholder 3">
            <a:extLst>
              <a:ext uri="{FF2B5EF4-FFF2-40B4-BE49-F238E27FC236}">
                <a16:creationId xmlns:a16="http://schemas.microsoft.com/office/drawing/2014/main" id="{38A589B4-1C25-DF1E-A83F-FB2984CEE55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52227" name="Footer Placeholder 4">
            <a:extLst>
              <a:ext uri="{FF2B5EF4-FFF2-40B4-BE49-F238E27FC236}">
                <a16:creationId xmlns:a16="http://schemas.microsoft.com/office/drawing/2014/main" id="{8F10E7A6-2A5A-DEEA-3E3B-8E7FC2ECF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52228" name="Rectangle 2">
            <a:extLst>
              <a:ext uri="{FF2B5EF4-FFF2-40B4-BE49-F238E27FC236}">
                <a16:creationId xmlns:a16="http://schemas.microsoft.com/office/drawing/2014/main" id="{7EEE4CCD-349C-4468-DDEE-ADA3A587CF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Loop testing</a:t>
            </a:r>
          </a:p>
        </p:txBody>
      </p:sp>
      <p:sp>
        <p:nvSpPr>
          <p:cNvPr id="52229" name="Rectangle 3">
            <a:extLst>
              <a:ext uri="{FF2B5EF4-FFF2-40B4-BE49-F238E27FC236}">
                <a16:creationId xmlns:a16="http://schemas.microsoft.com/office/drawing/2014/main" id="{6BF17307-415E-697D-D5D0-A4459C7F45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Loops need specialized tests to be tested efficiently.</a:t>
            </a:r>
          </a:p>
          <a:p>
            <a:r>
              <a:rPr lang="en-US" altLang="en-US"/>
              <a:t>Heuristic testing strategy:</a:t>
            </a:r>
          </a:p>
          <a:p>
            <a:pPr lvl="1"/>
            <a:r>
              <a:rPr lang="en-US" altLang="en-US"/>
              <a:t>Skip loop entirely.</a:t>
            </a:r>
          </a:p>
          <a:p>
            <a:pPr lvl="1"/>
            <a:r>
              <a:rPr lang="en-US" altLang="en-US"/>
              <a:t>One loop iteration.</a:t>
            </a:r>
          </a:p>
          <a:p>
            <a:pPr lvl="1"/>
            <a:r>
              <a:rPr lang="en-US" altLang="en-US"/>
              <a:t>Two loop iterations.</a:t>
            </a:r>
          </a:p>
          <a:p>
            <a:pPr lvl="1"/>
            <a:r>
              <a:rPr lang="en-US" altLang="en-US"/>
              <a:t># iterations much below max.</a:t>
            </a:r>
          </a:p>
          <a:p>
            <a:pPr lvl="1"/>
            <a:r>
              <a:rPr lang="en-US" altLang="en-US"/>
              <a:t>n-1, n, n+1 iterations where n is max.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Date Placeholder 3">
            <a:extLst>
              <a:ext uri="{FF2B5EF4-FFF2-40B4-BE49-F238E27FC236}">
                <a16:creationId xmlns:a16="http://schemas.microsoft.com/office/drawing/2014/main" id="{A3408007-4D30-FC9C-B927-234AC1DF489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53251" name="Footer Placeholder 4">
            <a:extLst>
              <a:ext uri="{FF2B5EF4-FFF2-40B4-BE49-F238E27FC236}">
                <a16:creationId xmlns:a16="http://schemas.microsoft.com/office/drawing/2014/main" id="{3242F77D-AB78-0BF7-9E53-26198E7B3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53252" name="Rectangle 2">
            <a:extLst>
              <a:ext uri="{FF2B5EF4-FFF2-40B4-BE49-F238E27FC236}">
                <a16:creationId xmlns:a16="http://schemas.microsoft.com/office/drawing/2014/main" id="{265A6C45-9786-61EB-B34F-7D5B24FB95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Black-box testing</a:t>
            </a:r>
          </a:p>
        </p:txBody>
      </p:sp>
      <p:sp>
        <p:nvSpPr>
          <p:cNvPr id="53253" name="Rectangle 3">
            <a:extLst>
              <a:ext uri="{FF2B5EF4-FFF2-40B4-BE49-F238E27FC236}">
                <a16:creationId xmlns:a16="http://schemas.microsoft.com/office/drawing/2014/main" id="{85D5D842-F49D-DE87-A771-857FCB48BC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Complements clear-box testing.</a:t>
            </a:r>
          </a:p>
          <a:p>
            <a:pPr lvl="1"/>
            <a:r>
              <a:rPr lang="en-US" altLang="en-US"/>
              <a:t>May require a large number of tests.</a:t>
            </a:r>
          </a:p>
          <a:p>
            <a:r>
              <a:rPr lang="en-US" altLang="en-US"/>
              <a:t>Tests software in different ways.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Date Placeholder 3">
            <a:extLst>
              <a:ext uri="{FF2B5EF4-FFF2-40B4-BE49-F238E27FC236}">
                <a16:creationId xmlns:a16="http://schemas.microsoft.com/office/drawing/2014/main" id="{DD77C050-01AA-20C6-0197-1E74713FDC2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54275" name="Footer Placeholder 4">
            <a:extLst>
              <a:ext uri="{FF2B5EF4-FFF2-40B4-BE49-F238E27FC236}">
                <a16:creationId xmlns:a16="http://schemas.microsoft.com/office/drawing/2014/main" id="{0BBAA7B9-0206-207F-541B-3816F7A3B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54276" name="Rectangle 2">
            <a:extLst>
              <a:ext uri="{FF2B5EF4-FFF2-40B4-BE49-F238E27FC236}">
                <a16:creationId xmlns:a16="http://schemas.microsoft.com/office/drawing/2014/main" id="{5125CB87-ED3F-AFB4-E13C-E17D49C6F6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Black-box test vectors</a:t>
            </a:r>
          </a:p>
        </p:txBody>
      </p:sp>
      <p:sp>
        <p:nvSpPr>
          <p:cNvPr id="54277" name="Rectangle 3">
            <a:extLst>
              <a:ext uri="{FF2B5EF4-FFF2-40B4-BE49-F238E27FC236}">
                <a16:creationId xmlns:a16="http://schemas.microsoft.com/office/drawing/2014/main" id="{A6254902-463B-095B-F205-FDB8618B39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Random tests.</a:t>
            </a:r>
          </a:p>
          <a:p>
            <a:pPr lvl="1"/>
            <a:r>
              <a:rPr lang="en-US" altLang="en-US"/>
              <a:t>May weight distribution based on software specification.</a:t>
            </a:r>
          </a:p>
          <a:p>
            <a:r>
              <a:rPr lang="en-US" altLang="en-US"/>
              <a:t>Regression tests.</a:t>
            </a:r>
          </a:p>
          <a:p>
            <a:pPr lvl="1"/>
            <a:r>
              <a:rPr lang="en-US" altLang="en-US"/>
              <a:t>Tests of previous versions, bugs, etc.</a:t>
            </a:r>
          </a:p>
          <a:p>
            <a:pPr lvl="1"/>
            <a:r>
              <a:rPr lang="en-US" altLang="en-US"/>
              <a:t>May be clear-box tests of previous versions.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Date Placeholder 3">
            <a:extLst>
              <a:ext uri="{FF2B5EF4-FFF2-40B4-BE49-F238E27FC236}">
                <a16:creationId xmlns:a16="http://schemas.microsoft.com/office/drawing/2014/main" id="{8574D908-CEDA-C95E-BDB4-96D1CDD4B26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55299" name="Footer Placeholder 4">
            <a:extLst>
              <a:ext uri="{FF2B5EF4-FFF2-40B4-BE49-F238E27FC236}">
                <a16:creationId xmlns:a16="http://schemas.microsoft.com/office/drawing/2014/main" id="{DD19FC14-C524-3A7C-34B7-56181E33C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55300" name="Rectangle 2">
            <a:extLst>
              <a:ext uri="{FF2B5EF4-FFF2-40B4-BE49-F238E27FC236}">
                <a16:creationId xmlns:a16="http://schemas.microsoft.com/office/drawing/2014/main" id="{D56EC83F-38B0-4C1E-5066-3C9F85FEF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How much testing is enough?</a:t>
            </a:r>
          </a:p>
        </p:txBody>
      </p:sp>
      <p:sp>
        <p:nvSpPr>
          <p:cNvPr id="55301" name="Rectangle 3">
            <a:extLst>
              <a:ext uri="{FF2B5EF4-FFF2-40B4-BE49-F238E27FC236}">
                <a16:creationId xmlns:a16="http://schemas.microsoft.com/office/drawing/2014/main" id="{EAB4E823-B9FF-BCE3-CCFD-6F57FEA71E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/>
              <a:t>Exhaustive testing is impractical.</a:t>
            </a:r>
          </a:p>
          <a:p>
            <a:r>
              <a:rPr lang="en-US" altLang="en-US" sz="2800"/>
              <a:t>One important measure of test quality---bugs escaping into field.</a:t>
            </a:r>
          </a:p>
          <a:p>
            <a:r>
              <a:rPr lang="en-US" altLang="en-US" sz="2800"/>
              <a:t>Good organizations can test software to give very low field bug report rates.</a:t>
            </a:r>
          </a:p>
          <a:p>
            <a:r>
              <a:rPr lang="en-US" altLang="en-US" sz="2800"/>
              <a:t>Error injection measures test quality:</a:t>
            </a:r>
          </a:p>
          <a:p>
            <a:pPr lvl="1"/>
            <a:r>
              <a:rPr lang="en-US" altLang="en-US" sz="2400"/>
              <a:t>Add known bugs.</a:t>
            </a:r>
          </a:p>
          <a:p>
            <a:pPr lvl="1"/>
            <a:r>
              <a:rPr lang="en-US" altLang="en-US" sz="2400"/>
              <a:t>Run your tests.</a:t>
            </a:r>
          </a:p>
          <a:p>
            <a:pPr lvl="1"/>
            <a:r>
              <a:rPr lang="en-US" altLang="en-US" sz="2400"/>
              <a:t>Determine % injected bugs that are caught.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emporary Portrait">
  <a:themeElements>
    <a:clrScheme name="Contemporary Portrait 2">
      <a:dk1>
        <a:srgbClr val="000000"/>
      </a:dk1>
      <a:lt1>
        <a:srgbClr val="FFFFFF"/>
      </a:lt1>
      <a:dk2>
        <a:srgbClr val="000000"/>
      </a:dk2>
      <a:lt2>
        <a:srgbClr val="5E574E"/>
      </a:lt2>
      <a:accent1>
        <a:srgbClr val="FF6600"/>
      </a:accent1>
      <a:accent2>
        <a:srgbClr val="FFCC00"/>
      </a:accent2>
      <a:accent3>
        <a:srgbClr val="FFFFFF"/>
      </a:accent3>
      <a:accent4>
        <a:srgbClr val="000000"/>
      </a:accent4>
      <a:accent5>
        <a:srgbClr val="FFB8AA"/>
      </a:accent5>
      <a:accent6>
        <a:srgbClr val="E7B900"/>
      </a:accent6>
      <a:hlink>
        <a:srgbClr val="996633"/>
      </a:hlink>
      <a:folHlink>
        <a:srgbClr val="808000"/>
      </a:folHlink>
    </a:clrScheme>
    <a:fontScheme name="Contemporary Portrait">
      <a:majorFont>
        <a:latin typeface="Arial Black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Contemporary Portrait 1">
        <a:dk1>
          <a:srgbClr val="5E574E"/>
        </a:dk1>
        <a:lt1>
          <a:srgbClr val="FFFFCC"/>
        </a:lt1>
        <a:dk2>
          <a:srgbClr val="0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AA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mporary Portrait 2">
        <a:dk1>
          <a:srgbClr val="000000"/>
        </a:dk1>
        <a:lt1>
          <a:srgbClr val="FFFFFF"/>
        </a:lt1>
        <a:dk2>
          <a:srgbClr val="0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996633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mporary Portrait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mporary Portrait 4">
        <a:dk1>
          <a:srgbClr val="000000"/>
        </a:dk1>
        <a:lt1>
          <a:srgbClr val="FFFFFF"/>
        </a:lt1>
        <a:dk2>
          <a:srgbClr val="8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FF00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mporary Portrait 5">
        <a:dk1>
          <a:srgbClr val="000066"/>
        </a:dk1>
        <a:lt1>
          <a:srgbClr val="FFFFFF"/>
        </a:lt1>
        <a:dk2>
          <a:srgbClr val="0000FF"/>
        </a:dk2>
        <a:lt2>
          <a:srgbClr val="000000"/>
        </a:lt2>
        <a:accent1>
          <a:srgbClr val="0066FF"/>
        </a:accent1>
        <a:accent2>
          <a:srgbClr val="33CCCC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mporary Portrait 6">
        <a:dk1>
          <a:srgbClr val="000000"/>
        </a:dk1>
        <a:lt1>
          <a:srgbClr val="FFFFFF"/>
        </a:lt1>
        <a:dk2>
          <a:srgbClr val="000066"/>
        </a:dk2>
        <a:lt2>
          <a:srgbClr val="FFCC00"/>
        </a:lt2>
        <a:accent1>
          <a:srgbClr val="0066FF"/>
        </a:accent1>
        <a:accent2>
          <a:srgbClr val="33CCCC"/>
        </a:accent2>
        <a:accent3>
          <a:srgbClr val="AAAAB8"/>
        </a:accent3>
        <a:accent4>
          <a:srgbClr val="DADADA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mporary Portrait 7">
        <a:dk1>
          <a:srgbClr val="5E574E"/>
        </a:dk1>
        <a:lt1>
          <a:srgbClr val="FFFFCC"/>
        </a:lt1>
        <a:dk2>
          <a:srgbClr val="8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C0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Designs\Contemporary Portrait.pot</Template>
  <TotalTime>490</TotalTime>
  <Words>2514</Words>
  <Application>Microsoft Office PowerPoint</Application>
  <PresentationFormat>On-screen Show (4:3)</PresentationFormat>
  <Paragraphs>499</Paragraphs>
  <Slides>52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3" baseType="lpstr">
      <vt:lpstr>Contemporary Portrait</vt:lpstr>
      <vt:lpstr>Program design and analysis</vt:lpstr>
      <vt:lpstr>Program-level performance analysis</vt:lpstr>
      <vt:lpstr>Complexities of program performance</vt:lpstr>
      <vt:lpstr>How to measure program performance</vt:lpstr>
      <vt:lpstr>Program performance metrics</vt:lpstr>
      <vt:lpstr>Elements of program performance</vt:lpstr>
      <vt:lpstr>Data-dependent paths in an if statement</vt:lpstr>
      <vt:lpstr>Paths in a loop</vt:lpstr>
      <vt:lpstr>Instruction timing</vt:lpstr>
      <vt:lpstr>Mesaurement-driven performance analysis</vt:lpstr>
      <vt:lpstr>Feeding the program</vt:lpstr>
      <vt:lpstr>Trace-driven measurement</vt:lpstr>
      <vt:lpstr>Physical measurement</vt:lpstr>
      <vt:lpstr>CPU simulation</vt:lpstr>
      <vt:lpstr>SimpleScalar FIR filter simulation</vt:lpstr>
      <vt:lpstr>Performance optimization motivation</vt:lpstr>
      <vt:lpstr>Programs and performance analysis</vt:lpstr>
      <vt:lpstr>Loop optimizations</vt:lpstr>
      <vt:lpstr>Code motion</vt:lpstr>
      <vt:lpstr>Induction variable elimination</vt:lpstr>
      <vt:lpstr>Cache analysis</vt:lpstr>
      <vt:lpstr>Array conflicts in cache</vt:lpstr>
      <vt:lpstr>Array conflicts, cont’d.</vt:lpstr>
      <vt:lpstr>Performance optimization hints</vt:lpstr>
      <vt:lpstr>Energy/power optimization</vt:lpstr>
      <vt:lpstr>Measuring energy consumption</vt:lpstr>
      <vt:lpstr>Sources of energy consumption</vt:lpstr>
      <vt:lpstr>Cache behavior is important</vt:lpstr>
      <vt:lpstr>Cache sweet spot</vt:lpstr>
      <vt:lpstr>Optimizing for energy</vt:lpstr>
      <vt:lpstr>Optimizing for energy, cont’d.</vt:lpstr>
      <vt:lpstr>Efficient loops</vt:lpstr>
      <vt:lpstr>Single-instruction repeat loop example</vt:lpstr>
      <vt:lpstr>Optimizing for program size</vt:lpstr>
      <vt:lpstr>Data size minimization</vt:lpstr>
      <vt:lpstr>Reducing code size</vt:lpstr>
      <vt:lpstr>Program validation and testing</vt:lpstr>
      <vt:lpstr>Clear-box testing</vt:lpstr>
      <vt:lpstr>Controlling and observing programs</vt:lpstr>
      <vt:lpstr>Execution paths and testing</vt:lpstr>
      <vt:lpstr>Choosing the paths to test</vt:lpstr>
      <vt:lpstr>Basis paths</vt:lpstr>
      <vt:lpstr>Cyclomatic complexity</vt:lpstr>
      <vt:lpstr>Branch testing</vt:lpstr>
      <vt:lpstr>Branch testing example</vt:lpstr>
      <vt:lpstr>Another branch testing example</vt:lpstr>
      <vt:lpstr>Domain testing</vt:lpstr>
      <vt:lpstr>Def-use pairs</vt:lpstr>
      <vt:lpstr>Loop testing</vt:lpstr>
      <vt:lpstr>Black-box testing</vt:lpstr>
      <vt:lpstr>Black-box test vectors</vt:lpstr>
      <vt:lpstr>How much testing is enough?</vt:lpstr>
    </vt:vector>
  </TitlesOfParts>
  <Company>Princeton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Wayne Wolf</dc:creator>
  <cp:lastModifiedBy>Unknown User</cp:lastModifiedBy>
  <cp:revision>54</cp:revision>
  <dcterms:created xsi:type="dcterms:W3CDTF">2000-07-09T10:33:27Z</dcterms:created>
  <dcterms:modified xsi:type="dcterms:W3CDTF">2024-02-20T13:39:27Z</dcterms:modified>
</cp:coreProperties>
</file>