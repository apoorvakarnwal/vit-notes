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40"/>
  </p:notesMasterIdLst>
  <p:handoutMasterIdLst>
    <p:handoutMasterId r:id="rId41"/>
  </p:handoutMasterIdLst>
  <p:sldIdLst>
    <p:sldId id="330" r:id="rId2"/>
    <p:sldId id="327" r:id="rId3"/>
    <p:sldId id="351" r:id="rId4"/>
    <p:sldId id="352" r:id="rId5"/>
    <p:sldId id="353" r:id="rId6"/>
    <p:sldId id="354" r:id="rId7"/>
    <p:sldId id="355" r:id="rId8"/>
    <p:sldId id="356" r:id="rId9"/>
    <p:sldId id="357" r:id="rId10"/>
    <p:sldId id="358" r:id="rId11"/>
    <p:sldId id="331" r:id="rId12"/>
    <p:sldId id="359" r:id="rId13"/>
    <p:sldId id="333" r:id="rId14"/>
    <p:sldId id="362" r:id="rId15"/>
    <p:sldId id="363" r:id="rId16"/>
    <p:sldId id="365" r:id="rId17"/>
    <p:sldId id="364" r:id="rId18"/>
    <p:sldId id="366" r:id="rId19"/>
    <p:sldId id="360" r:id="rId20"/>
    <p:sldId id="334" r:id="rId21"/>
    <p:sldId id="367" r:id="rId22"/>
    <p:sldId id="368" r:id="rId23"/>
    <p:sldId id="369" r:id="rId24"/>
    <p:sldId id="345" r:id="rId25"/>
    <p:sldId id="335" r:id="rId26"/>
    <p:sldId id="336" r:id="rId27"/>
    <p:sldId id="337" r:id="rId28"/>
    <p:sldId id="338" r:id="rId29"/>
    <p:sldId id="339" r:id="rId30"/>
    <p:sldId id="340" r:id="rId31"/>
    <p:sldId id="342" r:id="rId32"/>
    <p:sldId id="343" r:id="rId33"/>
    <p:sldId id="344" r:id="rId34"/>
    <p:sldId id="346" r:id="rId35"/>
    <p:sldId id="347" r:id="rId36"/>
    <p:sldId id="348" r:id="rId37"/>
    <p:sldId id="349" r:id="rId38"/>
    <p:sldId id="361" r:id="rId3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66"/>
    <a:srgbClr val="333399"/>
    <a:srgbClr val="336699"/>
    <a:srgbClr val="990033"/>
    <a:srgbClr val="CC0000"/>
    <a:srgbClr val="000099"/>
    <a:srgbClr val="006600"/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378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2" d="100"/>
          <a:sy n="62" d="100"/>
        </p:scale>
        <p:origin x="-1685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81DF676-48FF-47F3-BF43-FFCAA31B5A0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05DB3C-0520-4EA9-A2A8-3705FB435B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B54933-CC3A-4BAD-8387-A2F5DD3B917D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9DCA6B-8BA8-4F6F-A314-3731F781EC6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B3781A-B7FE-42D5-A98B-4CAA4D746F0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E85A86-DE16-4D37-A6D7-01D2555988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15575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09C56349-606B-3962-5186-A415BE34D91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18874896-990B-93FE-4AE0-6F24D0AF1C4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3F9E68E7-9BF6-D222-587F-36F883F6BF6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245" name="Rectangle 5">
            <a:extLst>
              <a:ext uri="{FF2B5EF4-FFF2-40B4-BE49-F238E27FC236}">
                <a16:creationId xmlns:a16="http://schemas.microsoft.com/office/drawing/2014/main" id="{AF62E0C0-3F15-397F-6749-7A2F3A4E949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</a:p>
        </p:txBody>
      </p:sp>
      <p:sp>
        <p:nvSpPr>
          <p:cNvPr id="10246" name="Rectangle 6">
            <a:extLst>
              <a:ext uri="{FF2B5EF4-FFF2-40B4-BE49-F238E27FC236}">
                <a16:creationId xmlns:a16="http://schemas.microsoft.com/office/drawing/2014/main" id="{4020E6B9-3025-10E0-34B4-87A7D8C4AF9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47" name="Rectangle 7">
            <a:extLst>
              <a:ext uri="{FF2B5EF4-FFF2-40B4-BE49-F238E27FC236}">
                <a16:creationId xmlns:a16="http://schemas.microsoft.com/office/drawing/2014/main" id="{776F33FC-ECFB-EAD6-1B8A-D2CFA04159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smtClean="0"/>
            </a:lvl1pPr>
          </a:lstStyle>
          <a:p>
            <a:pPr>
              <a:defRPr/>
            </a:pPr>
            <a:fld id="{CE36419F-4D79-4B56-9BEB-11F887CC1FB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775D4FE2-5F10-1D0A-A7BB-933F3ADAE9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6D7A566-5334-477E-9CD2-E53F26C144C5}" type="slidenum">
              <a:rPr lang="zh-TW" altLang="en-US" sz="1200"/>
              <a:pPr>
                <a:spcBef>
                  <a:spcPct val="0"/>
                </a:spcBef>
              </a:pPr>
              <a:t>1</a:t>
            </a:fld>
            <a:endParaRPr lang="en-US" altLang="zh-TW" sz="120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24635517-295C-1024-0D5C-C56D748788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B836AABF-1447-EC3B-24E0-31AC7CA3BF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68922E0B-9DB4-E612-7562-9D730EF286C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4D918D5-CB3E-47CA-B8B5-77D08CAC3B3B}" type="slidenum">
              <a:rPr lang="zh-TW" altLang="en-US" sz="1200"/>
              <a:pPr>
                <a:spcBef>
                  <a:spcPct val="0"/>
                </a:spcBef>
              </a:pPr>
              <a:t>2</a:t>
            </a:fld>
            <a:endParaRPr lang="en-US" altLang="zh-TW" sz="1200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DA5F7A2C-826E-6334-55BC-637BB7099D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BA6D657F-F119-0E39-33C9-E2B5403774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TW"/>
              <a:t>Real-time systems denotes to meet the timing constraints of tasks.</a:t>
            </a:r>
          </a:p>
          <a:p>
            <a:endParaRPr lang="en-US" altLang="zh-TW"/>
          </a:p>
          <a:p>
            <a:r>
              <a:rPr lang="en-US" altLang="zh-TW"/>
              <a:t>Why we introduce the real-time system: 1. predictability 2. robustness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71208E5C-6B43-4412-00AA-8B3E894E64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8417642-CE1A-4A9C-91D2-56E016ED74BC}" type="slidenum">
              <a:rPr lang="zh-TW" altLang="en-US" sz="1200"/>
              <a:pPr>
                <a:spcBef>
                  <a:spcPct val="0"/>
                </a:spcBef>
              </a:pPr>
              <a:t>11</a:t>
            </a:fld>
            <a:endParaRPr lang="en-US" altLang="zh-TW" sz="1200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7BB91E8A-9690-D252-E90C-C4785B6301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B29736B2-970E-7733-E8CA-241AD44C83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TW"/>
              <a:t>Real-time System can be classified as hard real-time system, soft real-time system and firm real-time system.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0A8F9394-01B0-C865-84C3-48797B114C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2F20870-37F3-4704-B46A-3BE788D89E4B}" type="slidenum">
              <a:rPr lang="zh-TW" altLang="en-US" sz="1200"/>
              <a:pPr>
                <a:spcBef>
                  <a:spcPct val="0"/>
                </a:spcBef>
              </a:pPr>
              <a:t>13</a:t>
            </a:fld>
            <a:endParaRPr lang="en-US" altLang="zh-TW" sz="1200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3DF1F497-4D9C-9275-DD7A-3284625CBA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FEC1B9C4-4EA6-A023-1E4A-FEE1845C37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TW"/>
              <a:t>For hard-real-time system, missing tasks’ deadlines would cause catastrophic consequence. For example, nuclear reactors and flight controllers are all hard-real-time systems.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C30B0359-CFFE-FFFF-771F-8B9D38DE15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E12EEB7-DC80-417E-B58D-79D005B8AEEF}" type="slidenum">
              <a:rPr lang="zh-TW" altLang="en-US" sz="1200"/>
              <a:pPr>
                <a:spcBef>
                  <a:spcPct val="0"/>
                </a:spcBef>
              </a:pPr>
              <a:t>20</a:t>
            </a:fld>
            <a:endParaRPr lang="en-US" altLang="zh-TW" sz="1200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DDAC2580-3579-CBC1-4A12-022136654F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837E560A-C759-15C1-97C8-B4EFCE1CDB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TW"/>
              <a:t>Missing a task’s deadline in a soft real-time system will only decrease the performance of the system, but not influence system’s correct behavior. For example, multimedia streaming, electronic games, and quality-of-service applications are all soft-real-time systems.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46FC2AB3-F5A0-0D8F-CE27-7E65609DD4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EF0FE03-C0BE-4A41-94D4-4D4BFD39D6F2}" type="slidenum">
              <a:rPr lang="zh-TW" altLang="en-US" sz="1200"/>
              <a:pPr>
                <a:spcBef>
                  <a:spcPct val="0"/>
                </a:spcBef>
              </a:pPr>
              <a:t>24</a:t>
            </a:fld>
            <a:endParaRPr lang="en-US" altLang="zh-TW" sz="1200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A274B747-7B3F-EABC-1F73-C0DACAE394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1F569091-5D79-0979-DE6D-6EF1FB82C8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TW"/>
              <a:t>This is the comparison of hard and soft real-time systems.</a:t>
            </a:r>
          </a:p>
          <a:p>
            <a:r>
              <a:rPr lang="en-US" altLang="zh-TW"/>
              <a:t>X-axis denotes the time while Y-axis denotes the value.</a:t>
            </a:r>
          </a:p>
          <a:p>
            <a:r>
              <a:rPr lang="en-US" altLang="zh-TW"/>
              <a:t>For hard RTS, once missing deadline, the system’s value is negative, which means the system is damaged. In contrast, in a soft RTS, the value is still positive after missing deadline. However, if the finish time is far behind deadline, the value would also become negative.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611BDC65-F20D-6EF3-3DE4-9D55AB8D55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D48887E-4DA0-4AAA-BC6A-61F552A40064}" type="slidenum">
              <a:rPr lang="zh-TW" altLang="en-US" sz="1200"/>
              <a:pPr>
                <a:spcBef>
                  <a:spcPct val="0"/>
                </a:spcBef>
              </a:pPr>
              <a:t>25</a:t>
            </a:fld>
            <a:endParaRPr lang="en-US" altLang="zh-TW" sz="1200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65B06B4D-89E7-5E03-76A1-1987A726BA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6F6A62EC-1DE2-CF0F-9ED2-309F2BCE73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TW"/>
              <a:t>We assume that system activation entities consists of Job and Task.</a:t>
            </a:r>
          </a:p>
          <a:p>
            <a:r>
              <a:rPr lang="en-US" altLang="zh-TW"/>
              <a:t>Job denotes a set of execution flow while Tasks denotes a set of related jobs that cooperate to provide a specific system function.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E0ACA779-0839-FE68-97AA-D2B6DC1185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4D08E94-B9DB-41ED-8275-045C61F7AE1C}" type="slidenum">
              <a:rPr lang="zh-TW" altLang="en-US" sz="1200"/>
              <a:pPr>
                <a:spcBef>
                  <a:spcPct val="0"/>
                </a:spcBef>
              </a:pPr>
              <a:t>26</a:t>
            </a:fld>
            <a:endParaRPr lang="en-US" altLang="zh-TW" sz="1200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830BB514-035E-77B3-4789-37DCC92894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B1BBDC88-A7AB-2A53-2DBF-8224C4ADE6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TW"/>
              <a:t>This and following slides shows the job’s timing characteristics, including release time, response time, relative deadlines and (absolute deadline)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698BEC72-27EA-55CC-5EB5-F404CCA4D1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EC7D884-366D-4BF7-9269-1E7337045542}" type="slidenum">
              <a:rPr lang="zh-TW" altLang="en-US" sz="1200"/>
              <a:pPr>
                <a:spcBef>
                  <a:spcPct val="0"/>
                </a:spcBef>
              </a:pPr>
              <a:t>27</a:t>
            </a:fld>
            <a:endParaRPr lang="en-US" altLang="zh-TW" sz="1200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2246E7BC-848C-4FF1-F37D-2290B6E4CA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E16D3968-B693-C820-D022-5E6F67224D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TW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006A90DF-8936-40CD-EDB8-659B016BB7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A3BBBCF-96AC-48D7-A52B-ED70A2742859}" type="slidenum">
              <a:rPr lang="zh-TW" altLang="en-US" sz="1200"/>
              <a:pPr>
                <a:spcBef>
                  <a:spcPct val="0"/>
                </a:spcBef>
              </a:pPr>
              <a:t>28</a:t>
            </a:fld>
            <a:endParaRPr lang="en-US" altLang="zh-TW" sz="1200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9E6BEC69-A8D8-D167-1588-E269CD9D2C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9A0ED541-228B-4EF3-1E42-EC453F6F4B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TW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4A6B1277-32E9-3410-C385-CD5B1D06D8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A27CBE9-E8EC-4127-8EB0-65FE87EED940}" type="slidenum">
              <a:rPr lang="zh-TW" altLang="en-US" sz="1200"/>
              <a:pPr>
                <a:spcBef>
                  <a:spcPct val="0"/>
                </a:spcBef>
              </a:pPr>
              <a:t>29</a:t>
            </a:fld>
            <a:endParaRPr lang="en-US" altLang="zh-TW" sz="1200"/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3866EA6F-84D3-9229-11DA-D874AEB8EA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B67C3473-1247-0E4E-8A18-E71F13442F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TW"/>
              <a:t>According to the regularity of task’s activation, we divide the tasks into two sets: on is the periodic task and the other is the aperiodic task.</a:t>
            </a:r>
          </a:p>
          <a:p>
            <a:r>
              <a:rPr lang="en-US" altLang="zh-TW"/>
              <a:t>Periodic tasks are regularly activated at a constant rate. Each invocation activity is called a job or an instance.</a:t>
            </a:r>
          </a:p>
          <a:p>
            <a:r>
              <a:rPr lang="en-US" altLang="zh-TW"/>
              <a:t>In contrast, the invocation of aperiodic tasks are not regular and undetermined. Thus, it is often event-driven.</a:t>
            </a:r>
          </a:p>
          <a:p>
            <a:r>
              <a:rPr lang="en-US" altLang="zh-TW"/>
              <a:t>Notably, since the uncertainly of tasks’ invocations, to off-line guarantee of aperiodic tasks’ execution, we may assume a maximum arrival rate for each event. A aperiodic task that is characterized by a minimum interval time is called a sporadic task.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09919636-A70A-14FB-B694-E7506D4585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860E692-F5A7-436E-ACDA-27956120A6C8}" type="slidenum">
              <a:rPr lang="zh-TW" altLang="en-US" sz="1200"/>
              <a:pPr>
                <a:spcBef>
                  <a:spcPct val="0"/>
                </a:spcBef>
              </a:pPr>
              <a:t>30</a:t>
            </a:fld>
            <a:endParaRPr lang="en-US" altLang="zh-TW" sz="1200"/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5047F1F0-09D8-1D46-42A2-E48A3E6448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E20CDBBF-DB6D-7D58-FBB1-6D0A0E3318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228600" indent="-228600"/>
            <a:r>
              <a:rPr lang="en-US" altLang="zh-TW"/>
              <a:t>The scheduling algorithms can be classified as</a:t>
            </a:r>
          </a:p>
          <a:p>
            <a:pPr marL="228600" indent="-228600">
              <a:buFontTx/>
              <a:buAutoNum type="arabicPeriod"/>
            </a:pPr>
            <a:r>
              <a:rPr lang="en-US" altLang="zh-TW"/>
              <a:t>Preemptive or nonpreemptive</a:t>
            </a:r>
          </a:p>
          <a:p>
            <a:pPr marL="228600" indent="-228600">
              <a:buFontTx/>
              <a:buAutoNum type="arabicPeriod"/>
            </a:pPr>
            <a:r>
              <a:rPr lang="en-US" altLang="zh-TW"/>
              <a:t>Static or dynamic</a:t>
            </a:r>
          </a:p>
          <a:p>
            <a:pPr marL="228600" indent="-228600">
              <a:buFontTx/>
              <a:buAutoNum type="arabicPeriod"/>
            </a:pPr>
            <a:r>
              <a:rPr lang="en-US" altLang="zh-TW"/>
              <a:t>Off-line or on-line</a:t>
            </a:r>
          </a:p>
          <a:p>
            <a:pPr marL="228600" indent="-228600">
              <a:buFontTx/>
              <a:buAutoNum type="arabicPeriod"/>
            </a:pPr>
            <a:r>
              <a:rPr lang="en-US" altLang="zh-TW"/>
              <a:t>Optimal or heuristic</a:t>
            </a:r>
          </a:p>
          <a:p>
            <a:pPr marL="228600" indent="-228600">
              <a:buFontTx/>
              <a:buAutoNum type="arabicPeriod"/>
            </a:pPr>
            <a:r>
              <a:rPr lang="en-US" altLang="zh-TW"/>
              <a:t>Dynamic or fixed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E4FD3FE3-79A0-A0C8-21F7-4E8ACA60CE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BB47210-5F88-4593-8E99-72F9DCB57020}" type="slidenum">
              <a:rPr lang="zh-TW" altLang="en-US" sz="1200"/>
              <a:pPr>
                <a:spcBef>
                  <a:spcPct val="0"/>
                </a:spcBef>
              </a:pPr>
              <a:t>31</a:t>
            </a:fld>
            <a:endParaRPr lang="en-US" altLang="zh-TW" sz="1200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BF2BA92C-8C47-4937-9D5F-284D1D2119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09D1A687-3DF6-2B0C-A59F-6C7EF5B29C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B43626E7-BDB9-29A7-6CD9-B20DEE670B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6CF6B49-CF85-4C06-9D17-8D11B8691974}" type="slidenum">
              <a:rPr lang="zh-TW" altLang="en-US" sz="1200"/>
              <a:pPr>
                <a:spcBef>
                  <a:spcPct val="0"/>
                </a:spcBef>
              </a:pPr>
              <a:t>32</a:t>
            </a:fld>
            <a:endParaRPr lang="en-US" altLang="zh-TW" sz="1200"/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F6F5A428-4273-4937-9B2D-49BB6DDAC7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A36CFF84-F452-ECA3-8182-EDDFDBAC99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6EDA0039-9F89-C90C-0B35-3EE25A128F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412FD8E-5FDD-45EF-AB62-4B27E90DB197}" type="slidenum">
              <a:rPr lang="zh-TW" altLang="en-US" sz="1200"/>
              <a:pPr>
                <a:spcBef>
                  <a:spcPct val="0"/>
                </a:spcBef>
              </a:pPr>
              <a:t>33</a:t>
            </a:fld>
            <a:endParaRPr lang="en-US" altLang="zh-TW" sz="1200"/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DA4C4845-08E7-9A6D-1B2B-E9C9AB4664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603E2161-5FB2-6458-DD44-6E679DC19E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TW"/>
              <a:t>To evaluate a hard real-time system, the metrics may be schedulability, optimality etc.</a:t>
            </a:r>
          </a:p>
          <a:p>
            <a:r>
              <a:rPr lang="en-US" altLang="zh-TW"/>
              <a:t>In contrast, to evaluate a soft real-time system, the metrics may be miss ratio, response time, etc.</a:t>
            </a:r>
          </a:p>
          <a:p>
            <a:r>
              <a:rPr lang="en-US" altLang="zh-TW"/>
              <a:t>Other metrics, including the completion time, jitter, may also be applied in the evaluation of a hard or soft real-time system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14E8AEE0-DC46-43E8-B2F7-27755BCAAFE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45B13B8-AEE7-4229-A336-A29129708B58}" type="slidenum">
              <a:rPr lang="zh-TW" altLang="en-US" sz="1200"/>
              <a:pPr>
                <a:spcBef>
                  <a:spcPct val="0"/>
                </a:spcBef>
              </a:pPr>
              <a:t>34</a:t>
            </a:fld>
            <a:endParaRPr lang="en-US" altLang="zh-TW" sz="1200"/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81B2F1FF-C95F-1D4A-2524-21E7AEF18A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3181824F-8AED-F26A-5691-A63AF8A9B6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TW"/>
              <a:t>The approaches to implement a real-time scheduling algorithm, depending on its characteristics, may be clock-driven or priority-driven.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58DD8475-BDD4-0F90-CFDF-C7B4673FE6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5DA8164-D43D-4C8B-A350-A235A3ED0273}" type="slidenum">
              <a:rPr lang="zh-TW" altLang="en-US" sz="1200"/>
              <a:pPr>
                <a:spcBef>
                  <a:spcPct val="0"/>
                </a:spcBef>
              </a:pPr>
              <a:t>35</a:t>
            </a:fld>
            <a:endParaRPr lang="en-US" altLang="zh-TW" sz="1200"/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91310669-DB20-401A-D2F3-6B50046D97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8EAEC5E0-245E-822C-25AE-FEC8272B01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TW"/>
              <a:t>Clock-driven approach is also called time-driven. To adopt the clock-driven approach, the system must be deterministic. For example, the scheduling algorithm for periodic tasks may use the clock-driven approach since their parameters are know a priori. As a result, the scheduler often constructed by a static schedule off time. </a:t>
            </a:r>
          </a:p>
          <a:p>
            <a:endParaRPr lang="en-US" altLang="zh-TW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CCA7DF84-923A-5858-AD5C-CD8A829DE5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2EC78C5-32A2-4F34-862E-6AF5F28EA2F9}" type="slidenum">
              <a:rPr lang="zh-TW" altLang="en-US" sz="1200"/>
              <a:pPr>
                <a:spcBef>
                  <a:spcPct val="0"/>
                </a:spcBef>
              </a:pPr>
              <a:t>36</a:t>
            </a:fld>
            <a:endParaRPr lang="en-US" altLang="zh-TW" sz="1200"/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F7441A44-234D-200A-5767-7710A2307A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E9692803-4739-DC7F-48D5-26B41DA430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TW"/>
              <a:t>Priority-driven approach assigns each task a different priority and schedules tasks on the basis of their priority. </a:t>
            </a:r>
          </a:p>
          <a:p>
            <a:r>
              <a:rPr lang="en-US" altLang="zh-TW"/>
              <a:t>To assign a task’s priority, we may choose a task’s real-time or deadlines to determine its priority. Thus, priority-driven algorithms are event-driven and the event are tasks’ priority.</a:t>
            </a:r>
          </a:p>
          <a:p>
            <a:r>
              <a:rPr lang="en-US" altLang="zh-TW"/>
              <a:t>Some well-known priority-driven algorithms are FIFO and SETF.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E574512C-91A9-8E63-8F14-7ED8945C9F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8731BBD-2278-4B24-80AB-1F21AE5F2376}" type="slidenum">
              <a:rPr lang="zh-TW" altLang="en-US" sz="1200"/>
              <a:pPr>
                <a:spcBef>
                  <a:spcPct val="0"/>
                </a:spcBef>
              </a:pPr>
              <a:t>37</a:t>
            </a:fld>
            <a:endParaRPr lang="en-US" altLang="zh-TW" sz="1200"/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C52A4E1D-B836-A73F-EFDC-59F2FD725A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4860E8F1-F627-5B49-F9AB-15773AA4F5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TW"/>
              <a:t>For real-time systems, depending on whether dynamic or fixed or not, the priority-driven approaches may be dynamic-priority or fixed-priority.</a:t>
            </a:r>
          </a:p>
          <a:p>
            <a:r>
              <a:rPr lang="en-US" altLang="zh-TW"/>
              <a:t>The well-known EDF algorithm is a dynamic-priority driven algorithm. In contrast the RM is a fixed-priority driven algorithm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3">
            <a:extLst>
              <a:ext uri="{FF2B5EF4-FFF2-40B4-BE49-F238E27FC236}">
                <a16:creationId xmlns:a16="http://schemas.microsoft.com/office/drawing/2014/main" id="{31666678-A007-7C11-2390-8422E4DF4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52400"/>
            <a:ext cx="777240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 algn="ctr">
              <a:spcBef>
                <a:spcPct val="0"/>
              </a:spcBef>
              <a:defRPr kumimoji="1" sz="3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defRPr>
            </a:lvl1pPr>
            <a:lvl2pPr algn="ctr">
              <a:spcBef>
                <a:spcPct val="0"/>
              </a:spcBef>
              <a:defRPr kumimoji="1" sz="3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defRPr>
            </a:lvl2pPr>
            <a:lvl3pPr algn="ctr">
              <a:spcBef>
                <a:spcPct val="0"/>
              </a:spcBef>
              <a:defRPr kumimoji="1" sz="3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defRPr>
            </a:lvl3pPr>
            <a:lvl4pPr algn="ctr">
              <a:spcBef>
                <a:spcPct val="0"/>
              </a:spcBef>
              <a:defRPr kumimoji="1" sz="3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defRPr>
            </a:lvl4pPr>
            <a:lvl5pPr algn="ctr">
              <a:spcBef>
                <a:spcPct val="0"/>
              </a:spcBef>
              <a:defRPr kumimoji="1" sz="3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defRPr>
            </a:lvl9pPr>
          </a:lstStyle>
          <a:p>
            <a:pPr>
              <a:defRPr/>
            </a:pPr>
            <a:r>
              <a:rPr lang="en-US" altLang="zh-TW"/>
              <a:t>Programming Embedded Systems in C and C++</a:t>
            </a:r>
          </a:p>
        </p:txBody>
      </p:sp>
      <p:sp>
        <p:nvSpPr>
          <p:cNvPr id="3" name="Rectangle 37">
            <a:extLst>
              <a:ext uri="{FF2B5EF4-FFF2-40B4-BE49-F238E27FC236}">
                <a16:creationId xmlns:a16="http://schemas.microsoft.com/office/drawing/2014/main" id="{63894D7A-FD7E-4E54-92E6-820F979514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295400"/>
            <a:ext cx="9144000" cy="122238"/>
          </a:xfrm>
          <a:prstGeom prst="rect">
            <a:avLst/>
          </a:prstGeom>
          <a:gradFill rotWithShape="0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0" scaled="1"/>
          </a:gra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spcBef>
                <a:spcPct val="50000"/>
              </a:spcBef>
              <a:defRPr/>
            </a:pPr>
            <a:endParaRPr lang="en-IN"/>
          </a:p>
        </p:txBody>
      </p:sp>
      <p:sp>
        <p:nvSpPr>
          <p:cNvPr id="4" name="Rectangle 38">
            <a:extLst>
              <a:ext uri="{FF2B5EF4-FFF2-40B4-BE49-F238E27FC236}">
                <a16:creationId xmlns:a16="http://schemas.microsoft.com/office/drawing/2014/main" id="{16022106-83AD-A484-979F-FD85A42EA1B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778625"/>
            <a:ext cx="9144000" cy="50800"/>
          </a:xfrm>
          <a:prstGeom prst="rect">
            <a:avLst/>
          </a:prstGeom>
          <a:gradFill rotWithShape="0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0" scaled="1"/>
          </a:gra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spcBef>
                <a:spcPct val="50000"/>
              </a:spcBef>
              <a:defRPr/>
            </a:pPr>
            <a:endParaRPr lang="en-IN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9323A4C5-3DAB-5E32-C55C-A02C147A27A4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>
                <a:solidFill>
                  <a:srgbClr val="FFFFFF"/>
                </a:solidFill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0A04D08B-4938-1094-DE99-524802AC5F5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400">
                <a:solidFill>
                  <a:srgbClr val="FFFFFF"/>
                </a:solidFill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32">
            <a:extLst>
              <a:ext uri="{FF2B5EF4-FFF2-40B4-BE49-F238E27FC236}">
                <a16:creationId xmlns:a16="http://schemas.microsoft.com/office/drawing/2014/main" id="{B7E16B34-3198-EC67-F6C9-B3C9EAAC88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4AE761E1-32B4-40A5-979C-DB1AFDF7039B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80042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093174-4CF8-97C9-2AF8-EC69002382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8BB6874-3875-476A-8D36-6172F17A397E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05968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632CA-63F3-A625-AAF6-076DA8292F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A707F71-E038-4804-802C-9C938CE8031C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56588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148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1148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EF0702-F321-3830-A2AE-24D42C9472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1589820-260E-4488-9412-9030CBCE2B4F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44641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4916AD-D984-CDB3-4D00-9DE8619D49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90BDD2F-F336-4E1C-B1C3-05E3B989A7F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18039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8B161B-5707-FC18-8F6C-1787B97E47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17C8DAD-11D9-4CB2-A927-1EEBD1BAE585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2521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E3E5C0-9742-BB80-2482-101A386F7E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571E7AB-B676-49A9-A72B-2BCA7ADF2B3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83807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B0CF0B-BB7B-A43A-BD27-A3558884C4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3485EDB-1A26-4DC1-BF64-E455EDE9AB0E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68783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A36810-293B-7DD1-8968-6CC6C7E234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9326B2E-63CD-4BDF-B2D4-0CFBC7592D55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61940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27B420-75EF-5504-586E-332191EC6B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C83DCC3-6258-472A-B540-8DD7859C232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53350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152400"/>
            <a:ext cx="20955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1341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0B076A-D75F-5264-B9CE-17E16CEA29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C3858B9-7722-4BE3-9D0F-7F1DE16425C8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47267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5" name="Rectangle 17">
            <a:extLst>
              <a:ext uri="{FF2B5EF4-FFF2-40B4-BE49-F238E27FC236}">
                <a16:creationId xmlns:a16="http://schemas.microsoft.com/office/drawing/2014/main" id="{C47E62C3-2E70-5FE4-D402-7DCC5247A2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152400"/>
            <a:ext cx="838200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46038" rIns="0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18">
            <a:extLst>
              <a:ext uri="{FF2B5EF4-FFF2-40B4-BE49-F238E27FC236}">
                <a16:creationId xmlns:a16="http://schemas.microsoft.com/office/drawing/2014/main" id="{A22D0E32-2D70-D5E3-CC02-1A50D98AD8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524000"/>
            <a:ext cx="83820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2069" name="Rectangle 21">
            <a:extLst>
              <a:ext uri="{FF2B5EF4-FFF2-40B4-BE49-F238E27FC236}">
                <a16:creationId xmlns:a16="http://schemas.microsoft.com/office/drawing/2014/main" id="{C5384D74-3FD2-3EA7-30E9-B14954E9BA1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01000" y="6248400"/>
            <a:ext cx="9144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E42FF1AF-356C-4C14-A3AC-DC8A6557CCB6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1029" name="Text Box 23">
            <a:extLst>
              <a:ext uri="{FF2B5EF4-FFF2-40B4-BE49-F238E27FC236}">
                <a16:creationId xmlns:a16="http://schemas.microsoft.com/office/drawing/2014/main" id="{C95C9EFF-5A99-B1C9-D462-A766461C8A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6172200"/>
            <a:ext cx="2590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TW" altLang="en-US" sz="1400">
              <a:ea typeface="新細明體" panose="02020500000000000000" pitchFamily="18" charset="-120"/>
            </a:endParaRPr>
          </a:p>
        </p:txBody>
      </p:sp>
      <p:sp>
        <p:nvSpPr>
          <p:cNvPr id="2080" name="Rectangle 32">
            <a:extLst>
              <a:ext uri="{FF2B5EF4-FFF2-40B4-BE49-F238E27FC236}">
                <a16:creationId xmlns:a16="http://schemas.microsoft.com/office/drawing/2014/main" id="{E7532BB0-9D5C-5F1A-C7DB-83E486D75EF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295400"/>
            <a:ext cx="9144000" cy="122238"/>
          </a:xfrm>
          <a:prstGeom prst="rect">
            <a:avLst/>
          </a:prstGeom>
          <a:gradFill rotWithShape="0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0" scaled="1"/>
          </a:gra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spcBef>
                <a:spcPct val="50000"/>
              </a:spcBef>
              <a:defRPr/>
            </a:pPr>
            <a:endParaRPr lang="en-IN"/>
          </a:p>
        </p:txBody>
      </p:sp>
      <p:sp>
        <p:nvSpPr>
          <p:cNvPr id="2081" name="Rectangle 33">
            <a:extLst>
              <a:ext uri="{FF2B5EF4-FFF2-40B4-BE49-F238E27FC236}">
                <a16:creationId xmlns:a16="http://schemas.microsoft.com/office/drawing/2014/main" id="{DCE53633-2CA9-30B7-C98A-46566C0FFC9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778625"/>
            <a:ext cx="9144000" cy="50800"/>
          </a:xfrm>
          <a:prstGeom prst="rect">
            <a:avLst/>
          </a:prstGeom>
          <a:gradFill rotWithShape="0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0" scaled="1"/>
          </a:gra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spcBef>
                <a:spcPct val="50000"/>
              </a:spcBef>
              <a:defRPr/>
            </a:pPr>
            <a:endParaRPr lang="en-IN"/>
          </a:p>
        </p:txBody>
      </p:sp>
      <p:sp>
        <p:nvSpPr>
          <p:cNvPr id="1032" name="Rectangle 34">
            <a:extLst>
              <a:ext uri="{FF2B5EF4-FFF2-40B4-BE49-F238E27FC236}">
                <a16:creationId xmlns:a16="http://schemas.microsoft.com/office/drawing/2014/main" id="{B7339126-A0F0-F54E-0716-40C3BF59E78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453188"/>
            <a:ext cx="13271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TW" altLang="en-US" sz="1000">
                <a:ea typeface="標楷體" pitchFamily="65" charset="-128"/>
              </a:rPr>
              <a:t>嵌入式即時作業系統</a:t>
            </a:r>
            <a:endParaRPr lang="zh-TW" altLang="en-US">
              <a:ea typeface="新細明體" panose="02020500000000000000" pitchFamily="18" charset="-12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600" b="1" kern="12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449DFBB9-F7B4-7BBC-9CC0-FD135492BBDF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685800" y="1447800"/>
            <a:ext cx="7772400" cy="1143000"/>
          </a:xfrm>
        </p:spPr>
        <p:txBody>
          <a:bodyPr/>
          <a:lstStyle/>
          <a:p>
            <a:pPr>
              <a:defRPr/>
            </a:pPr>
            <a:r>
              <a:rPr kumimoji="0" lang="en-US" altLang="zh-TW">
                <a:solidFill>
                  <a:srgbClr val="000000"/>
                </a:solidFill>
                <a:latin typeface="Verdana" panose="020B0604030504040204" pitchFamily="34" charset="0"/>
                <a:ea typeface="新細明體" panose="02020500000000000000" pitchFamily="18" charset="-120"/>
              </a:rPr>
              <a:t>Real-Time System: Introduction</a:t>
            </a:r>
            <a:endParaRPr kumimoji="0" lang="zh-TW" altLang="en-US">
              <a:solidFill>
                <a:srgbClr val="000000"/>
              </a:solidFill>
              <a:latin typeface="Verdan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23909" name="Rectangle 5">
            <a:extLst>
              <a:ext uri="{FF2B5EF4-FFF2-40B4-BE49-F238E27FC236}">
                <a16:creationId xmlns:a16="http://schemas.microsoft.com/office/drawing/2014/main" id="{B94DE1CE-96BE-6348-9927-2AF180E9E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22238"/>
          </a:xfrm>
          <a:prstGeom prst="rect">
            <a:avLst/>
          </a:prstGeom>
          <a:gradFill rotWithShape="0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0" scaled="1"/>
          </a:gra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spcBef>
                <a:spcPct val="50000"/>
              </a:spcBef>
              <a:defRPr/>
            </a:pPr>
            <a:endParaRPr lang="en-IN"/>
          </a:p>
        </p:txBody>
      </p:sp>
      <p:sp>
        <p:nvSpPr>
          <p:cNvPr id="123910" name="Rectangle 6">
            <a:extLst>
              <a:ext uri="{FF2B5EF4-FFF2-40B4-BE49-F238E27FC236}">
                <a16:creationId xmlns:a16="http://schemas.microsoft.com/office/drawing/2014/main" id="{6DE09B48-8222-E11E-F88D-C9B5A6F3E5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778625"/>
            <a:ext cx="9144000" cy="50800"/>
          </a:xfrm>
          <a:prstGeom prst="rect">
            <a:avLst/>
          </a:prstGeom>
          <a:gradFill rotWithShape="0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0" scaled="1"/>
          </a:gra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spcBef>
                <a:spcPct val="50000"/>
              </a:spcBef>
              <a:defRPr/>
            </a:pPr>
            <a:endParaRPr lang="en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089E89-1B01-4096-9B84-E664F393A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761E1-32B4-40A5-979C-DB1AFDF7039B}" type="slidenum">
              <a:rPr lang="zh-TW" altLang="en-US" smtClean="0"/>
              <a:pPr>
                <a:defRPr/>
              </a:pPr>
              <a:t>1</a:t>
            </a:fld>
            <a:endParaRPr lang="en-US" altLang="zh-TW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F118A6E6-AE6F-A834-D83D-9C6E117EAB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solidFill>
                  <a:srgbClr val="354278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Introduction: Real-Time System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7868C2B1-A745-9E1C-F894-FF38A85DFE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8382000" cy="449738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sz="3200">
                <a:ea typeface="新細明體" panose="02020500000000000000" pitchFamily="18" charset="-120"/>
              </a:rPr>
              <a:t>Real-time</a:t>
            </a:r>
            <a:r>
              <a:rPr lang="en-US" altLang="zh-TW">
                <a:ea typeface="新細明體" panose="02020500000000000000" pitchFamily="18" charset="-120"/>
              </a:rPr>
              <a:t> </a:t>
            </a:r>
          </a:p>
          <a:p>
            <a:pPr lvl="1">
              <a:lnSpc>
                <a:spcPct val="90000"/>
              </a:lnSpc>
            </a:pPr>
            <a:r>
              <a:rPr lang="en-US" altLang="zh-TW" sz="2800">
                <a:ea typeface="新細明體" panose="02020500000000000000" pitchFamily="18" charset="-120"/>
              </a:rPr>
              <a:t>Does not denote speed/fast</a:t>
            </a:r>
          </a:p>
          <a:p>
            <a:pPr lvl="1">
              <a:lnSpc>
                <a:spcPct val="90000"/>
              </a:lnSpc>
            </a:pPr>
            <a:r>
              <a:rPr lang="en-US" altLang="zh-TW" sz="2800">
                <a:ea typeface="新細明體" panose="02020500000000000000" pitchFamily="18" charset="-120"/>
              </a:rPr>
              <a:t>But meet the timing constraints or deadlines</a:t>
            </a:r>
          </a:p>
          <a:p>
            <a:pPr>
              <a:lnSpc>
                <a:spcPct val="90000"/>
              </a:lnSpc>
            </a:pPr>
            <a:r>
              <a:rPr lang="en-US" altLang="zh-TW" sz="3200">
                <a:ea typeface="新細明體" panose="02020500000000000000" pitchFamily="18" charset="-120"/>
              </a:rPr>
              <a:t>Goal: make the system predictable and robust</a:t>
            </a:r>
          </a:p>
          <a:p>
            <a:pPr>
              <a:lnSpc>
                <a:spcPct val="90000"/>
              </a:lnSpc>
            </a:pPr>
            <a:r>
              <a:rPr lang="en-US" altLang="zh-TW" sz="3200">
                <a:ea typeface="新細明體" panose="02020500000000000000" pitchFamily="18" charset="-120"/>
              </a:rPr>
              <a:t>Predictability: have deterministic behavior</a:t>
            </a:r>
          </a:p>
          <a:p>
            <a:pPr lvl="1">
              <a:lnSpc>
                <a:spcPct val="90000"/>
              </a:lnSpc>
            </a:pPr>
            <a:r>
              <a:rPr lang="en-US" altLang="zh-TW" sz="2800">
                <a:ea typeface="新細明體" panose="02020500000000000000" pitchFamily="18" charset="-120"/>
              </a:rPr>
              <a:t>Usually use the worst-case analysis</a:t>
            </a:r>
          </a:p>
          <a:p>
            <a:pPr lvl="1">
              <a:lnSpc>
                <a:spcPct val="90000"/>
              </a:lnSpc>
            </a:pPr>
            <a:r>
              <a:rPr lang="en-US" altLang="zh-TW" sz="2800">
                <a:ea typeface="新細明體" panose="02020500000000000000" pitchFamily="18" charset="-120"/>
              </a:rPr>
              <a:t>Guaranteed response/reaction times</a:t>
            </a:r>
          </a:p>
          <a:p>
            <a:pPr>
              <a:lnSpc>
                <a:spcPct val="90000"/>
              </a:lnSpc>
            </a:pPr>
            <a:r>
              <a:rPr lang="en-US" altLang="zh-TW" sz="3200">
                <a:ea typeface="新細明體" panose="02020500000000000000" pitchFamily="18" charset="-120"/>
              </a:rPr>
              <a:t>Robustness: the job with granted performance will not be interfered with other job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41D9DA-9AD6-433A-9F3E-62C12603F4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BB6874-3875-476A-8D36-6172F17A397E}" type="slidenum">
              <a:rPr lang="zh-TW" altLang="en-US" smtClean="0"/>
              <a:pPr>
                <a:defRPr/>
              </a:pPr>
              <a:t>2</a:t>
            </a:fld>
            <a:endParaRPr lang="en-US" altLang="zh-TW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3">
            <a:extLst>
              <a:ext uri="{FF2B5EF4-FFF2-40B4-BE49-F238E27FC236}">
                <a16:creationId xmlns:a16="http://schemas.microsoft.com/office/drawing/2014/main" id="{8DAAE3CA-3B5C-A8D1-BB15-5E309D89B8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BD82197-F4ED-4FE8-A6D2-925191569A8F}" type="slidenum">
              <a:rPr lang="zh-TW" altLang="en-US" sz="1400"/>
              <a:pPr/>
              <a:t>3</a:t>
            </a:fld>
            <a:endParaRPr lang="en-US" altLang="zh-TW" sz="1400"/>
          </a:p>
        </p:txBody>
      </p:sp>
      <p:sp>
        <p:nvSpPr>
          <p:cNvPr id="192514" name="Rectangle 2">
            <a:extLst>
              <a:ext uri="{FF2B5EF4-FFF2-40B4-BE49-F238E27FC236}">
                <a16:creationId xmlns:a16="http://schemas.microsoft.com/office/drawing/2014/main" id="{88009DC7-969B-612B-D369-6AF26C523C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solidFill>
                  <a:srgbClr val="354278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Introduction: Real-Time System</a:t>
            </a:r>
            <a:endParaRPr lang="zh-TW" altLang="en-US">
              <a:solidFill>
                <a:srgbClr val="354278"/>
              </a:solidFill>
              <a:latin typeface="Arial" panose="020B060402020202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1B5DB443-96F8-3598-8988-7EAD3705B7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8382000" cy="1112838"/>
          </a:xfrm>
        </p:spPr>
        <p:txBody>
          <a:bodyPr/>
          <a:lstStyle/>
          <a:p>
            <a:r>
              <a:rPr lang="en-US" altLang="zh-TW" b="1" i="1">
                <a:solidFill>
                  <a:srgbClr val="990000"/>
                </a:solidFill>
                <a:ea typeface="新細明體" panose="02020500000000000000" pitchFamily="18" charset="-120"/>
              </a:rPr>
              <a:t>Real-time system</a:t>
            </a:r>
            <a:r>
              <a:rPr lang="en-US" altLang="zh-TW">
                <a:ea typeface="新細明體" panose="02020500000000000000" pitchFamily="18" charset="-120"/>
              </a:rPr>
              <a:t>: respond to external events in a timely fashion and the response time is guaranteed</a:t>
            </a:r>
            <a:endParaRPr lang="zh-TW" altLang="en-US">
              <a:ea typeface="新細明體" panose="02020500000000000000" pitchFamily="18" charset="-120"/>
            </a:endParaRPr>
          </a:p>
        </p:txBody>
      </p:sp>
      <p:pic>
        <p:nvPicPr>
          <p:cNvPr id="18437" name="Picture 4">
            <a:extLst>
              <a:ext uri="{FF2B5EF4-FFF2-40B4-BE49-F238E27FC236}">
                <a16:creationId xmlns:a16="http://schemas.microsoft.com/office/drawing/2014/main" id="{EC4707A6-C521-128E-2C7E-F073EE39DF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2636838"/>
            <a:ext cx="7742237" cy="3529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3">
            <a:extLst>
              <a:ext uri="{FF2B5EF4-FFF2-40B4-BE49-F238E27FC236}">
                <a16:creationId xmlns:a16="http://schemas.microsoft.com/office/drawing/2014/main" id="{CA9193CE-0526-0424-D32A-41B7F6699C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1B7A305-16BE-4066-82B3-D9059764B1ED}" type="slidenum">
              <a:rPr lang="zh-TW" altLang="en-US" sz="1400"/>
              <a:pPr/>
              <a:t>4</a:t>
            </a:fld>
            <a:endParaRPr lang="en-US" altLang="zh-TW" sz="1400"/>
          </a:p>
        </p:txBody>
      </p:sp>
      <p:sp>
        <p:nvSpPr>
          <p:cNvPr id="193538" name="Rectangle 2">
            <a:extLst>
              <a:ext uri="{FF2B5EF4-FFF2-40B4-BE49-F238E27FC236}">
                <a16:creationId xmlns:a16="http://schemas.microsoft.com/office/drawing/2014/main" id="{951277FD-6E10-6BEE-C5F4-2CA558F2DA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solidFill>
                  <a:srgbClr val="354278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Introduction: Real-Time System</a:t>
            </a:r>
            <a:endParaRPr lang="zh-TW" altLang="en-US">
              <a:solidFill>
                <a:srgbClr val="354278"/>
              </a:solidFill>
              <a:latin typeface="Arial" panose="020B060402020202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9536AA9F-4467-066C-2FB7-5EF30ABEF8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Responding to external events includes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Recognize when an event occurs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Perform the required processing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Output the result within a given time constraint</a:t>
            </a:r>
          </a:p>
          <a:p>
            <a:endParaRPr lang="en-US" altLang="zh-TW">
              <a:ea typeface="新細明體" panose="02020500000000000000" pitchFamily="18" charset="-120"/>
            </a:endParaRPr>
          </a:p>
          <a:p>
            <a:r>
              <a:rPr lang="en-US" altLang="zh-TW">
                <a:ea typeface="新細明體" panose="02020500000000000000" pitchFamily="18" charset="-120"/>
              </a:rPr>
              <a:t>Timing constraints include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Finish time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Both start time and finish time</a:t>
            </a:r>
            <a:endParaRPr lang="zh-TW" altLang="en-US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3">
            <a:extLst>
              <a:ext uri="{FF2B5EF4-FFF2-40B4-BE49-F238E27FC236}">
                <a16:creationId xmlns:a16="http://schemas.microsoft.com/office/drawing/2014/main" id="{D744ECEB-04D0-0257-B9F9-B46CD1BAF2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6060396-D31B-41AF-A10C-B94BD077AFF1}" type="slidenum">
              <a:rPr lang="zh-TW" altLang="en-US" sz="1400"/>
              <a:pPr/>
              <a:t>5</a:t>
            </a:fld>
            <a:endParaRPr lang="en-US" altLang="zh-TW" sz="1400"/>
          </a:p>
        </p:txBody>
      </p:sp>
      <p:sp>
        <p:nvSpPr>
          <p:cNvPr id="194562" name="Rectangle 2">
            <a:extLst>
              <a:ext uri="{FF2B5EF4-FFF2-40B4-BE49-F238E27FC236}">
                <a16:creationId xmlns:a16="http://schemas.microsoft.com/office/drawing/2014/main" id="{0BDCAED2-9140-F973-7E78-8FEE7FFC71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ea typeface="新細明體" panose="02020500000000000000" pitchFamily="18" charset="-120"/>
              </a:rPr>
              <a:t>Real-Time Systems</a:t>
            </a:r>
          </a:p>
        </p:txBody>
      </p:sp>
      <p:sp>
        <p:nvSpPr>
          <p:cNvPr id="20484" name="Rectangle 4">
            <a:extLst>
              <a:ext uri="{FF2B5EF4-FFF2-40B4-BE49-F238E27FC236}">
                <a16:creationId xmlns:a16="http://schemas.microsoft.com/office/drawing/2014/main" id="{D49C830C-BBE6-915D-88B2-861014DDBE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557338"/>
            <a:ext cx="8229600" cy="1150937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The structure of a real-time system is a </a:t>
            </a:r>
            <a:r>
              <a:rPr lang="en-US" altLang="zh-TW" i="1">
                <a:solidFill>
                  <a:schemeClr val="hlink"/>
                </a:solidFill>
                <a:ea typeface="新細明體" panose="02020500000000000000" pitchFamily="18" charset="-120"/>
              </a:rPr>
              <a:t>controlling system</a:t>
            </a:r>
            <a:r>
              <a:rPr lang="en-US" altLang="zh-TW">
                <a:ea typeface="新細明體" panose="02020500000000000000" pitchFamily="18" charset="-120"/>
              </a:rPr>
              <a:t> and at least one </a:t>
            </a:r>
            <a:r>
              <a:rPr lang="en-US" altLang="zh-TW" i="1">
                <a:solidFill>
                  <a:schemeClr val="hlink"/>
                </a:solidFill>
                <a:ea typeface="新細明體" panose="02020500000000000000" pitchFamily="18" charset="-120"/>
              </a:rPr>
              <a:t>controlled system</a:t>
            </a:r>
          </a:p>
        </p:txBody>
      </p:sp>
      <p:grpSp>
        <p:nvGrpSpPr>
          <p:cNvPr id="20485" name="Group 5">
            <a:extLst>
              <a:ext uri="{FF2B5EF4-FFF2-40B4-BE49-F238E27FC236}">
                <a16:creationId xmlns:a16="http://schemas.microsoft.com/office/drawing/2014/main" id="{D5D7C28A-92A4-3EDA-79E5-BAE8C0634262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2924175"/>
            <a:ext cx="7753350" cy="3514725"/>
            <a:chOff x="340" y="2024"/>
            <a:chExt cx="4884" cy="2127"/>
          </a:xfrm>
        </p:grpSpPr>
        <p:sp>
          <p:nvSpPr>
            <p:cNvPr id="20486" name="Rectangle 6">
              <a:extLst>
                <a:ext uri="{FF2B5EF4-FFF2-40B4-BE49-F238E27FC236}">
                  <a16:creationId xmlns:a16="http://schemas.microsoft.com/office/drawing/2014/main" id="{C8CA3E1C-A872-AEC3-F6B5-EECD4B5BF3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1" y="2160"/>
              <a:ext cx="817" cy="440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kumimoji="1" lang="en-US" altLang="zh-TW" sz="1800">
                  <a:ea typeface="新細明體" panose="02020500000000000000" pitchFamily="18" charset="-120"/>
                </a:rPr>
                <a:t>Controlling </a:t>
              </a:r>
            </a:p>
            <a:p>
              <a:pPr algn="ctr" eaLnBrk="1" hangingPunct="1">
                <a:spcBef>
                  <a:spcPct val="0"/>
                </a:spcBef>
              </a:pPr>
              <a:r>
                <a:rPr kumimoji="1" lang="en-US" altLang="zh-TW" sz="1800">
                  <a:ea typeface="新細明體" panose="02020500000000000000" pitchFamily="18" charset="-120"/>
                </a:rPr>
                <a:t>System</a:t>
              </a:r>
            </a:p>
          </p:txBody>
        </p:sp>
        <p:sp>
          <p:nvSpPr>
            <p:cNvPr id="20487" name="Rectangle 7">
              <a:extLst>
                <a:ext uri="{FF2B5EF4-FFF2-40B4-BE49-F238E27FC236}">
                  <a16:creationId xmlns:a16="http://schemas.microsoft.com/office/drawing/2014/main" id="{9B96F667-3F65-AFD1-3672-270B5F64EB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2" y="2795"/>
              <a:ext cx="817" cy="440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kumimoji="1" lang="en-US" altLang="zh-TW" sz="1800">
                  <a:ea typeface="新細明體" panose="02020500000000000000" pitchFamily="18" charset="-120"/>
                </a:rPr>
                <a:t>Controlled</a:t>
              </a:r>
            </a:p>
            <a:p>
              <a:pPr algn="ctr" eaLnBrk="1" hangingPunct="1">
                <a:spcBef>
                  <a:spcPct val="0"/>
                </a:spcBef>
              </a:pPr>
              <a:r>
                <a:rPr kumimoji="1" lang="en-US" altLang="zh-TW" sz="1800">
                  <a:ea typeface="新細明體" panose="02020500000000000000" pitchFamily="18" charset="-120"/>
                </a:rPr>
                <a:t>System</a:t>
              </a:r>
            </a:p>
          </p:txBody>
        </p:sp>
        <p:sp>
          <p:nvSpPr>
            <p:cNvPr id="20488" name="Rectangle 8">
              <a:extLst>
                <a:ext uri="{FF2B5EF4-FFF2-40B4-BE49-F238E27FC236}">
                  <a16:creationId xmlns:a16="http://schemas.microsoft.com/office/drawing/2014/main" id="{8E5B9694-A424-4417-947F-C449409E92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1" y="3249"/>
              <a:ext cx="817" cy="408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kumimoji="1" lang="en-US" altLang="zh-TW" sz="1800">
                  <a:ea typeface="新細明體" panose="02020500000000000000" pitchFamily="18" charset="-120"/>
                </a:rPr>
                <a:t>Controlled</a:t>
              </a:r>
            </a:p>
            <a:p>
              <a:pPr algn="ctr" eaLnBrk="1" hangingPunct="1">
                <a:spcBef>
                  <a:spcPct val="0"/>
                </a:spcBef>
              </a:pPr>
              <a:r>
                <a:rPr kumimoji="1" lang="en-US" altLang="zh-TW" sz="1800">
                  <a:ea typeface="新細明體" panose="02020500000000000000" pitchFamily="18" charset="-120"/>
                </a:rPr>
                <a:t>System</a:t>
              </a:r>
            </a:p>
          </p:txBody>
        </p:sp>
        <p:sp>
          <p:nvSpPr>
            <p:cNvPr id="20489" name="Rectangle 9">
              <a:extLst>
                <a:ext uri="{FF2B5EF4-FFF2-40B4-BE49-F238E27FC236}">
                  <a16:creationId xmlns:a16="http://schemas.microsoft.com/office/drawing/2014/main" id="{1E4A4A16-CCA0-871B-15BB-BD446D4499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" y="2795"/>
              <a:ext cx="817" cy="409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kumimoji="1" lang="en-US" altLang="zh-TW" sz="1800">
                  <a:ea typeface="新細明體" panose="02020500000000000000" pitchFamily="18" charset="-120"/>
                </a:rPr>
                <a:t>Controlled</a:t>
              </a:r>
            </a:p>
            <a:p>
              <a:pPr algn="ctr" eaLnBrk="1" hangingPunct="1">
                <a:spcBef>
                  <a:spcPct val="0"/>
                </a:spcBef>
              </a:pPr>
              <a:r>
                <a:rPr kumimoji="1" lang="en-US" altLang="zh-TW" sz="1800">
                  <a:ea typeface="新細明體" panose="02020500000000000000" pitchFamily="18" charset="-120"/>
                </a:rPr>
                <a:t>System</a:t>
              </a:r>
            </a:p>
          </p:txBody>
        </p:sp>
        <p:sp>
          <p:nvSpPr>
            <p:cNvPr id="20490" name="Line 10">
              <a:extLst>
                <a:ext uri="{FF2B5EF4-FFF2-40B4-BE49-F238E27FC236}">
                  <a16:creationId xmlns:a16="http://schemas.microsoft.com/office/drawing/2014/main" id="{3BBFDFB4-CEEB-1072-E840-79CC8DA94F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37" y="2568"/>
              <a:ext cx="544" cy="4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1" name="Line 11">
              <a:extLst>
                <a:ext uri="{FF2B5EF4-FFF2-40B4-BE49-F238E27FC236}">
                  <a16:creationId xmlns:a16="http://schemas.microsoft.com/office/drawing/2014/main" id="{77079CC8-D82E-6F1F-EA08-F0A12ECC60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3" y="2568"/>
              <a:ext cx="498" cy="4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2" name="Line 12">
              <a:extLst>
                <a:ext uri="{FF2B5EF4-FFF2-40B4-BE49-F238E27FC236}">
                  <a16:creationId xmlns:a16="http://schemas.microsoft.com/office/drawing/2014/main" id="{7D03E9E1-B61C-DBDE-ACE5-1199655B36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9" y="2614"/>
              <a:ext cx="0" cy="6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3" name="Line 13">
              <a:extLst>
                <a:ext uri="{FF2B5EF4-FFF2-40B4-BE49-F238E27FC236}">
                  <a16:creationId xmlns:a16="http://schemas.microsoft.com/office/drawing/2014/main" id="{D021340A-535C-0209-D021-9595A80679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9" y="2024"/>
              <a:ext cx="0" cy="18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4" name="Line 14">
              <a:extLst>
                <a:ext uri="{FF2B5EF4-FFF2-40B4-BE49-F238E27FC236}">
                  <a16:creationId xmlns:a16="http://schemas.microsoft.com/office/drawing/2014/main" id="{8BF414DF-B25F-9116-BBE8-3904443FF9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9" y="2024"/>
              <a:ext cx="385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5" name="Line 15">
              <a:extLst>
                <a:ext uri="{FF2B5EF4-FFF2-40B4-BE49-F238E27FC236}">
                  <a16:creationId xmlns:a16="http://schemas.microsoft.com/office/drawing/2014/main" id="{C0B96897-CF95-45BE-BEC3-ABB1AEFDA4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0" y="2024"/>
              <a:ext cx="0" cy="18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6" name="Line 16">
              <a:extLst>
                <a:ext uri="{FF2B5EF4-FFF2-40B4-BE49-F238E27FC236}">
                  <a16:creationId xmlns:a16="http://schemas.microsoft.com/office/drawing/2014/main" id="{9DC5E636-1C54-3857-193C-C75648D1DC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9" y="3884"/>
              <a:ext cx="394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7" name="Line 17">
              <a:extLst>
                <a:ext uri="{FF2B5EF4-FFF2-40B4-BE49-F238E27FC236}">
                  <a16:creationId xmlns:a16="http://schemas.microsoft.com/office/drawing/2014/main" id="{2E47A397-556E-B771-866A-5C6652236C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58" y="3022"/>
              <a:ext cx="54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8" name="Line 18">
              <a:extLst>
                <a:ext uri="{FF2B5EF4-FFF2-40B4-BE49-F238E27FC236}">
                  <a16:creationId xmlns:a16="http://schemas.microsoft.com/office/drawing/2014/main" id="{16CD7443-E325-B35A-B18E-156C1DF18F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1" y="2976"/>
              <a:ext cx="58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9" name="Line 19">
              <a:extLst>
                <a:ext uri="{FF2B5EF4-FFF2-40B4-BE49-F238E27FC236}">
                  <a16:creationId xmlns:a16="http://schemas.microsoft.com/office/drawing/2014/main" id="{5016F1F9-1691-FE90-0F94-B6C96A9D8E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8" y="3657"/>
              <a:ext cx="0" cy="3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0" name="Line 20">
              <a:extLst>
                <a:ext uri="{FF2B5EF4-FFF2-40B4-BE49-F238E27FC236}">
                  <a16:creationId xmlns:a16="http://schemas.microsoft.com/office/drawing/2014/main" id="{16A7FC3D-0FDB-A780-652C-1C503352CF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1" y="3657"/>
              <a:ext cx="0" cy="3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1" name="Text Box 21">
              <a:extLst>
                <a:ext uri="{FF2B5EF4-FFF2-40B4-BE49-F238E27FC236}">
                  <a16:creationId xmlns:a16="http://schemas.microsoft.com/office/drawing/2014/main" id="{4691FCAA-869A-3F4D-6AB7-C8B1D95A3B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0" y="2750"/>
              <a:ext cx="484" cy="2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kumimoji="1" lang="en-US" altLang="zh-TW" sz="1800">
                  <a:ea typeface="新細明體" panose="02020500000000000000" pitchFamily="18" charset="-120"/>
                </a:rPr>
                <a:t>output</a:t>
              </a:r>
            </a:p>
          </p:txBody>
        </p:sp>
        <p:sp>
          <p:nvSpPr>
            <p:cNvPr id="20502" name="Text Box 22">
              <a:extLst>
                <a:ext uri="{FF2B5EF4-FFF2-40B4-BE49-F238E27FC236}">
                  <a16:creationId xmlns:a16="http://schemas.microsoft.com/office/drawing/2014/main" id="{75CAAF38-00DE-A719-4156-12588C3684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" y="2704"/>
              <a:ext cx="412" cy="2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kumimoji="1" lang="en-US" altLang="zh-TW" sz="1800">
                  <a:ea typeface="新細明體" panose="02020500000000000000" pitchFamily="18" charset="-120"/>
                </a:rPr>
                <a:t>input</a:t>
              </a:r>
            </a:p>
          </p:txBody>
        </p:sp>
        <p:sp>
          <p:nvSpPr>
            <p:cNvPr id="20503" name="Text Box 23">
              <a:extLst>
                <a:ext uri="{FF2B5EF4-FFF2-40B4-BE49-F238E27FC236}">
                  <a16:creationId xmlns:a16="http://schemas.microsoft.com/office/drawing/2014/main" id="{D18776A2-7741-E233-4F9F-4E7C11070F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3929"/>
              <a:ext cx="484" cy="2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kumimoji="1" lang="en-US" altLang="zh-TW" sz="1800">
                  <a:ea typeface="新細明體" panose="02020500000000000000" pitchFamily="18" charset="-120"/>
                </a:rPr>
                <a:t>output</a:t>
              </a:r>
            </a:p>
          </p:txBody>
        </p:sp>
        <p:sp>
          <p:nvSpPr>
            <p:cNvPr id="20504" name="Text Box 24">
              <a:extLst>
                <a:ext uri="{FF2B5EF4-FFF2-40B4-BE49-F238E27FC236}">
                  <a16:creationId xmlns:a16="http://schemas.microsoft.com/office/drawing/2014/main" id="{831CEB05-B434-ACFD-80B5-EBD5B39DDE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1" y="3929"/>
              <a:ext cx="412" cy="2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kumimoji="1" lang="en-US" altLang="zh-TW" sz="1800">
                  <a:ea typeface="新細明體" panose="02020500000000000000" pitchFamily="18" charset="-120"/>
                </a:rPr>
                <a:t>input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3">
            <a:extLst>
              <a:ext uri="{FF2B5EF4-FFF2-40B4-BE49-F238E27FC236}">
                <a16:creationId xmlns:a16="http://schemas.microsoft.com/office/drawing/2014/main" id="{6241422E-FB10-5D27-7AE2-A82A7053C0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5B54632-8574-4127-BAB8-196CED10A736}" type="slidenum">
              <a:rPr lang="zh-TW" altLang="en-US" sz="1400"/>
              <a:pPr/>
              <a:t>6</a:t>
            </a:fld>
            <a:endParaRPr lang="en-US" altLang="zh-TW" sz="1400"/>
          </a:p>
        </p:txBody>
      </p:sp>
      <p:sp>
        <p:nvSpPr>
          <p:cNvPr id="195586" name="Rectangle 2">
            <a:extLst>
              <a:ext uri="{FF2B5EF4-FFF2-40B4-BE49-F238E27FC236}">
                <a16:creationId xmlns:a16="http://schemas.microsoft.com/office/drawing/2014/main" id="{60E178A3-110C-D937-811F-9F3E45053A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ea typeface="新細明體" panose="02020500000000000000" pitchFamily="18" charset="-120"/>
              </a:rPr>
              <a:t>Real-Time Systems (Cont.)</a:t>
            </a:r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C838142B-7106-732E-A9F7-3D5D9E1EA3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2400">
                <a:ea typeface="新細明體" panose="02020500000000000000" pitchFamily="18" charset="-120"/>
              </a:rPr>
              <a:t>The controlling system interacts with the controlled system in various ways</a:t>
            </a:r>
          </a:p>
          <a:p>
            <a:pPr lvl="1"/>
            <a:r>
              <a:rPr lang="en-US" altLang="zh-TW" sz="2000">
                <a:ea typeface="新細明體" panose="02020500000000000000" pitchFamily="18" charset="-120"/>
              </a:rPr>
              <a:t>The interaction can be </a:t>
            </a:r>
            <a:r>
              <a:rPr lang="en-US" altLang="zh-TW" sz="2000" i="1">
                <a:ea typeface="新細明體" panose="02020500000000000000" pitchFamily="18" charset="-120"/>
              </a:rPr>
              <a:t>periodic</a:t>
            </a:r>
          </a:p>
          <a:p>
            <a:pPr lvl="2"/>
            <a:r>
              <a:rPr lang="en-US" altLang="zh-TW" sz="1800">
                <a:ea typeface="新細明體" panose="02020500000000000000" pitchFamily="18" charset="-120"/>
              </a:rPr>
              <a:t>The controlling system -&gt; the controlled system</a:t>
            </a:r>
          </a:p>
          <a:p>
            <a:pPr lvl="2"/>
            <a:r>
              <a:rPr lang="en-US" altLang="zh-TW" sz="1800">
                <a:ea typeface="新細明體" panose="02020500000000000000" pitchFamily="18" charset="-120"/>
              </a:rPr>
              <a:t>Predictable and occurs at predefined intervals</a:t>
            </a:r>
          </a:p>
          <a:p>
            <a:pPr lvl="1"/>
            <a:r>
              <a:rPr lang="en-US" altLang="zh-TW" sz="2000">
                <a:ea typeface="新細明體" panose="02020500000000000000" pitchFamily="18" charset="-120"/>
              </a:rPr>
              <a:t>The interaction can be </a:t>
            </a:r>
            <a:r>
              <a:rPr lang="en-US" altLang="zh-TW" sz="2000" i="1">
                <a:ea typeface="新細明體" panose="02020500000000000000" pitchFamily="18" charset="-120"/>
              </a:rPr>
              <a:t>aperiodic</a:t>
            </a:r>
          </a:p>
          <a:p>
            <a:pPr lvl="2"/>
            <a:r>
              <a:rPr lang="en-US" altLang="zh-TW" sz="1800">
                <a:ea typeface="新細明體" panose="02020500000000000000" pitchFamily="18" charset="-120"/>
              </a:rPr>
              <a:t>The controlled system -&gt; the controlling system</a:t>
            </a:r>
          </a:p>
          <a:p>
            <a:pPr lvl="2"/>
            <a:r>
              <a:rPr lang="en-US" altLang="zh-TW" sz="1800">
                <a:ea typeface="新細明體" panose="02020500000000000000" pitchFamily="18" charset="-120"/>
              </a:rPr>
              <a:t>Unpredictable from random occurrences of external events</a:t>
            </a:r>
          </a:p>
          <a:p>
            <a:pPr lvl="1"/>
            <a:r>
              <a:rPr lang="en-US" altLang="zh-TW" sz="2000">
                <a:ea typeface="新細明體" panose="02020500000000000000" pitchFamily="18" charset="-120"/>
              </a:rPr>
              <a:t>The communication can be a combination of both types</a:t>
            </a:r>
          </a:p>
          <a:p>
            <a:r>
              <a:rPr lang="en-US" altLang="zh-TW" sz="2400">
                <a:ea typeface="新細明體" panose="02020500000000000000" pitchFamily="18" charset="-120"/>
              </a:rPr>
              <a:t>The controlling system must process and respond to the events and information generated by the controlled system in a guaranteed time frame.</a:t>
            </a:r>
            <a:endParaRPr lang="zh-TW" altLang="en-US" sz="2400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3">
            <a:extLst>
              <a:ext uri="{FF2B5EF4-FFF2-40B4-BE49-F238E27FC236}">
                <a16:creationId xmlns:a16="http://schemas.microsoft.com/office/drawing/2014/main" id="{8D490F8E-299E-CD88-8A66-476A530218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E08CE31-40EA-463B-B19C-A1D3861659ED}" type="slidenum">
              <a:rPr lang="zh-TW" altLang="en-US" sz="1400"/>
              <a:pPr/>
              <a:t>7</a:t>
            </a:fld>
            <a:endParaRPr lang="en-US" altLang="zh-TW" sz="1400"/>
          </a:p>
        </p:txBody>
      </p:sp>
      <p:sp>
        <p:nvSpPr>
          <p:cNvPr id="196610" name="Rectangle 2">
            <a:extLst>
              <a:ext uri="{FF2B5EF4-FFF2-40B4-BE49-F238E27FC236}">
                <a16:creationId xmlns:a16="http://schemas.microsoft.com/office/drawing/2014/main" id="{1D84E382-6810-94A3-5F61-CE0A843E24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ea typeface="新細明體" panose="02020500000000000000" pitchFamily="18" charset="-120"/>
              </a:rPr>
              <a:t>Real-Time Systems Examples</a:t>
            </a:r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C888F0A8-792C-47A8-B9FA-46B0267BD0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Real-time weapons defense system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Controlling system</a:t>
            </a:r>
          </a:p>
          <a:p>
            <a:pPr lvl="2"/>
            <a:r>
              <a:rPr lang="en-US" altLang="zh-TW">
                <a:ea typeface="新細明體" panose="02020500000000000000" pitchFamily="18" charset="-120"/>
              </a:rPr>
              <a:t>A command-and-decision (C&amp;D) system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Controlled system</a:t>
            </a:r>
          </a:p>
          <a:p>
            <a:pPr lvl="2"/>
            <a:r>
              <a:rPr lang="en-US" altLang="zh-TW">
                <a:ea typeface="新細明體" panose="02020500000000000000" pitchFamily="18" charset="-120"/>
              </a:rPr>
              <a:t>A radar system</a:t>
            </a:r>
          </a:p>
          <a:p>
            <a:pPr lvl="2"/>
            <a:r>
              <a:rPr lang="en-US" altLang="zh-TW">
                <a:ea typeface="新細明體" panose="02020500000000000000" pitchFamily="18" charset="-120"/>
              </a:rPr>
              <a:t>Weapons firing control system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Communication between the radar system and C&amp;D system is </a:t>
            </a:r>
            <a:r>
              <a:rPr lang="en-US" altLang="zh-TW" i="1">
                <a:ea typeface="新細明體" panose="02020500000000000000" pitchFamily="18" charset="-120"/>
              </a:rPr>
              <a:t>aperiodic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Communication between the C&amp;D system and the weapon firing control system is </a:t>
            </a:r>
            <a:r>
              <a:rPr lang="en-US" altLang="zh-TW" i="1">
                <a:ea typeface="新細明體" panose="02020500000000000000" pitchFamily="18" charset="-120"/>
              </a:rPr>
              <a:t>periodic</a:t>
            </a:r>
            <a:endParaRPr lang="zh-TW" altLang="en-US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3">
            <a:extLst>
              <a:ext uri="{FF2B5EF4-FFF2-40B4-BE49-F238E27FC236}">
                <a16:creationId xmlns:a16="http://schemas.microsoft.com/office/drawing/2014/main" id="{4F8E85D0-D9B2-4D74-9B77-54900E8BB2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B080E5A-BE19-46DB-B901-A9FFDE169919}" type="slidenum">
              <a:rPr lang="zh-TW" altLang="en-US" sz="1400"/>
              <a:pPr/>
              <a:t>8</a:t>
            </a:fld>
            <a:endParaRPr lang="en-US" altLang="zh-TW" sz="1400"/>
          </a:p>
        </p:txBody>
      </p:sp>
      <p:sp>
        <p:nvSpPr>
          <p:cNvPr id="197634" name="Rectangle 2">
            <a:extLst>
              <a:ext uri="{FF2B5EF4-FFF2-40B4-BE49-F238E27FC236}">
                <a16:creationId xmlns:a16="http://schemas.microsoft.com/office/drawing/2014/main" id="{EB637E44-3BC4-62DA-E029-086E52A0A1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ea typeface="新細明體" panose="02020500000000000000" pitchFamily="18" charset="-120"/>
              </a:rPr>
              <a:t>Real-Time Systems Examples (Cont.)</a:t>
            </a:r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48618700-D529-E18A-8574-61573972C9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Cruise missile guidance system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Controlling system</a:t>
            </a:r>
          </a:p>
          <a:p>
            <a:pPr lvl="2"/>
            <a:r>
              <a:rPr lang="en-US" altLang="zh-TW">
                <a:ea typeface="新細明體" panose="02020500000000000000" pitchFamily="18" charset="-120"/>
              </a:rPr>
              <a:t>Navigation system: contain digital maps covering the missile flight path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Controlled system</a:t>
            </a:r>
          </a:p>
          <a:p>
            <a:pPr lvl="2"/>
            <a:r>
              <a:rPr lang="en-US" altLang="zh-TW">
                <a:ea typeface="新細明體" panose="02020500000000000000" pitchFamily="18" charset="-120"/>
              </a:rPr>
              <a:t>Radar system</a:t>
            </a:r>
          </a:p>
          <a:p>
            <a:pPr lvl="2"/>
            <a:r>
              <a:rPr lang="en-US" altLang="zh-TW">
                <a:ea typeface="新細明體" panose="02020500000000000000" pitchFamily="18" charset="-120"/>
              </a:rPr>
              <a:t>Divert-and-altitude-control system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Communication between radars and the navigation system is </a:t>
            </a:r>
            <a:r>
              <a:rPr lang="en-US" altLang="zh-TW" i="1">
                <a:ea typeface="新細明體" panose="02020500000000000000" pitchFamily="18" charset="-120"/>
              </a:rPr>
              <a:t>aperidoic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Communication between the navigation system and the diver-and-altitude-control system is </a:t>
            </a:r>
            <a:r>
              <a:rPr lang="en-US" altLang="zh-TW" i="1">
                <a:ea typeface="新細明體" panose="02020500000000000000" pitchFamily="18" charset="-120"/>
              </a:rPr>
              <a:t>periodic</a:t>
            </a:r>
            <a:endParaRPr lang="zh-TW" altLang="en-US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3">
            <a:extLst>
              <a:ext uri="{FF2B5EF4-FFF2-40B4-BE49-F238E27FC236}">
                <a16:creationId xmlns:a16="http://schemas.microsoft.com/office/drawing/2014/main" id="{74E51F87-8CDD-9172-6CE0-DD9FDD9062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277C713-C879-4000-AA70-964CB4FC1DC7}" type="slidenum">
              <a:rPr lang="zh-TW" altLang="en-US" sz="1400"/>
              <a:pPr/>
              <a:t>9</a:t>
            </a:fld>
            <a:endParaRPr lang="en-US" altLang="zh-TW" sz="1400"/>
          </a:p>
        </p:txBody>
      </p:sp>
      <p:sp>
        <p:nvSpPr>
          <p:cNvPr id="198658" name="Rectangle 2">
            <a:extLst>
              <a:ext uri="{FF2B5EF4-FFF2-40B4-BE49-F238E27FC236}">
                <a16:creationId xmlns:a16="http://schemas.microsoft.com/office/drawing/2014/main" id="{316161F0-0745-672F-EF57-D50A397865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ea typeface="新細明體" panose="02020500000000000000" pitchFamily="18" charset="-120"/>
              </a:rPr>
              <a:t>Real-Time Systems Examples (Cont.)</a:t>
            </a:r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CB50D230-9804-C999-10E5-20BDF425D9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DVD player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Controlling system</a:t>
            </a:r>
          </a:p>
          <a:p>
            <a:pPr lvl="2"/>
            <a:r>
              <a:rPr lang="en-US" altLang="zh-TW">
                <a:ea typeface="新細明體" panose="02020500000000000000" pitchFamily="18" charset="-120"/>
              </a:rPr>
              <a:t>DVD player must decode both the video and audio streams from the disc simultaneously.</a:t>
            </a:r>
          </a:p>
          <a:p>
            <a:pPr lvl="1"/>
            <a:endParaRPr lang="en-US" altLang="zh-TW">
              <a:ea typeface="新細明體" panose="02020500000000000000" pitchFamily="18" charset="-120"/>
            </a:endParaRP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Controlled system</a:t>
            </a:r>
          </a:p>
          <a:p>
            <a:pPr lvl="2"/>
            <a:r>
              <a:rPr lang="en-US" altLang="zh-TW">
                <a:ea typeface="新細明體" panose="02020500000000000000" pitchFamily="18" charset="-120"/>
              </a:rPr>
              <a:t>Remote control is viewed as a sensor to feed pause and language selection events into DVD player</a:t>
            </a:r>
            <a:endParaRPr lang="zh-TW" altLang="en-US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3">
            <a:extLst>
              <a:ext uri="{FF2B5EF4-FFF2-40B4-BE49-F238E27FC236}">
                <a16:creationId xmlns:a16="http://schemas.microsoft.com/office/drawing/2014/main" id="{DE8C9821-D4A0-E555-7DA3-27C4C38BE7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CB1022E-44DA-453A-BEB6-DA643BBBAA99}" type="slidenum">
              <a:rPr lang="zh-TW" altLang="en-US" sz="1400"/>
              <a:pPr/>
              <a:t>10</a:t>
            </a:fld>
            <a:endParaRPr lang="en-US" altLang="zh-TW" sz="1400"/>
          </a:p>
        </p:txBody>
      </p:sp>
      <p:sp>
        <p:nvSpPr>
          <p:cNvPr id="199682" name="Rectangle 2">
            <a:extLst>
              <a:ext uri="{FF2B5EF4-FFF2-40B4-BE49-F238E27FC236}">
                <a16:creationId xmlns:a16="http://schemas.microsoft.com/office/drawing/2014/main" id="{E21F74DD-DCAB-814D-9AB1-8DBCD74522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ea typeface="新細明體" panose="02020500000000000000" pitchFamily="18" charset="-120"/>
              </a:rPr>
              <a:t>Characteristics of Real-Time Systems</a:t>
            </a:r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87D01689-9C38-95A8-89A0-42EE314027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Characteristics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Must produce correct computational results, called </a:t>
            </a:r>
            <a:r>
              <a:rPr lang="en-US" altLang="zh-TW" i="1">
                <a:solidFill>
                  <a:srgbClr val="FF3300"/>
                </a:solidFill>
                <a:ea typeface="新細明體" panose="02020500000000000000" pitchFamily="18" charset="-120"/>
              </a:rPr>
              <a:t>logical or functional correctness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These computations must conclude within a predefined period, called </a:t>
            </a:r>
            <a:r>
              <a:rPr lang="en-US" altLang="zh-TW" i="1">
                <a:solidFill>
                  <a:srgbClr val="FF3300"/>
                </a:solidFill>
                <a:ea typeface="新細明體" panose="02020500000000000000" pitchFamily="18" charset="-120"/>
              </a:rPr>
              <a:t>timing correctness</a:t>
            </a:r>
          </a:p>
          <a:p>
            <a:endParaRPr lang="en-US" altLang="zh-TW">
              <a:ea typeface="新細明體" panose="02020500000000000000" pitchFamily="18" charset="-120"/>
            </a:endParaRPr>
          </a:p>
          <a:p>
            <a:r>
              <a:rPr lang="en-US" altLang="zh-TW">
                <a:ea typeface="新細明體" panose="02020500000000000000" pitchFamily="18" charset="-120"/>
              </a:rPr>
              <a:t>The overall correctness of a real-time system depends on both the </a:t>
            </a:r>
            <a:r>
              <a:rPr lang="en-US" altLang="zh-TW" i="1">
                <a:ea typeface="新細明體" panose="02020500000000000000" pitchFamily="18" charset="-120"/>
              </a:rPr>
              <a:t>functional correctness</a:t>
            </a:r>
            <a:r>
              <a:rPr lang="en-US" altLang="zh-TW">
                <a:ea typeface="新細明體" panose="02020500000000000000" pitchFamily="18" charset="-120"/>
              </a:rPr>
              <a:t> and the </a:t>
            </a:r>
            <a:r>
              <a:rPr lang="en-US" altLang="zh-TW" i="1">
                <a:ea typeface="新細明體" panose="02020500000000000000" pitchFamily="18" charset="-120"/>
              </a:rPr>
              <a:t>timing correctness</a:t>
            </a:r>
            <a:endParaRPr lang="zh-TW" altLang="en-US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3">
            <a:extLst>
              <a:ext uri="{FF2B5EF4-FFF2-40B4-BE49-F238E27FC236}">
                <a16:creationId xmlns:a16="http://schemas.microsoft.com/office/drawing/2014/main" id="{47CB32F0-6221-8120-472D-AA7AF4D085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F1FC2A6-9528-43E0-AC84-61CEE6BD5B87}" type="slidenum">
              <a:rPr lang="zh-TW" altLang="en-US" sz="1400"/>
              <a:pPr/>
              <a:t>11</a:t>
            </a:fld>
            <a:endParaRPr lang="en-US" altLang="zh-TW" sz="1400"/>
          </a:p>
        </p:txBody>
      </p:sp>
      <p:sp>
        <p:nvSpPr>
          <p:cNvPr id="148482" name="Rectangle 2">
            <a:extLst>
              <a:ext uri="{FF2B5EF4-FFF2-40B4-BE49-F238E27FC236}">
                <a16:creationId xmlns:a16="http://schemas.microsoft.com/office/drawing/2014/main" id="{E1F59135-05C5-E6A1-6850-BB9C15C748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ea typeface="新細明體" panose="02020500000000000000" pitchFamily="18" charset="-120"/>
              </a:rPr>
              <a:t>Type of Real-Time System</a:t>
            </a:r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A90D8255-ECE0-192E-7756-72AACC615F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3200">
                <a:ea typeface="新細明體" panose="02020500000000000000" pitchFamily="18" charset="-120"/>
              </a:rPr>
              <a:t>Hard Real-Time</a:t>
            </a:r>
          </a:p>
          <a:p>
            <a:endParaRPr lang="en-US" altLang="zh-TW" sz="3200">
              <a:ea typeface="新細明體" panose="02020500000000000000" pitchFamily="18" charset="-120"/>
            </a:endParaRPr>
          </a:p>
          <a:p>
            <a:r>
              <a:rPr lang="en-US" altLang="zh-TW" sz="3200">
                <a:ea typeface="新細明體" panose="02020500000000000000" pitchFamily="18" charset="-120"/>
              </a:rPr>
              <a:t>Soft Real-Time</a:t>
            </a:r>
          </a:p>
          <a:p>
            <a:endParaRPr lang="zh-TW" altLang="en-US" sz="3200">
              <a:ea typeface="新細明體" panose="02020500000000000000" pitchFamily="18" charset="-120"/>
            </a:endParaRPr>
          </a:p>
          <a:p>
            <a:r>
              <a:rPr lang="en-US" altLang="zh-TW" sz="3200">
                <a:ea typeface="新細明體" panose="02020500000000000000" pitchFamily="18" charset="-120"/>
              </a:rPr>
              <a:t>Firm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3">
            <a:extLst>
              <a:ext uri="{FF2B5EF4-FFF2-40B4-BE49-F238E27FC236}">
                <a16:creationId xmlns:a16="http://schemas.microsoft.com/office/drawing/2014/main" id="{E663BB4B-AA8E-A601-2BC8-0214CCAABC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AA490E1-5F39-43D6-8A6D-12EEF1599DB8}" type="slidenum">
              <a:rPr lang="zh-TW" altLang="en-US" sz="1400"/>
              <a:pPr/>
              <a:t>12</a:t>
            </a:fld>
            <a:endParaRPr lang="en-US" altLang="zh-TW" sz="1400"/>
          </a:p>
        </p:txBody>
      </p:sp>
      <p:sp>
        <p:nvSpPr>
          <p:cNvPr id="200706" name="Rectangle 2">
            <a:extLst>
              <a:ext uri="{FF2B5EF4-FFF2-40B4-BE49-F238E27FC236}">
                <a16:creationId xmlns:a16="http://schemas.microsoft.com/office/drawing/2014/main" id="{C3FDBEB0-3AF3-240E-4AF6-2D89873057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ea typeface="新細明體" panose="02020500000000000000" pitchFamily="18" charset="-120"/>
              </a:rPr>
              <a:t>Hard Real-Time System</a:t>
            </a:r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36149DDE-4502-4B94-DD65-7B078A45C4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Degree of tolerance of missed deadline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Extremely small or zero</a:t>
            </a:r>
          </a:p>
          <a:p>
            <a:endParaRPr lang="en-US" altLang="zh-TW">
              <a:ea typeface="新細明體" panose="02020500000000000000" pitchFamily="18" charset="-120"/>
            </a:endParaRPr>
          </a:p>
          <a:p>
            <a:r>
              <a:rPr lang="en-US" altLang="zh-TW">
                <a:ea typeface="新細明體" panose="02020500000000000000" pitchFamily="18" charset="-120"/>
              </a:rPr>
              <a:t>Usefulness of computed results after missed deadlines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Likely useless</a:t>
            </a:r>
          </a:p>
          <a:p>
            <a:endParaRPr lang="en-US" altLang="zh-TW">
              <a:ea typeface="新細明體" panose="02020500000000000000" pitchFamily="18" charset="-120"/>
            </a:endParaRPr>
          </a:p>
          <a:p>
            <a:r>
              <a:rPr lang="en-US" altLang="zh-TW">
                <a:ea typeface="新細明體" panose="02020500000000000000" pitchFamily="18" charset="-120"/>
              </a:rPr>
              <a:t>Severity of the penalty incurred for failing to meet deadlines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catastrophe</a:t>
            </a:r>
          </a:p>
          <a:p>
            <a:endParaRPr lang="zh-TW" altLang="en-US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3">
            <a:extLst>
              <a:ext uri="{FF2B5EF4-FFF2-40B4-BE49-F238E27FC236}">
                <a16:creationId xmlns:a16="http://schemas.microsoft.com/office/drawing/2014/main" id="{77E3F35B-9268-93F7-96C4-FE54094252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8637E29-B150-482D-8E18-3DAC07FBCEE1}" type="slidenum">
              <a:rPr lang="zh-TW" altLang="en-US" sz="1400"/>
              <a:pPr/>
              <a:t>13</a:t>
            </a:fld>
            <a:endParaRPr lang="en-US" altLang="zh-TW" sz="1400"/>
          </a:p>
        </p:txBody>
      </p:sp>
      <p:sp>
        <p:nvSpPr>
          <p:cNvPr id="150530" name="Rectangle 2">
            <a:extLst>
              <a:ext uri="{FF2B5EF4-FFF2-40B4-BE49-F238E27FC236}">
                <a16:creationId xmlns:a16="http://schemas.microsoft.com/office/drawing/2014/main" id="{26029E57-CDB6-7E27-7CC2-97F5BD12E0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ea typeface="新細明體" panose="02020500000000000000" pitchFamily="18" charset="-120"/>
              </a:rPr>
              <a:t>Hard Real-Time System</a:t>
            </a:r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F1CD3CB3-E95D-EC24-8539-56082B7359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3200">
                <a:ea typeface="新細明體" panose="02020500000000000000" pitchFamily="18" charset="-120"/>
              </a:rPr>
              <a:t>Examples:</a:t>
            </a:r>
          </a:p>
          <a:p>
            <a:pPr lvl="1"/>
            <a:r>
              <a:rPr lang="en-US" altLang="zh-TW" sz="2800">
                <a:ea typeface="新細明體" panose="02020500000000000000" pitchFamily="18" charset="-120"/>
              </a:rPr>
              <a:t>Nuclear reactors</a:t>
            </a:r>
          </a:p>
          <a:p>
            <a:pPr lvl="1"/>
            <a:r>
              <a:rPr lang="en-US" altLang="zh-TW" sz="2800">
                <a:ea typeface="新細明體" panose="02020500000000000000" pitchFamily="18" charset="-120"/>
              </a:rPr>
              <a:t>Flight controller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Weapon defense system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Missile guidance system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2223B-1516-6C82-5D0B-1105F4C9B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Hard Real-Time System</a:t>
            </a:r>
            <a:endParaRPr lang="en-IN" dirty="0"/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2AEE0DD6-577C-DE5D-8EE9-763BFD788F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6E47AB7-4204-4082-9F31-8D8A5551AFF9}" type="slidenum">
              <a:rPr lang="zh-TW" altLang="en-US" sz="1400"/>
              <a:pPr/>
              <a:t>14</a:t>
            </a:fld>
            <a:endParaRPr lang="en-US" altLang="zh-TW" sz="1400"/>
          </a:p>
        </p:txBody>
      </p:sp>
      <p:pic>
        <p:nvPicPr>
          <p:cNvPr id="31748" name="Picture 5">
            <a:extLst>
              <a:ext uri="{FF2B5EF4-FFF2-40B4-BE49-F238E27FC236}">
                <a16:creationId xmlns:a16="http://schemas.microsoft.com/office/drawing/2014/main" id="{FD8D7C14-11DF-2AC0-CD95-89F330A141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13" y="1290638"/>
            <a:ext cx="7785100" cy="422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69735-863C-3887-A5B0-F60BC2DCA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Hard Real-Time System</a:t>
            </a:r>
            <a:endParaRPr lang="en-IN" dirty="0"/>
          </a:p>
        </p:txBody>
      </p:sp>
      <p:sp>
        <p:nvSpPr>
          <p:cNvPr id="32771" name="Slide Number Placeholder 3">
            <a:extLst>
              <a:ext uri="{FF2B5EF4-FFF2-40B4-BE49-F238E27FC236}">
                <a16:creationId xmlns:a16="http://schemas.microsoft.com/office/drawing/2014/main" id="{EFE90979-DC2C-1E7D-DD14-093829077D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CD40F81-1632-4884-A360-F4421F9AD70D}" type="slidenum">
              <a:rPr lang="zh-TW" altLang="en-US" sz="1400"/>
              <a:pPr/>
              <a:t>15</a:t>
            </a:fld>
            <a:endParaRPr lang="en-US" altLang="zh-TW" sz="1400"/>
          </a:p>
        </p:txBody>
      </p:sp>
      <p:pic>
        <p:nvPicPr>
          <p:cNvPr id="32772" name="Picture 5">
            <a:extLst>
              <a:ext uri="{FF2B5EF4-FFF2-40B4-BE49-F238E27FC236}">
                <a16:creationId xmlns:a16="http://schemas.microsoft.com/office/drawing/2014/main" id="{1C426574-6702-2294-1D9C-22600688ED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03375"/>
            <a:ext cx="9144000" cy="365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F91BE-C3DE-7E58-5D17-1FA57819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HArd</a:t>
            </a:r>
            <a:r>
              <a:rPr lang="en-US" dirty="0"/>
              <a:t> Real-Time System</a:t>
            </a:r>
            <a:endParaRPr lang="en-IN" dirty="0"/>
          </a:p>
        </p:txBody>
      </p:sp>
      <p:sp>
        <p:nvSpPr>
          <p:cNvPr id="33795" name="Slide Number Placeholder 3">
            <a:extLst>
              <a:ext uri="{FF2B5EF4-FFF2-40B4-BE49-F238E27FC236}">
                <a16:creationId xmlns:a16="http://schemas.microsoft.com/office/drawing/2014/main" id="{B1C7833C-72D6-2F45-7B63-BD9E888853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971A53A-6DEF-4582-9F76-47A9517A9BE7}" type="slidenum">
              <a:rPr lang="zh-TW" altLang="en-US" sz="1400"/>
              <a:pPr/>
              <a:t>16</a:t>
            </a:fld>
            <a:endParaRPr lang="en-US" altLang="zh-TW" sz="1400"/>
          </a:p>
        </p:txBody>
      </p:sp>
      <p:pic>
        <p:nvPicPr>
          <p:cNvPr id="33796" name="Picture 5">
            <a:extLst>
              <a:ext uri="{FF2B5EF4-FFF2-40B4-BE49-F238E27FC236}">
                <a16:creationId xmlns:a16="http://schemas.microsoft.com/office/drawing/2014/main" id="{3A0C337D-1F8D-CEDE-5343-B77E15DAE5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8" y="1085850"/>
            <a:ext cx="8924925" cy="468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7010F-4172-6B0E-32F9-0EB225E31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Hard Real-Time System</a:t>
            </a:r>
            <a:endParaRPr lang="en-IN" dirty="0"/>
          </a:p>
        </p:txBody>
      </p:sp>
      <p:sp>
        <p:nvSpPr>
          <p:cNvPr id="34819" name="Slide Number Placeholder 3">
            <a:extLst>
              <a:ext uri="{FF2B5EF4-FFF2-40B4-BE49-F238E27FC236}">
                <a16:creationId xmlns:a16="http://schemas.microsoft.com/office/drawing/2014/main" id="{BBDDE36E-6844-F8A8-C4AA-E093226CFC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7167DE3-20D7-45AC-A3AC-F2E9E294E0B2}" type="slidenum">
              <a:rPr lang="zh-TW" altLang="en-US" sz="1400"/>
              <a:pPr/>
              <a:t>17</a:t>
            </a:fld>
            <a:endParaRPr lang="en-US" altLang="zh-TW" sz="1400"/>
          </a:p>
        </p:txBody>
      </p:sp>
      <p:pic>
        <p:nvPicPr>
          <p:cNvPr id="34820" name="Picture 5">
            <a:extLst>
              <a:ext uri="{FF2B5EF4-FFF2-40B4-BE49-F238E27FC236}">
                <a16:creationId xmlns:a16="http://schemas.microsoft.com/office/drawing/2014/main" id="{1AFC8F8A-A503-3115-1B5C-7C9872839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88" y="1428750"/>
            <a:ext cx="7972425" cy="504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0375E-B27D-E5BA-E897-F82208224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35843" name="Content Placeholder 2">
            <a:extLst>
              <a:ext uri="{FF2B5EF4-FFF2-40B4-BE49-F238E27FC236}">
                <a16:creationId xmlns:a16="http://schemas.microsoft.com/office/drawing/2014/main" id="{1DA2713B-93EE-E478-7D68-367D6D10CE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IN" altLang="en-US"/>
          </a:p>
        </p:txBody>
      </p:sp>
      <p:sp>
        <p:nvSpPr>
          <p:cNvPr id="35844" name="Slide Number Placeholder 3">
            <a:extLst>
              <a:ext uri="{FF2B5EF4-FFF2-40B4-BE49-F238E27FC236}">
                <a16:creationId xmlns:a16="http://schemas.microsoft.com/office/drawing/2014/main" id="{C3D5C61F-CD5F-5EA4-E270-B1A2A75DEB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C08091D-B68F-4159-AC0F-4D6CBDD6C453}" type="slidenum">
              <a:rPr lang="zh-TW" altLang="en-US" sz="1400"/>
              <a:pPr/>
              <a:t>18</a:t>
            </a:fld>
            <a:endParaRPr lang="en-US" altLang="zh-TW" sz="1400"/>
          </a:p>
        </p:txBody>
      </p:sp>
      <p:pic>
        <p:nvPicPr>
          <p:cNvPr id="35845" name="Picture 5">
            <a:extLst>
              <a:ext uri="{FF2B5EF4-FFF2-40B4-BE49-F238E27FC236}">
                <a16:creationId xmlns:a16="http://schemas.microsoft.com/office/drawing/2014/main" id="{7A2A9AC3-2E3C-6B9D-10E2-7D121C7811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" y="1314450"/>
            <a:ext cx="7086600" cy="422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3">
            <a:extLst>
              <a:ext uri="{FF2B5EF4-FFF2-40B4-BE49-F238E27FC236}">
                <a16:creationId xmlns:a16="http://schemas.microsoft.com/office/drawing/2014/main" id="{28B83CFD-0AAB-27B5-5BE9-5858016C33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E5D0698-0970-41C8-A130-0555CD0F41DC}" type="slidenum">
              <a:rPr lang="zh-TW" altLang="en-US" sz="1400"/>
              <a:pPr/>
              <a:t>19</a:t>
            </a:fld>
            <a:endParaRPr lang="en-US" altLang="zh-TW" sz="1400"/>
          </a:p>
        </p:txBody>
      </p:sp>
      <p:sp>
        <p:nvSpPr>
          <p:cNvPr id="201730" name="Rectangle 2">
            <a:extLst>
              <a:ext uri="{FF2B5EF4-FFF2-40B4-BE49-F238E27FC236}">
                <a16:creationId xmlns:a16="http://schemas.microsoft.com/office/drawing/2014/main" id="{49A3D5F3-C1C4-5F38-13D1-8C874FE0A7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ea typeface="新細明體" panose="02020500000000000000" pitchFamily="18" charset="-120"/>
              </a:rPr>
              <a:t>Soft Real-Time System</a:t>
            </a:r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FDE9A736-63F7-34AB-D262-E9F8B4FC70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Degree of tolerance of missed deadline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Non-zero</a:t>
            </a:r>
          </a:p>
          <a:p>
            <a:endParaRPr lang="en-US" altLang="zh-TW">
              <a:ea typeface="新細明體" panose="02020500000000000000" pitchFamily="18" charset="-120"/>
            </a:endParaRPr>
          </a:p>
          <a:p>
            <a:r>
              <a:rPr lang="en-US" altLang="zh-TW">
                <a:ea typeface="新細明體" panose="02020500000000000000" pitchFamily="18" charset="-120"/>
              </a:rPr>
              <a:t>Usefulness of computed results after missed deadlines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Have a rate of depreciation</a:t>
            </a:r>
          </a:p>
          <a:p>
            <a:endParaRPr lang="en-US" altLang="zh-TW">
              <a:ea typeface="新細明體" panose="02020500000000000000" pitchFamily="18" charset="-120"/>
            </a:endParaRPr>
          </a:p>
          <a:p>
            <a:r>
              <a:rPr lang="en-US" altLang="zh-TW">
                <a:ea typeface="新細明體" panose="02020500000000000000" pitchFamily="18" charset="-120"/>
              </a:rPr>
              <a:t>Severity of the penalty incurred for failing to meet deadlines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Non-catastrophic</a:t>
            </a:r>
            <a:endParaRPr lang="zh-TW" altLang="en-US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3">
            <a:extLst>
              <a:ext uri="{FF2B5EF4-FFF2-40B4-BE49-F238E27FC236}">
                <a16:creationId xmlns:a16="http://schemas.microsoft.com/office/drawing/2014/main" id="{760ADE5F-11CE-06AD-8BD8-FE8310CFEB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9FE65E9-45BA-4EA7-B6AB-2376D897674A}" type="slidenum">
              <a:rPr lang="zh-TW" altLang="en-US" sz="1400"/>
              <a:pPr/>
              <a:t>20</a:t>
            </a:fld>
            <a:endParaRPr lang="en-US" altLang="zh-TW" sz="1400"/>
          </a:p>
        </p:txBody>
      </p:sp>
      <p:sp>
        <p:nvSpPr>
          <p:cNvPr id="151554" name="Rectangle 2">
            <a:extLst>
              <a:ext uri="{FF2B5EF4-FFF2-40B4-BE49-F238E27FC236}">
                <a16:creationId xmlns:a16="http://schemas.microsoft.com/office/drawing/2014/main" id="{348D8AAC-DB5D-AAF7-435F-D6A00DF749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ea typeface="新細明體" panose="02020500000000000000" pitchFamily="18" charset="-120"/>
              </a:rPr>
              <a:t>Soft Real-Time System</a:t>
            </a:r>
          </a:p>
        </p:txBody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7EDD621F-D51D-A777-FE29-77096B3229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A miss of timing constraints is undesirable. However, a few misses do no serious harm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The timing requirements are often specified in probability terms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The time constraints are guaranteed on a statistical basis</a:t>
            </a:r>
          </a:p>
          <a:p>
            <a:endParaRPr lang="en-US" altLang="zh-TW" sz="2400">
              <a:ea typeface="新細明體" panose="02020500000000000000" pitchFamily="18" charset="-120"/>
            </a:endParaRPr>
          </a:p>
          <a:p>
            <a:r>
              <a:rPr lang="en-US" altLang="zh-TW">
                <a:ea typeface="新細明體" panose="02020500000000000000" pitchFamily="18" charset="-120"/>
              </a:rPr>
              <a:t>Examples:</a:t>
            </a:r>
          </a:p>
          <a:p>
            <a:pPr lvl="1"/>
            <a:r>
              <a:rPr lang="en-US" altLang="zh-TW" sz="2000">
                <a:ea typeface="新細明體" panose="02020500000000000000" pitchFamily="18" charset="-120"/>
              </a:rPr>
              <a:t>Multimedia Streaming</a:t>
            </a:r>
          </a:p>
          <a:p>
            <a:pPr lvl="1"/>
            <a:r>
              <a:rPr lang="en-US" altLang="zh-TW" sz="2000">
                <a:ea typeface="新細明體" panose="02020500000000000000" pitchFamily="18" charset="-120"/>
              </a:rPr>
              <a:t>Electronic games</a:t>
            </a:r>
          </a:p>
          <a:p>
            <a:pPr lvl="1"/>
            <a:r>
              <a:rPr lang="en-US" altLang="zh-TW" sz="2000">
                <a:ea typeface="新細明體" panose="02020500000000000000" pitchFamily="18" charset="-120"/>
              </a:rPr>
              <a:t>Quality-of-Service (QoS) guarantees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7B15A-6764-D9EA-7010-C81CD8EAC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Soft Real-Time System</a:t>
            </a:r>
            <a:endParaRPr lang="en-IN" dirty="0"/>
          </a:p>
        </p:txBody>
      </p:sp>
      <p:sp>
        <p:nvSpPr>
          <p:cNvPr id="39939" name="Slide Number Placeholder 3">
            <a:extLst>
              <a:ext uri="{FF2B5EF4-FFF2-40B4-BE49-F238E27FC236}">
                <a16:creationId xmlns:a16="http://schemas.microsoft.com/office/drawing/2014/main" id="{0D57FF6F-1189-7EEC-55B9-231AD63DAE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2940743-1794-40A9-A3C9-374EF235ACC1}" type="slidenum">
              <a:rPr lang="zh-TW" altLang="en-US" sz="1400"/>
              <a:pPr/>
              <a:t>21</a:t>
            </a:fld>
            <a:endParaRPr lang="en-US" altLang="zh-TW" sz="1400"/>
          </a:p>
        </p:txBody>
      </p:sp>
      <p:pic>
        <p:nvPicPr>
          <p:cNvPr id="39940" name="Picture 5">
            <a:extLst>
              <a:ext uri="{FF2B5EF4-FFF2-40B4-BE49-F238E27FC236}">
                <a16:creationId xmlns:a16="http://schemas.microsoft.com/office/drawing/2014/main" id="{81578D94-04DF-E28F-B36B-20BAD56ED9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163" y="1185863"/>
            <a:ext cx="7305675" cy="448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C793E-83FA-EF96-E7DA-A41F4167F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Soft Real-Time System</a:t>
            </a:r>
            <a:endParaRPr lang="en-IN" dirty="0"/>
          </a:p>
        </p:txBody>
      </p:sp>
      <p:sp>
        <p:nvSpPr>
          <p:cNvPr id="40963" name="Slide Number Placeholder 3">
            <a:extLst>
              <a:ext uri="{FF2B5EF4-FFF2-40B4-BE49-F238E27FC236}">
                <a16:creationId xmlns:a16="http://schemas.microsoft.com/office/drawing/2014/main" id="{EFD5F3FC-74DB-22BE-1309-843B41E736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66FF02A-CA2B-4915-B129-5FFDB9F6334B}" type="slidenum">
              <a:rPr lang="zh-TW" altLang="en-US" sz="1400"/>
              <a:pPr/>
              <a:t>22</a:t>
            </a:fld>
            <a:endParaRPr lang="en-US" altLang="zh-TW" sz="1400"/>
          </a:p>
        </p:txBody>
      </p:sp>
      <p:pic>
        <p:nvPicPr>
          <p:cNvPr id="40964" name="Picture 5">
            <a:extLst>
              <a:ext uri="{FF2B5EF4-FFF2-40B4-BE49-F238E27FC236}">
                <a16:creationId xmlns:a16="http://schemas.microsoft.com/office/drawing/2014/main" id="{198D8739-FA6C-BAF2-82B7-B5B6A9C860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75" y="1585913"/>
            <a:ext cx="8096250" cy="368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91FCF-517C-9E53-A332-49544D532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Soft Real-Time System</a:t>
            </a:r>
            <a:endParaRPr lang="en-IN" dirty="0"/>
          </a:p>
        </p:txBody>
      </p:sp>
      <p:sp>
        <p:nvSpPr>
          <p:cNvPr id="41987" name="Slide Number Placeholder 3">
            <a:extLst>
              <a:ext uri="{FF2B5EF4-FFF2-40B4-BE49-F238E27FC236}">
                <a16:creationId xmlns:a16="http://schemas.microsoft.com/office/drawing/2014/main" id="{AAF1FC47-2BE1-6D2F-386D-6D154D0C7B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7489C0D-56A3-458E-AE68-4055B9CC2F70}" type="slidenum">
              <a:rPr lang="zh-TW" altLang="en-US" sz="1400"/>
              <a:pPr/>
              <a:t>23</a:t>
            </a:fld>
            <a:endParaRPr lang="en-US" altLang="zh-TW" sz="1400"/>
          </a:p>
        </p:txBody>
      </p:sp>
      <p:pic>
        <p:nvPicPr>
          <p:cNvPr id="41988" name="Picture 5">
            <a:extLst>
              <a:ext uri="{FF2B5EF4-FFF2-40B4-BE49-F238E27FC236}">
                <a16:creationId xmlns:a16="http://schemas.microsoft.com/office/drawing/2014/main" id="{42BBE84D-C19F-5529-E852-04154DFCAC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" y="1385888"/>
            <a:ext cx="908685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3">
            <a:extLst>
              <a:ext uri="{FF2B5EF4-FFF2-40B4-BE49-F238E27FC236}">
                <a16:creationId xmlns:a16="http://schemas.microsoft.com/office/drawing/2014/main" id="{4CDE7957-EAD9-A4F5-DB3A-1427126250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382909D-8A4B-4EAC-BB46-2C963B7A2149}" type="slidenum">
              <a:rPr lang="zh-TW" altLang="en-US" sz="1400"/>
              <a:pPr/>
              <a:t>24</a:t>
            </a:fld>
            <a:endParaRPr lang="en-US" altLang="zh-TW" sz="1400"/>
          </a:p>
        </p:txBody>
      </p:sp>
      <p:sp>
        <p:nvSpPr>
          <p:cNvPr id="164866" name="Rectangle 2">
            <a:extLst>
              <a:ext uri="{FF2B5EF4-FFF2-40B4-BE49-F238E27FC236}">
                <a16:creationId xmlns:a16="http://schemas.microsoft.com/office/drawing/2014/main" id="{C741E2CA-ADF6-B5EE-F68C-5FB5453314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ea typeface="新細明體" panose="02020500000000000000" pitchFamily="18" charset="-120"/>
              </a:rPr>
              <a:t>Comparison</a:t>
            </a:r>
          </a:p>
        </p:txBody>
      </p:sp>
      <p:sp>
        <p:nvSpPr>
          <p:cNvPr id="43012" name="Line 5">
            <a:extLst>
              <a:ext uri="{FF2B5EF4-FFF2-40B4-BE49-F238E27FC236}">
                <a16:creationId xmlns:a16="http://schemas.microsoft.com/office/drawing/2014/main" id="{06998BD9-6A09-497D-3233-5BC79E2ED3A4}"/>
              </a:ext>
            </a:extLst>
          </p:cNvPr>
          <p:cNvSpPr>
            <a:spLocks noChangeShapeType="1"/>
          </p:cNvSpPr>
          <p:nvPr/>
        </p:nvSpPr>
        <p:spPr bwMode="auto">
          <a:xfrm>
            <a:off x="2241550" y="2398713"/>
            <a:ext cx="0" cy="36941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13" name="Line 6">
            <a:extLst>
              <a:ext uri="{FF2B5EF4-FFF2-40B4-BE49-F238E27FC236}">
                <a16:creationId xmlns:a16="http://schemas.microsoft.com/office/drawing/2014/main" id="{289805CF-70A4-42A5-C6A6-AE10F9FBC618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0275" y="4295775"/>
            <a:ext cx="52514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14" name="Text Box 7">
            <a:extLst>
              <a:ext uri="{FF2B5EF4-FFF2-40B4-BE49-F238E27FC236}">
                <a16:creationId xmlns:a16="http://schemas.microsoft.com/office/drawing/2014/main" id="{33F1CEA5-006D-0303-E501-C87E0564A2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8538" y="3995738"/>
            <a:ext cx="823912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kumimoji="1" lang="en-US" altLang="zh-TW">
                <a:ea typeface="新細明體" panose="02020500000000000000" pitchFamily="18" charset="-120"/>
              </a:rPr>
              <a:t>Time</a:t>
            </a:r>
          </a:p>
        </p:txBody>
      </p:sp>
      <p:sp>
        <p:nvSpPr>
          <p:cNvPr id="43015" name="Text Box 8">
            <a:extLst>
              <a:ext uri="{FF2B5EF4-FFF2-40B4-BE49-F238E27FC236}">
                <a16:creationId xmlns:a16="http://schemas.microsoft.com/office/drawing/2014/main" id="{BFF18B18-7DAA-99A6-2AA1-808E4C759B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5775" y="1700213"/>
            <a:ext cx="911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kumimoji="1" lang="en-US" altLang="zh-TW">
                <a:ea typeface="新細明體" panose="02020500000000000000" pitchFamily="18" charset="-120"/>
              </a:rPr>
              <a:t>Value</a:t>
            </a:r>
          </a:p>
        </p:txBody>
      </p:sp>
      <p:sp>
        <p:nvSpPr>
          <p:cNvPr id="43016" name="Text Box 9">
            <a:extLst>
              <a:ext uri="{FF2B5EF4-FFF2-40B4-BE49-F238E27FC236}">
                <a16:creationId xmlns:a16="http://schemas.microsoft.com/office/drawing/2014/main" id="{AFF46EB7-97C7-ED24-6B2E-30DB8E9CFF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3259138"/>
            <a:ext cx="1117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kumimoji="1" lang="en-US" altLang="zh-TW" sz="1800">
                <a:solidFill>
                  <a:srgbClr val="0000FF"/>
                </a:solidFill>
                <a:ea typeface="新細明體" panose="02020500000000000000" pitchFamily="18" charset="-120"/>
              </a:rPr>
              <a:t>Hard RTS</a:t>
            </a:r>
            <a:endParaRPr kumimoji="1" lang="en-US" altLang="zh-TW" sz="1800">
              <a:ea typeface="新細明體" panose="02020500000000000000" pitchFamily="18" charset="-120"/>
            </a:endParaRPr>
          </a:p>
        </p:txBody>
      </p:sp>
      <p:sp>
        <p:nvSpPr>
          <p:cNvPr id="43017" name="Text Box 10">
            <a:extLst>
              <a:ext uri="{FF2B5EF4-FFF2-40B4-BE49-F238E27FC236}">
                <a16:creationId xmlns:a16="http://schemas.microsoft.com/office/drawing/2014/main" id="{CDE5C75B-8853-251A-DCBB-C1236328FE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0913" y="2871788"/>
            <a:ext cx="1041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kumimoji="1" lang="en-US" altLang="zh-TW" sz="1800">
                <a:solidFill>
                  <a:schemeClr val="hlink"/>
                </a:solidFill>
                <a:ea typeface="新細明體" panose="02020500000000000000" pitchFamily="18" charset="-120"/>
              </a:rPr>
              <a:t>Soft RTS</a:t>
            </a:r>
          </a:p>
        </p:txBody>
      </p:sp>
      <p:sp>
        <p:nvSpPr>
          <p:cNvPr id="43018" name="Line 12">
            <a:extLst>
              <a:ext uri="{FF2B5EF4-FFF2-40B4-BE49-F238E27FC236}">
                <a16:creationId xmlns:a16="http://schemas.microsoft.com/office/drawing/2014/main" id="{FE7DE4A5-12C9-5CB7-5940-574F4EF20D48}"/>
              </a:ext>
            </a:extLst>
          </p:cNvPr>
          <p:cNvSpPr>
            <a:spLocks noChangeShapeType="1"/>
          </p:cNvSpPr>
          <p:nvPr/>
        </p:nvSpPr>
        <p:spPr bwMode="auto">
          <a:xfrm>
            <a:off x="4672013" y="2398713"/>
            <a:ext cx="0" cy="3694112"/>
          </a:xfrm>
          <a:prstGeom prst="line">
            <a:avLst/>
          </a:prstGeom>
          <a:noFill/>
          <a:ln w="15875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19" name="Text Box 13">
            <a:extLst>
              <a:ext uri="{FF2B5EF4-FFF2-40B4-BE49-F238E27FC236}">
                <a16:creationId xmlns:a16="http://schemas.microsoft.com/office/drawing/2014/main" id="{DD433C99-686C-71F7-E124-9BCDD8B159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0200" y="1989138"/>
            <a:ext cx="10096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kumimoji="1" lang="en-US" altLang="zh-TW" sz="1800">
                <a:solidFill>
                  <a:schemeClr val="hlink"/>
                </a:solidFill>
                <a:ea typeface="新細明體" panose="02020500000000000000" pitchFamily="18" charset="-120"/>
              </a:rPr>
              <a:t>Deadline</a:t>
            </a:r>
          </a:p>
        </p:txBody>
      </p:sp>
      <p:sp>
        <p:nvSpPr>
          <p:cNvPr id="43020" name="Line 15">
            <a:extLst>
              <a:ext uri="{FF2B5EF4-FFF2-40B4-BE49-F238E27FC236}">
                <a16:creationId xmlns:a16="http://schemas.microsoft.com/office/drawing/2014/main" id="{3F93BA78-E39D-51CA-577E-07CEFA6A9153}"/>
              </a:ext>
            </a:extLst>
          </p:cNvPr>
          <p:cNvSpPr>
            <a:spLocks noChangeShapeType="1"/>
          </p:cNvSpPr>
          <p:nvPr/>
        </p:nvSpPr>
        <p:spPr bwMode="auto">
          <a:xfrm>
            <a:off x="2247900" y="3522663"/>
            <a:ext cx="2411413" cy="158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21" name="Line 16">
            <a:extLst>
              <a:ext uri="{FF2B5EF4-FFF2-40B4-BE49-F238E27FC236}">
                <a16:creationId xmlns:a16="http://schemas.microsoft.com/office/drawing/2014/main" id="{9ACCF218-8A1A-47E4-8394-6F70F3738727}"/>
              </a:ext>
            </a:extLst>
          </p:cNvPr>
          <p:cNvSpPr>
            <a:spLocks noChangeShapeType="1"/>
          </p:cNvSpPr>
          <p:nvPr/>
        </p:nvSpPr>
        <p:spPr bwMode="auto">
          <a:xfrm>
            <a:off x="4672013" y="5635625"/>
            <a:ext cx="2430462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22" name="Freeform 17">
            <a:extLst>
              <a:ext uri="{FF2B5EF4-FFF2-40B4-BE49-F238E27FC236}">
                <a16:creationId xmlns:a16="http://schemas.microsoft.com/office/drawing/2014/main" id="{DDDA2A9B-4424-7B3B-2AA5-6F582BBED2FB}"/>
              </a:ext>
            </a:extLst>
          </p:cNvPr>
          <p:cNvSpPr>
            <a:spLocks/>
          </p:cNvSpPr>
          <p:nvPr/>
        </p:nvSpPr>
        <p:spPr bwMode="auto">
          <a:xfrm>
            <a:off x="2262188" y="2182813"/>
            <a:ext cx="5005387" cy="3783012"/>
          </a:xfrm>
          <a:custGeom>
            <a:avLst/>
            <a:gdLst>
              <a:gd name="T0" fmla="*/ 0 w 2400"/>
              <a:gd name="T1" fmla="*/ 965320 h 1160"/>
              <a:gd name="T2" fmla="*/ 600646 w 2400"/>
              <a:gd name="T3" fmla="*/ 965320 h 1160"/>
              <a:gd name="T4" fmla="*/ 1101185 w 2400"/>
              <a:gd name="T5" fmla="*/ 182628 h 1160"/>
              <a:gd name="T6" fmla="*/ 1601724 w 2400"/>
              <a:gd name="T7" fmla="*/ 808782 h 1160"/>
              <a:gd name="T8" fmla="*/ 2102263 w 2400"/>
              <a:gd name="T9" fmla="*/ 495705 h 1160"/>
              <a:gd name="T10" fmla="*/ 5005387 w 2400"/>
              <a:gd name="T11" fmla="*/ 3783012 h 11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00" h="1160">
                <a:moveTo>
                  <a:pt x="0" y="296"/>
                </a:moveTo>
                <a:cubicBezTo>
                  <a:pt x="100" y="316"/>
                  <a:pt x="200" y="336"/>
                  <a:pt x="288" y="296"/>
                </a:cubicBezTo>
                <a:cubicBezTo>
                  <a:pt x="376" y="256"/>
                  <a:pt x="448" y="64"/>
                  <a:pt x="528" y="56"/>
                </a:cubicBezTo>
                <a:cubicBezTo>
                  <a:pt x="608" y="48"/>
                  <a:pt x="688" y="232"/>
                  <a:pt x="768" y="248"/>
                </a:cubicBezTo>
                <a:cubicBezTo>
                  <a:pt x="848" y="264"/>
                  <a:pt x="736" y="0"/>
                  <a:pt x="1008" y="152"/>
                </a:cubicBezTo>
                <a:cubicBezTo>
                  <a:pt x="1280" y="304"/>
                  <a:pt x="1840" y="732"/>
                  <a:pt x="2400" y="1160"/>
                </a:cubicBezTo>
              </a:path>
            </a:pathLst>
          </a:custGeom>
          <a:noFill/>
          <a:ln w="2540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3">
            <a:extLst>
              <a:ext uri="{FF2B5EF4-FFF2-40B4-BE49-F238E27FC236}">
                <a16:creationId xmlns:a16="http://schemas.microsoft.com/office/drawing/2014/main" id="{B124B549-66B1-687D-A09D-208977C6B2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989DBEB-B4EC-4231-9701-8D686CEE5B00}" type="slidenum">
              <a:rPr lang="zh-TW" altLang="en-US" sz="1400"/>
              <a:pPr/>
              <a:t>25</a:t>
            </a:fld>
            <a:endParaRPr lang="en-US" altLang="zh-TW" sz="1400"/>
          </a:p>
        </p:txBody>
      </p:sp>
      <p:sp>
        <p:nvSpPr>
          <p:cNvPr id="152578" name="Rectangle 2">
            <a:extLst>
              <a:ext uri="{FF2B5EF4-FFF2-40B4-BE49-F238E27FC236}">
                <a16:creationId xmlns:a16="http://schemas.microsoft.com/office/drawing/2014/main" id="{0455F93D-D8E5-20ED-7F14-6CCDCC64B3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ea typeface="新細明體" panose="02020500000000000000" pitchFamily="18" charset="-120"/>
              </a:rPr>
              <a:t>Job versus Task</a:t>
            </a:r>
          </a:p>
        </p:txBody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6F5A7170-F16F-1CA3-AD4B-DCC0A2CFB0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Job: unit of work that is scheduled and executed by the system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Computation of a FFT (Fast Fourier Transform)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Transmission of a data packet</a:t>
            </a:r>
          </a:p>
          <a:p>
            <a:endParaRPr lang="zh-TW" altLang="en-US">
              <a:ea typeface="新細明體" panose="02020500000000000000" pitchFamily="18" charset="-120"/>
            </a:endParaRPr>
          </a:p>
          <a:p>
            <a:r>
              <a:rPr lang="en-US" altLang="zh-TW">
                <a:ea typeface="新細明體" panose="02020500000000000000" pitchFamily="18" charset="-120"/>
              </a:rPr>
              <a:t>Task: a set of related jobs which jointly provide some system function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3">
            <a:extLst>
              <a:ext uri="{FF2B5EF4-FFF2-40B4-BE49-F238E27FC236}">
                <a16:creationId xmlns:a16="http://schemas.microsoft.com/office/drawing/2014/main" id="{374E1F42-0EDC-22C1-3C33-4ECA91A5BC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6582AA3-46E2-4C21-A8E9-EE8E8C2F795F}" type="slidenum">
              <a:rPr lang="zh-TW" altLang="en-US" sz="1400"/>
              <a:pPr/>
              <a:t>26</a:t>
            </a:fld>
            <a:endParaRPr lang="en-US" altLang="zh-TW" sz="1400"/>
          </a:p>
        </p:txBody>
      </p:sp>
      <p:sp>
        <p:nvSpPr>
          <p:cNvPr id="153602" name="Rectangle 2">
            <a:extLst>
              <a:ext uri="{FF2B5EF4-FFF2-40B4-BE49-F238E27FC236}">
                <a16:creationId xmlns:a16="http://schemas.microsoft.com/office/drawing/2014/main" id="{1A50AE8C-2CE2-E2FB-2B60-680FCC0655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ea typeface="新細明體" panose="02020500000000000000" pitchFamily="18" charset="-120"/>
              </a:rPr>
              <a:t>Release Time and Deadlines</a:t>
            </a:r>
          </a:p>
        </p:txBody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73D5A479-55AC-D1E6-4AC8-60B0F0B2C9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Release time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the instant of time at which the job becomes available for execution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Jobs have no release time if all the jobs are released when the system begins execution</a:t>
            </a:r>
          </a:p>
          <a:p>
            <a:endParaRPr lang="en-US" altLang="zh-TW">
              <a:ea typeface="新細明體" panose="02020500000000000000" pitchFamily="18" charset="-120"/>
            </a:endParaRPr>
          </a:p>
          <a:p>
            <a:r>
              <a:rPr lang="en-US" altLang="zh-TW">
                <a:ea typeface="新細明體" panose="02020500000000000000" pitchFamily="18" charset="-120"/>
              </a:rPr>
              <a:t>Response time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The length of time from the release time of the job to the instant when it completes</a:t>
            </a:r>
          </a:p>
          <a:p>
            <a:endParaRPr lang="en-US" altLang="zh-TW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Number Placeholder 3">
            <a:extLst>
              <a:ext uri="{FF2B5EF4-FFF2-40B4-BE49-F238E27FC236}">
                <a16:creationId xmlns:a16="http://schemas.microsoft.com/office/drawing/2014/main" id="{E2C33320-BAA6-6652-885D-0D1399E747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BB2AC1D-1786-44B0-9484-2000FF82DEC5}" type="slidenum">
              <a:rPr lang="zh-TW" altLang="en-US" sz="1400"/>
              <a:pPr/>
              <a:t>27</a:t>
            </a:fld>
            <a:endParaRPr lang="en-US" altLang="zh-TW" sz="1400"/>
          </a:p>
        </p:txBody>
      </p:sp>
      <p:sp>
        <p:nvSpPr>
          <p:cNvPr id="154626" name="Rectangle 2">
            <a:extLst>
              <a:ext uri="{FF2B5EF4-FFF2-40B4-BE49-F238E27FC236}">
                <a16:creationId xmlns:a16="http://schemas.microsoft.com/office/drawing/2014/main" id="{AF3DA47D-D05A-7429-2E23-FADC316D5C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ea typeface="新細明體" panose="02020500000000000000" pitchFamily="18" charset="-120"/>
              </a:rPr>
              <a:t>Release Time and Deadlines (Cont.)</a:t>
            </a:r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A782171F-A9D0-9389-0626-957B438905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Relative deadline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The maximum allowable response time of a job</a:t>
            </a:r>
          </a:p>
          <a:p>
            <a:endParaRPr lang="en-US" altLang="zh-TW">
              <a:ea typeface="新細明體" panose="02020500000000000000" pitchFamily="18" charset="-120"/>
            </a:endParaRPr>
          </a:p>
          <a:p>
            <a:r>
              <a:rPr lang="en-US" altLang="zh-TW">
                <a:ea typeface="新細明體" panose="02020500000000000000" pitchFamily="18" charset="-120"/>
              </a:rPr>
              <a:t>Deadline or Absolute Deadline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The instant of time by which its execution is required to be completed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Equal to the release time plus the relative deadline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A job has no deadline if its deadline is at infinity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Number Placeholder 3">
            <a:extLst>
              <a:ext uri="{FF2B5EF4-FFF2-40B4-BE49-F238E27FC236}">
                <a16:creationId xmlns:a16="http://schemas.microsoft.com/office/drawing/2014/main" id="{26356A6A-2559-5A8D-B771-64561428F8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4908DE9-E2C7-4BDB-9B76-E521B90E989E}" type="slidenum">
              <a:rPr lang="zh-TW" altLang="en-US" sz="1400"/>
              <a:pPr/>
              <a:t>28</a:t>
            </a:fld>
            <a:endParaRPr lang="en-US" altLang="zh-TW" sz="1400"/>
          </a:p>
        </p:txBody>
      </p:sp>
      <p:sp>
        <p:nvSpPr>
          <p:cNvPr id="155650" name="Rectangle 2">
            <a:extLst>
              <a:ext uri="{FF2B5EF4-FFF2-40B4-BE49-F238E27FC236}">
                <a16:creationId xmlns:a16="http://schemas.microsoft.com/office/drawing/2014/main" id="{8C030CFC-8B07-D75C-429F-450285390D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ea typeface="新細明體" panose="02020500000000000000" pitchFamily="18" charset="-120"/>
              </a:rPr>
              <a:t>Feasibility</a:t>
            </a:r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C051C3E5-426C-2920-9901-0B1F930EDF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>
                <a:ea typeface="新細明體" panose="02020500000000000000" pitchFamily="18" charset="-120"/>
              </a:rPr>
              <a:t>Timing Constraints</a:t>
            </a:r>
          </a:p>
          <a:p>
            <a:pPr lvl="1">
              <a:lnSpc>
                <a:spcPct val="90000"/>
              </a:lnSpc>
            </a:pPr>
            <a:r>
              <a:rPr lang="en-US" altLang="zh-TW">
                <a:ea typeface="新細明體" panose="02020500000000000000" pitchFamily="18" charset="-120"/>
              </a:rPr>
              <a:t>A constraints imposed on the timing behavior of a job</a:t>
            </a:r>
          </a:p>
          <a:p>
            <a:pPr lvl="1">
              <a:lnSpc>
                <a:spcPct val="90000"/>
              </a:lnSpc>
            </a:pPr>
            <a:r>
              <a:rPr lang="en-US" altLang="zh-TW">
                <a:ea typeface="新細明體" panose="02020500000000000000" pitchFamily="18" charset="-120"/>
              </a:rPr>
              <a:t>Specified in terms of</a:t>
            </a:r>
          </a:p>
          <a:p>
            <a:pPr lvl="2">
              <a:lnSpc>
                <a:spcPct val="90000"/>
              </a:lnSpc>
            </a:pPr>
            <a:r>
              <a:rPr lang="en-US" altLang="zh-TW">
                <a:ea typeface="新細明體" panose="02020500000000000000" pitchFamily="18" charset="-120"/>
              </a:rPr>
              <a:t>Release time</a:t>
            </a:r>
          </a:p>
          <a:p>
            <a:pPr lvl="2">
              <a:lnSpc>
                <a:spcPct val="90000"/>
              </a:lnSpc>
            </a:pPr>
            <a:r>
              <a:rPr lang="en-US" altLang="zh-TW">
                <a:ea typeface="新細明體" panose="02020500000000000000" pitchFamily="18" charset="-120"/>
              </a:rPr>
              <a:t>Relative deadline or absolute deadline</a:t>
            </a:r>
          </a:p>
          <a:p>
            <a:pPr>
              <a:lnSpc>
                <a:spcPct val="90000"/>
              </a:lnSpc>
            </a:pPr>
            <a:r>
              <a:rPr lang="en-US" altLang="zh-TW">
                <a:ea typeface="新細明體" panose="02020500000000000000" pitchFamily="18" charset="-120"/>
              </a:rPr>
              <a:t>The set of rules that determines the order in which tasks are executed is called a </a:t>
            </a:r>
            <a:r>
              <a:rPr lang="en-US" altLang="zh-TW" i="1">
                <a:solidFill>
                  <a:srgbClr val="CC0000"/>
                </a:solidFill>
                <a:ea typeface="新細明體" panose="02020500000000000000" pitchFamily="18" charset="-120"/>
              </a:rPr>
              <a:t>scheduling algorithm</a:t>
            </a:r>
          </a:p>
          <a:p>
            <a:pPr lvl="1">
              <a:lnSpc>
                <a:spcPct val="90000"/>
              </a:lnSpc>
            </a:pPr>
            <a:r>
              <a:rPr lang="en-US" altLang="zh-TW">
                <a:ea typeface="新細明體" panose="02020500000000000000" pitchFamily="18" charset="-120"/>
              </a:rPr>
              <a:t>A schedule is </a:t>
            </a:r>
            <a:r>
              <a:rPr lang="en-US" altLang="zh-TW" i="1">
                <a:solidFill>
                  <a:srgbClr val="CC0000"/>
                </a:solidFill>
                <a:ea typeface="新細明體" panose="02020500000000000000" pitchFamily="18" charset="-120"/>
              </a:rPr>
              <a:t>feasible</a:t>
            </a:r>
            <a:r>
              <a:rPr lang="en-US" altLang="zh-TW">
                <a:ea typeface="新細明體" panose="02020500000000000000" pitchFamily="18" charset="-120"/>
              </a:rPr>
              <a:t> if all tasks can be completed according to the timing constraints</a:t>
            </a:r>
          </a:p>
          <a:p>
            <a:pPr lvl="1">
              <a:lnSpc>
                <a:spcPct val="90000"/>
              </a:lnSpc>
            </a:pPr>
            <a:r>
              <a:rPr lang="en-US" altLang="zh-TW">
                <a:ea typeface="新細明體" panose="02020500000000000000" pitchFamily="18" charset="-120"/>
              </a:rPr>
              <a:t>A set of tasks is </a:t>
            </a:r>
            <a:r>
              <a:rPr lang="en-US" altLang="zh-TW" i="1">
                <a:solidFill>
                  <a:srgbClr val="CC0000"/>
                </a:solidFill>
                <a:ea typeface="新細明體" panose="02020500000000000000" pitchFamily="18" charset="-120"/>
              </a:rPr>
              <a:t>schedulable</a:t>
            </a:r>
            <a:r>
              <a:rPr lang="en-US" altLang="zh-TW">
                <a:ea typeface="新細明體" panose="02020500000000000000" pitchFamily="18" charset="-120"/>
              </a:rPr>
              <a:t> if there exists at least one algorithm that can produce a feasible schedule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3">
            <a:extLst>
              <a:ext uri="{FF2B5EF4-FFF2-40B4-BE49-F238E27FC236}">
                <a16:creationId xmlns:a16="http://schemas.microsoft.com/office/drawing/2014/main" id="{7E5C4D2E-45C8-390C-1405-A9F4939102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EC2CA84-8E39-4A73-939A-0184DC84A9D9}" type="slidenum">
              <a:rPr lang="zh-TW" altLang="en-US" sz="1400"/>
              <a:pPr/>
              <a:t>29</a:t>
            </a:fld>
            <a:endParaRPr lang="en-US" altLang="zh-TW" sz="1400"/>
          </a:p>
        </p:txBody>
      </p:sp>
      <p:sp>
        <p:nvSpPr>
          <p:cNvPr id="156674" name="Rectangle 2">
            <a:extLst>
              <a:ext uri="{FF2B5EF4-FFF2-40B4-BE49-F238E27FC236}">
                <a16:creationId xmlns:a16="http://schemas.microsoft.com/office/drawing/2014/main" id="{6ACACCFC-C083-8B97-5457-3DCFF59CC8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ea typeface="新細明體" panose="02020500000000000000" pitchFamily="18" charset="-120"/>
              </a:rPr>
              <a:t>Type of Tasks</a:t>
            </a:r>
          </a:p>
        </p:txBody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048D9B28-B5BD-10F3-DC54-5B760DD3D1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2400" i="1">
                <a:ea typeface="新細明體" panose="02020500000000000000" pitchFamily="18" charset="-120"/>
              </a:rPr>
              <a:t>A Periodic task </a:t>
            </a:r>
            <a:r>
              <a:rPr lang="en-US" altLang="zh-TW" sz="2400">
                <a:ea typeface="新細明體" panose="02020500000000000000" pitchFamily="18" charset="-120"/>
              </a:rPr>
              <a:t>is executed repeatly at regular time intervals</a:t>
            </a:r>
            <a:r>
              <a:rPr lang="en-US" altLang="zh-TW" sz="2400" i="1">
                <a:ea typeface="新細明體" panose="02020500000000000000" pitchFamily="18" charset="-120"/>
              </a:rPr>
              <a:t>, </a:t>
            </a:r>
            <a:r>
              <a:rPr lang="en-US" altLang="zh-TW" sz="2400">
                <a:ea typeface="新細明體" panose="02020500000000000000" pitchFamily="18" charset="-120"/>
              </a:rPr>
              <a:t>and each invocation is called a </a:t>
            </a:r>
            <a:r>
              <a:rPr lang="en-US" altLang="zh-TW" sz="2400" i="1">
                <a:ea typeface="新細明體" panose="02020500000000000000" pitchFamily="18" charset="-120"/>
              </a:rPr>
              <a:t>job</a:t>
            </a:r>
            <a:r>
              <a:rPr lang="en-US" altLang="zh-TW" sz="2400">
                <a:ea typeface="新細明體" panose="02020500000000000000" pitchFamily="18" charset="-120"/>
              </a:rPr>
              <a:t> or </a:t>
            </a:r>
            <a:r>
              <a:rPr lang="en-US" altLang="zh-TW" sz="2400" i="1">
                <a:ea typeface="新細明體" panose="02020500000000000000" pitchFamily="18" charset="-120"/>
              </a:rPr>
              <a:t>instance.</a:t>
            </a:r>
          </a:p>
          <a:p>
            <a:pPr lvl="1"/>
            <a:r>
              <a:rPr lang="en-US" altLang="zh-TW" sz="2000">
                <a:ea typeface="新細明體" panose="02020500000000000000" pitchFamily="18" charset="-120"/>
              </a:rPr>
              <a:t>Often </a:t>
            </a:r>
            <a:r>
              <a:rPr lang="en-US" altLang="zh-TW" sz="2000" i="1">
                <a:ea typeface="新細明體" panose="02020500000000000000" pitchFamily="18" charset="-120"/>
              </a:rPr>
              <a:t>time-driven</a:t>
            </a:r>
          </a:p>
          <a:p>
            <a:r>
              <a:rPr lang="en-US" altLang="zh-TW" sz="2400" i="1">
                <a:ea typeface="新細明體" panose="02020500000000000000" pitchFamily="18" charset="-120"/>
              </a:rPr>
              <a:t>A Aperiodic task </a:t>
            </a:r>
            <a:r>
              <a:rPr lang="en-US" altLang="zh-TW" sz="2400">
                <a:ea typeface="新細明體" panose="02020500000000000000" pitchFamily="18" charset="-120"/>
              </a:rPr>
              <a:t>is executed to response to external events, and to respond, it executes aperiodic jobs whose release time are not know a priori</a:t>
            </a:r>
          </a:p>
          <a:p>
            <a:pPr lvl="1"/>
            <a:r>
              <a:rPr lang="en-US" altLang="zh-TW" sz="2000">
                <a:ea typeface="新細明體" panose="02020500000000000000" pitchFamily="18" charset="-120"/>
              </a:rPr>
              <a:t>Often </a:t>
            </a:r>
            <a:r>
              <a:rPr lang="en-US" altLang="zh-TW" sz="2000" i="1">
                <a:ea typeface="新細明體" panose="02020500000000000000" pitchFamily="18" charset="-120"/>
              </a:rPr>
              <a:t>event-driven</a:t>
            </a:r>
          </a:p>
          <a:p>
            <a:pPr lvl="1"/>
            <a:r>
              <a:rPr lang="en-US" altLang="zh-TW" sz="2000">
                <a:ea typeface="新細明體" panose="02020500000000000000" pitchFamily="18" charset="-120"/>
              </a:rPr>
              <a:t>Off-line guarantee of aperiodic tasks must make proper assumptions on the environments; that is, by assuming a maximum arrival rate for each event (i.e., minimum interarrival time)</a:t>
            </a:r>
          </a:p>
          <a:p>
            <a:pPr lvl="2"/>
            <a:r>
              <a:rPr lang="en-US" altLang="zh-TW" sz="1800">
                <a:ea typeface="新細明體" panose="02020500000000000000" pitchFamily="18" charset="-120"/>
              </a:rPr>
              <a:t>Aperiodic tasks characterized by a minimum interarrival time are called </a:t>
            </a:r>
            <a:r>
              <a:rPr lang="en-US" altLang="zh-TW" sz="1800" i="1">
                <a:ea typeface="新細明體" panose="02020500000000000000" pitchFamily="18" charset="-120"/>
              </a:rPr>
              <a:t>sporadic tasks</a:t>
            </a:r>
            <a:endParaRPr lang="en-US" altLang="zh-TW" sz="1800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Number Placeholder 3">
            <a:extLst>
              <a:ext uri="{FF2B5EF4-FFF2-40B4-BE49-F238E27FC236}">
                <a16:creationId xmlns:a16="http://schemas.microsoft.com/office/drawing/2014/main" id="{ADF397D8-452E-3711-1932-5328FA194C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EAB0122-0D77-4FE9-A3BC-197341000672}" type="slidenum">
              <a:rPr lang="zh-TW" altLang="en-US" sz="1400"/>
              <a:pPr/>
              <a:t>30</a:t>
            </a:fld>
            <a:endParaRPr lang="en-US" altLang="zh-TW" sz="1400"/>
          </a:p>
        </p:txBody>
      </p:sp>
      <p:sp>
        <p:nvSpPr>
          <p:cNvPr id="157698" name="Rectangle 2">
            <a:extLst>
              <a:ext uri="{FF2B5EF4-FFF2-40B4-BE49-F238E27FC236}">
                <a16:creationId xmlns:a16="http://schemas.microsoft.com/office/drawing/2014/main" id="{0D25036A-11EA-CBC9-2669-10589C00B7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ea typeface="新細明體" panose="02020500000000000000" pitchFamily="18" charset="-120"/>
              </a:rPr>
              <a:t>Classification of Scheduling Algorithm</a:t>
            </a:r>
          </a:p>
        </p:txBody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E2BFB488-C2D3-1E44-C3AC-D6ADCAA418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Preemptive/Nonpreemptive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Preemptive: the running tasks can be interrupted to assign the processor to another task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Non-preemptive: A task, once started, is executed until completion.</a:t>
            </a:r>
          </a:p>
          <a:p>
            <a:r>
              <a:rPr lang="en-US" altLang="zh-TW">
                <a:ea typeface="新細明體" panose="02020500000000000000" pitchFamily="18" charset="-120"/>
              </a:rPr>
              <a:t>Static/Dynamic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Static: the scheduling decisions are based on fixed parameters and assigned to tasks before their activation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Dynamic: the scheduling decisions are based on dynamic parameters that may change during system evolution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Number Placeholder 3">
            <a:extLst>
              <a:ext uri="{FF2B5EF4-FFF2-40B4-BE49-F238E27FC236}">
                <a16:creationId xmlns:a16="http://schemas.microsoft.com/office/drawing/2014/main" id="{EB6DEF7F-A49B-7651-1B68-7EBFCC5716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041B69E-0663-4242-AAFE-6B546EEB001B}" type="slidenum">
              <a:rPr lang="zh-TW" altLang="en-US" sz="1400"/>
              <a:pPr/>
              <a:t>31</a:t>
            </a:fld>
            <a:endParaRPr lang="en-US" altLang="zh-TW" sz="1400"/>
          </a:p>
        </p:txBody>
      </p:sp>
      <p:sp>
        <p:nvSpPr>
          <p:cNvPr id="161794" name="Rectangle 2">
            <a:extLst>
              <a:ext uri="{FF2B5EF4-FFF2-40B4-BE49-F238E27FC236}">
                <a16:creationId xmlns:a16="http://schemas.microsoft.com/office/drawing/2014/main" id="{E802B54E-B5F5-AB78-8376-FE47DD1D60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sz="3200">
                <a:ea typeface="新細明體" panose="02020500000000000000" pitchFamily="18" charset="-120"/>
              </a:rPr>
              <a:t>Classification of Scheduling Algorithm (Cont.)</a:t>
            </a:r>
            <a:endParaRPr lang="zh-TW" altLang="en-US" sz="3200">
              <a:ea typeface="新細明體" panose="02020500000000000000" pitchFamily="18" charset="-120"/>
            </a:endParaRPr>
          </a:p>
        </p:txBody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2CD1F09D-6C04-5318-B46E-8185800E09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Off-line/On-line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Off-line: a scheduling algorithm is executed on the entire task set before actual task activation. The schedule may be stored in a table and later executed by a dispatcher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On-line: scheduling decisions are taken at runtime every time a new task enter the system or when a running task terminates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Number Placeholder 3">
            <a:extLst>
              <a:ext uri="{FF2B5EF4-FFF2-40B4-BE49-F238E27FC236}">
                <a16:creationId xmlns:a16="http://schemas.microsoft.com/office/drawing/2014/main" id="{DF0E26B2-231E-3FBA-A198-D92DC7A9FF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61123DE-5BBA-4289-B4E3-54CDC248AE57}" type="slidenum">
              <a:rPr lang="zh-TW" altLang="en-US" sz="1400"/>
              <a:pPr/>
              <a:t>32</a:t>
            </a:fld>
            <a:endParaRPr lang="en-US" altLang="zh-TW" sz="1400"/>
          </a:p>
        </p:txBody>
      </p:sp>
      <p:sp>
        <p:nvSpPr>
          <p:cNvPr id="162818" name="Rectangle 2">
            <a:extLst>
              <a:ext uri="{FF2B5EF4-FFF2-40B4-BE49-F238E27FC236}">
                <a16:creationId xmlns:a16="http://schemas.microsoft.com/office/drawing/2014/main" id="{6A9427F9-D40A-5B6D-9CF9-077066AA61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sz="3200">
                <a:ea typeface="新細明體" panose="02020500000000000000" pitchFamily="18" charset="-120"/>
              </a:rPr>
              <a:t>Classification of Scheduling Algorithm (Cont.)</a:t>
            </a:r>
            <a:endParaRPr lang="zh-TW" altLang="en-US" sz="3200">
              <a:ea typeface="新細明體" panose="02020500000000000000" pitchFamily="18" charset="-120"/>
            </a:endParaRPr>
          </a:p>
        </p:txBody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C50043AA-0588-4266-80FD-9CC5FEAECD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>
                <a:ea typeface="新細明體" panose="02020500000000000000" pitchFamily="18" charset="-120"/>
              </a:rPr>
              <a:t>Optimal/Heuristic</a:t>
            </a:r>
          </a:p>
          <a:p>
            <a:pPr lvl="1">
              <a:lnSpc>
                <a:spcPct val="90000"/>
              </a:lnSpc>
            </a:pPr>
            <a:r>
              <a:rPr lang="en-US" altLang="zh-TW">
                <a:ea typeface="新細明體" panose="02020500000000000000" pitchFamily="18" charset="-120"/>
              </a:rPr>
              <a:t>Optimal: an algorithm is optimal if it minimizes some given cost function defined over the task set. </a:t>
            </a:r>
          </a:p>
          <a:p>
            <a:pPr lvl="2">
              <a:lnSpc>
                <a:spcPct val="90000"/>
              </a:lnSpc>
            </a:pPr>
            <a:r>
              <a:rPr lang="en-US" altLang="zh-TW">
                <a:ea typeface="新細明體" panose="02020500000000000000" pitchFamily="18" charset="-120"/>
              </a:rPr>
              <a:t>If no cost function is given and only concern feasibility, an algorithm is optimal if it may fail to meet deadline only if no other algorithms can meet it</a:t>
            </a:r>
          </a:p>
          <a:p>
            <a:pPr lvl="1">
              <a:lnSpc>
                <a:spcPct val="90000"/>
              </a:lnSpc>
            </a:pPr>
            <a:r>
              <a:rPr lang="en-US" altLang="zh-TW">
                <a:ea typeface="新細明體" panose="02020500000000000000" pitchFamily="18" charset="-120"/>
              </a:rPr>
              <a:t>Heuristic: an algorithm is heuristic if it tends toward but does not guarantee to find the optimal schedule</a:t>
            </a:r>
          </a:p>
          <a:p>
            <a:pPr>
              <a:lnSpc>
                <a:spcPct val="90000"/>
              </a:lnSpc>
            </a:pPr>
            <a:r>
              <a:rPr lang="en-US" altLang="zh-TW">
                <a:ea typeface="新細明體" panose="02020500000000000000" pitchFamily="18" charset="-120"/>
              </a:rPr>
              <a:t>Dynamic/Fixed</a:t>
            </a:r>
          </a:p>
          <a:p>
            <a:pPr lvl="1">
              <a:lnSpc>
                <a:spcPct val="90000"/>
              </a:lnSpc>
            </a:pPr>
            <a:r>
              <a:rPr lang="en-US" altLang="zh-TW">
                <a:ea typeface="新細明體" panose="02020500000000000000" pitchFamily="18" charset="-120"/>
              </a:rPr>
              <a:t>Fixed: in which the priority of each process is fixed for any instantiation</a:t>
            </a:r>
          </a:p>
          <a:p>
            <a:pPr lvl="1">
              <a:lnSpc>
                <a:spcPct val="90000"/>
              </a:lnSpc>
            </a:pPr>
            <a:r>
              <a:rPr lang="en-US" altLang="zh-TW">
                <a:ea typeface="新細明體" panose="02020500000000000000" pitchFamily="18" charset="-120"/>
              </a:rPr>
              <a:t>Dynamic: in contrast from above</a:t>
            </a:r>
            <a:endParaRPr lang="zh-TW" altLang="en-US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Number Placeholder 3">
            <a:extLst>
              <a:ext uri="{FF2B5EF4-FFF2-40B4-BE49-F238E27FC236}">
                <a16:creationId xmlns:a16="http://schemas.microsoft.com/office/drawing/2014/main" id="{3C648705-13B1-A560-4FCC-F734D02B4C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900EED9-0474-4A8C-9543-135AAA37F3DB}" type="slidenum">
              <a:rPr lang="zh-TW" altLang="en-US" sz="1400"/>
              <a:pPr/>
              <a:t>33</a:t>
            </a:fld>
            <a:endParaRPr lang="en-US" altLang="zh-TW" sz="1400"/>
          </a:p>
        </p:txBody>
      </p:sp>
      <p:sp>
        <p:nvSpPr>
          <p:cNvPr id="163842" name="Rectangle 2">
            <a:extLst>
              <a:ext uri="{FF2B5EF4-FFF2-40B4-BE49-F238E27FC236}">
                <a16:creationId xmlns:a16="http://schemas.microsoft.com/office/drawing/2014/main" id="{C93A7B8D-4AA1-A465-A3D0-0633C5A6AC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ea typeface="新細明體" panose="02020500000000000000" pitchFamily="18" charset="-120"/>
              </a:rPr>
              <a:t>Metrics for Performance Evaluation</a:t>
            </a:r>
          </a:p>
        </p:txBody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18A826E8-628C-5B7A-D16C-B067BFCCA8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>
                <a:ea typeface="新細明體" panose="02020500000000000000" pitchFamily="18" charset="-120"/>
              </a:rPr>
              <a:t>Metrics for hard real-time system</a:t>
            </a:r>
          </a:p>
          <a:p>
            <a:pPr lvl="1">
              <a:lnSpc>
                <a:spcPct val="90000"/>
              </a:lnSpc>
            </a:pPr>
            <a:r>
              <a:rPr lang="en-US" altLang="zh-TW">
                <a:ea typeface="新細明體" panose="02020500000000000000" pitchFamily="18" charset="-120"/>
              </a:rPr>
              <a:t>Schedulability</a:t>
            </a:r>
          </a:p>
          <a:p>
            <a:pPr lvl="1">
              <a:lnSpc>
                <a:spcPct val="90000"/>
              </a:lnSpc>
            </a:pPr>
            <a:r>
              <a:rPr lang="en-US" altLang="zh-TW">
                <a:ea typeface="新細明體" panose="02020500000000000000" pitchFamily="18" charset="-120"/>
              </a:rPr>
              <a:t>Optimality, etc.</a:t>
            </a:r>
          </a:p>
          <a:p>
            <a:pPr>
              <a:lnSpc>
                <a:spcPct val="90000"/>
              </a:lnSpc>
            </a:pPr>
            <a:r>
              <a:rPr lang="en-US" altLang="zh-TW">
                <a:ea typeface="新細明體" panose="02020500000000000000" pitchFamily="18" charset="-120"/>
              </a:rPr>
              <a:t>Metrics for soft real-time system</a:t>
            </a:r>
          </a:p>
          <a:p>
            <a:pPr lvl="1">
              <a:lnSpc>
                <a:spcPct val="90000"/>
              </a:lnSpc>
            </a:pPr>
            <a:r>
              <a:rPr lang="en-US" altLang="zh-TW">
                <a:ea typeface="新細明體" panose="02020500000000000000" pitchFamily="18" charset="-120"/>
              </a:rPr>
              <a:t>Miss ratio</a:t>
            </a:r>
          </a:p>
          <a:p>
            <a:pPr lvl="1">
              <a:lnSpc>
                <a:spcPct val="90000"/>
              </a:lnSpc>
            </a:pPr>
            <a:r>
              <a:rPr lang="en-US" altLang="zh-TW">
                <a:ea typeface="新細明體" panose="02020500000000000000" pitchFamily="18" charset="-120"/>
              </a:rPr>
              <a:t>Response time, etc.</a:t>
            </a:r>
          </a:p>
          <a:p>
            <a:pPr>
              <a:lnSpc>
                <a:spcPct val="90000"/>
              </a:lnSpc>
            </a:pPr>
            <a:r>
              <a:rPr lang="en-US" altLang="zh-TW">
                <a:ea typeface="新細明體" panose="02020500000000000000" pitchFamily="18" charset="-120"/>
              </a:rPr>
              <a:t>Other metrics</a:t>
            </a:r>
          </a:p>
          <a:p>
            <a:pPr lvl="1">
              <a:lnSpc>
                <a:spcPct val="90000"/>
              </a:lnSpc>
            </a:pPr>
            <a:r>
              <a:rPr lang="en-US" altLang="zh-TW">
                <a:ea typeface="新細明體" panose="02020500000000000000" pitchFamily="18" charset="-120"/>
              </a:rPr>
              <a:t>Completion time</a:t>
            </a:r>
          </a:p>
          <a:p>
            <a:pPr lvl="1">
              <a:lnSpc>
                <a:spcPct val="90000"/>
              </a:lnSpc>
            </a:pPr>
            <a:r>
              <a:rPr lang="en-US" altLang="zh-TW">
                <a:ea typeface="新細明體" panose="02020500000000000000" pitchFamily="18" charset="-120"/>
              </a:rPr>
              <a:t>Jitter, etc.</a:t>
            </a:r>
          </a:p>
          <a:p>
            <a:pPr lvl="1">
              <a:lnSpc>
                <a:spcPct val="90000"/>
              </a:lnSpc>
            </a:pPr>
            <a:r>
              <a:rPr lang="en-US" altLang="zh-TW">
                <a:ea typeface="新細明體" panose="02020500000000000000" pitchFamily="18" charset="-120"/>
              </a:rPr>
              <a:t>Combination of metrics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Number Placeholder 3">
            <a:extLst>
              <a:ext uri="{FF2B5EF4-FFF2-40B4-BE49-F238E27FC236}">
                <a16:creationId xmlns:a16="http://schemas.microsoft.com/office/drawing/2014/main" id="{47E4769F-1D76-3606-D4F7-61C63AEC4D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41C3CB3-56BA-4797-B5FE-1E9073C40BEB}" type="slidenum">
              <a:rPr lang="zh-TW" altLang="en-US" sz="1400"/>
              <a:pPr/>
              <a:t>34</a:t>
            </a:fld>
            <a:endParaRPr lang="en-US" altLang="zh-TW" sz="1400"/>
          </a:p>
        </p:txBody>
      </p:sp>
      <p:sp>
        <p:nvSpPr>
          <p:cNvPr id="165890" name="Rectangle 2">
            <a:extLst>
              <a:ext uri="{FF2B5EF4-FFF2-40B4-BE49-F238E27FC236}">
                <a16:creationId xmlns:a16="http://schemas.microsoft.com/office/drawing/2014/main" id="{87D63212-3CBC-D36A-8054-B7FF7ACED7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sz="3200">
                <a:ea typeface="新細明體" panose="02020500000000000000" pitchFamily="18" charset="-120"/>
              </a:rPr>
              <a:t>Commonly Used Approaches to Real-Time Scheduling</a:t>
            </a:r>
          </a:p>
        </p:txBody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003BF9CE-297D-21A2-6CE4-997F362334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Clock-Driven</a:t>
            </a:r>
          </a:p>
          <a:p>
            <a:endParaRPr lang="en-US" altLang="zh-TW">
              <a:ea typeface="新細明體" panose="02020500000000000000" pitchFamily="18" charset="-120"/>
            </a:endParaRPr>
          </a:p>
          <a:p>
            <a:r>
              <a:rPr lang="en-US" altLang="zh-TW">
                <a:ea typeface="新細明體" panose="02020500000000000000" pitchFamily="18" charset="-120"/>
              </a:rPr>
              <a:t>Priority-Driven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Number Placeholder 3">
            <a:extLst>
              <a:ext uri="{FF2B5EF4-FFF2-40B4-BE49-F238E27FC236}">
                <a16:creationId xmlns:a16="http://schemas.microsoft.com/office/drawing/2014/main" id="{74D00F6C-7B70-4AD2-5EE7-092A09D682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A378482-9C46-41A1-9D16-91732026C0EB}" type="slidenum">
              <a:rPr lang="zh-TW" altLang="en-US" sz="1400"/>
              <a:pPr/>
              <a:t>35</a:t>
            </a:fld>
            <a:endParaRPr lang="en-US" altLang="zh-TW" sz="1400"/>
          </a:p>
        </p:txBody>
      </p:sp>
      <p:sp>
        <p:nvSpPr>
          <p:cNvPr id="166914" name="Rectangle 2">
            <a:extLst>
              <a:ext uri="{FF2B5EF4-FFF2-40B4-BE49-F238E27FC236}">
                <a16:creationId xmlns:a16="http://schemas.microsoft.com/office/drawing/2014/main" id="{70B58E01-0396-6CD7-C4F0-9CA7974D8A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ea typeface="新細明體" panose="02020500000000000000" pitchFamily="18" charset="-120"/>
              </a:rPr>
              <a:t>Clock-Driven Approach</a:t>
            </a:r>
          </a:p>
        </p:txBody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88AA3958-D082-A4F8-4A52-8229DCA93C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>
                <a:ea typeface="新細明體" panose="02020500000000000000" pitchFamily="18" charset="-120"/>
              </a:rPr>
              <a:t>Also called time-driven</a:t>
            </a:r>
          </a:p>
          <a:p>
            <a:pPr lvl="1">
              <a:lnSpc>
                <a:spcPct val="90000"/>
              </a:lnSpc>
            </a:pPr>
            <a:r>
              <a:rPr lang="en-US" altLang="zh-TW">
                <a:ea typeface="新細明體" panose="02020500000000000000" pitchFamily="18" charset="-120"/>
              </a:rPr>
              <a:t>Because each scheduling decision is make at a specific time, independent of events, such as job releases or completions, in the system</a:t>
            </a:r>
          </a:p>
          <a:p>
            <a:pPr>
              <a:lnSpc>
                <a:spcPct val="90000"/>
              </a:lnSpc>
            </a:pPr>
            <a:r>
              <a:rPr lang="en-US" altLang="zh-TW">
                <a:ea typeface="新細明體" panose="02020500000000000000" pitchFamily="18" charset="-120"/>
              </a:rPr>
              <a:t>Applicable only when the system is deterministic, except for a few aperiodic jobs</a:t>
            </a:r>
          </a:p>
          <a:p>
            <a:pPr>
              <a:lnSpc>
                <a:spcPct val="90000"/>
              </a:lnSpc>
            </a:pPr>
            <a:r>
              <a:rPr lang="en-US" altLang="zh-TW">
                <a:ea typeface="新細明體" panose="02020500000000000000" pitchFamily="18" charset="-120"/>
              </a:rPr>
              <a:t>The parameters of all periodic tasks are known a priori</a:t>
            </a:r>
          </a:p>
          <a:p>
            <a:pPr>
              <a:lnSpc>
                <a:spcPct val="90000"/>
              </a:lnSpc>
            </a:pPr>
            <a:r>
              <a:rPr lang="en-US" altLang="zh-TW">
                <a:ea typeface="新細明體" panose="02020500000000000000" pitchFamily="18" charset="-120"/>
              </a:rPr>
              <a:t>Therefore, the scheduler is often constructed by a </a:t>
            </a:r>
            <a:r>
              <a:rPr lang="en-US" altLang="zh-TW" i="1">
                <a:ea typeface="新細明體" panose="02020500000000000000" pitchFamily="18" charset="-120"/>
              </a:rPr>
              <a:t>static schedule</a:t>
            </a:r>
            <a:r>
              <a:rPr lang="en-US" altLang="zh-TW">
                <a:ea typeface="新細明體" panose="02020500000000000000" pitchFamily="18" charset="-120"/>
              </a:rPr>
              <a:t> of the jobs off-line</a:t>
            </a:r>
          </a:p>
          <a:p>
            <a:pPr lvl="1">
              <a:lnSpc>
                <a:spcPct val="90000"/>
              </a:lnSpc>
            </a:pPr>
            <a:r>
              <a:rPr lang="en-US" altLang="zh-TW">
                <a:ea typeface="新細明體" panose="02020500000000000000" pitchFamily="18" charset="-120"/>
              </a:rPr>
              <a:t>Use a hardware timer to trigger the scheduling decision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Number Placeholder 3">
            <a:extLst>
              <a:ext uri="{FF2B5EF4-FFF2-40B4-BE49-F238E27FC236}">
                <a16:creationId xmlns:a16="http://schemas.microsoft.com/office/drawing/2014/main" id="{366F38FC-2281-2C63-37AB-6A81B5D33A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0AAC09A-FE59-440F-A945-FC2B440C770A}" type="slidenum">
              <a:rPr lang="zh-TW" altLang="en-US" sz="1400"/>
              <a:pPr/>
              <a:t>36</a:t>
            </a:fld>
            <a:endParaRPr lang="en-US" altLang="zh-TW" sz="1400"/>
          </a:p>
        </p:txBody>
      </p:sp>
      <p:sp>
        <p:nvSpPr>
          <p:cNvPr id="168962" name="Rectangle 2">
            <a:extLst>
              <a:ext uri="{FF2B5EF4-FFF2-40B4-BE49-F238E27FC236}">
                <a16:creationId xmlns:a16="http://schemas.microsoft.com/office/drawing/2014/main" id="{36B36E77-3725-9249-7EE1-7BEC4DDC4A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ea typeface="新細明體" panose="02020500000000000000" pitchFamily="18" charset="-120"/>
              </a:rPr>
              <a:t>Priority-Driven Approach</a:t>
            </a:r>
          </a:p>
        </p:txBody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9B6E53C2-1EB5-B93C-A0D1-69EB43415F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Scheduling decisions are made when events, such as release and completions of job occurs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Therefore, priority-driven algorithms are </a:t>
            </a:r>
            <a:r>
              <a:rPr lang="en-US" altLang="zh-TW" i="1">
                <a:ea typeface="新細明體" panose="02020500000000000000" pitchFamily="18" charset="-120"/>
              </a:rPr>
              <a:t>even-driven</a:t>
            </a:r>
          </a:p>
          <a:p>
            <a:r>
              <a:rPr lang="en-US" altLang="zh-TW">
                <a:ea typeface="新細明體" panose="02020500000000000000" pitchFamily="18" charset="-120"/>
              </a:rPr>
              <a:t>Many non-real-time scheduling algorithms are priority-driven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FIFO (First-In-First-Out)</a:t>
            </a:r>
          </a:p>
          <a:p>
            <a:pPr lvl="2"/>
            <a:r>
              <a:rPr lang="en-US" altLang="zh-TW">
                <a:ea typeface="新細明體" panose="02020500000000000000" pitchFamily="18" charset="-120"/>
              </a:rPr>
              <a:t>Assign priority according to the release time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SETF (Shortest-Execution-Time-First)</a:t>
            </a:r>
          </a:p>
          <a:p>
            <a:pPr lvl="2"/>
            <a:r>
              <a:rPr lang="en-US" altLang="zh-TW">
                <a:ea typeface="新細明體" panose="02020500000000000000" pitchFamily="18" charset="-120"/>
              </a:rPr>
              <a:t>Assign priority on the basis of job execution times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Number Placeholder 3">
            <a:extLst>
              <a:ext uri="{FF2B5EF4-FFF2-40B4-BE49-F238E27FC236}">
                <a16:creationId xmlns:a16="http://schemas.microsoft.com/office/drawing/2014/main" id="{C95F5A8F-AB29-BFF8-3953-54F5F79BBC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B0701D4-F0B6-4779-A885-484E767077EA}" type="slidenum">
              <a:rPr lang="zh-TW" altLang="en-US" sz="1400"/>
              <a:pPr/>
              <a:t>37</a:t>
            </a:fld>
            <a:endParaRPr lang="en-US" altLang="zh-TW" sz="1400"/>
          </a:p>
        </p:txBody>
      </p:sp>
      <p:sp>
        <p:nvSpPr>
          <p:cNvPr id="169986" name="Rectangle 2">
            <a:extLst>
              <a:ext uri="{FF2B5EF4-FFF2-40B4-BE49-F238E27FC236}">
                <a16:creationId xmlns:a16="http://schemas.microsoft.com/office/drawing/2014/main" id="{A3B47BB8-1E56-1077-3504-45181098F0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ea typeface="新細明體" panose="02020500000000000000" pitchFamily="18" charset="-120"/>
              </a:rPr>
              <a:t>Priority-Driven Approach (Cont.)</a:t>
            </a:r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89EF4AAF-5031-F6A1-90FC-5E83B3A6F6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Priority-driven real-time scheduling algorithms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Dynamic-priority</a:t>
            </a:r>
          </a:p>
          <a:p>
            <a:pPr lvl="2"/>
            <a:r>
              <a:rPr lang="en-US" altLang="zh-TW">
                <a:ea typeface="新細明體" panose="02020500000000000000" pitchFamily="18" charset="-120"/>
              </a:rPr>
              <a:t>e.g. EDF (Earliest Deadline First)</a:t>
            </a:r>
          </a:p>
          <a:p>
            <a:pPr lvl="1"/>
            <a:endParaRPr lang="en-US" altLang="zh-TW">
              <a:ea typeface="新細明體" panose="02020500000000000000" pitchFamily="18" charset="-120"/>
            </a:endParaRP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Fixed-priority</a:t>
            </a:r>
          </a:p>
          <a:p>
            <a:pPr lvl="2"/>
            <a:r>
              <a:rPr lang="en-US" altLang="zh-TW">
                <a:ea typeface="新細明體" panose="02020500000000000000" pitchFamily="18" charset="-120"/>
              </a:rPr>
              <a:t>e.g. RM (Rate Monotonic)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EB7E9-7AEF-898A-7A72-ADFC1A353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Issues of Real time OS</a:t>
            </a:r>
            <a:endParaRPr lang="en-IN" dirty="0"/>
          </a:p>
        </p:txBody>
      </p:sp>
      <p:sp>
        <p:nvSpPr>
          <p:cNvPr id="71683" name="Content Placeholder 2">
            <a:extLst>
              <a:ext uri="{FF2B5EF4-FFF2-40B4-BE49-F238E27FC236}">
                <a16:creationId xmlns:a16="http://schemas.microsoft.com/office/drawing/2014/main" id="{E18FBF4C-1DA7-FBF6-8471-232928B0D3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Race condition</a:t>
            </a:r>
          </a:p>
          <a:p>
            <a:r>
              <a:rPr lang="en-US" altLang="en-US"/>
              <a:t>Dead lock</a:t>
            </a:r>
          </a:p>
          <a:p>
            <a:r>
              <a:rPr lang="en-US" altLang="en-US"/>
              <a:t>Live lock</a:t>
            </a:r>
          </a:p>
          <a:p>
            <a:r>
              <a:rPr lang="en-US" altLang="en-US"/>
              <a:t>Starraing/Aging </a:t>
            </a:r>
            <a:endParaRPr lang="en-IN" altLang="en-US"/>
          </a:p>
        </p:txBody>
      </p:sp>
      <p:sp>
        <p:nvSpPr>
          <p:cNvPr id="71684" name="Slide Number Placeholder 3">
            <a:extLst>
              <a:ext uri="{FF2B5EF4-FFF2-40B4-BE49-F238E27FC236}">
                <a16:creationId xmlns:a16="http://schemas.microsoft.com/office/drawing/2014/main" id="{CAD5A818-B827-9EC0-CE2E-E06188FCD0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C9B7129-966A-45C5-A141-081D082E5C51}" type="slidenum">
              <a:rPr lang="zh-TW" altLang="en-US" sz="1400"/>
              <a:pPr/>
              <a:t>38</a:t>
            </a:fld>
            <a:endParaRPr lang="en-US" altLang="zh-TW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temporary">
  <a:themeElements>
    <a:clrScheme name="Contemporary 2">
      <a:dk1>
        <a:srgbClr val="000000"/>
      </a:dk1>
      <a:lt1>
        <a:srgbClr val="FFFFFF"/>
      </a:lt1>
      <a:dk2>
        <a:srgbClr val="000000"/>
      </a:dk2>
      <a:lt2>
        <a:srgbClr val="868686"/>
      </a:lt2>
      <a:accent1>
        <a:srgbClr val="3366FF"/>
      </a:accent1>
      <a:accent2>
        <a:srgbClr val="009900"/>
      </a:accent2>
      <a:accent3>
        <a:srgbClr val="FFFFFF"/>
      </a:accent3>
      <a:accent4>
        <a:srgbClr val="000000"/>
      </a:accent4>
      <a:accent5>
        <a:srgbClr val="ADB8FF"/>
      </a:accent5>
      <a:accent6>
        <a:srgbClr val="008A00"/>
      </a:accent6>
      <a:hlink>
        <a:srgbClr val="FF0033"/>
      </a:hlink>
      <a:folHlink>
        <a:srgbClr val="CCCCCC"/>
      </a:folHlink>
    </a:clrScheme>
    <a:fontScheme name="Contemporary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Contemporary 1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9999"/>
        </a:accent1>
        <a:accent2>
          <a:srgbClr val="FF9933"/>
        </a:accent2>
        <a:accent3>
          <a:srgbClr val="AAB8E2"/>
        </a:accent3>
        <a:accent4>
          <a:srgbClr val="DADADA"/>
        </a:accent4>
        <a:accent5>
          <a:srgbClr val="AACACA"/>
        </a:accent5>
        <a:accent6>
          <a:srgbClr val="E78A2D"/>
        </a:accent6>
        <a:hlink>
          <a:srgbClr val="330099"/>
        </a:hlink>
        <a:folHlink>
          <a:srgbClr val="CBCBC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emporary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emporary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7853</TotalTime>
  <Words>2056</Words>
  <Application>Microsoft Office PowerPoint</Application>
  <PresentationFormat>On-screen Show (4:3)</PresentationFormat>
  <Paragraphs>315</Paragraphs>
  <Slides>38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Arial</vt:lpstr>
      <vt:lpstr>Times New Roman</vt:lpstr>
      <vt:lpstr>Verdana</vt:lpstr>
      <vt:lpstr>Contemporary</vt:lpstr>
      <vt:lpstr>Real-Time System: Introduction</vt:lpstr>
      <vt:lpstr>Introduction: Real-Time System</vt:lpstr>
      <vt:lpstr>Introduction: Real-Time System</vt:lpstr>
      <vt:lpstr>Introduction: Real-Time System</vt:lpstr>
      <vt:lpstr>Real-Time Systems</vt:lpstr>
      <vt:lpstr>Real-Time Systems (Cont.)</vt:lpstr>
      <vt:lpstr>Real-Time Systems Examples</vt:lpstr>
      <vt:lpstr>Real-Time Systems Examples (Cont.)</vt:lpstr>
      <vt:lpstr>Real-Time Systems Examples (Cont.)</vt:lpstr>
      <vt:lpstr>Characteristics of Real-Time Systems</vt:lpstr>
      <vt:lpstr>Type of Real-Time System</vt:lpstr>
      <vt:lpstr>Hard Real-Time System</vt:lpstr>
      <vt:lpstr>Hard Real-Time System</vt:lpstr>
      <vt:lpstr>Hard Real-Time System</vt:lpstr>
      <vt:lpstr>Hard Real-Time System</vt:lpstr>
      <vt:lpstr>HArd Real-Time System</vt:lpstr>
      <vt:lpstr>Hard Real-Time System</vt:lpstr>
      <vt:lpstr>PowerPoint Presentation</vt:lpstr>
      <vt:lpstr>Soft Real-Time System</vt:lpstr>
      <vt:lpstr>Soft Real-Time System</vt:lpstr>
      <vt:lpstr>Soft Real-Time System</vt:lpstr>
      <vt:lpstr>Soft Real-Time System</vt:lpstr>
      <vt:lpstr>Soft Real-Time System</vt:lpstr>
      <vt:lpstr>Comparison</vt:lpstr>
      <vt:lpstr>Job versus Task</vt:lpstr>
      <vt:lpstr>Release Time and Deadlines</vt:lpstr>
      <vt:lpstr>Release Time and Deadlines (Cont.)</vt:lpstr>
      <vt:lpstr>Feasibility</vt:lpstr>
      <vt:lpstr>Type of Tasks</vt:lpstr>
      <vt:lpstr>Classification of Scheduling Algorithm</vt:lpstr>
      <vt:lpstr>Classification of Scheduling Algorithm (Cont.)</vt:lpstr>
      <vt:lpstr>Classification of Scheduling Algorithm (Cont.)</vt:lpstr>
      <vt:lpstr>Metrics for Performance Evaluation</vt:lpstr>
      <vt:lpstr>Commonly Used Approaches to Real-Time Scheduling</vt:lpstr>
      <vt:lpstr>Clock-Driven Approach</vt:lpstr>
      <vt:lpstr>Priority-Driven Approach</vt:lpstr>
      <vt:lpstr>Priority-Driven Approach (Cont.)</vt:lpstr>
      <vt:lpstr>Issues of Real time OS</vt:lpstr>
    </vt:vector>
  </TitlesOfParts>
  <Company>University of California, Riverside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“short list” of embedded systems</dc:title>
  <dc:creator>vahid</dc:creator>
  <cp:lastModifiedBy>Anusha N</cp:lastModifiedBy>
  <cp:revision>645</cp:revision>
  <dcterms:created xsi:type="dcterms:W3CDTF">2000-09-27T14:38:47Z</dcterms:created>
  <dcterms:modified xsi:type="dcterms:W3CDTF">2024-03-11T06:27:00Z</dcterms:modified>
</cp:coreProperties>
</file>