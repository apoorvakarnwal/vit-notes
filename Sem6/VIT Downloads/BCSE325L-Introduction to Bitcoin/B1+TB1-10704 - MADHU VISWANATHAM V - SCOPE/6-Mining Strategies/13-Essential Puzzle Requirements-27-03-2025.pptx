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50"/>
  </p:notesMasterIdLst>
  <p:sldIdLst>
    <p:sldId id="256" r:id="rId2"/>
    <p:sldId id="257" r:id="rId3"/>
    <p:sldId id="258" r:id="rId4"/>
    <p:sldId id="259" r:id="rId5"/>
    <p:sldId id="314" r:id="rId6"/>
    <p:sldId id="315" r:id="rId7"/>
    <p:sldId id="316" r:id="rId8"/>
    <p:sldId id="317" r:id="rId9"/>
    <p:sldId id="260" r:id="rId10"/>
    <p:sldId id="261" r:id="rId11"/>
    <p:sldId id="262" r:id="rId12"/>
    <p:sldId id="263" r:id="rId13"/>
    <p:sldId id="264" r:id="rId14"/>
    <p:sldId id="265" r:id="rId15"/>
    <p:sldId id="266" r:id="rId16"/>
    <p:sldId id="267" r:id="rId17"/>
    <p:sldId id="276" r:id="rId18"/>
    <p:sldId id="277" r:id="rId19"/>
    <p:sldId id="278" r:id="rId20"/>
    <p:sldId id="288" r:id="rId21"/>
    <p:sldId id="299" r:id="rId22"/>
    <p:sldId id="300" r:id="rId23"/>
    <p:sldId id="301" r:id="rId24"/>
    <p:sldId id="302" r:id="rId25"/>
    <p:sldId id="303" r:id="rId26"/>
    <p:sldId id="304" r:id="rId27"/>
    <p:sldId id="306" r:id="rId28"/>
    <p:sldId id="308" r:id="rId29"/>
    <p:sldId id="318"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 id="331" r:id="rId43"/>
    <p:sldId id="332" r:id="rId44"/>
    <p:sldId id="333" r:id="rId45"/>
    <p:sldId id="334" r:id="rId46"/>
    <p:sldId id="335" r:id="rId47"/>
    <p:sldId id="336" r:id="rId48"/>
    <p:sldId id="337"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02E66C-81B0-4401-8DA7-28BE2C66D841}">
  <a:tblStyle styleId="{C802E66C-81B0-4401-8DA7-28BE2C66D84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41"/>
    <p:restoredTop sz="94692"/>
  </p:normalViewPr>
  <p:slideViewPr>
    <p:cSldViewPr showGuides="1">
      <p:cViewPr varScale="1">
        <p:scale>
          <a:sx n="68" d="100"/>
          <a:sy n="68" d="100"/>
        </p:scale>
        <p:origin x="200" y="15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9358996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 name="Google Shape;5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3879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8f88b7d4_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8f88b7d4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Recap to earlier lectures?</a:t>
            </a:r>
            <a:endParaRPr/>
          </a:p>
        </p:txBody>
      </p:sp>
    </p:spTree>
    <p:extLst>
      <p:ext uri="{BB962C8B-B14F-4D97-AF65-F5344CB8AC3E}">
        <p14:creationId xmlns:p14="http://schemas.microsoft.com/office/powerpoint/2010/main" val="1384892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e99de0c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e99de0c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482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6e99de0c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6e99de0c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593088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e99de0c_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e99de0c_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0713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6e99de0c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6e99de0c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6146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6e99de0c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6e99de0c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Clipart: from tango project, public domain </a:t>
            </a:r>
            <a:endParaRPr/>
          </a:p>
        </p:txBody>
      </p:sp>
    </p:spTree>
    <p:extLst>
      <p:ext uri="{BB962C8B-B14F-4D97-AF65-F5344CB8AC3E}">
        <p14:creationId xmlns:p14="http://schemas.microsoft.com/office/powerpoint/2010/main" val="344592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6e99de0c_1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6e99de0c_1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Dart image from wikipedia</a:t>
            </a:r>
            <a:endParaRPr/>
          </a:p>
        </p:txBody>
      </p:sp>
    </p:spTree>
    <p:extLst>
      <p:ext uri="{BB962C8B-B14F-4D97-AF65-F5344CB8AC3E}">
        <p14:creationId xmlns:p14="http://schemas.microsoft.com/office/powerpoint/2010/main" val="1523746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6e99de0c_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6e99de0c_0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54295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6d983f6d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6d983f6d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635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e99de0c_1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e99de0c_1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 taken from lecture 5</a:t>
            </a:r>
            <a:endParaRPr/>
          </a:p>
        </p:txBody>
      </p:sp>
    </p:spTree>
    <p:extLst>
      <p:ext uri="{BB962C8B-B14F-4D97-AF65-F5344CB8AC3E}">
        <p14:creationId xmlns:p14="http://schemas.microsoft.com/office/powerpoint/2010/main" val="3838191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d983f6d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6d983f6d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950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6e99de0c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36e99de0c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1326022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6e99de0c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6e99de0c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8179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e99de0c_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e99de0c_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4932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6e99de0c_1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6e99de0c_1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1727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6e99de0c_1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8" name="Google Shape;608;g36e99de0c_13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1588000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6e99de0c_1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6e99de0c_1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Factory image from wikipedia</a:t>
            </a:r>
            <a:endParaRPr/>
          </a:p>
          <a:p>
            <a:pPr marL="0" lvl="0" indent="0" algn="l" rtl="0">
              <a:spcBef>
                <a:spcPts val="0"/>
              </a:spcBef>
              <a:spcAft>
                <a:spcPts val="0"/>
              </a:spcAft>
              <a:buNone/>
            </a:pPr>
            <a:r>
              <a:rPr lang="en"/>
              <a:t>Miner image from Lecture 4</a:t>
            </a:r>
            <a:endParaRPr/>
          </a:p>
        </p:txBody>
      </p:sp>
    </p:spTree>
    <p:extLst>
      <p:ext uri="{BB962C8B-B14F-4D97-AF65-F5344CB8AC3E}">
        <p14:creationId xmlns:p14="http://schemas.microsoft.com/office/powerpoint/2010/main" val="4170448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6e99de0c_1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36e99de0c_1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4739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6e99de0c_1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6e99de0c_1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6719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6e99de0c_1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36e99de0c_1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Money and Capitol icons public domain from pixabay</a:t>
            </a:r>
            <a:endParaRPr/>
          </a:p>
        </p:txBody>
      </p:sp>
    </p:spTree>
    <p:extLst>
      <p:ext uri="{BB962C8B-B14F-4D97-AF65-F5344CB8AC3E}">
        <p14:creationId xmlns:p14="http://schemas.microsoft.com/office/powerpoint/2010/main" val="1833026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36e99de0c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36e99de0c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9988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6e99de0c_10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36e99de0c_10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1585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36e99de0c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3" name="Google Shape;723;g36e99de0c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8265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2" name="Google Shape;12;p2"/>
          <p:cNvSpPr txBox="1">
            <a:spLocks noGrp="1"/>
          </p:cNvSpPr>
          <p:nvPr>
            <p:ph type="subTitle" idx="1"/>
          </p:nvPr>
        </p:nvSpPr>
        <p:spPr>
          <a:xfrm>
            <a:off x="685800" y="2840054"/>
            <a:ext cx="7772400" cy="784738"/>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457200" y="1200150"/>
            <a:ext cx="8229600"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 name="Google Shape;18;p4"/>
          <p:cNvSpPr txBox="1">
            <a:spLocks noGrp="1"/>
          </p:cNvSpPr>
          <p:nvPr>
            <p:ph type="body" idx="1"/>
          </p:nvPr>
        </p:nvSpPr>
        <p:spPr>
          <a:xfrm>
            <a:off x="457200"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19" name="Google Shape;19;p4"/>
          <p:cNvSpPr txBox="1">
            <a:spLocks noGrp="1"/>
          </p:cNvSpPr>
          <p:nvPr>
            <p:ph type="body" idx="2"/>
          </p:nvPr>
        </p:nvSpPr>
        <p:spPr>
          <a:xfrm>
            <a:off x="4692274"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6"/>
          <p:cNvSpPr txBox="1">
            <a:spLocks noGrp="1"/>
          </p:cNvSpPr>
          <p:nvPr>
            <p:ph type="body" idx="1"/>
          </p:nvPr>
        </p:nvSpPr>
        <p:spPr>
          <a:xfrm>
            <a:off x="457200" y="4406309"/>
            <a:ext cx="8229600" cy="51952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42EBA857-0D54-4C1F-94F5-706BF1092D11}" type="datetimeFigureOut">
              <a:rPr lang="en-IN" smtClean="0"/>
              <a:t>18/04/25</a:t>
            </a:fld>
            <a:endParaRPr lang="en-IN"/>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722FD7F9-C4A5-4878-A711-7AC10026AA8C}" type="slidenum">
              <a:rPr lang="en-IN" smtClean="0"/>
              <a:t>‹#›</a:t>
            </a:fld>
            <a:endParaRPr lang="en-IN"/>
          </a:p>
        </p:txBody>
      </p:sp>
    </p:spTree>
    <p:extLst>
      <p:ext uri="{BB962C8B-B14F-4D97-AF65-F5344CB8AC3E}">
        <p14:creationId xmlns:p14="http://schemas.microsoft.com/office/powerpoint/2010/main" val="109248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25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1pPr>
            <a:lvl2pPr lvl="1">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2pPr>
            <a:lvl3pPr lvl="2">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3pPr>
            <a:lvl4pPr lvl="3">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4pPr>
            <a:lvl5pPr lvl="4">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5pPr>
            <a:lvl6pPr lvl="5">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6pPr>
            <a:lvl7pPr lvl="6">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7pPr>
            <a:lvl8pPr lvl="7">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8pPr>
            <a:lvl9pPr lvl="8">
              <a:spcBef>
                <a:spcPts val="0"/>
              </a:spcBef>
              <a:spcAft>
                <a:spcPts val="0"/>
              </a:spcAft>
              <a:buClr>
                <a:schemeClr val="dk1"/>
              </a:buClr>
              <a:buSzPts val="3600"/>
              <a:buFont typeface="Trebuchet MS"/>
              <a:buNone/>
              <a:defRPr sz="3600" b="1">
                <a:solidFill>
                  <a:schemeClr val="dk1"/>
                </a:solidFill>
                <a:latin typeface="Trebuchet MS"/>
                <a:ea typeface="Trebuchet MS"/>
                <a:cs typeface="Trebuchet MS"/>
                <a:sym typeface="Trebuchet MS"/>
              </a:defRPr>
            </a:lvl9pPr>
          </a:lstStyle>
          <a:p>
            <a:endParaRPr/>
          </a:p>
        </p:txBody>
      </p:sp>
      <p:sp>
        <p:nvSpPr>
          <p:cNvPr id="7" name="Google Shape;7;p1"/>
          <p:cNvSpPr txBox="1">
            <a:spLocks noGrp="1"/>
          </p:cNvSpPr>
          <p:nvPr>
            <p:ph type="body" idx="1"/>
          </p:nvPr>
        </p:nvSpPr>
        <p:spPr>
          <a:xfrm>
            <a:off x="457200" y="1200150"/>
            <a:ext cx="8229600" cy="3725681"/>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dk1"/>
              </a:buClr>
              <a:buSzPts val="3000"/>
              <a:buFont typeface="Trebuchet MS"/>
              <a:buChar char="●"/>
              <a:defRPr sz="3000">
                <a:solidFill>
                  <a:schemeClr val="dk1"/>
                </a:solidFill>
                <a:latin typeface="Trebuchet MS"/>
                <a:ea typeface="Trebuchet MS"/>
                <a:cs typeface="Trebuchet MS"/>
                <a:sym typeface="Trebuchet MS"/>
              </a:defRPr>
            </a:lvl1pPr>
            <a:lvl2pPr marL="914400" lvl="1" indent="-381000">
              <a:spcBef>
                <a:spcPts val="0"/>
              </a:spcBef>
              <a:spcAft>
                <a:spcPts val="0"/>
              </a:spcAft>
              <a:buClr>
                <a:schemeClr val="dk1"/>
              </a:buClr>
              <a:buSzPts val="2400"/>
              <a:buFont typeface="Trebuchet MS"/>
              <a:buChar char="○"/>
              <a:defRPr sz="2400">
                <a:solidFill>
                  <a:schemeClr val="dk1"/>
                </a:solidFill>
                <a:latin typeface="Trebuchet MS"/>
                <a:ea typeface="Trebuchet MS"/>
                <a:cs typeface="Trebuchet MS"/>
                <a:sym typeface="Trebuchet MS"/>
              </a:defRPr>
            </a:lvl2pPr>
            <a:lvl3pPr marL="1371600" lvl="2" indent="-381000">
              <a:spcBef>
                <a:spcPts val="0"/>
              </a:spcBef>
              <a:spcAft>
                <a:spcPts val="0"/>
              </a:spcAft>
              <a:buClr>
                <a:schemeClr val="dk1"/>
              </a:buClr>
              <a:buSzPts val="2400"/>
              <a:buFont typeface="Trebuchet MS"/>
              <a:buChar char="■"/>
              <a:defRPr sz="2400">
                <a:solidFill>
                  <a:schemeClr val="dk1"/>
                </a:solidFill>
                <a:latin typeface="Trebuchet MS"/>
                <a:ea typeface="Trebuchet MS"/>
                <a:cs typeface="Trebuchet MS"/>
                <a:sym typeface="Trebuchet MS"/>
              </a:defRPr>
            </a:lvl3pPr>
            <a:lvl4pPr marL="1828800" lvl="3"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4pPr>
            <a:lvl5pPr marL="2286000" lvl="4"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5pPr>
            <a:lvl6pPr marL="2743200" lvl="5"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6pPr>
            <a:lvl7pPr marL="3200400" lvl="6"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7pPr>
            <a:lvl8pPr marL="3657600" lvl="7"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8pPr>
            <a:lvl9pPr marL="4114800" lvl="8" indent="-342900">
              <a:spcBef>
                <a:spcPts val="0"/>
              </a:spcBef>
              <a:spcAft>
                <a:spcPts val="0"/>
              </a:spcAft>
              <a:buClr>
                <a:schemeClr val="dk1"/>
              </a:buClr>
              <a:buSzPts val="1800"/>
              <a:buFont typeface="Trebuchet MS"/>
              <a:buChar char="■"/>
              <a:defRPr sz="1800">
                <a:solidFill>
                  <a:schemeClr val="dk1"/>
                </a:solidFill>
                <a:latin typeface="Trebuchet MS"/>
                <a:ea typeface="Trebuchet MS"/>
                <a:cs typeface="Trebuchet MS"/>
                <a:sym typeface="Trebuchet MS"/>
              </a:defRPr>
            </a:lvl9pPr>
          </a:lstStyle>
          <a:p>
            <a:endParaRPr/>
          </a:p>
        </p:txBody>
      </p:sp>
      <p:sp>
        <p:nvSpPr>
          <p:cNvPr id="8" name="Google Shape;8;p1"/>
          <p:cNvSpPr/>
          <p:nvPr/>
        </p:nvSpPr>
        <p:spPr>
          <a:xfrm>
            <a:off x="9124900" y="-2575"/>
            <a:ext cx="95400" cy="5143500"/>
          </a:xfrm>
          <a:prstGeom prst="rec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9029500" y="0"/>
            <a:ext cx="95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62"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6"/>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latin typeface="Trebuchet MS"/>
              <a:ea typeface="Trebuchet MS"/>
              <a:cs typeface="Trebuchet MS"/>
              <a:sym typeface="Trebuchet MS"/>
            </a:endParaRPr>
          </a:p>
        </p:txBody>
      </p:sp>
      <p:sp>
        <p:nvSpPr>
          <p:cNvPr id="54" name="Google Shape;54;p16"/>
          <p:cNvSpPr txBox="1">
            <a:spLocks noGrp="1"/>
          </p:cNvSpPr>
          <p:nvPr>
            <p:ph type="subTitle" idx="1"/>
          </p:nvPr>
        </p:nvSpPr>
        <p:spPr>
          <a:xfrm>
            <a:off x="685800" y="2840054"/>
            <a:ext cx="7772400" cy="78473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Mining Puzzles</a:t>
            </a:r>
            <a:endParaRPr>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Puzzles are the core of Bitcoin</a:t>
            </a:r>
            <a:endParaRPr>
              <a:latin typeface="Trebuchet MS"/>
              <a:ea typeface="Trebuchet MS"/>
              <a:cs typeface="Trebuchet MS"/>
              <a:sym typeface="Trebuchet MS"/>
            </a:endParaRPr>
          </a:p>
        </p:txBody>
      </p:sp>
      <p:sp>
        <p:nvSpPr>
          <p:cNvPr id="60" name="Google Shape;60;p17"/>
          <p:cNvSpPr txBox="1">
            <a:spLocks noGrp="1"/>
          </p:cNvSpPr>
          <p:nvPr>
            <p:ph type="body" idx="1"/>
          </p:nvPr>
        </p:nvSpPr>
        <p:spPr>
          <a:xfrm>
            <a:off x="457200" y="1047750"/>
            <a:ext cx="8229600" cy="37257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Incentive system steers participants</a:t>
            </a:r>
            <a:endParaRPr/>
          </a:p>
          <a:p>
            <a:pPr marL="0" lvl="0" indent="0" algn="l" rtl="0">
              <a:spcBef>
                <a:spcPts val="0"/>
              </a:spcBef>
              <a:spcAft>
                <a:spcPts val="0"/>
              </a:spcAft>
              <a:buNone/>
            </a:pPr>
            <a:endParaRPr sz="2400" b="1">
              <a:latin typeface="Courier New"/>
              <a:ea typeface="Courier New"/>
              <a:cs typeface="Courier New"/>
              <a:sym typeface="Courier New"/>
            </a:endParaRPr>
          </a:p>
          <a:p>
            <a:pPr marL="457200" lvl="0" indent="-419100" algn="l" rtl="0">
              <a:spcBef>
                <a:spcPts val="600"/>
              </a:spcBef>
              <a:spcAft>
                <a:spcPts val="0"/>
              </a:spcAft>
              <a:buSzPts val="3000"/>
              <a:buChar char="●"/>
            </a:pPr>
            <a:r>
              <a:rPr lang="en"/>
              <a:t>Basic features of Bitcoin’s puzzle (recap)</a:t>
            </a:r>
            <a:endParaRPr/>
          </a:p>
          <a:p>
            <a:pPr marL="0" lvl="0" indent="457200" algn="l" rtl="0">
              <a:spcBef>
                <a:spcPts val="600"/>
              </a:spcBef>
              <a:spcAft>
                <a:spcPts val="0"/>
              </a:spcAft>
              <a:buNone/>
            </a:pPr>
            <a:r>
              <a:rPr lang="en" sz="2400"/>
              <a:t>The puzzle is difficult to solve, so attacks are costly</a:t>
            </a:r>
            <a:endParaRPr sz="2400"/>
          </a:p>
          <a:p>
            <a:pPr marL="457200" lvl="0" indent="0" algn="l" rtl="0">
              <a:spcBef>
                <a:spcPts val="600"/>
              </a:spcBef>
              <a:spcAft>
                <a:spcPts val="0"/>
              </a:spcAft>
              <a:buNone/>
            </a:pPr>
            <a:r>
              <a:rPr lang="en" sz="2400"/>
              <a:t>… but not too hard, so honest miners are compensated</a:t>
            </a:r>
            <a:endParaRPr sz="2400"/>
          </a:p>
          <a:p>
            <a:pPr marL="457200" lvl="0" indent="0" algn="l" rtl="0">
              <a:spcBef>
                <a:spcPts val="600"/>
              </a:spcBef>
              <a:spcAft>
                <a:spcPts val="0"/>
              </a:spcAft>
              <a:buNone/>
            </a:pPr>
            <a:endParaRPr sz="2400"/>
          </a:p>
          <a:p>
            <a:pPr marL="457200" lvl="0" indent="457200" algn="l" rtl="0">
              <a:spcBef>
                <a:spcPts val="0"/>
              </a:spcBef>
              <a:spcAft>
                <a:spcPts val="0"/>
              </a:spcAft>
              <a:buNone/>
            </a:pPr>
            <a:endParaRPr sz="800" b="1">
              <a:latin typeface="Courier New"/>
              <a:ea typeface="Courier New"/>
              <a:cs typeface="Courier New"/>
              <a:sym typeface="Courier New"/>
            </a:endParaRPr>
          </a:p>
          <a:p>
            <a:pPr marL="457200" lvl="0" indent="-419100" algn="l" rtl="0">
              <a:spcBef>
                <a:spcPts val="600"/>
              </a:spcBef>
              <a:spcAft>
                <a:spcPts val="0"/>
              </a:spcAft>
              <a:buSzPts val="3000"/>
              <a:buChar char="●"/>
            </a:pPr>
            <a:r>
              <a:rPr lang="en"/>
              <a:t>What other features could a puzzle have?</a:t>
            </a:r>
            <a:endParaRPr sz="2400"/>
          </a:p>
          <a:p>
            <a:pPr marL="0" lvl="0" indent="0" algn="l" rtl="0">
              <a:spcBef>
                <a:spcPts val="6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Alternative puzzle designs</a:t>
            </a:r>
            <a:endParaRPr/>
          </a:p>
          <a:p>
            <a:pPr marL="0" lvl="0" indent="0" algn="l" rtl="0">
              <a:spcBef>
                <a:spcPts val="600"/>
              </a:spcBef>
              <a:spcAft>
                <a:spcPts val="0"/>
              </a:spcAft>
              <a:buNone/>
            </a:pPr>
            <a:r>
              <a:rPr lang="en"/>
              <a:t>		</a:t>
            </a:r>
            <a:r>
              <a:rPr lang="en" sz="2400"/>
              <a:t>Used in practice, and speculative</a:t>
            </a:r>
            <a:endParaRPr sz="2400"/>
          </a:p>
          <a:p>
            <a:pPr marL="0" lvl="0" indent="0" algn="l" rtl="0">
              <a:spcBef>
                <a:spcPts val="600"/>
              </a:spcBef>
              <a:spcAft>
                <a:spcPts val="0"/>
              </a:spcAft>
              <a:buNone/>
            </a:pPr>
            <a:endParaRPr sz="2400"/>
          </a:p>
          <a:p>
            <a:pPr marL="457200" lvl="0" indent="-419100" algn="l" rtl="0">
              <a:spcBef>
                <a:spcPts val="600"/>
              </a:spcBef>
              <a:spcAft>
                <a:spcPts val="0"/>
              </a:spcAft>
              <a:buSzPts val="3000"/>
              <a:buChar char="●"/>
            </a:pPr>
            <a:r>
              <a:rPr lang="en"/>
              <a:t>Variety of possible goals</a:t>
            </a:r>
            <a:endParaRPr/>
          </a:p>
          <a:p>
            <a:pPr marL="457200" lvl="0" indent="0" algn="l" rtl="0">
              <a:spcBef>
                <a:spcPts val="600"/>
              </a:spcBef>
              <a:spcAft>
                <a:spcPts val="0"/>
              </a:spcAft>
              <a:buNone/>
            </a:pPr>
            <a:r>
              <a:rPr lang="en" sz="2400"/>
              <a:t>ASIC resistance, pool resistance, intrinsic benefits... </a:t>
            </a:r>
            <a:endParaRPr sz="2400"/>
          </a:p>
          <a:p>
            <a:pPr marL="0" lvl="0" indent="0" algn="l" rtl="0">
              <a:spcBef>
                <a:spcPts val="600"/>
              </a:spcBef>
              <a:spcAft>
                <a:spcPts val="0"/>
              </a:spcAft>
              <a:buNone/>
            </a:pPr>
            <a:endParaRPr/>
          </a:p>
          <a:p>
            <a:pPr marL="457200" lvl="0" indent="-419100" algn="l" rtl="0">
              <a:spcBef>
                <a:spcPts val="600"/>
              </a:spcBef>
              <a:spcAft>
                <a:spcPts val="0"/>
              </a:spcAft>
              <a:buSzPts val="3000"/>
              <a:buChar char="●"/>
            </a:pPr>
            <a:r>
              <a:rPr lang="en"/>
              <a:t>Essential security requirements</a:t>
            </a:r>
            <a:endParaRPr/>
          </a:p>
        </p:txBody>
      </p:sp>
      <p:sp>
        <p:nvSpPr>
          <p:cNvPr id="66" name="Google Shape;66;p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9"/>
          <p:cNvSpPr txBox="1">
            <a:spLocks noGrp="1"/>
          </p:cNvSpPr>
          <p:nvPr>
            <p:ph type="subTitle" idx="1"/>
          </p:nvPr>
        </p:nvSpPr>
        <p:spPr>
          <a:xfrm>
            <a:off x="685800" y="1690471"/>
            <a:ext cx="7772400" cy="172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Font typeface="Trebuchet MS"/>
              <a:buNone/>
            </a:pPr>
            <a:endParaRPr sz="3000" b="0" i="0" u="none" strike="noStrike" cap="none" dirty="0">
              <a:solidFill>
                <a:schemeClr val="dk2"/>
              </a:solidFill>
              <a:latin typeface="Trebuchet MS"/>
              <a:ea typeface="Trebuchet MS"/>
              <a:cs typeface="Trebuchet MS"/>
              <a:sym typeface="Trebuchet MS"/>
            </a:endParaRPr>
          </a:p>
          <a:p>
            <a:pPr marL="0" marR="0" lvl="0" indent="0" algn="ctr" rtl="0">
              <a:lnSpc>
                <a:spcPct val="100000"/>
              </a:lnSpc>
              <a:spcBef>
                <a:spcPts val="0"/>
              </a:spcBef>
              <a:spcAft>
                <a:spcPts val="0"/>
              </a:spcAft>
              <a:buClr>
                <a:schemeClr val="dk2"/>
              </a:buClr>
              <a:buFont typeface="Trebuchet MS"/>
              <a:buNone/>
            </a:pPr>
            <a:r>
              <a:rPr lang="en" dirty="0"/>
              <a:t>Essential Puzzle Requirements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09550"/>
            <a:ext cx="8229600" cy="4716281"/>
          </a:xfrm>
        </p:spPr>
        <p:txBody>
          <a:bodyPr/>
          <a:lstStyle/>
          <a:p>
            <a:pPr marL="38100" indent="0">
              <a:buNone/>
            </a:pPr>
            <a:r>
              <a:rPr lang="en-IN" sz="1800" b="1" dirty="0"/>
              <a:t>ASIC-Resistant Puzzles</a:t>
            </a:r>
          </a:p>
          <a:p>
            <a:pPr marL="38100" indent="0">
              <a:buNone/>
            </a:pPr>
            <a:r>
              <a:rPr lang="en-IN" sz="1800" b="1" dirty="0"/>
              <a:t>a. Motivation:</a:t>
            </a:r>
          </a:p>
          <a:p>
            <a:r>
              <a:rPr lang="en-IN" sz="1800" dirty="0"/>
              <a:t>ASICs dominate mining due to their efficiency.</a:t>
            </a:r>
          </a:p>
          <a:p>
            <a:r>
              <a:rPr lang="en-IN" sz="1800" dirty="0"/>
              <a:t>Level the field so general-purpose computers can participate.</a:t>
            </a:r>
          </a:p>
          <a:p>
            <a:pPr marL="38100" indent="0">
              <a:buNone/>
            </a:pPr>
            <a:r>
              <a:rPr lang="en-IN" sz="1800" b="1" dirty="0"/>
              <a:t>b. Memory-Hard Puzzles</a:t>
            </a:r>
          </a:p>
          <a:p>
            <a:r>
              <a:rPr lang="en-IN" sz="1800" dirty="0"/>
              <a:t>Require significant RAM rather than just CPU.</a:t>
            </a:r>
          </a:p>
          <a:p>
            <a:r>
              <a:rPr lang="en-IN" sz="1800" b="1" dirty="0"/>
              <a:t>Memory-bound:</a:t>
            </a:r>
            <a:r>
              <a:rPr lang="en-IN" sz="1800" dirty="0"/>
              <a:t> Time to access memory dominates compute time.</a:t>
            </a:r>
          </a:p>
          <a:p>
            <a:pPr marL="38100" indent="0">
              <a:buNone/>
            </a:pPr>
            <a:r>
              <a:rPr lang="en-IN" sz="1800" b="1" dirty="0"/>
              <a:t>c. </a:t>
            </a:r>
            <a:r>
              <a:rPr lang="en-IN" sz="1800" b="1" dirty="0" err="1"/>
              <a:t>Scrypt</a:t>
            </a:r>
            <a:endParaRPr lang="en-IN" sz="1800" b="1" dirty="0"/>
          </a:p>
          <a:p>
            <a:r>
              <a:rPr lang="en-IN" sz="1800" dirty="0"/>
              <a:t>Used in </a:t>
            </a:r>
            <a:r>
              <a:rPr lang="en-IN" sz="1800" b="1" dirty="0" err="1"/>
              <a:t>Litecoin</a:t>
            </a:r>
            <a:r>
              <a:rPr lang="en-IN" sz="1800" dirty="0"/>
              <a:t>.</a:t>
            </a:r>
          </a:p>
          <a:p>
            <a:r>
              <a:rPr lang="en-IN" sz="1800" dirty="0"/>
              <a:t>Originally a password-hashing function.</a:t>
            </a:r>
          </a:p>
          <a:p>
            <a:r>
              <a:rPr lang="en-IN" sz="1800" dirty="0"/>
              <a:t>Two Steps:</a:t>
            </a:r>
          </a:p>
          <a:p>
            <a:pPr lvl="1"/>
            <a:r>
              <a:rPr lang="en-IN" sz="1800" dirty="0"/>
              <a:t>Fill a buffer with pseudorandom data.</a:t>
            </a:r>
          </a:p>
          <a:p>
            <a:pPr lvl="1"/>
            <a:r>
              <a:rPr lang="en-IN" sz="1800" dirty="0"/>
              <a:t>Access it in pseudorandom order.</a:t>
            </a:r>
          </a:p>
          <a:p>
            <a:pPr marL="38100" indent="0">
              <a:buNone/>
            </a:pPr>
            <a:endParaRPr lang="en-IN" sz="1800" dirty="0"/>
          </a:p>
        </p:txBody>
      </p:sp>
    </p:spTree>
    <p:extLst>
      <p:ext uri="{BB962C8B-B14F-4D97-AF65-F5344CB8AC3E}">
        <p14:creationId xmlns:p14="http://schemas.microsoft.com/office/powerpoint/2010/main" val="1226087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33350"/>
            <a:ext cx="8229600" cy="4792481"/>
          </a:xfrm>
        </p:spPr>
        <p:txBody>
          <a:bodyPr/>
          <a:lstStyle/>
          <a:p>
            <a:pPr marL="38100" indent="0">
              <a:buNone/>
            </a:pPr>
            <a:r>
              <a:rPr lang="en-IN" sz="1800" dirty="0"/>
              <a:t>Memory-use makes </a:t>
            </a:r>
            <a:r>
              <a:rPr lang="en-IN" sz="1800" dirty="0" err="1"/>
              <a:t>recomputing</a:t>
            </a:r>
            <a:r>
              <a:rPr lang="en-IN" sz="1800" dirty="0"/>
              <a:t> expensive (O(N^2) if no buffer).</a:t>
            </a:r>
          </a:p>
          <a:p>
            <a:pPr marL="38100" indent="0">
              <a:buNone/>
            </a:pPr>
            <a:r>
              <a:rPr lang="en-IN" sz="1800" dirty="0" err="1"/>
              <a:t>Tradeoffs</a:t>
            </a:r>
            <a:r>
              <a:rPr lang="en-IN" sz="1800" dirty="0"/>
              <a:t> exist between time and memory.</a:t>
            </a:r>
          </a:p>
          <a:p>
            <a:pPr marL="38100" indent="0">
              <a:buNone/>
            </a:pPr>
            <a:r>
              <a:rPr lang="en-IN" sz="1800" b="1" dirty="0"/>
              <a:t>d. Limitations:</a:t>
            </a:r>
          </a:p>
          <a:p>
            <a:pPr>
              <a:buFont typeface="Arial" panose="020B0604020202020204" pitchFamily="34" charset="0"/>
              <a:buChar char="•"/>
            </a:pPr>
            <a:r>
              <a:rPr lang="en-IN" sz="1800" dirty="0"/>
              <a:t>Verification is also memory-intensive.</a:t>
            </a:r>
          </a:p>
          <a:p>
            <a:pPr>
              <a:buFont typeface="Arial" panose="020B0604020202020204" pitchFamily="34" charset="0"/>
              <a:buChar char="•"/>
            </a:pPr>
            <a:r>
              <a:rPr lang="en-IN" sz="1800" dirty="0" err="1"/>
              <a:t>Litecoin</a:t>
            </a:r>
            <a:r>
              <a:rPr lang="en-IN" sz="1800" dirty="0"/>
              <a:t> used low memory values (128KB), making ASICs feasible.</a:t>
            </a:r>
          </a:p>
          <a:p>
            <a:pPr marL="38100" indent="0">
              <a:buNone/>
            </a:pPr>
            <a:r>
              <a:rPr lang="en-IN" sz="1800" b="1" dirty="0"/>
              <a:t>e. Other ASIC-Resistance Approaches</a:t>
            </a:r>
          </a:p>
          <a:p>
            <a:pPr>
              <a:buFont typeface="Arial" panose="020B0604020202020204" pitchFamily="34" charset="0"/>
              <a:buChar char="•"/>
            </a:pPr>
            <a:r>
              <a:rPr lang="en-IN" sz="1800" b="1" dirty="0"/>
              <a:t>X11 (used in DASH): Combines 11 hash fu</a:t>
            </a:r>
            <a:r>
              <a:rPr lang="en-IN" sz="1800" dirty="0"/>
              <a:t>nctions.</a:t>
            </a:r>
          </a:p>
          <a:p>
            <a:pPr>
              <a:buFont typeface="Arial" panose="020B0604020202020204" pitchFamily="34" charset="0"/>
              <a:buChar char="•"/>
            </a:pPr>
            <a:r>
              <a:rPr lang="en-IN" sz="1800" dirty="0"/>
              <a:t>Cuckoo Cycle: Graph-based, memory-hard but easier to verify.</a:t>
            </a:r>
          </a:p>
        </p:txBody>
      </p:sp>
    </p:spTree>
    <p:extLst>
      <p:ext uri="{BB962C8B-B14F-4D97-AF65-F5344CB8AC3E}">
        <p14:creationId xmlns:p14="http://schemas.microsoft.com/office/powerpoint/2010/main" val="591388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sz="2800" dirty="0"/>
            </a:br>
            <a:br>
              <a:rPr lang="en-IN" sz="2800" dirty="0"/>
            </a:br>
            <a:r>
              <a:rPr lang="en-IN" sz="2800" dirty="0"/>
              <a:t>Proof-of-Useful-Work</a:t>
            </a:r>
            <a:br>
              <a:rPr lang="en-IN" sz="2800" dirty="0"/>
            </a:br>
            <a:endParaRPr lang="en-IN" sz="2800" dirty="0"/>
          </a:p>
        </p:txBody>
      </p:sp>
      <p:sp>
        <p:nvSpPr>
          <p:cNvPr id="3" name="Text Placeholder 2"/>
          <p:cNvSpPr>
            <a:spLocks noGrp="1"/>
          </p:cNvSpPr>
          <p:nvPr>
            <p:ph type="body" idx="1"/>
          </p:nvPr>
        </p:nvSpPr>
        <p:spPr>
          <a:xfrm>
            <a:off x="457200" y="590550"/>
            <a:ext cx="8229600" cy="4335281"/>
          </a:xfrm>
        </p:spPr>
        <p:txBody>
          <a:bodyPr/>
          <a:lstStyle/>
          <a:p>
            <a:pPr>
              <a:buFont typeface="Arial" panose="020B0604020202020204" pitchFamily="34" charset="0"/>
              <a:buChar char="•"/>
            </a:pPr>
            <a:r>
              <a:rPr lang="en-IN" dirty="0"/>
              <a:t>Use mining power for socially beneficial tasks</a:t>
            </a:r>
          </a:p>
          <a:p>
            <a:pPr marL="38100" indent="0">
              <a:buNone/>
            </a:pPr>
            <a:endParaRPr lang="en-IN" dirty="0"/>
          </a:p>
        </p:txBody>
      </p:sp>
      <p:pic>
        <p:nvPicPr>
          <p:cNvPr id="4" name="Picture 3"/>
          <p:cNvPicPr>
            <a:picLocks noChangeAspect="1"/>
          </p:cNvPicPr>
          <p:nvPr/>
        </p:nvPicPr>
        <p:blipFill>
          <a:blip r:embed="rId2"/>
          <a:stretch>
            <a:fillRect/>
          </a:stretch>
        </p:blipFill>
        <p:spPr>
          <a:xfrm>
            <a:off x="838200" y="1733550"/>
            <a:ext cx="5219700" cy="2133600"/>
          </a:xfrm>
          <a:prstGeom prst="rect">
            <a:avLst/>
          </a:prstGeom>
        </p:spPr>
      </p:pic>
    </p:spTree>
    <p:extLst>
      <p:ext uri="{BB962C8B-B14F-4D97-AF65-F5344CB8AC3E}">
        <p14:creationId xmlns:p14="http://schemas.microsoft.com/office/powerpoint/2010/main" val="1692428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Picture 3"/>
          <p:cNvPicPr>
            <a:picLocks noChangeAspect="1"/>
          </p:cNvPicPr>
          <p:nvPr/>
        </p:nvPicPr>
        <p:blipFill>
          <a:blip r:embed="rId2"/>
          <a:stretch>
            <a:fillRect/>
          </a:stretch>
        </p:blipFill>
        <p:spPr>
          <a:xfrm>
            <a:off x="609600" y="361949"/>
            <a:ext cx="5410200" cy="2908491"/>
          </a:xfrm>
          <a:prstGeom prst="rect">
            <a:avLst/>
          </a:prstGeom>
        </p:spPr>
      </p:pic>
      <p:pic>
        <p:nvPicPr>
          <p:cNvPr id="5" name="Picture 4"/>
          <p:cNvPicPr>
            <a:picLocks noChangeAspect="1"/>
          </p:cNvPicPr>
          <p:nvPr/>
        </p:nvPicPr>
        <p:blipFill>
          <a:blip r:embed="rId3"/>
          <a:stretch>
            <a:fillRect/>
          </a:stretch>
        </p:blipFill>
        <p:spPr>
          <a:xfrm>
            <a:off x="609600" y="3181350"/>
            <a:ext cx="4514850" cy="1514475"/>
          </a:xfrm>
          <a:prstGeom prst="rect">
            <a:avLst/>
          </a:prstGeom>
        </p:spPr>
      </p:pic>
    </p:spTree>
    <p:extLst>
      <p:ext uri="{BB962C8B-B14F-4D97-AF65-F5344CB8AC3E}">
        <p14:creationId xmlns:p14="http://schemas.microsoft.com/office/powerpoint/2010/main" val="2932219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0"/>
          <p:cNvSpPr/>
          <p:nvPr/>
        </p:nvSpPr>
        <p:spPr>
          <a:xfrm>
            <a:off x="375050" y="3006325"/>
            <a:ext cx="8133300" cy="1612200"/>
          </a:xfrm>
          <a:prstGeom prst="roundRect">
            <a:avLst>
              <a:gd name="adj" fmla="val 16667"/>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Puzzle requirements</a:t>
            </a:r>
            <a:endParaRPr/>
          </a:p>
        </p:txBody>
      </p:sp>
      <p:sp>
        <p:nvSpPr>
          <p:cNvPr id="78" name="Google Shape;78;p20"/>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 Cheap to Verify</a:t>
            </a:r>
            <a:endParaRPr sz="2400"/>
          </a:p>
          <a:p>
            <a:pPr marL="0" lvl="0" indent="0" algn="l" rtl="0">
              <a:spcBef>
                <a:spcPts val="600"/>
              </a:spcBef>
              <a:spcAft>
                <a:spcPts val="0"/>
              </a:spcAft>
              <a:buNone/>
            </a:pPr>
            <a:r>
              <a:rPr lang="en" sz="2400"/>
              <a:t>- Adjustable difficulty</a:t>
            </a:r>
            <a:endParaRPr sz="2400"/>
          </a:p>
          <a:p>
            <a:pPr marL="0" lvl="0" indent="0" algn="l" rtl="0">
              <a:spcBef>
                <a:spcPts val="600"/>
              </a:spcBef>
              <a:spcAft>
                <a:spcPts val="0"/>
              </a:spcAft>
              <a:buNone/>
            </a:pPr>
            <a:r>
              <a:rPr lang="en" sz="2400"/>
              <a:t>…</a:t>
            </a:r>
            <a:endParaRPr sz="2400"/>
          </a:p>
          <a:p>
            <a:pPr marL="0" lvl="0" indent="0" algn="l" rtl="0">
              <a:spcBef>
                <a:spcPts val="600"/>
              </a:spcBef>
              <a:spcAft>
                <a:spcPts val="0"/>
              </a:spcAft>
              <a:buNone/>
            </a:pPr>
            <a:endParaRPr sz="2400"/>
          </a:p>
          <a:p>
            <a:pPr marL="0" lvl="0" indent="0" algn="l" rtl="0">
              <a:spcBef>
                <a:spcPts val="600"/>
              </a:spcBef>
              <a:spcAft>
                <a:spcPts val="0"/>
              </a:spcAft>
              <a:buNone/>
            </a:pPr>
            <a:r>
              <a:rPr lang="en" sz="2400"/>
              <a:t>- Chance of winning is proportional to hashpower</a:t>
            </a:r>
            <a:endParaRPr sz="2400"/>
          </a:p>
          <a:p>
            <a:pPr marL="0" lvl="0" indent="0" algn="l" rtl="0">
              <a:spcBef>
                <a:spcPts val="600"/>
              </a:spcBef>
              <a:spcAft>
                <a:spcPts val="0"/>
              </a:spcAft>
              <a:buNone/>
            </a:pPr>
            <a:r>
              <a:rPr lang="en" sz="2400"/>
              <a:t>	- Large players get only proportional advantage</a:t>
            </a:r>
            <a:endParaRPr sz="2400"/>
          </a:p>
          <a:p>
            <a:pPr marL="0" lvl="0" indent="0" algn="l" rtl="0">
              <a:spcBef>
                <a:spcPts val="600"/>
              </a:spcBef>
              <a:spcAft>
                <a:spcPts val="0"/>
              </a:spcAft>
              <a:buNone/>
            </a:pPr>
            <a:r>
              <a:rPr lang="en" sz="2400"/>
              <a:t>	- Even small players get proportional compensation</a:t>
            </a:r>
            <a:endParaRPr sz="2400"/>
          </a:p>
          <a:p>
            <a:pPr marL="0" lvl="0" indent="0" algn="l" rtl="0">
              <a:spcBef>
                <a:spcPts val="600"/>
              </a:spcBef>
              <a:spcAft>
                <a:spcPts val="0"/>
              </a:spcAft>
              <a:buNone/>
            </a:pPr>
            <a:endParaRPr sz="2400"/>
          </a:p>
          <a:p>
            <a:pPr marL="0" lvl="0" indent="0" algn="l" rtl="0">
              <a:spcBef>
                <a:spcPts val="600"/>
              </a:spcBef>
              <a:spcAft>
                <a:spcPts val="0"/>
              </a:spcAft>
              <a:buNone/>
            </a:pP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Bad puzzle: a sequential puzzle</a:t>
            </a:r>
            <a:endParaRPr/>
          </a:p>
        </p:txBody>
      </p:sp>
      <p:sp>
        <p:nvSpPr>
          <p:cNvPr id="84" name="Google Shape;84;p2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Consider a puzzle that takes N steps to solve</a:t>
            </a:r>
            <a:endParaRPr/>
          </a:p>
          <a:p>
            <a:pPr marL="0" lvl="0" indent="0" algn="l" rtl="0">
              <a:spcBef>
                <a:spcPts val="600"/>
              </a:spcBef>
              <a:spcAft>
                <a:spcPts val="0"/>
              </a:spcAft>
              <a:buNone/>
            </a:pPr>
            <a:r>
              <a:rPr lang="en"/>
              <a:t>          a “Sequential” Proof of Work</a:t>
            </a:r>
            <a:endParaRPr/>
          </a:p>
        </p:txBody>
      </p:sp>
      <p:pic>
        <p:nvPicPr>
          <p:cNvPr id="85" name="Google Shape;85;p21"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3">
            <a:alphaModFix/>
          </a:blip>
          <a:stretch>
            <a:fillRect/>
          </a:stretch>
        </p:blipFill>
        <p:spPr>
          <a:xfrm>
            <a:off x="1311425" y="3069700"/>
            <a:ext cx="815998" cy="815988"/>
          </a:xfrm>
          <a:prstGeom prst="rect">
            <a:avLst/>
          </a:prstGeom>
          <a:noFill/>
          <a:ln>
            <a:noFill/>
          </a:ln>
        </p:spPr>
      </p:pic>
      <p:cxnSp>
        <p:nvCxnSpPr>
          <p:cNvPr id="86" name="Google Shape;86;p21"/>
          <p:cNvCxnSpPr/>
          <p:nvPr/>
        </p:nvCxnSpPr>
        <p:spPr>
          <a:xfrm>
            <a:off x="2527700" y="3611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87" name="Google Shape;87;p21"/>
          <p:cNvCxnSpPr/>
          <p:nvPr/>
        </p:nvCxnSpPr>
        <p:spPr>
          <a:xfrm>
            <a:off x="3137300" y="3611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88" name="Google Shape;88;p21"/>
          <p:cNvCxnSpPr/>
          <p:nvPr/>
        </p:nvCxnSpPr>
        <p:spPr>
          <a:xfrm>
            <a:off x="3746900" y="3611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89" name="Google Shape;89;p21"/>
          <p:cNvCxnSpPr/>
          <p:nvPr/>
        </p:nvCxnSpPr>
        <p:spPr>
          <a:xfrm>
            <a:off x="4356500" y="3611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90" name="Google Shape;90;p21"/>
          <p:cNvCxnSpPr/>
          <p:nvPr/>
        </p:nvCxnSpPr>
        <p:spPr>
          <a:xfrm>
            <a:off x="4966100" y="3611175"/>
            <a:ext cx="632100" cy="0"/>
          </a:xfrm>
          <a:prstGeom prst="straightConnector1">
            <a:avLst/>
          </a:prstGeom>
          <a:noFill/>
          <a:ln w="19050" cap="flat" cmpd="sng">
            <a:solidFill>
              <a:schemeClr val="dk2"/>
            </a:solidFill>
            <a:prstDash val="solid"/>
            <a:round/>
            <a:headEnd type="none" w="med" len="med"/>
            <a:tailEnd type="triangle" w="med" len="med"/>
          </a:ln>
        </p:spPr>
      </p:cxnSp>
      <p:sp>
        <p:nvSpPr>
          <p:cNvPr id="91" name="Google Shape;91;p21"/>
          <p:cNvSpPr/>
          <p:nvPr/>
        </p:nvSpPr>
        <p:spPr>
          <a:xfrm>
            <a:off x="5795975" y="3263500"/>
            <a:ext cx="632124" cy="632124"/>
          </a:xfrm>
          <a:prstGeom prst="irregularSeal1">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txBox="1"/>
          <p:nvPr/>
        </p:nvSpPr>
        <p:spPr>
          <a:xfrm>
            <a:off x="6511525" y="3383750"/>
            <a:ext cx="1534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Solution Found!</a:t>
            </a:r>
            <a:endParaRPr/>
          </a:p>
        </p:txBody>
      </p:sp>
      <p:sp>
        <p:nvSpPr>
          <p:cNvPr id="93" name="Google Shape;93;p21"/>
          <p:cNvSpPr/>
          <p:nvPr/>
        </p:nvSpPr>
        <p:spPr>
          <a:xfrm rot="5400000">
            <a:off x="3952925" y="1481250"/>
            <a:ext cx="226200" cy="3076500"/>
          </a:xfrm>
          <a:prstGeom prst="lef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1"/>
          <p:cNvSpPr txBox="1"/>
          <p:nvPr/>
        </p:nvSpPr>
        <p:spPr>
          <a:xfrm>
            <a:off x="3871925" y="2471750"/>
            <a:ext cx="2214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t>N</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1000"/>
                                        <p:tgtEl>
                                          <p:spTgt spid="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fade">
                                      <p:cBhvr>
                                        <p:cTn id="17" dur="10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fade">
                                      <p:cBhvr>
                                        <p:cTn id="22" dur="10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fade">
                                      <p:cBhvr>
                                        <p:cTn id="27" dur="1000"/>
                                        <p:tgtEl>
                                          <p:spTgt spid="90"/>
                                        </p:tgtEl>
                                      </p:cBhvr>
                                    </p:animEffect>
                                  </p:childTnLst>
                                </p:cTn>
                              </p:par>
                              <p:par>
                                <p:cTn id="28" presetID="10" presetClass="entr" presetSubtype="0" fill="hold" nodeType="with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1000"/>
                                        <p:tgtEl>
                                          <p:spTgt spid="91"/>
                                        </p:tgtEl>
                                      </p:cBhvr>
                                    </p:animEffect>
                                  </p:childTnLst>
                                </p:cTn>
                              </p:par>
                              <p:par>
                                <p:cTn id="31" presetID="10" presetClass="entr" presetSubtype="0" fill="hold" nodeType="with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fade">
                                      <p:cBhvr>
                                        <p:cTn id="33" dur="1000"/>
                                        <p:tgtEl>
                                          <p:spTgt spid="9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fade">
                                      <p:cBhvr>
                                        <p:cTn id="38" dur="1000"/>
                                        <p:tgtEl>
                                          <p:spTgt spid="93"/>
                                        </p:tgtEl>
                                      </p:cBhvr>
                                    </p:animEffect>
                                  </p:childTnLst>
                                </p:cTn>
                              </p:par>
                              <p:par>
                                <p:cTn id="39" presetID="10" presetClass="entr" presetSubtype="0" fill="hold" nodeType="withEffect">
                                  <p:stCondLst>
                                    <p:cond delay="0"/>
                                  </p:stCondLst>
                                  <p:childTnLst>
                                    <p:set>
                                      <p:cBhvr>
                                        <p:cTn id="40" dur="1" fill="hold">
                                          <p:stCondLst>
                                            <p:cond delay="0"/>
                                          </p:stCondLst>
                                        </p:cTn>
                                        <p:tgtEl>
                                          <p:spTgt spid="94"/>
                                        </p:tgtEl>
                                        <p:attrNameLst>
                                          <p:attrName>style.visibility</p:attrName>
                                        </p:attrNameLst>
                                      </p:cBhvr>
                                      <p:to>
                                        <p:strVal val="visible"/>
                                      </p:to>
                                    </p:set>
                                    <p:animEffect transition="in" filter="fade">
                                      <p:cBhvr>
                                        <p:cTn id="41"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Problem: fastest miner </a:t>
            </a:r>
            <a:r>
              <a:rPr lang="en" b="1"/>
              <a:t>always</a:t>
            </a:r>
            <a:r>
              <a:rPr lang="en"/>
              <a:t> wins the race!</a:t>
            </a:r>
            <a:endParaRPr/>
          </a:p>
        </p:txBody>
      </p:sp>
      <p:sp>
        <p:nvSpPr>
          <p:cNvPr id="100" name="Google Shape;100;p2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Bad puzzle: a sequential puzzle</a:t>
            </a:r>
            <a:endParaRPr/>
          </a:p>
        </p:txBody>
      </p:sp>
      <p:pic>
        <p:nvPicPr>
          <p:cNvPr id="101" name="Google Shape;101;p22"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3">
            <a:alphaModFix/>
          </a:blip>
          <a:stretch>
            <a:fillRect/>
          </a:stretch>
        </p:blipFill>
        <p:spPr>
          <a:xfrm>
            <a:off x="1082825" y="1926700"/>
            <a:ext cx="815998" cy="815988"/>
          </a:xfrm>
          <a:prstGeom prst="rect">
            <a:avLst/>
          </a:prstGeom>
          <a:noFill/>
          <a:ln>
            <a:noFill/>
          </a:ln>
        </p:spPr>
      </p:pic>
      <p:pic>
        <p:nvPicPr>
          <p:cNvPr id="102" name="Google Shape;102;p22"/>
          <p:cNvPicPr preferRelativeResize="0"/>
          <p:nvPr/>
        </p:nvPicPr>
        <p:blipFill>
          <a:blip r:embed="rId4">
            <a:alphaModFix/>
          </a:blip>
          <a:stretch>
            <a:fillRect/>
          </a:stretch>
        </p:blipFill>
        <p:spPr>
          <a:xfrm>
            <a:off x="1082825" y="2794610"/>
            <a:ext cx="816000" cy="815990"/>
          </a:xfrm>
          <a:prstGeom prst="rect">
            <a:avLst/>
          </a:prstGeom>
          <a:noFill/>
          <a:ln>
            <a:noFill/>
          </a:ln>
        </p:spPr>
      </p:pic>
      <p:cxnSp>
        <p:nvCxnSpPr>
          <p:cNvPr id="103" name="Google Shape;103;p22"/>
          <p:cNvCxnSpPr/>
          <p:nvPr/>
        </p:nvCxnSpPr>
        <p:spPr>
          <a:xfrm>
            <a:off x="2451500" y="2468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04" name="Google Shape;104;p22"/>
          <p:cNvCxnSpPr/>
          <p:nvPr/>
        </p:nvCxnSpPr>
        <p:spPr>
          <a:xfrm>
            <a:off x="2451500" y="3230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05" name="Google Shape;105;p22"/>
          <p:cNvCxnSpPr/>
          <p:nvPr/>
        </p:nvCxnSpPr>
        <p:spPr>
          <a:xfrm>
            <a:off x="3061100" y="2468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06" name="Google Shape;106;p22"/>
          <p:cNvCxnSpPr/>
          <p:nvPr/>
        </p:nvCxnSpPr>
        <p:spPr>
          <a:xfrm>
            <a:off x="3061100" y="3230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07" name="Google Shape;107;p22"/>
          <p:cNvCxnSpPr/>
          <p:nvPr/>
        </p:nvCxnSpPr>
        <p:spPr>
          <a:xfrm>
            <a:off x="3670700" y="2468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08" name="Google Shape;108;p22"/>
          <p:cNvCxnSpPr/>
          <p:nvPr/>
        </p:nvCxnSpPr>
        <p:spPr>
          <a:xfrm>
            <a:off x="3670700" y="3230175"/>
            <a:ext cx="632100" cy="0"/>
          </a:xfrm>
          <a:prstGeom prst="straightConnector1">
            <a:avLst/>
          </a:prstGeom>
          <a:noFill/>
          <a:ln w="19050" cap="flat" cmpd="sng">
            <a:solidFill>
              <a:schemeClr val="dk2"/>
            </a:solidFill>
            <a:prstDash val="solid"/>
            <a:round/>
            <a:headEnd type="none" w="med" len="med"/>
            <a:tailEnd type="oval" w="med" len="med"/>
          </a:ln>
        </p:spPr>
      </p:cxnSp>
      <p:pic>
        <p:nvPicPr>
          <p:cNvPr id="109" name="Google Shape;109;p22"/>
          <p:cNvPicPr preferRelativeResize="0"/>
          <p:nvPr/>
        </p:nvPicPr>
        <p:blipFill>
          <a:blip r:embed="rId5">
            <a:alphaModFix/>
          </a:blip>
          <a:stretch>
            <a:fillRect/>
          </a:stretch>
        </p:blipFill>
        <p:spPr>
          <a:xfrm>
            <a:off x="552103" y="3810125"/>
            <a:ext cx="1921900" cy="1000011"/>
          </a:xfrm>
          <a:prstGeom prst="rect">
            <a:avLst/>
          </a:prstGeom>
          <a:noFill/>
          <a:ln>
            <a:noFill/>
          </a:ln>
        </p:spPr>
      </p:pic>
      <p:sp>
        <p:nvSpPr>
          <p:cNvPr id="110" name="Google Shape;110;p22"/>
          <p:cNvSpPr/>
          <p:nvPr/>
        </p:nvSpPr>
        <p:spPr>
          <a:xfrm>
            <a:off x="6024575" y="4101700"/>
            <a:ext cx="632124" cy="632124"/>
          </a:xfrm>
          <a:prstGeom prst="irregularSeal1">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 name="Google Shape;111;p22"/>
          <p:cNvCxnSpPr/>
          <p:nvPr/>
        </p:nvCxnSpPr>
        <p:spPr>
          <a:xfrm>
            <a:off x="2451500" y="4373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12" name="Google Shape;112;p22"/>
          <p:cNvCxnSpPr/>
          <p:nvPr/>
        </p:nvCxnSpPr>
        <p:spPr>
          <a:xfrm>
            <a:off x="3061100" y="4373175"/>
            <a:ext cx="632100" cy="0"/>
          </a:xfrm>
          <a:prstGeom prst="straightConnector1">
            <a:avLst/>
          </a:prstGeom>
          <a:noFill/>
          <a:ln w="19050" cap="flat" cmpd="sng">
            <a:solidFill>
              <a:schemeClr val="dk2"/>
            </a:solidFill>
            <a:prstDash val="solid"/>
            <a:round/>
            <a:headEnd type="none" w="med" len="med"/>
            <a:tailEnd type="oval" w="med" len="med"/>
          </a:ln>
        </p:spPr>
      </p:cxnSp>
      <p:sp>
        <p:nvSpPr>
          <p:cNvPr id="113" name="Google Shape;113;p22"/>
          <p:cNvSpPr txBox="1"/>
          <p:nvPr/>
        </p:nvSpPr>
        <p:spPr>
          <a:xfrm>
            <a:off x="6587725" y="4221950"/>
            <a:ext cx="1534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Solution Found!</a:t>
            </a:r>
            <a:endParaRPr/>
          </a:p>
        </p:txBody>
      </p:sp>
      <p:cxnSp>
        <p:nvCxnSpPr>
          <p:cNvPr id="114" name="Google Shape;114;p22"/>
          <p:cNvCxnSpPr/>
          <p:nvPr/>
        </p:nvCxnSpPr>
        <p:spPr>
          <a:xfrm>
            <a:off x="3670700" y="4373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15" name="Google Shape;115;p22"/>
          <p:cNvCxnSpPr/>
          <p:nvPr/>
        </p:nvCxnSpPr>
        <p:spPr>
          <a:xfrm>
            <a:off x="4280300" y="4373175"/>
            <a:ext cx="632100" cy="0"/>
          </a:xfrm>
          <a:prstGeom prst="straightConnector1">
            <a:avLst/>
          </a:prstGeom>
          <a:noFill/>
          <a:ln w="19050" cap="flat" cmpd="sng">
            <a:solidFill>
              <a:schemeClr val="dk2"/>
            </a:solidFill>
            <a:prstDash val="solid"/>
            <a:round/>
            <a:headEnd type="none" w="med" len="med"/>
            <a:tailEnd type="oval" w="med" len="med"/>
          </a:ln>
        </p:spPr>
      </p:cxnSp>
      <p:cxnSp>
        <p:nvCxnSpPr>
          <p:cNvPr id="116" name="Google Shape;116;p22"/>
          <p:cNvCxnSpPr/>
          <p:nvPr/>
        </p:nvCxnSpPr>
        <p:spPr>
          <a:xfrm>
            <a:off x="4889888" y="4373175"/>
            <a:ext cx="632100"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1000"/>
                                        <p:tgtEl>
                                          <p:spTgt spid="111"/>
                                        </p:tgtEl>
                                      </p:cBhvr>
                                    </p:animEffect>
                                  </p:childTnLst>
                                </p:cTn>
                              </p:par>
                              <p:par>
                                <p:cTn id="11" presetID="10" presetClass="entr" presetSubtype="0" fill="hold" nodeType="withEffect">
                                  <p:stCondLst>
                                    <p:cond delay="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1000"/>
                                        <p:tgtEl>
                                          <p:spTgt spid="104"/>
                                        </p:tgtEl>
                                      </p:cBhvr>
                                    </p:animEffect>
                                  </p:childTnLst>
                                </p:cTn>
                              </p:par>
                              <p:par>
                                <p:cTn id="14" presetID="10" presetClass="entr" presetSubtype="0" fill="hold" nodeType="withEffect">
                                  <p:stCondLst>
                                    <p:cond delay="0"/>
                                  </p:stCondLst>
                                  <p:childTnLst>
                                    <p:set>
                                      <p:cBhvr>
                                        <p:cTn id="15" dur="1" fill="hold">
                                          <p:stCondLst>
                                            <p:cond delay="0"/>
                                          </p:stCondLst>
                                        </p:cTn>
                                        <p:tgtEl>
                                          <p:spTgt spid="112"/>
                                        </p:tgtEl>
                                        <p:attrNameLst>
                                          <p:attrName>style.visibility</p:attrName>
                                        </p:attrNameLst>
                                      </p:cBhvr>
                                      <p:to>
                                        <p:strVal val="visible"/>
                                      </p:to>
                                    </p:set>
                                    <p:animEffect transition="in" filter="fade">
                                      <p:cBhvr>
                                        <p:cTn id="16" dur="1000"/>
                                        <p:tgtEl>
                                          <p:spTgt spid="1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1000"/>
                                        <p:tgtEl>
                                          <p:spTgt spid="105"/>
                                        </p:tgtEl>
                                      </p:cBhvr>
                                    </p:animEffect>
                                  </p:childTnLst>
                                </p:cTn>
                              </p:par>
                              <p:par>
                                <p:cTn id="22" presetID="10" presetClass="entr" presetSubtype="0" fill="hold"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1000"/>
                                        <p:tgtEl>
                                          <p:spTgt spid="106"/>
                                        </p:tgtEl>
                                      </p:cBhvr>
                                    </p:animEffect>
                                  </p:childTnLst>
                                </p:cTn>
                              </p:par>
                              <p:par>
                                <p:cTn id="25" presetID="10" presetClass="entr" presetSubtype="0" fill="hold" nodeType="withEffect">
                                  <p:stCondLst>
                                    <p:cond delay="0"/>
                                  </p:stCondLst>
                                  <p:childTnLst>
                                    <p:set>
                                      <p:cBhvr>
                                        <p:cTn id="26" dur="1" fill="hold">
                                          <p:stCondLst>
                                            <p:cond delay="0"/>
                                          </p:stCondLst>
                                        </p:cTn>
                                        <p:tgtEl>
                                          <p:spTgt spid="114"/>
                                        </p:tgtEl>
                                        <p:attrNameLst>
                                          <p:attrName>style.visibility</p:attrName>
                                        </p:attrNameLst>
                                      </p:cBhvr>
                                      <p:to>
                                        <p:strVal val="visible"/>
                                      </p:to>
                                    </p:set>
                                    <p:animEffect transition="in" filter="fade">
                                      <p:cBhvr>
                                        <p:cTn id="27" dur="1000"/>
                                        <p:tgtEl>
                                          <p:spTgt spid="114"/>
                                        </p:tgtEl>
                                      </p:cBhvr>
                                    </p:animEffect>
                                  </p:childTnLst>
                                </p:cTn>
                              </p:par>
                              <p:par>
                                <p:cTn id="28" presetID="10" presetClass="entr" presetSubtype="0" fill="hold" nodeType="withEffect">
                                  <p:stCondLst>
                                    <p:cond delay="0"/>
                                  </p:stCondLst>
                                  <p:childTnLst>
                                    <p:set>
                                      <p:cBhvr>
                                        <p:cTn id="29" dur="1" fill="hold">
                                          <p:stCondLst>
                                            <p:cond delay="0"/>
                                          </p:stCondLst>
                                        </p:cTn>
                                        <p:tgtEl>
                                          <p:spTgt spid="115"/>
                                        </p:tgtEl>
                                        <p:attrNameLst>
                                          <p:attrName>style.visibility</p:attrName>
                                        </p:attrNameLst>
                                      </p:cBhvr>
                                      <p:to>
                                        <p:strVal val="visible"/>
                                      </p:to>
                                    </p:set>
                                    <p:animEffect transition="in" filter="fade">
                                      <p:cBhvr>
                                        <p:cTn id="30" dur="1000"/>
                                        <p:tgtEl>
                                          <p:spTgt spid="1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7"/>
                                        </p:tgtEl>
                                        <p:attrNameLst>
                                          <p:attrName>style.visibility</p:attrName>
                                        </p:attrNameLst>
                                      </p:cBhvr>
                                      <p:to>
                                        <p:strVal val="visible"/>
                                      </p:to>
                                    </p:set>
                                    <p:animEffect transition="in" filter="fade">
                                      <p:cBhvr>
                                        <p:cTn id="35" dur="1000"/>
                                        <p:tgtEl>
                                          <p:spTgt spid="107"/>
                                        </p:tgtEl>
                                      </p:cBhvr>
                                    </p:animEffect>
                                  </p:childTnLst>
                                </p:cTn>
                              </p:par>
                              <p:par>
                                <p:cTn id="36" presetID="10" presetClass="entr" presetSubtype="0" fill="hold" nodeType="withEffect">
                                  <p:stCondLst>
                                    <p:cond delay="0"/>
                                  </p:stCondLst>
                                  <p:childTnLst>
                                    <p:set>
                                      <p:cBhvr>
                                        <p:cTn id="37" dur="1" fill="hold">
                                          <p:stCondLst>
                                            <p:cond delay="0"/>
                                          </p:stCondLst>
                                        </p:cTn>
                                        <p:tgtEl>
                                          <p:spTgt spid="108"/>
                                        </p:tgtEl>
                                        <p:attrNameLst>
                                          <p:attrName>style.visibility</p:attrName>
                                        </p:attrNameLst>
                                      </p:cBhvr>
                                      <p:to>
                                        <p:strVal val="visible"/>
                                      </p:to>
                                    </p:set>
                                    <p:animEffect transition="in" filter="fade">
                                      <p:cBhvr>
                                        <p:cTn id="38" dur="1000"/>
                                        <p:tgtEl>
                                          <p:spTgt spid="108"/>
                                        </p:tgtEl>
                                      </p:cBhvr>
                                    </p:animEffect>
                                  </p:childTnLst>
                                </p:cTn>
                              </p:par>
                              <p:par>
                                <p:cTn id="39" presetID="10" presetClass="entr" presetSubtype="0" fill="hold" nodeType="withEffect">
                                  <p:stCondLst>
                                    <p:cond delay="0"/>
                                  </p:stCondLst>
                                  <p:childTnLst>
                                    <p:set>
                                      <p:cBhvr>
                                        <p:cTn id="40" dur="1" fill="hold">
                                          <p:stCondLst>
                                            <p:cond delay="0"/>
                                          </p:stCondLst>
                                        </p:cTn>
                                        <p:tgtEl>
                                          <p:spTgt spid="110"/>
                                        </p:tgtEl>
                                        <p:attrNameLst>
                                          <p:attrName>style.visibility</p:attrName>
                                        </p:attrNameLst>
                                      </p:cBhvr>
                                      <p:to>
                                        <p:strVal val="visible"/>
                                      </p:to>
                                    </p:set>
                                    <p:animEffect transition="in" filter="fade">
                                      <p:cBhvr>
                                        <p:cTn id="41" dur="1000"/>
                                        <p:tgtEl>
                                          <p:spTgt spid="110"/>
                                        </p:tgtEl>
                                      </p:cBhvr>
                                    </p:animEffect>
                                  </p:childTnLst>
                                </p:cTn>
                              </p:par>
                              <p:par>
                                <p:cTn id="42" presetID="10" presetClass="entr" presetSubtype="0" fill="hold" nodeType="withEffect">
                                  <p:stCondLst>
                                    <p:cond delay="0"/>
                                  </p:stCondLst>
                                  <p:childTnLst>
                                    <p:set>
                                      <p:cBhvr>
                                        <p:cTn id="43" dur="1" fill="hold">
                                          <p:stCondLst>
                                            <p:cond delay="0"/>
                                          </p:stCondLst>
                                        </p:cTn>
                                        <p:tgtEl>
                                          <p:spTgt spid="116"/>
                                        </p:tgtEl>
                                        <p:attrNameLst>
                                          <p:attrName>style.visibility</p:attrName>
                                        </p:attrNameLst>
                                      </p:cBhvr>
                                      <p:to>
                                        <p:strVal val="visible"/>
                                      </p:to>
                                    </p:set>
                                    <p:animEffect transition="in" filter="fade">
                                      <p:cBhvr>
                                        <p:cTn id="44" dur="1000"/>
                                        <p:tgtEl>
                                          <p:spTgt spid="116"/>
                                        </p:tgtEl>
                                      </p:cBhvr>
                                    </p:animEffect>
                                  </p:childTnLst>
                                </p:cTn>
                              </p:par>
                              <p:par>
                                <p:cTn id="45" presetID="10" presetClass="entr" presetSubtype="0" fill="hold" nodeType="withEffect">
                                  <p:stCondLst>
                                    <p:cond delay="0"/>
                                  </p:stCondLst>
                                  <p:childTnLst>
                                    <p:set>
                                      <p:cBhvr>
                                        <p:cTn id="46" dur="1" fill="hold">
                                          <p:stCondLst>
                                            <p:cond delay="0"/>
                                          </p:stCondLst>
                                        </p:cTn>
                                        <p:tgtEl>
                                          <p:spTgt spid="113"/>
                                        </p:tgtEl>
                                        <p:attrNameLst>
                                          <p:attrName>style.visibility</p:attrName>
                                        </p:attrNameLst>
                                      </p:cBhvr>
                                      <p:to>
                                        <p:strVal val="visible"/>
                                      </p:to>
                                    </p:set>
                                    <p:animEffect transition="in" filter="fade">
                                      <p:cBhvr>
                                        <p:cTn id="47" dur="1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3"/>
          <p:cNvPicPr preferRelativeResize="0"/>
          <p:nvPr/>
        </p:nvPicPr>
        <p:blipFill>
          <a:blip r:embed="rId3">
            <a:alphaModFix/>
          </a:blip>
          <a:stretch>
            <a:fillRect/>
          </a:stretch>
        </p:blipFill>
        <p:spPr>
          <a:xfrm rot="3239872">
            <a:off x="4541365" y="2714384"/>
            <a:ext cx="2787416" cy="1869607"/>
          </a:xfrm>
          <a:prstGeom prst="rect">
            <a:avLst/>
          </a:prstGeom>
          <a:noFill/>
          <a:ln>
            <a:noFill/>
          </a:ln>
        </p:spPr>
      </p:pic>
      <p:sp>
        <p:nvSpPr>
          <p:cNvPr id="122" name="Google Shape;122;p2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Good puzzle → Weighted sample</a:t>
            </a:r>
            <a:endParaRPr/>
          </a:p>
        </p:txBody>
      </p:sp>
      <p:pic>
        <p:nvPicPr>
          <p:cNvPr id="123" name="Google Shape;123;p23"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4">
            <a:alphaModFix/>
          </a:blip>
          <a:stretch>
            <a:fillRect/>
          </a:stretch>
        </p:blipFill>
        <p:spPr>
          <a:xfrm>
            <a:off x="1294750" y="1281375"/>
            <a:ext cx="815998" cy="815988"/>
          </a:xfrm>
          <a:prstGeom prst="rect">
            <a:avLst/>
          </a:prstGeom>
          <a:noFill/>
          <a:ln>
            <a:noFill/>
          </a:ln>
        </p:spPr>
      </p:pic>
      <p:pic>
        <p:nvPicPr>
          <p:cNvPr id="124" name="Google Shape;124;p23"/>
          <p:cNvPicPr preferRelativeResize="0"/>
          <p:nvPr/>
        </p:nvPicPr>
        <p:blipFill>
          <a:blip r:embed="rId5">
            <a:alphaModFix/>
          </a:blip>
          <a:stretch>
            <a:fillRect/>
          </a:stretch>
        </p:blipFill>
        <p:spPr>
          <a:xfrm>
            <a:off x="1616225" y="2642210"/>
            <a:ext cx="816000" cy="815990"/>
          </a:xfrm>
          <a:prstGeom prst="rect">
            <a:avLst/>
          </a:prstGeom>
          <a:noFill/>
          <a:ln>
            <a:noFill/>
          </a:ln>
        </p:spPr>
      </p:pic>
      <p:pic>
        <p:nvPicPr>
          <p:cNvPr id="125" name="Google Shape;125;p23"/>
          <p:cNvPicPr preferRelativeResize="0"/>
          <p:nvPr/>
        </p:nvPicPr>
        <p:blipFill>
          <a:blip r:embed="rId6">
            <a:alphaModFix/>
          </a:blip>
          <a:stretch>
            <a:fillRect/>
          </a:stretch>
        </p:blipFill>
        <p:spPr>
          <a:xfrm>
            <a:off x="5425329" y="1919350"/>
            <a:ext cx="1921900" cy="1000011"/>
          </a:xfrm>
          <a:prstGeom prst="rect">
            <a:avLst/>
          </a:prstGeom>
          <a:noFill/>
          <a:ln>
            <a:noFill/>
          </a:ln>
        </p:spPr>
      </p:pic>
      <p:sp>
        <p:nvSpPr>
          <p:cNvPr id="126" name="Google Shape;126;p23"/>
          <p:cNvSpPr/>
          <p:nvPr/>
        </p:nvSpPr>
        <p:spPr>
          <a:xfrm>
            <a:off x="2694400" y="2581275"/>
            <a:ext cx="555900" cy="555900"/>
          </a:xfrm>
          <a:prstGeom prst="ellipse">
            <a:avLst/>
          </a:prstGeom>
          <a:solidFill>
            <a:srgbClr val="B6D7A8"/>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3"/>
          <p:cNvSpPr/>
          <p:nvPr/>
        </p:nvSpPr>
        <p:spPr>
          <a:xfrm>
            <a:off x="2451500" y="1476375"/>
            <a:ext cx="555900" cy="555900"/>
          </a:xfrm>
          <a:prstGeom prst="ellipse">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3"/>
          <p:cNvSpPr/>
          <p:nvPr/>
        </p:nvSpPr>
        <p:spPr>
          <a:xfrm>
            <a:off x="3933825" y="1689500"/>
            <a:ext cx="1153800" cy="1153500"/>
          </a:xfrm>
          <a:prstGeom prst="ellipse">
            <a:avLst/>
          </a:prstGeom>
          <a:solidFill>
            <a:srgbClr val="F4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3"/>
          <p:cNvSpPr/>
          <p:nvPr/>
        </p:nvSpPr>
        <p:spPr>
          <a:xfrm>
            <a:off x="345300" y="4164925"/>
            <a:ext cx="5229300" cy="555900"/>
          </a:xfrm>
          <a:prstGeom prst="roundRect">
            <a:avLst>
              <a:gd name="adj" fmla="val 16667"/>
            </a:avLst>
          </a:prstGeom>
          <a:solidFill>
            <a:srgbClr val="D9EAD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t>This property is sometimes called “progress-free”</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subTitle" idx="1"/>
          </p:nvPr>
        </p:nvSpPr>
        <p:spPr>
          <a:xfrm>
            <a:off x="685800" y="1690471"/>
            <a:ext cx="7772400" cy="172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Font typeface="Trebuchet MS"/>
              <a:buNone/>
            </a:pPr>
            <a:endParaRPr sz="3000" b="0" i="0" u="none" strike="noStrike" cap="none" dirty="0">
              <a:solidFill>
                <a:schemeClr val="dk2"/>
              </a:solidFill>
              <a:latin typeface="Trebuchet MS"/>
              <a:ea typeface="Trebuchet MS"/>
              <a:cs typeface="Trebuchet MS"/>
              <a:sym typeface="Trebuchet MS"/>
            </a:endParaRPr>
          </a:p>
          <a:p>
            <a:pPr marL="0" marR="0" lvl="0" indent="0" algn="ctr" rtl="0">
              <a:lnSpc>
                <a:spcPct val="100000"/>
              </a:lnSpc>
              <a:spcBef>
                <a:spcPts val="0"/>
              </a:spcBef>
              <a:spcAft>
                <a:spcPts val="0"/>
              </a:spcAft>
              <a:buClr>
                <a:schemeClr val="dk2"/>
              </a:buClr>
              <a:buFont typeface="Trebuchet MS"/>
              <a:buNone/>
            </a:pPr>
            <a:r>
              <a:rPr lang="en" dirty="0"/>
              <a:t>ASIC Resistant Puzzles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ASIC resistance - Why? (1 of 2)</a:t>
            </a:r>
            <a:endParaRPr/>
          </a:p>
        </p:txBody>
      </p:sp>
      <p:sp>
        <p:nvSpPr>
          <p:cNvPr id="140" name="Google Shape;140;p2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Ordinary people with idle laptops, PCs, or even mobile phones can mine!</a:t>
            </a:r>
            <a:endParaRPr/>
          </a:p>
          <a:p>
            <a:pPr marL="0" lvl="0" indent="0" algn="l" rtl="0">
              <a:spcBef>
                <a:spcPts val="600"/>
              </a:spcBef>
              <a:spcAft>
                <a:spcPts val="0"/>
              </a:spcAft>
              <a:buNone/>
            </a:pPr>
            <a:endParaRPr/>
          </a:p>
          <a:p>
            <a:pPr marL="0" lvl="0" indent="0" algn="l" rtl="0">
              <a:spcBef>
                <a:spcPts val="600"/>
              </a:spcBef>
              <a:spcAft>
                <a:spcPts val="0"/>
              </a:spcAft>
              <a:buNone/>
            </a:pPr>
            <a:r>
              <a:rPr lang="en"/>
              <a:t>	Lower barrier to entry</a:t>
            </a:r>
            <a:endParaRPr/>
          </a:p>
          <a:p>
            <a:pPr marL="0" lvl="0" indent="0" algn="l" rtl="0">
              <a:spcBef>
                <a:spcPts val="600"/>
              </a:spcBef>
              <a:spcAft>
                <a:spcPts val="0"/>
              </a:spcAft>
              <a:buNone/>
            </a:pPr>
            <a:endParaRPr/>
          </a:p>
          <a:p>
            <a:pPr marL="0" lvl="0" indent="0" algn="l" rtl="0">
              <a:spcBef>
                <a:spcPts val="600"/>
              </a:spcBef>
              <a:spcAft>
                <a:spcPts val="0"/>
              </a:spcAft>
              <a:buNone/>
            </a:pPr>
            <a:r>
              <a:rPr lang="en"/>
              <a:t>Approach: </a:t>
            </a:r>
            <a:r>
              <a:rPr lang="en" sz="2400"/>
              <a:t>reduce the gap between custom hardware and general purpose equipment</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ASIC resistance - Why? (2 of 2)</a:t>
            </a:r>
            <a:endParaRPr/>
          </a:p>
        </p:txBody>
      </p:sp>
      <p:sp>
        <p:nvSpPr>
          <p:cNvPr id="146" name="Google Shape;146;p2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Prevent large manufacturers from dominating the game</a:t>
            </a:r>
            <a:endParaRPr/>
          </a:p>
          <a:p>
            <a:pPr marL="0" lvl="0" indent="0" algn="l" rtl="0">
              <a:spcBef>
                <a:spcPts val="600"/>
              </a:spcBef>
              <a:spcAft>
                <a:spcPts val="0"/>
              </a:spcAft>
              <a:buNone/>
            </a:pPr>
            <a:r>
              <a:rPr lang="en"/>
              <a:t>	“Burn-in” advantage</a:t>
            </a:r>
            <a:endParaRPr/>
          </a:p>
          <a:p>
            <a:pPr marL="0" lvl="0" indent="0" algn="l" rtl="0">
              <a:spcBef>
                <a:spcPts val="600"/>
              </a:spcBef>
              <a:spcAft>
                <a:spcPts val="0"/>
              </a:spcAft>
              <a:buNone/>
            </a:pPr>
            <a:r>
              <a:rPr lang="en"/>
              <a:t>	In-house designs</a:t>
            </a:r>
            <a:endParaRPr/>
          </a:p>
          <a:p>
            <a:pPr marL="0" lvl="0" indent="0" algn="l" rtl="0">
              <a:spcBef>
                <a:spcPts val="600"/>
              </a:spcBef>
              <a:spcAft>
                <a:spcPts val="0"/>
              </a:spcAft>
              <a:buNone/>
            </a:pPr>
            <a:endParaRPr/>
          </a:p>
          <a:p>
            <a:pPr marL="0" lvl="0" indent="0" algn="l" rtl="0">
              <a:spcBef>
                <a:spcPts val="600"/>
              </a:spcBef>
              <a:spcAft>
                <a:spcPts val="0"/>
              </a:spcAft>
              <a:buNone/>
            </a:pPr>
            <a:r>
              <a:rPr lang="en"/>
              <a:t>Approach: </a:t>
            </a:r>
            <a:r>
              <a:rPr lang="en" sz="2400"/>
              <a:t>reduce the “gap” between future hardware and the custom ASICs we already have</a:t>
            </a:r>
            <a:endParaRPr/>
          </a:p>
        </p:txBody>
      </p:sp>
      <p:pic>
        <p:nvPicPr>
          <p:cNvPr id="147" name="Google Shape;147;p26"/>
          <p:cNvPicPr preferRelativeResize="0"/>
          <p:nvPr/>
        </p:nvPicPr>
        <p:blipFill>
          <a:blip r:embed="rId3">
            <a:alphaModFix/>
          </a:blip>
          <a:stretch>
            <a:fillRect/>
          </a:stretch>
        </p:blipFill>
        <p:spPr>
          <a:xfrm>
            <a:off x="5261375" y="1985326"/>
            <a:ext cx="2864550" cy="1919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p:nvPr/>
        </p:nvSpPr>
        <p:spPr>
          <a:xfrm>
            <a:off x="7275900" y="2957525"/>
            <a:ext cx="1660800" cy="369600"/>
          </a:xfrm>
          <a:prstGeom prst="roundRect">
            <a:avLst>
              <a:gd name="adj" fmla="val 16667"/>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Memory hard puzzles</a:t>
            </a:r>
            <a:endParaRPr/>
          </a:p>
        </p:txBody>
      </p:sp>
      <p:sp>
        <p:nvSpPr>
          <p:cNvPr id="154" name="Google Shape;154;p2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Premise: the cost and performance of memory is more stable than for processors</a:t>
            </a:r>
            <a:endParaRPr/>
          </a:p>
        </p:txBody>
      </p:sp>
      <p:sp>
        <p:nvSpPr>
          <p:cNvPr id="155" name="Google Shape;155;p27"/>
          <p:cNvSpPr txBox="1"/>
          <p:nvPr/>
        </p:nvSpPr>
        <p:spPr>
          <a:xfrm>
            <a:off x="2286000" y="4449375"/>
            <a:ext cx="4489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‘80              ‘90              ‘00               ‘10       ‘14</a:t>
            </a:r>
            <a:endParaRPr/>
          </a:p>
          <a:p>
            <a:pPr marL="0" lvl="0" indent="0" algn="l" rtl="0">
              <a:spcBef>
                <a:spcPts val="0"/>
              </a:spcBef>
              <a:spcAft>
                <a:spcPts val="0"/>
              </a:spcAft>
              <a:buNone/>
            </a:pPr>
            <a:r>
              <a:rPr lang="en"/>
              <a:t>                               Time            </a:t>
            </a:r>
            <a:endParaRPr/>
          </a:p>
        </p:txBody>
      </p:sp>
      <p:cxnSp>
        <p:nvCxnSpPr>
          <p:cNvPr id="156" name="Google Shape;156;p27"/>
          <p:cNvCxnSpPr/>
          <p:nvPr/>
        </p:nvCxnSpPr>
        <p:spPr>
          <a:xfrm rot="10800000" flipH="1">
            <a:off x="2232425" y="2811050"/>
            <a:ext cx="3986100" cy="1489500"/>
          </a:xfrm>
          <a:prstGeom prst="straightConnector1">
            <a:avLst/>
          </a:prstGeom>
          <a:noFill/>
          <a:ln w="28575" cap="flat" cmpd="sng">
            <a:solidFill>
              <a:srgbClr val="FF0000"/>
            </a:solidFill>
            <a:prstDash val="solid"/>
            <a:round/>
            <a:headEnd type="none" w="med" len="med"/>
            <a:tailEnd type="none" w="med" len="med"/>
          </a:ln>
        </p:spPr>
      </p:cxnSp>
      <p:cxnSp>
        <p:nvCxnSpPr>
          <p:cNvPr id="157" name="Google Shape;157;p27"/>
          <p:cNvCxnSpPr/>
          <p:nvPr/>
        </p:nvCxnSpPr>
        <p:spPr>
          <a:xfrm rot="10800000" flipH="1">
            <a:off x="2253850" y="3485075"/>
            <a:ext cx="3975600" cy="825000"/>
          </a:xfrm>
          <a:prstGeom prst="straightConnector1">
            <a:avLst/>
          </a:prstGeom>
          <a:noFill/>
          <a:ln w="28575" cap="flat" cmpd="sng">
            <a:solidFill>
              <a:srgbClr val="0000FF"/>
            </a:solidFill>
            <a:prstDash val="solid"/>
            <a:round/>
            <a:headEnd type="none" w="med" len="med"/>
            <a:tailEnd type="none" w="med" len="med"/>
          </a:ln>
        </p:spPr>
      </p:cxnSp>
      <p:cxnSp>
        <p:nvCxnSpPr>
          <p:cNvPr id="158" name="Google Shape;158;p27"/>
          <p:cNvCxnSpPr/>
          <p:nvPr/>
        </p:nvCxnSpPr>
        <p:spPr>
          <a:xfrm rot="10800000" flipH="1">
            <a:off x="2275275" y="3775375"/>
            <a:ext cx="3954000" cy="546600"/>
          </a:xfrm>
          <a:prstGeom prst="straightConnector1">
            <a:avLst/>
          </a:prstGeom>
          <a:noFill/>
          <a:ln w="28575" cap="flat" cmpd="sng">
            <a:solidFill>
              <a:srgbClr val="FF9900"/>
            </a:solidFill>
            <a:prstDash val="solid"/>
            <a:round/>
            <a:headEnd type="none" w="med" len="med"/>
            <a:tailEnd type="none" w="med" len="med"/>
          </a:ln>
        </p:spPr>
      </p:cxnSp>
      <p:sp>
        <p:nvSpPr>
          <p:cNvPr id="159" name="Google Shape;159;p27"/>
          <p:cNvSpPr txBox="1"/>
          <p:nvPr/>
        </p:nvSpPr>
        <p:spPr>
          <a:xfrm>
            <a:off x="565550" y="3327200"/>
            <a:ext cx="3657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Performance</a:t>
            </a:r>
            <a:endParaRPr/>
          </a:p>
        </p:txBody>
      </p:sp>
      <p:cxnSp>
        <p:nvCxnSpPr>
          <p:cNvPr id="160" name="Google Shape;160;p27"/>
          <p:cNvCxnSpPr/>
          <p:nvPr/>
        </p:nvCxnSpPr>
        <p:spPr>
          <a:xfrm rot="10800000">
            <a:off x="2232425" y="2682575"/>
            <a:ext cx="0" cy="1703700"/>
          </a:xfrm>
          <a:prstGeom prst="straightConnector1">
            <a:avLst/>
          </a:prstGeom>
          <a:noFill/>
          <a:ln w="19050" cap="flat" cmpd="sng">
            <a:solidFill>
              <a:schemeClr val="dk2"/>
            </a:solidFill>
            <a:prstDash val="solid"/>
            <a:round/>
            <a:headEnd type="none" w="med" len="med"/>
            <a:tailEnd type="none" w="med" len="med"/>
          </a:ln>
        </p:spPr>
      </p:cxnSp>
      <p:cxnSp>
        <p:nvCxnSpPr>
          <p:cNvPr id="161" name="Google Shape;161;p27"/>
          <p:cNvCxnSpPr/>
          <p:nvPr/>
        </p:nvCxnSpPr>
        <p:spPr>
          <a:xfrm>
            <a:off x="2232425" y="4386275"/>
            <a:ext cx="4189800" cy="0"/>
          </a:xfrm>
          <a:prstGeom prst="straightConnector1">
            <a:avLst/>
          </a:prstGeom>
          <a:noFill/>
          <a:ln w="19050" cap="flat" cmpd="sng">
            <a:solidFill>
              <a:schemeClr val="dk2"/>
            </a:solidFill>
            <a:prstDash val="solid"/>
            <a:round/>
            <a:headEnd type="none" w="med" len="med"/>
            <a:tailEnd type="none" w="med" len="med"/>
          </a:ln>
        </p:spPr>
      </p:cxnSp>
      <p:sp>
        <p:nvSpPr>
          <p:cNvPr id="162" name="Google Shape;162;p27"/>
          <p:cNvSpPr txBox="1"/>
          <p:nvPr/>
        </p:nvSpPr>
        <p:spPr>
          <a:xfrm>
            <a:off x="6298400" y="2571750"/>
            <a:ext cx="3657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Processors</a:t>
            </a:r>
            <a:endParaRPr/>
          </a:p>
        </p:txBody>
      </p:sp>
      <p:sp>
        <p:nvSpPr>
          <p:cNvPr id="163" name="Google Shape;163;p27"/>
          <p:cNvSpPr txBox="1"/>
          <p:nvPr/>
        </p:nvSpPr>
        <p:spPr>
          <a:xfrm>
            <a:off x="1574000" y="2555075"/>
            <a:ext cx="762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10000</a:t>
            </a:r>
            <a:endParaRPr/>
          </a:p>
        </p:txBody>
      </p:sp>
      <p:sp>
        <p:nvSpPr>
          <p:cNvPr id="164" name="Google Shape;164;p27"/>
          <p:cNvSpPr txBox="1"/>
          <p:nvPr/>
        </p:nvSpPr>
        <p:spPr>
          <a:xfrm>
            <a:off x="1682350" y="3012275"/>
            <a:ext cx="762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1000</a:t>
            </a:r>
            <a:endParaRPr/>
          </a:p>
        </p:txBody>
      </p:sp>
      <p:sp>
        <p:nvSpPr>
          <p:cNvPr id="165" name="Google Shape;165;p27"/>
          <p:cNvSpPr txBox="1"/>
          <p:nvPr/>
        </p:nvSpPr>
        <p:spPr>
          <a:xfrm>
            <a:off x="1801425" y="3484975"/>
            <a:ext cx="762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66" name="Google Shape;166;p27"/>
          <p:cNvSpPr txBox="1"/>
          <p:nvPr/>
        </p:nvSpPr>
        <p:spPr>
          <a:xfrm>
            <a:off x="1878800" y="3926675"/>
            <a:ext cx="762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a:t>
            </a:r>
            <a:endParaRPr/>
          </a:p>
        </p:txBody>
      </p:sp>
      <p:sp>
        <p:nvSpPr>
          <p:cNvPr id="167" name="Google Shape;167;p27"/>
          <p:cNvSpPr txBox="1"/>
          <p:nvPr/>
        </p:nvSpPr>
        <p:spPr>
          <a:xfrm>
            <a:off x="6298400" y="3223025"/>
            <a:ext cx="3657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Memory</a:t>
            </a:r>
            <a:endParaRPr/>
          </a:p>
        </p:txBody>
      </p:sp>
      <p:sp>
        <p:nvSpPr>
          <p:cNvPr id="168" name="Google Shape;168;p27"/>
          <p:cNvSpPr txBox="1"/>
          <p:nvPr/>
        </p:nvSpPr>
        <p:spPr>
          <a:xfrm>
            <a:off x="6278175" y="3623075"/>
            <a:ext cx="3657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Storage</a:t>
            </a:r>
            <a:endParaRPr/>
          </a:p>
        </p:txBody>
      </p:sp>
      <p:sp>
        <p:nvSpPr>
          <p:cNvPr id="169" name="Google Shape;169;p27"/>
          <p:cNvSpPr txBox="1"/>
          <p:nvPr/>
        </p:nvSpPr>
        <p:spPr>
          <a:xfrm>
            <a:off x="7233950" y="2913725"/>
            <a:ext cx="17865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“performance gap”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6"/>
          <p:cNvSpPr txBox="1">
            <a:spLocks noGrp="1"/>
          </p:cNvSpPr>
          <p:nvPr>
            <p:ph type="subTitle" idx="1"/>
          </p:nvPr>
        </p:nvSpPr>
        <p:spPr>
          <a:xfrm>
            <a:off x="685800" y="1690471"/>
            <a:ext cx="7772400" cy="172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Font typeface="Trebuchet MS"/>
              <a:buNone/>
            </a:pPr>
            <a:endParaRPr sz="3000" b="0" i="0" u="none" strike="noStrike" cap="none" dirty="0">
              <a:solidFill>
                <a:schemeClr val="dk2"/>
              </a:solidFill>
              <a:latin typeface="Trebuchet MS"/>
              <a:ea typeface="Trebuchet MS"/>
              <a:cs typeface="Trebuchet MS"/>
              <a:sym typeface="Trebuchet MS"/>
            </a:endParaRPr>
          </a:p>
          <a:p>
            <a:pPr marL="0" marR="0" lvl="0" indent="0" algn="ctr" rtl="0">
              <a:lnSpc>
                <a:spcPct val="100000"/>
              </a:lnSpc>
              <a:spcBef>
                <a:spcPts val="0"/>
              </a:spcBef>
              <a:spcAft>
                <a:spcPts val="0"/>
              </a:spcAft>
              <a:buClr>
                <a:schemeClr val="dk2"/>
              </a:buClr>
              <a:buFont typeface="Trebuchet MS"/>
              <a:buNone/>
            </a:pPr>
            <a:r>
              <a:rPr lang="en" dirty="0"/>
              <a:t>Proof-of-useful-work</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Recovering wasted work</a:t>
            </a:r>
            <a:endParaRPr/>
          </a:p>
        </p:txBody>
      </p:sp>
      <p:sp>
        <p:nvSpPr>
          <p:cNvPr id="309" name="Google Shape;309;p3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Recall: </a:t>
            </a:r>
            <a:endParaRPr/>
          </a:p>
          <a:p>
            <a:pPr marL="0" lvl="0" indent="0" algn="l" rtl="0">
              <a:spcBef>
                <a:spcPts val="600"/>
              </a:spcBef>
              <a:spcAft>
                <a:spcPts val="0"/>
              </a:spcAft>
              <a:buNone/>
            </a:pPr>
            <a:r>
              <a:rPr lang="en"/>
              <a:t>  between 150 MW - 900 MW power consumed</a:t>
            </a:r>
            <a:endParaRPr/>
          </a:p>
          <a:p>
            <a:pPr marL="0" lvl="0" indent="0" algn="l" rtl="0">
              <a:spcBef>
                <a:spcPts val="600"/>
              </a:spcBef>
              <a:spcAft>
                <a:spcPts val="0"/>
              </a:spcAft>
              <a:buNone/>
            </a:pPr>
            <a:endParaRPr/>
          </a:p>
          <a:p>
            <a:pPr marL="0" lvl="0" indent="0" algn="l" rtl="0">
              <a:spcBef>
                <a:spcPts val="600"/>
              </a:spcBef>
              <a:spcAft>
                <a:spcPts val="0"/>
              </a:spcAft>
              <a:buNone/>
            </a:pPr>
            <a:r>
              <a:rPr lang="en"/>
              <a:t>Natural question:</a:t>
            </a:r>
            <a:endParaRPr/>
          </a:p>
          <a:p>
            <a:pPr marL="0" lvl="0" indent="0" algn="l" rtl="0">
              <a:spcBef>
                <a:spcPts val="600"/>
              </a:spcBef>
              <a:spcAft>
                <a:spcPts val="0"/>
              </a:spcAft>
              <a:buNone/>
            </a:pPr>
            <a:r>
              <a:rPr lang="en"/>
              <a:t>  Can we recycle this and do something useful?</a:t>
            </a:r>
            <a:endParaRPr/>
          </a:p>
          <a:p>
            <a:pPr marL="0" lvl="0" indent="0" algn="l" rtl="0">
              <a:spcBef>
                <a:spcPts val="600"/>
              </a:spcBef>
              <a:spcAft>
                <a:spcPts val="0"/>
              </a:spcAft>
              <a:buNone/>
            </a:pPr>
            <a:r>
              <a:rPr lang="en"/>
              <a:t>  </a:t>
            </a:r>
            <a:endParaRPr/>
          </a:p>
        </p:txBody>
      </p:sp>
      <p:sp>
        <p:nvSpPr>
          <p:cNvPr id="310" name="Google Shape;310;p37"/>
          <p:cNvSpPr txBox="1"/>
          <p:nvPr/>
        </p:nvSpPr>
        <p:spPr>
          <a:xfrm>
            <a:off x="6827625" y="1513900"/>
            <a:ext cx="1593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(as of mid-2014)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Candidates - needle in a haystack</a:t>
            </a:r>
            <a:endParaRPr/>
          </a:p>
        </p:txBody>
      </p:sp>
      <p:sp>
        <p:nvSpPr>
          <p:cNvPr id="316" name="Google Shape;316;p38"/>
          <p:cNvSpPr txBox="1">
            <a:spLocks noGrp="1"/>
          </p:cNvSpPr>
          <p:nvPr>
            <p:ph type="body" idx="1"/>
          </p:nvPr>
        </p:nvSpPr>
        <p:spPr>
          <a:xfrm>
            <a:off x="457200" y="10477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Natural choices:</a:t>
            </a:r>
            <a:endParaRPr/>
          </a:p>
          <a:p>
            <a:pPr marL="0" lvl="0" indent="0" algn="l" rtl="0">
              <a:spcBef>
                <a:spcPts val="600"/>
              </a:spcBef>
              <a:spcAft>
                <a:spcPts val="0"/>
              </a:spcAft>
              <a:buNone/>
            </a:pPr>
            <a:r>
              <a:rPr lang="en"/>
              <a:t>	- Protein folding   </a:t>
            </a:r>
            <a:r>
              <a:rPr lang="en" sz="1800"/>
              <a:t>(find a low energy configuration)</a:t>
            </a:r>
            <a:endParaRPr sz="1800"/>
          </a:p>
          <a:p>
            <a:pPr marL="0" lvl="0" indent="0" algn="l" rtl="0">
              <a:spcBef>
                <a:spcPts val="600"/>
              </a:spcBef>
              <a:spcAft>
                <a:spcPts val="0"/>
              </a:spcAft>
              <a:buNone/>
            </a:pPr>
            <a:r>
              <a:rPr lang="en"/>
              <a:t>	- Search for aliens </a:t>
            </a:r>
            <a:r>
              <a:rPr lang="en" sz="1800"/>
              <a:t>  (find an anomalous region of a signal)</a:t>
            </a:r>
            <a:endParaRPr/>
          </a:p>
          <a:p>
            <a:pPr marL="0" lvl="0" indent="0" algn="l" rtl="0">
              <a:spcBef>
                <a:spcPts val="600"/>
              </a:spcBef>
              <a:spcAft>
                <a:spcPts val="0"/>
              </a:spcAft>
              <a:buNone/>
            </a:pPr>
            <a:r>
              <a:rPr lang="en"/>
              <a:t>	     </a:t>
            </a:r>
            <a:r>
              <a:rPr lang="en" sz="2400"/>
              <a:t>These have been successful @Home problems</a:t>
            </a:r>
            <a:endParaRPr sz="2400"/>
          </a:p>
          <a:p>
            <a:pPr marL="457200" lvl="0" indent="-419100" algn="l" rtl="0">
              <a:spcBef>
                <a:spcPts val="600"/>
              </a:spcBef>
              <a:spcAft>
                <a:spcPts val="0"/>
              </a:spcAft>
              <a:buSzPts val="3000"/>
              <a:buChar char="●"/>
            </a:pPr>
            <a:r>
              <a:rPr lang="en"/>
              <a:t>Challenges:</a:t>
            </a:r>
            <a:endParaRPr/>
          </a:p>
          <a:p>
            <a:pPr marL="0" lvl="0" indent="0" algn="l" rtl="0">
              <a:spcBef>
                <a:spcPts val="600"/>
              </a:spcBef>
              <a:spcAft>
                <a:spcPts val="0"/>
              </a:spcAft>
              <a:buNone/>
            </a:pPr>
            <a:r>
              <a:rPr lang="en"/>
              <a:t>	- Randomly chosen instances must be hard</a:t>
            </a:r>
            <a:endParaRPr/>
          </a:p>
          <a:p>
            <a:pPr marL="0" lvl="0" indent="0" algn="l" rtl="0">
              <a:spcBef>
                <a:spcPts val="600"/>
              </a:spcBef>
              <a:spcAft>
                <a:spcPts val="0"/>
              </a:spcAft>
              <a:buNone/>
            </a:pPr>
            <a:r>
              <a:rPr lang="en"/>
              <a:t>			     </a:t>
            </a:r>
            <a:r>
              <a:rPr lang="en" sz="2400"/>
              <a:t>Who chooses the problem?</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Large mining pools are a threat</a:t>
            </a:r>
            <a:endParaRPr/>
          </a:p>
        </p:txBody>
      </p:sp>
      <p:sp>
        <p:nvSpPr>
          <p:cNvPr id="446" name="Google Shape;446;p4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Bitcoin’s core value is decentralization</a:t>
            </a:r>
            <a:endParaRPr sz="2400"/>
          </a:p>
          <a:p>
            <a:pPr marL="0" lvl="0" indent="0" algn="l" rtl="0">
              <a:spcBef>
                <a:spcPts val="600"/>
              </a:spcBef>
              <a:spcAft>
                <a:spcPts val="0"/>
              </a:spcAft>
              <a:buNone/>
            </a:pPr>
            <a:endParaRPr sz="2400"/>
          </a:p>
          <a:p>
            <a:pPr marL="457200" lvl="0" indent="-381000" algn="l" rtl="0">
              <a:spcBef>
                <a:spcPts val="600"/>
              </a:spcBef>
              <a:spcAft>
                <a:spcPts val="0"/>
              </a:spcAft>
              <a:buSzPts val="2400"/>
              <a:buChar char="●"/>
            </a:pPr>
            <a:r>
              <a:rPr lang="en" sz="2400"/>
              <a:t>If power is consolidated in a few large pools, the operators are targets for coercion/hacking</a:t>
            </a:r>
            <a:endParaRPr sz="2400"/>
          </a:p>
          <a:p>
            <a:pPr marL="0" lvl="0" indent="0" algn="l" rtl="0">
              <a:spcBef>
                <a:spcPts val="600"/>
              </a:spcBef>
              <a:spcAft>
                <a:spcPts val="0"/>
              </a:spcAft>
              <a:buNone/>
            </a:pPr>
            <a:endParaRPr sz="2400"/>
          </a:p>
          <a:p>
            <a:pPr marL="457200" lvl="0" indent="-381000" algn="l" rtl="0">
              <a:spcBef>
                <a:spcPts val="600"/>
              </a:spcBef>
              <a:spcAft>
                <a:spcPts val="0"/>
              </a:spcAft>
              <a:buSzPts val="2400"/>
              <a:buChar char="●"/>
            </a:pPr>
            <a:r>
              <a:rPr lang="en" sz="2400"/>
              <a:t>Position: large pools should be discouraged!</a:t>
            </a:r>
            <a:endParaRPr/>
          </a:p>
          <a:p>
            <a:pPr marL="0" lvl="0" indent="457200" algn="l" rtl="0">
              <a:spcBef>
                <a:spcPts val="600"/>
              </a:spcBef>
              <a:spcAft>
                <a:spcPts val="0"/>
              </a:spcAft>
              <a:buNone/>
            </a:pPr>
            <a:r>
              <a:rPr lang="en" sz="2400"/>
              <a:t>Analogy to voting:  It’s illegal (in US) to sell your vote</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9"/>
          <p:cNvSpPr txBox="1">
            <a:spLocks noGrp="1"/>
          </p:cNvSpPr>
          <p:nvPr>
            <p:ph type="subTitle" idx="1"/>
          </p:nvPr>
        </p:nvSpPr>
        <p:spPr>
          <a:xfrm>
            <a:off x="685800" y="1690471"/>
            <a:ext cx="7772400" cy="172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Font typeface="Trebuchet MS"/>
              <a:buNone/>
            </a:pPr>
            <a:endParaRPr sz="3000" b="0" i="0" u="none" strike="noStrike" cap="none" dirty="0">
              <a:solidFill>
                <a:schemeClr val="dk2"/>
              </a:solidFill>
              <a:latin typeface="Trebuchet MS"/>
              <a:ea typeface="Trebuchet MS"/>
              <a:cs typeface="Trebuchet MS"/>
              <a:sym typeface="Trebuchet MS"/>
            </a:endParaRPr>
          </a:p>
          <a:p>
            <a:pPr marL="0" marR="0" lvl="0" indent="0" algn="ctr" rtl="0">
              <a:lnSpc>
                <a:spcPct val="100000"/>
              </a:lnSpc>
              <a:spcBef>
                <a:spcPts val="0"/>
              </a:spcBef>
              <a:spcAft>
                <a:spcPts val="0"/>
              </a:spcAft>
              <a:buClr>
                <a:schemeClr val="dk2"/>
              </a:buClr>
              <a:buFont typeface="Trebuchet MS"/>
              <a:buNone/>
            </a:pPr>
            <a:r>
              <a:rPr lang="en" dirty="0"/>
              <a:t>Proof-of-Stake</a:t>
            </a:r>
            <a:endParaRPr dirty="0"/>
          </a:p>
          <a:p>
            <a:pPr marL="0" marR="0" lvl="0" indent="0" algn="ctr" rtl="0">
              <a:lnSpc>
                <a:spcPct val="100000"/>
              </a:lnSpc>
              <a:spcBef>
                <a:spcPts val="0"/>
              </a:spcBef>
              <a:spcAft>
                <a:spcPts val="0"/>
              </a:spcAft>
              <a:buClr>
                <a:schemeClr val="dk2"/>
              </a:buClr>
              <a:buFont typeface="Trebuchet MS"/>
              <a:buNone/>
            </a:pPr>
            <a:r>
              <a:rPr lang="en" dirty="0"/>
              <a:t>“Virtual Mining”</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60"/>
          <p:cNvPicPr preferRelativeResize="0"/>
          <p:nvPr/>
        </p:nvPicPr>
        <p:blipFill>
          <a:blip r:embed="rId3">
            <a:alphaModFix/>
          </a:blip>
          <a:stretch>
            <a:fillRect/>
          </a:stretch>
        </p:blipFill>
        <p:spPr>
          <a:xfrm>
            <a:off x="6685950" y="2456250"/>
            <a:ext cx="2362200" cy="1943100"/>
          </a:xfrm>
          <a:prstGeom prst="rect">
            <a:avLst/>
          </a:prstGeom>
          <a:noFill/>
          <a:ln>
            <a:noFill/>
          </a:ln>
        </p:spPr>
      </p:pic>
      <p:sp>
        <p:nvSpPr>
          <p:cNvPr id="616" name="Google Shape;616;p6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Mining has an unnecessary step</a:t>
            </a:r>
            <a:endParaRPr/>
          </a:p>
        </p:txBody>
      </p:sp>
      <p:sp>
        <p:nvSpPr>
          <p:cNvPr id="617" name="Google Shape;617;p60"/>
          <p:cNvSpPr txBox="1">
            <a:spLocks noGrp="1"/>
          </p:cNvSpPr>
          <p:nvPr>
            <p:ph type="body" idx="1"/>
          </p:nvPr>
        </p:nvSpPr>
        <p:spPr>
          <a:xfrm>
            <a:off x="381000" y="971550"/>
            <a:ext cx="8229600" cy="62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Proof-of-Work Mining:</a:t>
            </a:r>
            <a:endParaRPr/>
          </a:p>
        </p:txBody>
      </p:sp>
      <p:pic>
        <p:nvPicPr>
          <p:cNvPr id="618" name="Google Shape;618;p60"/>
          <p:cNvPicPr preferRelativeResize="0"/>
          <p:nvPr/>
        </p:nvPicPr>
        <p:blipFill>
          <a:blip r:embed="rId4">
            <a:alphaModFix/>
          </a:blip>
          <a:stretch>
            <a:fillRect/>
          </a:stretch>
        </p:blipFill>
        <p:spPr>
          <a:xfrm>
            <a:off x="3710854" y="3034975"/>
            <a:ext cx="1921900" cy="1000011"/>
          </a:xfrm>
          <a:prstGeom prst="rect">
            <a:avLst/>
          </a:prstGeom>
          <a:noFill/>
          <a:ln>
            <a:noFill/>
          </a:ln>
        </p:spPr>
      </p:pic>
      <p:sp>
        <p:nvSpPr>
          <p:cNvPr id="619" name="Google Shape;619;p60"/>
          <p:cNvSpPr/>
          <p:nvPr/>
        </p:nvSpPr>
        <p:spPr>
          <a:xfrm>
            <a:off x="5191025" y="3958850"/>
            <a:ext cx="460782" cy="460782"/>
          </a:xfrm>
          <a:prstGeom prst="lightningBolt">
            <a:avLst/>
          </a:prstGeom>
          <a:solidFill>
            <a:srgbClr val="FFFF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60"/>
          <p:cNvSpPr/>
          <p:nvPr/>
        </p:nvSpPr>
        <p:spPr>
          <a:xfrm>
            <a:off x="4379088" y="2286000"/>
            <a:ext cx="782400" cy="717900"/>
          </a:xfrm>
          <a:prstGeom prst="roundRect">
            <a:avLst>
              <a:gd name="adj" fmla="val 16667"/>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Miner</a:t>
            </a:r>
            <a:endParaRPr/>
          </a:p>
        </p:txBody>
      </p:sp>
      <p:pic>
        <p:nvPicPr>
          <p:cNvPr id="621" name="Google Shape;621;p60"/>
          <p:cNvPicPr preferRelativeResize="0"/>
          <p:nvPr/>
        </p:nvPicPr>
        <p:blipFill>
          <a:blip r:embed="rId5">
            <a:alphaModFix/>
          </a:blip>
          <a:stretch>
            <a:fillRect/>
          </a:stretch>
        </p:blipFill>
        <p:spPr>
          <a:xfrm>
            <a:off x="5788875" y="2032425"/>
            <a:ext cx="717900" cy="717900"/>
          </a:xfrm>
          <a:prstGeom prst="rect">
            <a:avLst/>
          </a:prstGeom>
          <a:noFill/>
          <a:ln>
            <a:noFill/>
          </a:ln>
        </p:spPr>
      </p:pic>
      <p:sp>
        <p:nvSpPr>
          <p:cNvPr id="622" name="Google Shape;622;p60"/>
          <p:cNvSpPr txBox="1"/>
          <p:nvPr/>
        </p:nvSpPr>
        <p:spPr>
          <a:xfrm>
            <a:off x="6516300" y="1677600"/>
            <a:ext cx="25074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Spend money on power and equipment</a:t>
            </a:r>
            <a:endParaRPr sz="1800"/>
          </a:p>
        </p:txBody>
      </p:sp>
      <p:sp>
        <p:nvSpPr>
          <p:cNvPr id="623" name="Google Shape;623;p60"/>
          <p:cNvSpPr txBox="1"/>
          <p:nvPr/>
        </p:nvSpPr>
        <p:spPr>
          <a:xfrm>
            <a:off x="1933575" y="4399350"/>
            <a:ext cx="24336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Find puzzle solutions</a:t>
            </a:r>
            <a:endParaRPr sz="1800"/>
          </a:p>
        </p:txBody>
      </p:sp>
      <p:grpSp>
        <p:nvGrpSpPr>
          <p:cNvPr id="624" name="Google Shape;624;p60"/>
          <p:cNvGrpSpPr/>
          <p:nvPr/>
        </p:nvGrpSpPr>
        <p:grpSpPr>
          <a:xfrm>
            <a:off x="381000" y="2834100"/>
            <a:ext cx="1490926" cy="1401750"/>
            <a:chOff x="1468575" y="3213125"/>
            <a:chExt cx="1490926" cy="1401750"/>
          </a:xfrm>
        </p:grpSpPr>
        <p:pic>
          <p:nvPicPr>
            <p:cNvPr id="625" name="Google Shape;625;p60"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6">
              <a:alphaModFix/>
            </a:blip>
            <a:stretch>
              <a:fillRect/>
            </a:stretch>
          </p:blipFill>
          <p:spPr>
            <a:xfrm>
              <a:off x="1468575" y="3289325"/>
              <a:ext cx="539378" cy="539366"/>
            </a:xfrm>
            <a:prstGeom prst="rect">
              <a:avLst/>
            </a:prstGeom>
            <a:noFill/>
            <a:ln>
              <a:noFill/>
            </a:ln>
          </p:spPr>
        </p:pic>
        <p:pic>
          <p:nvPicPr>
            <p:cNvPr id="626" name="Google Shape;626;p60"/>
            <p:cNvPicPr preferRelativeResize="0"/>
            <p:nvPr/>
          </p:nvPicPr>
          <p:blipFill>
            <a:blip r:embed="rId7">
              <a:alphaModFix/>
            </a:blip>
            <a:stretch>
              <a:fillRect/>
            </a:stretch>
          </p:blipFill>
          <p:spPr>
            <a:xfrm>
              <a:off x="1581921" y="4075507"/>
              <a:ext cx="539380" cy="539368"/>
            </a:xfrm>
            <a:prstGeom prst="rect">
              <a:avLst/>
            </a:prstGeom>
            <a:noFill/>
            <a:ln>
              <a:noFill/>
            </a:ln>
          </p:spPr>
        </p:pic>
        <p:pic>
          <p:nvPicPr>
            <p:cNvPr id="627" name="Google Shape;627;p60"/>
            <p:cNvPicPr preferRelativeResize="0"/>
            <p:nvPr/>
          </p:nvPicPr>
          <p:blipFill>
            <a:blip r:embed="rId7">
              <a:alphaModFix/>
            </a:blip>
            <a:stretch>
              <a:fillRect/>
            </a:stretch>
          </p:blipFill>
          <p:spPr>
            <a:xfrm>
              <a:off x="2420121" y="3999307"/>
              <a:ext cx="539380" cy="539368"/>
            </a:xfrm>
            <a:prstGeom prst="rect">
              <a:avLst/>
            </a:prstGeom>
            <a:noFill/>
            <a:ln>
              <a:noFill/>
            </a:ln>
          </p:spPr>
        </p:pic>
        <p:pic>
          <p:nvPicPr>
            <p:cNvPr id="628" name="Google Shape;628;p60"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6">
              <a:alphaModFix/>
            </a:blip>
            <a:stretch>
              <a:fillRect/>
            </a:stretch>
          </p:blipFill>
          <p:spPr>
            <a:xfrm>
              <a:off x="2306775" y="3213125"/>
              <a:ext cx="539378" cy="539366"/>
            </a:xfrm>
            <a:prstGeom prst="rect">
              <a:avLst/>
            </a:prstGeom>
            <a:noFill/>
            <a:ln>
              <a:noFill/>
            </a:ln>
          </p:spPr>
        </p:pic>
        <p:cxnSp>
          <p:nvCxnSpPr>
            <p:cNvPr id="629" name="Google Shape;629;p60"/>
            <p:cNvCxnSpPr/>
            <p:nvPr/>
          </p:nvCxnSpPr>
          <p:spPr>
            <a:xfrm>
              <a:off x="2043001" y="3752391"/>
              <a:ext cx="383100" cy="516600"/>
            </a:xfrm>
            <a:prstGeom prst="straightConnector1">
              <a:avLst/>
            </a:prstGeom>
            <a:noFill/>
            <a:ln w="19050" cap="flat" cmpd="sng">
              <a:solidFill>
                <a:schemeClr val="dk2"/>
              </a:solidFill>
              <a:prstDash val="solid"/>
              <a:round/>
              <a:headEnd type="none" w="med" len="med"/>
              <a:tailEnd type="none" w="med" len="med"/>
            </a:ln>
          </p:spPr>
        </p:cxnSp>
        <p:cxnSp>
          <p:nvCxnSpPr>
            <p:cNvPr id="630" name="Google Shape;630;p60"/>
            <p:cNvCxnSpPr>
              <a:endCxn id="626" idx="3"/>
            </p:cNvCxnSpPr>
            <p:nvPr/>
          </p:nvCxnSpPr>
          <p:spPr>
            <a:xfrm flipH="1">
              <a:off x="2121301" y="3482691"/>
              <a:ext cx="185400" cy="862500"/>
            </a:xfrm>
            <a:prstGeom prst="straightConnector1">
              <a:avLst/>
            </a:prstGeom>
            <a:noFill/>
            <a:ln w="19050" cap="flat" cmpd="sng">
              <a:solidFill>
                <a:schemeClr val="dk2"/>
              </a:solidFill>
              <a:prstDash val="solid"/>
              <a:round/>
              <a:headEnd type="none" w="med" len="med"/>
              <a:tailEnd type="none" w="med" len="med"/>
            </a:ln>
          </p:spPr>
        </p:cxnSp>
      </p:grpSp>
      <p:pic>
        <p:nvPicPr>
          <p:cNvPr id="631" name="Google Shape;631;p60"/>
          <p:cNvPicPr preferRelativeResize="0"/>
          <p:nvPr/>
        </p:nvPicPr>
        <p:blipFill>
          <a:blip r:embed="rId5">
            <a:alphaModFix/>
          </a:blip>
          <a:stretch>
            <a:fillRect/>
          </a:stretch>
        </p:blipFill>
        <p:spPr>
          <a:xfrm>
            <a:off x="2783750" y="1952188"/>
            <a:ext cx="717900" cy="717900"/>
          </a:xfrm>
          <a:prstGeom prst="rect">
            <a:avLst/>
          </a:prstGeom>
          <a:noFill/>
          <a:ln>
            <a:noFill/>
          </a:ln>
        </p:spPr>
      </p:pic>
      <p:sp>
        <p:nvSpPr>
          <p:cNvPr id="632" name="Google Shape;632;p60"/>
          <p:cNvSpPr txBox="1"/>
          <p:nvPr/>
        </p:nvSpPr>
        <p:spPr>
          <a:xfrm>
            <a:off x="1554950" y="1752600"/>
            <a:ext cx="15657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Earn mining rewards</a:t>
            </a:r>
            <a:endParaRPr sz="1800"/>
          </a:p>
        </p:txBody>
      </p:sp>
      <p:sp>
        <p:nvSpPr>
          <p:cNvPr id="633" name="Google Shape;633;p60"/>
          <p:cNvSpPr/>
          <p:nvPr/>
        </p:nvSpPr>
        <p:spPr>
          <a:xfrm>
            <a:off x="1926425" y="40195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
        <p:nvSpPr>
          <p:cNvPr id="634" name="Google Shape;634;p60"/>
          <p:cNvSpPr/>
          <p:nvPr/>
        </p:nvSpPr>
        <p:spPr>
          <a:xfrm rot="10800000">
            <a:off x="1926425" y="28003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
        <p:nvSpPr>
          <p:cNvPr id="635" name="Google Shape;635;p60"/>
          <p:cNvSpPr/>
          <p:nvPr/>
        </p:nvSpPr>
        <p:spPr>
          <a:xfrm rot="10800000">
            <a:off x="5660225" y="28003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
        <p:nvSpPr>
          <p:cNvPr id="636" name="Google Shape;636;p60"/>
          <p:cNvSpPr/>
          <p:nvPr/>
        </p:nvSpPr>
        <p:spPr>
          <a:xfrm>
            <a:off x="5660225" y="40195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6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Mining has an unnecessary step</a:t>
            </a:r>
            <a:endParaRPr/>
          </a:p>
        </p:txBody>
      </p:sp>
      <p:sp>
        <p:nvSpPr>
          <p:cNvPr id="642" name="Google Shape;642;p61"/>
          <p:cNvSpPr txBox="1">
            <a:spLocks noGrp="1"/>
          </p:cNvSpPr>
          <p:nvPr>
            <p:ph type="body" idx="1"/>
          </p:nvPr>
        </p:nvSpPr>
        <p:spPr>
          <a:xfrm>
            <a:off x="381000" y="971550"/>
            <a:ext cx="8229600" cy="62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Virtual Mining:</a:t>
            </a:r>
            <a:endParaRPr/>
          </a:p>
        </p:txBody>
      </p:sp>
      <p:sp>
        <p:nvSpPr>
          <p:cNvPr id="643" name="Google Shape;643;p61"/>
          <p:cNvSpPr/>
          <p:nvPr/>
        </p:nvSpPr>
        <p:spPr>
          <a:xfrm>
            <a:off x="6665088" y="3124200"/>
            <a:ext cx="782400" cy="717900"/>
          </a:xfrm>
          <a:prstGeom prst="roundRect">
            <a:avLst>
              <a:gd name="adj" fmla="val 16667"/>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Miner</a:t>
            </a:r>
            <a:endParaRPr/>
          </a:p>
        </p:txBody>
      </p:sp>
      <p:grpSp>
        <p:nvGrpSpPr>
          <p:cNvPr id="644" name="Google Shape;644;p61"/>
          <p:cNvGrpSpPr/>
          <p:nvPr/>
        </p:nvGrpSpPr>
        <p:grpSpPr>
          <a:xfrm>
            <a:off x="2743200" y="2376900"/>
            <a:ext cx="1490926" cy="1401750"/>
            <a:chOff x="1468575" y="3213125"/>
            <a:chExt cx="1490926" cy="1401750"/>
          </a:xfrm>
        </p:grpSpPr>
        <p:pic>
          <p:nvPicPr>
            <p:cNvPr id="645" name="Google Shape;645;p61"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3">
              <a:alphaModFix/>
            </a:blip>
            <a:stretch>
              <a:fillRect/>
            </a:stretch>
          </p:blipFill>
          <p:spPr>
            <a:xfrm>
              <a:off x="1468575" y="3289325"/>
              <a:ext cx="539378" cy="539366"/>
            </a:xfrm>
            <a:prstGeom prst="rect">
              <a:avLst/>
            </a:prstGeom>
            <a:noFill/>
            <a:ln>
              <a:noFill/>
            </a:ln>
          </p:spPr>
        </p:pic>
        <p:pic>
          <p:nvPicPr>
            <p:cNvPr id="646" name="Google Shape;646;p61"/>
            <p:cNvPicPr preferRelativeResize="0"/>
            <p:nvPr/>
          </p:nvPicPr>
          <p:blipFill>
            <a:blip r:embed="rId4">
              <a:alphaModFix/>
            </a:blip>
            <a:stretch>
              <a:fillRect/>
            </a:stretch>
          </p:blipFill>
          <p:spPr>
            <a:xfrm>
              <a:off x="1581921" y="4075507"/>
              <a:ext cx="539380" cy="539368"/>
            </a:xfrm>
            <a:prstGeom prst="rect">
              <a:avLst/>
            </a:prstGeom>
            <a:noFill/>
            <a:ln>
              <a:noFill/>
            </a:ln>
          </p:spPr>
        </p:pic>
        <p:pic>
          <p:nvPicPr>
            <p:cNvPr id="647" name="Google Shape;647;p61"/>
            <p:cNvPicPr preferRelativeResize="0"/>
            <p:nvPr/>
          </p:nvPicPr>
          <p:blipFill>
            <a:blip r:embed="rId4">
              <a:alphaModFix/>
            </a:blip>
            <a:stretch>
              <a:fillRect/>
            </a:stretch>
          </p:blipFill>
          <p:spPr>
            <a:xfrm>
              <a:off x="2420121" y="3999307"/>
              <a:ext cx="539380" cy="539368"/>
            </a:xfrm>
            <a:prstGeom prst="rect">
              <a:avLst/>
            </a:prstGeom>
            <a:noFill/>
            <a:ln>
              <a:noFill/>
            </a:ln>
          </p:spPr>
        </p:pic>
        <p:pic>
          <p:nvPicPr>
            <p:cNvPr id="648" name="Google Shape;648;p61" descr="tango computer by warszawianka - &quot;Computer&quot; icon from &lt;a href=&quot;http://tango.freedesktop.org/Tango_Desktop_Project&quot;&gt; Tango Project &lt;/a&gt; &#10;&lt;br&gt;&lt;br&gt;&#10;Since version 0.8.90 Tango Project icons are Public Domain: &lt;a href=&quot;http://tango.freedesktop.org/Frequently_Asked_Questions#Terms_of_Use.3F&quot;&gt; Tango Project FAQ &lt;/a&gt;"/>
            <p:cNvPicPr preferRelativeResize="0"/>
            <p:nvPr/>
          </p:nvPicPr>
          <p:blipFill>
            <a:blip r:embed="rId3">
              <a:alphaModFix/>
            </a:blip>
            <a:stretch>
              <a:fillRect/>
            </a:stretch>
          </p:blipFill>
          <p:spPr>
            <a:xfrm>
              <a:off x="2306775" y="3213125"/>
              <a:ext cx="539378" cy="539366"/>
            </a:xfrm>
            <a:prstGeom prst="rect">
              <a:avLst/>
            </a:prstGeom>
            <a:noFill/>
            <a:ln>
              <a:noFill/>
            </a:ln>
          </p:spPr>
        </p:pic>
        <p:cxnSp>
          <p:nvCxnSpPr>
            <p:cNvPr id="649" name="Google Shape;649;p61"/>
            <p:cNvCxnSpPr/>
            <p:nvPr/>
          </p:nvCxnSpPr>
          <p:spPr>
            <a:xfrm>
              <a:off x="2043001" y="3752391"/>
              <a:ext cx="383100" cy="516600"/>
            </a:xfrm>
            <a:prstGeom prst="straightConnector1">
              <a:avLst/>
            </a:prstGeom>
            <a:noFill/>
            <a:ln w="19050" cap="flat" cmpd="sng">
              <a:solidFill>
                <a:schemeClr val="dk2"/>
              </a:solidFill>
              <a:prstDash val="solid"/>
              <a:round/>
              <a:headEnd type="none" w="med" len="med"/>
              <a:tailEnd type="none" w="med" len="med"/>
            </a:ln>
          </p:spPr>
        </p:cxnSp>
        <p:cxnSp>
          <p:nvCxnSpPr>
            <p:cNvPr id="650" name="Google Shape;650;p61"/>
            <p:cNvCxnSpPr>
              <a:endCxn id="646" idx="3"/>
            </p:cNvCxnSpPr>
            <p:nvPr/>
          </p:nvCxnSpPr>
          <p:spPr>
            <a:xfrm flipH="1">
              <a:off x="2121301" y="3482691"/>
              <a:ext cx="185400" cy="862500"/>
            </a:xfrm>
            <a:prstGeom prst="straightConnector1">
              <a:avLst/>
            </a:prstGeom>
            <a:noFill/>
            <a:ln w="19050" cap="flat" cmpd="sng">
              <a:solidFill>
                <a:schemeClr val="dk2"/>
              </a:solidFill>
              <a:prstDash val="solid"/>
              <a:round/>
              <a:headEnd type="none" w="med" len="med"/>
              <a:tailEnd type="none" w="med" len="med"/>
            </a:ln>
          </p:spPr>
        </p:cxnSp>
      </p:grpSp>
      <p:pic>
        <p:nvPicPr>
          <p:cNvPr id="651" name="Google Shape;651;p61"/>
          <p:cNvPicPr preferRelativeResize="0"/>
          <p:nvPr/>
        </p:nvPicPr>
        <p:blipFill>
          <a:blip r:embed="rId5">
            <a:alphaModFix/>
          </a:blip>
          <a:stretch>
            <a:fillRect/>
          </a:stretch>
        </p:blipFill>
        <p:spPr>
          <a:xfrm>
            <a:off x="5222150" y="1875988"/>
            <a:ext cx="717900" cy="717900"/>
          </a:xfrm>
          <a:prstGeom prst="rect">
            <a:avLst/>
          </a:prstGeom>
          <a:noFill/>
          <a:ln>
            <a:noFill/>
          </a:ln>
        </p:spPr>
      </p:pic>
      <p:sp>
        <p:nvSpPr>
          <p:cNvPr id="652" name="Google Shape;652;p61"/>
          <p:cNvSpPr txBox="1"/>
          <p:nvPr/>
        </p:nvSpPr>
        <p:spPr>
          <a:xfrm>
            <a:off x="3993350" y="1676400"/>
            <a:ext cx="15657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Earn mining rewards</a:t>
            </a:r>
            <a:endParaRPr sz="1800"/>
          </a:p>
        </p:txBody>
      </p:sp>
      <p:sp>
        <p:nvSpPr>
          <p:cNvPr id="653" name="Google Shape;653;p61"/>
          <p:cNvSpPr/>
          <p:nvPr/>
        </p:nvSpPr>
        <p:spPr>
          <a:xfrm>
            <a:off x="4364825" y="39433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
        <p:nvSpPr>
          <p:cNvPr id="654" name="Google Shape;654;p61"/>
          <p:cNvSpPr/>
          <p:nvPr/>
        </p:nvSpPr>
        <p:spPr>
          <a:xfrm rot="10800000">
            <a:off x="4364825" y="2724150"/>
            <a:ext cx="1982400" cy="364775"/>
          </a:xfrm>
          <a:custGeom>
            <a:avLst/>
            <a:gdLst/>
            <a:ahLst/>
            <a:cxnLst/>
            <a:rect l="l" t="t" r="r" b="b"/>
            <a:pathLst>
              <a:path w="79296" h="14591" extrusionOk="0">
                <a:moveTo>
                  <a:pt x="79296" y="0"/>
                </a:moveTo>
                <a:cubicBezTo>
                  <a:pt x="72581" y="2429"/>
                  <a:pt x="52221" y="14430"/>
                  <a:pt x="39005" y="14573"/>
                </a:cubicBezTo>
                <a:cubicBezTo>
                  <a:pt x="25789" y="14716"/>
                  <a:pt x="6501" y="3143"/>
                  <a:pt x="0" y="857"/>
                </a:cubicBezTo>
              </a:path>
            </a:pathLst>
          </a:custGeom>
          <a:noFill/>
          <a:ln w="28575" cap="flat" cmpd="sng">
            <a:solidFill>
              <a:schemeClr val="dk2"/>
            </a:solidFill>
            <a:prstDash val="solid"/>
            <a:round/>
            <a:headEnd type="none" w="med" len="med"/>
            <a:tailEnd type="triangle" w="med" len="med"/>
          </a:ln>
        </p:spPr>
        <p:txBody>
          <a:bodyPr/>
          <a:lstStyle/>
          <a:p>
            <a:endParaRPr/>
          </a:p>
        </p:txBody>
      </p:sp>
      <p:sp>
        <p:nvSpPr>
          <p:cNvPr id="655" name="Google Shape;655;p61"/>
          <p:cNvSpPr txBox="1"/>
          <p:nvPr/>
        </p:nvSpPr>
        <p:spPr>
          <a:xfrm>
            <a:off x="4371975" y="4323150"/>
            <a:ext cx="3031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“Mine” by sending money to a special address</a:t>
            </a:r>
            <a:endParaRPr sz="1800"/>
          </a:p>
        </p:txBody>
      </p:sp>
      <p:pic>
        <p:nvPicPr>
          <p:cNvPr id="656" name="Google Shape;656;p61"/>
          <p:cNvPicPr preferRelativeResize="0"/>
          <p:nvPr/>
        </p:nvPicPr>
        <p:blipFill>
          <a:blip r:embed="rId5">
            <a:alphaModFix/>
          </a:blip>
          <a:stretch>
            <a:fillRect/>
          </a:stretch>
        </p:blipFill>
        <p:spPr>
          <a:xfrm>
            <a:off x="5069750" y="3476188"/>
            <a:ext cx="717900" cy="717900"/>
          </a:xfrm>
          <a:prstGeom prst="rect">
            <a:avLst/>
          </a:prstGeom>
          <a:noFill/>
          <a:ln>
            <a:noFill/>
          </a:ln>
        </p:spPr>
      </p:pic>
      <p:pic>
        <p:nvPicPr>
          <p:cNvPr id="657" name="Google Shape;657;p61"/>
          <p:cNvPicPr preferRelativeResize="0"/>
          <p:nvPr/>
        </p:nvPicPr>
        <p:blipFill>
          <a:blip r:embed="rId6">
            <a:alphaModFix/>
          </a:blip>
          <a:stretch>
            <a:fillRect/>
          </a:stretch>
        </p:blipFill>
        <p:spPr>
          <a:xfrm>
            <a:off x="1121575" y="2898700"/>
            <a:ext cx="1622825" cy="1125950"/>
          </a:xfrm>
          <a:prstGeom prst="rect">
            <a:avLst/>
          </a:prstGeom>
          <a:noFill/>
          <a:ln>
            <a:noFill/>
          </a:ln>
        </p:spPr>
      </p:pic>
      <p:sp>
        <p:nvSpPr>
          <p:cNvPr id="658" name="Google Shape;658;p61"/>
          <p:cNvSpPr txBox="1"/>
          <p:nvPr/>
        </p:nvSpPr>
        <p:spPr>
          <a:xfrm>
            <a:off x="1299225" y="4041700"/>
            <a:ext cx="19824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Winners chosen at random by lottery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Potential benefits</a:t>
            </a:r>
            <a:endParaRPr/>
          </a:p>
        </p:txBody>
      </p:sp>
      <p:sp>
        <p:nvSpPr>
          <p:cNvPr id="664" name="Google Shape;664;p6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Lower overall costs</a:t>
            </a:r>
            <a:endParaRPr/>
          </a:p>
          <a:p>
            <a:pPr marL="0" lvl="0" indent="457200" algn="l" rtl="0">
              <a:spcBef>
                <a:spcPts val="600"/>
              </a:spcBef>
              <a:spcAft>
                <a:spcPts val="0"/>
              </a:spcAft>
              <a:buNone/>
            </a:pPr>
            <a:r>
              <a:rPr lang="en"/>
              <a:t> - No harm to the environment</a:t>
            </a:r>
            <a:endParaRPr/>
          </a:p>
          <a:p>
            <a:pPr marL="0" lvl="0" indent="0" algn="l" rtl="0">
              <a:spcBef>
                <a:spcPts val="600"/>
              </a:spcBef>
              <a:spcAft>
                <a:spcPts val="0"/>
              </a:spcAft>
              <a:buNone/>
            </a:pPr>
            <a:r>
              <a:rPr lang="en"/>
              <a:t>	 - Savings distributed to all coin holders</a:t>
            </a:r>
            <a:endParaRPr/>
          </a:p>
          <a:p>
            <a:pPr marL="457200" lvl="0" indent="-419100" algn="l" rtl="0">
              <a:spcBef>
                <a:spcPts val="600"/>
              </a:spcBef>
              <a:spcAft>
                <a:spcPts val="0"/>
              </a:spcAft>
              <a:buSzPts val="3000"/>
              <a:buChar char="●"/>
            </a:pPr>
            <a:r>
              <a:rPr lang="en"/>
              <a:t>Stakeholder incentives - good stewards?</a:t>
            </a:r>
            <a:endParaRPr/>
          </a:p>
          <a:p>
            <a:pPr marL="457200" lvl="0" indent="-419100" algn="l" rtl="0">
              <a:spcBef>
                <a:spcPts val="0"/>
              </a:spcBef>
              <a:spcAft>
                <a:spcPts val="0"/>
              </a:spcAft>
              <a:buSzPts val="3000"/>
              <a:buChar char="●"/>
            </a:pPr>
            <a:r>
              <a:rPr lang="en"/>
              <a:t>No ASIC advantage</a:t>
            </a:r>
            <a:endParaRPr/>
          </a:p>
          <a:p>
            <a:pPr marL="457200" lvl="0" indent="-419100" algn="l" rtl="0">
              <a:spcBef>
                <a:spcPts val="0"/>
              </a:spcBef>
              <a:spcAft>
                <a:spcPts val="0"/>
              </a:spcAft>
              <a:buSzPts val="3000"/>
              <a:buChar char="●"/>
            </a:pPr>
            <a:r>
              <a:rPr lang="en"/>
              <a:t>51% attack is even harder</a:t>
            </a:r>
            <a:endParaRPr/>
          </a:p>
          <a:p>
            <a:pPr marL="0" lvl="0" indent="0" algn="l" rtl="0">
              <a:spcBef>
                <a:spcPts val="6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51% attack prevention</a:t>
            </a:r>
            <a:endParaRPr/>
          </a:p>
        </p:txBody>
      </p:sp>
      <p:sp>
        <p:nvSpPr>
          <p:cNvPr id="670" name="Google Shape;670;p63"/>
          <p:cNvSpPr txBox="1">
            <a:spLocks noGrp="1"/>
          </p:cNvSpPr>
          <p:nvPr>
            <p:ph type="body" idx="1"/>
          </p:nvPr>
        </p:nvSpPr>
        <p:spPr>
          <a:xfrm>
            <a:off x="457200" y="8953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Bitcoin economy is smaller than the world</a:t>
            </a:r>
            <a:endParaRPr/>
          </a:p>
          <a:p>
            <a:pPr marL="0" lvl="0" indent="0" algn="l" rtl="0">
              <a:spcBef>
                <a:spcPts val="600"/>
              </a:spcBef>
              <a:spcAft>
                <a:spcPts val="0"/>
              </a:spcAft>
              <a:buNone/>
            </a:pPr>
            <a:r>
              <a:rPr lang="en"/>
              <a:t>Wealth </a:t>
            </a:r>
            <a:r>
              <a:rPr lang="en" i="1"/>
              <a:t>outside</a:t>
            </a:r>
            <a:r>
              <a:rPr lang="en"/>
              <a:t> Bitcoin has to move </a:t>
            </a:r>
            <a:r>
              <a:rPr lang="en" i="1"/>
              <a:t>inside</a:t>
            </a:r>
            <a:endParaRPr i="1"/>
          </a:p>
        </p:txBody>
      </p:sp>
      <p:pic>
        <p:nvPicPr>
          <p:cNvPr id="671" name="Google Shape;671;p63"/>
          <p:cNvPicPr preferRelativeResize="0"/>
          <p:nvPr/>
        </p:nvPicPr>
        <p:blipFill>
          <a:blip r:embed="rId3">
            <a:alphaModFix/>
          </a:blip>
          <a:stretch>
            <a:fillRect/>
          </a:stretch>
        </p:blipFill>
        <p:spPr>
          <a:xfrm>
            <a:off x="408276" y="3428775"/>
            <a:ext cx="1482150" cy="771200"/>
          </a:xfrm>
          <a:prstGeom prst="rect">
            <a:avLst/>
          </a:prstGeom>
          <a:noFill/>
          <a:ln>
            <a:noFill/>
          </a:ln>
        </p:spPr>
      </p:pic>
      <p:pic>
        <p:nvPicPr>
          <p:cNvPr id="672" name="Google Shape;672;p63"/>
          <p:cNvPicPr preferRelativeResize="0"/>
          <p:nvPr/>
        </p:nvPicPr>
        <p:blipFill>
          <a:blip r:embed="rId4">
            <a:alphaModFix/>
          </a:blip>
          <a:stretch>
            <a:fillRect/>
          </a:stretch>
        </p:blipFill>
        <p:spPr>
          <a:xfrm>
            <a:off x="857875" y="2438838"/>
            <a:ext cx="717900" cy="717900"/>
          </a:xfrm>
          <a:prstGeom prst="rect">
            <a:avLst/>
          </a:prstGeom>
          <a:noFill/>
          <a:ln>
            <a:noFill/>
          </a:ln>
        </p:spPr>
      </p:pic>
      <p:sp>
        <p:nvSpPr>
          <p:cNvPr id="673" name="Google Shape;673;p63"/>
          <p:cNvSpPr/>
          <p:nvPr/>
        </p:nvSpPr>
        <p:spPr>
          <a:xfrm>
            <a:off x="468288" y="28142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sp>
        <p:nvSpPr>
          <p:cNvPr id="674" name="Google Shape;674;p63"/>
          <p:cNvSpPr/>
          <p:nvPr/>
        </p:nvSpPr>
        <p:spPr>
          <a:xfrm rot="10800000">
            <a:off x="1839888" y="28142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pic>
        <p:nvPicPr>
          <p:cNvPr id="675" name="Google Shape;675;p63"/>
          <p:cNvPicPr preferRelativeResize="0"/>
          <p:nvPr/>
        </p:nvPicPr>
        <p:blipFill>
          <a:blip r:embed="rId5">
            <a:alphaModFix/>
          </a:blip>
          <a:stretch>
            <a:fillRect/>
          </a:stretch>
        </p:blipFill>
        <p:spPr>
          <a:xfrm>
            <a:off x="3321500" y="2645975"/>
            <a:ext cx="762750" cy="729586"/>
          </a:xfrm>
          <a:prstGeom prst="rect">
            <a:avLst/>
          </a:prstGeom>
          <a:noFill/>
          <a:ln>
            <a:noFill/>
          </a:ln>
        </p:spPr>
      </p:pic>
      <p:pic>
        <p:nvPicPr>
          <p:cNvPr id="676" name="Google Shape;676;p63"/>
          <p:cNvPicPr preferRelativeResize="0"/>
          <p:nvPr/>
        </p:nvPicPr>
        <p:blipFill>
          <a:blip r:embed="rId6">
            <a:alphaModFix/>
          </a:blip>
          <a:stretch>
            <a:fillRect/>
          </a:stretch>
        </p:blipFill>
        <p:spPr>
          <a:xfrm>
            <a:off x="2738075" y="2729250"/>
            <a:ext cx="532800" cy="628025"/>
          </a:xfrm>
          <a:prstGeom prst="rect">
            <a:avLst/>
          </a:prstGeom>
          <a:noFill/>
          <a:ln>
            <a:noFill/>
          </a:ln>
        </p:spPr>
      </p:pic>
      <p:pic>
        <p:nvPicPr>
          <p:cNvPr id="677" name="Google Shape;677;p63"/>
          <p:cNvPicPr preferRelativeResize="0"/>
          <p:nvPr/>
        </p:nvPicPr>
        <p:blipFill>
          <a:blip r:embed="rId3">
            <a:alphaModFix/>
          </a:blip>
          <a:stretch>
            <a:fillRect/>
          </a:stretch>
        </p:blipFill>
        <p:spPr>
          <a:xfrm>
            <a:off x="2541876" y="3504975"/>
            <a:ext cx="1482150" cy="771200"/>
          </a:xfrm>
          <a:prstGeom prst="rect">
            <a:avLst/>
          </a:prstGeom>
          <a:noFill/>
          <a:ln>
            <a:noFill/>
          </a:ln>
        </p:spPr>
      </p:pic>
      <p:pic>
        <p:nvPicPr>
          <p:cNvPr id="678" name="Google Shape;678;p63"/>
          <p:cNvPicPr preferRelativeResize="0"/>
          <p:nvPr/>
        </p:nvPicPr>
        <p:blipFill>
          <a:blip r:embed="rId3">
            <a:alphaModFix/>
          </a:blip>
          <a:stretch>
            <a:fillRect/>
          </a:stretch>
        </p:blipFill>
        <p:spPr>
          <a:xfrm>
            <a:off x="2541876" y="4190775"/>
            <a:ext cx="1482150" cy="771200"/>
          </a:xfrm>
          <a:prstGeom prst="rect">
            <a:avLst/>
          </a:prstGeom>
          <a:noFill/>
          <a:ln>
            <a:noFill/>
          </a:ln>
        </p:spPr>
      </p:pic>
      <p:cxnSp>
        <p:nvCxnSpPr>
          <p:cNvPr id="679" name="Google Shape;679;p63"/>
          <p:cNvCxnSpPr/>
          <p:nvPr/>
        </p:nvCxnSpPr>
        <p:spPr>
          <a:xfrm rot="10800000">
            <a:off x="1530576" y="4244575"/>
            <a:ext cx="1011300" cy="331800"/>
          </a:xfrm>
          <a:prstGeom prst="straightConnector1">
            <a:avLst/>
          </a:prstGeom>
          <a:noFill/>
          <a:ln w="19050" cap="flat" cmpd="sng">
            <a:solidFill>
              <a:schemeClr val="dk2"/>
            </a:solidFill>
            <a:prstDash val="solid"/>
            <a:round/>
            <a:headEnd type="none" w="med" len="med"/>
            <a:tailEnd type="triangle" w="med" len="med"/>
          </a:ln>
        </p:spPr>
      </p:cxnSp>
      <p:sp>
        <p:nvSpPr>
          <p:cNvPr id="680" name="Google Shape;680;p63"/>
          <p:cNvSpPr txBox="1"/>
          <p:nvPr/>
        </p:nvSpPr>
        <p:spPr>
          <a:xfrm>
            <a:off x="1389325" y="4431600"/>
            <a:ext cx="7629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Attack</a:t>
            </a:r>
            <a:endParaRPr/>
          </a:p>
        </p:txBody>
      </p:sp>
      <p:sp>
        <p:nvSpPr>
          <p:cNvPr id="681" name="Google Shape;681;p63"/>
          <p:cNvSpPr txBox="1"/>
          <p:nvPr/>
        </p:nvSpPr>
        <p:spPr>
          <a:xfrm>
            <a:off x="516125" y="2099000"/>
            <a:ext cx="1659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Bitcoin Economy</a:t>
            </a:r>
            <a:endParaRPr/>
          </a:p>
        </p:txBody>
      </p:sp>
      <p:sp>
        <p:nvSpPr>
          <p:cNvPr id="682" name="Google Shape;682;p63"/>
          <p:cNvSpPr txBox="1"/>
          <p:nvPr/>
        </p:nvSpPr>
        <p:spPr>
          <a:xfrm>
            <a:off x="2497325" y="2175200"/>
            <a:ext cx="1659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Wealthy Attacker</a:t>
            </a:r>
            <a:endParaRPr/>
          </a:p>
        </p:txBody>
      </p:sp>
      <p:pic>
        <p:nvPicPr>
          <p:cNvPr id="683" name="Google Shape;683;p63"/>
          <p:cNvPicPr preferRelativeResize="0"/>
          <p:nvPr/>
        </p:nvPicPr>
        <p:blipFill>
          <a:blip r:embed="rId4">
            <a:alphaModFix/>
          </a:blip>
          <a:stretch>
            <a:fillRect/>
          </a:stretch>
        </p:blipFill>
        <p:spPr>
          <a:xfrm>
            <a:off x="5506075" y="2667438"/>
            <a:ext cx="717900" cy="717900"/>
          </a:xfrm>
          <a:prstGeom prst="rect">
            <a:avLst/>
          </a:prstGeom>
          <a:noFill/>
          <a:ln>
            <a:noFill/>
          </a:ln>
        </p:spPr>
      </p:pic>
      <p:sp>
        <p:nvSpPr>
          <p:cNvPr id="684" name="Google Shape;684;p63"/>
          <p:cNvSpPr/>
          <p:nvPr/>
        </p:nvSpPr>
        <p:spPr>
          <a:xfrm>
            <a:off x="5116488" y="30428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sp>
        <p:nvSpPr>
          <p:cNvPr id="685" name="Google Shape;685;p63"/>
          <p:cNvSpPr/>
          <p:nvPr/>
        </p:nvSpPr>
        <p:spPr>
          <a:xfrm rot="10800000">
            <a:off x="6488088" y="30428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pic>
        <p:nvPicPr>
          <p:cNvPr id="686" name="Google Shape;686;p63"/>
          <p:cNvPicPr preferRelativeResize="0"/>
          <p:nvPr/>
        </p:nvPicPr>
        <p:blipFill>
          <a:blip r:embed="rId5">
            <a:alphaModFix/>
          </a:blip>
          <a:stretch>
            <a:fillRect/>
          </a:stretch>
        </p:blipFill>
        <p:spPr>
          <a:xfrm>
            <a:off x="7893500" y="2950775"/>
            <a:ext cx="762750" cy="729586"/>
          </a:xfrm>
          <a:prstGeom prst="rect">
            <a:avLst/>
          </a:prstGeom>
          <a:noFill/>
          <a:ln>
            <a:noFill/>
          </a:ln>
        </p:spPr>
      </p:pic>
      <p:pic>
        <p:nvPicPr>
          <p:cNvPr id="687" name="Google Shape;687;p63"/>
          <p:cNvPicPr preferRelativeResize="0"/>
          <p:nvPr/>
        </p:nvPicPr>
        <p:blipFill>
          <a:blip r:embed="rId6">
            <a:alphaModFix/>
          </a:blip>
          <a:stretch>
            <a:fillRect/>
          </a:stretch>
        </p:blipFill>
        <p:spPr>
          <a:xfrm>
            <a:off x="7386275" y="2957850"/>
            <a:ext cx="532800" cy="628025"/>
          </a:xfrm>
          <a:prstGeom prst="rect">
            <a:avLst/>
          </a:prstGeom>
          <a:noFill/>
          <a:ln>
            <a:noFill/>
          </a:ln>
        </p:spPr>
      </p:pic>
      <p:sp>
        <p:nvSpPr>
          <p:cNvPr id="688" name="Google Shape;688;p63"/>
          <p:cNvSpPr txBox="1"/>
          <p:nvPr/>
        </p:nvSpPr>
        <p:spPr>
          <a:xfrm>
            <a:off x="6742938" y="4452250"/>
            <a:ext cx="7629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Attack</a:t>
            </a:r>
            <a:endParaRPr/>
          </a:p>
        </p:txBody>
      </p:sp>
      <p:sp>
        <p:nvSpPr>
          <p:cNvPr id="689" name="Google Shape;689;p63"/>
          <p:cNvSpPr txBox="1"/>
          <p:nvPr/>
        </p:nvSpPr>
        <p:spPr>
          <a:xfrm>
            <a:off x="5164325" y="2327600"/>
            <a:ext cx="1659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Bitcoin Economy</a:t>
            </a:r>
            <a:endParaRPr/>
          </a:p>
        </p:txBody>
      </p:sp>
      <p:sp>
        <p:nvSpPr>
          <p:cNvPr id="690" name="Google Shape;690;p63"/>
          <p:cNvSpPr txBox="1"/>
          <p:nvPr/>
        </p:nvSpPr>
        <p:spPr>
          <a:xfrm>
            <a:off x="7145525" y="2403800"/>
            <a:ext cx="16593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Wealthy Attacker</a:t>
            </a:r>
            <a:endParaRPr/>
          </a:p>
        </p:txBody>
      </p:sp>
      <p:sp>
        <p:nvSpPr>
          <p:cNvPr id="691" name="Google Shape;691;p63"/>
          <p:cNvSpPr/>
          <p:nvPr/>
        </p:nvSpPr>
        <p:spPr>
          <a:xfrm rot="-5400000">
            <a:off x="6945288" y="33476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sp>
        <p:nvSpPr>
          <p:cNvPr id="692" name="Google Shape;692;p63"/>
          <p:cNvSpPr/>
          <p:nvPr/>
        </p:nvSpPr>
        <p:spPr>
          <a:xfrm rot="5400000">
            <a:off x="6869088" y="2585650"/>
            <a:ext cx="205800" cy="694125"/>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sp>
        <p:nvSpPr>
          <p:cNvPr id="693" name="Google Shape;693;p63"/>
          <p:cNvSpPr txBox="1"/>
          <p:nvPr/>
        </p:nvSpPr>
        <p:spPr>
          <a:xfrm>
            <a:off x="6554975" y="3778100"/>
            <a:ext cx="11820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Exchange</a:t>
            </a:r>
            <a:endParaRPr/>
          </a:p>
        </p:txBody>
      </p:sp>
      <p:pic>
        <p:nvPicPr>
          <p:cNvPr id="694" name="Google Shape;694;p63"/>
          <p:cNvPicPr preferRelativeResize="0"/>
          <p:nvPr/>
        </p:nvPicPr>
        <p:blipFill>
          <a:blip r:embed="rId7">
            <a:alphaModFix/>
          </a:blip>
          <a:stretch>
            <a:fillRect/>
          </a:stretch>
        </p:blipFill>
        <p:spPr>
          <a:xfrm>
            <a:off x="5437475" y="3809775"/>
            <a:ext cx="1011299" cy="701656"/>
          </a:xfrm>
          <a:prstGeom prst="rect">
            <a:avLst/>
          </a:prstGeom>
          <a:noFill/>
          <a:ln>
            <a:noFill/>
          </a:ln>
        </p:spPr>
      </p:pic>
      <p:sp>
        <p:nvSpPr>
          <p:cNvPr id="695" name="Google Shape;695;p63"/>
          <p:cNvSpPr/>
          <p:nvPr/>
        </p:nvSpPr>
        <p:spPr>
          <a:xfrm rot="4278283" flipH="1">
            <a:off x="7101309" y="3755859"/>
            <a:ext cx="194798" cy="1171536"/>
          </a:xfrm>
          <a:custGeom>
            <a:avLst/>
            <a:gdLst/>
            <a:ahLst/>
            <a:cxnLst/>
            <a:rect l="l" t="t" r="r" b="b"/>
            <a:pathLst>
              <a:path w="8232" h="27765" extrusionOk="0">
                <a:moveTo>
                  <a:pt x="7164" y="0"/>
                </a:moveTo>
                <a:cubicBezTo>
                  <a:pt x="5978" y="2136"/>
                  <a:pt x="-133" y="8188"/>
                  <a:pt x="45" y="12815"/>
                </a:cubicBezTo>
                <a:cubicBezTo>
                  <a:pt x="223" y="17443"/>
                  <a:pt x="6868" y="25273"/>
                  <a:pt x="8232" y="27765"/>
                </a:cubicBezTo>
              </a:path>
            </a:pathLst>
          </a:custGeom>
          <a:noFill/>
          <a:ln w="19050" cap="flat" cmpd="sng">
            <a:solidFill>
              <a:schemeClr val="dk2"/>
            </a:solidFill>
            <a:prstDash val="solid"/>
            <a:round/>
            <a:headEnd type="none" w="med" len="med"/>
            <a:tailEnd type="triangle" w="med" len="med"/>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1"/>
                                        </p:tgtEl>
                                        <p:attrNameLst>
                                          <p:attrName>style.visibility</p:attrName>
                                        </p:attrNameLst>
                                      </p:cBhvr>
                                      <p:to>
                                        <p:strVal val="visible"/>
                                      </p:to>
                                    </p:set>
                                    <p:animEffect transition="in" filter="fade">
                                      <p:cBhvr>
                                        <p:cTn id="7" dur="1000"/>
                                        <p:tgtEl>
                                          <p:spTgt spid="671"/>
                                        </p:tgtEl>
                                      </p:cBhvr>
                                    </p:animEffect>
                                  </p:childTnLst>
                                </p:cTn>
                              </p:par>
                              <p:par>
                                <p:cTn id="8" presetID="10" presetClass="entr" presetSubtype="0" fill="hold" nodeType="withEffect">
                                  <p:stCondLst>
                                    <p:cond delay="0"/>
                                  </p:stCondLst>
                                  <p:childTnLst>
                                    <p:set>
                                      <p:cBhvr>
                                        <p:cTn id="9" dur="1" fill="hold">
                                          <p:stCondLst>
                                            <p:cond delay="0"/>
                                          </p:stCondLst>
                                        </p:cTn>
                                        <p:tgtEl>
                                          <p:spTgt spid="672"/>
                                        </p:tgtEl>
                                        <p:attrNameLst>
                                          <p:attrName>style.visibility</p:attrName>
                                        </p:attrNameLst>
                                      </p:cBhvr>
                                      <p:to>
                                        <p:strVal val="visible"/>
                                      </p:to>
                                    </p:set>
                                    <p:animEffect transition="in" filter="fade">
                                      <p:cBhvr>
                                        <p:cTn id="10" dur="1000"/>
                                        <p:tgtEl>
                                          <p:spTgt spid="672"/>
                                        </p:tgtEl>
                                      </p:cBhvr>
                                    </p:animEffect>
                                  </p:childTnLst>
                                </p:cTn>
                              </p:par>
                              <p:par>
                                <p:cTn id="11" presetID="10" presetClass="entr" presetSubtype="0" fill="hold" nodeType="withEffect">
                                  <p:stCondLst>
                                    <p:cond delay="0"/>
                                  </p:stCondLst>
                                  <p:childTnLst>
                                    <p:set>
                                      <p:cBhvr>
                                        <p:cTn id="12" dur="1" fill="hold">
                                          <p:stCondLst>
                                            <p:cond delay="0"/>
                                          </p:stCondLst>
                                        </p:cTn>
                                        <p:tgtEl>
                                          <p:spTgt spid="673"/>
                                        </p:tgtEl>
                                        <p:attrNameLst>
                                          <p:attrName>style.visibility</p:attrName>
                                        </p:attrNameLst>
                                      </p:cBhvr>
                                      <p:to>
                                        <p:strVal val="visible"/>
                                      </p:to>
                                    </p:set>
                                    <p:animEffect transition="in" filter="fade">
                                      <p:cBhvr>
                                        <p:cTn id="13" dur="1000"/>
                                        <p:tgtEl>
                                          <p:spTgt spid="673"/>
                                        </p:tgtEl>
                                      </p:cBhvr>
                                    </p:animEffect>
                                  </p:childTnLst>
                                </p:cTn>
                              </p:par>
                              <p:par>
                                <p:cTn id="14" presetID="10" presetClass="entr" presetSubtype="0" fill="hold" nodeType="withEffect">
                                  <p:stCondLst>
                                    <p:cond delay="0"/>
                                  </p:stCondLst>
                                  <p:childTnLst>
                                    <p:set>
                                      <p:cBhvr>
                                        <p:cTn id="15" dur="1" fill="hold">
                                          <p:stCondLst>
                                            <p:cond delay="0"/>
                                          </p:stCondLst>
                                        </p:cTn>
                                        <p:tgtEl>
                                          <p:spTgt spid="674"/>
                                        </p:tgtEl>
                                        <p:attrNameLst>
                                          <p:attrName>style.visibility</p:attrName>
                                        </p:attrNameLst>
                                      </p:cBhvr>
                                      <p:to>
                                        <p:strVal val="visible"/>
                                      </p:to>
                                    </p:set>
                                    <p:animEffect transition="in" filter="fade">
                                      <p:cBhvr>
                                        <p:cTn id="16" dur="1000"/>
                                        <p:tgtEl>
                                          <p:spTgt spid="674"/>
                                        </p:tgtEl>
                                      </p:cBhvr>
                                    </p:animEffect>
                                  </p:childTnLst>
                                </p:cTn>
                              </p:par>
                              <p:par>
                                <p:cTn id="17" presetID="10" presetClass="entr" presetSubtype="0" fill="hold" nodeType="withEffect">
                                  <p:stCondLst>
                                    <p:cond delay="0"/>
                                  </p:stCondLst>
                                  <p:childTnLst>
                                    <p:set>
                                      <p:cBhvr>
                                        <p:cTn id="18" dur="1" fill="hold">
                                          <p:stCondLst>
                                            <p:cond delay="0"/>
                                          </p:stCondLst>
                                        </p:cTn>
                                        <p:tgtEl>
                                          <p:spTgt spid="675"/>
                                        </p:tgtEl>
                                        <p:attrNameLst>
                                          <p:attrName>style.visibility</p:attrName>
                                        </p:attrNameLst>
                                      </p:cBhvr>
                                      <p:to>
                                        <p:strVal val="visible"/>
                                      </p:to>
                                    </p:set>
                                    <p:animEffect transition="in" filter="fade">
                                      <p:cBhvr>
                                        <p:cTn id="19" dur="1000"/>
                                        <p:tgtEl>
                                          <p:spTgt spid="675"/>
                                        </p:tgtEl>
                                      </p:cBhvr>
                                    </p:animEffect>
                                  </p:childTnLst>
                                </p:cTn>
                              </p:par>
                              <p:par>
                                <p:cTn id="20" presetID="10" presetClass="entr" presetSubtype="0" fill="hold" nodeType="withEffect">
                                  <p:stCondLst>
                                    <p:cond delay="0"/>
                                  </p:stCondLst>
                                  <p:childTnLst>
                                    <p:set>
                                      <p:cBhvr>
                                        <p:cTn id="21" dur="1" fill="hold">
                                          <p:stCondLst>
                                            <p:cond delay="0"/>
                                          </p:stCondLst>
                                        </p:cTn>
                                        <p:tgtEl>
                                          <p:spTgt spid="676"/>
                                        </p:tgtEl>
                                        <p:attrNameLst>
                                          <p:attrName>style.visibility</p:attrName>
                                        </p:attrNameLst>
                                      </p:cBhvr>
                                      <p:to>
                                        <p:strVal val="visible"/>
                                      </p:to>
                                    </p:set>
                                    <p:animEffect transition="in" filter="fade">
                                      <p:cBhvr>
                                        <p:cTn id="22" dur="1000"/>
                                        <p:tgtEl>
                                          <p:spTgt spid="676"/>
                                        </p:tgtEl>
                                      </p:cBhvr>
                                    </p:animEffect>
                                  </p:childTnLst>
                                </p:cTn>
                              </p:par>
                              <p:par>
                                <p:cTn id="23" presetID="10" presetClass="entr" presetSubtype="0" fill="hold" nodeType="withEffect">
                                  <p:stCondLst>
                                    <p:cond delay="0"/>
                                  </p:stCondLst>
                                  <p:childTnLst>
                                    <p:set>
                                      <p:cBhvr>
                                        <p:cTn id="24" dur="1" fill="hold">
                                          <p:stCondLst>
                                            <p:cond delay="0"/>
                                          </p:stCondLst>
                                        </p:cTn>
                                        <p:tgtEl>
                                          <p:spTgt spid="677"/>
                                        </p:tgtEl>
                                        <p:attrNameLst>
                                          <p:attrName>style.visibility</p:attrName>
                                        </p:attrNameLst>
                                      </p:cBhvr>
                                      <p:to>
                                        <p:strVal val="visible"/>
                                      </p:to>
                                    </p:set>
                                    <p:animEffect transition="in" filter="fade">
                                      <p:cBhvr>
                                        <p:cTn id="25" dur="1000"/>
                                        <p:tgtEl>
                                          <p:spTgt spid="677"/>
                                        </p:tgtEl>
                                      </p:cBhvr>
                                    </p:animEffect>
                                  </p:childTnLst>
                                </p:cTn>
                              </p:par>
                              <p:par>
                                <p:cTn id="26" presetID="10" presetClass="entr" presetSubtype="0" fill="hold" nodeType="withEffect">
                                  <p:stCondLst>
                                    <p:cond delay="0"/>
                                  </p:stCondLst>
                                  <p:childTnLst>
                                    <p:set>
                                      <p:cBhvr>
                                        <p:cTn id="27" dur="1" fill="hold">
                                          <p:stCondLst>
                                            <p:cond delay="0"/>
                                          </p:stCondLst>
                                        </p:cTn>
                                        <p:tgtEl>
                                          <p:spTgt spid="678"/>
                                        </p:tgtEl>
                                        <p:attrNameLst>
                                          <p:attrName>style.visibility</p:attrName>
                                        </p:attrNameLst>
                                      </p:cBhvr>
                                      <p:to>
                                        <p:strVal val="visible"/>
                                      </p:to>
                                    </p:set>
                                    <p:animEffect transition="in" filter="fade">
                                      <p:cBhvr>
                                        <p:cTn id="28" dur="1000"/>
                                        <p:tgtEl>
                                          <p:spTgt spid="678"/>
                                        </p:tgtEl>
                                      </p:cBhvr>
                                    </p:animEffect>
                                  </p:childTnLst>
                                </p:cTn>
                              </p:par>
                              <p:par>
                                <p:cTn id="29" presetID="10" presetClass="entr" presetSubtype="0" fill="hold" nodeType="withEffect">
                                  <p:stCondLst>
                                    <p:cond delay="0"/>
                                  </p:stCondLst>
                                  <p:childTnLst>
                                    <p:set>
                                      <p:cBhvr>
                                        <p:cTn id="30" dur="1" fill="hold">
                                          <p:stCondLst>
                                            <p:cond delay="0"/>
                                          </p:stCondLst>
                                        </p:cTn>
                                        <p:tgtEl>
                                          <p:spTgt spid="679"/>
                                        </p:tgtEl>
                                        <p:attrNameLst>
                                          <p:attrName>style.visibility</p:attrName>
                                        </p:attrNameLst>
                                      </p:cBhvr>
                                      <p:to>
                                        <p:strVal val="visible"/>
                                      </p:to>
                                    </p:set>
                                    <p:animEffect transition="in" filter="fade">
                                      <p:cBhvr>
                                        <p:cTn id="31" dur="1000"/>
                                        <p:tgtEl>
                                          <p:spTgt spid="679"/>
                                        </p:tgtEl>
                                      </p:cBhvr>
                                    </p:animEffect>
                                  </p:childTnLst>
                                </p:cTn>
                              </p:par>
                              <p:par>
                                <p:cTn id="32" presetID="10" presetClass="entr" presetSubtype="0" fill="hold" nodeType="withEffect">
                                  <p:stCondLst>
                                    <p:cond delay="0"/>
                                  </p:stCondLst>
                                  <p:childTnLst>
                                    <p:set>
                                      <p:cBhvr>
                                        <p:cTn id="33" dur="1" fill="hold">
                                          <p:stCondLst>
                                            <p:cond delay="0"/>
                                          </p:stCondLst>
                                        </p:cTn>
                                        <p:tgtEl>
                                          <p:spTgt spid="680"/>
                                        </p:tgtEl>
                                        <p:attrNameLst>
                                          <p:attrName>style.visibility</p:attrName>
                                        </p:attrNameLst>
                                      </p:cBhvr>
                                      <p:to>
                                        <p:strVal val="visible"/>
                                      </p:to>
                                    </p:set>
                                    <p:animEffect transition="in" filter="fade">
                                      <p:cBhvr>
                                        <p:cTn id="34" dur="1000"/>
                                        <p:tgtEl>
                                          <p:spTgt spid="680"/>
                                        </p:tgtEl>
                                      </p:cBhvr>
                                    </p:animEffect>
                                  </p:childTnLst>
                                </p:cTn>
                              </p:par>
                              <p:par>
                                <p:cTn id="35" presetID="10" presetClass="entr" presetSubtype="0" fill="hold" nodeType="withEffect">
                                  <p:stCondLst>
                                    <p:cond delay="0"/>
                                  </p:stCondLst>
                                  <p:childTnLst>
                                    <p:set>
                                      <p:cBhvr>
                                        <p:cTn id="36" dur="1" fill="hold">
                                          <p:stCondLst>
                                            <p:cond delay="0"/>
                                          </p:stCondLst>
                                        </p:cTn>
                                        <p:tgtEl>
                                          <p:spTgt spid="681"/>
                                        </p:tgtEl>
                                        <p:attrNameLst>
                                          <p:attrName>style.visibility</p:attrName>
                                        </p:attrNameLst>
                                      </p:cBhvr>
                                      <p:to>
                                        <p:strVal val="visible"/>
                                      </p:to>
                                    </p:set>
                                    <p:animEffect transition="in" filter="fade">
                                      <p:cBhvr>
                                        <p:cTn id="37" dur="1000"/>
                                        <p:tgtEl>
                                          <p:spTgt spid="681"/>
                                        </p:tgtEl>
                                      </p:cBhvr>
                                    </p:animEffect>
                                  </p:childTnLst>
                                </p:cTn>
                              </p:par>
                              <p:par>
                                <p:cTn id="38" presetID="10" presetClass="entr" presetSubtype="0" fill="hold" nodeType="withEffect">
                                  <p:stCondLst>
                                    <p:cond delay="0"/>
                                  </p:stCondLst>
                                  <p:childTnLst>
                                    <p:set>
                                      <p:cBhvr>
                                        <p:cTn id="39" dur="1" fill="hold">
                                          <p:stCondLst>
                                            <p:cond delay="0"/>
                                          </p:stCondLst>
                                        </p:cTn>
                                        <p:tgtEl>
                                          <p:spTgt spid="682"/>
                                        </p:tgtEl>
                                        <p:attrNameLst>
                                          <p:attrName>style.visibility</p:attrName>
                                        </p:attrNameLst>
                                      </p:cBhvr>
                                      <p:to>
                                        <p:strVal val="visible"/>
                                      </p:to>
                                    </p:set>
                                    <p:animEffect transition="in" filter="fade">
                                      <p:cBhvr>
                                        <p:cTn id="40" dur="1000"/>
                                        <p:tgtEl>
                                          <p:spTgt spid="68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683"/>
                                        </p:tgtEl>
                                        <p:attrNameLst>
                                          <p:attrName>style.visibility</p:attrName>
                                        </p:attrNameLst>
                                      </p:cBhvr>
                                      <p:to>
                                        <p:strVal val="visible"/>
                                      </p:to>
                                    </p:set>
                                    <p:animEffect transition="in" filter="fade">
                                      <p:cBhvr>
                                        <p:cTn id="45" dur="1000"/>
                                        <p:tgtEl>
                                          <p:spTgt spid="683"/>
                                        </p:tgtEl>
                                      </p:cBhvr>
                                    </p:animEffect>
                                  </p:childTnLst>
                                </p:cTn>
                              </p:par>
                              <p:par>
                                <p:cTn id="46" presetID="10" presetClass="entr" presetSubtype="0" fill="hold" nodeType="withEffect">
                                  <p:stCondLst>
                                    <p:cond delay="0"/>
                                  </p:stCondLst>
                                  <p:childTnLst>
                                    <p:set>
                                      <p:cBhvr>
                                        <p:cTn id="47" dur="1" fill="hold">
                                          <p:stCondLst>
                                            <p:cond delay="0"/>
                                          </p:stCondLst>
                                        </p:cTn>
                                        <p:tgtEl>
                                          <p:spTgt spid="684"/>
                                        </p:tgtEl>
                                        <p:attrNameLst>
                                          <p:attrName>style.visibility</p:attrName>
                                        </p:attrNameLst>
                                      </p:cBhvr>
                                      <p:to>
                                        <p:strVal val="visible"/>
                                      </p:to>
                                    </p:set>
                                    <p:animEffect transition="in" filter="fade">
                                      <p:cBhvr>
                                        <p:cTn id="48" dur="1000"/>
                                        <p:tgtEl>
                                          <p:spTgt spid="684"/>
                                        </p:tgtEl>
                                      </p:cBhvr>
                                    </p:animEffect>
                                  </p:childTnLst>
                                </p:cTn>
                              </p:par>
                              <p:par>
                                <p:cTn id="49" presetID="10" presetClass="entr" presetSubtype="0" fill="hold" nodeType="withEffect">
                                  <p:stCondLst>
                                    <p:cond delay="0"/>
                                  </p:stCondLst>
                                  <p:childTnLst>
                                    <p:set>
                                      <p:cBhvr>
                                        <p:cTn id="50" dur="1" fill="hold">
                                          <p:stCondLst>
                                            <p:cond delay="0"/>
                                          </p:stCondLst>
                                        </p:cTn>
                                        <p:tgtEl>
                                          <p:spTgt spid="685"/>
                                        </p:tgtEl>
                                        <p:attrNameLst>
                                          <p:attrName>style.visibility</p:attrName>
                                        </p:attrNameLst>
                                      </p:cBhvr>
                                      <p:to>
                                        <p:strVal val="visible"/>
                                      </p:to>
                                    </p:set>
                                    <p:animEffect transition="in" filter="fade">
                                      <p:cBhvr>
                                        <p:cTn id="51" dur="1000"/>
                                        <p:tgtEl>
                                          <p:spTgt spid="685"/>
                                        </p:tgtEl>
                                      </p:cBhvr>
                                    </p:animEffect>
                                  </p:childTnLst>
                                </p:cTn>
                              </p:par>
                              <p:par>
                                <p:cTn id="52" presetID="10" presetClass="entr" presetSubtype="0" fill="hold" nodeType="withEffect">
                                  <p:stCondLst>
                                    <p:cond delay="0"/>
                                  </p:stCondLst>
                                  <p:childTnLst>
                                    <p:set>
                                      <p:cBhvr>
                                        <p:cTn id="53" dur="1" fill="hold">
                                          <p:stCondLst>
                                            <p:cond delay="0"/>
                                          </p:stCondLst>
                                        </p:cTn>
                                        <p:tgtEl>
                                          <p:spTgt spid="686"/>
                                        </p:tgtEl>
                                        <p:attrNameLst>
                                          <p:attrName>style.visibility</p:attrName>
                                        </p:attrNameLst>
                                      </p:cBhvr>
                                      <p:to>
                                        <p:strVal val="visible"/>
                                      </p:to>
                                    </p:set>
                                    <p:animEffect transition="in" filter="fade">
                                      <p:cBhvr>
                                        <p:cTn id="54" dur="1000"/>
                                        <p:tgtEl>
                                          <p:spTgt spid="686"/>
                                        </p:tgtEl>
                                      </p:cBhvr>
                                    </p:animEffect>
                                  </p:childTnLst>
                                </p:cTn>
                              </p:par>
                              <p:par>
                                <p:cTn id="55" presetID="10" presetClass="entr" presetSubtype="0" fill="hold" nodeType="withEffect">
                                  <p:stCondLst>
                                    <p:cond delay="0"/>
                                  </p:stCondLst>
                                  <p:childTnLst>
                                    <p:set>
                                      <p:cBhvr>
                                        <p:cTn id="56" dur="1" fill="hold">
                                          <p:stCondLst>
                                            <p:cond delay="0"/>
                                          </p:stCondLst>
                                        </p:cTn>
                                        <p:tgtEl>
                                          <p:spTgt spid="687"/>
                                        </p:tgtEl>
                                        <p:attrNameLst>
                                          <p:attrName>style.visibility</p:attrName>
                                        </p:attrNameLst>
                                      </p:cBhvr>
                                      <p:to>
                                        <p:strVal val="visible"/>
                                      </p:to>
                                    </p:set>
                                    <p:animEffect transition="in" filter="fade">
                                      <p:cBhvr>
                                        <p:cTn id="57" dur="1000"/>
                                        <p:tgtEl>
                                          <p:spTgt spid="687"/>
                                        </p:tgtEl>
                                      </p:cBhvr>
                                    </p:animEffect>
                                  </p:childTnLst>
                                </p:cTn>
                              </p:par>
                              <p:par>
                                <p:cTn id="58" presetID="10" presetClass="entr" presetSubtype="0" fill="hold" nodeType="withEffect">
                                  <p:stCondLst>
                                    <p:cond delay="0"/>
                                  </p:stCondLst>
                                  <p:childTnLst>
                                    <p:set>
                                      <p:cBhvr>
                                        <p:cTn id="59" dur="1" fill="hold">
                                          <p:stCondLst>
                                            <p:cond delay="0"/>
                                          </p:stCondLst>
                                        </p:cTn>
                                        <p:tgtEl>
                                          <p:spTgt spid="688"/>
                                        </p:tgtEl>
                                        <p:attrNameLst>
                                          <p:attrName>style.visibility</p:attrName>
                                        </p:attrNameLst>
                                      </p:cBhvr>
                                      <p:to>
                                        <p:strVal val="visible"/>
                                      </p:to>
                                    </p:set>
                                    <p:animEffect transition="in" filter="fade">
                                      <p:cBhvr>
                                        <p:cTn id="60" dur="1000"/>
                                        <p:tgtEl>
                                          <p:spTgt spid="688"/>
                                        </p:tgtEl>
                                      </p:cBhvr>
                                    </p:animEffect>
                                  </p:childTnLst>
                                </p:cTn>
                              </p:par>
                              <p:par>
                                <p:cTn id="61" presetID="10" presetClass="entr" presetSubtype="0" fill="hold" nodeType="withEffect">
                                  <p:stCondLst>
                                    <p:cond delay="0"/>
                                  </p:stCondLst>
                                  <p:childTnLst>
                                    <p:set>
                                      <p:cBhvr>
                                        <p:cTn id="62" dur="1" fill="hold">
                                          <p:stCondLst>
                                            <p:cond delay="0"/>
                                          </p:stCondLst>
                                        </p:cTn>
                                        <p:tgtEl>
                                          <p:spTgt spid="689"/>
                                        </p:tgtEl>
                                        <p:attrNameLst>
                                          <p:attrName>style.visibility</p:attrName>
                                        </p:attrNameLst>
                                      </p:cBhvr>
                                      <p:to>
                                        <p:strVal val="visible"/>
                                      </p:to>
                                    </p:set>
                                    <p:animEffect transition="in" filter="fade">
                                      <p:cBhvr>
                                        <p:cTn id="63" dur="1000"/>
                                        <p:tgtEl>
                                          <p:spTgt spid="689"/>
                                        </p:tgtEl>
                                      </p:cBhvr>
                                    </p:animEffect>
                                  </p:childTnLst>
                                </p:cTn>
                              </p:par>
                              <p:par>
                                <p:cTn id="64" presetID="10" presetClass="entr" presetSubtype="0" fill="hold" nodeType="withEffect">
                                  <p:stCondLst>
                                    <p:cond delay="0"/>
                                  </p:stCondLst>
                                  <p:childTnLst>
                                    <p:set>
                                      <p:cBhvr>
                                        <p:cTn id="65" dur="1" fill="hold">
                                          <p:stCondLst>
                                            <p:cond delay="0"/>
                                          </p:stCondLst>
                                        </p:cTn>
                                        <p:tgtEl>
                                          <p:spTgt spid="690"/>
                                        </p:tgtEl>
                                        <p:attrNameLst>
                                          <p:attrName>style.visibility</p:attrName>
                                        </p:attrNameLst>
                                      </p:cBhvr>
                                      <p:to>
                                        <p:strVal val="visible"/>
                                      </p:to>
                                    </p:set>
                                    <p:animEffect transition="in" filter="fade">
                                      <p:cBhvr>
                                        <p:cTn id="66" dur="1000"/>
                                        <p:tgtEl>
                                          <p:spTgt spid="690"/>
                                        </p:tgtEl>
                                      </p:cBhvr>
                                    </p:animEffect>
                                  </p:childTnLst>
                                </p:cTn>
                              </p:par>
                              <p:par>
                                <p:cTn id="67" presetID="10" presetClass="entr" presetSubtype="0" fill="hold" nodeType="withEffect">
                                  <p:stCondLst>
                                    <p:cond delay="0"/>
                                  </p:stCondLst>
                                  <p:childTnLst>
                                    <p:set>
                                      <p:cBhvr>
                                        <p:cTn id="68" dur="1" fill="hold">
                                          <p:stCondLst>
                                            <p:cond delay="0"/>
                                          </p:stCondLst>
                                        </p:cTn>
                                        <p:tgtEl>
                                          <p:spTgt spid="691"/>
                                        </p:tgtEl>
                                        <p:attrNameLst>
                                          <p:attrName>style.visibility</p:attrName>
                                        </p:attrNameLst>
                                      </p:cBhvr>
                                      <p:to>
                                        <p:strVal val="visible"/>
                                      </p:to>
                                    </p:set>
                                    <p:animEffect transition="in" filter="fade">
                                      <p:cBhvr>
                                        <p:cTn id="69" dur="1000"/>
                                        <p:tgtEl>
                                          <p:spTgt spid="691"/>
                                        </p:tgtEl>
                                      </p:cBhvr>
                                    </p:animEffect>
                                  </p:childTnLst>
                                </p:cTn>
                              </p:par>
                              <p:par>
                                <p:cTn id="70" presetID="10" presetClass="entr" presetSubtype="0" fill="hold" nodeType="withEffect">
                                  <p:stCondLst>
                                    <p:cond delay="0"/>
                                  </p:stCondLst>
                                  <p:childTnLst>
                                    <p:set>
                                      <p:cBhvr>
                                        <p:cTn id="71" dur="1" fill="hold">
                                          <p:stCondLst>
                                            <p:cond delay="0"/>
                                          </p:stCondLst>
                                        </p:cTn>
                                        <p:tgtEl>
                                          <p:spTgt spid="692"/>
                                        </p:tgtEl>
                                        <p:attrNameLst>
                                          <p:attrName>style.visibility</p:attrName>
                                        </p:attrNameLst>
                                      </p:cBhvr>
                                      <p:to>
                                        <p:strVal val="visible"/>
                                      </p:to>
                                    </p:set>
                                    <p:animEffect transition="in" filter="fade">
                                      <p:cBhvr>
                                        <p:cTn id="72" dur="1000"/>
                                        <p:tgtEl>
                                          <p:spTgt spid="692"/>
                                        </p:tgtEl>
                                      </p:cBhvr>
                                    </p:animEffect>
                                  </p:childTnLst>
                                </p:cTn>
                              </p:par>
                              <p:par>
                                <p:cTn id="73" presetID="10" presetClass="entr" presetSubtype="0" fill="hold" nodeType="withEffect">
                                  <p:stCondLst>
                                    <p:cond delay="0"/>
                                  </p:stCondLst>
                                  <p:childTnLst>
                                    <p:set>
                                      <p:cBhvr>
                                        <p:cTn id="74" dur="1" fill="hold">
                                          <p:stCondLst>
                                            <p:cond delay="0"/>
                                          </p:stCondLst>
                                        </p:cTn>
                                        <p:tgtEl>
                                          <p:spTgt spid="693"/>
                                        </p:tgtEl>
                                        <p:attrNameLst>
                                          <p:attrName>style.visibility</p:attrName>
                                        </p:attrNameLst>
                                      </p:cBhvr>
                                      <p:to>
                                        <p:strVal val="visible"/>
                                      </p:to>
                                    </p:set>
                                    <p:animEffect transition="in" filter="fade">
                                      <p:cBhvr>
                                        <p:cTn id="75" dur="1000"/>
                                        <p:tgtEl>
                                          <p:spTgt spid="693"/>
                                        </p:tgtEl>
                                      </p:cBhvr>
                                    </p:animEffect>
                                  </p:childTnLst>
                                </p:cTn>
                              </p:par>
                              <p:par>
                                <p:cTn id="76" presetID="10" presetClass="entr" presetSubtype="0" fill="hold" nodeType="withEffect">
                                  <p:stCondLst>
                                    <p:cond delay="0"/>
                                  </p:stCondLst>
                                  <p:childTnLst>
                                    <p:set>
                                      <p:cBhvr>
                                        <p:cTn id="77" dur="1" fill="hold">
                                          <p:stCondLst>
                                            <p:cond delay="0"/>
                                          </p:stCondLst>
                                        </p:cTn>
                                        <p:tgtEl>
                                          <p:spTgt spid="694"/>
                                        </p:tgtEl>
                                        <p:attrNameLst>
                                          <p:attrName>style.visibility</p:attrName>
                                        </p:attrNameLst>
                                      </p:cBhvr>
                                      <p:to>
                                        <p:strVal val="visible"/>
                                      </p:to>
                                    </p:set>
                                    <p:animEffect transition="in" filter="fade">
                                      <p:cBhvr>
                                        <p:cTn id="78" dur="1000"/>
                                        <p:tgtEl>
                                          <p:spTgt spid="694"/>
                                        </p:tgtEl>
                                      </p:cBhvr>
                                    </p:animEffect>
                                  </p:childTnLst>
                                </p:cTn>
                              </p:par>
                              <p:par>
                                <p:cTn id="79" presetID="10" presetClass="entr" presetSubtype="0" fill="hold" nodeType="withEffect">
                                  <p:stCondLst>
                                    <p:cond delay="0"/>
                                  </p:stCondLst>
                                  <p:childTnLst>
                                    <p:set>
                                      <p:cBhvr>
                                        <p:cTn id="80" dur="1" fill="hold">
                                          <p:stCondLst>
                                            <p:cond delay="0"/>
                                          </p:stCondLst>
                                        </p:cTn>
                                        <p:tgtEl>
                                          <p:spTgt spid="695"/>
                                        </p:tgtEl>
                                        <p:attrNameLst>
                                          <p:attrName>style.visibility</p:attrName>
                                        </p:attrNameLst>
                                      </p:cBhvr>
                                      <p:to>
                                        <p:strVal val="visible"/>
                                      </p:to>
                                    </p:set>
                                    <p:animEffect transition="in" filter="fade">
                                      <p:cBhvr>
                                        <p:cTn id="81" dur="1000"/>
                                        <p:tgtEl>
                                          <p:spTgt spid="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6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Variations of Virtual Mining</a:t>
            </a:r>
            <a:endParaRPr/>
          </a:p>
        </p:txBody>
      </p:sp>
      <p:sp>
        <p:nvSpPr>
          <p:cNvPr id="701" name="Google Shape;701;p6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Proof-of-Stake:   “Stake” of a coin grows over time</a:t>
            </a:r>
            <a:endParaRPr sz="2400"/>
          </a:p>
          <a:p>
            <a:pPr marL="0" lvl="0" indent="0" algn="l" rtl="0">
              <a:spcBef>
                <a:spcPts val="600"/>
              </a:spcBef>
              <a:spcAft>
                <a:spcPts val="0"/>
              </a:spcAft>
              <a:buNone/>
            </a:pPr>
            <a:r>
              <a:rPr lang="en" sz="2400"/>
              <a:t>          as long as the coin is unused</a:t>
            </a:r>
            <a:endParaRPr sz="2400"/>
          </a:p>
          <a:p>
            <a:pPr marL="0" lvl="0" indent="0" algn="l" rtl="0">
              <a:spcBef>
                <a:spcPts val="600"/>
              </a:spcBef>
              <a:spcAft>
                <a:spcPts val="0"/>
              </a:spcAft>
              <a:buNone/>
            </a:pPr>
            <a:endParaRPr sz="2400"/>
          </a:p>
          <a:p>
            <a:pPr marL="457200" lvl="0" indent="-381000" algn="l" rtl="0">
              <a:spcBef>
                <a:spcPts val="600"/>
              </a:spcBef>
              <a:spcAft>
                <a:spcPts val="0"/>
              </a:spcAft>
              <a:buSzPts val="2400"/>
              <a:buChar char="●"/>
            </a:pPr>
            <a:r>
              <a:rPr lang="en" sz="2400"/>
              <a:t>Proof-of-Burn:   mining with a coin destroys it</a:t>
            </a:r>
            <a:endParaRPr sz="2400"/>
          </a:p>
          <a:p>
            <a:pPr marL="0" lvl="0" indent="0" algn="l" rtl="0">
              <a:spcBef>
                <a:spcPts val="600"/>
              </a:spcBef>
              <a:spcAft>
                <a:spcPts val="0"/>
              </a:spcAft>
              <a:buNone/>
            </a:pPr>
            <a:endParaRPr sz="2400"/>
          </a:p>
          <a:p>
            <a:pPr marL="457200" lvl="0" indent="-381000" algn="l" rtl="0">
              <a:spcBef>
                <a:spcPts val="600"/>
              </a:spcBef>
              <a:spcAft>
                <a:spcPts val="0"/>
              </a:spcAft>
              <a:buSzPts val="2400"/>
              <a:buChar char="●"/>
            </a:pPr>
            <a:r>
              <a:rPr lang="en" sz="2400"/>
              <a:t>Proof-of-Deposit:    can reclaim a coin after some time</a:t>
            </a:r>
            <a:endParaRPr sz="2400"/>
          </a:p>
          <a:p>
            <a:pPr marL="0" lvl="0" indent="0" algn="l" rtl="0">
              <a:spcBef>
                <a:spcPts val="600"/>
              </a:spcBef>
              <a:spcAft>
                <a:spcPts val="0"/>
              </a:spcAft>
              <a:buNone/>
            </a:pPr>
            <a:endParaRPr sz="2400"/>
          </a:p>
          <a:p>
            <a:pPr marL="457200" lvl="0" indent="-381000" algn="l" rtl="0">
              <a:spcBef>
                <a:spcPts val="600"/>
              </a:spcBef>
              <a:spcAft>
                <a:spcPts val="0"/>
              </a:spcAft>
              <a:buSzPts val="2400"/>
              <a:buChar char="●"/>
            </a:pPr>
            <a:r>
              <a:rPr lang="en" sz="2400"/>
              <a:t>Proof-of-Activity:   any coin might be win (if online) </a:t>
            </a:r>
            <a:endParaRPr sz="2400"/>
          </a:p>
          <a:p>
            <a:pPr marL="0" lvl="0" indent="0" algn="l" rtl="0">
              <a:spcBef>
                <a:spcPts val="600"/>
              </a:spcBef>
              <a:spcAft>
                <a:spcPts val="0"/>
              </a:spcAft>
              <a:buNone/>
            </a:pPr>
            <a:r>
              <a:rPr lang="en"/>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713" name="Google Shape;713;p66"/>
          <p:cNvSpPr txBox="1">
            <a:spLocks noGrp="1"/>
          </p:cNvSpPr>
          <p:nvPr>
            <p:ph type="body" idx="1"/>
          </p:nvPr>
        </p:nvSpPr>
        <p:spPr>
          <a:xfrm>
            <a:off x="457200" y="11239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Many possible design goals</a:t>
            </a:r>
            <a:endParaRPr/>
          </a:p>
          <a:p>
            <a:pPr marL="457200" lvl="0" indent="0" algn="l" rtl="0">
              <a:spcBef>
                <a:spcPts val="600"/>
              </a:spcBef>
              <a:spcAft>
                <a:spcPts val="0"/>
              </a:spcAft>
              <a:buNone/>
            </a:pPr>
            <a:r>
              <a:rPr lang="en"/>
              <a:t>  	</a:t>
            </a:r>
            <a:r>
              <a:rPr lang="en" sz="2400"/>
              <a:t>Prevent ASIC miners from dominating</a:t>
            </a:r>
            <a:endParaRPr sz="2400"/>
          </a:p>
          <a:p>
            <a:pPr marL="457200" lvl="0" indent="0" algn="l" rtl="0">
              <a:spcBef>
                <a:spcPts val="600"/>
              </a:spcBef>
              <a:spcAft>
                <a:spcPts val="0"/>
              </a:spcAft>
              <a:buNone/>
            </a:pPr>
            <a:r>
              <a:rPr lang="en" sz="2400"/>
              <a:t>	Prevent large pools from dominating</a:t>
            </a:r>
            <a:endParaRPr sz="2400"/>
          </a:p>
          <a:p>
            <a:pPr marL="457200" lvl="0" indent="0" algn="l" rtl="0">
              <a:spcBef>
                <a:spcPts val="600"/>
              </a:spcBef>
              <a:spcAft>
                <a:spcPts val="0"/>
              </a:spcAft>
              <a:buNone/>
            </a:pPr>
            <a:r>
              <a:rPr lang="en" sz="2400"/>
              <a:t>	Intrinsic usefulness</a:t>
            </a:r>
            <a:endParaRPr sz="2400"/>
          </a:p>
          <a:p>
            <a:pPr marL="0" lvl="0" indent="0" algn="l" rtl="0">
              <a:spcBef>
                <a:spcPts val="600"/>
              </a:spcBef>
              <a:spcAft>
                <a:spcPts val="0"/>
              </a:spcAft>
              <a:buNone/>
            </a:pPr>
            <a:r>
              <a:rPr lang="en" sz="2400"/>
              <a:t>		Eliminate the need for mining hardware at all</a:t>
            </a:r>
            <a:endParaRPr sz="2400"/>
          </a:p>
          <a:p>
            <a:pPr marL="457200" lvl="0" indent="-419100" algn="l" rtl="0">
              <a:spcBef>
                <a:spcPts val="600"/>
              </a:spcBef>
              <a:spcAft>
                <a:spcPts val="0"/>
              </a:spcAft>
              <a:buSzPts val="3000"/>
              <a:buChar char="●"/>
            </a:pPr>
            <a:r>
              <a:rPr lang="en"/>
              <a:t>Best tradeoff is unclear for now</a:t>
            </a:r>
            <a:endParaRPr/>
          </a:p>
          <a:p>
            <a:pPr marL="457200" lvl="0" indent="-419100" algn="l" rtl="0">
              <a:spcBef>
                <a:spcPts val="0"/>
              </a:spcBef>
              <a:spcAft>
                <a:spcPts val="0"/>
              </a:spcAft>
              <a:buSzPts val="3000"/>
              <a:buChar char="●"/>
            </a:pPr>
            <a:r>
              <a:rPr lang="en"/>
              <a:t>Outlook: </a:t>
            </a:r>
            <a:r>
              <a:rPr lang="en" sz="2400"/>
              <a:t>alternatives will coexist for the near future</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6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Bitcoin as a Platform</a:t>
            </a:r>
            <a:endParaRPr/>
          </a:p>
        </p:txBody>
      </p:sp>
      <p:sp>
        <p:nvSpPr>
          <p:cNvPr id="726" name="Google Shape;726;p6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dirty="0"/>
              <a:t>Applications beyond just currency:</a:t>
            </a:r>
            <a:endParaRPr dirty="0"/>
          </a:p>
          <a:p>
            <a:pPr marL="457200" lvl="0" indent="457200" algn="l" rtl="0">
              <a:spcBef>
                <a:spcPts val="600"/>
              </a:spcBef>
              <a:spcAft>
                <a:spcPts val="0"/>
              </a:spcAft>
              <a:buNone/>
            </a:pPr>
            <a:r>
              <a:rPr lang="en" dirty="0"/>
              <a:t>Lotteries</a:t>
            </a:r>
            <a:endParaRPr dirty="0"/>
          </a:p>
          <a:p>
            <a:pPr marL="457200" lvl="0" indent="457200" algn="l" rtl="0">
              <a:spcBef>
                <a:spcPts val="600"/>
              </a:spcBef>
              <a:spcAft>
                <a:spcPts val="0"/>
              </a:spcAft>
              <a:buNone/>
            </a:pPr>
            <a:r>
              <a:rPr lang="en" dirty="0"/>
              <a:t>Prediction markets</a:t>
            </a:r>
            <a:endParaRPr dirty="0"/>
          </a:p>
          <a:p>
            <a:pPr marL="457200" lvl="0" indent="457200" algn="l" rtl="0">
              <a:spcBef>
                <a:spcPts val="600"/>
              </a:spcBef>
              <a:spcAft>
                <a:spcPts val="0"/>
              </a:spcAft>
              <a:buNone/>
            </a:pPr>
            <a:r>
              <a:rPr lang="en" dirty="0"/>
              <a:t>Smart contracts</a:t>
            </a:r>
            <a:endParaRPr dirty="0"/>
          </a:p>
          <a:p>
            <a:pPr marL="457200" lvl="0" indent="457200" algn="l" rtl="0">
              <a:spcBef>
                <a:spcPts val="600"/>
              </a:spcBef>
              <a:spcAft>
                <a:spcPts val="0"/>
              </a:spcAft>
              <a:buNone/>
            </a:pPr>
            <a:r>
              <a:rPr lang="en-IN" dirty="0"/>
              <a:t>Randomness</a:t>
            </a:r>
          </a:p>
          <a:p>
            <a:pPr marL="457200" lvl="0" indent="457200" algn="l" rtl="0">
              <a:spcBef>
                <a:spcPts val="600"/>
              </a:spcBef>
              <a:spcAft>
                <a:spcPts val="0"/>
              </a:spcAft>
              <a:buNone/>
            </a:pPr>
            <a:r>
              <a:rPr lang="en-IN"/>
              <a:t>Smart properties</a:t>
            </a:r>
            <a:endParaRPr dirty="0"/>
          </a:p>
          <a:p>
            <a:pPr marL="457200" lvl="0" indent="457200" algn="l" rtl="0">
              <a:spcBef>
                <a:spcPts val="600"/>
              </a:spcBef>
              <a:spcAft>
                <a:spcPts val="0"/>
              </a:spcAft>
              <a:buNone/>
            </a:pPr>
            <a:r>
              <a:rPr lang="en" dirty="0"/>
              <a:t>… and more</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Bitcoin</a:t>
            </a:r>
            <a:r>
              <a:rPr lang="en-IN" b="1" dirty="0"/>
              <a:t> as Smart property</a:t>
            </a:r>
            <a:endParaRPr lang="en-IN" dirty="0"/>
          </a:p>
        </p:txBody>
      </p:sp>
      <p:pic>
        <p:nvPicPr>
          <p:cNvPr id="4" name="Content Placeholder 3"/>
          <p:cNvPicPr>
            <a:picLocks noGrp="1" noChangeAspect="1"/>
          </p:cNvPicPr>
          <p:nvPr>
            <p:ph idx="1"/>
          </p:nvPr>
        </p:nvPicPr>
        <p:blipFill>
          <a:blip r:embed="rId2"/>
          <a:stretch>
            <a:fillRect/>
          </a:stretch>
        </p:blipFill>
        <p:spPr>
          <a:xfrm>
            <a:off x="825103" y="1515071"/>
            <a:ext cx="7493794" cy="2971800"/>
          </a:xfrm>
          <a:prstGeom prst="rect">
            <a:avLst/>
          </a:prstGeom>
        </p:spPr>
      </p:pic>
      <p:pic>
        <p:nvPicPr>
          <p:cNvPr id="5" name="Picture 4"/>
          <p:cNvPicPr>
            <a:picLocks noChangeAspect="1"/>
          </p:cNvPicPr>
          <p:nvPr/>
        </p:nvPicPr>
        <p:blipFill>
          <a:blip r:embed="rId3"/>
          <a:stretch>
            <a:fillRect/>
          </a:stretch>
        </p:blipFill>
        <p:spPr>
          <a:xfrm>
            <a:off x="1943100" y="4629151"/>
            <a:ext cx="5715000" cy="335756"/>
          </a:xfrm>
          <a:prstGeom prst="rect">
            <a:avLst/>
          </a:prstGeom>
        </p:spPr>
      </p:pic>
    </p:spTree>
    <p:extLst>
      <p:ext uri="{BB962C8B-B14F-4D97-AF65-F5344CB8AC3E}">
        <p14:creationId xmlns:p14="http://schemas.microsoft.com/office/powerpoint/2010/main" val="1927582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383"/>
            <a:ext cx="7886700" cy="742950"/>
          </a:xfrm>
        </p:spPr>
        <p:txBody>
          <a:bodyPr/>
          <a:lstStyle/>
          <a:p>
            <a:r>
              <a:rPr lang="en-IN" dirty="0"/>
              <a:t>  </a:t>
            </a:r>
            <a:r>
              <a:rPr lang="en-IN" sz="2100" dirty="0"/>
              <a:t>Bitcoin as Smart property</a:t>
            </a:r>
          </a:p>
        </p:txBody>
      </p:sp>
      <p:sp>
        <p:nvSpPr>
          <p:cNvPr id="3" name="Content Placeholder 2"/>
          <p:cNvSpPr>
            <a:spLocks noGrp="1"/>
          </p:cNvSpPr>
          <p:nvPr>
            <p:ph idx="1"/>
          </p:nvPr>
        </p:nvSpPr>
        <p:spPr>
          <a:xfrm>
            <a:off x="628650" y="571501"/>
            <a:ext cx="7886700" cy="4061222"/>
          </a:xfrm>
        </p:spPr>
        <p:txBody>
          <a:bodyPr>
            <a:normAutofit fontScale="85000" lnSpcReduction="20000"/>
          </a:bodyPr>
          <a:lstStyle/>
          <a:p>
            <a:pPr marL="0" indent="0" algn="just">
              <a:buNone/>
            </a:pPr>
            <a:r>
              <a:rPr lang="en-IN" sz="1800" dirty="0"/>
              <a:t>Bitcoin as smart property revolves around using its decentralized, secure nature to represent and transfer ownership of digital or physical assets in an automated, </a:t>
            </a:r>
            <a:r>
              <a:rPr lang="en-IN" sz="1800" dirty="0" err="1"/>
              <a:t>trustless</a:t>
            </a:r>
            <a:r>
              <a:rPr lang="en-IN" sz="1800" dirty="0"/>
              <a:t> way.</a:t>
            </a:r>
          </a:p>
          <a:p>
            <a:pPr marL="0" indent="0" algn="just">
              <a:buNone/>
            </a:pPr>
            <a:r>
              <a:rPr lang="en-IN" dirty="0"/>
              <a:t>Characteristics:</a:t>
            </a:r>
          </a:p>
          <a:p>
            <a:pPr algn="just"/>
            <a:r>
              <a:rPr lang="en-IN" sz="1800" dirty="0"/>
              <a:t>Ownership Verification</a:t>
            </a:r>
          </a:p>
          <a:p>
            <a:pPr algn="just"/>
            <a:r>
              <a:rPr lang="en-IN" sz="1800" dirty="0"/>
              <a:t>Decentralized Control</a:t>
            </a:r>
          </a:p>
          <a:p>
            <a:pPr algn="just"/>
            <a:r>
              <a:rPr lang="en-IN" sz="1800" dirty="0"/>
              <a:t>Automation of Transfers</a:t>
            </a:r>
          </a:p>
          <a:p>
            <a:pPr algn="just"/>
            <a:r>
              <a:rPr lang="en-IN" sz="1800" dirty="0"/>
              <a:t>Tokenization</a:t>
            </a:r>
          </a:p>
          <a:p>
            <a:pPr algn="just"/>
            <a:r>
              <a:rPr lang="en-IN" sz="1800" dirty="0"/>
              <a:t>Security and </a:t>
            </a:r>
            <a:r>
              <a:rPr lang="en-IN" sz="1800" dirty="0" err="1"/>
              <a:t>Trustlessness</a:t>
            </a:r>
            <a:endParaRPr lang="en-IN" sz="1800" dirty="0"/>
          </a:p>
          <a:p>
            <a:pPr marL="0" indent="0" algn="just">
              <a:buNone/>
            </a:pPr>
            <a:r>
              <a:rPr lang="en-IN" sz="1800" dirty="0"/>
              <a:t>As smart property, Bitcoin offers a secure, </a:t>
            </a:r>
            <a:r>
              <a:rPr lang="en-IN" sz="1800" dirty="0" err="1"/>
              <a:t>trustless</a:t>
            </a:r>
            <a:r>
              <a:rPr lang="en-IN" sz="1800" dirty="0"/>
              <a:t> way to manage ownership. </a:t>
            </a:r>
            <a:r>
              <a:rPr lang="en-IN" sz="1800" dirty="0" err="1"/>
              <a:t>Blockchain's</a:t>
            </a:r>
            <a:r>
              <a:rPr lang="en-IN" sz="1800" dirty="0"/>
              <a:t> immutability ensures that once an ownership transfer occurs, it cannot be reversed or tampered with. This makes Bitcoin ideal for creating tamper-resistant systems for transferring or controlling assets.</a:t>
            </a:r>
          </a:p>
          <a:p>
            <a:pPr marL="0" indent="0" algn="just">
              <a:buNone/>
            </a:pPr>
            <a:endParaRPr lang="en-IN" sz="1800" dirty="0"/>
          </a:p>
          <a:p>
            <a:pPr marL="0" indent="0" algn="just">
              <a:buNone/>
            </a:pPr>
            <a:r>
              <a:rPr lang="en-IN" sz="1800" dirty="0"/>
              <a:t>  </a:t>
            </a:r>
            <a:r>
              <a:rPr lang="en-IN" sz="1500" b="1" i="1" dirty="0"/>
              <a:t>This makes Bitcoin ideal for creating tamper-resistant systems for transferring or controlling assets.</a:t>
            </a:r>
          </a:p>
          <a:p>
            <a:pPr marL="0" indent="0" algn="just">
              <a:buNone/>
            </a:pPr>
            <a:endParaRPr lang="en-IN" dirty="0"/>
          </a:p>
        </p:txBody>
      </p:sp>
    </p:spTree>
    <p:extLst>
      <p:ext uri="{BB962C8B-B14F-4D97-AF65-F5344CB8AC3E}">
        <p14:creationId xmlns:p14="http://schemas.microsoft.com/office/powerpoint/2010/main" val="357173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 calcmode="lin" valueType="num">
                                      <p:cBhvr additive="base">
                                        <p:cTn id="1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228601"/>
            <a:ext cx="7886700" cy="4404122"/>
          </a:xfrm>
        </p:spPr>
        <p:txBody>
          <a:bodyPr>
            <a:normAutofit fontScale="55000" lnSpcReduction="20000"/>
          </a:bodyPr>
          <a:lstStyle/>
          <a:p>
            <a:pPr marL="0" indent="0" algn="just">
              <a:buNone/>
            </a:pPr>
            <a:r>
              <a:rPr lang="en-IN" dirty="0"/>
              <a:t>For example, imagine buying a car using </a:t>
            </a:r>
            <a:r>
              <a:rPr lang="en-IN" dirty="0" err="1"/>
              <a:t>Bitcoin</a:t>
            </a:r>
            <a:r>
              <a:rPr lang="en-IN" dirty="0"/>
              <a:t>. Instead of relying on a dealer or a bank to handle the payment and transfer the car’s ownership, a smart contract can automate the whole process. Here’s how it works:</a:t>
            </a:r>
          </a:p>
          <a:p>
            <a:pPr marL="0" indent="0" algn="just">
              <a:buNone/>
            </a:pPr>
            <a:r>
              <a:rPr lang="en-IN" dirty="0"/>
              <a:t>   1.Smart Contract Setup: The seller of the car creates a smart contract that specifies the conditions for transferring ownership. This might include receiving a specific amount of </a:t>
            </a:r>
            <a:r>
              <a:rPr lang="en-IN" dirty="0" err="1"/>
              <a:t>Bitcoin</a:t>
            </a:r>
            <a:r>
              <a:rPr lang="en-IN" dirty="0"/>
              <a:t>.</a:t>
            </a:r>
          </a:p>
          <a:p>
            <a:pPr marL="0" indent="0" algn="just">
              <a:buNone/>
            </a:pPr>
            <a:r>
              <a:rPr lang="en-IN" dirty="0"/>
              <a:t>   2.Payment with </a:t>
            </a:r>
            <a:r>
              <a:rPr lang="en-IN" dirty="0" err="1"/>
              <a:t>Bitcoin</a:t>
            </a:r>
            <a:r>
              <a:rPr lang="en-IN" dirty="0"/>
              <a:t>: The buyer sends the agreed amount of </a:t>
            </a:r>
            <a:r>
              <a:rPr lang="en-IN" dirty="0" err="1"/>
              <a:t>Bitcoin</a:t>
            </a:r>
            <a:r>
              <a:rPr lang="en-IN" dirty="0"/>
              <a:t> to the smart contract. This is recorded securely on the </a:t>
            </a:r>
            <a:r>
              <a:rPr lang="en-IN" dirty="0" err="1"/>
              <a:t>blockchai</a:t>
            </a:r>
            <a:endParaRPr lang="en-IN" dirty="0"/>
          </a:p>
          <a:p>
            <a:pPr marL="0" indent="0" algn="just">
              <a:buNone/>
            </a:pPr>
            <a:r>
              <a:rPr lang="en-IN" dirty="0"/>
              <a:t>   3.Automatic Transfer: Once the smart contract confirms that the payment has been made, it automatically transfers ownership of the car to the buyer. This can be done by changing the car's digital title, unlocking digital keys, or updating a </a:t>
            </a:r>
            <a:r>
              <a:rPr lang="en-IN" dirty="0" err="1"/>
              <a:t>blockchain</a:t>
            </a:r>
            <a:r>
              <a:rPr lang="en-IN" dirty="0"/>
              <a:t>-based registry.</a:t>
            </a:r>
          </a:p>
          <a:p>
            <a:pPr marL="0" indent="0" algn="just">
              <a:buNone/>
            </a:pPr>
            <a:r>
              <a:rPr lang="en-IN" dirty="0"/>
              <a:t>   4.Transparency and Security: The transaction is transparent because all actions are recorded on the </a:t>
            </a:r>
            <a:r>
              <a:rPr lang="en-IN" dirty="0" err="1"/>
              <a:t>blockchain</a:t>
            </a:r>
            <a:r>
              <a:rPr lang="en-IN" dirty="0"/>
              <a:t>, and it’s secure because the process cannot be tampered with. Once the conditions are met, the contract automatically completes the transaction.</a:t>
            </a:r>
          </a:p>
          <a:p>
            <a:endParaRPr lang="en-IN" dirty="0"/>
          </a:p>
        </p:txBody>
      </p:sp>
    </p:spTree>
    <p:extLst>
      <p:ext uri="{BB962C8B-B14F-4D97-AF65-F5344CB8AC3E}">
        <p14:creationId xmlns:p14="http://schemas.microsoft.com/office/powerpoint/2010/main" val="1713227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342901"/>
            <a:ext cx="7886700" cy="4289822"/>
          </a:xfrm>
        </p:spPr>
        <p:txBody>
          <a:bodyPr/>
          <a:lstStyle/>
          <a:p>
            <a:pPr marL="0" indent="0">
              <a:buNone/>
            </a:pPr>
            <a:r>
              <a:rPr lang="en-IN" dirty="0"/>
              <a:t>Applications of Bitcoin as Smart Property:</a:t>
            </a:r>
          </a:p>
          <a:p>
            <a:pPr marL="0" indent="0">
              <a:buNone/>
            </a:pPr>
            <a:endParaRPr lang="en-IN" dirty="0"/>
          </a:p>
        </p:txBody>
      </p:sp>
      <p:pic>
        <p:nvPicPr>
          <p:cNvPr id="5" name="Picture 4"/>
          <p:cNvPicPr>
            <a:picLocks noChangeAspect="1"/>
          </p:cNvPicPr>
          <p:nvPr/>
        </p:nvPicPr>
        <p:blipFill>
          <a:blip r:embed="rId2"/>
          <a:stretch>
            <a:fillRect/>
          </a:stretch>
        </p:blipFill>
        <p:spPr>
          <a:xfrm>
            <a:off x="800100" y="857251"/>
            <a:ext cx="6400800" cy="2878931"/>
          </a:xfrm>
          <a:prstGeom prst="rect">
            <a:avLst/>
          </a:prstGeom>
        </p:spPr>
      </p:pic>
      <p:pic>
        <p:nvPicPr>
          <p:cNvPr id="6" name="Picture 5"/>
          <p:cNvPicPr>
            <a:picLocks noChangeAspect="1"/>
          </p:cNvPicPr>
          <p:nvPr/>
        </p:nvPicPr>
        <p:blipFill>
          <a:blip r:embed="rId3"/>
          <a:stretch>
            <a:fillRect/>
          </a:stretch>
        </p:blipFill>
        <p:spPr>
          <a:xfrm>
            <a:off x="800100" y="3686175"/>
            <a:ext cx="6572250" cy="1457325"/>
          </a:xfrm>
          <a:prstGeom prst="rect">
            <a:avLst/>
          </a:prstGeom>
        </p:spPr>
      </p:pic>
    </p:spTree>
    <p:extLst>
      <p:ext uri="{BB962C8B-B14F-4D97-AF65-F5344CB8AC3E}">
        <p14:creationId xmlns:p14="http://schemas.microsoft.com/office/powerpoint/2010/main" val="2294837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85800" y="1343025"/>
            <a:ext cx="6858000" cy="3228975"/>
          </a:xfrm>
          <a:prstGeom prst="rect">
            <a:avLst/>
          </a:prstGeom>
        </p:spPr>
      </p:pic>
    </p:spTree>
    <p:extLst>
      <p:ext uri="{BB962C8B-B14F-4D97-AF65-F5344CB8AC3E}">
        <p14:creationId xmlns:p14="http://schemas.microsoft.com/office/powerpoint/2010/main" val="3438730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457201"/>
            <a:ext cx="7886700" cy="4175522"/>
          </a:xfrm>
        </p:spPr>
        <p:txBody>
          <a:bodyPr>
            <a:normAutofit/>
          </a:bodyPr>
          <a:lstStyle/>
          <a:p>
            <a:pPr marL="0" indent="0">
              <a:buNone/>
            </a:pPr>
            <a:r>
              <a:rPr lang="en-IN" sz="1350" dirty="0" err="1"/>
              <a:t>Crowdfunding</a:t>
            </a:r>
            <a:r>
              <a:rPr lang="en-IN" sz="1350" dirty="0"/>
              <a:t> and Fundraising</a:t>
            </a:r>
          </a:p>
          <a:p>
            <a:pPr marL="0" indent="0">
              <a:buNone/>
            </a:pPr>
            <a:r>
              <a:rPr lang="en-IN" sz="1350" dirty="0"/>
              <a:t>Gambling and Prediction Markets</a:t>
            </a:r>
            <a:r>
              <a:rPr lang="en-IN" sz="1800" dirty="0"/>
              <a:t>….</a:t>
            </a:r>
          </a:p>
        </p:txBody>
      </p:sp>
    </p:spTree>
    <p:extLst>
      <p:ext uri="{BB962C8B-B14F-4D97-AF65-F5344CB8AC3E}">
        <p14:creationId xmlns:p14="http://schemas.microsoft.com/office/powerpoint/2010/main" val="3184370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342901"/>
            <a:ext cx="7886700" cy="4289822"/>
          </a:xfrm>
        </p:spPr>
        <p:txBody>
          <a:bodyPr/>
          <a:lstStyle/>
          <a:p>
            <a:pPr marL="0" indent="0">
              <a:buNone/>
            </a:pPr>
            <a:r>
              <a:rPr lang="en-IN" dirty="0"/>
              <a:t>Challenges and Limitations </a:t>
            </a:r>
          </a:p>
          <a:p>
            <a:pPr marL="0" indent="0">
              <a:buNone/>
            </a:pPr>
            <a:endParaRPr lang="en-IN" dirty="0"/>
          </a:p>
        </p:txBody>
      </p:sp>
      <p:pic>
        <p:nvPicPr>
          <p:cNvPr id="5" name="Picture 4"/>
          <p:cNvPicPr>
            <a:picLocks noChangeAspect="1"/>
          </p:cNvPicPr>
          <p:nvPr/>
        </p:nvPicPr>
        <p:blipFill>
          <a:blip r:embed="rId2"/>
          <a:stretch>
            <a:fillRect/>
          </a:stretch>
        </p:blipFill>
        <p:spPr>
          <a:xfrm>
            <a:off x="685800" y="685800"/>
            <a:ext cx="6515100" cy="2971800"/>
          </a:xfrm>
          <a:prstGeom prst="rect">
            <a:avLst/>
          </a:prstGeom>
        </p:spPr>
      </p:pic>
      <p:pic>
        <p:nvPicPr>
          <p:cNvPr id="6" name="Picture 5"/>
          <p:cNvPicPr>
            <a:picLocks noChangeAspect="1"/>
          </p:cNvPicPr>
          <p:nvPr/>
        </p:nvPicPr>
        <p:blipFill>
          <a:blip r:embed="rId3"/>
          <a:stretch>
            <a:fillRect/>
          </a:stretch>
        </p:blipFill>
        <p:spPr>
          <a:xfrm>
            <a:off x="628650" y="3714750"/>
            <a:ext cx="6115050" cy="828675"/>
          </a:xfrm>
          <a:prstGeom prst="rect">
            <a:avLst/>
          </a:prstGeom>
        </p:spPr>
      </p:pic>
    </p:spTree>
    <p:extLst>
      <p:ext uri="{BB962C8B-B14F-4D97-AF65-F5344CB8AC3E}">
        <p14:creationId xmlns:p14="http://schemas.microsoft.com/office/powerpoint/2010/main" val="1955262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Secure Multi-Party Lotteries in Bitcoin;</a:t>
            </a:r>
          </a:p>
        </p:txBody>
      </p:sp>
      <p:sp>
        <p:nvSpPr>
          <p:cNvPr id="3" name="Text Placeholder 2"/>
          <p:cNvSpPr>
            <a:spLocks noGrp="1"/>
          </p:cNvSpPr>
          <p:nvPr>
            <p:ph type="body" idx="1"/>
          </p:nvPr>
        </p:nvSpPr>
        <p:spPr/>
        <p:txBody>
          <a:bodyPr/>
          <a:lstStyle/>
          <a:p>
            <a:pPr marL="38099" indent="0">
              <a:buNone/>
            </a:pPr>
            <a:endParaRPr lang="en-IN" b="1" dirty="0"/>
          </a:p>
          <a:p>
            <a:pPr marL="38099" indent="0">
              <a:buNone/>
            </a:pPr>
            <a:r>
              <a:rPr lang="en-IN" b="1" dirty="0"/>
              <a:t>Multi-Party Lotteries offline version</a:t>
            </a:r>
          </a:p>
          <a:p>
            <a:pPr marL="38099" indent="0">
              <a:buNone/>
            </a:pPr>
            <a:endParaRPr lang="en-IN" b="1" dirty="0"/>
          </a:p>
          <a:p>
            <a:pPr marL="38099"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2400301"/>
            <a:ext cx="6215930" cy="2329187"/>
          </a:xfrm>
          <a:prstGeom prst="rect">
            <a:avLst/>
          </a:prstGeom>
        </p:spPr>
      </p:pic>
      <p:sp>
        <p:nvSpPr>
          <p:cNvPr id="6" name="Rectangle 5"/>
          <p:cNvSpPr/>
          <p:nvPr/>
        </p:nvSpPr>
        <p:spPr>
          <a:xfrm>
            <a:off x="4482913" y="2433251"/>
            <a:ext cx="221536" cy="253916"/>
          </a:xfrm>
          <a:prstGeom prst="rect">
            <a:avLst/>
          </a:prstGeom>
        </p:spPr>
        <p:txBody>
          <a:bodyPr wrap="none">
            <a:spAutoFit/>
          </a:bodyPr>
          <a:lstStyle/>
          <a:p>
            <a:r>
              <a:rPr lang="en-IN" sz="1050" dirty="0"/>
              <a:t> </a:t>
            </a:r>
          </a:p>
        </p:txBody>
      </p:sp>
      <p:sp>
        <p:nvSpPr>
          <p:cNvPr id="7" name="Rectangle 6"/>
          <p:cNvSpPr/>
          <p:nvPr/>
        </p:nvSpPr>
        <p:spPr>
          <a:xfrm>
            <a:off x="4482913" y="2433251"/>
            <a:ext cx="221536" cy="253916"/>
          </a:xfrm>
          <a:prstGeom prst="rect">
            <a:avLst/>
          </a:prstGeom>
        </p:spPr>
        <p:txBody>
          <a:bodyPr wrap="none">
            <a:spAutoFit/>
          </a:bodyPr>
          <a:lstStyle/>
          <a:p>
            <a:r>
              <a:rPr lang="en-IN" sz="1050" dirty="0"/>
              <a:t> </a:t>
            </a:r>
          </a:p>
        </p:txBody>
      </p:sp>
    </p:spTree>
    <p:extLst>
      <p:ext uri="{BB962C8B-B14F-4D97-AF65-F5344CB8AC3E}">
        <p14:creationId xmlns:p14="http://schemas.microsoft.com/office/powerpoint/2010/main" val="253006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33350"/>
            <a:ext cx="8229600" cy="3725681"/>
          </a:xfrm>
        </p:spPr>
        <p:txBody>
          <a:bodyPr/>
          <a:lstStyle/>
          <a:p>
            <a:pPr marL="38099" indent="0">
              <a:buNone/>
            </a:pPr>
            <a:r>
              <a:rPr lang="en-IN" b="1" dirty="0"/>
              <a:t>Multi-Party Lotteries online version</a:t>
            </a:r>
          </a:p>
          <a:p>
            <a:pPr marL="38099" indent="0">
              <a:buNone/>
            </a:pPr>
            <a:endParaRPr lang="en-IN" b="1" dirty="0"/>
          </a:p>
          <a:p>
            <a:pPr marL="38099" indent="0">
              <a:buNone/>
            </a:pPr>
            <a:r>
              <a:rPr lang="en-IN" dirty="0"/>
              <a:t>The better idea is to use an </a:t>
            </a:r>
            <a:r>
              <a:rPr lang="en-IN" b="1" dirty="0"/>
              <a:t>hash commitment</a:t>
            </a:r>
            <a:r>
              <a:rPr lang="en-IN" dirty="0"/>
              <a:t>. Publishing H(x) is a commitment to x, in fact:</a:t>
            </a:r>
          </a:p>
          <a:p>
            <a:r>
              <a:rPr lang="en-IN" dirty="0"/>
              <a:t>it's not possible to find later some </a:t>
            </a:r>
            <a:r>
              <a:rPr lang="en-IN" dirty="0" err="1"/>
              <a:t>x'≠x</a:t>
            </a:r>
            <a:r>
              <a:rPr lang="en-IN" dirty="0"/>
              <a:t> such that H(x)=H(x')</a:t>
            </a:r>
          </a:p>
          <a:p>
            <a:r>
              <a:rPr lang="en-IN" dirty="0"/>
              <a:t>H(x) reveals no information about x, assuming that the space of the possible outcomes is big.</a:t>
            </a:r>
          </a:p>
          <a:p>
            <a:pPr marL="38099" indent="0">
              <a:buNone/>
            </a:pPr>
            <a:endParaRPr lang="en-IN" b="1" dirty="0"/>
          </a:p>
          <a:p>
            <a:pPr marL="38099" indent="0">
              <a:buNone/>
            </a:pPr>
            <a:endParaRPr lang="en-IN" b="1" dirty="0"/>
          </a:p>
          <a:p>
            <a:pPr marL="38099" indent="0">
              <a:buNone/>
            </a:pPr>
            <a:endParaRPr lang="en-IN" dirty="0"/>
          </a:p>
        </p:txBody>
      </p:sp>
    </p:spTree>
    <p:extLst>
      <p:ext uri="{BB962C8B-B14F-4D97-AF65-F5344CB8AC3E}">
        <p14:creationId xmlns:p14="http://schemas.microsoft.com/office/powerpoint/2010/main" val="137025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85751"/>
            <a:ext cx="8229600" cy="4640082"/>
          </a:xfrm>
        </p:spPr>
        <p:txBody>
          <a:bodyPr/>
          <a:lstStyle/>
          <a:p>
            <a:r>
              <a:rPr lang="en-IN" b="1" dirty="0"/>
              <a:t>Use hash commitment for online lotteries</a:t>
            </a:r>
            <a:r>
              <a:rPr lang="en-IN" sz="1500" b="1" dirty="0"/>
              <a:t>(</a:t>
            </a:r>
            <a:r>
              <a:rPr lang="en-IN" b="1" dirty="0"/>
              <a:t>A lottery with hash commitments)</a:t>
            </a:r>
            <a:endParaRPr lang="en-IN" dirty="0"/>
          </a:p>
          <a:p>
            <a:pPr marL="38099" indent="0">
              <a:buNone/>
            </a:pPr>
            <a:endParaRPr lang="en-IN" b="1" dirty="0"/>
          </a:p>
          <a:p>
            <a:pPr marL="38099" indent="0">
              <a:buNone/>
            </a:pPr>
            <a:endParaRPr lang="en-IN" dirty="0"/>
          </a:p>
        </p:txBody>
      </p:sp>
      <p:sp>
        <p:nvSpPr>
          <p:cNvPr id="4" name="Rectangle 3"/>
          <p:cNvSpPr/>
          <p:nvPr/>
        </p:nvSpPr>
        <p:spPr>
          <a:xfrm>
            <a:off x="4482913" y="2433251"/>
            <a:ext cx="221536" cy="253916"/>
          </a:xfrm>
          <a:prstGeom prst="rect">
            <a:avLst/>
          </a:prstGeom>
        </p:spPr>
        <p:txBody>
          <a:bodyPr wrap="none">
            <a:spAutoFit/>
          </a:bodyPr>
          <a:lstStyle/>
          <a:p>
            <a:r>
              <a:rPr lang="en-IN" sz="1050" dirty="0"/>
              <a:t> </a:t>
            </a:r>
          </a:p>
        </p:txBody>
      </p:sp>
      <p:sp>
        <p:nvSpPr>
          <p:cNvPr id="5" name="Rectangle 4"/>
          <p:cNvSpPr/>
          <p:nvPr/>
        </p:nvSpPr>
        <p:spPr>
          <a:xfrm>
            <a:off x="4482913" y="2433251"/>
            <a:ext cx="221536" cy="253916"/>
          </a:xfrm>
          <a:prstGeom prst="rect">
            <a:avLst/>
          </a:prstGeom>
        </p:spPr>
        <p:txBody>
          <a:bodyPr wrap="none">
            <a:spAutoFit/>
          </a:bodyPr>
          <a:lstStyle/>
          <a:p>
            <a:r>
              <a:rPr lang="en-IN" sz="1050" dirty="0"/>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0500" y="800100"/>
            <a:ext cx="4743450" cy="3486150"/>
          </a:xfrm>
          <a:prstGeom prst="rect">
            <a:avLst/>
          </a:prstGeom>
        </p:spPr>
      </p:pic>
      <p:sp>
        <p:nvSpPr>
          <p:cNvPr id="7" name="Rectangle 6"/>
          <p:cNvSpPr/>
          <p:nvPr/>
        </p:nvSpPr>
        <p:spPr>
          <a:xfrm>
            <a:off x="114300" y="1314451"/>
            <a:ext cx="3943350" cy="2839239"/>
          </a:xfrm>
          <a:prstGeom prst="rect">
            <a:avLst/>
          </a:prstGeom>
        </p:spPr>
        <p:txBody>
          <a:bodyPr wrap="square">
            <a:spAutoFit/>
          </a:bodyPr>
          <a:lstStyle/>
          <a:p>
            <a:pPr algn="just"/>
            <a:r>
              <a:rPr lang="en-IN" sz="1050" b="1" dirty="0"/>
              <a:t>1.</a:t>
            </a:r>
            <a:r>
              <a:rPr lang="en-IN" sz="1050" dirty="0"/>
              <a:t> each of them </a:t>
            </a:r>
            <a:r>
              <a:rPr lang="en-IN" sz="1050" b="1" dirty="0"/>
              <a:t>chooses</a:t>
            </a:r>
            <a:r>
              <a:rPr lang="en-IN" sz="1050" dirty="0"/>
              <a:t> a random number called </a:t>
            </a:r>
            <a:r>
              <a:rPr lang="en-IN" sz="1050" b="1" dirty="0"/>
              <a:t>nonce</a:t>
            </a:r>
            <a:r>
              <a:rPr lang="en-IN" sz="1050" dirty="0"/>
              <a:t>. Ant they will keep it secret</a:t>
            </a:r>
            <a:endParaRPr lang="en-IN" sz="1050" b="1" dirty="0"/>
          </a:p>
          <a:p>
            <a:pPr algn="just"/>
            <a:r>
              <a:rPr lang="en-IN" sz="1050" b="1" dirty="0"/>
              <a:t>2.. Round 1: each participant will publish an hash commitment of their random data. Of course they will have to choose the number from a space that it's wide enough, so that the hash doesn't reveal information about the value.</a:t>
            </a:r>
          </a:p>
          <a:p>
            <a:pPr algn="just"/>
            <a:r>
              <a:rPr lang="en-IN" sz="1050" b="1" dirty="0"/>
              <a:t>3. Round 2: this phase has to happen strictly after the round 1 is finished. Each participant publish the random number they chose.</a:t>
            </a:r>
          </a:p>
          <a:p>
            <a:pPr algn="just"/>
            <a:r>
              <a:rPr lang="en-IN" sz="1050" b="1" dirty="0"/>
              <a:t>4. Determine the winner: we can use any simple algorithm to compute the winner. For example an algorithm that compute the hash of the three random numbers </a:t>
            </a:r>
            <a:r>
              <a:rPr lang="en-IN" sz="1050" b="1" dirty="0" err="1"/>
              <a:t>xor</a:t>
            </a:r>
            <a:r>
              <a:rPr lang="en-IN" sz="1050" b="1" dirty="0"/>
              <a:t> and takes its module divided by three. Now if we assigned a number from 0 to 2 to each participant we will have a winner and the properties of hash function guarantees us that the outcome is fair.</a:t>
            </a:r>
          </a:p>
        </p:txBody>
      </p:sp>
    </p:spTree>
    <p:extLst>
      <p:ext uri="{BB962C8B-B14F-4D97-AF65-F5344CB8AC3E}">
        <p14:creationId xmlns:p14="http://schemas.microsoft.com/office/powerpoint/2010/main" val="110343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8100"/>
            <a:ext cx="8229600" cy="3725681"/>
          </a:xfrm>
        </p:spPr>
        <p:txBody>
          <a:bodyPr/>
          <a:lstStyle/>
          <a:p>
            <a:pPr marL="38099" indent="0">
              <a:buNone/>
            </a:pPr>
            <a:r>
              <a:rPr lang="en-IN" b="1" dirty="0"/>
              <a:t>What happens if a user refuses to publish its random number?</a:t>
            </a:r>
          </a:p>
          <a:p>
            <a:pPr algn="just"/>
            <a:r>
              <a:rPr lang="en-IN" dirty="0"/>
              <a:t>Suppose that in Round 2, Carol sees the random numbers published by Alice and Bob, understands that she's going to lose and just goes offline. </a:t>
            </a:r>
          </a:p>
          <a:p>
            <a:pPr algn="just"/>
            <a:r>
              <a:rPr lang="en-IN" dirty="0"/>
              <a:t>Without all the outcomes it's impossible to run the final algorithm and find out the winner. By itself the protocol doesn't protect participants from malicious users.</a:t>
            </a:r>
          </a:p>
          <a:p>
            <a:endParaRPr lang="en-IN" dirty="0"/>
          </a:p>
        </p:txBody>
      </p:sp>
    </p:spTree>
    <p:extLst>
      <p:ext uri="{BB962C8B-B14F-4D97-AF65-F5344CB8AC3E}">
        <p14:creationId xmlns:p14="http://schemas.microsoft.com/office/powerpoint/2010/main" val="162725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71450"/>
            <a:ext cx="8229600" cy="3725681"/>
          </a:xfrm>
        </p:spPr>
        <p:txBody>
          <a:bodyPr/>
          <a:lstStyle/>
          <a:p>
            <a:pPr marL="38099" indent="0">
              <a:buNone/>
            </a:pPr>
            <a:r>
              <a:rPr lang="en-IN" b="1" dirty="0"/>
              <a:t>Use timed hash commitment for online lotteries</a:t>
            </a:r>
          </a:p>
          <a:p>
            <a:pPr marL="38099" indent="0">
              <a:buNone/>
            </a:pPr>
            <a:r>
              <a:rPr lang="en-IN" dirty="0"/>
              <a:t>To prevent users to be malicious is to </a:t>
            </a:r>
            <a:r>
              <a:rPr lang="en-IN" b="1" dirty="0"/>
              <a:t>force the commitment within a time t</a:t>
            </a:r>
            <a:r>
              <a:rPr lang="en-IN" dirty="0"/>
              <a:t>.</a:t>
            </a:r>
          </a:p>
          <a:p>
            <a:pPr marL="38099" indent="0">
              <a:buNone/>
            </a:pPr>
            <a:r>
              <a:rPr lang="en-IN" dirty="0"/>
              <a:t>For example, if Alice is trying to enter into a times hash commitment with Bob, she will put up a bond and make transaction that will pay the bond in two cases:</a:t>
            </a:r>
          </a:p>
          <a:p>
            <a:r>
              <a:rPr lang="en-IN" dirty="0"/>
              <a:t>Alice and Bob both sign (</a:t>
            </a:r>
            <a:r>
              <a:rPr lang="en-IN" b="1" dirty="0" err="1"/>
              <a:t>multisignature</a:t>
            </a:r>
            <a:r>
              <a:rPr lang="en-IN" dirty="0"/>
              <a:t>)</a:t>
            </a:r>
          </a:p>
          <a:p>
            <a:r>
              <a:rPr lang="en-IN" dirty="0"/>
              <a:t>Alice signs and reveals what her data was. In this case, it is possible to check there's a value x in redemption script that have the hash she committed (</a:t>
            </a:r>
            <a:r>
              <a:rPr lang="en-IN" b="1" dirty="0"/>
              <a:t>pay-to-hash-script</a:t>
            </a:r>
            <a:r>
              <a:rPr lang="en-IN" dirty="0"/>
              <a:t>)</a:t>
            </a:r>
          </a:p>
          <a:p>
            <a:pPr marL="38099" indent="0">
              <a:buNone/>
            </a:pPr>
            <a:endParaRPr lang="en-IN" b="1" dirty="0"/>
          </a:p>
          <a:p>
            <a:endParaRPr lang="en-IN" dirty="0"/>
          </a:p>
        </p:txBody>
      </p:sp>
    </p:spTree>
    <p:extLst>
      <p:ext uri="{BB962C8B-B14F-4D97-AF65-F5344CB8AC3E}">
        <p14:creationId xmlns:p14="http://schemas.microsoft.com/office/powerpoint/2010/main" val="1434437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38099" indent="0">
              <a:buNone/>
            </a:pPr>
            <a:r>
              <a:rPr lang="en-IN" b="1" dirty="0"/>
              <a:t>Timed hash commitment lottery pros and cons</a:t>
            </a:r>
          </a:p>
          <a:p>
            <a:pPr marL="38099" indent="0">
              <a:buNone/>
            </a:pPr>
            <a:r>
              <a:rPr lang="en-IN" b="1" dirty="0"/>
              <a:t>Pros</a:t>
            </a:r>
            <a:r>
              <a:rPr lang="en-IN" dirty="0"/>
              <a:t>:</a:t>
            </a:r>
          </a:p>
          <a:p>
            <a:pPr algn="just"/>
            <a:r>
              <a:rPr lang="en-IN" dirty="0"/>
              <a:t>This process can be implemented on top of Bitcoin infrastructure today, without any change to Bitcoin scripts</a:t>
            </a:r>
          </a:p>
          <a:p>
            <a:pPr marL="38099" indent="0" algn="just">
              <a:buNone/>
            </a:pPr>
            <a:r>
              <a:rPr lang="en-IN" b="1" dirty="0"/>
              <a:t>Cons</a:t>
            </a:r>
            <a:r>
              <a:rPr lang="en-IN" dirty="0"/>
              <a:t>:</a:t>
            </a:r>
          </a:p>
          <a:p>
            <a:pPr algn="just"/>
            <a:r>
              <a:rPr lang="en-IN" dirty="0"/>
              <a:t>The algorithm is quite complicates, since it requires multiple transactions. When there are N players, the complexity will be O(N</a:t>
            </a:r>
            <a:r>
              <a:rPr lang="en-IN" baseline="30000" dirty="0"/>
              <a:t>2</a:t>
            </a:r>
            <a:r>
              <a:rPr lang="en-IN" dirty="0"/>
              <a:t>)</a:t>
            </a:r>
          </a:p>
          <a:p>
            <a:pPr algn="just"/>
            <a:r>
              <a:rPr lang="en-IN" dirty="0"/>
              <a:t>The key property to guarantee fairness is that the bond must be higher than the bet. So, it's not the most efficient way to make lotteries, since players need to have a higher amount of money to put at stake.</a:t>
            </a:r>
          </a:p>
          <a:p>
            <a:pPr marL="38099" indent="0">
              <a:buNone/>
            </a:pPr>
            <a:endParaRPr lang="en-IN" dirty="0"/>
          </a:p>
        </p:txBody>
      </p:sp>
    </p:spTree>
    <p:extLst>
      <p:ext uri="{BB962C8B-B14F-4D97-AF65-F5344CB8AC3E}">
        <p14:creationId xmlns:p14="http://schemas.microsoft.com/office/powerpoint/2010/main" val="306965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Secure Multi-Party Lotteries in Bitcoin;</a:t>
            </a:r>
          </a:p>
        </p:txBody>
      </p:sp>
      <p:sp>
        <p:nvSpPr>
          <p:cNvPr id="3" name="Text Placeholder 2"/>
          <p:cNvSpPr>
            <a:spLocks noGrp="1"/>
          </p:cNvSpPr>
          <p:nvPr>
            <p:ph type="body" idx="1"/>
          </p:nvPr>
        </p:nvSpPr>
        <p:spPr/>
        <p:txBody>
          <a:bodyPr/>
          <a:lstStyle/>
          <a:p>
            <a:pPr marL="38099" indent="0">
              <a:buNone/>
            </a:pPr>
            <a:endParaRPr lang="en-IN" b="1" dirty="0"/>
          </a:p>
          <a:p>
            <a:pPr marL="38099" indent="0">
              <a:buNone/>
            </a:pPr>
            <a:r>
              <a:rPr lang="en-IN" b="1" dirty="0"/>
              <a:t>Multi-Party Lotteries offline version</a:t>
            </a:r>
          </a:p>
          <a:p>
            <a:pPr marL="38099" indent="0">
              <a:buNone/>
            </a:pPr>
            <a:endParaRPr lang="en-IN" b="1" dirty="0"/>
          </a:p>
          <a:p>
            <a:pPr marL="38099"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2400301"/>
            <a:ext cx="6215930" cy="2329187"/>
          </a:xfrm>
          <a:prstGeom prst="rect">
            <a:avLst/>
          </a:prstGeom>
        </p:spPr>
      </p:pic>
      <p:sp>
        <p:nvSpPr>
          <p:cNvPr id="6" name="Rectangle 5"/>
          <p:cNvSpPr/>
          <p:nvPr/>
        </p:nvSpPr>
        <p:spPr>
          <a:xfrm>
            <a:off x="4482913" y="2433251"/>
            <a:ext cx="221536" cy="253916"/>
          </a:xfrm>
          <a:prstGeom prst="rect">
            <a:avLst/>
          </a:prstGeom>
        </p:spPr>
        <p:txBody>
          <a:bodyPr wrap="none">
            <a:spAutoFit/>
          </a:bodyPr>
          <a:lstStyle/>
          <a:p>
            <a:r>
              <a:rPr lang="en-IN" sz="1050" dirty="0"/>
              <a:t> </a:t>
            </a:r>
          </a:p>
        </p:txBody>
      </p:sp>
      <p:sp>
        <p:nvSpPr>
          <p:cNvPr id="7" name="Rectangle 6"/>
          <p:cNvSpPr/>
          <p:nvPr/>
        </p:nvSpPr>
        <p:spPr>
          <a:xfrm>
            <a:off x="4482913" y="2433251"/>
            <a:ext cx="221536" cy="253916"/>
          </a:xfrm>
          <a:prstGeom prst="rect">
            <a:avLst/>
          </a:prstGeom>
        </p:spPr>
        <p:txBody>
          <a:bodyPr wrap="none">
            <a:spAutoFit/>
          </a:bodyPr>
          <a:lstStyle/>
          <a:p>
            <a:r>
              <a:rPr lang="en-IN" sz="1050" dirty="0"/>
              <a:t> </a:t>
            </a:r>
          </a:p>
        </p:txBody>
      </p:sp>
    </p:spTree>
    <p:extLst>
      <p:ext uri="{BB962C8B-B14F-4D97-AF65-F5344CB8AC3E}">
        <p14:creationId xmlns:p14="http://schemas.microsoft.com/office/powerpoint/2010/main" val="2674326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8100"/>
            <a:ext cx="8229600" cy="3725681"/>
          </a:xfrm>
        </p:spPr>
        <p:txBody>
          <a:bodyPr/>
          <a:lstStyle/>
          <a:p>
            <a:pPr marL="38099" indent="0">
              <a:buNone/>
            </a:pPr>
            <a:r>
              <a:rPr lang="en-IN" b="1" dirty="0"/>
              <a:t>Multi-Party Lotteries online version</a:t>
            </a:r>
          </a:p>
          <a:p>
            <a:r>
              <a:rPr lang="en-IN" dirty="0"/>
              <a:t>how to </a:t>
            </a:r>
            <a:r>
              <a:rPr lang="en-IN" b="1" dirty="0"/>
              <a:t>generate randomness</a:t>
            </a:r>
            <a:r>
              <a:rPr lang="en-IN" dirty="0"/>
              <a:t> that both parties can agree is fair</a:t>
            </a:r>
          </a:p>
          <a:p>
            <a:r>
              <a:rPr lang="en-IN" dirty="0"/>
              <a:t>how to </a:t>
            </a:r>
            <a:r>
              <a:rPr lang="en-IN" b="1" dirty="0"/>
              <a:t>force</a:t>
            </a:r>
            <a:r>
              <a:rPr lang="en-IN" dirty="0"/>
              <a:t> the party who loses </a:t>
            </a:r>
            <a:r>
              <a:rPr lang="en-IN" b="1" dirty="0"/>
              <a:t>to pay</a:t>
            </a:r>
            <a:endParaRPr lang="en-IN" dirty="0"/>
          </a:p>
          <a:p>
            <a:pPr marL="38099" indent="0">
              <a:buNone/>
            </a:pPr>
            <a:endParaRPr lang="en-IN" b="1" dirty="0"/>
          </a:p>
          <a:p>
            <a:pPr marL="38099" indent="0">
              <a:buNone/>
            </a:pPr>
            <a:r>
              <a:rPr lang="en-IN" dirty="0"/>
              <a:t>So, a better idea is to use an </a:t>
            </a:r>
            <a:r>
              <a:rPr lang="en-IN" b="1" dirty="0"/>
              <a:t>hash commitment</a:t>
            </a:r>
            <a:r>
              <a:rPr lang="en-IN" dirty="0"/>
              <a:t>. Publishing H(x) is a commitment to x, in fact:</a:t>
            </a:r>
          </a:p>
          <a:p>
            <a:r>
              <a:rPr lang="en-IN" dirty="0"/>
              <a:t>it's not possible to find later some </a:t>
            </a:r>
            <a:r>
              <a:rPr lang="en-IN" dirty="0" err="1"/>
              <a:t>x'≠x</a:t>
            </a:r>
            <a:r>
              <a:rPr lang="en-IN" dirty="0"/>
              <a:t> such that H(x)=H(x')</a:t>
            </a:r>
          </a:p>
          <a:p>
            <a:r>
              <a:rPr lang="en-IN" dirty="0"/>
              <a:t>H(x) reveals no information about x, assuming that the space of the possible outcomes is big</a:t>
            </a:r>
          </a:p>
          <a:p>
            <a:pPr marL="38099" indent="0">
              <a:buNone/>
            </a:pPr>
            <a:endParaRPr lang="en-IN" b="1" dirty="0"/>
          </a:p>
          <a:p>
            <a:pPr marL="38099" indent="0">
              <a:buNone/>
            </a:pPr>
            <a:endParaRPr lang="en-IN" dirty="0"/>
          </a:p>
        </p:txBody>
      </p:sp>
    </p:spTree>
    <p:extLst>
      <p:ext uri="{BB962C8B-B14F-4D97-AF65-F5344CB8AC3E}">
        <p14:creationId xmlns:p14="http://schemas.microsoft.com/office/powerpoint/2010/main" val="192011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85751"/>
            <a:ext cx="8229600" cy="4640082"/>
          </a:xfrm>
        </p:spPr>
        <p:txBody>
          <a:bodyPr/>
          <a:lstStyle/>
          <a:p>
            <a:r>
              <a:rPr lang="en-IN" b="1" dirty="0"/>
              <a:t>Use hash commitment for online lotteries</a:t>
            </a:r>
            <a:r>
              <a:rPr lang="en-IN" sz="1500" b="1" dirty="0"/>
              <a:t>(</a:t>
            </a:r>
            <a:r>
              <a:rPr lang="en-IN" b="1" dirty="0"/>
              <a:t>A lottery with hash commitments)</a:t>
            </a:r>
            <a:endParaRPr lang="en-IN" dirty="0"/>
          </a:p>
          <a:p>
            <a:pPr marL="38099" indent="0">
              <a:buNone/>
            </a:pPr>
            <a:endParaRPr lang="en-IN" b="1" dirty="0"/>
          </a:p>
          <a:p>
            <a:pPr marL="38099" indent="0">
              <a:buNone/>
            </a:pPr>
            <a:endParaRPr lang="en-IN" dirty="0"/>
          </a:p>
        </p:txBody>
      </p:sp>
      <p:sp>
        <p:nvSpPr>
          <p:cNvPr id="4" name="Rectangle 3"/>
          <p:cNvSpPr/>
          <p:nvPr/>
        </p:nvSpPr>
        <p:spPr>
          <a:xfrm>
            <a:off x="4482913" y="2433251"/>
            <a:ext cx="221536" cy="253916"/>
          </a:xfrm>
          <a:prstGeom prst="rect">
            <a:avLst/>
          </a:prstGeom>
        </p:spPr>
        <p:txBody>
          <a:bodyPr wrap="none">
            <a:spAutoFit/>
          </a:bodyPr>
          <a:lstStyle/>
          <a:p>
            <a:r>
              <a:rPr lang="en-IN" sz="1050" dirty="0"/>
              <a:t> </a:t>
            </a:r>
          </a:p>
        </p:txBody>
      </p:sp>
      <p:sp>
        <p:nvSpPr>
          <p:cNvPr id="5" name="Rectangle 4"/>
          <p:cNvSpPr/>
          <p:nvPr/>
        </p:nvSpPr>
        <p:spPr>
          <a:xfrm>
            <a:off x="4482913" y="2433251"/>
            <a:ext cx="221536" cy="253916"/>
          </a:xfrm>
          <a:prstGeom prst="rect">
            <a:avLst/>
          </a:prstGeom>
        </p:spPr>
        <p:txBody>
          <a:bodyPr wrap="none">
            <a:spAutoFit/>
          </a:bodyPr>
          <a:lstStyle/>
          <a:p>
            <a:r>
              <a:rPr lang="en-IN" sz="1050" dirty="0"/>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0500" y="800100"/>
            <a:ext cx="4743450" cy="3486150"/>
          </a:xfrm>
          <a:prstGeom prst="rect">
            <a:avLst/>
          </a:prstGeom>
        </p:spPr>
      </p:pic>
      <p:sp>
        <p:nvSpPr>
          <p:cNvPr id="7" name="Rectangle 6"/>
          <p:cNvSpPr/>
          <p:nvPr/>
        </p:nvSpPr>
        <p:spPr>
          <a:xfrm>
            <a:off x="114300" y="1314451"/>
            <a:ext cx="3943350" cy="2839239"/>
          </a:xfrm>
          <a:prstGeom prst="rect">
            <a:avLst/>
          </a:prstGeom>
        </p:spPr>
        <p:txBody>
          <a:bodyPr wrap="square">
            <a:spAutoFit/>
          </a:bodyPr>
          <a:lstStyle/>
          <a:p>
            <a:pPr algn="just"/>
            <a:r>
              <a:rPr lang="en-IN" sz="1050" b="1" dirty="0"/>
              <a:t>1.</a:t>
            </a:r>
            <a:r>
              <a:rPr lang="en-IN" sz="1050" dirty="0"/>
              <a:t> each of them </a:t>
            </a:r>
            <a:r>
              <a:rPr lang="en-IN" sz="1050" b="1" dirty="0"/>
              <a:t>chooses</a:t>
            </a:r>
            <a:r>
              <a:rPr lang="en-IN" sz="1050" dirty="0"/>
              <a:t> a random number called </a:t>
            </a:r>
            <a:r>
              <a:rPr lang="en-IN" sz="1050" b="1" dirty="0"/>
              <a:t>nonce</a:t>
            </a:r>
            <a:r>
              <a:rPr lang="en-IN" sz="1050" dirty="0"/>
              <a:t>. Ant they will keep it secret</a:t>
            </a:r>
            <a:endParaRPr lang="en-IN" sz="1050" b="1" dirty="0"/>
          </a:p>
          <a:p>
            <a:pPr algn="just"/>
            <a:r>
              <a:rPr lang="en-IN" sz="1050" b="1" dirty="0"/>
              <a:t>2.. Round 1: each participant will publish an hash commitment of their random data. Of course they will have to choose the number from a space that it's wide enough, so that the hash doesn't reveal information about the value.</a:t>
            </a:r>
          </a:p>
          <a:p>
            <a:pPr algn="just"/>
            <a:r>
              <a:rPr lang="en-IN" sz="1050" b="1" dirty="0"/>
              <a:t>3. Round 2: this phase has to happen strictly after the round 1 is finished. Each participant publish the random number they chose.</a:t>
            </a:r>
          </a:p>
          <a:p>
            <a:pPr algn="just"/>
            <a:r>
              <a:rPr lang="en-IN" sz="1050" b="1" dirty="0"/>
              <a:t>4. Determine the winner: we can use any simple algorithm to compute the winner. For example an algorithm that compute the hash of the three random numbers </a:t>
            </a:r>
            <a:r>
              <a:rPr lang="en-IN" sz="1050" b="1" dirty="0" err="1"/>
              <a:t>xor</a:t>
            </a:r>
            <a:r>
              <a:rPr lang="en-IN" sz="1050" b="1" dirty="0"/>
              <a:t> and takes its module divided by three. Now if we assigned a number from 0 to 2 to each participant we will have a winner and the properties of hash function guarantees us that the outcome is fair.</a:t>
            </a:r>
          </a:p>
        </p:txBody>
      </p:sp>
    </p:spTree>
    <p:extLst>
      <p:ext uri="{BB962C8B-B14F-4D97-AF65-F5344CB8AC3E}">
        <p14:creationId xmlns:p14="http://schemas.microsoft.com/office/powerpoint/2010/main" val="2114408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38099" indent="0">
              <a:buNone/>
            </a:pPr>
            <a:r>
              <a:rPr lang="en-IN" b="1" dirty="0"/>
              <a:t>What happens if a user refuses to publish its random number?</a:t>
            </a:r>
          </a:p>
          <a:p>
            <a:pPr algn="just"/>
            <a:r>
              <a:rPr lang="en-IN" dirty="0"/>
              <a:t>Suppose that in Round 2, Carol sees the random numbers published by Alice and Bob, understands that she's going to lose and just goes offline. </a:t>
            </a:r>
          </a:p>
          <a:p>
            <a:pPr algn="just"/>
            <a:r>
              <a:rPr lang="en-IN" dirty="0"/>
              <a:t>Without all the outcomes it's impossible to run the final algorithm and find out the winner. By itself the protocol doesn't protect participants from malicious users.</a:t>
            </a:r>
          </a:p>
          <a:p>
            <a:endParaRPr lang="en-IN" dirty="0"/>
          </a:p>
        </p:txBody>
      </p:sp>
    </p:spTree>
    <p:extLst>
      <p:ext uri="{BB962C8B-B14F-4D97-AF65-F5344CB8AC3E}">
        <p14:creationId xmlns:p14="http://schemas.microsoft.com/office/powerpoint/2010/main" val="31256346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body" idx="1"/>
          </p:nvPr>
        </p:nvSpPr>
        <p:spPr bwMode="auto">
          <a:xfrm>
            <a:off x="342900" y="1235414"/>
            <a:ext cx="594137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none" lIns="68580" tIns="34290" rIns="68580" bIns="34290" numCol="1" anchor="ctr" anchorCtr="0" compatLnSpc="1">
            <a:prstTxWarp prst="textNoShape">
              <a:avLst/>
            </a:prstTxWarp>
            <a:spAutoFit/>
          </a:bodyPr>
          <a:lstStyle/>
          <a:p>
            <a:pPr marL="0" indent="0" defTabSz="685800" eaLnBrk="0" fontAlgn="base" hangingPunct="0">
              <a:spcBef>
                <a:spcPct val="0"/>
              </a:spcBef>
              <a:spcAft>
                <a:spcPct val="0"/>
              </a:spcAft>
              <a:buClrTx/>
              <a:buSzTx/>
              <a:buNone/>
            </a:pPr>
            <a:r>
              <a:rPr lang="en-US" sz="825" b="1" dirty="0">
                <a:solidFill>
                  <a:schemeClr val="tx1"/>
                </a:solidFill>
                <a:latin typeface="Arial" panose="020B0604020202020204" pitchFamily="34" charset="0"/>
              </a:rPr>
              <a:t>Working with Data Frames</a:t>
            </a:r>
          </a:p>
          <a:p>
            <a:pPr marL="0" indent="0" defTabSz="685800" eaLnBrk="0" fontAlgn="base" hangingPunct="0">
              <a:spcBef>
                <a:spcPct val="0"/>
              </a:spcBef>
              <a:spcAft>
                <a:spcPct val="0"/>
              </a:spcAft>
              <a:buClrTx/>
              <a:buSzTx/>
              <a:buFontTx/>
              <a:buChar char="•"/>
            </a:pPr>
            <a:r>
              <a:rPr lang="en-US" sz="825" dirty="0">
                <a:solidFill>
                  <a:schemeClr val="tx1"/>
                </a:solidFill>
                <a:latin typeface="Arial" panose="020B0604020202020204" pitchFamily="34" charset="0"/>
              </a:rPr>
              <a:t>Create a data frame with three columns: </a:t>
            </a:r>
            <a:r>
              <a:rPr lang="en-US" sz="750" dirty="0">
                <a:solidFill>
                  <a:schemeClr val="tx1"/>
                </a:solidFill>
                <a:latin typeface="Arial Unicode MS" panose="020B0604020202020204" pitchFamily="34" charset="-128"/>
              </a:rPr>
              <a:t>Name</a:t>
            </a:r>
            <a:r>
              <a:rPr lang="en-US" sz="825" dirty="0">
                <a:solidFill>
                  <a:schemeClr val="tx1"/>
                </a:solidFill>
              </a:rPr>
              <a:t>, </a:t>
            </a:r>
            <a:r>
              <a:rPr lang="en-US" sz="750" dirty="0">
                <a:solidFill>
                  <a:schemeClr val="tx1"/>
                </a:solidFill>
                <a:latin typeface="Arial Unicode MS" panose="020B0604020202020204" pitchFamily="34" charset="-128"/>
              </a:rPr>
              <a:t>Age</a:t>
            </a:r>
            <a:r>
              <a:rPr lang="en-US" sz="825" dirty="0">
                <a:solidFill>
                  <a:schemeClr val="tx1"/>
                </a:solidFill>
              </a:rPr>
              <a:t>, and </a:t>
            </a:r>
            <a:r>
              <a:rPr lang="en-US" sz="750" dirty="0">
                <a:solidFill>
                  <a:schemeClr val="tx1"/>
                </a:solidFill>
                <a:latin typeface="Arial Unicode MS" panose="020B0604020202020204" pitchFamily="34" charset="-128"/>
              </a:rPr>
              <a:t>Score</a:t>
            </a:r>
            <a:r>
              <a:rPr lang="en-US" sz="825" dirty="0">
                <a:solidFill>
                  <a:schemeClr val="tx1"/>
                </a:solidFill>
              </a:rPr>
              <a:t>.</a:t>
            </a:r>
            <a:endParaRPr lang="en-US" sz="1350"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FontTx/>
              <a:buChar char="•"/>
            </a:pPr>
            <a:r>
              <a:rPr lang="en-US" sz="1350" dirty="0">
                <a:solidFill>
                  <a:schemeClr val="tx1"/>
                </a:solidFill>
                <a:latin typeface="Arial" panose="020B0604020202020204" pitchFamily="34" charset="0"/>
              </a:rPr>
              <a:t>Add a new column </a:t>
            </a:r>
            <a:r>
              <a:rPr lang="en-US" sz="750" dirty="0">
                <a:solidFill>
                  <a:schemeClr val="tx1"/>
                </a:solidFill>
                <a:latin typeface="Arial Unicode MS" panose="020B0604020202020204" pitchFamily="34" charset="-128"/>
              </a:rPr>
              <a:t>Grade</a:t>
            </a:r>
            <a:r>
              <a:rPr lang="en-US" sz="825" dirty="0">
                <a:solidFill>
                  <a:schemeClr val="tx1"/>
                </a:solidFill>
              </a:rPr>
              <a:t> based on the </a:t>
            </a:r>
            <a:r>
              <a:rPr lang="en-US" sz="750" dirty="0">
                <a:solidFill>
                  <a:schemeClr val="tx1"/>
                </a:solidFill>
                <a:latin typeface="Arial Unicode MS" panose="020B0604020202020204" pitchFamily="34" charset="-128"/>
              </a:rPr>
              <a:t>Score</a:t>
            </a:r>
            <a:r>
              <a:rPr lang="en-US" sz="825" dirty="0">
                <a:solidFill>
                  <a:schemeClr val="tx1"/>
                </a:solidFill>
              </a:rPr>
              <a:t>:</a:t>
            </a:r>
            <a:endParaRPr lang="en-US" sz="1350" dirty="0">
              <a:solidFill>
                <a:schemeClr val="tx1"/>
              </a:solidFill>
              <a:latin typeface="Arial" panose="020B0604020202020204" pitchFamily="34" charset="0"/>
            </a:endParaRPr>
          </a:p>
          <a:p>
            <a:pPr marL="342900" lvl="1" indent="0" defTabSz="685800" eaLnBrk="0" fontAlgn="base" hangingPunct="0">
              <a:spcBef>
                <a:spcPct val="0"/>
              </a:spcBef>
              <a:spcAft>
                <a:spcPct val="0"/>
              </a:spcAft>
              <a:buClrTx/>
              <a:buSzTx/>
              <a:buFontTx/>
              <a:buChar char="•"/>
            </a:pPr>
            <a:r>
              <a:rPr lang="en-US" sz="750" dirty="0">
                <a:solidFill>
                  <a:schemeClr val="tx1"/>
                </a:solidFill>
                <a:latin typeface="Arial Unicode MS" panose="020B0604020202020204" pitchFamily="34" charset="-128"/>
              </a:rPr>
              <a:t>Grade = "A"</a:t>
            </a:r>
            <a:r>
              <a:rPr lang="en-US" sz="825" dirty="0">
                <a:solidFill>
                  <a:schemeClr val="tx1"/>
                </a:solidFill>
              </a:rPr>
              <a:t> if </a:t>
            </a:r>
            <a:r>
              <a:rPr lang="en-US" sz="750" dirty="0">
                <a:solidFill>
                  <a:schemeClr val="tx1"/>
                </a:solidFill>
                <a:latin typeface="Arial Unicode MS" panose="020B0604020202020204" pitchFamily="34" charset="-128"/>
              </a:rPr>
              <a:t>Score &gt; 80</a:t>
            </a:r>
            <a:r>
              <a:rPr lang="en-US" sz="825" dirty="0">
                <a:solidFill>
                  <a:schemeClr val="tx1"/>
                </a:solidFill>
              </a:rPr>
              <a:t>.</a:t>
            </a:r>
            <a:endParaRPr lang="en-US" sz="1350" dirty="0">
              <a:solidFill>
                <a:schemeClr val="tx1"/>
              </a:solidFill>
              <a:latin typeface="Arial" panose="020B0604020202020204" pitchFamily="34" charset="0"/>
            </a:endParaRPr>
          </a:p>
          <a:p>
            <a:pPr marL="342900" lvl="1" indent="0" defTabSz="685800" eaLnBrk="0" fontAlgn="base" hangingPunct="0">
              <a:spcBef>
                <a:spcPct val="0"/>
              </a:spcBef>
              <a:spcAft>
                <a:spcPct val="0"/>
              </a:spcAft>
              <a:buClrTx/>
              <a:buSzTx/>
              <a:buFontTx/>
              <a:buChar char="•"/>
            </a:pPr>
            <a:r>
              <a:rPr lang="en-US" sz="750" dirty="0">
                <a:solidFill>
                  <a:schemeClr val="tx1"/>
                </a:solidFill>
                <a:latin typeface="Arial Unicode MS" panose="020B0604020202020204" pitchFamily="34" charset="-128"/>
              </a:rPr>
              <a:t>Grade = "B"</a:t>
            </a:r>
            <a:r>
              <a:rPr lang="en-US" sz="825" dirty="0">
                <a:solidFill>
                  <a:schemeClr val="tx1"/>
                </a:solidFill>
              </a:rPr>
              <a:t> if </a:t>
            </a:r>
            <a:r>
              <a:rPr lang="en-US" sz="750" dirty="0">
                <a:solidFill>
                  <a:schemeClr val="tx1"/>
                </a:solidFill>
                <a:latin typeface="Arial Unicode MS" panose="020B0604020202020204" pitchFamily="34" charset="-128"/>
              </a:rPr>
              <a:t>Score &gt; 60 &amp; Score &lt;= 80</a:t>
            </a:r>
            <a:r>
              <a:rPr lang="en-US" sz="825" dirty="0">
                <a:solidFill>
                  <a:schemeClr val="tx1"/>
                </a:solidFill>
              </a:rPr>
              <a:t>.</a:t>
            </a:r>
            <a:endParaRPr lang="en-US" sz="1350" dirty="0">
              <a:solidFill>
                <a:schemeClr val="tx1"/>
              </a:solidFill>
              <a:latin typeface="Arial" panose="020B0604020202020204" pitchFamily="34" charset="0"/>
            </a:endParaRPr>
          </a:p>
          <a:p>
            <a:pPr marL="342900" lvl="1" indent="0" defTabSz="685800" eaLnBrk="0" fontAlgn="base" hangingPunct="0">
              <a:spcBef>
                <a:spcPct val="0"/>
              </a:spcBef>
              <a:spcAft>
                <a:spcPct val="0"/>
              </a:spcAft>
              <a:buClrTx/>
              <a:buSzTx/>
              <a:buFontTx/>
              <a:buChar char="•"/>
            </a:pPr>
            <a:r>
              <a:rPr lang="en-US" sz="750" dirty="0">
                <a:solidFill>
                  <a:schemeClr val="tx1"/>
                </a:solidFill>
                <a:latin typeface="Arial Unicode MS" panose="020B0604020202020204" pitchFamily="34" charset="-128"/>
              </a:rPr>
              <a:t>Grade = "C"</a:t>
            </a:r>
            <a:r>
              <a:rPr lang="en-US" sz="825" dirty="0">
                <a:solidFill>
                  <a:schemeClr val="tx1"/>
                </a:solidFill>
              </a:rPr>
              <a:t> otherwise.</a:t>
            </a:r>
            <a:endParaRPr lang="en-US" sz="1350"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FontTx/>
              <a:buChar char="•"/>
            </a:pPr>
            <a:r>
              <a:rPr lang="en-US" sz="1350" dirty="0">
                <a:solidFill>
                  <a:schemeClr val="tx1"/>
                </a:solidFill>
                <a:latin typeface="Arial" panose="020B0604020202020204" pitchFamily="34" charset="0"/>
              </a:rPr>
              <a:t>Sort the data frame by the </a:t>
            </a:r>
            <a:r>
              <a:rPr lang="en-US" sz="750" dirty="0">
                <a:solidFill>
                  <a:schemeClr val="tx1"/>
                </a:solidFill>
                <a:latin typeface="Arial Unicode MS" panose="020B0604020202020204" pitchFamily="34" charset="-128"/>
              </a:rPr>
              <a:t>Score</a:t>
            </a:r>
            <a:r>
              <a:rPr lang="en-US" sz="825" dirty="0">
                <a:solidFill>
                  <a:schemeClr val="tx1"/>
                </a:solidFill>
              </a:rPr>
              <a:t> column in descending order.</a:t>
            </a:r>
            <a:endParaRPr lang="en-US" sz="1350"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None/>
            </a:pPr>
            <a:endParaRPr lang="en-US" sz="825" b="1"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None/>
            </a:pPr>
            <a:r>
              <a:rPr lang="en-US" sz="825" b="1" dirty="0">
                <a:solidFill>
                  <a:schemeClr val="tx1"/>
                </a:solidFill>
                <a:latin typeface="Arial" panose="020B0604020202020204" pitchFamily="34" charset="0"/>
              </a:rPr>
              <a:t>3. Data Import and Export</a:t>
            </a:r>
          </a:p>
          <a:p>
            <a:pPr marL="0" indent="0" defTabSz="685800" eaLnBrk="0" fontAlgn="base" hangingPunct="0">
              <a:spcBef>
                <a:spcPct val="0"/>
              </a:spcBef>
              <a:spcAft>
                <a:spcPct val="0"/>
              </a:spcAft>
              <a:buClrTx/>
              <a:buSzTx/>
              <a:buFontTx/>
              <a:buChar char="•"/>
            </a:pPr>
            <a:r>
              <a:rPr lang="en-US" sz="825" dirty="0">
                <a:solidFill>
                  <a:schemeClr val="tx1"/>
                </a:solidFill>
                <a:latin typeface="Arial" panose="020B0604020202020204" pitchFamily="34" charset="0"/>
              </a:rPr>
              <a:t>Import a CSV file into R (use any dataset or create your own).</a:t>
            </a:r>
            <a:endParaRPr lang="en-US" sz="1350"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FontTx/>
              <a:buChar char="•"/>
            </a:pPr>
            <a:r>
              <a:rPr lang="en-US" sz="1350" dirty="0">
                <a:solidFill>
                  <a:schemeClr val="tx1"/>
                </a:solidFill>
                <a:latin typeface="Arial" panose="020B0604020202020204" pitchFamily="34" charset="0"/>
              </a:rPr>
              <a:t>Display the first 10 rows and summary statistics of the dataset.</a:t>
            </a:r>
          </a:p>
          <a:p>
            <a:pPr marL="0" indent="0" defTabSz="685800" eaLnBrk="0" fontAlgn="base" hangingPunct="0">
              <a:spcBef>
                <a:spcPct val="0"/>
              </a:spcBef>
              <a:spcAft>
                <a:spcPct val="0"/>
              </a:spcAft>
              <a:buClrTx/>
              <a:buSzTx/>
              <a:buFontTx/>
              <a:buChar char="•"/>
            </a:pPr>
            <a:r>
              <a:rPr lang="en-US" sz="1350" dirty="0">
                <a:solidFill>
                  <a:schemeClr val="tx1"/>
                </a:solidFill>
                <a:latin typeface="Arial" panose="020B0604020202020204" pitchFamily="34" charset="0"/>
              </a:rPr>
              <a:t>Save the dataset as a new CSV file after performing some transformations.</a:t>
            </a:r>
          </a:p>
          <a:p>
            <a:pPr marL="0" indent="0" defTabSz="685800" eaLnBrk="0" fontAlgn="base" hangingPunct="0">
              <a:spcBef>
                <a:spcPct val="0"/>
              </a:spcBef>
              <a:spcAft>
                <a:spcPct val="0"/>
              </a:spcAft>
              <a:buClrTx/>
              <a:buSzTx/>
              <a:buNone/>
            </a:pPr>
            <a:endParaRPr lang="en-US" sz="1350" dirty="0">
              <a:solidFill>
                <a:schemeClr val="tx1"/>
              </a:solidFill>
              <a:latin typeface="Arial" panose="020B0604020202020204" pitchFamily="34" charset="0"/>
            </a:endParaRPr>
          </a:p>
        </p:txBody>
      </p:sp>
    </p:spTree>
    <p:extLst>
      <p:ext uri="{BB962C8B-B14F-4D97-AF65-F5344CB8AC3E}">
        <p14:creationId xmlns:p14="http://schemas.microsoft.com/office/powerpoint/2010/main" val="295361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514350"/>
            <a:ext cx="8229600" cy="4411482"/>
          </a:xfrm>
        </p:spPr>
        <p:txBody>
          <a:bodyPr/>
          <a:lstStyle/>
          <a:p>
            <a:pPr marL="0" indent="0" eaLnBrk="0" fontAlgn="base" hangingPunct="0">
              <a:spcBef>
                <a:spcPct val="0"/>
              </a:spcBef>
              <a:spcAft>
                <a:spcPct val="0"/>
              </a:spcAft>
              <a:buSzTx/>
              <a:buFontTx/>
              <a:buChar char="•"/>
            </a:pPr>
            <a:r>
              <a:rPr lang="en-US" u="sng" dirty="0">
                <a:latin typeface="Arial" panose="020B0604020202020204" pitchFamily="34" charset="0"/>
              </a:rPr>
              <a:t>Create a data frame with three columns: </a:t>
            </a:r>
            <a:r>
              <a:rPr lang="en-US" u="sng" dirty="0">
                <a:latin typeface="Arial Unicode MS" panose="020B0604020202020204" pitchFamily="34" charset="-128"/>
              </a:rPr>
              <a:t>Name</a:t>
            </a:r>
            <a:r>
              <a:rPr lang="en-US" u="sng" dirty="0"/>
              <a:t>, </a:t>
            </a:r>
            <a:r>
              <a:rPr lang="en-US" u="sng" dirty="0">
                <a:latin typeface="Arial Unicode MS" panose="020B0604020202020204" pitchFamily="34" charset="-128"/>
              </a:rPr>
              <a:t>Age</a:t>
            </a:r>
            <a:r>
              <a:rPr lang="en-US" u="sng" dirty="0"/>
              <a:t>, and </a:t>
            </a:r>
            <a:r>
              <a:rPr lang="en-US" u="sng" dirty="0">
                <a:latin typeface="Arial Unicode MS" panose="020B0604020202020204" pitchFamily="34" charset="-128"/>
              </a:rPr>
              <a:t>Score</a:t>
            </a:r>
            <a:r>
              <a:rPr lang="en-US" u="sng" dirty="0"/>
              <a:t>.</a:t>
            </a:r>
            <a:endParaRPr lang="en-US" u="sng" dirty="0">
              <a:latin typeface="Arial" panose="020B0604020202020204" pitchFamily="34" charset="0"/>
            </a:endParaRPr>
          </a:p>
          <a:p>
            <a:pPr marL="0" indent="0" eaLnBrk="0" fontAlgn="base" hangingPunct="0">
              <a:spcBef>
                <a:spcPct val="0"/>
              </a:spcBef>
              <a:spcAft>
                <a:spcPct val="0"/>
              </a:spcAft>
              <a:buSzTx/>
              <a:buFontTx/>
              <a:buChar char="•"/>
            </a:pPr>
            <a:r>
              <a:rPr lang="en-US" dirty="0">
                <a:latin typeface="Arial" panose="020B0604020202020204" pitchFamily="34" charset="0"/>
              </a:rPr>
              <a:t>Add a new column </a:t>
            </a:r>
            <a:r>
              <a:rPr lang="en-US" dirty="0">
                <a:latin typeface="Arial Unicode MS" panose="020B0604020202020204" pitchFamily="34" charset="-128"/>
              </a:rPr>
              <a:t>Grade</a:t>
            </a:r>
            <a:r>
              <a:rPr lang="en-US" dirty="0"/>
              <a:t> based on the </a:t>
            </a:r>
            <a:r>
              <a:rPr lang="en-US" dirty="0">
                <a:latin typeface="Arial Unicode MS" panose="020B0604020202020204" pitchFamily="34" charset="-128"/>
              </a:rPr>
              <a:t>Score</a:t>
            </a:r>
            <a:r>
              <a:rPr lang="en-US" dirty="0"/>
              <a:t>:</a:t>
            </a:r>
            <a:endParaRPr lang="en-US" dirty="0">
              <a:latin typeface="Arial" panose="020B0604020202020204" pitchFamily="34" charset="0"/>
            </a:endParaRPr>
          </a:p>
          <a:p>
            <a:pPr marL="342900" lvl="1" indent="0" eaLnBrk="0" fontAlgn="base" hangingPunct="0">
              <a:spcBef>
                <a:spcPct val="0"/>
              </a:spcBef>
              <a:spcAft>
                <a:spcPct val="0"/>
              </a:spcAft>
              <a:buSzTx/>
              <a:buFontTx/>
              <a:buChar char="•"/>
            </a:pPr>
            <a:r>
              <a:rPr lang="en-US" sz="2100" dirty="0">
                <a:latin typeface="Arial Unicode MS" panose="020B0604020202020204" pitchFamily="34" charset="-128"/>
              </a:rPr>
              <a:t>Grade = "A"</a:t>
            </a:r>
            <a:r>
              <a:rPr lang="en-US" sz="2100" dirty="0"/>
              <a:t> if </a:t>
            </a:r>
            <a:r>
              <a:rPr lang="en-US" sz="2100" dirty="0">
                <a:latin typeface="Arial Unicode MS" panose="020B0604020202020204" pitchFamily="34" charset="-128"/>
              </a:rPr>
              <a:t>Score &gt; 80</a:t>
            </a:r>
            <a:r>
              <a:rPr lang="en-US" sz="2100" dirty="0"/>
              <a:t>.</a:t>
            </a:r>
            <a:endParaRPr lang="en-US" sz="2100" dirty="0">
              <a:latin typeface="Arial" panose="020B0604020202020204" pitchFamily="34" charset="0"/>
            </a:endParaRPr>
          </a:p>
          <a:p>
            <a:pPr marL="342900" lvl="1" indent="0" eaLnBrk="0" fontAlgn="base" hangingPunct="0">
              <a:spcBef>
                <a:spcPct val="0"/>
              </a:spcBef>
              <a:spcAft>
                <a:spcPct val="0"/>
              </a:spcAft>
              <a:buSzTx/>
              <a:buFontTx/>
              <a:buChar char="•"/>
            </a:pPr>
            <a:r>
              <a:rPr lang="en-US" sz="2100" dirty="0">
                <a:latin typeface="Arial Unicode MS" panose="020B0604020202020204" pitchFamily="34" charset="-128"/>
              </a:rPr>
              <a:t>Grade = "B"</a:t>
            </a:r>
            <a:r>
              <a:rPr lang="en-US" sz="2100" dirty="0"/>
              <a:t> if </a:t>
            </a:r>
            <a:r>
              <a:rPr lang="en-US" sz="2100" dirty="0">
                <a:latin typeface="Arial Unicode MS" panose="020B0604020202020204" pitchFamily="34" charset="-128"/>
              </a:rPr>
              <a:t>Score &gt; 60 &amp; Score &lt;= 80</a:t>
            </a:r>
            <a:r>
              <a:rPr lang="en-US" sz="2100" dirty="0"/>
              <a:t>.</a:t>
            </a:r>
            <a:endParaRPr lang="en-US" sz="2100" dirty="0">
              <a:latin typeface="Arial" panose="020B0604020202020204" pitchFamily="34" charset="0"/>
            </a:endParaRPr>
          </a:p>
          <a:p>
            <a:pPr marL="342900" lvl="1" indent="0" eaLnBrk="0" fontAlgn="base" hangingPunct="0">
              <a:spcBef>
                <a:spcPct val="0"/>
              </a:spcBef>
              <a:spcAft>
                <a:spcPct val="0"/>
              </a:spcAft>
              <a:buSzTx/>
              <a:buFontTx/>
              <a:buChar char="•"/>
            </a:pPr>
            <a:r>
              <a:rPr lang="en-US" sz="2100" dirty="0">
                <a:latin typeface="Arial Unicode MS" panose="020B0604020202020204" pitchFamily="34" charset="-128"/>
              </a:rPr>
              <a:t>Grade = "C"</a:t>
            </a:r>
            <a:r>
              <a:rPr lang="en-US" sz="2100" dirty="0"/>
              <a:t> otherwise.</a:t>
            </a:r>
            <a:endParaRPr lang="en-US" sz="2100" dirty="0">
              <a:latin typeface="Arial" panose="020B0604020202020204" pitchFamily="34" charset="0"/>
            </a:endParaRPr>
          </a:p>
          <a:p>
            <a:pPr marL="0" indent="0" eaLnBrk="0" fontAlgn="base" hangingPunct="0">
              <a:spcBef>
                <a:spcPct val="0"/>
              </a:spcBef>
              <a:spcAft>
                <a:spcPct val="0"/>
              </a:spcAft>
              <a:buSzTx/>
              <a:buFontTx/>
              <a:buChar char="•"/>
            </a:pPr>
            <a:r>
              <a:rPr lang="en-US" dirty="0">
                <a:latin typeface="Arial" panose="020B0604020202020204" pitchFamily="34" charset="0"/>
              </a:rPr>
              <a:t>Sort the data frame by the </a:t>
            </a:r>
            <a:r>
              <a:rPr lang="en-US" dirty="0">
                <a:latin typeface="Arial Unicode MS" panose="020B0604020202020204" pitchFamily="34" charset="-128"/>
              </a:rPr>
              <a:t>Score</a:t>
            </a:r>
            <a:r>
              <a:rPr lang="en-US" dirty="0"/>
              <a:t> column in descending order.</a:t>
            </a:r>
          </a:p>
          <a:p>
            <a:pPr marL="0" indent="0" eaLnBrk="0" fontAlgn="base" hangingPunct="0">
              <a:spcBef>
                <a:spcPct val="0"/>
              </a:spcBef>
              <a:spcAft>
                <a:spcPct val="0"/>
              </a:spcAft>
              <a:buSzTx/>
              <a:buFontTx/>
              <a:buChar char="•"/>
            </a:pPr>
            <a:endParaRPr lang="en-US" dirty="0">
              <a:latin typeface="Arial" panose="020B0604020202020204" pitchFamily="34" charset="0"/>
            </a:endParaRPr>
          </a:p>
          <a:p>
            <a:pPr marL="0" indent="0" eaLnBrk="0" fontAlgn="base" hangingPunct="0">
              <a:spcBef>
                <a:spcPct val="0"/>
              </a:spcBef>
              <a:spcAft>
                <a:spcPct val="0"/>
              </a:spcAft>
              <a:buSzTx/>
              <a:buFontTx/>
              <a:buChar char="•"/>
            </a:pPr>
            <a:r>
              <a:rPr lang="en-US" dirty="0">
                <a:latin typeface="Arial" panose="020B0604020202020204" pitchFamily="34" charset="0"/>
              </a:rPr>
              <a:t>2</a:t>
            </a:r>
          </a:p>
          <a:p>
            <a:pPr marL="0" indent="0" eaLnBrk="0" fontAlgn="base" hangingPunct="0">
              <a:spcBef>
                <a:spcPct val="0"/>
              </a:spcBef>
              <a:spcAft>
                <a:spcPct val="0"/>
              </a:spcAft>
              <a:buSzTx/>
              <a:buNone/>
            </a:pPr>
            <a:endParaRPr lang="en-US" b="1" dirty="0">
              <a:latin typeface="Arial" panose="020B0604020202020204" pitchFamily="34" charset="0"/>
            </a:endParaRPr>
          </a:p>
          <a:p>
            <a:pPr marL="38099" indent="0">
              <a:buNone/>
            </a:pPr>
            <a:endParaRPr lang="en-IN" dirty="0"/>
          </a:p>
        </p:txBody>
      </p:sp>
    </p:spTree>
    <p:extLst>
      <p:ext uri="{BB962C8B-B14F-4D97-AF65-F5344CB8AC3E}">
        <p14:creationId xmlns:p14="http://schemas.microsoft.com/office/powerpoint/2010/main" val="1438079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400051"/>
            <a:ext cx="8229600" cy="4525782"/>
          </a:xfrm>
        </p:spPr>
        <p:txBody>
          <a:bodyPr/>
          <a:lstStyle/>
          <a:p>
            <a:pPr marL="38099" indent="0">
              <a:buNone/>
            </a:pPr>
            <a:r>
              <a:rPr lang="en-IN" dirty="0"/>
              <a:t>   Create a small data frame (e.g., student names, marks, and grades).</a:t>
            </a:r>
          </a:p>
          <a:p>
            <a:r>
              <a:rPr lang="en-IN" dirty="0"/>
              <a:t>Perform the following operations:</a:t>
            </a:r>
          </a:p>
          <a:p>
            <a:pPr lvl="1"/>
            <a:r>
              <a:rPr lang="en-IN" dirty="0"/>
              <a:t>Filter rows where marks are greater than 50.</a:t>
            </a:r>
          </a:p>
          <a:p>
            <a:pPr lvl="1"/>
            <a:r>
              <a:rPr lang="en-IN" dirty="0"/>
              <a:t>Add a new column "Pass/Fail" based on marks.</a:t>
            </a:r>
          </a:p>
          <a:p>
            <a:pPr lvl="1"/>
            <a:r>
              <a:rPr lang="en-IN" dirty="0"/>
              <a:t>Calculate the average marks of all students.</a:t>
            </a:r>
          </a:p>
          <a:p>
            <a:r>
              <a:rPr lang="en-IN" dirty="0"/>
              <a:t>Replace missing values in the data frame with the mean value (manually create a missing value for practice).</a:t>
            </a:r>
          </a:p>
          <a:p>
            <a:pPr marL="38099" indent="0">
              <a:buNone/>
            </a:pPr>
            <a:endParaRPr lang="en-IN" dirty="0"/>
          </a:p>
        </p:txBody>
      </p:sp>
    </p:spTree>
    <p:extLst>
      <p:ext uri="{BB962C8B-B14F-4D97-AF65-F5344CB8AC3E}">
        <p14:creationId xmlns:p14="http://schemas.microsoft.com/office/powerpoint/2010/main" val="3826953727"/>
      </p:ext>
    </p:extLst>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1608</TotalTime>
  <Words>2347</Words>
  <Application>Microsoft Macintosh PowerPoint</Application>
  <PresentationFormat>On-screen Show (16:9)</PresentationFormat>
  <Paragraphs>279</Paragraphs>
  <Slides>48</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 Unicode MS</vt:lpstr>
      <vt:lpstr>Arial</vt:lpstr>
      <vt:lpstr>Courier New</vt:lpstr>
      <vt:lpstr>Trebuchet MS</vt:lpstr>
      <vt:lpstr>Simple Light</vt:lpstr>
      <vt:lpstr>PowerPoint Presentation</vt:lpstr>
      <vt:lpstr>Puzzles are the core of Bitcoin</vt:lpstr>
      <vt:lpstr>PowerPoint Presentation</vt:lpstr>
      <vt:lpstr>PowerPoint Presentation</vt:lpstr>
      <vt:lpstr>PowerPoint Presentation</vt:lpstr>
      <vt:lpstr>PowerPoint Presentation</vt:lpstr>
      <vt:lpstr>  Proof-of-Useful-Work </vt:lpstr>
      <vt:lpstr>PowerPoint Presentation</vt:lpstr>
      <vt:lpstr>Puzzle requirements</vt:lpstr>
      <vt:lpstr>Bad puzzle: a sequential puzzle</vt:lpstr>
      <vt:lpstr>Bad puzzle: a sequential puzzle</vt:lpstr>
      <vt:lpstr>Good puzzle → Weighted sample</vt:lpstr>
      <vt:lpstr>PowerPoint Presentation</vt:lpstr>
      <vt:lpstr>ASIC resistance - Why? (1 of 2)</vt:lpstr>
      <vt:lpstr>ASIC resistance - Why? (2 of 2)</vt:lpstr>
      <vt:lpstr>Memory hard puzzles</vt:lpstr>
      <vt:lpstr>PowerPoint Presentation</vt:lpstr>
      <vt:lpstr>Recovering wasted work</vt:lpstr>
      <vt:lpstr>Candidates - needle in a haystack</vt:lpstr>
      <vt:lpstr>Large mining pools are a threat</vt:lpstr>
      <vt:lpstr>PowerPoint Presentation</vt:lpstr>
      <vt:lpstr>Mining has an unnecessary step</vt:lpstr>
      <vt:lpstr>Mining has an unnecessary step</vt:lpstr>
      <vt:lpstr>Potential benefits</vt:lpstr>
      <vt:lpstr>51% attack prevention</vt:lpstr>
      <vt:lpstr>Variations of Virtual Mining</vt:lpstr>
      <vt:lpstr>Conclusion</vt:lpstr>
      <vt:lpstr> Bitcoin as a Platform</vt:lpstr>
      <vt:lpstr>Bitcoin as Smart property</vt:lpstr>
      <vt:lpstr>  Bitcoin as Smart property</vt:lpstr>
      <vt:lpstr>PowerPoint Presentation</vt:lpstr>
      <vt:lpstr>PowerPoint Presentation</vt:lpstr>
      <vt:lpstr>PowerPoint Presentation</vt:lpstr>
      <vt:lpstr>PowerPoint Presentation</vt:lpstr>
      <vt:lpstr>PowerPoint Presentation</vt:lpstr>
      <vt:lpstr> Secure Multi-Party Lotteries in Bitcoin;</vt:lpstr>
      <vt:lpstr>PowerPoint Presentation</vt:lpstr>
      <vt:lpstr>PowerPoint Presentation</vt:lpstr>
      <vt:lpstr>PowerPoint Presentation</vt:lpstr>
      <vt:lpstr>PowerPoint Presentation</vt:lpstr>
      <vt:lpstr>PowerPoint Presentation</vt:lpstr>
      <vt:lpstr> Secure Multi-Party Lotteries in Bitcoin;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dc:title>
  <dc:creator>Admin</dc:creator>
  <cp:lastModifiedBy>Apoorva Karnwal</cp:lastModifiedBy>
  <cp:revision>7</cp:revision>
  <dcterms:modified xsi:type="dcterms:W3CDTF">2025-04-19T13:09:50Z</dcterms:modified>
</cp:coreProperties>
</file>