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8" r:id="rId3"/>
    <p:sldId id="259" r:id="rId4"/>
    <p:sldId id="260" r:id="rId5"/>
    <p:sldId id="261" r:id="rId6"/>
    <p:sldId id="262" r:id="rId7"/>
    <p:sldId id="263" r:id="rId8"/>
    <p:sldId id="264" r:id="rId9"/>
    <p:sldId id="265" r:id="rId10"/>
    <p:sldId id="266" r:id="rId11"/>
    <p:sldId id="267" r:id="rId12"/>
    <p:sldId id="270" r:id="rId13"/>
    <p:sldId id="271" r:id="rId14"/>
    <p:sldId id="272" r:id="rId15"/>
    <p:sldId id="273" r:id="rId16"/>
    <p:sldId id="274" r:id="rId17"/>
    <p:sldId id="275" r:id="rId18"/>
    <p:sldId id="276" r:id="rId19"/>
    <p:sldId id="312" r:id="rId20"/>
    <p:sldId id="313"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howGuides="1">
      <p:cViewPr varScale="1">
        <p:scale>
          <a:sx n="74" d="100"/>
          <a:sy n="74" d="100"/>
        </p:scale>
        <p:origin x="4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8E8C5-DCCD-4396-9D6F-FD41AD8748C4}" type="datetimeFigureOut">
              <a:rPr lang="en-IN" smtClean="0"/>
              <a:t>10-03-2025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44EDE8-E89D-4DF7-BD77-82B03C71E461}" type="slidenum">
              <a:rPr lang="en-IN" smtClean="0"/>
              <a:t>‹#›</a:t>
            </a:fld>
            <a:endParaRPr lang="en-IN"/>
          </a:p>
        </p:txBody>
      </p:sp>
    </p:spTree>
    <p:extLst>
      <p:ext uri="{BB962C8B-B14F-4D97-AF65-F5344CB8AC3E}">
        <p14:creationId xmlns:p14="http://schemas.microsoft.com/office/powerpoint/2010/main" val="286498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 name="Google Shape;31;p4: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8094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 name="Google Shape;37;p6: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72853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p9: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91097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1: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 name="Google Shape;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5408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3137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1713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1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If linked at any point, all tx’s identified – past, present and future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KYC principle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side channel example: transaction timing correlates with twitter postings</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91075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7: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0" name="Google Shape;8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3987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18: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In particular, techniques like “taint” aren’t very good</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39056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0: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9239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2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Researchers should work with AML. Pointer to next lecture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Even for traditional money laundering, difficulty is not technical but rather criminal penalties</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Efforts to improve Bitcoin anonymity don’t solve the cashing out problem, so nothing to worry about there</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82553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9: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9241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3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2739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5: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135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6: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6872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5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03993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5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9553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75: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76782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60: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418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6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Generate a fresh address</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Same principle behind Tor</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Ideally we want all transactions to look identical, which motivates…</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35033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7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9983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7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6626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7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8079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34398D5-05A3-40CF-9469-6CE1D7E77851}"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2380994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4398D5-05A3-40CF-9469-6CE1D7E77851}"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329687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34398D5-05A3-40CF-9469-6CE1D7E77851}"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786008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34398D5-05A3-40CF-9469-6CE1D7E77851}"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257374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34398D5-05A3-40CF-9469-6CE1D7E77851}" type="datetimeFigureOut">
              <a:rPr lang="en-IN" smtClean="0"/>
              <a:t>10-03-2025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427732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34398D5-05A3-40CF-9469-6CE1D7E77851}" type="datetimeFigureOut">
              <a:rPr lang="en-IN" smtClean="0"/>
              <a:t>10-03-2025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3237794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4398D5-05A3-40CF-9469-6CE1D7E77851}" type="datetimeFigureOut">
              <a:rPr lang="en-IN" smtClean="0"/>
              <a:t>10-03-2025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2406807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398D5-05A3-40CF-9469-6CE1D7E77851}"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141781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4398D5-05A3-40CF-9469-6CE1D7E77851}" type="datetimeFigureOut">
              <a:rPr lang="en-IN" smtClean="0"/>
              <a:t>10-03-2025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3452375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4398D5-05A3-40CF-9469-6CE1D7E77851}"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1036083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34398D5-05A3-40CF-9469-6CE1D7E77851}" type="datetimeFigureOut">
              <a:rPr lang="en-IN" smtClean="0"/>
              <a:t>10-03-2025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805D02-FE5D-4755-ADD3-71B918EBBFAD}" type="slidenum">
              <a:rPr lang="en-IN" smtClean="0"/>
              <a:t>‹#›</a:t>
            </a:fld>
            <a:endParaRPr lang="en-IN"/>
          </a:p>
        </p:txBody>
      </p:sp>
    </p:spTree>
    <p:extLst>
      <p:ext uri="{BB962C8B-B14F-4D97-AF65-F5344CB8AC3E}">
        <p14:creationId xmlns:p14="http://schemas.microsoft.com/office/powerpoint/2010/main" val="4246528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3145818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 name="Google Shape;18;p4"/>
          <p:cNvSpPr txBox="1">
            <a:spLocks noGrp="1"/>
          </p:cNvSpPr>
          <p:nvPr>
            <p:ph type="body" idx="1"/>
          </p:nvPr>
        </p:nvSpPr>
        <p:spPr>
          <a:xfrm>
            <a:off x="609601" y="1600200"/>
            <a:ext cx="5326033" cy="4967573"/>
          </a:xfrm>
          <a:prstGeom prst="rect">
            <a:avLst/>
          </a:prstGeom>
          <a:noFill/>
          <a:ln>
            <a:noFill/>
          </a:ln>
        </p:spPr>
        <p:txBody>
          <a:bodyPr spcFirstLastPara="1" wrap="square" lIns="91425" tIns="91425" rIns="91425" bIns="91425" anchor="t" anchorCtr="0">
            <a:noAutofit/>
          </a:bodyPr>
          <a:lstStyle>
            <a:lvl1pPr marL="609585" lvl="0" indent="-304792" rtl="0">
              <a:spcBef>
                <a:spcPts val="0"/>
              </a:spcBef>
              <a:spcAft>
                <a:spcPts val="0"/>
              </a:spcAft>
              <a:buSzPts val="1400"/>
              <a:buNone/>
              <a:defRPr/>
            </a:lvl1pPr>
            <a:lvl2pPr marL="1219170" lvl="1" indent="-304792" rtl="0">
              <a:spcBef>
                <a:spcPts val="0"/>
              </a:spcBef>
              <a:spcAft>
                <a:spcPts val="0"/>
              </a:spcAft>
              <a:buSzPts val="1400"/>
              <a:buNone/>
              <a:defRPr/>
            </a:lvl2pPr>
            <a:lvl3pPr marL="1828754" lvl="2" indent="-304792" rtl="0">
              <a:spcBef>
                <a:spcPts val="0"/>
              </a:spcBef>
              <a:spcAft>
                <a:spcPts val="0"/>
              </a:spcAft>
              <a:buSzPts val="1400"/>
              <a:buNone/>
              <a:defRPr/>
            </a:lvl3pPr>
            <a:lvl4pPr marL="2438339" lvl="3" indent="-304792" rtl="0">
              <a:spcBef>
                <a:spcPts val="0"/>
              </a:spcBef>
              <a:spcAft>
                <a:spcPts val="0"/>
              </a:spcAft>
              <a:buSzPts val="1400"/>
              <a:buNone/>
              <a:defRPr/>
            </a:lvl4pPr>
            <a:lvl5pPr marL="3047924" lvl="4" indent="-304792" rtl="0">
              <a:spcBef>
                <a:spcPts val="0"/>
              </a:spcBef>
              <a:spcAft>
                <a:spcPts val="0"/>
              </a:spcAft>
              <a:buSzPts val="1400"/>
              <a:buNone/>
              <a:defRPr/>
            </a:lvl5pPr>
            <a:lvl6pPr marL="3657509" lvl="5" indent="-304792" rtl="0">
              <a:spcBef>
                <a:spcPts val="0"/>
              </a:spcBef>
              <a:spcAft>
                <a:spcPts val="0"/>
              </a:spcAft>
              <a:buSzPts val="1400"/>
              <a:buNone/>
              <a:defRPr/>
            </a:lvl6pPr>
            <a:lvl7pPr marL="4267093" lvl="6" indent="-304792" rtl="0">
              <a:spcBef>
                <a:spcPts val="0"/>
              </a:spcBef>
              <a:spcAft>
                <a:spcPts val="0"/>
              </a:spcAft>
              <a:buSzPts val="1400"/>
              <a:buNone/>
              <a:defRPr/>
            </a:lvl7pPr>
            <a:lvl8pPr marL="4876678" lvl="7" indent="-304792" rtl="0">
              <a:spcBef>
                <a:spcPts val="0"/>
              </a:spcBef>
              <a:spcAft>
                <a:spcPts val="0"/>
              </a:spcAft>
              <a:buSzPts val="1400"/>
              <a:buNone/>
              <a:defRPr/>
            </a:lvl8pPr>
            <a:lvl9pPr marL="5486263" lvl="8" indent="-304792" rtl="0">
              <a:spcBef>
                <a:spcPts val="0"/>
              </a:spcBef>
              <a:spcAft>
                <a:spcPts val="0"/>
              </a:spcAft>
              <a:buSzPts val="1400"/>
              <a:buNone/>
              <a:defRPr/>
            </a:lvl9pPr>
          </a:lstStyle>
          <a:p>
            <a:endParaRPr/>
          </a:p>
        </p:txBody>
      </p:sp>
      <p:sp>
        <p:nvSpPr>
          <p:cNvPr id="19" name="Google Shape;19;p4"/>
          <p:cNvSpPr txBox="1">
            <a:spLocks noGrp="1"/>
          </p:cNvSpPr>
          <p:nvPr>
            <p:ph type="body" idx="2"/>
          </p:nvPr>
        </p:nvSpPr>
        <p:spPr>
          <a:xfrm>
            <a:off x="6256365" y="1600200"/>
            <a:ext cx="5326033" cy="4967573"/>
          </a:xfrm>
          <a:prstGeom prst="rect">
            <a:avLst/>
          </a:prstGeom>
          <a:noFill/>
          <a:ln>
            <a:noFill/>
          </a:ln>
        </p:spPr>
        <p:txBody>
          <a:bodyPr spcFirstLastPara="1" wrap="square" lIns="91425" tIns="91425" rIns="91425" bIns="91425" anchor="t" anchorCtr="0">
            <a:noAutofit/>
          </a:bodyPr>
          <a:lstStyle>
            <a:lvl1pPr marL="609585" lvl="0" indent="-304792" rtl="0">
              <a:spcBef>
                <a:spcPts val="0"/>
              </a:spcBef>
              <a:spcAft>
                <a:spcPts val="0"/>
              </a:spcAft>
              <a:buSzPts val="1400"/>
              <a:buNone/>
              <a:defRPr/>
            </a:lvl1pPr>
            <a:lvl2pPr marL="1219170" lvl="1" indent="-304792" rtl="0">
              <a:spcBef>
                <a:spcPts val="0"/>
              </a:spcBef>
              <a:spcAft>
                <a:spcPts val="0"/>
              </a:spcAft>
              <a:buSzPts val="1400"/>
              <a:buNone/>
              <a:defRPr/>
            </a:lvl2pPr>
            <a:lvl3pPr marL="1828754" lvl="2" indent="-304792" rtl="0">
              <a:spcBef>
                <a:spcPts val="0"/>
              </a:spcBef>
              <a:spcAft>
                <a:spcPts val="0"/>
              </a:spcAft>
              <a:buSzPts val="1400"/>
              <a:buNone/>
              <a:defRPr/>
            </a:lvl3pPr>
            <a:lvl4pPr marL="2438339" lvl="3" indent="-304792" rtl="0">
              <a:spcBef>
                <a:spcPts val="0"/>
              </a:spcBef>
              <a:spcAft>
                <a:spcPts val="0"/>
              </a:spcAft>
              <a:buSzPts val="1400"/>
              <a:buNone/>
              <a:defRPr/>
            </a:lvl4pPr>
            <a:lvl5pPr marL="3047924" lvl="4" indent="-304792" rtl="0">
              <a:spcBef>
                <a:spcPts val="0"/>
              </a:spcBef>
              <a:spcAft>
                <a:spcPts val="0"/>
              </a:spcAft>
              <a:buSzPts val="1400"/>
              <a:buNone/>
              <a:defRPr/>
            </a:lvl5pPr>
            <a:lvl6pPr marL="3657509" lvl="5" indent="-304792" rtl="0">
              <a:spcBef>
                <a:spcPts val="0"/>
              </a:spcBef>
              <a:spcAft>
                <a:spcPts val="0"/>
              </a:spcAft>
              <a:buSzPts val="1400"/>
              <a:buNone/>
              <a:defRPr/>
            </a:lvl6pPr>
            <a:lvl7pPr marL="4267093" lvl="6" indent="-304792" rtl="0">
              <a:spcBef>
                <a:spcPts val="0"/>
              </a:spcBef>
              <a:spcAft>
                <a:spcPts val="0"/>
              </a:spcAft>
              <a:buSzPts val="1400"/>
              <a:buNone/>
              <a:defRPr/>
            </a:lvl7pPr>
            <a:lvl8pPr marL="4876678" lvl="7" indent="-304792" rtl="0">
              <a:spcBef>
                <a:spcPts val="0"/>
              </a:spcBef>
              <a:spcAft>
                <a:spcPts val="0"/>
              </a:spcAft>
              <a:buSzPts val="1400"/>
              <a:buNone/>
              <a:defRPr/>
            </a:lvl8pPr>
            <a:lvl9pPr marL="5486263" lvl="8" indent="-304792" rtl="0">
              <a:spcBef>
                <a:spcPts val="0"/>
              </a:spcBef>
              <a:spcAft>
                <a:spcPts val="0"/>
              </a:spcAft>
              <a:buSzPts val="1400"/>
              <a:buNone/>
              <a:defRPr/>
            </a:lvl9pPr>
          </a:lstStyle>
          <a:p>
            <a:endParaRPr/>
          </a:p>
        </p:txBody>
      </p:sp>
    </p:spTree>
    <p:extLst>
      <p:ext uri="{BB962C8B-B14F-4D97-AF65-F5344CB8AC3E}">
        <p14:creationId xmlns:p14="http://schemas.microsoft.com/office/powerpoint/2010/main" val="2741040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4398D5-05A3-40CF-9469-6CE1D7E77851}" type="datetimeFigureOut">
              <a:rPr lang="en-IN" smtClean="0"/>
              <a:t>10-03-2025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805D02-FE5D-4755-ADD3-71B918EBBFAD}" type="slidenum">
              <a:rPr lang="en-IN" smtClean="0"/>
              <a:t>‹#›</a:t>
            </a:fld>
            <a:endParaRPr lang="en-IN"/>
          </a:p>
        </p:txBody>
      </p:sp>
    </p:spTree>
    <p:extLst>
      <p:ext uri="{BB962C8B-B14F-4D97-AF65-F5344CB8AC3E}">
        <p14:creationId xmlns:p14="http://schemas.microsoft.com/office/powerpoint/2010/main" val="9988262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searchgate.net/publication/51918209_An_Analysis_of_Anonymity_in_the_Bitcoin_System" TargetMode="External"/><Relationship Id="rId2" Type="http://schemas.openxmlformats.org/officeDocument/2006/relationships/hyperlink" Target="1107.4524(2).pdf"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imc13.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TmbleBit.pdf" TargetMode="External"/><Relationship Id="rId2" Type="http://schemas.openxmlformats.org/officeDocument/2006/relationships/hyperlink" Target="https://bitcointalk.org/index.php?topic=321228" TargetMode="External"/><Relationship Id="rId1" Type="http://schemas.openxmlformats.org/officeDocument/2006/relationships/slideLayout" Target="../slideLayouts/slideLayout12.xml"/><Relationship Id="rId4" Type="http://schemas.openxmlformats.org/officeDocument/2006/relationships/hyperlink" Target="https://eprint.iacr.org/2016/575.pdf"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8"/>
          <p:cNvSpPr txBox="1">
            <a:spLocks noGrp="1"/>
          </p:cNvSpPr>
          <p:nvPr>
            <p:ph type="ctrTitle"/>
          </p:nvPr>
        </p:nvSpPr>
        <p:spPr>
          <a:xfrm>
            <a:off x="914400" y="2111123"/>
            <a:ext cx="10363200" cy="1546475"/>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spcBef>
                <a:spcPts val="0"/>
              </a:spcBef>
              <a:spcAft>
                <a:spcPts val="0"/>
              </a:spcAft>
              <a:buClr>
                <a:schemeClr val="dk1"/>
              </a:buClr>
            </a:pPr>
            <a:endParaRPr sz="6400" b="1" dirty="0">
              <a:solidFill>
                <a:schemeClr val="dk1"/>
              </a:solidFill>
              <a:latin typeface="Trebuchet MS"/>
              <a:ea typeface="Trebuchet MS"/>
              <a:cs typeface="Trebuchet MS"/>
              <a:sym typeface="Trebuchet MS"/>
            </a:endParaRPr>
          </a:p>
        </p:txBody>
      </p:sp>
      <p:sp>
        <p:nvSpPr>
          <p:cNvPr id="34" name="Google Shape;34;p8"/>
          <p:cNvSpPr txBox="1">
            <a:spLocks noGrp="1"/>
          </p:cNvSpPr>
          <p:nvPr>
            <p:ph type="subTitle" idx="1"/>
          </p:nvPr>
        </p:nvSpPr>
        <p:spPr>
          <a:xfrm>
            <a:off x="914400" y="3786738"/>
            <a:ext cx="10363200" cy="1046316"/>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r>
              <a:rPr lang="en" sz="4000" dirty="0" smtClean="0">
                <a:solidFill>
                  <a:schemeClr val="tx1"/>
                </a:solidFill>
                <a:latin typeface="Trebuchet MS"/>
                <a:ea typeface="Trebuchet MS"/>
                <a:cs typeface="Trebuchet MS"/>
                <a:sym typeface="Trebuchet MS"/>
              </a:rPr>
              <a:t>Bitcoin and anonymity</a:t>
            </a:r>
            <a:endParaRPr sz="4000" dirty="0">
              <a:solidFill>
                <a:schemeClr val="tx1"/>
              </a:solidFill>
              <a:latin typeface="Trebuchet MS"/>
              <a:ea typeface="Trebuchet MS"/>
              <a:cs typeface="Trebuchet MS"/>
              <a:sym typeface="Trebuchet MS"/>
            </a:endParaRPr>
          </a:p>
        </p:txBody>
      </p:sp>
    </p:spTree>
    <p:extLst>
      <p:ext uri="{BB962C8B-B14F-4D97-AF65-F5344CB8AC3E}">
        <p14:creationId xmlns:p14="http://schemas.microsoft.com/office/powerpoint/2010/main" val="7490019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9"/>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tx1"/>
                </a:solidFill>
                <a:latin typeface="Trebuchet MS"/>
                <a:ea typeface="Trebuchet MS"/>
                <a:cs typeface="Trebuchet MS"/>
                <a:sym typeface="Trebuchet MS"/>
              </a:rPr>
              <a:t>Anonymity basics</a:t>
            </a:r>
            <a:endParaRPr sz="4000" dirty="0">
              <a:solidFill>
                <a:schemeClr val="tx1"/>
              </a:solidFill>
              <a:latin typeface="Trebuchet MS"/>
              <a:ea typeface="Trebuchet MS"/>
              <a:cs typeface="Trebuchet MS"/>
              <a:sym typeface="Trebuchet MS"/>
            </a:endParaRPr>
          </a:p>
        </p:txBody>
      </p:sp>
    </p:spTree>
    <p:extLst>
      <p:ext uri="{BB962C8B-B14F-4D97-AF65-F5344CB8AC3E}">
        <p14:creationId xmlns:p14="http://schemas.microsoft.com/office/powerpoint/2010/main" val="35178695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609600" y="274637"/>
            <a:ext cx="10972800" cy="11432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Some say Bitcoin provides anonymity</a:t>
            </a:r>
            <a:endParaRPr sz="4800" b="1">
              <a:solidFill>
                <a:schemeClr val="dk1"/>
              </a:solidFill>
              <a:latin typeface="Trebuchet MS"/>
              <a:ea typeface="Trebuchet MS"/>
              <a:cs typeface="Trebuchet MS"/>
              <a:sym typeface="Trebuchet MS"/>
            </a:endParaRPr>
          </a:p>
        </p:txBody>
      </p:sp>
      <p:sp>
        <p:nvSpPr>
          <p:cNvPr id="45" name="Google Shape;45;p10"/>
          <p:cNvSpPr txBox="1">
            <a:spLocks noGrp="1"/>
          </p:cNvSpPr>
          <p:nvPr>
            <p:ph type="body" idx="1"/>
          </p:nvPr>
        </p:nvSpPr>
        <p:spPr>
          <a:xfrm>
            <a:off x="609600" y="1600201"/>
            <a:ext cx="10972800" cy="49675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Bitcoin is a secure and anonymous digital </a:t>
            </a:r>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currency ”</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 WikiLeaks donations page</a:t>
            </a:r>
            <a:endParaRPr sz="400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1655522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Others say it doesn’t</a:t>
            </a:r>
            <a:endParaRPr sz="4800" b="1">
              <a:solidFill>
                <a:schemeClr val="dk1"/>
              </a:solidFill>
              <a:latin typeface="Trebuchet MS"/>
              <a:ea typeface="Trebuchet MS"/>
              <a:cs typeface="Trebuchet MS"/>
              <a:sym typeface="Trebuchet MS"/>
            </a:endParaRPr>
          </a:p>
        </p:txBody>
      </p:sp>
      <p:sp>
        <p:nvSpPr>
          <p:cNvPr id="51" name="Google Shape;51;p11"/>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Bitcoin won't hide you from the NSA's prying </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eyes”</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 Wired UK</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6781305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2"/>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What do we mean by anonymity?</a:t>
            </a:r>
            <a:endParaRPr sz="4800" b="1">
              <a:solidFill>
                <a:schemeClr val="dk1"/>
              </a:solidFill>
              <a:latin typeface="Trebuchet MS"/>
              <a:ea typeface="Trebuchet MS"/>
              <a:cs typeface="Trebuchet MS"/>
              <a:sym typeface="Trebuchet MS"/>
            </a:endParaRPr>
          </a:p>
        </p:txBody>
      </p:sp>
      <p:sp>
        <p:nvSpPr>
          <p:cNvPr id="57" name="Google Shape;57;p12"/>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sz="4000">
                <a:solidFill>
                  <a:schemeClr val="dk1"/>
                </a:solidFill>
                <a:latin typeface="Trebuchet MS"/>
                <a:ea typeface="Trebuchet MS"/>
                <a:cs typeface="Trebuchet MS"/>
                <a:sym typeface="Trebuchet MS"/>
              </a:rPr>
              <a:t>Literally: anonymous = without a name</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Bitcoin addresses are public key hashes rather than real identities</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Computer scientists call this </a:t>
            </a:r>
            <a:r>
              <a:rPr lang="en" sz="4000" u="sng">
                <a:solidFill>
                  <a:schemeClr val="dk1"/>
                </a:solidFill>
                <a:latin typeface="Trebuchet MS"/>
                <a:ea typeface="Trebuchet MS"/>
                <a:cs typeface="Trebuchet MS"/>
                <a:sym typeface="Trebuchet MS"/>
              </a:rPr>
              <a:t>pseudonymity</a:t>
            </a:r>
            <a:endParaRPr sz="4000" u="sng">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31461201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Anonymity in computer science</a:t>
            </a:r>
            <a:endParaRPr sz="4800" b="1">
              <a:solidFill>
                <a:schemeClr val="dk1"/>
              </a:solidFill>
              <a:latin typeface="Trebuchet MS"/>
              <a:ea typeface="Trebuchet MS"/>
              <a:cs typeface="Trebuchet MS"/>
              <a:sym typeface="Trebuchet MS"/>
            </a:endParaRPr>
          </a:p>
        </p:txBody>
      </p:sp>
      <p:sp>
        <p:nvSpPr>
          <p:cNvPr id="63" name="Google Shape;63;p13"/>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4000" dirty="0">
                <a:solidFill>
                  <a:schemeClr val="dk1"/>
                </a:solidFill>
                <a:latin typeface="Trebuchet MS"/>
                <a:ea typeface="Trebuchet MS"/>
                <a:cs typeface="Trebuchet MS"/>
                <a:sym typeface="Trebuchet MS"/>
              </a:rPr>
              <a:t>Different interactions of the same user with the system should not be linkable to </a:t>
            </a:r>
            <a:r>
              <a:rPr lang="en" sz="4000" dirty="0" smtClean="0">
                <a:solidFill>
                  <a:schemeClr val="dk1"/>
                </a:solidFill>
                <a:latin typeface="Trebuchet MS"/>
                <a:ea typeface="Trebuchet MS"/>
                <a:cs typeface="Trebuchet MS"/>
                <a:sym typeface="Trebuchet MS"/>
              </a:rPr>
              <a:t>each</a:t>
            </a:r>
          </a:p>
          <a:p>
            <a:pPr marL="0" indent="0">
              <a:spcBef>
                <a:spcPts val="0"/>
              </a:spcBef>
              <a:buClr>
                <a:schemeClr val="dk1"/>
              </a:buClr>
              <a:buNone/>
            </a:pPr>
            <a:r>
              <a:rPr lang="en" sz="4000" dirty="0" smtClean="0">
                <a:solidFill>
                  <a:schemeClr val="dk1"/>
                </a:solidFill>
                <a:latin typeface="Trebuchet MS"/>
                <a:ea typeface="Trebuchet MS"/>
                <a:cs typeface="Trebuchet MS"/>
                <a:sym typeface="Trebuchet MS"/>
              </a:rPr>
              <a:t> </a:t>
            </a:r>
            <a:r>
              <a:rPr lang="en" sz="4000" dirty="0">
                <a:solidFill>
                  <a:schemeClr val="dk1"/>
                </a:solidFill>
                <a:latin typeface="Trebuchet MS"/>
                <a:ea typeface="Trebuchet MS"/>
                <a:cs typeface="Trebuchet MS"/>
                <a:sym typeface="Trebuchet MS"/>
              </a:rPr>
              <a:t>other</a:t>
            </a:r>
            <a:endParaRPr sz="4000" dirty="0">
              <a:solidFill>
                <a:schemeClr val="dk1"/>
              </a:solidFill>
              <a:latin typeface="Trebuchet MS"/>
              <a:ea typeface="Trebuchet MS"/>
              <a:cs typeface="Trebuchet MS"/>
              <a:sym typeface="Trebuchet MS"/>
            </a:endParaRPr>
          </a:p>
        </p:txBody>
      </p:sp>
      <p:sp>
        <p:nvSpPr>
          <p:cNvPr id="64" name="Google Shape;64;p13"/>
          <p:cNvSpPr/>
          <p:nvPr/>
        </p:nvSpPr>
        <p:spPr>
          <a:xfrm>
            <a:off x="1016001" y="2487136"/>
            <a:ext cx="9840729" cy="738664"/>
          </a:xfrm>
          <a:prstGeom prst="rect">
            <a:avLst/>
          </a:prstGeom>
          <a:solidFill>
            <a:srgbClr val="EFD7AE"/>
          </a:solidFill>
          <a:ln w="19050" cap="flat" cmpd="sng">
            <a:solidFill>
              <a:srgbClr val="E7C586"/>
            </a:solidFill>
            <a:prstDash val="solid"/>
            <a:round/>
            <a:headEnd type="none" w="sm" len="sm"/>
            <a:tailEnd type="none" w="sm" len="sm"/>
          </a:ln>
        </p:spPr>
        <p:txBody>
          <a:bodyPr spcFirstLastPara="1" wrap="square" lIns="121900" tIns="60933" rIns="121900" bIns="60933" anchor="t" anchorCtr="0">
            <a:noAutofit/>
          </a:bodyPr>
          <a:lstStyle/>
          <a:p>
            <a:pPr algn="ctr">
              <a:buClr>
                <a:srgbClr val="000000"/>
              </a:buClr>
            </a:pPr>
            <a:r>
              <a:rPr lang="en" sz="4000">
                <a:solidFill>
                  <a:srgbClr val="000000"/>
                </a:solidFill>
                <a:latin typeface="Trebuchet MS"/>
                <a:ea typeface="Trebuchet MS"/>
                <a:cs typeface="Trebuchet MS"/>
                <a:sym typeface="Trebuchet MS"/>
              </a:rPr>
              <a:t>Anonymity = pseudonymity + unlinkability</a:t>
            </a:r>
            <a:endParaRPr sz="2400"/>
          </a:p>
        </p:txBody>
      </p:sp>
      <p:sp>
        <p:nvSpPr>
          <p:cNvPr id="65" name="Google Shape;65;p13"/>
          <p:cNvSpPr/>
          <p:nvPr/>
        </p:nvSpPr>
        <p:spPr>
          <a:xfrm>
            <a:off x="9144000" y="3225800"/>
            <a:ext cx="406400" cy="914400"/>
          </a:xfrm>
          <a:prstGeom prst="downArrow">
            <a:avLst>
              <a:gd name="adj1" fmla="val 50000"/>
              <a:gd name="adj2" fmla="val 50000"/>
            </a:avLst>
          </a:prstGeom>
          <a:solidFill>
            <a:srgbClr val="EFD7AE"/>
          </a:solidFill>
          <a:ln w="25400" cap="flat" cmpd="sng">
            <a:solidFill>
              <a:srgbClr val="E7C586"/>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Tree>
    <p:extLst>
      <p:ext uri="{BB962C8B-B14F-4D97-AF65-F5344CB8AC3E}">
        <p14:creationId xmlns:p14="http://schemas.microsoft.com/office/powerpoint/2010/main" val="54481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Why is unlinkability needed?</a:t>
            </a:r>
            <a:endParaRPr sz="4800" b="1">
              <a:solidFill>
                <a:schemeClr val="dk1"/>
              </a:solidFill>
              <a:latin typeface="Trebuchet MS"/>
              <a:ea typeface="Trebuchet MS"/>
              <a:cs typeface="Trebuchet MS"/>
              <a:sym typeface="Trebuchet MS"/>
            </a:endParaRPr>
          </a:p>
        </p:txBody>
      </p:sp>
      <p:sp>
        <p:nvSpPr>
          <p:cNvPr id="77" name="Google Shape;77;p15"/>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431789">
              <a:spcBef>
                <a:spcPts val="0"/>
              </a:spcBef>
              <a:buClr>
                <a:schemeClr val="dk1"/>
              </a:buClr>
              <a:buNone/>
            </a:pPr>
            <a:endParaRPr sz="4000" dirty="0">
              <a:solidFill>
                <a:schemeClr val="dk1"/>
              </a:solidFill>
              <a:latin typeface="Trebuchet MS"/>
              <a:ea typeface="Trebuchet MS"/>
              <a:cs typeface="Trebuchet MS"/>
              <a:sym typeface="Trebuchet MS"/>
            </a:endParaRPr>
          </a:p>
          <a:p>
            <a:pPr marL="685783" indent="-685783">
              <a:spcBef>
                <a:spcPts val="0"/>
              </a:spcBef>
              <a:buClr>
                <a:schemeClr val="dk1"/>
              </a:buClr>
              <a:buFont typeface="Trebuchet MS"/>
              <a:buAutoNum type="arabicPeriod"/>
            </a:pPr>
            <a:r>
              <a:rPr lang="en" sz="4000" dirty="0">
                <a:solidFill>
                  <a:schemeClr val="dk1"/>
                </a:solidFill>
                <a:latin typeface="Trebuchet MS"/>
                <a:ea typeface="Trebuchet MS"/>
                <a:cs typeface="Trebuchet MS"/>
                <a:sym typeface="Trebuchet MS"/>
              </a:rPr>
              <a:t>Many Bitcoin services require real identity</a:t>
            </a:r>
            <a:endParaRPr dirty="0"/>
          </a:p>
          <a:p>
            <a:pPr marL="685783" indent="-431789">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4000" dirty="0" smtClean="0">
                <a:solidFill>
                  <a:schemeClr val="dk1"/>
                </a:solidFill>
                <a:latin typeface="Trebuchet MS"/>
                <a:ea typeface="Trebuchet MS"/>
                <a:cs typeface="Trebuchet MS"/>
                <a:sym typeface="Trebuchet MS"/>
              </a:rPr>
              <a:t>2. Linked </a:t>
            </a:r>
            <a:r>
              <a:rPr lang="en" sz="4000" dirty="0">
                <a:solidFill>
                  <a:schemeClr val="dk1"/>
                </a:solidFill>
                <a:latin typeface="Trebuchet MS"/>
                <a:ea typeface="Trebuchet MS"/>
                <a:cs typeface="Trebuchet MS"/>
                <a:sym typeface="Trebuchet MS"/>
              </a:rPr>
              <a:t>profiles can be deanonymized by a variety of side channels</a:t>
            </a:r>
            <a:endParaRPr sz="40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9378302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0"/>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a:solidFill>
                  <a:schemeClr val="dk1"/>
                </a:solidFill>
                <a:latin typeface="Trebuchet MS"/>
                <a:ea typeface="Trebuchet MS"/>
                <a:cs typeface="Trebuchet MS"/>
                <a:sym typeface="Trebuchet MS"/>
              </a:rPr>
              <a:t>Defining unlinkability in Bitcoin</a:t>
            </a:r>
            <a:endParaRPr sz="4800" b="1" dirty="0">
              <a:solidFill>
                <a:schemeClr val="dk1"/>
              </a:solidFill>
              <a:latin typeface="Trebuchet MS"/>
              <a:ea typeface="Trebuchet MS"/>
              <a:cs typeface="Trebuchet MS"/>
              <a:sym typeface="Trebuchet MS"/>
            </a:endParaRPr>
          </a:p>
        </p:txBody>
      </p:sp>
      <p:sp>
        <p:nvSpPr>
          <p:cNvPr id="83" name="Google Shape;83;p16"/>
          <p:cNvSpPr txBox="1">
            <a:spLocks noGrp="1"/>
          </p:cNvSpPr>
          <p:nvPr>
            <p:ph type="body" idx="1"/>
          </p:nvPr>
        </p:nvSpPr>
        <p:spPr>
          <a:xfrm>
            <a:off x="609600" y="1371600"/>
            <a:ext cx="10972800" cy="51961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IN" sz="2400" b="1" dirty="0" err="1"/>
              <a:t>Unlinkability</a:t>
            </a:r>
            <a:r>
              <a:rPr lang="en-IN" sz="2400" b="1" dirty="0"/>
              <a:t> in Bitcoin </a:t>
            </a:r>
            <a:r>
              <a:rPr lang="en-IN" sz="2400" b="1" dirty="0" smtClean="0"/>
              <a:t>context:</a:t>
            </a:r>
          </a:p>
          <a:p>
            <a:pPr marL="0" indent="0">
              <a:spcBef>
                <a:spcPts val="0"/>
              </a:spcBef>
              <a:buClr>
                <a:schemeClr val="dk1"/>
              </a:buClr>
              <a:buNone/>
            </a:pPr>
            <a:r>
              <a:rPr lang="en-IN" sz="2400" b="1" dirty="0" err="1"/>
              <a:t>Unlinkability</a:t>
            </a:r>
            <a:r>
              <a:rPr lang="en-IN" sz="2400" b="1" dirty="0"/>
              <a:t> </a:t>
            </a:r>
            <a:r>
              <a:rPr lang="en-IN" sz="2400" dirty="0"/>
              <a:t>in Bitcoin context could have different meanings. It should be</a:t>
            </a:r>
            <a:endParaRPr lang="en-IN" sz="2400" b="1" dirty="0"/>
          </a:p>
          <a:p>
            <a:pPr marL="0" indent="0">
              <a:spcBef>
                <a:spcPts val="0"/>
              </a:spcBef>
              <a:buClr>
                <a:schemeClr val="dk1"/>
              </a:buClr>
              <a:buNone/>
            </a:pPr>
            <a:endParaRPr lang="en" sz="2400" dirty="0" smtClean="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smtClean="0">
                <a:solidFill>
                  <a:schemeClr val="dk1"/>
                </a:solidFill>
                <a:latin typeface="Trebuchet MS"/>
                <a:ea typeface="Trebuchet MS"/>
                <a:cs typeface="Trebuchet MS"/>
                <a:sym typeface="Trebuchet MS"/>
              </a:rPr>
              <a:t>Hard </a:t>
            </a:r>
            <a:r>
              <a:rPr lang="en" sz="2400" dirty="0">
                <a:solidFill>
                  <a:schemeClr val="dk1"/>
                </a:solidFill>
                <a:latin typeface="Trebuchet MS"/>
                <a:ea typeface="Trebuchet MS"/>
                <a:cs typeface="Trebuchet MS"/>
                <a:sym typeface="Trebuchet MS"/>
              </a:rPr>
              <a:t>to link different addresses of the same user</a:t>
            </a:r>
            <a:endParaRPr sz="2400" dirty="0"/>
          </a:p>
          <a:p>
            <a:pPr marL="571500" indent="-571500">
              <a:spcBef>
                <a:spcPts val="0"/>
              </a:spcBef>
              <a:buClr>
                <a:schemeClr val="dk1"/>
              </a:buClr>
              <a:buFont typeface="Arial" panose="020B0604020202020204" pitchFamily="34" charset="0"/>
              <a:buChar char="•"/>
            </a:pPr>
            <a:endParaRPr sz="2400" dirty="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a:solidFill>
                  <a:schemeClr val="dk1"/>
                </a:solidFill>
                <a:latin typeface="Trebuchet MS"/>
                <a:ea typeface="Trebuchet MS"/>
                <a:cs typeface="Trebuchet MS"/>
                <a:sym typeface="Trebuchet MS"/>
              </a:rPr>
              <a:t>Hard to link different transactions of the same user</a:t>
            </a:r>
            <a:endParaRPr sz="2400" dirty="0"/>
          </a:p>
          <a:p>
            <a:pPr marL="571500" indent="-571500">
              <a:spcBef>
                <a:spcPts val="0"/>
              </a:spcBef>
              <a:buClr>
                <a:schemeClr val="dk1"/>
              </a:buClr>
              <a:buFont typeface="Arial" panose="020B0604020202020204" pitchFamily="34" charset="0"/>
              <a:buChar char="•"/>
            </a:pPr>
            <a:endParaRPr sz="2400" dirty="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a:solidFill>
                  <a:schemeClr val="dk1"/>
                </a:solidFill>
                <a:latin typeface="Trebuchet MS"/>
                <a:ea typeface="Trebuchet MS"/>
                <a:cs typeface="Trebuchet MS"/>
                <a:sym typeface="Trebuchet MS"/>
              </a:rPr>
              <a:t>Hard to link sender of a payment to its </a:t>
            </a:r>
            <a:r>
              <a:rPr lang="en" sz="2400" dirty="0" smtClean="0">
                <a:solidFill>
                  <a:schemeClr val="dk1"/>
                </a:solidFill>
                <a:latin typeface="Trebuchet MS"/>
                <a:ea typeface="Trebuchet MS"/>
                <a:cs typeface="Trebuchet MS"/>
                <a:sym typeface="Trebuchet MS"/>
              </a:rPr>
              <a:t>recipient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i="1" dirty="0"/>
              <a:t>Even in this way, deductions might still be possible, for example, if numerous transactions for the same amount are made quickly and continuously forwarded from one address to another before they come to a stop</a:t>
            </a:r>
            <a:r>
              <a:rPr lang="en-IN" sz="2400" i="1" dirty="0" smtClean="0"/>
              <a: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i="1" dirty="0" smtClean="0">
                <a:solidFill>
                  <a:schemeClr val="dk1"/>
                </a:solidFill>
                <a:latin typeface="Trebuchet MS"/>
                <a:ea typeface="Trebuchet MS"/>
                <a:cs typeface="Trebuchet MS"/>
                <a:sym typeface="Trebuchet MS"/>
              </a:rPr>
              <a:t>What we want to ensure is that it is not feasible to link the sender and the ultimate recipient of the payment by looking at the block chain.</a:t>
            </a:r>
            <a:endParaRPr sz="2400" i="1"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4148536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
                                            <p:txEl>
                                              <p:pRg st="11" end="11"/>
                                            </p:txEl>
                                          </p:spTgt>
                                        </p:tgtEl>
                                        <p:attrNameLst>
                                          <p:attrName>style.visibility</p:attrName>
                                        </p:attrNameLst>
                                      </p:cBhvr>
                                      <p:to>
                                        <p:strVal val="visible"/>
                                      </p:to>
                                    </p:set>
                                    <p:anim calcmode="lin" valueType="num">
                                      <p:cBhvr additive="base">
                                        <p:cTn id="7" dur="500" fill="hold"/>
                                        <p:tgtEl>
                                          <p:spTgt spid="8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609600" y="274637"/>
            <a:ext cx="10972800" cy="8683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a:solidFill>
                  <a:schemeClr val="dk1"/>
                </a:solidFill>
                <a:latin typeface="Trebuchet MS"/>
                <a:ea typeface="Trebuchet MS"/>
                <a:cs typeface="Trebuchet MS"/>
                <a:sym typeface="Trebuchet MS"/>
              </a:rPr>
              <a:t>Quantifying anonymity</a:t>
            </a:r>
            <a:endParaRPr sz="4800" b="1" dirty="0">
              <a:solidFill>
                <a:schemeClr val="dk1"/>
              </a:solidFill>
              <a:latin typeface="Trebuchet MS"/>
              <a:ea typeface="Trebuchet MS"/>
              <a:cs typeface="Trebuchet MS"/>
              <a:sym typeface="Trebuchet MS"/>
            </a:endParaRPr>
          </a:p>
        </p:txBody>
      </p:sp>
      <p:sp>
        <p:nvSpPr>
          <p:cNvPr id="89" name="Google Shape;89;p17"/>
          <p:cNvSpPr txBox="1">
            <a:spLocks noGrp="1"/>
          </p:cNvSpPr>
          <p:nvPr>
            <p:ph type="body" idx="1"/>
          </p:nvPr>
        </p:nvSpPr>
        <p:spPr>
          <a:xfrm>
            <a:off x="609600" y="990600"/>
            <a:ext cx="10972800" cy="55771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rgbClr val="A3A3A3"/>
              </a:buClr>
              <a:buNone/>
            </a:pPr>
            <a:r>
              <a:rPr lang="en" u="sng" dirty="0" smtClean="0">
                <a:solidFill>
                  <a:schemeClr val="dk1"/>
                </a:solidFill>
                <a:latin typeface="Trebuchet MS"/>
                <a:ea typeface="Trebuchet MS"/>
                <a:cs typeface="Trebuchet MS"/>
                <a:sym typeface="Trebuchet MS"/>
              </a:rPr>
              <a:t>Anonymity </a:t>
            </a:r>
            <a:r>
              <a:rPr lang="en" u="sng" dirty="0">
                <a:solidFill>
                  <a:schemeClr val="dk1"/>
                </a:solidFill>
                <a:latin typeface="Trebuchet MS"/>
                <a:ea typeface="Trebuchet MS"/>
                <a:cs typeface="Trebuchet MS"/>
                <a:sym typeface="Trebuchet MS"/>
              </a:rPr>
              <a:t>set</a:t>
            </a:r>
            <a:r>
              <a:rPr lang="en" dirty="0">
                <a:solidFill>
                  <a:schemeClr val="dk1"/>
                </a:solidFill>
                <a:latin typeface="Trebuchet MS"/>
                <a:ea typeface="Trebuchet MS"/>
                <a:cs typeface="Trebuchet MS"/>
                <a:sym typeface="Trebuchet MS"/>
              </a:rPr>
              <a:t>: </a:t>
            </a:r>
            <a:r>
              <a:rPr lang="en-IN" dirty="0"/>
              <a:t>is the size of the crowd of other addresses or transactions that </a:t>
            </a:r>
            <a:r>
              <a:rPr lang="en-IN" dirty="0" smtClean="0"/>
              <a:t>we are </a:t>
            </a:r>
            <a:r>
              <a:rPr lang="en-IN" dirty="0"/>
              <a:t>trying to hide in. </a:t>
            </a:r>
            <a:endParaRPr lang="en-IN" dirty="0" smtClean="0"/>
          </a:p>
          <a:p>
            <a:pPr marL="0" indent="0">
              <a:spcBef>
                <a:spcPts val="0"/>
              </a:spcBef>
              <a:buClr>
                <a:srgbClr val="A3A3A3"/>
              </a:buClr>
              <a:buNone/>
            </a:pPr>
            <a:endParaRPr lang="en-IN" dirty="0" smtClean="0"/>
          </a:p>
          <a:p>
            <a:pPr marL="0" indent="0">
              <a:spcBef>
                <a:spcPts val="0"/>
              </a:spcBef>
              <a:buClr>
                <a:srgbClr val="A3A3A3"/>
              </a:buClr>
              <a:buNone/>
            </a:pPr>
            <a:r>
              <a:rPr lang="en-IN" sz="2800" dirty="0" smtClean="0"/>
              <a:t>with </a:t>
            </a:r>
            <a:r>
              <a:rPr lang="en-IN" sz="2800" dirty="0"/>
              <a:t>respect to some adversary, there are </a:t>
            </a:r>
            <a:r>
              <a:rPr lang="en-IN" sz="2800" dirty="0" smtClean="0"/>
              <a:t>thousand </a:t>
            </a:r>
            <a:r>
              <a:rPr lang="en-IN" sz="2800" dirty="0"/>
              <a:t>other transactions that look just like yours, the adversary can't tell which one was really yours.</a:t>
            </a:r>
            <a:endParaRPr lang="en-IN" sz="2800" dirty="0" smtClean="0">
              <a:solidFill>
                <a:schemeClr val="dk1"/>
              </a:solidFill>
              <a:latin typeface="Trebuchet MS"/>
              <a:ea typeface="Trebuchet MS"/>
              <a:cs typeface="Trebuchet MS"/>
              <a:sym typeface="Trebuchet MS"/>
            </a:endParaRPr>
          </a:p>
          <a:p>
            <a:pPr marL="0" indent="0">
              <a:spcBef>
                <a:spcPts val="0"/>
              </a:spcBef>
              <a:buClr>
                <a:srgbClr val="A3A3A3"/>
              </a:buClr>
              <a:buNone/>
            </a:pPr>
            <a:r>
              <a:rPr lang="en" dirty="0" smtClean="0">
                <a:solidFill>
                  <a:schemeClr val="dk1"/>
                </a:solidFill>
                <a:latin typeface="Trebuchet MS"/>
                <a:ea typeface="Trebuchet MS"/>
                <a:cs typeface="Trebuchet MS"/>
                <a:sym typeface="Trebuchet MS"/>
              </a:rPr>
              <a:t>To </a:t>
            </a:r>
            <a:r>
              <a:rPr lang="en" dirty="0">
                <a:solidFill>
                  <a:schemeClr val="dk1"/>
                </a:solidFill>
                <a:latin typeface="Trebuchet MS"/>
                <a:ea typeface="Trebuchet MS"/>
                <a:cs typeface="Trebuchet MS"/>
                <a:sym typeface="Trebuchet MS"/>
              </a:rPr>
              <a:t>calculate anonymity set:</a:t>
            </a:r>
            <a:endParaRPr dirty="0"/>
          </a:p>
          <a:p>
            <a:pPr indent="-609585">
              <a:spcBef>
                <a:spcPts val="0"/>
              </a:spcBef>
              <a:buClr>
                <a:srgbClr val="A3A3A3"/>
              </a:buClr>
              <a:buSzPts val="2400"/>
              <a:buFont typeface="Arial"/>
              <a:buChar char="•"/>
            </a:pPr>
            <a:r>
              <a:rPr lang="en" dirty="0">
                <a:solidFill>
                  <a:schemeClr val="dk1"/>
                </a:solidFill>
                <a:latin typeface="Trebuchet MS"/>
                <a:ea typeface="Trebuchet MS"/>
                <a:cs typeface="Trebuchet MS"/>
                <a:sym typeface="Trebuchet MS"/>
              </a:rPr>
              <a:t>define adversary model</a:t>
            </a:r>
            <a:endParaRPr dirty="0"/>
          </a:p>
          <a:p>
            <a:pPr indent="-609585">
              <a:spcBef>
                <a:spcPts val="0"/>
              </a:spcBef>
              <a:buClr>
                <a:srgbClr val="A3A3A3"/>
              </a:buClr>
              <a:buSzPts val="2400"/>
              <a:buFont typeface="Arial"/>
              <a:buChar char="•"/>
            </a:pPr>
            <a:r>
              <a:rPr lang="en" dirty="0">
                <a:solidFill>
                  <a:schemeClr val="dk1"/>
                </a:solidFill>
                <a:latin typeface="Trebuchet MS"/>
                <a:ea typeface="Trebuchet MS"/>
                <a:cs typeface="Trebuchet MS"/>
                <a:sym typeface="Trebuchet MS"/>
              </a:rPr>
              <a:t>reason carefully about: what the adversary knows, does not know, and </a:t>
            </a:r>
            <a:r>
              <a:rPr lang="en" u="sng" dirty="0">
                <a:solidFill>
                  <a:schemeClr val="dk1"/>
                </a:solidFill>
                <a:latin typeface="Trebuchet MS"/>
                <a:ea typeface="Trebuchet MS"/>
                <a:cs typeface="Trebuchet MS"/>
                <a:sym typeface="Trebuchet MS"/>
              </a:rPr>
              <a:t>cannot</a:t>
            </a:r>
            <a:r>
              <a:rPr lang="en" dirty="0">
                <a:solidFill>
                  <a:schemeClr val="dk1"/>
                </a:solidFill>
                <a:latin typeface="Trebuchet MS"/>
                <a:ea typeface="Trebuchet MS"/>
                <a:cs typeface="Trebuchet MS"/>
                <a:sym typeface="Trebuchet MS"/>
              </a:rPr>
              <a:t> </a:t>
            </a:r>
            <a:r>
              <a:rPr lang="en" dirty="0" smtClean="0">
                <a:solidFill>
                  <a:schemeClr val="dk1"/>
                </a:solidFill>
                <a:latin typeface="Trebuchet MS"/>
                <a:ea typeface="Trebuchet MS"/>
                <a:cs typeface="Trebuchet MS"/>
                <a:sym typeface="Trebuchet MS"/>
              </a:rPr>
              <a:t>know</a:t>
            </a:r>
          </a:p>
          <a:p>
            <a:pPr marL="0" indent="0">
              <a:spcBef>
                <a:spcPts val="0"/>
              </a:spcBef>
              <a:buClr>
                <a:srgbClr val="A3A3A3"/>
              </a:buClr>
              <a:buSzPts val="2400"/>
              <a:buNone/>
            </a:pPr>
            <a:r>
              <a:rPr lang="en-IN" i="1" dirty="0"/>
              <a:t>In addition, you can suppose how clever is the adversary, but it won't be an accurate information. So, in some cases, </a:t>
            </a:r>
            <a:r>
              <a:rPr lang="en-IN" b="1" i="1" dirty="0"/>
              <a:t>it would also be necessary to apply probability distributions on top of the anonymity set.</a:t>
            </a:r>
            <a:endParaRPr b="1" i="1"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985116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
                                            <p:txEl>
                                              <p:pRg st="6" end="6"/>
                                            </p:txEl>
                                          </p:spTgt>
                                        </p:tgtEl>
                                        <p:attrNameLst>
                                          <p:attrName>style.visibility</p:attrName>
                                        </p:attrNameLst>
                                      </p:cBhvr>
                                      <p:to>
                                        <p:strVal val="visible"/>
                                      </p:to>
                                    </p:set>
                                    <p:anim calcmode="lin" valueType="num">
                                      <p:cBhvr additive="base">
                                        <p:cTn id="7" dur="500" fill="hold"/>
                                        <p:tgtEl>
                                          <p:spTgt spid="8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609600" y="274636"/>
            <a:ext cx="10972800" cy="14779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IN" sz="4800" b="1" dirty="0"/>
              <a:t/>
            </a:r>
            <a:br>
              <a:rPr lang="en-IN" sz="4800" b="1" dirty="0"/>
            </a:br>
            <a:r>
              <a:rPr lang="en-IN" sz="4800" b="1" dirty="0"/>
              <a:t>Ethics of </a:t>
            </a:r>
            <a:r>
              <a:rPr lang="en-IN" sz="4800" b="1" dirty="0" smtClean="0"/>
              <a:t>anonymity:</a:t>
            </a:r>
            <a:r>
              <a:rPr lang="en" sz="4800" b="1" dirty="0" smtClean="0">
                <a:solidFill>
                  <a:schemeClr val="dk1"/>
                </a:solidFill>
                <a:latin typeface="Trebuchet MS"/>
                <a:ea typeface="Trebuchet MS"/>
                <a:cs typeface="Trebuchet MS"/>
                <a:sym typeface="Trebuchet MS"/>
              </a:rPr>
              <a:t/>
            </a:r>
            <a:br>
              <a:rPr lang="en" sz="4800" b="1" dirty="0" smtClean="0">
                <a:solidFill>
                  <a:schemeClr val="dk1"/>
                </a:solidFill>
                <a:latin typeface="Trebuchet MS"/>
                <a:ea typeface="Trebuchet MS"/>
                <a:cs typeface="Trebuchet MS"/>
                <a:sym typeface="Trebuchet MS"/>
              </a:rPr>
            </a:br>
            <a:r>
              <a:rPr lang="en" sz="4800" b="1" dirty="0" smtClean="0">
                <a:solidFill>
                  <a:schemeClr val="dk1"/>
                </a:solidFill>
                <a:latin typeface="Trebuchet MS"/>
                <a:ea typeface="Trebuchet MS"/>
                <a:cs typeface="Trebuchet MS"/>
                <a:sym typeface="Trebuchet MS"/>
              </a:rPr>
              <a:t>Why </a:t>
            </a:r>
            <a:r>
              <a:rPr lang="en" sz="4800" b="1" dirty="0">
                <a:solidFill>
                  <a:schemeClr val="dk1"/>
                </a:solidFill>
                <a:latin typeface="Trebuchet MS"/>
                <a:ea typeface="Trebuchet MS"/>
                <a:cs typeface="Trebuchet MS"/>
                <a:sym typeface="Trebuchet MS"/>
              </a:rPr>
              <a:t>anonymous cryptocurrencies?</a:t>
            </a:r>
            <a:endParaRPr sz="4800" b="1" dirty="0">
              <a:solidFill>
                <a:schemeClr val="dk1"/>
              </a:solidFill>
              <a:latin typeface="Trebuchet MS"/>
              <a:ea typeface="Trebuchet MS"/>
              <a:cs typeface="Trebuchet MS"/>
              <a:sym typeface="Trebuchet MS"/>
            </a:endParaRPr>
          </a:p>
        </p:txBody>
      </p:sp>
      <p:sp>
        <p:nvSpPr>
          <p:cNvPr id="95" name="Google Shape;95;p18"/>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Block chain based currencies are totally, publicly, and permanently traceable</a:t>
            </a:r>
            <a:endParaRPr sz="2400" dirty="0"/>
          </a:p>
          <a:p>
            <a:pPr marL="0" indent="0">
              <a:spcBef>
                <a:spcPts val="0"/>
              </a:spcBef>
              <a:buClr>
                <a:schemeClr val="dk1"/>
              </a:buClr>
              <a:buNone/>
            </a:pPr>
            <a:endParaRPr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Without anonymity, privacy is </a:t>
            </a:r>
            <a:r>
              <a:rPr lang="en" sz="2400" u="sng" dirty="0">
                <a:solidFill>
                  <a:schemeClr val="dk1"/>
                </a:solidFill>
                <a:latin typeface="Trebuchet MS"/>
                <a:ea typeface="Trebuchet MS"/>
                <a:cs typeface="Trebuchet MS"/>
                <a:sym typeface="Trebuchet MS"/>
              </a:rPr>
              <a:t>much worse</a:t>
            </a:r>
            <a:r>
              <a:rPr lang="en" sz="2400" dirty="0">
                <a:solidFill>
                  <a:schemeClr val="dk1"/>
                </a:solidFill>
                <a:latin typeface="Trebuchet MS"/>
                <a:ea typeface="Trebuchet MS"/>
                <a:cs typeface="Trebuchet MS"/>
                <a:sym typeface="Trebuchet MS"/>
              </a:rPr>
              <a:t> than traditional banking</a:t>
            </a:r>
            <a:r>
              <a:rPr lang="en" sz="2400" dirty="0" smtClean="0">
                <a:solidFill>
                  <a:schemeClr val="dk1"/>
                </a:solidFill>
                <a:latin typeface="Trebuchet MS"/>
                <a:ea typeface="Trebuchet MS"/>
                <a:cs typeface="Trebuchet MS"/>
                <a:sym typeface="Trebuchet MS"/>
              </a:rPr>
              <a:t>!</a:t>
            </a:r>
          </a:p>
          <a:p>
            <a:pPr marL="0" indent="0">
              <a:spcBef>
                <a:spcPts val="0"/>
              </a:spcBef>
              <a:buClr>
                <a:schemeClr val="dk1"/>
              </a:buClr>
              <a:buNone/>
            </a:pPr>
            <a:endParaRPr lang="en-IN" sz="2400" dirty="0" smtClean="0"/>
          </a:p>
          <a:p>
            <a:pPr marL="0" indent="0">
              <a:spcBef>
                <a:spcPts val="0"/>
              </a:spcBef>
              <a:buClr>
                <a:schemeClr val="dk1"/>
              </a:buClr>
              <a:buNone/>
            </a:pPr>
            <a:r>
              <a:rPr lang="en-IN" sz="2400" dirty="0" smtClean="0"/>
              <a:t>in </a:t>
            </a:r>
            <a:r>
              <a:rPr lang="en-IN" sz="2400" dirty="0"/>
              <a:t>fact, anyone could retrieve all your transactions, not only some company or government.</a:t>
            </a:r>
            <a:br>
              <a:rPr lang="en-IN" sz="2400" dirty="0"/>
            </a:br>
            <a:r>
              <a:rPr lang="en-IN" sz="2400" dirty="0"/>
              <a:t>So, we want anonymity to at least obtain the same level of privacy between </a:t>
            </a:r>
            <a:r>
              <a:rPr lang="en-IN" sz="2400" dirty="0" err="1"/>
              <a:t>cryptocurrencies</a:t>
            </a:r>
            <a:r>
              <a:rPr lang="en-IN" sz="2400" dirty="0"/>
              <a:t> and traditional systems. Of course people hope that it can give us a higher level of privacy</a:t>
            </a:r>
            <a:r>
              <a:rPr lang="en-IN" sz="2400" dirty="0" smtClean="0"/>
              <a:t>.</a:t>
            </a:r>
          </a:p>
          <a:p>
            <a:pPr marL="685800" indent="-685800">
              <a:spcBef>
                <a:spcPts val="0"/>
              </a:spcBef>
              <a:buClr>
                <a:schemeClr val="dk1"/>
              </a:buClr>
              <a:buFont typeface="Arial" panose="020B0604020202020204" pitchFamily="34" charset="0"/>
              <a:buChar char="•"/>
            </a:pPr>
            <a:r>
              <a:rPr lang="en-IN" sz="4800" dirty="0" smtClean="0">
                <a:solidFill>
                  <a:schemeClr val="dk1"/>
                </a:solidFill>
                <a:latin typeface="Trebuchet MS"/>
                <a:ea typeface="Trebuchet MS"/>
                <a:cs typeface="Trebuchet MS"/>
                <a:sym typeface="Trebuchet MS"/>
              </a:rPr>
              <a:t>Challenges In </a:t>
            </a:r>
            <a:r>
              <a:rPr lang="en-IN" sz="4800" b="1" dirty="0"/>
              <a:t>anonymity</a:t>
            </a:r>
            <a:endParaRPr sz="48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315619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
                                            <p:txEl>
                                              <p:pRg st="1" end="1"/>
                                            </p:txEl>
                                          </p:spTgt>
                                        </p:tgtEl>
                                        <p:attrNameLst>
                                          <p:attrName>style.visibility</p:attrName>
                                        </p:attrNameLst>
                                      </p:cBhvr>
                                      <p:to>
                                        <p:strVal val="visible"/>
                                      </p:to>
                                    </p:set>
                                    <p:anim calcmode="lin" valueType="num">
                                      <p:cBhvr additive="base">
                                        <p:cTn id="7" dur="500" fill="hold"/>
                                        <p:tgtEl>
                                          <p:spTgt spid="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 calcmode="lin" valueType="num">
                                      <p:cBhvr additive="base">
                                        <p:cTn id="13" dur="500" fill="hold"/>
                                        <p:tgtEl>
                                          <p:spTgt spid="9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 calcmode="lin" valueType="num">
                                      <p:cBhvr additive="base">
                                        <p:cTn id="19" dur="500" fill="hold"/>
                                        <p:tgtEl>
                                          <p:spTgt spid="9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5">
                                            <p:txEl>
                                              <p:pRg st="6" end="6"/>
                                            </p:txEl>
                                          </p:spTgt>
                                        </p:tgtEl>
                                        <p:attrNameLst>
                                          <p:attrName>style.visibility</p:attrName>
                                        </p:attrNameLst>
                                      </p:cBhvr>
                                      <p:to>
                                        <p:strVal val="visible"/>
                                      </p:to>
                                    </p:set>
                                    <p:anim calcmode="lin" valueType="num">
                                      <p:cBhvr additive="base">
                                        <p:cTn id="25" dur="500" fill="hold"/>
                                        <p:tgtEl>
                                          <p:spTgt spid="9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609600" y="152400"/>
            <a:ext cx="10972800" cy="16002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IN" sz="4800" b="1" dirty="0">
                <a:solidFill>
                  <a:schemeClr val="dk1"/>
                </a:solidFill>
                <a:latin typeface="Trebuchet MS"/>
                <a:ea typeface="Trebuchet MS"/>
                <a:cs typeface="Trebuchet MS"/>
                <a:sym typeface="Trebuchet MS"/>
              </a:rPr>
              <a:t>Risk of money laundering</a:t>
            </a:r>
            <a:r>
              <a:rPr lang="en" sz="4800" b="1" dirty="0" smtClean="0">
                <a:solidFill>
                  <a:schemeClr val="dk1"/>
                </a:solidFill>
                <a:latin typeface="Trebuchet MS"/>
                <a:ea typeface="Trebuchet MS"/>
                <a:cs typeface="Trebuchet MS"/>
                <a:sym typeface="Trebuchet MS"/>
              </a:rPr>
              <a:t/>
            </a:r>
            <a:br>
              <a:rPr lang="en" sz="4800" b="1" dirty="0" smtClean="0">
                <a:solidFill>
                  <a:schemeClr val="dk1"/>
                </a:solidFill>
                <a:latin typeface="Trebuchet MS"/>
                <a:ea typeface="Trebuchet MS"/>
                <a:cs typeface="Trebuchet MS"/>
                <a:sym typeface="Trebuchet MS"/>
              </a:rPr>
            </a:br>
            <a:r>
              <a:rPr lang="en" sz="4800" b="1" dirty="0" smtClean="0">
                <a:solidFill>
                  <a:schemeClr val="dk1"/>
                </a:solidFill>
                <a:latin typeface="Trebuchet MS"/>
                <a:ea typeface="Trebuchet MS"/>
                <a:cs typeface="Trebuchet MS"/>
                <a:sym typeface="Trebuchet MS"/>
              </a:rPr>
              <a:t>What about money laundering?</a:t>
            </a:r>
            <a:endParaRPr sz="4800" b="1" dirty="0">
              <a:solidFill>
                <a:schemeClr val="dk1"/>
              </a:solidFill>
              <a:latin typeface="Trebuchet MS"/>
              <a:ea typeface="Trebuchet MS"/>
              <a:cs typeface="Trebuchet MS"/>
              <a:sym typeface="Trebuchet MS"/>
            </a:endParaRPr>
          </a:p>
        </p:txBody>
      </p:sp>
      <p:sp>
        <p:nvSpPr>
          <p:cNvPr id="101" name="Google Shape;101;p19"/>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Legitimate worry</a:t>
            </a:r>
            <a:endParaRPr sz="2400" dirty="0"/>
          </a:p>
          <a:p>
            <a:pPr marL="0" indent="0">
              <a:spcBef>
                <a:spcPts val="0"/>
              </a:spcBef>
              <a:buClr>
                <a:schemeClr val="dk1"/>
              </a:buClr>
              <a:buNone/>
            </a:pPr>
            <a:endParaRPr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smtClean="0">
                <a:solidFill>
                  <a:schemeClr val="dk1"/>
                </a:solidFill>
                <a:latin typeface="Trebuchet MS"/>
                <a:ea typeface="Trebuchet MS"/>
                <a:cs typeface="Trebuchet MS"/>
                <a:sym typeface="Trebuchet MS"/>
              </a:rPr>
              <a:t>Bottleneck</a:t>
            </a:r>
            <a:r>
              <a:rPr lang="en" sz="2400" dirty="0">
                <a:solidFill>
                  <a:schemeClr val="dk1"/>
                </a:solidFill>
                <a:latin typeface="Trebuchet MS"/>
                <a:ea typeface="Trebuchet MS"/>
                <a:cs typeface="Trebuchet MS"/>
                <a:sym typeface="Trebuchet MS"/>
              </a:rPr>
              <a:t>: moving large flows into and out of Bitcoin (“cashing out</a:t>
            </a:r>
            <a:r>
              <a:rPr lang="en" sz="2400" dirty="0" smtClean="0">
                <a:solidFill>
                  <a:schemeClr val="dk1"/>
                </a:solidFill>
                <a:latin typeface="Trebuchet MS"/>
                <a:ea typeface="Trebuchet MS"/>
                <a:cs typeface="Trebuchet MS"/>
                <a:sym typeface="Trebuchet MS"/>
              </a:rPr>
              <a: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dirty="0">
                <a:solidFill>
                  <a:schemeClr val="dk1"/>
                </a:solidFill>
                <a:latin typeface="Trebuchet MS"/>
                <a:ea typeface="Trebuchet MS"/>
                <a:cs typeface="Trebuchet MS"/>
                <a:sym typeface="Trebuchet MS"/>
              </a:rPr>
              <a:t>Common problem in computer security and privacy.</a:t>
            </a:r>
            <a:endParaRPr lang="en-IN" sz="2400" dirty="0"/>
          </a:p>
          <a:p>
            <a:pPr marL="0" indent="0">
              <a:spcBef>
                <a:spcPts val="0"/>
              </a:spcBef>
              <a:buClr>
                <a:schemeClr val="dk1"/>
              </a:buClr>
              <a:buNone/>
            </a:pPr>
            <a:endParaRPr lang="en-I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dirty="0"/>
              <a:t>Because from a technological </a:t>
            </a:r>
            <a:r>
              <a:rPr lang="en-IN" sz="2400" dirty="0" smtClean="0"/>
              <a:t>point</a:t>
            </a:r>
            <a:r>
              <a:rPr lang="en-IN" sz="2400" dirty="0"/>
              <a:t>, those uses that we consider to be very different morally are essentially the same. </a:t>
            </a:r>
            <a:endParaRPr sz="24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2594213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Summary:</a:t>
            </a:r>
          </a:p>
          <a:p>
            <a:r>
              <a:rPr lang="en-IN" dirty="0"/>
              <a:t>In a regular transaction, your identity and purchase details are easily traceable.</a:t>
            </a:r>
          </a:p>
          <a:p>
            <a:r>
              <a:rPr lang="en-IN" dirty="0"/>
              <a:t>In an anonymous e-cash system:</a:t>
            </a:r>
          </a:p>
          <a:p>
            <a:pPr lvl="1"/>
            <a:r>
              <a:rPr lang="en-IN" dirty="0"/>
              <a:t>The bank knows who requested the e-cash but doesn’t know which specific token you’ll use.</a:t>
            </a:r>
          </a:p>
          <a:p>
            <a:pPr lvl="1"/>
            <a:r>
              <a:rPr lang="en-IN" dirty="0"/>
              <a:t>When you spend the </a:t>
            </a:r>
            <a:r>
              <a:rPr lang="en-IN"/>
              <a:t>token </a:t>
            </a:r>
            <a:r>
              <a:rPr lang="en-IN" smtClean="0"/>
              <a:t>, </a:t>
            </a:r>
            <a:r>
              <a:rPr lang="en-IN" dirty="0"/>
              <a:t>the transaction is </a:t>
            </a:r>
            <a:r>
              <a:rPr lang="en-IN" b="1" dirty="0"/>
              <a:t>anonymous</a:t>
            </a:r>
            <a:r>
              <a:rPr lang="en-IN" dirty="0"/>
              <a:t>—your identity is not linked to the purchase.</a:t>
            </a:r>
          </a:p>
          <a:p>
            <a:pPr marL="50799" indent="0">
              <a:buNone/>
            </a:pPr>
            <a:endParaRPr lang="en-IN" dirty="0"/>
          </a:p>
        </p:txBody>
      </p:sp>
    </p:spTree>
    <p:extLst>
      <p:ext uri="{BB962C8B-B14F-4D97-AF65-F5344CB8AC3E}">
        <p14:creationId xmlns:p14="http://schemas.microsoft.com/office/powerpoint/2010/main" val="38642236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609600" y="274637"/>
            <a:ext cx="11176000" cy="8683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267" b="1" dirty="0">
                <a:solidFill>
                  <a:schemeClr val="dk1"/>
                </a:solidFill>
                <a:latin typeface="Trebuchet MS"/>
                <a:ea typeface="Trebuchet MS"/>
                <a:cs typeface="Trebuchet MS"/>
                <a:sym typeface="Trebuchet MS"/>
              </a:rPr>
              <a:t>Anonymity &amp; decentralization: in conflict</a:t>
            </a:r>
            <a:endParaRPr sz="4267" b="1" dirty="0">
              <a:solidFill>
                <a:schemeClr val="dk1"/>
              </a:solidFill>
              <a:latin typeface="Trebuchet MS"/>
              <a:ea typeface="Trebuchet MS"/>
              <a:cs typeface="Trebuchet MS"/>
              <a:sym typeface="Trebuchet MS"/>
            </a:endParaRPr>
          </a:p>
        </p:txBody>
      </p:sp>
      <p:sp>
        <p:nvSpPr>
          <p:cNvPr id="158" name="Google Shape;158;p24"/>
          <p:cNvSpPr txBox="1">
            <a:spLocks noGrp="1"/>
          </p:cNvSpPr>
          <p:nvPr>
            <p:ph type="body" idx="1"/>
          </p:nvPr>
        </p:nvSpPr>
        <p:spPr>
          <a:xfrm>
            <a:off x="609600" y="1143000"/>
            <a:ext cx="10972800" cy="54247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indent="-355591">
              <a:spcBef>
                <a:spcPts val="0"/>
              </a:spcBef>
              <a:buClr>
                <a:srgbClr val="666666"/>
              </a:buClr>
              <a:buNone/>
            </a:pPr>
            <a:r>
              <a:rPr lang="en-IN" sz="2400" dirty="0"/>
              <a:t>There are </a:t>
            </a:r>
            <a:r>
              <a:rPr lang="en-IN" sz="2400" dirty="0" smtClean="0"/>
              <a:t>two reasons </a:t>
            </a:r>
            <a:r>
              <a:rPr lang="en-IN" sz="2400" dirty="0"/>
              <a:t>for this:</a:t>
            </a:r>
            <a:endParaRPr sz="2400" dirty="0">
              <a:solidFill>
                <a:schemeClr val="dk1"/>
              </a:solidFill>
              <a:latin typeface="Trebuchet MS"/>
              <a:ea typeface="Trebuchet MS"/>
              <a:cs typeface="Trebuchet MS"/>
              <a:sym typeface="Trebuchet MS"/>
            </a:endParaRPr>
          </a:p>
          <a:p>
            <a:pPr indent="-609585">
              <a:spcBef>
                <a:spcPts val="0"/>
              </a:spcBef>
              <a:buClr>
                <a:srgbClr val="666666"/>
              </a:buClr>
              <a:buFont typeface="Arial"/>
              <a:buChar char="•"/>
            </a:pPr>
            <a:r>
              <a:rPr lang="en" sz="2400" b="1" dirty="0">
                <a:solidFill>
                  <a:schemeClr val="dk1"/>
                </a:solidFill>
                <a:latin typeface="Trebuchet MS"/>
                <a:ea typeface="Trebuchet MS"/>
                <a:cs typeface="Trebuchet MS"/>
                <a:sym typeface="Trebuchet MS"/>
              </a:rPr>
              <a:t>Interactive protocols with bank are hard to </a:t>
            </a:r>
            <a:r>
              <a:rPr lang="en" sz="2400" b="1" dirty="0" smtClean="0">
                <a:solidFill>
                  <a:schemeClr val="dk1"/>
                </a:solidFill>
                <a:latin typeface="Trebuchet MS"/>
                <a:ea typeface="Trebuchet MS"/>
                <a:cs typeface="Trebuchet MS"/>
                <a:sym typeface="Trebuchet MS"/>
              </a:rPr>
              <a:t>decentralize</a:t>
            </a:r>
          </a:p>
          <a:p>
            <a:pPr marL="0" indent="0" algn="just">
              <a:spcBef>
                <a:spcPts val="0"/>
              </a:spcBef>
              <a:buClr>
                <a:srgbClr val="666666"/>
              </a:buClr>
              <a:buNone/>
            </a:pPr>
            <a:r>
              <a:rPr lang="en-IN" sz="2400" dirty="0"/>
              <a:t>often for anonymity it is necessary to rely on certain interactive protocols with the bank in order to do some blinding (i.e. blind signatures). It’s not clear if something like that could be possible without a central authority</a:t>
            </a:r>
            <a:endParaRPr sz="2400" dirty="0"/>
          </a:p>
          <a:p>
            <a:pPr indent="-355591">
              <a:spcBef>
                <a:spcPts val="0"/>
              </a:spcBef>
              <a:buClr>
                <a:srgbClr val="666666"/>
              </a:buClr>
              <a:buNone/>
            </a:pPr>
            <a:endParaRPr sz="4000" dirty="0">
              <a:solidFill>
                <a:schemeClr val="dk1"/>
              </a:solidFill>
              <a:latin typeface="Trebuchet MS"/>
              <a:ea typeface="Trebuchet MS"/>
              <a:cs typeface="Trebuchet MS"/>
              <a:sym typeface="Trebuchet MS"/>
            </a:endParaRPr>
          </a:p>
          <a:p>
            <a:pPr indent="-609585">
              <a:spcBef>
                <a:spcPts val="0"/>
              </a:spcBef>
              <a:buClr>
                <a:srgbClr val="666666"/>
              </a:buClr>
              <a:buFont typeface="Arial"/>
              <a:buChar char="•"/>
            </a:pPr>
            <a:r>
              <a:rPr lang="en" sz="2400" b="1" dirty="0">
                <a:solidFill>
                  <a:schemeClr val="dk1"/>
                </a:solidFill>
                <a:latin typeface="Trebuchet MS"/>
                <a:ea typeface="Trebuchet MS"/>
                <a:cs typeface="Trebuchet MS"/>
                <a:sym typeface="Trebuchet MS"/>
              </a:rPr>
              <a:t>Decentralization often achieved via public traceability to enforce security </a:t>
            </a:r>
            <a:endParaRPr sz="2400" b="1" dirty="0"/>
          </a:p>
          <a:p>
            <a:pPr indent="-355591" algn="just">
              <a:spcBef>
                <a:spcPts val="0"/>
              </a:spcBef>
              <a:buClr>
                <a:srgbClr val="666666"/>
              </a:buClr>
              <a:buNone/>
            </a:pPr>
            <a:r>
              <a:rPr lang="en-IN" sz="2400" dirty="0"/>
              <a:t>even it was possible to obtain blinding in a decentralized system, there’s still the problem that in order to decentralize and still get security properties like resistance to double spending, often the way to go is to record and trace everything in a public ledger. So this compromises further the anonymity and privacy </a:t>
            </a:r>
            <a:r>
              <a:rPr lang="en-IN" sz="2400" dirty="0" smtClean="0"/>
              <a:t>properties</a:t>
            </a:r>
            <a:endParaRPr sz="24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392813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
                                            <p:txEl>
                                              <p:pRg st="2" end="2"/>
                                            </p:txEl>
                                          </p:spTgt>
                                        </p:tgtEl>
                                        <p:attrNameLst>
                                          <p:attrName>style.visibility</p:attrName>
                                        </p:attrNameLst>
                                      </p:cBhvr>
                                      <p:to>
                                        <p:strVal val="visible"/>
                                      </p:to>
                                    </p:set>
                                    <p:anim calcmode="lin" valueType="num">
                                      <p:cBhvr additive="base">
                                        <p:cTn id="7" dur="500" fill="hold"/>
                                        <p:tgtEl>
                                          <p:spTgt spid="15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8">
                                            <p:txEl>
                                              <p:pRg st="5" end="5"/>
                                            </p:txEl>
                                          </p:spTgt>
                                        </p:tgtEl>
                                        <p:attrNameLst>
                                          <p:attrName>style.visibility</p:attrName>
                                        </p:attrNameLst>
                                      </p:cBhvr>
                                      <p:to>
                                        <p:strVal val="visible"/>
                                      </p:to>
                                    </p:set>
                                    <p:anim calcmode="lin" valueType="num">
                                      <p:cBhvr additive="base">
                                        <p:cTn id="13" dur="500" fill="hold"/>
                                        <p:tgtEl>
                                          <p:spTgt spid="158">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dk2"/>
                </a:solidFill>
                <a:latin typeface="Trebuchet MS"/>
                <a:ea typeface="Trebuchet MS"/>
                <a:cs typeface="Trebuchet MS"/>
                <a:sym typeface="Trebuchet MS"/>
              </a:rPr>
              <a:t>How to de-anonymize Bitcoin</a:t>
            </a:r>
            <a:endParaRPr sz="4000" dirty="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25414672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381000"/>
            <a:ext cx="10515600" cy="5795963"/>
          </a:xfrm>
        </p:spPr>
        <p:txBody>
          <a:bodyPr/>
          <a:lstStyle/>
          <a:p>
            <a:pPr marL="0" indent="0">
              <a:buNone/>
            </a:pPr>
            <a:r>
              <a:rPr lang="en-IN" b="1" dirty="0"/>
              <a:t>How to link different Bitcoin receiving addresses?</a:t>
            </a:r>
          </a:p>
          <a:p>
            <a:pPr marL="0" indent="0">
              <a:buNone/>
            </a:pPr>
            <a:r>
              <a:rPr lang="en-IN" dirty="0" smtClean="0"/>
              <a:t>1.2. 2.3. </a:t>
            </a:r>
            <a:endParaRPr lang="en-IN" dirty="0"/>
          </a:p>
        </p:txBody>
      </p:sp>
      <p:pic>
        <p:nvPicPr>
          <p:cNvPr id="4" name="Picture 3"/>
          <p:cNvPicPr>
            <a:picLocks noChangeAspect="1"/>
          </p:cNvPicPr>
          <p:nvPr/>
        </p:nvPicPr>
        <p:blipFill>
          <a:blip r:embed="rId2"/>
          <a:stretch>
            <a:fillRect/>
          </a:stretch>
        </p:blipFill>
        <p:spPr>
          <a:xfrm>
            <a:off x="6629400" y="1752600"/>
            <a:ext cx="4267200" cy="3124200"/>
          </a:xfrm>
          <a:prstGeom prst="rect">
            <a:avLst/>
          </a:prstGeom>
        </p:spPr>
      </p:pic>
      <p:sp>
        <p:nvSpPr>
          <p:cNvPr id="5" name="Rectangle 4"/>
          <p:cNvSpPr/>
          <p:nvPr/>
        </p:nvSpPr>
        <p:spPr>
          <a:xfrm>
            <a:off x="1066800" y="1371600"/>
            <a:ext cx="5029200" cy="3046988"/>
          </a:xfrm>
          <a:prstGeom prst="rect">
            <a:avLst/>
          </a:prstGeom>
        </p:spPr>
        <p:txBody>
          <a:bodyPr wrap="square">
            <a:spAutoFit/>
          </a:bodyPr>
          <a:lstStyle/>
          <a:p>
            <a:r>
              <a:rPr lang="en-IN" sz="2400" b="1" dirty="0" smtClean="0"/>
              <a:t>1.Clustering of Address</a:t>
            </a:r>
          </a:p>
          <a:p>
            <a:endParaRPr lang="en-IN" sz="2400" b="1" dirty="0" smtClean="0"/>
          </a:p>
          <a:p>
            <a:pPr algn="just"/>
            <a:r>
              <a:rPr lang="en-IN" sz="2400" b="1" dirty="0" smtClean="0"/>
              <a:t>2.shared </a:t>
            </a:r>
            <a:r>
              <a:rPr lang="en-IN" sz="2400" b="1" dirty="0"/>
              <a:t>spending </a:t>
            </a:r>
            <a:r>
              <a:rPr lang="en-IN" sz="2400" dirty="0"/>
              <a:t>is evidence of </a:t>
            </a:r>
            <a:r>
              <a:rPr lang="en-IN" sz="2400" b="1" dirty="0"/>
              <a:t>joint control of two different addresses</a:t>
            </a:r>
            <a:r>
              <a:rPr lang="en-IN" sz="2400" dirty="0"/>
              <a:t>, and not only. The addresses can be </a:t>
            </a:r>
            <a:r>
              <a:rPr lang="en-IN" sz="2400" b="1" dirty="0"/>
              <a:t>linked </a:t>
            </a:r>
            <a:r>
              <a:rPr lang="en-IN" sz="2400" b="1" dirty="0" smtClean="0"/>
              <a:t>transitively</a:t>
            </a:r>
          </a:p>
          <a:p>
            <a:endParaRPr lang="en-IN" sz="2400" b="1" dirty="0"/>
          </a:p>
          <a:p>
            <a:r>
              <a:rPr lang="en-IN" sz="2400" b="1" dirty="0" smtClean="0"/>
              <a:t> 3.Change Address:</a:t>
            </a:r>
            <a:endParaRPr lang="en-IN" sz="2400" b="1" dirty="0"/>
          </a:p>
        </p:txBody>
      </p:sp>
    </p:spTree>
    <p:extLst>
      <p:ext uri="{BB962C8B-B14F-4D97-AF65-F5344CB8AC3E}">
        <p14:creationId xmlns:p14="http://schemas.microsoft.com/office/powerpoint/2010/main" val="864381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04800"/>
            <a:ext cx="10515600" cy="5872163"/>
          </a:xfrm>
        </p:spPr>
        <p:txBody>
          <a:bodyPr/>
          <a:lstStyle/>
          <a:p>
            <a:r>
              <a:rPr lang="en-IN" b="1" dirty="0"/>
              <a:t>An Analysis of Anonymity in the Bitcoin </a:t>
            </a:r>
            <a:r>
              <a:rPr lang="en-IN" b="1" dirty="0" smtClean="0"/>
              <a:t>System-</a:t>
            </a:r>
            <a:r>
              <a:rPr lang="en" b="1" dirty="0">
                <a:solidFill>
                  <a:schemeClr val="dk1"/>
                </a:solidFill>
                <a:latin typeface="Trebuchet MS"/>
                <a:ea typeface="Trebuchet MS"/>
                <a:cs typeface="Trebuchet MS"/>
                <a:sym typeface="Trebuchet MS"/>
              </a:rPr>
              <a:t>Clustering of </a:t>
            </a:r>
            <a:r>
              <a:rPr lang="en" b="1" dirty="0" smtClean="0">
                <a:solidFill>
                  <a:schemeClr val="dk1"/>
                </a:solidFill>
                <a:latin typeface="Trebuchet MS"/>
                <a:ea typeface="Trebuchet MS"/>
                <a:cs typeface="Trebuchet MS"/>
                <a:sym typeface="Trebuchet MS"/>
              </a:rPr>
              <a:t>addresses</a:t>
            </a:r>
          </a:p>
          <a:p>
            <a:endParaRPr lang="en" b="1" dirty="0">
              <a:solidFill>
                <a:schemeClr val="dk1"/>
              </a:solidFill>
              <a:latin typeface="Trebuchet MS"/>
              <a:sym typeface="Trebuchet MS"/>
            </a:endParaRPr>
          </a:p>
          <a:p>
            <a:pPr marL="0" indent="0">
              <a:spcBef>
                <a:spcPts val="0"/>
              </a:spcBef>
              <a:buClr>
                <a:schemeClr val="dk1"/>
              </a:buClr>
              <a:buNone/>
            </a:pPr>
            <a:r>
              <a:rPr lang="en-IN" i="1" dirty="0" smtClean="0">
                <a:solidFill>
                  <a:schemeClr val="dk1"/>
                </a:solidFill>
                <a:latin typeface="Trebuchet MS"/>
                <a:ea typeface="Trebuchet MS"/>
                <a:cs typeface="Trebuchet MS"/>
                <a:sym typeface="Trebuchet MS"/>
              </a:rPr>
              <a:t>“</a:t>
            </a:r>
            <a:r>
              <a:rPr lang="en-IN" i="1" dirty="0" smtClean="0">
                <a:solidFill>
                  <a:schemeClr val="dk1"/>
                </a:solidFill>
                <a:latin typeface="Trebuchet MS"/>
                <a:ea typeface="Trebuchet MS"/>
                <a:cs typeface="Trebuchet MS"/>
                <a:sym typeface="Trebuchet MS"/>
                <a:hlinkClick r:id="rId2" action="ppaction://hlinkfile"/>
              </a:rPr>
              <a:t>An </a:t>
            </a:r>
            <a:r>
              <a:rPr lang="en-IN" i="1" dirty="0">
                <a:solidFill>
                  <a:schemeClr val="dk1"/>
                </a:solidFill>
                <a:latin typeface="Trebuchet MS"/>
                <a:ea typeface="Trebuchet MS"/>
                <a:cs typeface="Trebuchet MS"/>
                <a:sym typeface="Trebuchet MS"/>
                <a:hlinkClick r:id="rId2" action="ppaction://hlinkfile"/>
              </a:rPr>
              <a:t>Analysis of Anonymity in the Bitcoin </a:t>
            </a:r>
            <a:r>
              <a:rPr lang="en-IN" i="1" dirty="0" smtClean="0">
                <a:solidFill>
                  <a:schemeClr val="dk1"/>
                </a:solidFill>
                <a:latin typeface="Trebuchet MS"/>
                <a:ea typeface="Trebuchet MS"/>
                <a:cs typeface="Trebuchet MS"/>
                <a:sym typeface="Trebuchet MS"/>
                <a:hlinkClick r:id="rId2" action="ppaction://hlinkfile"/>
              </a:rPr>
              <a:t>System”</a:t>
            </a:r>
            <a:r>
              <a:rPr lang="en-IN" dirty="0" smtClean="0">
                <a:sym typeface="Trebuchet MS"/>
                <a:hlinkClick r:id="rId2" action="ppaction://hlinkfile"/>
              </a:rPr>
              <a:t>  </a:t>
            </a:r>
            <a:r>
              <a:rPr lang="en-IN" dirty="0" smtClean="0">
                <a:sym typeface="Trebuchet MS"/>
              </a:rPr>
              <a:t>-</a:t>
            </a:r>
            <a:r>
              <a:rPr lang="en-IN" dirty="0" smtClean="0">
                <a:solidFill>
                  <a:schemeClr val="dk1"/>
                </a:solidFill>
                <a:latin typeface="Trebuchet MS"/>
                <a:ea typeface="Trebuchet MS"/>
                <a:cs typeface="Trebuchet MS"/>
                <a:sym typeface="Trebuchet MS"/>
              </a:rPr>
              <a:t>F</a:t>
            </a:r>
            <a:r>
              <a:rPr lang="en-IN" dirty="0">
                <a:solidFill>
                  <a:schemeClr val="dk1"/>
                </a:solidFill>
                <a:latin typeface="Trebuchet MS"/>
                <a:ea typeface="Trebuchet MS"/>
                <a:cs typeface="Trebuchet MS"/>
                <a:sym typeface="Trebuchet MS"/>
              </a:rPr>
              <a:t>. Reid and M. </a:t>
            </a:r>
            <a:r>
              <a:rPr lang="en-IN" dirty="0" err="1" smtClean="0">
                <a:solidFill>
                  <a:schemeClr val="dk1"/>
                </a:solidFill>
                <a:latin typeface="Trebuchet MS"/>
                <a:ea typeface="Trebuchet MS"/>
                <a:cs typeface="Trebuchet MS"/>
                <a:sym typeface="Trebuchet MS"/>
              </a:rPr>
              <a:t>Harrigan</a:t>
            </a:r>
            <a:r>
              <a:rPr lang="en-IN" dirty="0" smtClean="0">
                <a:solidFill>
                  <a:schemeClr val="dk1"/>
                </a:solidFill>
                <a:latin typeface="Trebuchet MS"/>
                <a:ea typeface="Trebuchet MS"/>
                <a:cs typeface="Trebuchet MS"/>
                <a:sym typeface="Trebuchet MS"/>
              </a:rPr>
              <a:t>  PASSAT </a:t>
            </a:r>
            <a:r>
              <a:rPr lang="en-IN" dirty="0">
                <a:solidFill>
                  <a:schemeClr val="dk1"/>
                </a:solidFill>
                <a:latin typeface="Trebuchet MS"/>
                <a:ea typeface="Trebuchet MS"/>
                <a:cs typeface="Trebuchet MS"/>
                <a:sym typeface="Trebuchet MS"/>
              </a:rPr>
              <a:t>2011</a:t>
            </a:r>
            <a:endParaRPr lang="en-IN" dirty="0"/>
          </a:p>
          <a:p>
            <a:pPr marL="0" indent="0">
              <a:buNone/>
            </a:pPr>
            <a:r>
              <a:rPr lang="en-IN" dirty="0" smtClean="0"/>
              <a:t> </a:t>
            </a:r>
            <a:r>
              <a:rPr lang="en-IN" b="1" dirty="0"/>
              <a:t>Research </a:t>
            </a:r>
            <a:r>
              <a:rPr lang="en-IN" b="1" dirty="0" smtClean="0"/>
              <a:t>results in the said paper:</a:t>
            </a:r>
          </a:p>
          <a:p>
            <a:pPr marL="0" indent="0">
              <a:buNone/>
            </a:pPr>
            <a:r>
              <a:rPr lang="en-IN" b="1" dirty="0">
                <a:hlinkClick r:id="rId3"/>
              </a:rPr>
              <a:t>https://</a:t>
            </a:r>
            <a:r>
              <a:rPr lang="en-IN" b="1" dirty="0" smtClean="0">
                <a:hlinkClick r:id="rId3"/>
              </a:rPr>
              <a:t>www.researchgate.net/publication/51918209_An_Analysis_of_Anonymity_in_the_Bitcoin_System</a:t>
            </a:r>
            <a:endParaRPr lang="en-IN" b="1" dirty="0" smtClean="0"/>
          </a:p>
          <a:p>
            <a:pPr marL="0" indent="0">
              <a:buNone/>
            </a:pPr>
            <a:endParaRPr lang="en-IN" b="1" dirty="0"/>
          </a:p>
          <a:p>
            <a:pPr marL="0" indent="0">
              <a:buNone/>
            </a:pPr>
            <a:endParaRPr lang="en-IN" dirty="0"/>
          </a:p>
        </p:txBody>
      </p:sp>
      <p:pic>
        <p:nvPicPr>
          <p:cNvPr id="4" name="Picture 3"/>
          <p:cNvPicPr>
            <a:picLocks noChangeAspect="1"/>
          </p:cNvPicPr>
          <p:nvPr/>
        </p:nvPicPr>
        <p:blipFill>
          <a:blip r:embed="rId4"/>
          <a:stretch>
            <a:fillRect/>
          </a:stretch>
        </p:blipFill>
        <p:spPr>
          <a:xfrm>
            <a:off x="4800600" y="3962400"/>
            <a:ext cx="5410200" cy="2590800"/>
          </a:xfrm>
          <a:prstGeom prst="rect">
            <a:avLst/>
          </a:prstGeom>
        </p:spPr>
      </p:pic>
    </p:spTree>
    <p:extLst>
      <p:ext uri="{BB962C8B-B14F-4D97-AF65-F5344CB8AC3E}">
        <p14:creationId xmlns:p14="http://schemas.microsoft.com/office/powerpoint/2010/main" val="27659500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685800"/>
            <a:ext cx="10515600" cy="5491163"/>
          </a:xfrm>
        </p:spPr>
        <p:txBody>
          <a:bodyPr/>
          <a:lstStyle/>
          <a:p>
            <a:pPr marL="0" indent="0">
              <a:buNone/>
            </a:pPr>
            <a:r>
              <a:rPr lang="en-IN" dirty="0"/>
              <a:t>Based on the situation at the moment of the research, we can make some hypothesis, for example:</a:t>
            </a:r>
          </a:p>
          <a:p>
            <a:pPr marL="0" indent="0">
              <a:buNone/>
            </a:pPr>
            <a:endParaRPr lang="en-IN" dirty="0"/>
          </a:p>
          <a:p>
            <a:r>
              <a:rPr lang="en-IN" sz="2000" dirty="0"/>
              <a:t>    The biggest dot in violet could correspond to </a:t>
            </a:r>
            <a:r>
              <a:rPr lang="en-IN" sz="2000" dirty="0" err="1"/>
              <a:t>Mt.Gox</a:t>
            </a:r>
            <a:r>
              <a:rPr lang="en-IN" sz="2000" dirty="0"/>
              <a:t>, since it was the major exchange at the moment</a:t>
            </a:r>
          </a:p>
          <a:p>
            <a:r>
              <a:rPr lang="en-IN" sz="2000" dirty="0"/>
              <a:t>    While the small dot with many transactions could belong to Satoshi Dice gambling service. In fact, it received a lot of micro payments for gambling, so many transactions but without a lot of value.</a:t>
            </a:r>
          </a:p>
          <a:p>
            <a:pPr marL="0" indent="0">
              <a:buNone/>
            </a:pPr>
            <a:endParaRPr lang="en-IN" dirty="0"/>
          </a:p>
        </p:txBody>
      </p:sp>
      <p:pic>
        <p:nvPicPr>
          <p:cNvPr id="4" name="Picture 3"/>
          <p:cNvPicPr>
            <a:picLocks noChangeAspect="1"/>
          </p:cNvPicPr>
          <p:nvPr/>
        </p:nvPicPr>
        <p:blipFill>
          <a:blip r:embed="rId2"/>
          <a:stretch>
            <a:fillRect/>
          </a:stretch>
        </p:blipFill>
        <p:spPr>
          <a:xfrm>
            <a:off x="2133600" y="3464859"/>
            <a:ext cx="5181600" cy="3295650"/>
          </a:xfrm>
          <a:prstGeom prst="rect">
            <a:avLst/>
          </a:prstGeom>
        </p:spPr>
      </p:pic>
    </p:spTree>
    <p:extLst>
      <p:ext uri="{BB962C8B-B14F-4D97-AF65-F5344CB8AC3E}">
        <p14:creationId xmlns:p14="http://schemas.microsoft.com/office/powerpoint/2010/main" val="32337353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457200"/>
            <a:ext cx="10515600" cy="5719763"/>
          </a:xfrm>
        </p:spPr>
        <p:txBody>
          <a:bodyPr>
            <a:normAutofit/>
          </a:bodyPr>
          <a:lstStyle/>
          <a:p>
            <a:r>
              <a:rPr lang="en-IN" b="1" dirty="0"/>
              <a:t>Anonimity for </a:t>
            </a:r>
            <a:r>
              <a:rPr lang="en-IN" b="1" dirty="0" smtClean="0"/>
              <a:t>individuals:</a:t>
            </a:r>
            <a:endParaRPr lang="en-IN" b="1" dirty="0"/>
          </a:p>
          <a:p>
            <a:pPr marL="0" indent="0">
              <a:buNone/>
            </a:pPr>
            <a:endParaRPr lang="en-IN" dirty="0"/>
          </a:p>
          <a:p>
            <a:pPr algn="just"/>
            <a:r>
              <a:rPr lang="en-IN" dirty="0" smtClean="0"/>
              <a:t>    </a:t>
            </a:r>
            <a:r>
              <a:rPr lang="en-IN" sz="2000" dirty="0"/>
              <a:t>Bitcoin used to make transactions interacting directly with the merchant. So it is possible to link an address to the individual and start from there to identify the cluster.</a:t>
            </a:r>
          </a:p>
          <a:p>
            <a:pPr algn="just"/>
            <a:r>
              <a:rPr lang="en-IN" sz="2000" dirty="0"/>
              <a:t>    Most users interact with big service providers who know their real identities. It is enough to find a single transaction with these big providers to potentially go back to the real identity. Of course, this is only possible with enough </a:t>
            </a:r>
            <a:r>
              <a:rPr lang="en-IN" sz="2000" dirty="0" err="1"/>
              <a:t>autority</a:t>
            </a:r>
            <a:r>
              <a:rPr lang="en-IN" sz="2000" dirty="0"/>
              <a:t> power or with hacking techniques.</a:t>
            </a:r>
          </a:p>
          <a:p>
            <a:pPr algn="just"/>
            <a:r>
              <a:rPr lang="en-IN" sz="2000" dirty="0"/>
              <a:t>    Often users publish online some of their addresses for donation purposes or similar. With this single address it is possible to reconstruct the cluster.</a:t>
            </a:r>
          </a:p>
          <a:p>
            <a:pPr marL="0" indent="0">
              <a:buNone/>
            </a:pPr>
            <a:endParaRPr lang="en-IN" dirty="0" smtClean="0"/>
          </a:p>
          <a:p>
            <a:pPr marL="0" indent="0">
              <a:spcBef>
                <a:spcPts val="0"/>
              </a:spcBef>
              <a:buClr>
                <a:schemeClr val="dk1"/>
              </a:buClr>
              <a:buNone/>
            </a:pPr>
            <a:r>
              <a:rPr lang="en-IN" i="1" dirty="0" smtClean="0">
                <a:solidFill>
                  <a:schemeClr val="dk1"/>
                </a:solidFill>
                <a:latin typeface="Trebuchet MS"/>
                <a:ea typeface="Trebuchet MS"/>
                <a:cs typeface="Trebuchet MS"/>
                <a:sym typeface="Trebuchet MS"/>
              </a:rPr>
              <a:t>“</a:t>
            </a:r>
            <a:r>
              <a:rPr lang="en-IN" i="1" dirty="0" smtClean="0">
                <a:solidFill>
                  <a:schemeClr val="dk1"/>
                </a:solidFill>
                <a:latin typeface="Trebuchet MS"/>
                <a:ea typeface="Trebuchet MS"/>
                <a:cs typeface="Trebuchet MS"/>
                <a:sym typeface="Trebuchet MS"/>
                <a:hlinkClick r:id="rId2" action="ppaction://hlinkfile"/>
              </a:rPr>
              <a:t>A </a:t>
            </a:r>
            <a:r>
              <a:rPr lang="en-IN" i="1" dirty="0">
                <a:solidFill>
                  <a:schemeClr val="dk1"/>
                </a:solidFill>
                <a:latin typeface="Trebuchet MS"/>
                <a:ea typeface="Trebuchet MS"/>
                <a:cs typeface="Trebuchet MS"/>
                <a:sym typeface="Trebuchet MS"/>
                <a:hlinkClick r:id="rId2" action="ppaction://hlinkfile"/>
              </a:rPr>
              <a:t>Fistful of </a:t>
            </a:r>
            <a:r>
              <a:rPr lang="en-IN" i="1" dirty="0" err="1">
                <a:solidFill>
                  <a:schemeClr val="dk1"/>
                </a:solidFill>
                <a:latin typeface="Trebuchet MS"/>
                <a:ea typeface="Trebuchet MS"/>
                <a:cs typeface="Trebuchet MS"/>
                <a:sym typeface="Trebuchet MS"/>
                <a:hlinkClick r:id="rId2" action="ppaction://hlinkfile"/>
              </a:rPr>
              <a:t>Bitcoins</a:t>
            </a:r>
            <a:r>
              <a:rPr lang="en-IN" i="1" dirty="0">
                <a:solidFill>
                  <a:schemeClr val="dk1"/>
                </a:solidFill>
                <a:latin typeface="Trebuchet MS"/>
                <a:ea typeface="Trebuchet MS"/>
                <a:cs typeface="Trebuchet MS"/>
                <a:sym typeface="Trebuchet MS"/>
                <a:hlinkClick r:id="rId2" action="ppaction://hlinkfile"/>
              </a:rPr>
              <a:t>: Characterizing Payments Among Men with No </a:t>
            </a:r>
            <a:r>
              <a:rPr lang="en-IN" i="1" dirty="0" smtClean="0">
                <a:solidFill>
                  <a:schemeClr val="dk1"/>
                </a:solidFill>
                <a:latin typeface="Trebuchet MS"/>
                <a:ea typeface="Trebuchet MS"/>
                <a:cs typeface="Trebuchet MS"/>
                <a:sym typeface="Trebuchet MS"/>
                <a:hlinkClick r:id="rId2" action="ppaction://hlinkfile"/>
              </a:rPr>
              <a:t>Names”</a:t>
            </a:r>
            <a:r>
              <a:rPr lang="en-IN" dirty="0" smtClean="0">
                <a:sym typeface="Trebuchet MS"/>
                <a:hlinkClick r:id="rId2" action="ppaction://hlinkfile"/>
              </a:rPr>
              <a:t>    </a:t>
            </a:r>
            <a:r>
              <a:rPr lang="en-IN" dirty="0" smtClean="0">
                <a:solidFill>
                  <a:schemeClr val="dk1"/>
                </a:solidFill>
                <a:latin typeface="Trebuchet MS"/>
                <a:ea typeface="Trebuchet MS"/>
                <a:cs typeface="Trebuchet MS"/>
                <a:sym typeface="Trebuchet MS"/>
                <a:hlinkClick r:id="rId2" action="ppaction://hlinkfile"/>
              </a:rPr>
              <a:t>S</a:t>
            </a:r>
            <a:r>
              <a:rPr lang="en-IN" dirty="0">
                <a:solidFill>
                  <a:schemeClr val="dk1"/>
                </a:solidFill>
                <a:latin typeface="Trebuchet MS"/>
                <a:ea typeface="Trebuchet MS"/>
                <a:cs typeface="Trebuchet MS"/>
                <a:sym typeface="Trebuchet MS"/>
                <a:hlinkClick r:id="rId2" action="ppaction://hlinkfile"/>
              </a:rPr>
              <a:t>. </a:t>
            </a:r>
            <a:r>
              <a:rPr lang="en-IN" dirty="0" err="1">
                <a:solidFill>
                  <a:schemeClr val="dk1"/>
                </a:solidFill>
                <a:latin typeface="Trebuchet MS"/>
                <a:ea typeface="Trebuchet MS"/>
                <a:cs typeface="Trebuchet MS"/>
                <a:sym typeface="Trebuchet MS"/>
                <a:hlinkClick r:id="rId2" action="ppaction://hlinkfile"/>
              </a:rPr>
              <a:t>Meiklejohn</a:t>
            </a:r>
            <a:r>
              <a:rPr lang="en-IN" dirty="0">
                <a:solidFill>
                  <a:schemeClr val="dk1"/>
                </a:solidFill>
                <a:latin typeface="Trebuchet MS"/>
                <a:ea typeface="Trebuchet MS"/>
                <a:cs typeface="Trebuchet MS"/>
                <a:sym typeface="Trebuchet MS"/>
                <a:hlinkClick r:id="rId2" action="ppaction://hlinkfile"/>
              </a:rPr>
              <a:t> et </a:t>
            </a:r>
            <a:r>
              <a:rPr lang="en-IN" dirty="0" smtClean="0">
                <a:solidFill>
                  <a:schemeClr val="dk1"/>
                </a:solidFill>
                <a:latin typeface="Trebuchet MS"/>
                <a:ea typeface="Trebuchet MS"/>
                <a:cs typeface="Trebuchet MS"/>
                <a:sym typeface="Trebuchet MS"/>
                <a:hlinkClick r:id="rId2" action="ppaction://hlinkfile"/>
              </a:rPr>
              <a:t>al. IMC </a:t>
            </a:r>
            <a:r>
              <a:rPr lang="en-IN" dirty="0">
                <a:solidFill>
                  <a:schemeClr val="dk1"/>
                </a:solidFill>
                <a:latin typeface="Trebuchet MS"/>
                <a:ea typeface="Trebuchet MS"/>
                <a:cs typeface="Trebuchet MS"/>
                <a:sym typeface="Trebuchet MS"/>
                <a:hlinkClick r:id="rId2" action="ppaction://hlinkfile"/>
              </a:rPr>
              <a:t>2013</a:t>
            </a:r>
            <a:endParaRPr lang="en-IN" dirty="0"/>
          </a:p>
          <a:p>
            <a:pPr marL="0" indent="0">
              <a:buNone/>
            </a:pPr>
            <a:endParaRPr lang="en-IN" dirty="0"/>
          </a:p>
        </p:txBody>
      </p:sp>
    </p:spTree>
    <p:extLst>
      <p:ext uri="{BB962C8B-B14F-4D97-AF65-F5344CB8AC3E}">
        <p14:creationId xmlns:p14="http://schemas.microsoft.com/office/powerpoint/2010/main" val="3441410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smtClean="0">
                <a:solidFill>
                  <a:schemeClr val="dk1"/>
                </a:solidFill>
                <a:latin typeface="Trebuchet MS"/>
                <a:ea typeface="Trebuchet MS"/>
                <a:cs typeface="Trebuchet MS"/>
                <a:sym typeface="Trebuchet MS"/>
              </a:rPr>
              <a:t>Tor</a:t>
            </a:r>
            <a:endParaRPr dirty="0"/>
          </a:p>
        </p:txBody>
      </p:sp>
      <p:sp>
        <p:nvSpPr>
          <p:cNvPr id="113" name="Google Shape;113;p21"/>
          <p:cNvSpPr txBox="1">
            <a:spLocks noGrp="1"/>
          </p:cNvSpPr>
          <p:nvPr>
            <p:ph type="body" idx="1"/>
          </p:nvPr>
        </p:nvSpPr>
        <p:spPr>
          <a:xfrm>
            <a:off x="609601" y="1600200"/>
            <a:ext cx="5326033"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sz="2000" dirty="0">
                <a:solidFill>
                  <a:schemeClr val="dk1"/>
                </a:solidFill>
                <a:latin typeface="Trebuchet MS"/>
                <a:ea typeface="Trebuchet MS"/>
                <a:cs typeface="Trebuchet MS"/>
                <a:sym typeface="Trebuchet MS"/>
              </a:rPr>
              <a:t>Anonymous communication network</a:t>
            </a:r>
            <a:endParaRPr sz="2000" dirty="0"/>
          </a:p>
          <a:p>
            <a:pPr marL="0" indent="0">
              <a:buClr>
                <a:schemeClr val="dk1"/>
              </a:buClr>
            </a:pPr>
            <a:endParaRPr lang="en-IN" sz="1800" dirty="0" smtClean="0">
              <a:solidFill>
                <a:schemeClr val="dk1"/>
              </a:solidFill>
              <a:latin typeface="Trebuchet MS"/>
              <a:ea typeface="Trebuchet MS"/>
              <a:cs typeface="Trebuchet MS"/>
              <a:sym typeface="Trebuchet MS"/>
            </a:endParaRPr>
          </a:p>
          <a:p>
            <a:pPr marL="0" indent="0">
              <a:buClr>
                <a:schemeClr val="dk1"/>
              </a:buClr>
            </a:pPr>
            <a:r>
              <a:rPr lang="en-IN" sz="1800" dirty="0" smtClean="0">
                <a:solidFill>
                  <a:schemeClr val="dk1"/>
                </a:solidFill>
                <a:latin typeface="Trebuchet MS"/>
                <a:ea typeface="Trebuchet MS"/>
                <a:cs typeface="Trebuchet MS"/>
                <a:sym typeface="Trebuchet MS"/>
              </a:rPr>
              <a:t>Anonymous </a:t>
            </a:r>
            <a:r>
              <a:rPr lang="en-IN" sz="1800" dirty="0">
                <a:solidFill>
                  <a:schemeClr val="dk1"/>
                </a:solidFill>
                <a:latin typeface="Trebuchet MS"/>
                <a:ea typeface="Trebuchet MS"/>
                <a:cs typeface="Trebuchet MS"/>
                <a:sym typeface="Trebuchet MS"/>
              </a:rPr>
              <a:t>communication enables bad actions at least as much as anonymous cash flows do.</a:t>
            </a:r>
            <a:endParaRPr sz="1800" dirty="0">
              <a:solidFill>
                <a:schemeClr val="dk1"/>
              </a:solidFill>
              <a:latin typeface="Trebuchet MS"/>
              <a:ea typeface="Trebuchet MS"/>
              <a:cs typeface="Trebuchet MS"/>
              <a:sym typeface="Trebuchet MS"/>
            </a:endParaRPr>
          </a:p>
          <a:p>
            <a:pPr marL="0" indent="0">
              <a:buClr>
                <a:schemeClr val="dk1"/>
              </a:buClr>
            </a:pPr>
            <a:endParaRPr lang="en" sz="1800" dirty="0" smtClean="0">
              <a:solidFill>
                <a:schemeClr val="dk1"/>
              </a:solidFill>
              <a:latin typeface="Trebuchet MS"/>
              <a:ea typeface="Trebuchet MS"/>
              <a:cs typeface="Trebuchet MS"/>
              <a:sym typeface="Trebuchet MS"/>
            </a:endParaRPr>
          </a:p>
          <a:p>
            <a:pPr marL="0" indent="0">
              <a:buClr>
                <a:schemeClr val="dk1"/>
              </a:buClr>
            </a:pPr>
            <a:r>
              <a:rPr lang="en" sz="1800" dirty="0" smtClean="0">
                <a:solidFill>
                  <a:schemeClr val="dk1"/>
                </a:solidFill>
                <a:latin typeface="Trebuchet MS"/>
                <a:ea typeface="Trebuchet MS"/>
                <a:cs typeface="Trebuchet MS"/>
                <a:sym typeface="Trebuchet MS"/>
              </a:rPr>
              <a:t>Sender </a:t>
            </a:r>
            <a:r>
              <a:rPr lang="en" sz="1800" dirty="0">
                <a:solidFill>
                  <a:schemeClr val="dk1"/>
                </a:solidFill>
                <a:latin typeface="Trebuchet MS"/>
                <a:ea typeface="Trebuchet MS"/>
                <a:cs typeface="Trebuchet MS"/>
                <a:sym typeface="Trebuchet MS"/>
              </a:rPr>
              <a:t>and receiver of message </a:t>
            </a:r>
            <a:r>
              <a:rPr lang="en" sz="1800" u="sng" dirty="0">
                <a:solidFill>
                  <a:schemeClr val="dk1"/>
                </a:solidFill>
                <a:latin typeface="Trebuchet MS"/>
                <a:ea typeface="Trebuchet MS"/>
                <a:cs typeface="Trebuchet MS"/>
                <a:sym typeface="Trebuchet MS"/>
              </a:rPr>
              <a:t>unlinkable</a:t>
            </a:r>
            <a:endParaRPr sz="1800" u="sng" dirty="0">
              <a:solidFill>
                <a:schemeClr val="dk1"/>
              </a:solidFill>
              <a:latin typeface="Trebuchet MS"/>
              <a:ea typeface="Trebuchet MS"/>
              <a:cs typeface="Trebuchet MS"/>
              <a:sym typeface="Trebuchet MS"/>
            </a:endParaRPr>
          </a:p>
        </p:txBody>
      </p:sp>
      <p:sp>
        <p:nvSpPr>
          <p:cNvPr id="114" name="Google Shape;114;p21"/>
          <p:cNvSpPr txBox="1">
            <a:spLocks noGrp="1"/>
          </p:cNvSpPr>
          <p:nvPr>
            <p:ph type="body" idx="2"/>
          </p:nvPr>
        </p:nvSpPr>
        <p:spPr>
          <a:xfrm>
            <a:off x="6256365" y="914400"/>
            <a:ext cx="5326033" cy="56533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rgbClr val="A3A3A3"/>
              </a:buClr>
            </a:pPr>
            <a:r>
              <a:rPr lang="en-IN" sz="1800" dirty="0" smtClean="0"/>
              <a:t>Some </a:t>
            </a:r>
            <a:r>
              <a:rPr lang="en-IN" sz="1800" dirty="0"/>
              <a:t>activities, good and bad, that can happen on the Tor network</a:t>
            </a:r>
            <a:r>
              <a:rPr lang="en-IN" sz="1800" dirty="0" smtClean="0"/>
              <a:t>. Good used by:</a:t>
            </a:r>
          </a:p>
          <a:p>
            <a:pPr marL="342900" indent="-342900">
              <a:buClr>
                <a:srgbClr val="A3A3A3"/>
              </a:buClr>
              <a:buFont typeface="Arial" panose="020B0604020202020204" pitchFamily="34" charset="0"/>
              <a:buChar char="•"/>
            </a:pPr>
            <a:r>
              <a:rPr lang="en" sz="2000" dirty="0" smtClean="0">
                <a:solidFill>
                  <a:schemeClr val="dk1"/>
                </a:solidFill>
                <a:latin typeface="Trebuchet MS"/>
                <a:ea typeface="Trebuchet MS"/>
                <a:cs typeface="Trebuchet MS"/>
                <a:sym typeface="Trebuchet MS"/>
              </a:rPr>
              <a:t>Normal people wh</a:t>
            </a:r>
            <a:r>
              <a:rPr lang="en-IN" sz="2000" dirty="0" smtClean="0"/>
              <a:t>o </a:t>
            </a:r>
            <a:r>
              <a:rPr lang="en-IN" sz="2000" dirty="0"/>
              <a:t>want to protect themselves from being trapped online by marketers </a:t>
            </a:r>
            <a:r>
              <a:rPr lang="en-IN" sz="2000" dirty="0" smtClean="0"/>
              <a:t>or various </a:t>
            </a:r>
            <a:r>
              <a:rPr lang="en-IN" sz="2000" dirty="0"/>
              <a:t>other privacy properties online, when they're browsing websites</a:t>
            </a:r>
            <a:endParaRPr sz="2000" dirty="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Journalists, </a:t>
            </a:r>
            <a:r>
              <a:rPr lang="en-IN" sz="2000" dirty="0">
                <a:latin typeface="Trebuchet MS" panose="020B0603020202020204" pitchFamily="34" charset="0"/>
              </a:rPr>
              <a:t>activists and dissidents </a:t>
            </a:r>
            <a:r>
              <a:rPr lang="en-IN" sz="2000" dirty="0"/>
              <a:t>to not be recognised </a:t>
            </a:r>
            <a:endParaRPr lang="en-IN" sz="2000" dirty="0" smtClean="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Law enforcement </a:t>
            </a:r>
            <a:r>
              <a:rPr lang="en-IN" sz="2000" dirty="0"/>
              <a:t>since they want to be able to visit websites not revealing that their IP address is coming from a law enforcement </a:t>
            </a:r>
            <a:r>
              <a:rPr lang="en-IN" sz="2000" dirty="0" smtClean="0"/>
              <a:t>block</a:t>
            </a:r>
          </a:p>
          <a:p>
            <a:pPr marL="0" indent="0">
              <a:buClr>
                <a:srgbClr val="A3A3A3"/>
              </a:buClr>
              <a:buSzPts val="2400"/>
            </a:pPr>
            <a:r>
              <a:rPr lang="en-IN" sz="2000" dirty="0" smtClean="0"/>
              <a:t>       </a:t>
            </a:r>
          </a:p>
          <a:p>
            <a:pPr marL="0" indent="0">
              <a:buClr>
                <a:srgbClr val="A3A3A3"/>
              </a:buClr>
              <a:buSzPts val="2400"/>
            </a:pPr>
            <a:r>
              <a:rPr lang="en-IN" sz="2000" dirty="0" smtClean="0"/>
              <a:t>Bad  used </a:t>
            </a:r>
            <a:r>
              <a:rPr lang="en-IN" sz="2000" dirty="0"/>
              <a:t>by:</a:t>
            </a:r>
          </a:p>
          <a:p>
            <a:pPr indent="-609585">
              <a:buClr>
                <a:srgbClr val="A3A3A3"/>
              </a:buClr>
              <a:buSzPts val="2400"/>
              <a:buFont typeface="Arial"/>
              <a:buChar char="•"/>
            </a:pPr>
            <a:r>
              <a:rPr lang="en-IN" sz="2000" dirty="0" smtClean="0"/>
              <a:t>botnets </a:t>
            </a:r>
            <a:r>
              <a:rPr lang="en-IN" sz="2000" dirty="0"/>
              <a:t>to spread </a:t>
            </a:r>
            <a:r>
              <a:rPr lang="en-IN" sz="2000" dirty="0" smtClean="0">
                <a:latin typeface="Trebuchet MS" panose="020B0603020202020204" pitchFamily="34" charset="0"/>
              </a:rPr>
              <a:t>malwares</a:t>
            </a:r>
            <a:r>
              <a:rPr lang="en-IN" sz="2000" dirty="0" smtClean="0"/>
              <a:t> </a:t>
            </a:r>
            <a:r>
              <a:rPr lang="en-IN" sz="2000" dirty="0"/>
              <a:t>between nodes in the network </a:t>
            </a:r>
            <a:endParaRPr lang="en-IN" sz="2000" dirty="0" smtClean="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Child </a:t>
            </a:r>
            <a:r>
              <a:rPr lang="en" sz="2000" dirty="0">
                <a:solidFill>
                  <a:schemeClr val="dk1"/>
                </a:solidFill>
                <a:latin typeface="Trebuchet MS"/>
                <a:ea typeface="Trebuchet MS"/>
                <a:cs typeface="Trebuchet MS"/>
                <a:sym typeface="Trebuchet MS"/>
              </a:rPr>
              <a:t>pornographers</a:t>
            </a:r>
            <a:endParaRPr sz="2000" dirty="0"/>
          </a:p>
          <a:p>
            <a:pPr indent="-406390">
              <a:buClr>
                <a:srgbClr val="A3A3A3"/>
              </a:buClr>
              <a:buSzPts val="2400"/>
            </a:pPr>
            <a:endParaRPr sz="2000" dirty="0">
              <a:solidFill>
                <a:schemeClr val="dk1"/>
              </a:solidFill>
              <a:latin typeface="Trebuchet MS"/>
              <a:ea typeface="Trebuchet MS"/>
              <a:cs typeface="Trebuchet MS"/>
              <a:sym typeface="Trebuchet MS"/>
            </a:endParaRPr>
          </a:p>
          <a:p>
            <a:pPr marL="0" indent="0">
              <a:buClr>
                <a:srgbClr val="A3A3A3"/>
              </a:buClr>
            </a:pPr>
            <a:r>
              <a:rPr lang="en" sz="2000" dirty="0">
                <a:solidFill>
                  <a:schemeClr val="dk1"/>
                </a:solidFill>
                <a:latin typeface="Trebuchet MS"/>
                <a:ea typeface="Trebuchet MS"/>
                <a:cs typeface="Trebuchet MS"/>
                <a:sym typeface="Trebuchet MS"/>
              </a:rPr>
              <a:t>Funded by (among others):</a:t>
            </a:r>
            <a:endParaRPr sz="2000" dirty="0"/>
          </a:p>
          <a:p>
            <a:pPr marL="0" indent="0">
              <a:buClr>
                <a:srgbClr val="A3A3A3"/>
              </a:buClr>
            </a:pPr>
            <a:r>
              <a:rPr lang="en" sz="2000" dirty="0">
                <a:solidFill>
                  <a:schemeClr val="dk1"/>
                </a:solidFill>
                <a:latin typeface="Trebuchet MS"/>
                <a:ea typeface="Trebuchet MS"/>
                <a:cs typeface="Trebuchet MS"/>
                <a:sym typeface="Trebuchet MS"/>
              </a:rPr>
              <a:t>U.S. State Department</a:t>
            </a:r>
            <a:endParaRPr sz="2000" dirty="0">
              <a:solidFill>
                <a:schemeClr val="dk1"/>
              </a:solidFill>
              <a:latin typeface="Trebuchet MS"/>
              <a:ea typeface="Trebuchet MS"/>
              <a:cs typeface="Trebuchet MS"/>
              <a:sym typeface="Trebuchet MS"/>
            </a:endParaRPr>
          </a:p>
        </p:txBody>
      </p:sp>
      <p:pic>
        <p:nvPicPr>
          <p:cNvPr id="115" name="Google Shape;115;p21" descr="http://doi.ieeecomputersociety.org/cms/Computer.org/dl/trans/td/2009/05/figures/ttd20090506951.gif"/>
          <p:cNvPicPr preferRelativeResize="0"/>
          <p:nvPr/>
        </p:nvPicPr>
        <p:blipFill/>
        <p:spPr>
          <a:xfrm>
            <a:off x="508000" y="4451469"/>
            <a:ext cx="4953000" cy="2210027"/>
          </a:xfrm>
          <a:prstGeom prst="rect">
            <a:avLst/>
          </a:prstGeom>
          <a:noFill/>
          <a:ln>
            <a:noFill/>
          </a:ln>
        </p:spPr>
      </p:pic>
      <p:pic>
        <p:nvPicPr>
          <p:cNvPr id="2" name="Picture 1"/>
          <p:cNvPicPr>
            <a:picLocks noChangeAspect="1"/>
          </p:cNvPicPr>
          <p:nvPr/>
        </p:nvPicPr>
        <p:blipFill>
          <a:blip r:embed="rId3"/>
          <a:stretch>
            <a:fillRect/>
          </a:stretch>
        </p:blipFill>
        <p:spPr>
          <a:xfrm>
            <a:off x="533400" y="4419600"/>
            <a:ext cx="4495800" cy="2143125"/>
          </a:xfrm>
          <a:prstGeom prst="rect">
            <a:avLst/>
          </a:prstGeom>
        </p:spPr>
      </p:pic>
    </p:spTree>
    <p:extLst>
      <p:ext uri="{BB962C8B-B14F-4D97-AF65-F5344CB8AC3E}">
        <p14:creationId xmlns:p14="http://schemas.microsoft.com/office/powerpoint/2010/main" val="10045684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09600" y="274637"/>
            <a:ext cx="10972800" cy="2587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2800" b="1" dirty="0">
                <a:solidFill>
                  <a:schemeClr val="dk1"/>
                </a:solidFill>
                <a:latin typeface="Trebuchet MS"/>
                <a:ea typeface="Trebuchet MS"/>
                <a:cs typeface="Trebuchet MS"/>
                <a:sym typeface="Trebuchet MS"/>
              </a:rPr>
              <a:t>Anonymous </a:t>
            </a:r>
            <a:r>
              <a:rPr lang="en" sz="2800" b="1" dirty="0" smtClean="0">
                <a:solidFill>
                  <a:schemeClr val="dk1"/>
                </a:solidFill>
                <a:latin typeface="Trebuchet MS"/>
                <a:ea typeface="Trebuchet MS"/>
                <a:cs typeface="Trebuchet MS"/>
                <a:sym typeface="Trebuchet MS"/>
              </a:rPr>
              <a:t>e-cash</a:t>
            </a:r>
            <a:endParaRPr sz="2800" b="1" dirty="0">
              <a:solidFill>
                <a:schemeClr val="dk1"/>
              </a:solidFill>
              <a:latin typeface="Trebuchet MS"/>
              <a:ea typeface="Trebuchet MS"/>
              <a:cs typeface="Trebuchet MS"/>
              <a:sym typeface="Trebuchet MS"/>
            </a:endParaRPr>
          </a:p>
        </p:txBody>
      </p:sp>
      <p:sp>
        <p:nvSpPr>
          <p:cNvPr id="121" name="Google Shape;121;p22"/>
          <p:cNvSpPr txBox="1">
            <a:spLocks noGrp="1"/>
          </p:cNvSpPr>
          <p:nvPr>
            <p:ph type="body" idx="1"/>
          </p:nvPr>
        </p:nvSpPr>
        <p:spPr>
          <a:xfrm>
            <a:off x="609600" y="381000"/>
            <a:ext cx="10972800" cy="66294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sz="1800" dirty="0" smtClean="0">
                <a:solidFill>
                  <a:schemeClr val="dk1"/>
                </a:solidFill>
                <a:latin typeface="Trebuchet MS"/>
                <a:ea typeface="Trebuchet MS"/>
                <a:cs typeface="Trebuchet MS"/>
                <a:sym typeface="Trebuchet MS"/>
              </a:rPr>
              <a:t>David </a:t>
            </a:r>
            <a:r>
              <a:rPr lang="en" sz="1800" dirty="0">
                <a:solidFill>
                  <a:schemeClr val="dk1"/>
                </a:solidFill>
                <a:latin typeface="Trebuchet MS"/>
                <a:ea typeface="Trebuchet MS"/>
                <a:cs typeface="Trebuchet MS"/>
                <a:sym typeface="Trebuchet MS"/>
              </a:rPr>
              <a:t>Chaum, 1982</a:t>
            </a:r>
            <a:endParaRPr sz="1800" dirty="0"/>
          </a:p>
          <a:p>
            <a:pPr marL="0" indent="0">
              <a:spcBef>
                <a:spcPts val="0"/>
              </a:spcBef>
              <a:buClr>
                <a:schemeClr val="dk1"/>
              </a:buClr>
              <a:buNone/>
            </a:pPr>
            <a:endParaRPr sz="18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1800" u="sng" dirty="0">
                <a:solidFill>
                  <a:schemeClr val="dk1"/>
                </a:solidFill>
                <a:latin typeface="Trebuchet MS"/>
                <a:ea typeface="Trebuchet MS"/>
                <a:cs typeface="Trebuchet MS"/>
                <a:sym typeface="Trebuchet MS"/>
              </a:rPr>
              <a:t>Blind signature</a:t>
            </a:r>
            <a:r>
              <a:rPr lang="en" sz="1800" dirty="0">
                <a:solidFill>
                  <a:schemeClr val="dk1"/>
                </a:solidFill>
                <a:latin typeface="Trebuchet MS"/>
                <a:ea typeface="Trebuchet MS"/>
                <a:cs typeface="Trebuchet MS"/>
                <a:sym typeface="Trebuchet MS"/>
              </a:rPr>
              <a:t>: </a:t>
            </a:r>
            <a:r>
              <a:rPr lang="en" sz="1800" dirty="0" smtClean="0">
                <a:solidFill>
                  <a:schemeClr val="dk1"/>
                </a:solidFill>
                <a:latin typeface="Trebuchet MS"/>
                <a:ea typeface="Trebuchet MS"/>
                <a:cs typeface="Trebuchet MS"/>
                <a:sym typeface="Trebuchet MS"/>
              </a:rPr>
              <a:t>two-party protocol</a:t>
            </a:r>
            <a:endParaRPr lang="en" sz="1800" dirty="0">
              <a:solidFill>
                <a:schemeClr val="dk1"/>
              </a:solidFill>
              <a:latin typeface="Trebuchet MS"/>
              <a:ea typeface="Trebuchet MS"/>
              <a:cs typeface="Trebuchet MS"/>
              <a:sym typeface="Trebuchet MS"/>
            </a:endParaRPr>
          </a:p>
        </p:txBody>
      </p:sp>
      <p:pic>
        <p:nvPicPr>
          <p:cNvPr id="2" name="Picture 1"/>
          <p:cNvPicPr>
            <a:picLocks noChangeAspect="1"/>
          </p:cNvPicPr>
          <p:nvPr/>
        </p:nvPicPr>
        <p:blipFill>
          <a:blip r:embed="rId3"/>
          <a:stretch>
            <a:fillRect/>
          </a:stretch>
        </p:blipFill>
        <p:spPr>
          <a:xfrm>
            <a:off x="304800" y="1600200"/>
            <a:ext cx="7772400" cy="3962400"/>
          </a:xfrm>
          <a:prstGeom prst="rect">
            <a:avLst/>
          </a:prstGeom>
        </p:spPr>
      </p:pic>
      <p:sp>
        <p:nvSpPr>
          <p:cNvPr id="3" name="Rectangle 2"/>
          <p:cNvSpPr/>
          <p:nvPr/>
        </p:nvSpPr>
        <p:spPr>
          <a:xfrm>
            <a:off x="7848600" y="914400"/>
            <a:ext cx="3048000" cy="2923877"/>
          </a:xfrm>
          <a:prstGeom prst="rect">
            <a:avLst/>
          </a:prstGeom>
        </p:spPr>
        <p:txBody>
          <a:bodyPr wrap="square">
            <a:spAutoFit/>
          </a:bodyPr>
          <a:lstStyle/>
          <a:p>
            <a:pPr algn="just"/>
            <a:r>
              <a:rPr lang="en-IN" sz="2400" b="1" dirty="0"/>
              <a:t>Key Point:</a:t>
            </a:r>
          </a:p>
          <a:p>
            <a:pPr algn="just"/>
            <a:r>
              <a:rPr lang="en-IN" sz="2000" b="1" dirty="0"/>
              <a:t>User Identity is Known During the Request</a:t>
            </a:r>
            <a:r>
              <a:rPr lang="en-IN" sz="2000" dirty="0"/>
              <a:t>: The bank knows the user requesting e-cash, but only to ensure they have enough funds. This doesn't affect the anonymity of later transactions.</a:t>
            </a:r>
          </a:p>
        </p:txBody>
      </p:sp>
    </p:spTree>
    <p:extLst>
      <p:ext uri="{BB962C8B-B14F-4D97-AF65-F5344CB8AC3E}">
        <p14:creationId xmlns:p14="http://schemas.microsoft.com/office/powerpoint/2010/main" val="369897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dk2"/>
                </a:solidFill>
                <a:latin typeface="Trebuchet MS"/>
                <a:ea typeface="Trebuchet MS"/>
                <a:cs typeface="Trebuchet MS"/>
                <a:sym typeface="Trebuchet MS"/>
              </a:rPr>
              <a:t>Mixing</a:t>
            </a:r>
            <a:endParaRPr sz="4000" dirty="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27034558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000" b="1">
                <a:solidFill>
                  <a:schemeClr val="dk1"/>
                </a:solidFill>
                <a:latin typeface="Trebuchet MS"/>
                <a:ea typeface="Trebuchet MS"/>
                <a:cs typeface="Trebuchet MS"/>
                <a:sym typeface="Trebuchet MS"/>
              </a:rPr>
              <a:t>To protect anonymity, use an intermediary</a:t>
            </a:r>
            <a:endParaRPr sz="4000" b="1">
              <a:solidFill>
                <a:schemeClr val="dk1"/>
              </a:solidFill>
              <a:latin typeface="Trebuchet MS"/>
              <a:ea typeface="Trebuchet MS"/>
              <a:cs typeface="Trebuchet MS"/>
              <a:sym typeface="Trebuchet MS"/>
            </a:endParaRPr>
          </a:p>
        </p:txBody>
      </p:sp>
      <p:sp>
        <p:nvSpPr>
          <p:cNvPr id="296" name="Google Shape;296;p41"/>
          <p:cNvSpPr/>
          <p:nvPr/>
        </p:nvSpPr>
        <p:spPr>
          <a:xfrm>
            <a:off x="4495800" y="2209800"/>
            <a:ext cx="26670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297" name="Google Shape;297;p41"/>
          <p:cNvSpPr/>
          <p:nvPr/>
        </p:nvSpPr>
        <p:spPr>
          <a:xfrm>
            <a:off x="5863264" y="29210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98" name="Google Shape;298;p41"/>
          <p:cNvSpPr/>
          <p:nvPr/>
        </p:nvSpPr>
        <p:spPr>
          <a:xfrm>
            <a:off x="3733800" y="29718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299" name="Google Shape;299;p41" descr="User 1 by cyberscooty - "/>
          <p:cNvPicPr preferRelativeResize="0"/>
          <p:nvPr/>
        </p:nvPicPr>
        <p:blipFill rotWithShape="1">
          <a:blip r:embed="rId3">
            <a:alphaModFix/>
          </a:blip>
          <a:srcRect/>
          <a:stretch/>
        </p:blipFill>
        <p:spPr>
          <a:xfrm>
            <a:off x="2590800" y="2482046"/>
            <a:ext cx="763213" cy="948091"/>
          </a:xfrm>
          <a:prstGeom prst="rect">
            <a:avLst/>
          </a:prstGeom>
          <a:noFill/>
          <a:ln>
            <a:noFill/>
          </a:ln>
        </p:spPr>
      </p:pic>
      <p:pic>
        <p:nvPicPr>
          <p:cNvPr id="300" name="Google Shape;300;p41" descr="User 2 by cyberscooty - "/>
          <p:cNvPicPr preferRelativeResize="0"/>
          <p:nvPr/>
        </p:nvPicPr>
        <p:blipFill rotWithShape="1">
          <a:blip r:embed="rId4">
            <a:alphaModFix/>
          </a:blip>
          <a:srcRect/>
          <a:stretch/>
        </p:blipFill>
        <p:spPr>
          <a:xfrm>
            <a:off x="2641928" y="4986955"/>
            <a:ext cx="763213" cy="948091"/>
          </a:xfrm>
          <a:prstGeom prst="rect">
            <a:avLst/>
          </a:prstGeom>
          <a:noFill/>
          <a:ln>
            <a:noFill/>
          </a:ln>
        </p:spPr>
      </p:pic>
      <p:pic>
        <p:nvPicPr>
          <p:cNvPr id="301" name="Google Shape;301;p41" descr="User 3 by cyberscooty - User #3 - special remix for a demand"/>
          <p:cNvPicPr preferRelativeResize="0"/>
          <p:nvPr/>
        </p:nvPicPr>
        <p:blipFill rotWithShape="1">
          <a:blip r:embed="rId5">
            <a:alphaModFix/>
          </a:blip>
          <a:srcRect/>
          <a:stretch/>
        </p:blipFill>
        <p:spPr>
          <a:xfrm>
            <a:off x="2641739" y="3775669"/>
            <a:ext cx="749520" cy="931081"/>
          </a:xfrm>
          <a:prstGeom prst="rect">
            <a:avLst/>
          </a:prstGeom>
          <a:noFill/>
          <a:ln>
            <a:noFill/>
          </a:ln>
        </p:spPr>
      </p:pic>
      <p:cxnSp>
        <p:nvCxnSpPr>
          <p:cNvPr id="302" name="Google Shape;302;p41"/>
          <p:cNvCxnSpPr>
            <a:stCxn id="298" idx="6"/>
            <a:endCxn id="297" idx="2"/>
          </p:cNvCxnSpPr>
          <p:nvPr/>
        </p:nvCxnSpPr>
        <p:spPr>
          <a:xfrm flipV="1">
            <a:off x="3835400" y="2971800"/>
            <a:ext cx="2027864" cy="50800"/>
          </a:xfrm>
          <a:prstGeom prst="straightConnector1">
            <a:avLst/>
          </a:prstGeom>
          <a:noFill/>
          <a:ln w="19050" cap="flat" cmpd="sng">
            <a:solidFill>
              <a:srgbClr val="A3A3A3"/>
            </a:solidFill>
            <a:prstDash val="solid"/>
            <a:round/>
            <a:headEnd type="none" w="sm" len="sm"/>
            <a:tailEnd type="none" w="sm" len="sm"/>
          </a:ln>
        </p:spPr>
      </p:cxnSp>
      <p:sp>
        <p:nvSpPr>
          <p:cNvPr id="303" name="Google Shape;303;p41"/>
          <p:cNvSpPr/>
          <p:nvPr/>
        </p:nvSpPr>
        <p:spPr>
          <a:xfrm>
            <a:off x="5864445" y="41904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04" name="Google Shape;304;p41"/>
          <p:cNvSpPr/>
          <p:nvPr/>
        </p:nvSpPr>
        <p:spPr>
          <a:xfrm>
            <a:off x="3702491" y="41904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05" name="Google Shape;305;p41"/>
          <p:cNvCxnSpPr>
            <a:stCxn id="304" idx="6"/>
            <a:endCxn id="303" idx="2"/>
          </p:cNvCxnSpPr>
          <p:nvPr/>
        </p:nvCxnSpPr>
        <p:spPr>
          <a:xfrm>
            <a:off x="3804091" y="4241209"/>
            <a:ext cx="2060400" cy="0"/>
          </a:xfrm>
          <a:prstGeom prst="straightConnector1">
            <a:avLst/>
          </a:prstGeom>
          <a:noFill/>
          <a:ln w="19050" cap="flat" cmpd="sng">
            <a:solidFill>
              <a:srgbClr val="A3A3A3"/>
            </a:solidFill>
            <a:prstDash val="solid"/>
            <a:round/>
            <a:headEnd type="none" w="sm" len="sm"/>
            <a:tailEnd type="none" w="sm" len="sm"/>
          </a:ln>
        </p:spPr>
      </p:cxnSp>
      <p:sp>
        <p:nvSpPr>
          <p:cNvPr id="306" name="Google Shape;306;p41"/>
          <p:cNvSpPr/>
          <p:nvPr/>
        </p:nvSpPr>
        <p:spPr>
          <a:xfrm>
            <a:off x="5864445" y="54102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07" name="Google Shape;307;p41"/>
          <p:cNvSpPr/>
          <p:nvPr/>
        </p:nvSpPr>
        <p:spPr>
          <a:xfrm>
            <a:off x="3702491" y="54102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08" name="Google Shape;308;p41"/>
          <p:cNvCxnSpPr>
            <a:stCxn id="307" idx="6"/>
            <a:endCxn id="306" idx="2"/>
          </p:cNvCxnSpPr>
          <p:nvPr/>
        </p:nvCxnSpPr>
        <p:spPr>
          <a:xfrm>
            <a:off x="3804091" y="5461000"/>
            <a:ext cx="2060400" cy="0"/>
          </a:xfrm>
          <a:prstGeom prst="straightConnector1">
            <a:avLst/>
          </a:prstGeom>
          <a:noFill/>
          <a:ln w="19050" cap="flat" cmpd="sng">
            <a:solidFill>
              <a:srgbClr val="A3A3A3"/>
            </a:solidFill>
            <a:prstDash val="solid"/>
            <a:round/>
            <a:headEnd type="none" w="sm" len="sm"/>
            <a:tailEnd type="none" w="sm" len="sm"/>
          </a:ln>
        </p:spPr>
      </p:cxnSp>
      <p:pic>
        <p:nvPicPr>
          <p:cNvPr id="16" name="Google Shape;299;p41" descr="User 1 by cyberscooty - "/>
          <p:cNvPicPr preferRelativeResize="0"/>
          <p:nvPr/>
        </p:nvPicPr>
        <p:blipFill rotWithShape="1">
          <a:blip r:embed="rId3">
            <a:alphaModFix/>
          </a:blip>
          <a:srcRect/>
          <a:stretch/>
        </p:blipFill>
        <p:spPr>
          <a:xfrm>
            <a:off x="7696200" y="3581400"/>
            <a:ext cx="763213" cy="1024291"/>
          </a:xfrm>
          <a:prstGeom prst="rect">
            <a:avLst/>
          </a:prstGeom>
          <a:noFill/>
          <a:ln>
            <a:noFill/>
          </a:ln>
        </p:spPr>
      </p:pic>
      <p:pic>
        <p:nvPicPr>
          <p:cNvPr id="17" name="Google Shape;301;p41" descr="User 3 by cyberscooty - User #3 - special remix for a demand"/>
          <p:cNvPicPr preferRelativeResize="0"/>
          <p:nvPr/>
        </p:nvPicPr>
        <p:blipFill rotWithShape="1">
          <a:blip r:embed="rId5">
            <a:alphaModFix/>
          </a:blip>
          <a:srcRect/>
          <a:stretch/>
        </p:blipFill>
        <p:spPr>
          <a:xfrm>
            <a:off x="7620000" y="4876800"/>
            <a:ext cx="749520" cy="931081"/>
          </a:xfrm>
          <a:prstGeom prst="rect">
            <a:avLst/>
          </a:prstGeom>
          <a:noFill/>
          <a:ln>
            <a:noFill/>
          </a:ln>
        </p:spPr>
      </p:pic>
      <p:pic>
        <p:nvPicPr>
          <p:cNvPr id="18" name="Google Shape;300;p41" descr="User 2 by cyberscooty - "/>
          <p:cNvPicPr preferRelativeResize="0"/>
          <p:nvPr/>
        </p:nvPicPr>
        <p:blipFill rotWithShape="1">
          <a:blip r:embed="rId4">
            <a:alphaModFix/>
          </a:blip>
          <a:srcRect/>
          <a:stretch/>
        </p:blipFill>
        <p:spPr>
          <a:xfrm>
            <a:off x="7543800" y="2209800"/>
            <a:ext cx="763213" cy="948091"/>
          </a:xfrm>
          <a:prstGeom prst="rect">
            <a:avLst/>
          </a:prstGeom>
          <a:noFill/>
          <a:ln>
            <a:noFill/>
          </a:ln>
        </p:spPr>
      </p:pic>
      <p:pic>
        <p:nvPicPr>
          <p:cNvPr id="4" name="Picture 3"/>
          <p:cNvPicPr>
            <a:picLocks noChangeAspect="1"/>
          </p:cNvPicPr>
          <p:nvPr/>
        </p:nvPicPr>
        <p:blipFill>
          <a:blip r:embed="rId6"/>
          <a:stretch>
            <a:fillRect/>
          </a:stretch>
        </p:blipFill>
        <p:spPr>
          <a:xfrm>
            <a:off x="6019800" y="2971800"/>
            <a:ext cx="1560711" cy="18290"/>
          </a:xfrm>
          <a:prstGeom prst="rect">
            <a:avLst/>
          </a:prstGeom>
        </p:spPr>
      </p:pic>
      <p:pic>
        <p:nvPicPr>
          <p:cNvPr id="5" name="Picture 4"/>
          <p:cNvPicPr>
            <a:picLocks noChangeAspect="1"/>
          </p:cNvPicPr>
          <p:nvPr/>
        </p:nvPicPr>
        <p:blipFill>
          <a:blip r:embed="rId6"/>
          <a:stretch>
            <a:fillRect/>
          </a:stretch>
        </p:blipFill>
        <p:spPr>
          <a:xfrm>
            <a:off x="5943600" y="4191000"/>
            <a:ext cx="1560711" cy="18290"/>
          </a:xfrm>
          <a:prstGeom prst="rect">
            <a:avLst/>
          </a:prstGeom>
        </p:spPr>
      </p:pic>
      <p:pic>
        <p:nvPicPr>
          <p:cNvPr id="6" name="Picture 5"/>
          <p:cNvPicPr>
            <a:picLocks noChangeAspect="1"/>
          </p:cNvPicPr>
          <p:nvPr/>
        </p:nvPicPr>
        <p:blipFill>
          <a:blip r:embed="rId6"/>
          <a:stretch>
            <a:fillRect/>
          </a:stretch>
        </p:blipFill>
        <p:spPr>
          <a:xfrm>
            <a:off x="6096000" y="5486400"/>
            <a:ext cx="1560711" cy="18290"/>
          </a:xfrm>
          <a:prstGeom prst="rect">
            <a:avLst/>
          </a:prstGeom>
        </p:spPr>
      </p:pic>
      <p:sp>
        <p:nvSpPr>
          <p:cNvPr id="2" name="Rectangle 1"/>
          <p:cNvSpPr/>
          <p:nvPr/>
        </p:nvSpPr>
        <p:spPr>
          <a:xfrm>
            <a:off x="1752600" y="6172200"/>
            <a:ext cx="8839200" cy="646331"/>
          </a:xfrm>
          <a:prstGeom prst="rect">
            <a:avLst/>
          </a:prstGeom>
        </p:spPr>
        <p:txBody>
          <a:bodyPr wrap="square">
            <a:spAutoFit/>
          </a:bodyPr>
          <a:lstStyle/>
          <a:p>
            <a:r>
              <a:rPr lang="en-IN" b="1" dirty="0"/>
              <a:t>You Get Untraceable Bitcoin</a:t>
            </a:r>
          </a:p>
          <a:p>
            <a:r>
              <a:rPr lang="en-IN" b="1" dirty="0" smtClean="0"/>
              <a:t>The </a:t>
            </a:r>
            <a:r>
              <a:rPr lang="en-IN" b="1" dirty="0"/>
              <a:t>Bitcoin you receive is </a:t>
            </a:r>
            <a:r>
              <a:rPr lang="en-IN" b="1" dirty="0" err="1"/>
              <a:t>anonymized</a:t>
            </a:r>
            <a:r>
              <a:rPr lang="en-IN" b="1" dirty="0"/>
              <a:t>, making it hard for anyone to trace it back to you.</a:t>
            </a:r>
          </a:p>
        </p:txBody>
      </p:sp>
    </p:spTree>
    <p:extLst>
      <p:ext uri="{BB962C8B-B14F-4D97-AF65-F5344CB8AC3E}">
        <p14:creationId xmlns:p14="http://schemas.microsoft.com/office/powerpoint/2010/main" val="236090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0"/>
                                        </p:tgtEl>
                                      </p:cBhvr>
                                    </p:animEffect>
                                    <p:set>
                                      <p:cBhvr>
                                        <p:cTn id="7" dur="1" fill="hold">
                                          <p:stCondLst>
                                            <p:cond delay="500"/>
                                          </p:stCondLst>
                                        </p:cTn>
                                        <p:tgtEl>
                                          <p:spTgt spid="30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01"/>
                                        </p:tgtEl>
                                      </p:cBhvr>
                                    </p:animEffect>
                                    <p:set>
                                      <p:cBhvr>
                                        <p:cTn id="10" dur="1" fill="hold">
                                          <p:stCondLst>
                                            <p:cond delay="500"/>
                                          </p:stCondLst>
                                        </p:cTn>
                                        <p:tgtEl>
                                          <p:spTgt spid="301"/>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299"/>
                                        </p:tgtEl>
                                      </p:cBhvr>
                                    </p:animEffect>
                                    <p:set>
                                      <p:cBhvr>
                                        <p:cTn id="13" dur="1" fill="hold">
                                          <p:stCondLst>
                                            <p:cond delay="500"/>
                                          </p:stCondLst>
                                        </p:cTn>
                                        <p:tgtEl>
                                          <p:spTgt spid="29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98"/>
                                        </p:tgtEl>
                                      </p:cBhvr>
                                    </p:animEffect>
                                    <p:set>
                                      <p:cBhvr>
                                        <p:cTn id="16" dur="1" fill="hold">
                                          <p:stCondLst>
                                            <p:cond delay="500"/>
                                          </p:stCondLst>
                                        </p:cTn>
                                        <p:tgtEl>
                                          <p:spTgt spid="298"/>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304"/>
                                        </p:tgtEl>
                                      </p:cBhvr>
                                    </p:animEffect>
                                    <p:set>
                                      <p:cBhvr>
                                        <p:cTn id="19" dur="1" fill="hold">
                                          <p:stCondLst>
                                            <p:cond delay="500"/>
                                          </p:stCondLst>
                                        </p:cTn>
                                        <p:tgtEl>
                                          <p:spTgt spid="304"/>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307"/>
                                        </p:tgtEl>
                                      </p:cBhvr>
                                    </p:animEffect>
                                    <p:set>
                                      <p:cBhvr>
                                        <p:cTn id="22" dur="1" fill="hold">
                                          <p:stCondLst>
                                            <p:cond delay="500"/>
                                          </p:stCondLst>
                                        </p:cTn>
                                        <p:tgtEl>
                                          <p:spTgt spid="307"/>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308"/>
                                        </p:tgtEl>
                                      </p:cBhvr>
                                    </p:animEffect>
                                    <p:set>
                                      <p:cBhvr>
                                        <p:cTn id="25" dur="1" fill="hold">
                                          <p:stCondLst>
                                            <p:cond delay="500"/>
                                          </p:stCondLst>
                                        </p:cTn>
                                        <p:tgtEl>
                                          <p:spTgt spid="308"/>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305"/>
                                        </p:tgtEl>
                                      </p:cBhvr>
                                    </p:animEffect>
                                    <p:set>
                                      <p:cBhvr>
                                        <p:cTn id="28" dur="1" fill="hold">
                                          <p:stCondLst>
                                            <p:cond delay="500"/>
                                          </p:stCondLst>
                                        </p:cTn>
                                        <p:tgtEl>
                                          <p:spTgt spid="305"/>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302"/>
                                        </p:tgtEl>
                                      </p:cBhvr>
                                    </p:animEffect>
                                    <p:set>
                                      <p:cBhvr>
                                        <p:cTn id="31" dur="1" fill="hold">
                                          <p:stCondLst>
                                            <p:cond delay="500"/>
                                          </p:stCondLst>
                                        </p:cTn>
                                        <p:tgtEl>
                                          <p:spTgt spid="302"/>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6"/>
                                        </p:tgtEl>
                                      </p:cBhvr>
                                    </p:animEffect>
                                    <p:set>
                                      <p:cBhvr>
                                        <p:cTn id="34" dur="1" fill="hold">
                                          <p:stCondLst>
                                            <p:cond delay="500"/>
                                          </p:stCondLst>
                                        </p:cTn>
                                        <p:tgtEl>
                                          <p:spTgt spid="1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7"/>
                                        </p:tgtEl>
                                      </p:cBhvr>
                                    </p:animEffect>
                                    <p:set>
                                      <p:cBhvr>
                                        <p:cTn id="37" dur="1" fill="hold">
                                          <p:stCondLst>
                                            <p:cond delay="500"/>
                                          </p:stCondLst>
                                        </p:cTn>
                                        <p:tgtEl>
                                          <p:spTgt spid="1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8"/>
                                        </p:tgtEl>
                                      </p:cBhvr>
                                    </p:animEffect>
                                    <p:set>
                                      <p:cBhvr>
                                        <p:cTn id="42" dur="1" fill="hold">
                                          <p:stCondLst>
                                            <p:cond delay="500"/>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smtClean="0"/>
              <a:t>Example :</a:t>
            </a:r>
            <a:r>
              <a:rPr lang="en-IN" dirty="0" smtClean="0"/>
              <a:t>Online </a:t>
            </a:r>
            <a:r>
              <a:rPr lang="en-IN" dirty="0"/>
              <a:t>Wallets as </a:t>
            </a:r>
            <a:r>
              <a:rPr lang="en-IN" dirty="0" smtClean="0"/>
              <a:t>Mixes</a:t>
            </a:r>
          </a:p>
          <a:p>
            <a:pPr>
              <a:buFont typeface="Arial" panose="020B0604020202020204" pitchFamily="34" charset="0"/>
              <a:buChar char="•"/>
            </a:pPr>
            <a:r>
              <a:rPr lang="en-IN" b="1" dirty="0"/>
              <a:t>Dedicated Mixing Services</a:t>
            </a:r>
          </a:p>
          <a:p>
            <a:pPr marL="50799" indent="0">
              <a:buNone/>
            </a:pPr>
            <a:endParaRPr lang="en-IN" dirty="0"/>
          </a:p>
          <a:p>
            <a:pPr marL="50799" indent="0">
              <a:buNone/>
            </a:pPr>
            <a:endParaRPr lang="en-IN" dirty="0"/>
          </a:p>
        </p:txBody>
      </p:sp>
    </p:spTree>
    <p:extLst>
      <p:ext uri="{BB962C8B-B14F-4D97-AF65-F5344CB8AC3E}">
        <p14:creationId xmlns:p14="http://schemas.microsoft.com/office/powerpoint/2010/main" val="1174283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smtClean="0">
                <a:solidFill>
                  <a:schemeClr val="dk2"/>
                </a:solidFill>
                <a:latin typeface="Trebuchet MS"/>
                <a:ea typeface="Trebuchet MS"/>
                <a:cs typeface="Trebuchet MS"/>
                <a:sym typeface="Trebuchet MS"/>
              </a:rPr>
              <a:t>Mixing protocols:</a:t>
            </a:r>
          </a:p>
          <a:p>
            <a:pPr marL="50799" indent="0">
              <a:buNone/>
            </a:pPr>
            <a:endParaRPr lang="en-IN" dirty="0">
              <a:solidFill>
                <a:schemeClr val="dk2"/>
              </a:solidFill>
              <a:latin typeface="Trebuchet MS"/>
              <a:ea typeface="Trebuchet MS"/>
              <a:cs typeface="Trebuchet MS"/>
              <a:sym typeface="Trebuchet MS"/>
            </a:endParaRPr>
          </a:p>
          <a:p>
            <a:pPr marL="50799" indent="0">
              <a:buNone/>
            </a:pPr>
            <a:r>
              <a:rPr lang="en-IN" dirty="0" smtClean="0"/>
              <a:t> </a:t>
            </a:r>
            <a:endParaRPr lang="en-IN" dirty="0"/>
          </a:p>
        </p:txBody>
      </p:sp>
      <p:pic>
        <p:nvPicPr>
          <p:cNvPr id="4" name="Picture 3"/>
          <p:cNvPicPr>
            <a:picLocks noChangeAspect="1"/>
          </p:cNvPicPr>
          <p:nvPr/>
        </p:nvPicPr>
        <p:blipFill>
          <a:blip r:embed="rId2"/>
          <a:stretch>
            <a:fillRect/>
          </a:stretch>
        </p:blipFill>
        <p:spPr>
          <a:xfrm>
            <a:off x="2057400" y="2438400"/>
            <a:ext cx="6581775" cy="3124200"/>
          </a:xfrm>
          <a:prstGeom prst="rect">
            <a:avLst/>
          </a:prstGeom>
        </p:spPr>
      </p:pic>
      <p:pic>
        <p:nvPicPr>
          <p:cNvPr id="5" name="Picture 4"/>
          <p:cNvPicPr>
            <a:picLocks noChangeAspect="1"/>
          </p:cNvPicPr>
          <p:nvPr/>
        </p:nvPicPr>
        <p:blipFill>
          <a:blip r:embed="rId3"/>
          <a:stretch>
            <a:fillRect/>
          </a:stretch>
        </p:blipFill>
        <p:spPr>
          <a:xfrm>
            <a:off x="1676400" y="5832789"/>
            <a:ext cx="8001000" cy="415611"/>
          </a:xfrm>
          <a:prstGeom prst="rect">
            <a:avLst/>
          </a:prstGeom>
        </p:spPr>
      </p:pic>
    </p:spTree>
    <p:extLst>
      <p:ext uri="{BB962C8B-B14F-4D97-AF65-F5344CB8AC3E}">
        <p14:creationId xmlns:p14="http://schemas.microsoft.com/office/powerpoint/2010/main" val="19109231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482"/>
        <p:cNvGrpSpPr/>
        <p:nvPr/>
      </p:nvGrpSpPr>
      <p:grpSpPr>
        <a:xfrm>
          <a:off x="0" y="0"/>
          <a:ext cx="0" cy="0"/>
          <a:chOff x="0" y="0"/>
          <a:chExt cx="0" cy="0"/>
        </a:xfrm>
      </p:grpSpPr>
      <p:sp>
        <p:nvSpPr>
          <p:cNvPr id="483" name="Google Shape;483;p60"/>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Coinjoin: remaining problems</a:t>
            </a:r>
            <a:endParaRPr sz="4800" b="1">
              <a:solidFill>
                <a:schemeClr val="dk1"/>
              </a:solidFill>
              <a:latin typeface="Trebuchet MS"/>
              <a:ea typeface="Trebuchet MS"/>
              <a:cs typeface="Trebuchet MS"/>
              <a:sym typeface="Trebuchet MS"/>
            </a:endParaRPr>
          </a:p>
        </p:txBody>
      </p:sp>
      <p:sp>
        <p:nvSpPr>
          <p:cNvPr id="484" name="Google Shape;484;p60"/>
          <p:cNvSpPr txBox="1">
            <a:spLocks noGrp="1"/>
          </p:cNvSpPr>
          <p:nvPr>
            <p:ph type="body" idx="1"/>
          </p:nvPr>
        </p:nvSpPr>
        <p:spPr>
          <a:xfrm>
            <a:off x="609600" y="1600200"/>
            <a:ext cx="6908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685783">
              <a:spcBef>
                <a:spcPts val="0"/>
              </a:spcBef>
              <a:buClr>
                <a:srgbClr val="A3A3A3"/>
              </a:buClr>
              <a:buSzPts val="2800"/>
              <a:buFont typeface="Arial"/>
              <a:buChar char="•"/>
            </a:pPr>
            <a:r>
              <a:rPr lang="en" sz="3733" dirty="0">
                <a:solidFill>
                  <a:schemeClr val="dk1"/>
                </a:solidFill>
                <a:latin typeface="Trebuchet MS"/>
                <a:ea typeface="Trebuchet MS"/>
                <a:cs typeface="Trebuchet MS"/>
                <a:sym typeface="Trebuchet MS"/>
              </a:rPr>
              <a:t>How to find peers</a:t>
            </a:r>
            <a:endParaRPr dirty="0"/>
          </a:p>
          <a:p>
            <a:pPr marL="685783" indent="-685783">
              <a:spcBef>
                <a:spcPts val="0"/>
              </a:spcBef>
              <a:buClr>
                <a:srgbClr val="A3A3A3"/>
              </a:buClr>
              <a:buSzPts val="2800"/>
              <a:buFont typeface="Arial"/>
              <a:buChar char="•"/>
            </a:pPr>
            <a:r>
              <a:rPr lang="en" sz="3733" dirty="0">
                <a:solidFill>
                  <a:schemeClr val="dk1"/>
                </a:solidFill>
                <a:latin typeface="Trebuchet MS"/>
                <a:ea typeface="Trebuchet MS"/>
                <a:cs typeface="Trebuchet MS"/>
                <a:sym typeface="Trebuchet MS"/>
              </a:rPr>
              <a:t>Peers know your input-output mapping</a:t>
            </a:r>
            <a:br>
              <a:rPr lang="en" sz="3733" dirty="0">
                <a:solidFill>
                  <a:schemeClr val="dk1"/>
                </a:solidFill>
                <a:latin typeface="Trebuchet MS"/>
                <a:ea typeface="Trebuchet MS"/>
                <a:cs typeface="Trebuchet MS"/>
                <a:sym typeface="Trebuchet MS"/>
              </a:rPr>
            </a:br>
            <a:r>
              <a:rPr lang="en" sz="3733" dirty="0" smtClean="0">
                <a:solidFill>
                  <a:schemeClr val="dk1"/>
                </a:solidFill>
                <a:latin typeface="Trebuchet MS"/>
                <a:ea typeface="Trebuchet MS"/>
                <a:cs typeface="Trebuchet MS"/>
                <a:sym typeface="Trebuchet MS"/>
              </a:rPr>
              <a:t>(This is a worse problem than for centralized mixes)</a:t>
            </a:r>
            <a:endParaRPr dirty="0" smtClean="0"/>
          </a:p>
          <a:p>
            <a:pPr marL="685783" indent="-685783">
              <a:spcBef>
                <a:spcPts val="0"/>
              </a:spcBef>
              <a:buClr>
                <a:srgbClr val="A3A3A3"/>
              </a:buClr>
              <a:buSzPts val="2800"/>
              <a:buFont typeface="Arial"/>
              <a:buChar char="•"/>
            </a:pPr>
            <a:r>
              <a:rPr lang="en" sz="3733" dirty="0" smtClean="0">
                <a:solidFill>
                  <a:schemeClr val="dk1"/>
                </a:solidFill>
                <a:latin typeface="Trebuchet MS"/>
                <a:ea typeface="Trebuchet MS"/>
                <a:cs typeface="Trebuchet MS"/>
                <a:sym typeface="Trebuchet MS"/>
              </a:rPr>
              <a:t>Denial of service</a:t>
            </a:r>
            <a:endParaRPr dirty="0" smtClean="0"/>
          </a:p>
          <a:p>
            <a:pPr indent="-372524">
              <a:spcBef>
                <a:spcPts val="0"/>
              </a:spcBef>
              <a:buClr>
                <a:srgbClr val="A3A3A3"/>
              </a:buClr>
              <a:buSzPts val="2800"/>
              <a:buNone/>
            </a:pPr>
            <a:endParaRPr sz="3733" dirty="0">
              <a:solidFill>
                <a:schemeClr val="dk1"/>
              </a:solidFill>
              <a:latin typeface="Trebuchet MS"/>
              <a:ea typeface="Trebuchet MS"/>
              <a:cs typeface="Trebuchet MS"/>
              <a:sym typeface="Trebuchet MS"/>
            </a:endParaRPr>
          </a:p>
        </p:txBody>
      </p:sp>
      <p:pic>
        <p:nvPicPr>
          <p:cNvPr id="485" name="Google Shape;485;p60"/>
          <p:cNvPicPr preferRelativeResize="0"/>
          <p:nvPr/>
        </p:nvPicPr>
        <p:blipFill rotWithShape="1">
          <a:blip r:embed="rId3">
            <a:alphaModFix/>
          </a:blip>
          <a:srcRect/>
          <a:stretch/>
        </p:blipFill>
        <p:spPr>
          <a:xfrm>
            <a:off x="7721601" y="1615855"/>
            <a:ext cx="3852577" cy="2552700"/>
          </a:xfrm>
          <a:prstGeom prst="rect">
            <a:avLst/>
          </a:prstGeom>
          <a:noFill/>
          <a:ln>
            <a:noFill/>
          </a:ln>
        </p:spPr>
      </p:pic>
    </p:spTree>
    <p:extLst>
      <p:ext uri="{BB962C8B-B14F-4D97-AF65-F5344CB8AC3E}">
        <p14:creationId xmlns:p14="http://schemas.microsoft.com/office/powerpoint/2010/main" val="8257741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9"/>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Principles for mixing services</a:t>
            </a:r>
            <a:endParaRPr sz="4800" b="1">
              <a:solidFill>
                <a:schemeClr val="dk1"/>
              </a:solidFill>
              <a:latin typeface="Trebuchet MS"/>
              <a:ea typeface="Trebuchet MS"/>
              <a:cs typeface="Trebuchet MS"/>
              <a:sym typeface="Trebuchet MS"/>
            </a:endParaRPr>
          </a:p>
        </p:txBody>
      </p:sp>
      <p:sp>
        <p:nvSpPr>
          <p:cNvPr id="366" name="Google Shape;366;p49"/>
          <p:cNvSpPr txBox="1">
            <a:spLocks noGrp="1"/>
          </p:cNvSpPr>
          <p:nvPr>
            <p:ph type="body" idx="1"/>
          </p:nvPr>
        </p:nvSpPr>
        <p:spPr>
          <a:xfrm>
            <a:off x="609600" y="1600200"/>
            <a:ext cx="5994400" cy="55626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dirty="0">
                <a:solidFill>
                  <a:schemeClr val="dk1"/>
                </a:solidFill>
                <a:latin typeface="Trebuchet MS"/>
                <a:ea typeface="Trebuchet MS"/>
                <a:cs typeface="Trebuchet MS"/>
                <a:sym typeface="Trebuchet MS"/>
              </a:rPr>
              <a:t>1. </a:t>
            </a:r>
            <a:r>
              <a:rPr lang="en" sz="2000" dirty="0">
                <a:solidFill>
                  <a:schemeClr val="dk1"/>
                </a:solidFill>
                <a:latin typeface="Trebuchet MS"/>
                <a:ea typeface="Trebuchet MS"/>
                <a:cs typeface="Trebuchet MS"/>
                <a:sym typeface="Trebuchet MS"/>
              </a:rPr>
              <a:t>Use a series of mixes</a:t>
            </a:r>
            <a:endParaRPr sz="2000" dirty="0"/>
          </a:p>
          <a:p>
            <a:pPr marL="685783" indent="-482588">
              <a:buClr>
                <a:schemeClr val="dk1"/>
              </a:buClr>
              <a:buSzPts val="2400"/>
            </a:pPr>
            <a:endParaRPr sz="2000" dirty="0">
              <a:solidFill>
                <a:schemeClr val="dk1"/>
              </a:solidFill>
              <a:latin typeface="Trebuchet MS"/>
              <a:ea typeface="Trebuchet MS"/>
              <a:cs typeface="Trebuchet MS"/>
              <a:sym typeface="Trebuchet MS"/>
            </a:endParaRPr>
          </a:p>
          <a:p>
            <a:pPr marL="0" indent="0">
              <a:buClr>
                <a:schemeClr val="dk1"/>
              </a:buClr>
            </a:pPr>
            <a:r>
              <a:rPr lang="en" sz="2000" dirty="0">
                <a:solidFill>
                  <a:schemeClr val="dk1"/>
                </a:solidFill>
                <a:latin typeface="Trebuchet MS"/>
                <a:ea typeface="Trebuchet MS"/>
                <a:cs typeface="Trebuchet MS"/>
                <a:sym typeface="Trebuchet MS"/>
              </a:rPr>
              <a:t>    Mixes should implement a </a:t>
            </a:r>
            <a:r>
              <a:rPr lang="en" sz="2000" dirty="0" smtClean="0">
                <a:solidFill>
                  <a:schemeClr val="dk1"/>
                </a:solidFill>
                <a:latin typeface="Trebuchet MS"/>
                <a:ea typeface="Trebuchet MS"/>
                <a:cs typeface="Trebuchet MS"/>
                <a:sym typeface="Trebuchet MS"/>
              </a:rPr>
              <a:t>standard </a:t>
            </a:r>
            <a:r>
              <a:rPr lang="en" sz="2000" dirty="0">
                <a:solidFill>
                  <a:schemeClr val="dk1"/>
                </a:solidFill>
                <a:latin typeface="Trebuchet MS"/>
                <a:ea typeface="Trebuchet MS"/>
                <a:cs typeface="Trebuchet MS"/>
                <a:sym typeface="Trebuchet MS"/>
              </a:rPr>
              <a:t>API to make this </a:t>
            </a:r>
            <a:r>
              <a:rPr lang="en" sz="2000" dirty="0" smtClean="0">
                <a:solidFill>
                  <a:schemeClr val="dk1"/>
                </a:solidFill>
                <a:latin typeface="Trebuchet MS"/>
                <a:ea typeface="Trebuchet MS"/>
                <a:cs typeface="Trebuchet MS"/>
                <a:sym typeface="Trebuchet MS"/>
              </a:rPr>
              <a:t> easy</a:t>
            </a:r>
          </a:p>
          <a:p>
            <a:pPr marL="0" indent="0">
              <a:buClr>
                <a:schemeClr val="dk1"/>
              </a:buClr>
            </a:pPr>
            <a:r>
              <a:rPr lang="en" sz="2000" dirty="0" smtClean="0">
                <a:solidFill>
                  <a:schemeClr val="dk1"/>
                </a:solidFill>
                <a:latin typeface="Trebuchet MS"/>
                <a:ea typeface="Trebuchet MS"/>
                <a:cs typeface="Trebuchet MS"/>
                <a:sym typeface="Trebuchet MS"/>
              </a:rPr>
              <a:t>2.</a:t>
            </a:r>
            <a:r>
              <a:rPr lang="en-IN" sz="2000" dirty="0">
                <a:solidFill>
                  <a:schemeClr val="dk1"/>
                </a:solidFill>
                <a:latin typeface="Trebuchet MS"/>
                <a:ea typeface="Trebuchet MS"/>
                <a:cs typeface="Trebuchet MS"/>
                <a:sym typeface="Trebuchet MS"/>
              </a:rPr>
              <a:t> Uniform transactions</a:t>
            </a:r>
            <a:endParaRPr lang="en-IN" sz="2000" dirty="0"/>
          </a:p>
          <a:p>
            <a:pPr marL="0" indent="0">
              <a:buClr>
                <a:schemeClr val="dk1"/>
              </a:buClr>
            </a:pPr>
            <a:r>
              <a:rPr lang="en-IN" sz="2000" dirty="0" smtClean="0">
                <a:solidFill>
                  <a:schemeClr val="dk1"/>
                </a:solidFill>
                <a:latin typeface="Trebuchet MS"/>
                <a:ea typeface="Trebuchet MS"/>
                <a:cs typeface="Trebuchet MS"/>
                <a:sym typeface="Trebuchet MS"/>
              </a:rPr>
              <a:t>   </a:t>
            </a:r>
            <a:r>
              <a:rPr lang="en-IN" sz="2000" dirty="0">
                <a:solidFill>
                  <a:schemeClr val="dk1"/>
                </a:solidFill>
                <a:latin typeface="Trebuchet MS"/>
                <a:ea typeface="Trebuchet MS"/>
                <a:cs typeface="Trebuchet MS"/>
                <a:sym typeface="Trebuchet MS"/>
              </a:rPr>
              <a:t>In particular: all </a:t>
            </a:r>
            <a:r>
              <a:rPr lang="en-IN" sz="2000" dirty="0" smtClean="0">
                <a:solidFill>
                  <a:schemeClr val="dk1"/>
                </a:solidFill>
                <a:latin typeface="Trebuchet MS"/>
                <a:ea typeface="Trebuchet MS"/>
                <a:cs typeface="Trebuchet MS"/>
                <a:sym typeface="Trebuchet MS"/>
              </a:rPr>
              <a:t>mix</a:t>
            </a:r>
            <a:r>
              <a:rPr lang="en-IN" sz="2000" dirty="0" smtClean="0">
                <a:sym typeface="Trebuchet MS"/>
              </a:rPr>
              <a:t> </a:t>
            </a:r>
            <a:r>
              <a:rPr lang="en-IN" sz="2000" dirty="0" smtClean="0">
                <a:solidFill>
                  <a:schemeClr val="dk1"/>
                </a:solidFill>
                <a:latin typeface="Trebuchet MS"/>
                <a:ea typeface="Trebuchet MS"/>
                <a:cs typeface="Trebuchet MS"/>
                <a:sym typeface="Trebuchet MS"/>
              </a:rPr>
              <a:t>transactions </a:t>
            </a:r>
            <a:r>
              <a:rPr lang="en-IN" sz="2000" dirty="0">
                <a:solidFill>
                  <a:schemeClr val="dk1"/>
                </a:solidFill>
                <a:latin typeface="Trebuchet MS"/>
                <a:ea typeface="Trebuchet MS"/>
                <a:cs typeface="Trebuchet MS"/>
                <a:sym typeface="Trebuchet MS"/>
              </a:rPr>
              <a:t>must have the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same value!</a:t>
            </a:r>
            <a:endParaRPr lang="en-IN" sz="2000" dirty="0"/>
          </a:p>
          <a:p>
            <a:pPr marL="0" indent="0">
              <a:buClr>
                <a:schemeClr val="dk1"/>
              </a:buClr>
            </a:pPr>
            <a:r>
              <a:rPr lang="en-IN" sz="2000" dirty="0" smtClean="0">
                <a:solidFill>
                  <a:schemeClr val="dk1"/>
                </a:solidFill>
                <a:latin typeface="Trebuchet MS"/>
                <a:ea typeface="Trebuchet MS"/>
                <a:cs typeface="Trebuchet MS"/>
                <a:sym typeface="Trebuchet MS"/>
              </a:rPr>
              <a:t>    </a:t>
            </a:r>
            <a:r>
              <a:rPr lang="en-IN" sz="2000" dirty="0">
                <a:solidFill>
                  <a:schemeClr val="dk1"/>
                </a:solidFill>
                <a:latin typeface="Trebuchet MS"/>
                <a:ea typeface="Trebuchet MS"/>
                <a:cs typeface="Trebuchet MS"/>
                <a:sym typeface="Trebuchet MS"/>
              </a:rPr>
              <a:t>“</a:t>
            </a:r>
            <a:r>
              <a:rPr lang="en-IN" sz="2000" i="1" dirty="0">
                <a:solidFill>
                  <a:schemeClr val="dk1"/>
                </a:solidFill>
                <a:latin typeface="Trebuchet MS"/>
                <a:ea typeface="Trebuchet MS"/>
                <a:cs typeface="Trebuchet MS"/>
                <a:sym typeface="Trebuchet MS"/>
              </a:rPr>
              <a:t>Chunk size</a:t>
            </a:r>
            <a:r>
              <a:rPr lang="en-IN" sz="2000" i="1" dirty="0" smtClean="0">
                <a:solidFill>
                  <a:schemeClr val="dk1"/>
                </a:solidFill>
                <a:latin typeface="Trebuchet MS"/>
                <a:ea typeface="Trebuchet MS"/>
                <a:cs typeface="Trebuchet MS"/>
                <a:sym typeface="Trebuchet MS"/>
              </a:rPr>
              <a:t>”</a:t>
            </a:r>
          </a:p>
          <a:p>
            <a:pPr marL="0" indent="0">
              <a:buClr>
                <a:schemeClr val="dk1"/>
              </a:buClr>
            </a:pPr>
            <a:r>
              <a:rPr lang="en-IN" sz="2000" i="1" dirty="0" smtClean="0">
                <a:solidFill>
                  <a:schemeClr val="dk1"/>
                </a:solidFill>
                <a:latin typeface="Trebuchet MS"/>
                <a:ea typeface="Trebuchet MS"/>
                <a:cs typeface="Trebuchet MS"/>
                <a:sym typeface="Trebuchet MS"/>
              </a:rPr>
              <a:t>3.</a:t>
            </a:r>
            <a:r>
              <a:rPr lang="en-IN" sz="2000" dirty="0">
                <a:solidFill>
                  <a:schemeClr val="dk1"/>
                </a:solidFill>
                <a:latin typeface="Trebuchet MS"/>
                <a:ea typeface="Trebuchet MS"/>
                <a:cs typeface="Trebuchet MS"/>
                <a:sym typeface="Trebuchet MS"/>
              </a:rPr>
              <a:t> Client side must be </a:t>
            </a:r>
            <a:r>
              <a:rPr lang="en-IN" sz="2000" dirty="0" smtClean="0">
                <a:solidFill>
                  <a:schemeClr val="dk1"/>
                </a:solidFill>
                <a:latin typeface="Trebuchet MS"/>
                <a:ea typeface="Trebuchet MS"/>
                <a:cs typeface="Trebuchet MS"/>
                <a:sym typeface="Trebuchet MS"/>
              </a:rPr>
              <a:t>automated</a:t>
            </a:r>
            <a:endParaRPr lang="en-IN" sz="2000" dirty="0"/>
          </a:p>
          <a:p>
            <a:pPr marL="685783" indent="-482588">
              <a:buClr>
                <a:schemeClr val="dk1"/>
              </a:buClr>
              <a:buSzPts val="2400"/>
            </a:pPr>
            <a:endParaRPr lang="en-IN" sz="2000" dirty="0">
              <a:solidFill>
                <a:schemeClr val="dk1"/>
              </a:solidFill>
              <a:latin typeface="Trebuchet MS"/>
              <a:ea typeface="Trebuchet MS"/>
              <a:cs typeface="Trebuchet MS"/>
              <a:sym typeface="Trebuchet MS"/>
            </a:endParaRPr>
          </a:p>
          <a:p>
            <a:pPr marL="0" indent="0">
              <a:buClr>
                <a:schemeClr val="dk1"/>
              </a:buClr>
            </a:pPr>
            <a:r>
              <a:rPr lang="en-IN" sz="2000" dirty="0">
                <a:solidFill>
                  <a:schemeClr val="dk1"/>
                </a:solidFill>
                <a:latin typeface="Trebuchet MS"/>
                <a:ea typeface="Trebuchet MS"/>
                <a:cs typeface="Trebuchet MS"/>
                <a:sym typeface="Trebuchet MS"/>
              </a:rPr>
              <a:t>    Desktop wallet </a:t>
            </a:r>
            <a:r>
              <a:rPr lang="en-IN" sz="2000" dirty="0" smtClean="0">
                <a:solidFill>
                  <a:schemeClr val="dk1"/>
                </a:solidFill>
                <a:latin typeface="Trebuchet MS"/>
                <a:ea typeface="Trebuchet MS"/>
                <a:cs typeface="Trebuchet MS"/>
                <a:sym typeface="Trebuchet MS"/>
              </a:rPr>
              <a:t>software</a:t>
            </a:r>
          </a:p>
          <a:p>
            <a:pPr marL="0" indent="0">
              <a:buClr>
                <a:schemeClr val="dk1"/>
              </a:buClr>
            </a:pPr>
            <a:r>
              <a:rPr lang="en-IN" sz="2000" i="1" dirty="0" smtClean="0">
                <a:solidFill>
                  <a:schemeClr val="dk1"/>
                </a:solidFill>
                <a:latin typeface="Trebuchet MS"/>
                <a:ea typeface="Trebuchet MS"/>
                <a:cs typeface="Trebuchet MS"/>
                <a:sym typeface="Trebuchet MS"/>
              </a:rPr>
              <a:t>4. </a:t>
            </a:r>
            <a:r>
              <a:rPr lang="en-IN" sz="2000" dirty="0">
                <a:solidFill>
                  <a:schemeClr val="dk1"/>
                </a:solidFill>
                <a:latin typeface="Trebuchet MS"/>
                <a:ea typeface="Trebuchet MS"/>
                <a:cs typeface="Trebuchet MS"/>
                <a:sym typeface="Trebuchet MS"/>
              </a:rPr>
              <a:t>Fees must be all-or-nothing</a:t>
            </a:r>
            <a:endParaRPr lang="en-IN" sz="2000" dirty="0"/>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r>
              <a:rPr lang="en-IN" sz="2000" dirty="0">
                <a:solidFill>
                  <a:schemeClr val="dk1"/>
                </a:solidFill>
                <a:latin typeface="Trebuchet MS"/>
                <a:ea typeface="Trebuchet MS"/>
                <a:cs typeface="Trebuchet MS"/>
                <a:sym typeface="Trebuchet MS"/>
              </a:rPr>
              <a:t>    Probabilistic fees: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0.1% mixing fee =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mix will swallow chunk</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with 0.1% chance</a:t>
            </a:r>
            <a:endParaRPr lang="en-IN" sz="2000" i="1" dirty="0">
              <a:solidFill>
                <a:schemeClr val="dk1"/>
              </a:solidFill>
              <a:latin typeface="Trebuchet MS"/>
              <a:ea typeface="Trebuchet MS"/>
              <a:cs typeface="Trebuchet MS"/>
              <a:sym typeface="Trebuchet MS"/>
            </a:endParaRPr>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endParaRPr dirty="0">
              <a:solidFill>
                <a:schemeClr val="dk1"/>
              </a:solidFill>
              <a:latin typeface="Trebuchet MS"/>
              <a:ea typeface="Trebuchet MS"/>
              <a:cs typeface="Trebuchet MS"/>
              <a:sym typeface="Trebuchet MS"/>
            </a:endParaRPr>
          </a:p>
        </p:txBody>
      </p:sp>
      <p:sp>
        <p:nvSpPr>
          <p:cNvPr id="367" name="Google Shape;367;p49"/>
          <p:cNvSpPr txBox="1">
            <a:spLocks noGrp="1"/>
          </p:cNvSpPr>
          <p:nvPr>
            <p:ph type="body" idx="2"/>
          </p:nvPr>
        </p:nvSpPr>
        <p:spPr>
          <a:xfrm>
            <a:off x="6705600" y="1600200"/>
            <a:ext cx="4876797"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i="1" dirty="0">
                <a:solidFill>
                  <a:schemeClr val="dk1"/>
                </a:solidFill>
                <a:latin typeface="Trebuchet MS"/>
                <a:ea typeface="Trebuchet MS"/>
                <a:cs typeface="Trebuchet MS"/>
                <a:sym typeface="Trebuchet MS"/>
              </a:rPr>
              <a:t>Mixcoin: Anonymity for Bitcoin with accountable mixes </a:t>
            </a:r>
            <a:endParaRPr i="1" dirty="0">
              <a:solidFill>
                <a:schemeClr val="dk1"/>
              </a:solidFill>
              <a:latin typeface="Trebuchet MS"/>
              <a:ea typeface="Trebuchet MS"/>
              <a:cs typeface="Trebuchet MS"/>
              <a:sym typeface="Trebuchet MS"/>
            </a:endParaRPr>
          </a:p>
          <a:p>
            <a:pPr marL="0" indent="0">
              <a:buClr>
                <a:schemeClr val="dk1"/>
              </a:buClr>
            </a:pPr>
            <a:endParaRPr dirty="0">
              <a:solidFill>
                <a:schemeClr val="dk1"/>
              </a:solidFill>
              <a:latin typeface="Trebuchet MS"/>
              <a:ea typeface="Trebuchet MS"/>
              <a:cs typeface="Trebuchet MS"/>
              <a:sym typeface="Trebuchet MS"/>
            </a:endParaRPr>
          </a:p>
          <a:p>
            <a:pPr marL="0" indent="0">
              <a:buClr>
                <a:schemeClr val="dk1"/>
              </a:buClr>
            </a:pPr>
            <a:r>
              <a:rPr lang="en" dirty="0">
                <a:solidFill>
                  <a:schemeClr val="dk1"/>
                </a:solidFill>
                <a:latin typeface="Trebuchet MS"/>
                <a:ea typeface="Trebuchet MS"/>
                <a:cs typeface="Trebuchet MS"/>
                <a:sym typeface="Trebuchet MS"/>
              </a:rPr>
              <a:t>J. Bonneau et al.</a:t>
            </a:r>
            <a:endParaRPr dirty="0">
              <a:solidFill>
                <a:schemeClr val="dk1"/>
              </a:solidFill>
              <a:latin typeface="Trebuchet MS"/>
              <a:ea typeface="Trebuchet MS"/>
              <a:cs typeface="Trebuchet MS"/>
              <a:sym typeface="Trebuchet MS"/>
            </a:endParaRPr>
          </a:p>
          <a:p>
            <a:r>
              <a:rPr lang="en" dirty="0" smtClean="0">
                <a:solidFill>
                  <a:schemeClr val="dk1"/>
                </a:solidFill>
                <a:latin typeface="Trebuchet MS"/>
                <a:ea typeface="Trebuchet MS"/>
                <a:cs typeface="Trebuchet MS"/>
                <a:sym typeface="Trebuchet MS"/>
              </a:rPr>
              <a:t>Fina</a:t>
            </a:r>
            <a:r>
              <a:rPr lang="en-IN" dirty="0" err="1">
                <a:solidFill>
                  <a:schemeClr val="dk1"/>
                </a:solidFill>
                <a:latin typeface="Trebuchet MS"/>
                <a:ea typeface="Trebuchet MS"/>
                <a:cs typeface="Trebuchet MS"/>
                <a:sym typeface="Trebuchet MS"/>
              </a:rPr>
              <a:t>ncial</a:t>
            </a:r>
            <a:r>
              <a:rPr lang="en-IN" dirty="0">
                <a:solidFill>
                  <a:schemeClr val="dk1"/>
                </a:solidFill>
                <a:latin typeface="Trebuchet MS"/>
                <a:ea typeface="Trebuchet MS"/>
                <a:cs typeface="Trebuchet MS"/>
                <a:sym typeface="Trebuchet MS"/>
              </a:rPr>
              <a:t> Cryptography 2014 </a:t>
            </a:r>
            <a:endParaRPr lang="en-IN" dirty="0"/>
          </a:p>
          <a:p>
            <a:endParaRPr lang="en" dirty="0" smtClean="0">
              <a:solidFill>
                <a:schemeClr val="dk1"/>
              </a:solidFill>
              <a:latin typeface="Trebuchet MS"/>
              <a:ea typeface="Trebuchet MS"/>
              <a:cs typeface="Trebuchet MS"/>
              <a:sym typeface="Trebuchet MS"/>
            </a:endParaRPr>
          </a:p>
          <a:p>
            <a:pPr algn="just"/>
            <a:r>
              <a:rPr lang="en-IN" sz="1800" b="1" dirty="0" smtClean="0"/>
              <a:t>Example:</a:t>
            </a:r>
          </a:p>
          <a:p>
            <a:pPr algn="just"/>
            <a:r>
              <a:rPr lang="en-IN" sz="1800" dirty="0" smtClean="0"/>
              <a:t>If you send 1 Bitcoin to the mixing service, there’s a </a:t>
            </a:r>
            <a:r>
              <a:rPr lang="en-IN" sz="1800" b="1" dirty="0" smtClean="0"/>
              <a:t>0.1% chance</a:t>
            </a:r>
            <a:r>
              <a:rPr lang="en-IN" sz="1800" dirty="0" smtClean="0"/>
              <a:t> that a small portion of it (say, 0.001 BTC) will be taken as a fee.</a:t>
            </a:r>
          </a:p>
          <a:p>
            <a:pPr algn="just"/>
            <a:r>
              <a:rPr lang="en-IN" sz="1800" dirty="0" smtClean="0"/>
              <a:t>In 99.9% of cases, no Bitcoin is taken as a fee, but in the rare cases (0.1%), the service will keep that portion.</a:t>
            </a:r>
            <a:endParaRPr lang="en-IN" sz="1800" dirty="0"/>
          </a:p>
        </p:txBody>
      </p:sp>
    </p:spTree>
    <p:extLst>
      <p:ext uri="{BB962C8B-B14F-4D97-AF65-F5344CB8AC3E}">
        <p14:creationId xmlns:p14="http://schemas.microsoft.com/office/powerpoint/2010/main" val="7948961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0"/>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Series of mixes</a:t>
            </a:r>
            <a:endParaRPr sz="4800" b="1">
              <a:solidFill>
                <a:schemeClr val="dk1"/>
              </a:solidFill>
              <a:latin typeface="Trebuchet MS"/>
              <a:ea typeface="Trebuchet MS"/>
              <a:cs typeface="Trebuchet MS"/>
              <a:sym typeface="Trebuchet MS"/>
            </a:endParaRPr>
          </a:p>
        </p:txBody>
      </p:sp>
      <p:sp>
        <p:nvSpPr>
          <p:cNvPr id="373" name="Google Shape;373;p50"/>
          <p:cNvSpPr/>
          <p:nvPr/>
        </p:nvSpPr>
        <p:spPr>
          <a:xfrm>
            <a:off x="79248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74" name="Google Shape;374;p50"/>
          <p:cNvSpPr/>
          <p:nvPr/>
        </p:nvSpPr>
        <p:spPr>
          <a:xfrm>
            <a:off x="89916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75" name="Google Shape;375;p50"/>
          <p:cNvSpPr/>
          <p:nvPr/>
        </p:nvSpPr>
        <p:spPr>
          <a:xfrm>
            <a:off x="89916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76" name="Google Shape;376;p50"/>
          <p:cNvSpPr/>
          <p:nvPr/>
        </p:nvSpPr>
        <p:spPr>
          <a:xfrm>
            <a:off x="89916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377" name="Google Shape;377;p50" descr="User 2 by cyberscooty - "/>
          <p:cNvPicPr preferRelativeResize="0"/>
          <p:nvPr/>
        </p:nvPicPr>
        <p:blipFill rotWithShape="1">
          <a:blip r:embed="rId3">
            <a:alphaModFix/>
          </a:blip>
          <a:srcRect/>
          <a:stretch/>
        </p:blipFill>
        <p:spPr>
          <a:xfrm>
            <a:off x="10615987" y="3801709"/>
            <a:ext cx="763213" cy="948091"/>
          </a:xfrm>
          <a:prstGeom prst="rect">
            <a:avLst/>
          </a:prstGeom>
          <a:noFill/>
          <a:ln>
            <a:noFill/>
          </a:ln>
        </p:spPr>
      </p:pic>
      <p:sp>
        <p:nvSpPr>
          <p:cNvPr id="378" name="Google Shape;378;p50"/>
          <p:cNvSpPr/>
          <p:nvPr/>
        </p:nvSpPr>
        <p:spPr>
          <a:xfrm>
            <a:off x="50800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79" name="Google Shape;379;p50"/>
          <p:cNvSpPr/>
          <p:nvPr/>
        </p:nvSpPr>
        <p:spPr>
          <a:xfrm>
            <a:off x="61468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0" name="Google Shape;380;p50"/>
          <p:cNvSpPr/>
          <p:nvPr/>
        </p:nvSpPr>
        <p:spPr>
          <a:xfrm>
            <a:off x="61468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1" name="Google Shape;381;p50"/>
          <p:cNvSpPr/>
          <p:nvPr/>
        </p:nvSpPr>
        <p:spPr>
          <a:xfrm>
            <a:off x="61468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2" name="Google Shape;382;p50"/>
          <p:cNvSpPr/>
          <p:nvPr/>
        </p:nvSpPr>
        <p:spPr>
          <a:xfrm>
            <a:off x="22352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83" name="Google Shape;383;p50"/>
          <p:cNvSpPr/>
          <p:nvPr/>
        </p:nvSpPr>
        <p:spPr>
          <a:xfrm>
            <a:off x="33020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4" name="Google Shape;384;p50"/>
          <p:cNvSpPr/>
          <p:nvPr/>
        </p:nvSpPr>
        <p:spPr>
          <a:xfrm>
            <a:off x="33020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5" name="Google Shape;385;p50"/>
          <p:cNvSpPr/>
          <p:nvPr/>
        </p:nvSpPr>
        <p:spPr>
          <a:xfrm>
            <a:off x="33020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386" name="Google Shape;386;p50" descr="User 2 by cyberscooty - "/>
          <p:cNvPicPr preferRelativeResize="0"/>
          <p:nvPr/>
        </p:nvPicPr>
        <p:blipFill rotWithShape="1">
          <a:blip r:embed="rId3">
            <a:alphaModFix/>
          </a:blip>
          <a:srcRect/>
          <a:stretch/>
        </p:blipFill>
        <p:spPr>
          <a:xfrm>
            <a:off x="1117600" y="2497755"/>
            <a:ext cx="763213" cy="948091"/>
          </a:xfrm>
          <a:prstGeom prst="rect">
            <a:avLst/>
          </a:prstGeom>
          <a:noFill/>
          <a:ln>
            <a:noFill/>
          </a:ln>
        </p:spPr>
      </p:pic>
      <p:sp>
        <p:nvSpPr>
          <p:cNvPr id="387" name="Google Shape;387;p50"/>
          <p:cNvSpPr/>
          <p:nvPr/>
        </p:nvSpPr>
        <p:spPr>
          <a:xfrm>
            <a:off x="2133600" y="29210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8" name="Google Shape;388;p50"/>
          <p:cNvSpPr/>
          <p:nvPr/>
        </p:nvSpPr>
        <p:spPr>
          <a:xfrm>
            <a:off x="4718491" y="5418468"/>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9" name="Google Shape;389;p50"/>
          <p:cNvSpPr/>
          <p:nvPr/>
        </p:nvSpPr>
        <p:spPr>
          <a:xfrm>
            <a:off x="7546755" y="29210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90" name="Google Shape;390;p50"/>
          <p:cNvSpPr/>
          <p:nvPr/>
        </p:nvSpPr>
        <p:spPr>
          <a:xfrm>
            <a:off x="10412787" y="4196909"/>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91" name="Google Shape;391;p50"/>
          <p:cNvCxnSpPr>
            <a:endCxn id="388" idx="2"/>
          </p:cNvCxnSpPr>
          <p:nvPr/>
        </p:nvCxnSpPr>
        <p:spPr>
          <a:xfrm>
            <a:off x="3403691" y="5454468"/>
            <a:ext cx="1314800" cy="14800"/>
          </a:xfrm>
          <a:prstGeom prst="straightConnector1">
            <a:avLst/>
          </a:prstGeom>
          <a:noFill/>
          <a:ln w="19050" cap="flat" cmpd="sng">
            <a:solidFill>
              <a:srgbClr val="A3A3A3"/>
            </a:solidFill>
            <a:prstDash val="solid"/>
            <a:round/>
            <a:headEnd type="none" w="sm" len="sm"/>
            <a:tailEnd type="none" w="sm" len="sm"/>
          </a:ln>
        </p:spPr>
      </p:cxnSp>
      <p:cxnSp>
        <p:nvCxnSpPr>
          <p:cNvPr id="392" name="Google Shape;392;p50"/>
          <p:cNvCxnSpPr>
            <a:endCxn id="383" idx="2"/>
          </p:cNvCxnSpPr>
          <p:nvPr/>
        </p:nvCxnSpPr>
        <p:spPr>
          <a:xfrm>
            <a:off x="2218000" y="2964600"/>
            <a:ext cx="1084000" cy="7200"/>
          </a:xfrm>
          <a:prstGeom prst="straightConnector1">
            <a:avLst/>
          </a:prstGeom>
          <a:noFill/>
          <a:ln w="19050" cap="flat" cmpd="sng">
            <a:solidFill>
              <a:srgbClr val="A3A3A3"/>
            </a:solidFill>
            <a:prstDash val="solid"/>
            <a:round/>
            <a:headEnd type="none" w="sm" len="sm"/>
            <a:tailEnd type="none" w="sm" len="sm"/>
          </a:ln>
        </p:spPr>
      </p:cxnSp>
      <p:cxnSp>
        <p:nvCxnSpPr>
          <p:cNvPr id="393" name="Google Shape;393;p50"/>
          <p:cNvCxnSpPr>
            <a:stCxn id="379" idx="6"/>
            <a:endCxn id="389" idx="2"/>
          </p:cNvCxnSpPr>
          <p:nvPr/>
        </p:nvCxnSpPr>
        <p:spPr>
          <a:xfrm>
            <a:off x="6248400" y="2971800"/>
            <a:ext cx="1298400" cy="0"/>
          </a:xfrm>
          <a:prstGeom prst="straightConnector1">
            <a:avLst/>
          </a:prstGeom>
          <a:noFill/>
          <a:ln w="19050" cap="flat" cmpd="sng">
            <a:solidFill>
              <a:srgbClr val="A3A3A3"/>
            </a:solidFill>
            <a:prstDash val="solid"/>
            <a:round/>
            <a:headEnd type="none" w="sm" len="sm"/>
            <a:tailEnd type="none" w="sm" len="sm"/>
          </a:ln>
        </p:spPr>
      </p:cxnSp>
      <p:cxnSp>
        <p:nvCxnSpPr>
          <p:cNvPr id="394" name="Google Shape;394;p50"/>
          <p:cNvCxnSpPr/>
          <p:nvPr/>
        </p:nvCxnSpPr>
        <p:spPr>
          <a:xfrm>
            <a:off x="9093200" y="4255388"/>
            <a:ext cx="1298355" cy="0"/>
          </a:xfrm>
          <a:prstGeom prst="straightConnector1">
            <a:avLst/>
          </a:prstGeom>
          <a:noFill/>
          <a:ln w="19050" cap="flat" cmpd="sng">
            <a:solidFill>
              <a:srgbClr val="A3A3A3"/>
            </a:solidFill>
            <a:prstDash val="solid"/>
            <a:round/>
            <a:headEnd type="none" w="sm" len="sm"/>
            <a:tailEnd type="none" w="sm" len="sm"/>
          </a:ln>
        </p:spPr>
      </p:cxnSp>
      <p:cxnSp>
        <p:nvCxnSpPr>
          <p:cNvPr id="395" name="Google Shape;395;p50"/>
          <p:cNvCxnSpPr/>
          <p:nvPr/>
        </p:nvCxnSpPr>
        <p:spPr>
          <a:xfrm>
            <a:off x="7648355" y="2964417"/>
            <a:ext cx="1298355" cy="0"/>
          </a:xfrm>
          <a:prstGeom prst="straightConnector1">
            <a:avLst/>
          </a:prstGeom>
          <a:noFill/>
          <a:ln w="19050" cap="flat" cmpd="sng">
            <a:solidFill>
              <a:srgbClr val="A3A3A3"/>
            </a:solidFill>
            <a:prstDash val="solid"/>
            <a:round/>
            <a:headEnd type="none" w="sm" len="sm"/>
            <a:tailEnd type="none" w="sm" len="sm"/>
          </a:ln>
        </p:spPr>
      </p:cxnSp>
      <p:cxnSp>
        <p:nvCxnSpPr>
          <p:cNvPr id="396" name="Google Shape;396;p50"/>
          <p:cNvCxnSpPr>
            <a:stCxn id="388" idx="6"/>
          </p:cNvCxnSpPr>
          <p:nvPr/>
        </p:nvCxnSpPr>
        <p:spPr>
          <a:xfrm rot="10800000" flipH="1">
            <a:off x="4820091" y="5460868"/>
            <a:ext cx="1326800" cy="8400"/>
          </a:xfrm>
          <a:prstGeom prst="straightConnector1">
            <a:avLst/>
          </a:prstGeom>
          <a:noFill/>
          <a:ln w="19050" cap="flat" cmpd="sng">
            <a:solidFill>
              <a:srgbClr val="A3A3A3"/>
            </a:solidFill>
            <a:prstDash val="solid"/>
            <a:round/>
            <a:headEnd type="none" w="sm" len="sm"/>
            <a:tailEnd type="none" w="sm" len="sm"/>
          </a:ln>
        </p:spPr>
      </p:cxnSp>
      <p:sp>
        <p:nvSpPr>
          <p:cNvPr id="397" name="Google Shape;397;p50"/>
          <p:cNvSpPr txBox="1"/>
          <p:nvPr/>
        </p:nvSpPr>
        <p:spPr>
          <a:xfrm>
            <a:off x="3657601"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1</a:t>
            </a:r>
            <a:endParaRPr sz="2667">
              <a:solidFill>
                <a:srgbClr val="000000"/>
              </a:solidFill>
              <a:latin typeface="Trebuchet MS"/>
              <a:ea typeface="Trebuchet MS"/>
              <a:cs typeface="Trebuchet MS"/>
              <a:sym typeface="Trebuchet MS"/>
            </a:endParaRPr>
          </a:p>
        </p:txBody>
      </p:sp>
      <p:sp>
        <p:nvSpPr>
          <p:cNvPr id="398" name="Google Shape;398;p50"/>
          <p:cNvSpPr txBox="1"/>
          <p:nvPr/>
        </p:nvSpPr>
        <p:spPr>
          <a:xfrm>
            <a:off x="6532026"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2</a:t>
            </a:r>
            <a:endParaRPr sz="2667">
              <a:solidFill>
                <a:srgbClr val="000000"/>
              </a:solidFill>
              <a:latin typeface="Trebuchet MS"/>
              <a:ea typeface="Trebuchet MS"/>
              <a:cs typeface="Trebuchet MS"/>
              <a:sym typeface="Trebuchet MS"/>
            </a:endParaRPr>
          </a:p>
        </p:txBody>
      </p:sp>
      <p:sp>
        <p:nvSpPr>
          <p:cNvPr id="399" name="Google Shape;399;p50"/>
          <p:cNvSpPr txBox="1"/>
          <p:nvPr/>
        </p:nvSpPr>
        <p:spPr>
          <a:xfrm>
            <a:off x="9373782"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3</a:t>
            </a:r>
            <a:endParaRPr sz="2667">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9327104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Challenges in Practical Mixing</a:t>
            </a:r>
          </a:p>
          <a:p>
            <a:r>
              <a:rPr lang="en-IN" dirty="0"/>
              <a:t>As of </a:t>
            </a:r>
            <a:r>
              <a:rPr lang="en-IN" b="1" dirty="0" smtClean="0"/>
              <a:t>2022</a:t>
            </a:r>
            <a:r>
              <a:rPr lang="en-IN" dirty="0" smtClean="0"/>
              <a:t>, </a:t>
            </a:r>
            <a:r>
              <a:rPr lang="en-IN" dirty="0"/>
              <a:t>mixing services had low volume, leading to small anonymity sets.</a:t>
            </a:r>
          </a:p>
          <a:p>
            <a:r>
              <a:rPr lang="en-IN" dirty="0"/>
              <a:t>Many mix services had </a:t>
            </a:r>
            <a:r>
              <a:rPr lang="en-IN" b="1" dirty="0"/>
              <a:t>trust issues</a:t>
            </a:r>
            <a:r>
              <a:rPr lang="en-IN" dirty="0"/>
              <a:t> and even stole users' funds.</a:t>
            </a:r>
          </a:p>
          <a:p>
            <a:r>
              <a:rPr lang="en-IN" dirty="0"/>
              <a:t>Anonymity depends on </a:t>
            </a:r>
            <a:r>
              <a:rPr lang="en-IN" b="1" dirty="0"/>
              <a:t>high usage</a:t>
            </a:r>
            <a:r>
              <a:rPr lang="en-IN" dirty="0"/>
              <a:t>, but </a:t>
            </a:r>
            <a:r>
              <a:rPr lang="en-IN" dirty="0" err="1"/>
              <a:t>skepticism</a:t>
            </a:r>
            <a:r>
              <a:rPr lang="en-IN" dirty="0"/>
              <a:t> about mixes prevents adoption.</a:t>
            </a:r>
          </a:p>
          <a:p>
            <a:endParaRPr lang="en-IN" dirty="0"/>
          </a:p>
        </p:txBody>
      </p:sp>
    </p:spTree>
    <p:extLst>
      <p:ext uri="{BB962C8B-B14F-4D97-AF65-F5344CB8AC3E}">
        <p14:creationId xmlns:p14="http://schemas.microsoft.com/office/powerpoint/2010/main" val="26629133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7"/>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a:solidFill>
                  <a:schemeClr val="dk1"/>
                </a:solidFill>
                <a:latin typeface="Trebuchet MS"/>
                <a:ea typeface="Trebuchet MS"/>
                <a:cs typeface="Trebuchet MS"/>
                <a:sym typeface="Trebuchet MS"/>
              </a:rPr>
              <a:t>Why decentralized mixing?</a:t>
            </a:r>
            <a:endParaRPr sz="4800" b="1" dirty="0">
              <a:solidFill>
                <a:schemeClr val="dk1"/>
              </a:solidFill>
              <a:latin typeface="Trebuchet MS"/>
              <a:ea typeface="Trebuchet MS"/>
              <a:cs typeface="Trebuchet MS"/>
              <a:sym typeface="Trebuchet MS"/>
            </a:endParaRPr>
          </a:p>
        </p:txBody>
      </p:sp>
      <p:sp>
        <p:nvSpPr>
          <p:cNvPr id="444" name="Google Shape;444;p57"/>
          <p:cNvSpPr txBox="1">
            <a:spLocks noGrp="1"/>
          </p:cNvSpPr>
          <p:nvPr>
            <p:ph type="body" idx="1"/>
          </p:nvPr>
        </p:nvSpPr>
        <p:spPr>
          <a:xfrm>
            <a:off x="609600" y="1981200"/>
            <a:ext cx="10972800" cy="4586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lgn="just">
              <a:spcBef>
                <a:spcPts val="0"/>
              </a:spcBef>
              <a:buClr>
                <a:srgbClr val="A3A3A3"/>
              </a:buClr>
              <a:buNone/>
            </a:pPr>
            <a:r>
              <a:rPr lang="en-IN" sz="2400" dirty="0"/>
              <a:t>Decentralized mixing is a </a:t>
            </a:r>
            <a:r>
              <a:rPr lang="en-IN" sz="2400" b="1" dirty="0"/>
              <a:t>privacy-enhancing mechanism</a:t>
            </a:r>
            <a:r>
              <a:rPr lang="en-IN" sz="2400" dirty="0"/>
              <a:t> that allows </a:t>
            </a:r>
            <a:r>
              <a:rPr lang="en-IN" sz="2400" dirty="0" err="1"/>
              <a:t>Bitcoin</a:t>
            </a:r>
            <a:r>
              <a:rPr lang="en-IN" sz="2400" dirty="0"/>
              <a:t> users to </a:t>
            </a:r>
            <a:r>
              <a:rPr lang="en-IN" sz="2400" b="1" dirty="0"/>
              <a:t>obscure the traceability of transactions</a:t>
            </a:r>
            <a:r>
              <a:rPr lang="en-IN" sz="2400" dirty="0"/>
              <a:t> without relying on a </a:t>
            </a:r>
            <a:r>
              <a:rPr lang="en-IN" sz="2400" b="1" dirty="0"/>
              <a:t>centralized mixing service</a:t>
            </a:r>
            <a:r>
              <a:rPr lang="en-IN" sz="2400" dirty="0"/>
              <a:t>.</a:t>
            </a:r>
            <a:endParaRPr lang="en" sz="2400" dirty="0" smtClean="0">
              <a:solidFill>
                <a:schemeClr val="dk1"/>
              </a:solidFill>
              <a:latin typeface="Trebuchet MS"/>
              <a:ea typeface="Trebuchet MS"/>
              <a:cs typeface="Trebuchet MS"/>
              <a:sym typeface="Trebuchet MS"/>
            </a:endParaRPr>
          </a:p>
          <a:p>
            <a:pPr marL="685783" indent="-685783">
              <a:spcBef>
                <a:spcPts val="0"/>
              </a:spcBef>
              <a:buClr>
                <a:srgbClr val="A3A3A3"/>
              </a:buClr>
              <a:buFont typeface="Arial"/>
              <a:buChar char="•"/>
            </a:pPr>
            <a:endParaRPr lang="en" sz="2400" dirty="0">
              <a:solidFill>
                <a:schemeClr val="dk1"/>
              </a:solidFill>
              <a:latin typeface="Trebuchet MS"/>
              <a:ea typeface="Trebuchet MS"/>
              <a:cs typeface="Trebuchet MS"/>
              <a:sym typeface="Trebuchet MS"/>
            </a:endParaRPr>
          </a:p>
          <a:p>
            <a:pPr marL="0" indent="0">
              <a:spcBef>
                <a:spcPts val="0"/>
              </a:spcBef>
              <a:buClr>
                <a:srgbClr val="A3A3A3"/>
              </a:buClr>
              <a:buNone/>
            </a:pPr>
            <a:r>
              <a:rPr lang="en" sz="2400" b="1" dirty="0" smtClean="0">
                <a:solidFill>
                  <a:schemeClr val="dk1"/>
                </a:solidFill>
                <a:latin typeface="Trebuchet MS"/>
                <a:ea typeface="Trebuchet MS"/>
                <a:cs typeface="Trebuchet MS"/>
                <a:sym typeface="Trebuchet MS"/>
              </a:rPr>
              <a:t>        1. No </a:t>
            </a:r>
            <a:r>
              <a:rPr lang="en" sz="2400" b="1" dirty="0">
                <a:solidFill>
                  <a:schemeClr val="dk1"/>
                </a:solidFill>
                <a:latin typeface="Trebuchet MS"/>
                <a:ea typeface="Trebuchet MS"/>
                <a:cs typeface="Trebuchet MS"/>
                <a:sym typeface="Trebuchet MS"/>
              </a:rPr>
              <a:t>bootstrapping problem</a:t>
            </a:r>
            <a:endParaRPr sz="2400" b="1" dirty="0"/>
          </a:p>
          <a:p>
            <a:pPr marL="0" indent="0">
              <a:spcBef>
                <a:spcPts val="0"/>
              </a:spcBef>
              <a:buClr>
                <a:srgbClr val="A3A3A3"/>
              </a:buClr>
              <a:buNone/>
            </a:pPr>
            <a:r>
              <a:rPr lang="en" sz="2400" b="1" dirty="0" smtClean="0">
                <a:solidFill>
                  <a:schemeClr val="dk1"/>
                </a:solidFill>
                <a:latin typeface="Trebuchet MS"/>
                <a:ea typeface="Trebuchet MS"/>
                <a:cs typeface="Trebuchet MS"/>
                <a:sym typeface="Trebuchet MS"/>
              </a:rPr>
              <a:t>         2. Theft impossible</a:t>
            </a:r>
          </a:p>
          <a:p>
            <a:pPr marL="0" indent="0">
              <a:spcBef>
                <a:spcPts val="0"/>
              </a:spcBef>
              <a:buClr>
                <a:srgbClr val="A3A3A3"/>
              </a:buClr>
              <a:buNone/>
            </a:pPr>
            <a:r>
              <a:rPr lang="en-IN" sz="2000" dirty="0"/>
              <a:t>Since users </a:t>
            </a:r>
            <a:r>
              <a:rPr lang="en-IN" sz="2000" b="1" dirty="0"/>
              <a:t>never lose control of their private keys</a:t>
            </a:r>
            <a:r>
              <a:rPr lang="en-IN" sz="2000" dirty="0"/>
              <a:t>, theft becomes </a:t>
            </a:r>
            <a:r>
              <a:rPr lang="en-IN" sz="2000" b="1" dirty="0"/>
              <a:t>impossible</a:t>
            </a:r>
            <a:r>
              <a:rPr lang="en-IN" sz="2000" dirty="0"/>
              <a:t> in decentralized mixing systems.</a:t>
            </a:r>
            <a:endParaRPr sz="2000" b="1" dirty="0"/>
          </a:p>
          <a:p>
            <a:pPr marL="0" indent="0">
              <a:spcBef>
                <a:spcPts val="0"/>
              </a:spcBef>
              <a:buClr>
                <a:srgbClr val="A3A3A3"/>
              </a:buClr>
              <a:buNone/>
            </a:pPr>
            <a:r>
              <a:rPr lang="en" sz="2400" b="1" dirty="0" smtClean="0">
                <a:solidFill>
                  <a:schemeClr val="dk1"/>
                </a:solidFill>
                <a:latin typeface="Trebuchet MS"/>
                <a:ea typeface="Trebuchet MS"/>
                <a:cs typeface="Trebuchet MS"/>
                <a:sym typeface="Trebuchet MS"/>
              </a:rPr>
              <a:t>        3.More </a:t>
            </a:r>
            <a:r>
              <a:rPr lang="en" sz="2400" b="1" dirty="0">
                <a:solidFill>
                  <a:schemeClr val="dk1"/>
                </a:solidFill>
                <a:latin typeface="Trebuchet MS"/>
                <a:ea typeface="Trebuchet MS"/>
                <a:cs typeface="Trebuchet MS"/>
                <a:sym typeface="Trebuchet MS"/>
              </a:rPr>
              <a:t>philosophically aligned with </a:t>
            </a:r>
            <a:r>
              <a:rPr lang="en" sz="2400" b="1" dirty="0" smtClean="0">
                <a:solidFill>
                  <a:schemeClr val="dk1"/>
                </a:solidFill>
                <a:latin typeface="Trebuchet MS"/>
                <a:ea typeface="Trebuchet MS"/>
                <a:cs typeface="Trebuchet MS"/>
                <a:sym typeface="Trebuchet MS"/>
              </a:rPr>
              <a:t>Bitcoin</a:t>
            </a:r>
            <a:r>
              <a:rPr lang="en" sz="2400" dirty="0" smtClean="0">
                <a:solidFill>
                  <a:schemeClr val="dk1"/>
                </a:solidFill>
                <a:latin typeface="Trebuchet MS"/>
                <a:ea typeface="Trebuchet MS"/>
                <a:cs typeface="Trebuchet MS"/>
                <a:sym typeface="Trebuchet MS"/>
              </a:rPr>
              <a:t>.</a:t>
            </a:r>
            <a:r>
              <a:rPr lang="en-IN" sz="2400" dirty="0"/>
              <a:t> </a:t>
            </a:r>
            <a:endParaRPr lang="en-IN" sz="2400" dirty="0" smtClean="0"/>
          </a:p>
          <a:p>
            <a:pPr marL="0" indent="0">
              <a:spcBef>
                <a:spcPts val="0"/>
              </a:spcBef>
              <a:buClr>
                <a:srgbClr val="A3A3A3"/>
              </a:buClr>
              <a:buNone/>
            </a:pPr>
            <a:r>
              <a:rPr lang="en-IN" sz="2400" dirty="0" smtClean="0"/>
              <a:t>it </a:t>
            </a:r>
            <a:r>
              <a:rPr lang="en-IN" sz="2400" dirty="0"/>
              <a:t>makes possible to get rid of the need centralized service. Then, there are a lot of Bitcoin users who find that appealing</a:t>
            </a:r>
            <a:r>
              <a:rPr lang="en-IN" sz="2400" dirty="0" smtClean="0"/>
              <a:t>.</a:t>
            </a:r>
          </a:p>
          <a:p>
            <a:pPr marL="685783" indent="-685783">
              <a:spcBef>
                <a:spcPts val="0"/>
              </a:spcBef>
              <a:buClr>
                <a:srgbClr val="A3A3A3"/>
              </a:buClr>
              <a:buFont typeface="Arial"/>
              <a:buChar char="•"/>
            </a:pPr>
            <a:endParaRPr sz="40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77124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4">
                                            <p:txEl>
                                              <p:pRg st="6" end="6"/>
                                            </p:txEl>
                                          </p:spTgt>
                                        </p:tgtEl>
                                        <p:attrNameLst>
                                          <p:attrName>style.visibility</p:attrName>
                                        </p:attrNameLst>
                                      </p:cBhvr>
                                      <p:to>
                                        <p:strVal val="visible"/>
                                      </p:to>
                                    </p:set>
                                    <p:anim calcmode="lin" valueType="num">
                                      <p:cBhvr additive="base">
                                        <p:cTn id="7" dur="500" fill="hold"/>
                                        <p:tgtEl>
                                          <p:spTgt spid="444">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228601"/>
            <a:ext cx="10972800" cy="6339176"/>
          </a:xfrm>
        </p:spPr>
        <p:txBody>
          <a:bodyPr/>
          <a:lstStyle/>
          <a:p>
            <a:pPr marL="50799" indent="0">
              <a:buNone/>
            </a:pPr>
            <a:endParaRPr lang="en-IN" sz="2400" dirty="0" smtClean="0">
              <a:latin typeface="Trebuchet MS" panose="020B0603020202020204" pitchFamily="34" charset="0"/>
            </a:endParaRPr>
          </a:p>
          <a:p>
            <a:pPr marL="50799" indent="0">
              <a:buNone/>
            </a:pPr>
            <a:endParaRPr lang="en-IN" sz="2400" dirty="0">
              <a:latin typeface="Trebuchet MS" panose="020B0603020202020204" pitchFamily="34" charset="0"/>
            </a:endParaRPr>
          </a:p>
          <a:p>
            <a:pPr marL="50799" indent="0">
              <a:buNone/>
            </a:pPr>
            <a:endParaRPr lang="en-IN" sz="2400" dirty="0" smtClean="0">
              <a:latin typeface="Trebuchet MS" panose="020B0603020202020204" pitchFamily="34" charset="0"/>
            </a:endParaRPr>
          </a:p>
          <a:p>
            <a:pPr marL="50799" indent="0">
              <a:buNone/>
            </a:pPr>
            <a:r>
              <a:rPr lang="en-IN" sz="2400" b="1" dirty="0" smtClean="0">
                <a:latin typeface="Trebuchet MS" panose="020B0603020202020204" pitchFamily="34" charset="0"/>
              </a:rPr>
              <a:t>4.</a:t>
            </a:r>
            <a:r>
              <a:rPr lang="en-IN" sz="2400" b="1" dirty="0">
                <a:latin typeface="Trebuchet MS" panose="020B0603020202020204" pitchFamily="34" charset="0"/>
              </a:rPr>
              <a:t> Possibly Better Anonymity</a:t>
            </a:r>
          </a:p>
          <a:p>
            <a:pPr>
              <a:buFont typeface="Arial" panose="020B0604020202020204" pitchFamily="34" charset="0"/>
              <a:buChar char="•"/>
            </a:pPr>
            <a:r>
              <a:rPr lang="en-IN" sz="2400" dirty="0" smtClean="0"/>
              <a:t> </a:t>
            </a:r>
            <a:r>
              <a:rPr lang="en-IN" sz="2400" dirty="0"/>
              <a:t>Centralized mixers often operate with </a:t>
            </a:r>
            <a:r>
              <a:rPr lang="en-IN" sz="2400" b="1" dirty="0"/>
              <a:t>limited user pools</a:t>
            </a:r>
            <a:r>
              <a:rPr lang="en-IN" sz="2400" dirty="0"/>
              <a:t>, meaning transactions can still be </a:t>
            </a:r>
            <a:r>
              <a:rPr lang="en-IN" sz="2400" b="1" dirty="0"/>
              <a:t>correlated</a:t>
            </a:r>
            <a:r>
              <a:rPr lang="en-IN" sz="2400" dirty="0"/>
              <a:t> if the anonymity set is small</a:t>
            </a:r>
            <a:r>
              <a:rPr lang="en-IN" sz="2400" dirty="0" smtClean="0"/>
              <a:t>.</a:t>
            </a:r>
          </a:p>
          <a:p>
            <a:pPr>
              <a:buFont typeface="Arial" panose="020B0604020202020204" pitchFamily="34" charset="0"/>
              <a:buChar char="•"/>
            </a:pPr>
            <a:r>
              <a:rPr lang="en-IN" sz="2400" dirty="0" smtClean="0"/>
              <a:t>Governments </a:t>
            </a:r>
            <a:r>
              <a:rPr lang="en-IN" sz="2400" dirty="0"/>
              <a:t>or </a:t>
            </a:r>
            <a:r>
              <a:rPr lang="en-IN" sz="2400" dirty="0" err="1"/>
              <a:t>blockchain</a:t>
            </a:r>
            <a:r>
              <a:rPr lang="en-IN" sz="2400" dirty="0"/>
              <a:t> analysis companies can </a:t>
            </a:r>
            <a:r>
              <a:rPr lang="en-IN" sz="2400" b="1" dirty="0"/>
              <a:t>compel centralized mixers to provide transaction records</a:t>
            </a:r>
            <a:r>
              <a:rPr lang="en-IN" sz="2400" dirty="0"/>
              <a:t>, revealing user identities</a:t>
            </a:r>
            <a:r>
              <a:rPr lang="en-IN" sz="2400" dirty="0" smtClean="0"/>
              <a:t>.</a:t>
            </a:r>
          </a:p>
          <a:p>
            <a:pPr>
              <a:buFont typeface="Arial" panose="020B0604020202020204" pitchFamily="34" charset="0"/>
              <a:buChar char="•"/>
            </a:pPr>
            <a:r>
              <a:rPr lang="en-IN" sz="2400" b="1" dirty="0" smtClean="0"/>
              <a:t>Decentralized </a:t>
            </a:r>
            <a:r>
              <a:rPr lang="en-IN" sz="2400" b="1" dirty="0"/>
              <a:t>mixing offers better anonymity because:</a:t>
            </a:r>
            <a:endParaRPr lang="en-IN" sz="2400" dirty="0"/>
          </a:p>
          <a:p>
            <a:pPr marL="50799" indent="0">
              <a:buNone/>
            </a:pPr>
            <a:r>
              <a:rPr lang="en-IN" sz="2400" dirty="0" smtClean="0"/>
              <a:t>          --It </a:t>
            </a:r>
            <a:r>
              <a:rPr lang="en-IN" sz="2400" dirty="0"/>
              <a:t>allows </a:t>
            </a:r>
            <a:r>
              <a:rPr lang="en-IN" sz="2400" b="1" dirty="0"/>
              <a:t>a much larger user base</a:t>
            </a:r>
            <a:r>
              <a:rPr lang="en-IN" sz="2400" dirty="0"/>
              <a:t> to mix coins together.</a:t>
            </a:r>
          </a:p>
          <a:p>
            <a:pPr marL="50799" indent="0">
              <a:buNone/>
            </a:pPr>
            <a:r>
              <a:rPr lang="en-IN" sz="2400" dirty="0" smtClean="0"/>
              <a:t>          --Methods </a:t>
            </a:r>
            <a:r>
              <a:rPr lang="en-IN" sz="2400" dirty="0"/>
              <a:t>like </a:t>
            </a:r>
            <a:r>
              <a:rPr lang="en-IN" sz="2400" b="1" dirty="0" err="1"/>
              <a:t>CoinJoin</a:t>
            </a:r>
            <a:r>
              <a:rPr lang="en-IN" sz="2400" dirty="0"/>
              <a:t> make transactions </a:t>
            </a:r>
            <a:r>
              <a:rPr lang="en-IN" sz="2400" b="1" dirty="0"/>
              <a:t>indistinguishable from regular </a:t>
            </a:r>
            <a:r>
              <a:rPr lang="en-IN" sz="2400" b="1" dirty="0" err="1"/>
              <a:t>Bitcoin</a:t>
            </a:r>
            <a:r>
              <a:rPr lang="en-IN" sz="2400" b="1" dirty="0"/>
              <a:t> transactions</a:t>
            </a:r>
            <a:r>
              <a:rPr lang="en-IN" sz="2400" dirty="0"/>
              <a:t>.</a:t>
            </a:r>
          </a:p>
          <a:p>
            <a:pPr marL="50799" indent="0">
              <a:buNone/>
            </a:pPr>
            <a:r>
              <a:rPr lang="en-IN" sz="2400" dirty="0" smtClean="0"/>
              <a:t>          --There </a:t>
            </a:r>
            <a:r>
              <a:rPr lang="en-IN" sz="2400" dirty="0"/>
              <a:t>are </a:t>
            </a:r>
            <a:r>
              <a:rPr lang="en-IN" sz="2400" b="1" dirty="0"/>
              <a:t>no logs or records</a:t>
            </a:r>
            <a:r>
              <a:rPr lang="en-IN" sz="2400" dirty="0"/>
              <a:t> that can be seized or </a:t>
            </a:r>
            <a:r>
              <a:rPr lang="en-IN" sz="2400" dirty="0" err="1"/>
              <a:t>analyzed</a:t>
            </a:r>
            <a:r>
              <a:rPr lang="en-IN" sz="2400" dirty="0"/>
              <a:t>.</a:t>
            </a:r>
          </a:p>
          <a:p>
            <a:pPr marL="50799" indent="0">
              <a:buNone/>
            </a:pPr>
            <a:endParaRPr lang="en-IN" sz="2400" dirty="0"/>
          </a:p>
        </p:txBody>
      </p:sp>
    </p:spTree>
    <p:extLst>
      <p:ext uri="{BB962C8B-B14F-4D97-AF65-F5344CB8AC3E}">
        <p14:creationId xmlns:p14="http://schemas.microsoft.com/office/powerpoint/2010/main" val="35532575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11049000" cy="1371600"/>
          </a:xfrm>
        </p:spPr>
        <p:txBody>
          <a:bodyPr/>
          <a:lstStyle/>
          <a:p>
            <a:r>
              <a:rPr lang="en-IN" b="1" dirty="0" smtClean="0">
                <a:latin typeface="Trebuchet MS" panose="020B0603020202020204" pitchFamily="34" charset="0"/>
              </a:rPr>
              <a:t/>
            </a:r>
            <a:br>
              <a:rPr lang="en-IN" b="1" dirty="0" smtClean="0">
                <a:latin typeface="Trebuchet MS" panose="020B0603020202020204" pitchFamily="34" charset="0"/>
              </a:rPr>
            </a:br>
            <a:r>
              <a:rPr lang="en-IN" b="1" dirty="0">
                <a:latin typeface="Trebuchet MS" panose="020B0603020202020204" pitchFamily="34" charset="0"/>
              </a:rPr>
              <a:t/>
            </a:r>
            <a:br>
              <a:rPr lang="en-IN" b="1" dirty="0">
                <a:latin typeface="Trebuchet MS" panose="020B0603020202020204" pitchFamily="34" charset="0"/>
              </a:rPr>
            </a:br>
            <a:r>
              <a:rPr lang="en-IN" b="1" dirty="0" smtClean="0">
                <a:latin typeface="Trebuchet MS" panose="020B0603020202020204" pitchFamily="34" charset="0"/>
              </a:rPr>
              <a:t>Decentralized </a:t>
            </a:r>
            <a:r>
              <a:rPr lang="en-IN" b="1" dirty="0">
                <a:latin typeface="Trebuchet MS" panose="020B0603020202020204" pitchFamily="34" charset="0"/>
              </a:rPr>
              <a:t>Mixing Approaches</a:t>
            </a:r>
            <a:r>
              <a:rPr lang="en-IN" b="1" dirty="0"/>
              <a:t/>
            </a:r>
            <a:br>
              <a:rPr lang="en-IN" b="1" dirty="0"/>
            </a:br>
            <a:endParaRPr lang="en-IN" dirty="0"/>
          </a:p>
        </p:txBody>
      </p:sp>
      <p:sp>
        <p:nvSpPr>
          <p:cNvPr id="3" name="Text Placeholder 2"/>
          <p:cNvSpPr>
            <a:spLocks noGrp="1"/>
          </p:cNvSpPr>
          <p:nvPr>
            <p:ph type="body" idx="1"/>
          </p:nvPr>
        </p:nvSpPr>
        <p:spPr/>
        <p:txBody>
          <a:bodyPr/>
          <a:lstStyle/>
          <a:p>
            <a:pPr marL="50799" indent="0">
              <a:buNone/>
            </a:pPr>
            <a:r>
              <a:rPr lang="en-IN" dirty="0" smtClean="0"/>
              <a:t>               -- </a:t>
            </a:r>
            <a:r>
              <a:rPr lang="en-IN" dirty="0" err="1" smtClean="0"/>
              <a:t>CoinJoin</a:t>
            </a:r>
            <a:endParaRPr lang="en-IN" dirty="0" smtClean="0"/>
          </a:p>
          <a:p>
            <a:pPr marL="50799" indent="0">
              <a:buNone/>
            </a:pPr>
            <a:r>
              <a:rPr lang="en-IN" dirty="0" smtClean="0"/>
              <a:t>               -- </a:t>
            </a:r>
            <a:r>
              <a:rPr lang="en-IN" dirty="0" err="1"/>
              <a:t>CoinSwap</a:t>
            </a:r>
            <a:r>
              <a:rPr lang="en-IN" dirty="0"/>
              <a:t>  </a:t>
            </a:r>
            <a:endParaRPr lang="en-IN" dirty="0" smtClean="0"/>
          </a:p>
          <a:p>
            <a:pPr marL="50799" indent="0">
              <a:buNone/>
            </a:pPr>
            <a:r>
              <a:rPr lang="en-IN" b="1" dirty="0" smtClean="0"/>
              <a:t>                --</a:t>
            </a:r>
            <a:r>
              <a:rPr lang="en-IN" dirty="0" err="1" smtClean="0"/>
              <a:t>Chaumian</a:t>
            </a:r>
            <a:r>
              <a:rPr lang="en-IN" dirty="0" smtClean="0"/>
              <a:t> </a:t>
            </a:r>
            <a:r>
              <a:rPr lang="en-IN" dirty="0"/>
              <a:t>Mixes</a:t>
            </a:r>
          </a:p>
          <a:p>
            <a:pPr marL="50799" indent="0">
              <a:buNone/>
            </a:pPr>
            <a:r>
              <a:rPr lang="en-IN" dirty="0" smtClean="0"/>
              <a:t>               </a:t>
            </a:r>
            <a:endParaRPr lang="en-IN" dirty="0"/>
          </a:p>
          <a:p>
            <a:pPr marL="50799" indent="0">
              <a:buNone/>
            </a:pPr>
            <a:r>
              <a:rPr lang="en-IN" dirty="0" smtClean="0"/>
              <a:t> </a:t>
            </a:r>
            <a:endParaRPr lang="en-IN" dirty="0"/>
          </a:p>
        </p:txBody>
      </p:sp>
    </p:spTree>
    <p:extLst>
      <p:ext uri="{BB962C8B-B14F-4D97-AF65-F5344CB8AC3E}">
        <p14:creationId xmlns:p14="http://schemas.microsoft.com/office/powerpoint/2010/main" val="348959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448"/>
        <p:cNvGrpSpPr/>
        <p:nvPr/>
      </p:nvGrpSpPr>
      <p:grpSpPr>
        <a:xfrm>
          <a:off x="0" y="0"/>
          <a:ext cx="0" cy="0"/>
          <a:chOff x="0" y="0"/>
          <a:chExt cx="0" cy="0"/>
        </a:xfrm>
      </p:grpSpPr>
      <p:sp>
        <p:nvSpPr>
          <p:cNvPr id="449" name="Google Shape;449;p58"/>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2800" b="1" dirty="0">
                <a:solidFill>
                  <a:schemeClr val="dk1"/>
                </a:solidFill>
                <a:latin typeface="Trebuchet MS"/>
                <a:ea typeface="Trebuchet MS"/>
                <a:cs typeface="Trebuchet MS"/>
                <a:sym typeface="Trebuchet MS"/>
              </a:rPr>
              <a:t>Coinjoin</a:t>
            </a:r>
            <a:endParaRPr sz="2800" b="1" dirty="0">
              <a:solidFill>
                <a:schemeClr val="dk1"/>
              </a:solidFill>
              <a:latin typeface="Trebuchet MS"/>
              <a:ea typeface="Trebuchet MS"/>
              <a:cs typeface="Trebuchet MS"/>
              <a:sym typeface="Trebuchet MS"/>
            </a:endParaRPr>
          </a:p>
        </p:txBody>
      </p:sp>
      <p:sp>
        <p:nvSpPr>
          <p:cNvPr id="450" name="Google Shape;450;p58"/>
          <p:cNvSpPr txBox="1">
            <a:spLocks noGrp="1"/>
          </p:cNvSpPr>
          <p:nvPr>
            <p:ph type="body" idx="1"/>
          </p:nvPr>
        </p:nvSpPr>
        <p:spPr>
          <a:xfrm>
            <a:off x="7213600" y="1600200"/>
            <a:ext cx="4368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a:solidFill>
                  <a:schemeClr val="dk1"/>
                </a:solidFill>
                <a:latin typeface="Trebuchet MS"/>
                <a:ea typeface="Trebuchet MS"/>
                <a:cs typeface="Trebuchet MS"/>
                <a:sym typeface="Trebuchet MS"/>
              </a:rPr>
              <a:t>Each signature is entirely separate</a:t>
            </a:r>
            <a:endParaRPr/>
          </a:p>
          <a:p>
            <a:pPr marL="0" indent="0">
              <a:spcBef>
                <a:spcPts val="0"/>
              </a:spcBef>
              <a:buClr>
                <a:schemeClr val="dk1"/>
              </a:buClr>
              <a:buNone/>
            </a:pPr>
            <a:endParaRPr>
              <a:solidFill>
                <a:schemeClr val="dk1"/>
              </a:solidFill>
              <a:latin typeface="Trebuchet MS"/>
              <a:ea typeface="Trebuchet MS"/>
              <a:cs typeface="Trebuchet MS"/>
              <a:sym typeface="Trebuchet MS"/>
            </a:endParaRPr>
          </a:p>
          <a:p>
            <a:pPr marL="0" indent="0">
              <a:spcBef>
                <a:spcPts val="0"/>
              </a:spcBef>
              <a:buClr>
                <a:schemeClr val="dk1"/>
              </a:buClr>
              <a:buNone/>
            </a:pPr>
            <a:r>
              <a:rPr lang="en">
                <a:solidFill>
                  <a:schemeClr val="dk1"/>
                </a:solidFill>
                <a:latin typeface="Trebuchet MS"/>
                <a:ea typeface="Trebuchet MS"/>
                <a:cs typeface="Trebuchet MS"/>
                <a:sym typeface="Trebuchet MS"/>
              </a:rPr>
              <a:t>This is 1 mixing round </a:t>
            </a:r>
            <a:endParaRPr/>
          </a:p>
          <a:p>
            <a:pPr marL="0" indent="0">
              <a:spcBef>
                <a:spcPts val="0"/>
              </a:spcBef>
              <a:buClr>
                <a:schemeClr val="dk1"/>
              </a:buClr>
              <a:buNone/>
            </a:pPr>
            <a:endParaRPr>
              <a:solidFill>
                <a:schemeClr val="dk1"/>
              </a:solidFill>
              <a:latin typeface="Trebuchet MS"/>
              <a:ea typeface="Trebuchet MS"/>
              <a:cs typeface="Trebuchet MS"/>
              <a:sym typeface="Trebuchet MS"/>
            </a:endParaRPr>
          </a:p>
          <a:p>
            <a:pPr marL="0" indent="0">
              <a:spcBef>
                <a:spcPts val="0"/>
              </a:spcBef>
              <a:buClr>
                <a:schemeClr val="dk1"/>
              </a:buClr>
              <a:buNone/>
            </a:pPr>
            <a:r>
              <a:rPr lang="en">
                <a:solidFill>
                  <a:schemeClr val="dk1"/>
                </a:solidFill>
                <a:latin typeface="Trebuchet MS"/>
                <a:ea typeface="Trebuchet MS"/>
                <a:cs typeface="Trebuchet MS"/>
                <a:sym typeface="Trebuchet MS"/>
              </a:rPr>
              <a:t>Mixing principles from before apply on top of basic protocol</a:t>
            </a:r>
            <a:endParaRPr>
              <a:solidFill>
                <a:schemeClr val="dk1"/>
              </a:solidFill>
              <a:latin typeface="Trebuchet MS"/>
              <a:ea typeface="Trebuchet MS"/>
              <a:cs typeface="Trebuchet MS"/>
              <a:sym typeface="Trebuchet MS"/>
            </a:endParaRPr>
          </a:p>
        </p:txBody>
      </p:sp>
      <p:sp>
        <p:nvSpPr>
          <p:cNvPr id="451" name="Google Shape;451;p58"/>
          <p:cNvSpPr/>
          <p:nvPr/>
        </p:nvSpPr>
        <p:spPr>
          <a:xfrm>
            <a:off x="1770771" y="23114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452" name="Google Shape;452;p58" descr="User 1 by cyberscooty - "/>
          <p:cNvPicPr preferRelativeResize="0"/>
          <p:nvPr/>
        </p:nvPicPr>
        <p:blipFill rotWithShape="1">
          <a:blip r:embed="rId3">
            <a:alphaModFix/>
          </a:blip>
          <a:srcRect/>
          <a:stretch/>
        </p:blipFill>
        <p:spPr>
          <a:xfrm>
            <a:off x="711200" y="1888155"/>
            <a:ext cx="763213" cy="948091"/>
          </a:xfrm>
          <a:prstGeom prst="rect">
            <a:avLst/>
          </a:prstGeom>
          <a:noFill/>
          <a:ln>
            <a:noFill/>
          </a:ln>
        </p:spPr>
      </p:pic>
      <p:pic>
        <p:nvPicPr>
          <p:cNvPr id="453" name="Google Shape;453;p58" descr="User 2 by cyberscooty - "/>
          <p:cNvPicPr preferRelativeResize="0"/>
          <p:nvPr/>
        </p:nvPicPr>
        <p:blipFill rotWithShape="1">
          <a:blip r:embed="rId4">
            <a:alphaModFix/>
          </a:blip>
          <a:srcRect/>
          <a:stretch/>
        </p:blipFill>
        <p:spPr>
          <a:xfrm>
            <a:off x="711390" y="4377355"/>
            <a:ext cx="763213" cy="948091"/>
          </a:xfrm>
          <a:prstGeom prst="rect">
            <a:avLst/>
          </a:prstGeom>
          <a:noFill/>
          <a:ln>
            <a:noFill/>
          </a:ln>
        </p:spPr>
      </p:pic>
      <p:pic>
        <p:nvPicPr>
          <p:cNvPr id="454" name="Google Shape;454;p58" descr="User 3 by cyberscooty - User #3 - special remix for a demand"/>
          <p:cNvPicPr preferRelativeResize="0"/>
          <p:nvPr/>
        </p:nvPicPr>
        <p:blipFill rotWithShape="1">
          <a:blip r:embed="rId5">
            <a:alphaModFix/>
          </a:blip>
          <a:srcRect/>
          <a:stretch/>
        </p:blipFill>
        <p:spPr>
          <a:xfrm>
            <a:off x="711200" y="3166069"/>
            <a:ext cx="749520" cy="931081"/>
          </a:xfrm>
          <a:prstGeom prst="rect">
            <a:avLst/>
          </a:prstGeom>
          <a:noFill/>
          <a:ln>
            <a:noFill/>
          </a:ln>
        </p:spPr>
      </p:pic>
      <p:cxnSp>
        <p:nvCxnSpPr>
          <p:cNvPr id="455" name="Google Shape;455;p58"/>
          <p:cNvCxnSpPr>
            <a:stCxn id="451" idx="6"/>
          </p:cNvCxnSpPr>
          <p:nvPr/>
        </p:nvCxnSpPr>
        <p:spPr>
          <a:xfrm>
            <a:off x="1872371" y="2362200"/>
            <a:ext cx="1030000" cy="0"/>
          </a:xfrm>
          <a:prstGeom prst="straightConnector1">
            <a:avLst/>
          </a:prstGeom>
          <a:noFill/>
          <a:ln w="19050" cap="flat" cmpd="sng">
            <a:solidFill>
              <a:srgbClr val="A3A3A3"/>
            </a:solidFill>
            <a:prstDash val="solid"/>
            <a:round/>
            <a:headEnd type="none" w="sm" len="sm"/>
            <a:tailEnd type="none" w="sm" len="sm"/>
          </a:ln>
        </p:spPr>
      </p:cxnSp>
      <p:sp>
        <p:nvSpPr>
          <p:cNvPr id="456" name="Google Shape;456;p58"/>
          <p:cNvSpPr/>
          <p:nvPr/>
        </p:nvSpPr>
        <p:spPr>
          <a:xfrm>
            <a:off x="1771952" y="35808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57" name="Google Shape;457;p58"/>
          <p:cNvCxnSpPr>
            <a:stCxn id="456" idx="6"/>
          </p:cNvCxnSpPr>
          <p:nvPr/>
        </p:nvCxnSpPr>
        <p:spPr>
          <a:xfrm>
            <a:off x="1873552" y="3631609"/>
            <a:ext cx="1030000" cy="0"/>
          </a:xfrm>
          <a:prstGeom prst="straightConnector1">
            <a:avLst/>
          </a:prstGeom>
          <a:noFill/>
          <a:ln w="19050" cap="flat" cmpd="sng">
            <a:solidFill>
              <a:srgbClr val="A3A3A3"/>
            </a:solidFill>
            <a:prstDash val="solid"/>
            <a:round/>
            <a:headEnd type="none" w="sm" len="sm"/>
            <a:tailEnd type="none" w="sm" len="sm"/>
          </a:ln>
        </p:spPr>
      </p:cxnSp>
      <p:sp>
        <p:nvSpPr>
          <p:cNvPr id="458" name="Google Shape;458;p58"/>
          <p:cNvSpPr/>
          <p:nvPr/>
        </p:nvSpPr>
        <p:spPr>
          <a:xfrm>
            <a:off x="1771952" y="48006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59" name="Google Shape;459;p58"/>
          <p:cNvCxnSpPr>
            <a:stCxn id="458" idx="6"/>
          </p:cNvCxnSpPr>
          <p:nvPr/>
        </p:nvCxnSpPr>
        <p:spPr>
          <a:xfrm>
            <a:off x="1873552" y="4851400"/>
            <a:ext cx="1028800" cy="0"/>
          </a:xfrm>
          <a:prstGeom prst="straightConnector1">
            <a:avLst/>
          </a:prstGeom>
          <a:noFill/>
          <a:ln w="19050" cap="flat" cmpd="sng">
            <a:solidFill>
              <a:srgbClr val="A3A3A3"/>
            </a:solidFill>
            <a:prstDash val="solid"/>
            <a:round/>
            <a:headEnd type="none" w="sm" len="sm"/>
            <a:tailEnd type="none" w="sm" len="sm"/>
          </a:ln>
        </p:spPr>
      </p:cxnSp>
      <p:sp>
        <p:nvSpPr>
          <p:cNvPr id="460" name="Google Shape;460;p58"/>
          <p:cNvSpPr/>
          <p:nvPr/>
        </p:nvSpPr>
        <p:spPr>
          <a:xfrm>
            <a:off x="2540000" y="1701800"/>
            <a:ext cx="2438400" cy="3860800"/>
          </a:xfrm>
          <a:prstGeom prst="rect">
            <a:avLst/>
          </a:prstGeom>
          <a:no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461" name="Google Shape;461;p58"/>
          <p:cNvSpPr/>
          <p:nvPr/>
        </p:nvSpPr>
        <p:spPr>
          <a:xfrm>
            <a:off x="5615177" y="3583176"/>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462" name="Google Shape;462;p58" descr="User 1 by cyberscooty - "/>
          <p:cNvPicPr preferRelativeResize="0"/>
          <p:nvPr/>
        </p:nvPicPr>
        <p:blipFill rotWithShape="1">
          <a:blip r:embed="rId3">
            <a:alphaModFix/>
          </a:blip>
          <a:srcRect/>
          <a:stretch/>
        </p:blipFill>
        <p:spPr>
          <a:xfrm>
            <a:off x="5936514" y="3159931"/>
            <a:ext cx="763213" cy="948091"/>
          </a:xfrm>
          <a:prstGeom prst="rect">
            <a:avLst/>
          </a:prstGeom>
          <a:noFill/>
          <a:ln>
            <a:noFill/>
          </a:ln>
        </p:spPr>
      </p:pic>
      <p:pic>
        <p:nvPicPr>
          <p:cNvPr id="463" name="Google Shape;463;p58" descr="User 2 by cyberscooty - "/>
          <p:cNvPicPr preferRelativeResize="0"/>
          <p:nvPr/>
        </p:nvPicPr>
        <p:blipFill rotWithShape="1">
          <a:blip r:embed="rId4">
            <a:alphaModFix/>
          </a:blip>
          <a:srcRect/>
          <a:stretch/>
        </p:blipFill>
        <p:spPr>
          <a:xfrm>
            <a:off x="5936703" y="1888464"/>
            <a:ext cx="763213" cy="948091"/>
          </a:xfrm>
          <a:prstGeom prst="rect">
            <a:avLst/>
          </a:prstGeom>
          <a:noFill/>
          <a:ln>
            <a:noFill/>
          </a:ln>
        </p:spPr>
      </p:pic>
      <p:pic>
        <p:nvPicPr>
          <p:cNvPr id="464" name="Google Shape;464;p58" descr="User 3 by cyberscooty - User #3 - special remix for a demand"/>
          <p:cNvPicPr preferRelativeResize="0"/>
          <p:nvPr/>
        </p:nvPicPr>
        <p:blipFill rotWithShape="1">
          <a:blip r:embed="rId5">
            <a:alphaModFix/>
          </a:blip>
          <a:srcRect/>
          <a:stretch/>
        </p:blipFill>
        <p:spPr>
          <a:xfrm>
            <a:off x="5936513" y="4381136"/>
            <a:ext cx="749520" cy="931081"/>
          </a:xfrm>
          <a:prstGeom prst="rect">
            <a:avLst/>
          </a:prstGeom>
          <a:noFill/>
          <a:ln>
            <a:noFill/>
          </a:ln>
        </p:spPr>
      </p:pic>
      <p:sp>
        <p:nvSpPr>
          <p:cNvPr id="465" name="Google Shape;465;p58"/>
          <p:cNvSpPr/>
          <p:nvPr/>
        </p:nvSpPr>
        <p:spPr>
          <a:xfrm>
            <a:off x="5616359" y="4795876"/>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466" name="Google Shape;466;p58"/>
          <p:cNvSpPr/>
          <p:nvPr/>
        </p:nvSpPr>
        <p:spPr>
          <a:xfrm>
            <a:off x="5616359" y="23114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67" name="Google Shape;467;p58"/>
          <p:cNvCxnSpPr/>
          <p:nvPr/>
        </p:nvCxnSpPr>
        <p:spPr>
          <a:xfrm>
            <a:off x="4573182" y="3638109"/>
            <a:ext cx="1028996" cy="0"/>
          </a:xfrm>
          <a:prstGeom prst="straightConnector1">
            <a:avLst/>
          </a:prstGeom>
          <a:noFill/>
          <a:ln w="19050" cap="flat" cmpd="sng">
            <a:solidFill>
              <a:srgbClr val="A3A3A3"/>
            </a:solidFill>
            <a:prstDash val="solid"/>
            <a:round/>
            <a:headEnd type="none" w="sm" len="sm"/>
            <a:tailEnd type="none" w="sm" len="sm"/>
          </a:ln>
        </p:spPr>
      </p:cxnSp>
      <p:cxnSp>
        <p:nvCxnSpPr>
          <p:cNvPr id="468" name="Google Shape;468;p58"/>
          <p:cNvCxnSpPr/>
          <p:nvPr/>
        </p:nvCxnSpPr>
        <p:spPr>
          <a:xfrm>
            <a:off x="4572001" y="4846675"/>
            <a:ext cx="1031359" cy="4135"/>
          </a:xfrm>
          <a:prstGeom prst="straightConnector1">
            <a:avLst/>
          </a:prstGeom>
          <a:noFill/>
          <a:ln w="19050" cap="flat" cmpd="sng">
            <a:solidFill>
              <a:srgbClr val="A3A3A3"/>
            </a:solidFill>
            <a:prstDash val="solid"/>
            <a:round/>
            <a:headEnd type="none" w="sm" len="sm"/>
            <a:tailEnd type="none" w="sm" len="sm"/>
          </a:ln>
        </p:spPr>
      </p:cxnSp>
      <p:cxnSp>
        <p:nvCxnSpPr>
          <p:cNvPr id="469" name="Google Shape;469;p58"/>
          <p:cNvCxnSpPr/>
          <p:nvPr/>
        </p:nvCxnSpPr>
        <p:spPr>
          <a:xfrm>
            <a:off x="4572001" y="2369001"/>
            <a:ext cx="1031359" cy="0"/>
          </a:xfrm>
          <a:prstGeom prst="straightConnector1">
            <a:avLst/>
          </a:prstGeom>
          <a:noFill/>
          <a:ln w="19050" cap="flat" cmpd="sng">
            <a:solidFill>
              <a:srgbClr val="A3A3A3"/>
            </a:solidFill>
            <a:prstDash val="solid"/>
            <a:round/>
            <a:headEnd type="none" w="sm" len="sm"/>
            <a:tailEnd type="none" w="sm" len="sm"/>
          </a:ln>
        </p:spPr>
      </p:cxnSp>
      <p:sp>
        <p:nvSpPr>
          <p:cNvPr id="470" name="Google Shape;470;p58"/>
          <p:cNvSpPr txBox="1"/>
          <p:nvPr/>
        </p:nvSpPr>
        <p:spPr>
          <a:xfrm>
            <a:off x="2844800" y="3225801"/>
            <a:ext cx="1800067" cy="861775"/>
          </a:xfrm>
          <a:prstGeom prst="rect">
            <a:avLst/>
          </a:prstGeom>
          <a:noFill/>
          <a:ln>
            <a:noFill/>
          </a:ln>
        </p:spPr>
        <p:txBody>
          <a:bodyPr spcFirstLastPara="1" wrap="square" lIns="121900" tIns="60933" rIns="121900" bIns="60933" anchor="t" anchorCtr="0">
            <a:noAutofit/>
          </a:bodyPr>
          <a:lstStyle/>
          <a:p>
            <a:pPr algn="ctr">
              <a:buClr>
                <a:srgbClr val="000000"/>
              </a:buClr>
            </a:pPr>
            <a:r>
              <a:rPr lang="en" sz="2400">
                <a:solidFill>
                  <a:srgbClr val="000000"/>
                </a:solidFill>
                <a:latin typeface="Trebuchet MS"/>
                <a:ea typeface="Trebuchet MS"/>
                <a:cs typeface="Trebuchet MS"/>
                <a:sym typeface="Trebuchet MS"/>
              </a:rPr>
              <a:t>Single</a:t>
            </a:r>
            <a:endParaRPr sz="2400"/>
          </a:p>
          <a:p>
            <a:pPr algn="ctr">
              <a:buClr>
                <a:srgbClr val="000000"/>
              </a:buClr>
            </a:pPr>
            <a:r>
              <a:rPr lang="en" sz="2400">
                <a:solidFill>
                  <a:srgbClr val="000000"/>
                </a:solidFill>
                <a:latin typeface="Trebuchet MS"/>
                <a:ea typeface="Trebuchet MS"/>
                <a:cs typeface="Trebuchet MS"/>
                <a:sym typeface="Trebuchet MS"/>
              </a:rPr>
              <a:t>transaction</a:t>
            </a:r>
            <a:endParaRPr sz="2400">
              <a:solidFill>
                <a:srgbClr val="000000"/>
              </a:solidFill>
              <a:latin typeface="Trebuchet MS"/>
              <a:ea typeface="Trebuchet MS"/>
              <a:cs typeface="Trebuchet MS"/>
              <a:sym typeface="Trebuchet MS"/>
            </a:endParaRPr>
          </a:p>
        </p:txBody>
      </p:sp>
      <p:sp>
        <p:nvSpPr>
          <p:cNvPr id="471" name="Google Shape;471;p58"/>
          <p:cNvSpPr/>
          <p:nvPr/>
        </p:nvSpPr>
        <p:spPr>
          <a:xfrm>
            <a:off x="609600" y="5867401"/>
            <a:ext cx="9524403" cy="615553"/>
          </a:xfrm>
          <a:prstGeom prst="rect">
            <a:avLst/>
          </a:prstGeom>
          <a:noFill/>
          <a:ln>
            <a:noFill/>
          </a:ln>
        </p:spPr>
        <p:txBody>
          <a:bodyPr spcFirstLastPara="1" wrap="square" lIns="121900" tIns="60933" rIns="121900" bIns="60933" anchor="t" anchorCtr="0">
            <a:noAutofit/>
          </a:bodyPr>
          <a:lstStyle/>
          <a:p>
            <a:pPr>
              <a:buClr>
                <a:srgbClr val="000000"/>
              </a:buClr>
            </a:pPr>
            <a:r>
              <a:rPr lang="en" sz="3200">
                <a:solidFill>
                  <a:srgbClr val="000000"/>
                </a:solidFill>
                <a:latin typeface="Trebuchet MS"/>
                <a:ea typeface="Trebuchet MS"/>
                <a:cs typeface="Trebuchet MS"/>
                <a:sym typeface="Trebuchet MS"/>
              </a:rPr>
              <a:t>Proposed by Greg Maxwell, Bitcoin core developer</a:t>
            </a:r>
            <a:endParaRPr sz="3200">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15224452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500"/>
                                        <p:tgtEl>
                                          <p:spTgt spid="461"/>
                                        </p:tgtEl>
                                      </p:cBhvr>
                                    </p:animEffect>
                                  </p:childTnLst>
                                </p:cTn>
                              </p:par>
                              <p:par>
                                <p:cTn id="8" presetID="10" presetClass="entr" presetSubtype="0" fill="hold" nodeType="withEffect">
                                  <p:stCondLst>
                                    <p:cond delay="0"/>
                                  </p:stCondLst>
                                  <p:childTnLst>
                                    <p:set>
                                      <p:cBhvr>
                                        <p:cTn id="9" dur="1" fill="hold">
                                          <p:stCondLst>
                                            <p:cond delay="0"/>
                                          </p:stCondLst>
                                        </p:cTn>
                                        <p:tgtEl>
                                          <p:spTgt spid="462"/>
                                        </p:tgtEl>
                                        <p:attrNameLst>
                                          <p:attrName>style.visibility</p:attrName>
                                        </p:attrNameLst>
                                      </p:cBhvr>
                                      <p:to>
                                        <p:strVal val="visible"/>
                                      </p:to>
                                    </p:set>
                                    <p:animEffect transition="in" filter="fade">
                                      <p:cBhvr>
                                        <p:cTn id="10" dur="500"/>
                                        <p:tgtEl>
                                          <p:spTgt spid="462"/>
                                        </p:tgtEl>
                                      </p:cBhvr>
                                    </p:animEffect>
                                  </p:childTnLst>
                                </p:cTn>
                              </p:par>
                              <p:par>
                                <p:cTn id="11" presetID="10" presetClass="entr" presetSubtype="0" fill="hold" nodeType="withEffect">
                                  <p:stCondLst>
                                    <p:cond delay="0"/>
                                  </p:stCondLst>
                                  <p:childTnLst>
                                    <p:set>
                                      <p:cBhvr>
                                        <p:cTn id="12" dur="1" fill="hold">
                                          <p:stCondLst>
                                            <p:cond delay="0"/>
                                          </p:stCondLst>
                                        </p:cTn>
                                        <p:tgtEl>
                                          <p:spTgt spid="463"/>
                                        </p:tgtEl>
                                        <p:attrNameLst>
                                          <p:attrName>style.visibility</p:attrName>
                                        </p:attrNameLst>
                                      </p:cBhvr>
                                      <p:to>
                                        <p:strVal val="visible"/>
                                      </p:to>
                                    </p:set>
                                    <p:animEffect transition="in" filter="fade">
                                      <p:cBhvr>
                                        <p:cTn id="13" dur="500"/>
                                        <p:tgtEl>
                                          <p:spTgt spid="463"/>
                                        </p:tgtEl>
                                      </p:cBhvr>
                                    </p:animEffect>
                                  </p:childTnLst>
                                </p:cTn>
                              </p:par>
                              <p:par>
                                <p:cTn id="14" presetID="10" presetClass="entr" presetSubtype="0" fill="hold" nodeType="withEffect">
                                  <p:stCondLst>
                                    <p:cond delay="0"/>
                                  </p:stCondLst>
                                  <p:childTnLst>
                                    <p:set>
                                      <p:cBhvr>
                                        <p:cTn id="15" dur="1" fill="hold">
                                          <p:stCondLst>
                                            <p:cond delay="0"/>
                                          </p:stCondLst>
                                        </p:cTn>
                                        <p:tgtEl>
                                          <p:spTgt spid="464"/>
                                        </p:tgtEl>
                                        <p:attrNameLst>
                                          <p:attrName>style.visibility</p:attrName>
                                        </p:attrNameLst>
                                      </p:cBhvr>
                                      <p:to>
                                        <p:strVal val="visible"/>
                                      </p:to>
                                    </p:set>
                                    <p:animEffect transition="in" filter="fade">
                                      <p:cBhvr>
                                        <p:cTn id="16" dur="500"/>
                                        <p:tgtEl>
                                          <p:spTgt spid="464"/>
                                        </p:tgtEl>
                                      </p:cBhvr>
                                    </p:animEffect>
                                  </p:childTnLst>
                                </p:cTn>
                              </p:par>
                              <p:par>
                                <p:cTn id="17" presetID="10" presetClass="entr" presetSubtype="0" fill="hold" nodeType="withEffect">
                                  <p:stCondLst>
                                    <p:cond delay="0"/>
                                  </p:stCondLst>
                                  <p:childTnLst>
                                    <p:set>
                                      <p:cBhvr>
                                        <p:cTn id="18" dur="1" fill="hold">
                                          <p:stCondLst>
                                            <p:cond delay="0"/>
                                          </p:stCondLst>
                                        </p:cTn>
                                        <p:tgtEl>
                                          <p:spTgt spid="465"/>
                                        </p:tgtEl>
                                        <p:attrNameLst>
                                          <p:attrName>style.visibility</p:attrName>
                                        </p:attrNameLst>
                                      </p:cBhvr>
                                      <p:to>
                                        <p:strVal val="visible"/>
                                      </p:to>
                                    </p:set>
                                    <p:animEffect transition="in" filter="fade">
                                      <p:cBhvr>
                                        <p:cTn id="19" dur="500"/>
                                        <p:tgtEl>
                                          <p:spTgt spid="465"/>
                                        </p:tgtEl>
                                      </p:cBhvr>
                                    </p:animEffect>
                                  </p:childTnLst>
                                </p:cTn>
                              </p:par>
                              <p:par>
                                <p:cTn id="20" presetID="10" presetClass="entr" presetSubtype="0" fill="hold" nodeType="withEffect">
                                  <p:stCondLst>
                                    <p:cond delay="0"/>
                                  </p:stCondLst>
                                  <p:childTnLst>
                                    <p:set>
                                      <p:cBhvr>
                                        <p:cTn id="21" dur="1" fill="hold">
                                          <p:stCondLst>
                                            <p:cond delay="0"/>
                                          </p:stCondLst>
                                        </p:cTn>
                                        <p:tgtEl>
                                          <p:spTgt spid="466"/>
                                        </p:tgtEl>
                                        <p:attrNameLst>
                                          <p:attrName>style.visibility</p:attrName>
                                        </p:attrNameLst>
                                      </p:cBhvr>
                                      <p:to>
                                        <p:strVal val="visible"/>
                                      </p:to>
                                    </p:set>
                                    <p:animEffect transition="in" filter="fade">
                                      <p:cBhvr>
                                        <p:cTn id="22" dur="500"/>
                                        <p:tgtEl>
                                          <p:spTgt spid="466"/>
                                        </p:tgtEl>
                                      </p:cBhvr>
                                    </p:animEffect>
                                  </p:childTnLst>
                                </p:cTn>
                              </p:par>
                              <p:par>
                                <p:cTn id="23" presetID="10" presetClass="entr" presetSubtype="0" fill="hold" nodeType="withEffect">
                                  <p:stCondLst>
                                    <p:cond delay="0"/>
                                  </p:stCondLst>
                                  <p:childTnLst>
                                    <p:set>
                                      <p:cBhvr>
                                        <p:cTn id="24" dur="1" fill="hold">
                                          <p:stCondLst>
                                            <p:cond delay="0"/>
                                          </p:stCondLst>
                                        </p:cTn>
                                        <p:tgtEl>
                                          <p:spTgt spid="467"/>
                                        </p:tgtEl>
                                        <p:attrNameLst>
                                          <p:attrName>style.visibility</p:attrName>
                                        </p:attrNameLst>
                                      </p:cBhvr>
                                      <p:to>
                                        <p:strVal val="visible"/>
                                      </p:to>
                                    </p:set>
                                    <p:animEffect transition="in" filter="fade">
                                      <p:cBhvr>
                                        <p:cTn id="25" dur="500"/>
                                        <p:tgtEl>
                                          <p:spTgt spid="467"/>
                                        </p:tgtEl>
                                      </p:cBhvr>
                                    </p:animEffect>
                                  </p:childTnLst>
                                </p:cTn>
                              </p:par>
                              <p:par>
                                <p:cTn id="26" presetID="10" presetClass="entr" presetSubtype="0" fill="hold" nodeType="withEffect">
                                  <p:stCondLst>
                                    <p:cond delay="0"/>
                                  </p:stCondLst>
                                  <p:childTnLst>
                                    <p:set>
                                      <p:cBhvr>
                                        <p:cTn id="27" dur="1" fill="hold">
                                          <p:stCondLst>
                                            <p:cond delay="0"/>
                                          </p:stCondLst>
                                        </p:cTn>
                                        <p:tgtEl>
                                          <p:spTgt spid="468"/>
                                        </p:tgtEl>
                                        <p:attrNameLst>
                                          <p:attrName>style.visibility</p:attrName>
                                        </p:attrNameLst>
                                      </p:cBhvr>
                                      <p:to>
                                        <p:strVal val="visible"/>
                                      </p:to>
                                    </p:set>
                                    <p:animEffect transition="in" filter="fade">
                                      <p:cBhvr>
                                        <p:cTn id="28" dur="500"/>
                                        <p:tgtEl>
                                          <p:spTgt spid="468"/>
                                        </p:tgtEl>
                                      </p:cBhvr>
                                    </p:animEffect>
                                  </p:childTnLst>
                                </p:cTn>
                              </p:par>
                              <p:par>
                                <p:cTn id="29" presetID="10" presetClass="entr" presetSubtype="0" fill="hold" nodeType="withEffect">
                                  <p:stCondLst>
                                    <p:cond delay="0"/>
                                  </p:stCondLst>
                                  <p:childTnLst>
                                    <p:set>
                                      <p:cBhvr>
                                        <p:cTn id="30" dur="1" fill="hold">
                                          <p:stCondLst>
                                            <p:cond delay="0"/>
                                          </p:stCondLst>
                                        </p:cTn>
                                        <p:tgtEl>
                                          <p:spTgt spid="469"/>
                                        </p:tgtEl>
                                        <p:attrNameLst>
                                          <p:attrName>style.visibility</p:attrName>
                                        </p:attrNameLst>
                                      </p:cBhvr>
                                      <p:to>
                                        <p:strVal val="visible"/>
                                      </p:to>
                                    </p:set>
                                    <p:animEffect transition="in" filter="fade">
                                      <p:cBhvr>
                                        <p:cTn id="31"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475"/>
        <p:cNvGrpSpPr/>
        <p:nvPr/>
      </p:nvGrpSpPr>
      <p:grpSpPr>
        <a:xfrm>
          <a:off x="0" y="0"/>
          <a:ext cx="0" cy="0"/>
          <a:chOff x="0" y="0"/>
          <a:chExt cx="0" cy="0"/>
        </a:xfrm>
      </p:grpSpPr>
      <p:sp>
        <p:nvSpPr>
          <p:cNvPr id="476" name="Google Shape;476;p59"/>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endParaRPr sz="4800" b="1" dirty="0">
              <a:solidFill>
                <a:schemeClr val="dk1"/>
              </a:solidFill>
              <a:latin typeface="Trebuchet MS"/>
              <a:ea typeface="Trebuchet MS"/>
              <a:cs typeface="Trebuchet MS"/>
              <a:sym typeface="Trebuchet MS"/>
            </a:endParaRPr>
          </a:p>
        </p:txBody>
      </p:sp>
      <p:sp>
        <p:nvSpPr>
          <p:cNvPr id="477" name="Google Shape;477;p59"/>
          <p:cNvSpPr txBox="1">
            <a:spLocks noGrp="1"/>
          </p:cNvSpPr>
          <p:nvPr>
            <p:ph type="body" idx="1"/>
          </p:nvPr>
        </p:nvSpPr>
        <p:spPr>
          <a:xfrm>
            <a:off x="609600" y="1600200"/>
            <a:ext cx="71120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SzPts val="2400"/>
              <a:buNone/>
            </a:pPr>
            <a:r>
              <a:rPr lang="en" b="1" dirty="0" smtClean="0">
                <a:solidFill>
                  <a:schemeClr val="dk1"/>
                </a:solidFill>
                <a:latin typeface="Trebuchet MS"/>
                <a:ea typeface="Trebuchet MS"/>
                <a:cs typeface="Trebuchet MS"/>
                <a:sym typeface="Trebuchet MS"/>
              </a:rPr>
              <a:t>1.Coinjoin </a:t>
            </a:r>
            <a:r>
              <a:rPr lang="en" b="1" dirty="0">
                <a:solidFill>
                  <a:schemeClr val="dk1"/>
                </a:solidFill>
                <a:latin typeface="Trebuchet MS"/>
                <a:ea typeface="Trebuchet MS"/>
                <a:cs typeface="Trebuchet MS"/>
                <a:sym typeface="Trebuchet MS"/>
              </a:rPr>
              <a:t>algorithm</a:t>
            </a:r>
            <a:endParaRPr lang="en" dirty="0" smtClean="0">
              <a:solidFill>
                <a:schemeClr val="dk1"/>
              </a:solidFill>
              <a:latin typeface="Trebuchet MS"/>
              <a:ea typeface="Trebuchet MS"/>
              <a:cs typeface="Trebuchet MS"/>
              <a:sym typeface="Trebuchet MS"/>
            </a:endParaRPr>
          </a:p>
          <a:p>
            <a:pPr marL="685783" indent="-685783">
              <a:spcBef>
                <a:spcPts val="0"/>
              </a:spcBef>
              <a:buClr>
                <a:schemeClr val="dk1"/>
              </a:buClr>
              <a:buSzPts val="2400"/>
              <a:buFont typeface="Arial"/>
              <a:buAutoNum type="arabicPeriod"/>
            </a:pPr>
            <a:r>
              <a:rPr lang="en" sz="2400" dirty="0" smtClean="0">
                <a:solidFill>
                  <a:schemeClr val="dk1"/>
                </a:solidFill>
                <a:latin typeface="Trebuchet MS"/>
                <a:ea typeface="Trebuchet MS"/>
                <a:cs typeface="Trebuchet MS"/>
                <a:sym typeface="Trebuchet MS"/>
              </a:rPr>
              <a:t>Find </a:t>
            </a:r>
            <a:r>
              <a:rPr lang="en" sz="2400" dirty="0">
                <a:solidFill>
                  <a:schemeClr val="dk1"/>
                </a:solidFill>
                <a:latin typeface="Trebuchet MS"/>
                <a:ea typeface="Trebuchet MS"/>
                <a:cs typeface="Trebuchet MS"/>
                <a:sym typeface="Trebuchet MS"/>
              </a:rPr>
              <a:t>peers who want to mix</a:t>
            </a:r>
            <a:endParaRPr sz="2400" dirty="0"/>
          </a:p>
          <a:p>
            <a:pPr marL="685783" indent="-685783">
              <a:spcBef>
                <a:spcPts val="0"/>
              </a:spcBef>
              <a:buClr>
                <a:schemeClr val="dk1"/>
              </a:buClr>
              <a:buSzPts val="2400"/>
              <a:buFont typeface="Arial"/>
              <a:buAutoNum type="arabicPeriod"/>
            </a:pPr>
            <a:r>
              <a:rPr lang="en" sz="2400" dirty="0">
                <a:solidFill>
                  <a:schemeClr val="dk1"/>
                </a:solidFill>
                <a:latin typeface="Trebuchet MS"/>
                <a:ea typeface="Trebuchet MS"/>
                <a:cs typeface="Trebuchet MS"/>
                <a:sym typeface="Trebuchet MS"/>
              </a:rPr>
              <a:t>Exchange input/output addresses</a:t>
            </a:r>
            <a:endParaRPr sz="2400" dirty="0"/>
          </a:p>
          <a:p>
            <a:pPr marL="685783" indent="-685783">
              <a:spcBef>
                <a:spcPts val="0"/>
              </a:spcBef>
              <a:buClr>
                <a:schemeClr val="dk1"/>
              </a:buClr>
              <a:buSzPts val="2400"/>
              <a:buFont typeface="Arial"/>
              <a:buAutoNum type="arabicPeriod"/>
            </a:pPr>
            <a:r>
              <a:rPr lang="en" sz="2400" dirty="0">
                <a:solidFill>
                  <a:schemeClr val="dk1"/>
                </a:solidFill>
                <a:latin typeface="Trebuchet MS"/>
                <a:ea typeface="Trebuchet MS"/>
                <a:cs typeface="Trebuchet MS"/>
                <a:sym typeface="Trebuchet MS"/>
              </a:rPr>
              <a:t>Construct transaction</a:t>
            </a:r>
            <a:endParaRPr sz="2400" dirty="0"/>
          </a:p>
          <a:p>
            <a:pPr marL="685783" indent="-685783">
              <a:spcBef>
                <a:spcPts val="0"/>
              </a:spcBef>
              <a:buClr>
                <a:schemeClr val="dk1"/>
              </a:buClr>
              <a:buSzPts val="2400"/>
              <a:buFont typeface="Arial"/>
              <a:buAutoNum type="arabicPeriod"/>
            </a:pPr>
            <a:r>
              <a:rPr lang="en" sz="2400" dirty="0">
                <a:solidFill>
                  <a:schemeClr val="dk1"/>
                </a:solidFill>
                <a:latin typeface="Trebuchet MS"/>
                <a:ea typeface="Trebuchet MS"/>
                <a:cs typeface="Trebuchet MS"/>
                <a:sym typeface="Trebuchet MS"/>
              </a:rPr>
              <a:t>Send </a:t>
            </a:r>
            <a:r>
              <a:rPr lang="en" sz="2400" dirty="0" smtClean="0">
                <a:solidFill>
                  <a:schemeClr val="dk1"/>
                </a:solidFill>
                <a:latin typeface="Trebuchet MS"/>
                <a:ea typeface="Trebuchet MS"/>
                <a:cs typeface="Trebuchet MS"/>
                <a:sym typeface="Trebuchet MS"/>
              </a:rPr>
              <a:t>the transaction around.Each peer signs after verifying their output is present</a:t>
            </a:r>
            <a:endParaRPr sz="2400" dirty="0"/>
          </a:p>
          <a:p>
            <a:pPr marL="685783" indent="-685783">
              <a:spcBef>
                <a:spcPts val="0"/>
              </a:spcBef>
              <a:buClr>
                <a:schemeClr val="dk1"/>
              </a:buClr>
              <a:buSzPts val="2400"/>
              <a:buFont typeface="Arial"/>
              <a:buAutoNum type="arabicPeriod"/>
            </a:pPr>
            <a:r>
              <a:rPr lang="en" sz="2400" dirty="0">
                <a:solidFill>
                  <a:schemeClr val="dk1"/>
                </a:solidFill>
                <a:latin typeface="Trebuchet MS"/>
                <a:ea typeface="Trebuchet MS"/>
                <a:cs typeface="Trebuchet MS"/>
                <a:sym typeface="Trebuchet MS"/>
              </a:rPr>
              <a:t>Broadcast the </a:t>
            </a:r>
            <a:r>
              <a:rPr lang="en" sz="2400" dirty="0" smtClean="0">
                <a:solidFill>
                  <a:schemeClr val="dk1"/>
                </a:solidFill>
                <a:latin typeface="Trebuchet MS"/>
                <a:ea typeface="Trebuchet MS"/>
                <a:cs typeface="Trebuchet MS"/>
                <a:sym typeface="Trebuchet MS"/>
              </a:rPr>
              <a:t>transaction</a:t>
            </a:r>
          </a:p>
          <a:p>
            <a:pPr marL="685783" indent="-685783">
              <a:spcBef>
                <a:spcPts val="0"/>
              </a:spcBef>
              <a:buClr>
                <a:schemeClr val="dk1"/>
              </a:buClr>
              <a:buSzPts val="2400"/>
              <a:buFont typeface="Arial"/>
              <a:buAutoNum type="arabicPeriod"/>
            </a:pPr>
            <a:endParaRPr lang="en" sz="2400" dirty="0">
              <a:solidFill>
                <a:schemeClr val="dk1"/>
              </a:solidFill>
              <a:latin typeface="Trebuchet MS"/>
              <a:ea typeface="Trebuchet MS"/>
              <a:cs typeface="Trebuchet MS"/>
              <a:sym typeface="Trebuchet MS"/>
            </a:endParaRPr>
          </a:p>
          <a:p>
            <a:pPr marL="685783" indent="-685783">
              <a:spcBef>
                <a:spcPts val="0"/>
              </a:spcBef>
              <a:buClr>
                <a:schemeClr val="dk1"/>
              </a:buClr>
              <a:buSzPts val="2400"/>
              <a:buFont typeface="Arial"/>
              <a:buAutoNum type="arabicPeriod"/>
            </a:pPr>
            <a:endParaRPr lang="en" sz="2400" dirty="0" smtClean="0">
              <a:solidFill>
                <a:schemeClr val="dk1"/>
              </a:solidFill>
              <a:latin typeface="Trebuchet MS"/>
              <a:ea typeface="Trebuchet MS"/>
              <a:cs typeface="Trebuchet MS"/>
              <a:sym typeface="Trebuchet MS"/>
            </a:endParaRPr>
          </a:p>
          <a:p>
            <a:pPr marL="0" indent="0">
              <a:spcBef>
                <a:spcPts val="0"/>
              </a:spcBef>
              <a:buClr>
                <a:schemeClr val="dk1"/>
              </a:buClr>
              <a:buSzPts val="2400"/>
              <a:buNone/>
            </a:pPr>
            <a:endParaRPr lang="en-IN" sz="2400" b="1" dirty="0" smtClean="0"/>
          </a:p>
          <a:p>
            <a:pPr marL="0" indent="0" algn="just">
              <a:spcBef>
                <a:spcPts val="0"/>
              </a:spcBef>
              <a:buClr>
                <a:schemeClr val="dk1"/>
              </a:buClr>
              <a:buSzPts val="2400"/>
              <a:buNone/>
            </a:pPr>
            <a:r>
              <a:rPr lang="en-IN" sz="2400" b="1" dirty="0" smtClean="0"/>
              <a:t>How </a:t>
            </a:r>
            <a:r>
              <a:rPr lang="en-IN" sz="2400" b="1" dirty="0"/>
              <a:t>it works:</a:t>
            </a:r>
            <a:r>
              <a:rPr lang="en-IN" sz="2400" dirty="0"/>
              <a:t> Multiple users pool their </a:t>
            </a:r>
            <a:r>
              <a:rPr lang="en-IN" sz="2400" dirty="0" smtClean="0"/>
              <a:t>transaction together </a:t>
            </a:r>
            <a:r>
              <a:rPr lang="en-IN" sz="2400" dirty="0"/>
              <a:t>into a </a:t>
            </a:r>
            <a:r>
              <a:rPr lang="en-IN" sz="2400" b="1" dirty="0"/>
              <a:t>single transaction</a:t>
            </a:r>
            <a:r>
              <a:rPr lang="en-IN" sz="2400" dirty="0"/>
              <a:t>, making it difficult to determine which input belongs to which output.</a:t>
            </a:r>
          </a:p>
          <a:p>
            <a:pPr marL="0" indent="0">
              <a:spcBef>
                <a:spcPts val="0"/>
              </a:spcBef>
              <a:buClr>
                <a:schemeClr val="dk1"/>
              </a:buClr>
              <a:buSzPts val="2400"/>
              <a:buNone/>
            </a:pPr>
            <a:endParaRPr sz="2400" dirty="0">
              <a:solidFill>
                <a:schemeClr val="dk1"/>
              </a:solidFill>
              <a:latin typeface="Trebuchet MS"/>
              <a:ea typeface="Trebuchet MS"/>
              <a:cs typeface="Trebuchet MS"/>
              <a:sym typeface="Trebuchet MS"/>
            </a:endParaRPr>
          </a:p>
        </p:txBody>
      </p:sp>
      <p:pic>
        <p:nvPicPr>
          <p:cNvPr id="478" name="Google Shape;478;p59"/>
          <p:cNvPicPr preferRelativeResize="0"/>
          <p:nvPr/>
        </p:nvPicPr>
        <p:blipFill rotWithShape="1">
          <a:blip r:embed="rId3">
            <a:alphaModFix/>
          </a:blip>
          <a:srcRect/>
          <a:stretch/>
        </p:blipFill>
        <p:spPr>
          <a:xfrm>
            <a:off x="7721601" y="1615855"/>
            <a:ext cx="3852577" cy="2552700"/>
          </a:xfrm>
          <a:prstGeom prst="rect">
            <a:avLst/>
          </a:prstGeom>
          <a:noFill/>
          <a:ln>
            <a:noFill/>
          </a:ln>
        </p:spPr>
      </p:pic>
    </p:spTree>
    <p:extLst>
      <p:ext uri="{BB962C8B-B14F-4D97-AF65-F5344CB8AC3E}">
        <p14:creationId xmlns:p14="http://schemas.microsoft.com/office/powerpoint/2010/main" val="15600476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7">
                                            <p:txEl>
                                              <p:pRg st="9" end="9"/>
                                            </p:txEl>
                                          </p:spTgt>
                                        </p:tgtEl>
                                        <p:attrNameLst>
                                          <p:attrName>style.visibility</p:attrName>
                                        </p:attrNameLst>
                                      </p:cBhvr>
                                      <p:to>
                                        <p:strVal val="visible"/>
                                      </p:to>
                                    </p:set>
                                    <p:anim calcmode="lin" valueType="num">
                                      <p:cBhvr additive="base">
                                        <p:cTn id="7" dur="500" fill="hold"/>
                                        <p:tgtEl>
                                          <p:spTgt spid="477">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Advantages:</a:t>
            </a:r>
            <a:endParaRPr lang="en-IN" dirty="0"/>
          </a:p>
          <a:p>
            <a:pPr lvl="1"/>
            <a:r>
              <a:rPr lang="en-IN" dirty="0"/>
              <a:t>No need for a trusted third party.</a:t>
            </a:r>
          </a:p>
          <a:p>
            <a:pPr lvl="1"/>
            <a:r>
              <a:rPr lang="en-IN" dirty="0"/>
              <a:t>Reduces transaction fees by consolidating multiple transactions.</a:t>
            </a:r>
          </a:p>
          <a:p>
            <a:r>
              <a:rPr lang="en-IN" b="1" dirty="0"/>
              <a:t>Limitations:</a:t>
            </a:r>
            <a:endParaRPr lang="en-IN" dirty="0"/>
          </a:p>
          <a:p>
            <a:pPr lvl="1"/>
            <a:r>
              <a:rPr lang="en-IN" dirty="0"/>
              <a:t>Some block explorers attempt to de-</a:t>
            </a:r>
            <a:r>
              <a:rPr lang="en-IN" dirty="0" err="1"/>
              <a:t>anonymize</a:t>
            </a:r>
            <a:r>
              <a:rPr lang="en-IN" dirty="0"/>
              <a:t> </a:t>
            </a:r>
            <a:r>
              <a:rPr lang="en-IN" dirty="0" err="1"/>
              <a:t>CoinJoin</a:t>
            </a:r>
            <a:r>
              <a:rPr lang="en-IN" dirty="0"/>
              <a:t> transactions by </a:t>
            </a:r>
            <a:r>
              <a:rPr lang="en-IN" dirty="0" err="1"/>
              <a:t>analyzing</a:t>
            </a:r>
            <a:r>
              <a:rPr lang="en-IN" dirty="0"/>
              <a:t> patterns.</a:t>
            </a:r>
          </a:p>
          <a:p>
            <a:pPr lvl="1"/>
            <a:r>
              <a:rPr lang="en-IN" dirty="0"/>
              <a:t>Requires multiple users to participate simultaneously.</a:t>
            </a:r>
          </a:p>
          <a:p>
            <a:endParaRPr lang="en-IN" dirty="0"/>
          </a:p>
        </p:txBody>
      </p:sp>
    </p:spTree>
    <p:extLst>
      <p:ext uri="{BB962C8B-B14F-4D97-AF65-F5344CB8AC3E}">
        <p14:creationId xmlns:p14="http://schemas.microsoft.com/office/powerpoint/2010/main" val="25325624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rebuchet MS" panose="020B0603020202020204" pitchFamily="34" charset="0"/>
              </a:rPr>
              <a:t/>
            </a:r>
            <a:br>
              <a:rPr lang="en-IN" b="1" dirty="0">
                <a:latin typeface="Trebuchet MS" panose="020B0603020202020204" pitchFamily="34" charset="0"/>
              </a:rPr>
            </a:br>
            <a:endParaRPr lang="en-IN" dirty="0">
              <a:latin typeface="Trebuchet MS" panose="020B0603020202020204" pitchFamily="34"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IN" sz="3000" b="1" dirty="0" smtClean="0">
                <a:latin typeface="Trebuchet MS" panose="020B0603020202020204" pitchFamily="34" charset="0"/>
              </a:rPr>
              <a:t>2. </a:t>
            </a:r>
            <a:r>
              <a:rPr lang="en-IN" sz="3000" b="1" dirty="0" err="1" smtClean="0">
                <a:latin typeface="Trebuchet MS" panose="020B0603020202020204" pitchFamily="34" charset="0"/>
              </a:rPr>
              <a:t>CoinSwap</a:t>
            </a:r>
            <a:r>
              <a:rPr lang="en-IN" b="1" dirty="0">
                <a:latin typeface="Trebuchet MS" panose="020B0603020202020204" pitchFamily="34" charset="0"/>
              </a:rPr>
              <a:t/>
            </a:r>
            <a:br>
              <a:rPr lang="en-IN" b="1" dirty="0">
                <a:latin typeface="Trebuchet MS" panose="020B0603020202020204" pitchFamily="34" charset="0"/>
              </a:rPr>
            </a:br>
            <a:endParaRPr lang="en-IN" b="1" dirty="0"/>
          </a:p>
          <a:p>
            <a:pPr marL="0" indent="0">
              <a:buNone/>
            </a:pPr>
            <a:r>
              <a:rPr lang="en-IN" b="1" dirty="0"/>
              <a:t>How it works:</a:t>
            </a:r>
            <a:r>
              <a:rPr lang="en-IN" dirty="0"/>
              <a:t> Users exchange coins with each other using a series of linked transactions without revealing the connection between sender and receiver.</a:t>
            </a:r>
          </a:p>
          <a:p>
            <a:pPr marL="0" indent="0">
              <a:buNone/>
            </a:pPr>
            <a:r>
              <a:rPr lang="en-IN" b="1" dirty="0"/>
              <a:t>Example:</a:t>
            </a:r>
            <a:r>
              <a:rPr lang="en-IN" dirty="0"/>
              <a:t> Alice sends coins to Bob via an intermediary, but Bob does not receive Alice’s original coins; he receives an entirely different set.</a:t>
            </a:r>
          </a:p>
          <a:p>
            <a:r>
              <a:rPr lang="en-IN" b="1" dirty="0"/>
              <a:t>Advantages:</a:t>
            </a:r>
            <a:endParaRPr lang="en-IN" dirty="0"/>
          </a:p>
          <a:p>
            <a:pPr lvl="1"/>
            <a:r>
              <a:rPr lang="en-IN" dirty="0"/>
              <a:t>Breaks transaction tracing completely.</a:t>
            </a:r>
          </a:p>
          <a:p>
            <a:pPr lvl="1"/>
            <a:r>
              <a:rPr lang="en-IN" dirty="0"/>
              <a:t>Can be used in </a:t>
            </a:r>
            <a:r>
              <a:rPr lang="en-IN" b="1" dirty="0"/>
              <a:t>atomic swaps</a:t>
            </a:r>
            <a:r>
              <a:rPr lang="en-IN" dirty="0"/>
              <a:t> to facilitate cross-chain transactions.</a:t>
            </a:r>
          </a:p>
          <a:p>
            <a:r>
              <a:rPr lang="en-IN" b="1" dirty="0"/>
              <a:t>Limitations:</a:t>
            </a:r>
            <a:endParaRPr lang="en-IN" dirty="0"/>
          </a:p>
          <a:p>
            <a:pPr lvl="1"/>
            <a:r>
              <a:rPr lang="en-IN" dirty="0"/>
              <a:t>More complex implementation than </a:t>
            </a:r>
            <a:r>
              <a:rPr lang="en-IN" dirty="0" err="1"/>
              <a:t>CoinJoin</a:t>
            </a:r>
            <a:r>
              <a:rPr lang="en-IN" dirty="0"/>
              <a:t>.</a:t>
            </a:r>
          </a:p>
          <a:p>
            <a:pPr lvl="1"/>
            <a:r>
              <a:rPr lang="en-IN" dirty="0"/>
              <a:t>Requires liquidity in swap markets.</a:t>
            </a:r>
          </a:p>
          <a:p>
            <a:pPr marL="0" indent="0">
              <a:buNone/>
            </a:pPr>
            <a:endParaRPr lang="en-IN" dirty="0"/>
          </a:p>
        </p:txBody>
      </p:sp>
    </p:spTree>
    <p:extLst>
      <p:ext uri="{BB962C8B-B14F-4D97-AF65-F5344CB8AC3E}">
        <p14:creationId xmlns:p14="http://schemas.microsoft.com/office/powerpoint/2010/main" val="13151764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r>
            <a:br>
              <a:rPr lang="en-IN" b="1" dirty="0"/>
            </a:b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b="1" dirty="0" smtClean="0">
                <a:latin typeface="Trebuchet MS" panose="020B0603020202020204" pitchFamily="34" charset="0"/>
              </a:rPr>
              <a:t>3. </a:t>
            </a:r>
            <a:r>
              <a:rPr lang="en-IN" b="1" dirty="0" err="1" smtClean="0">
                <a:latin typeface="Trebuchet MS" panose="020B0603020202020204" pitchFamily="34" charset="0"/>
              </a:rPr>
              <a:t>Chaumian</a:t>
            </a:r>
            <a:r>
              <a:rPr lang="en-IN" b="1" dirty="0" smtClean="0">
                <a:latin typeface="Trebuchet MS" panose="020B0603020202020204" pitchFamily="34" charset="0"/>
              </a:rPr>
              <a:t> </a:t>
            </a:r>
            <a:r>
              <a:rPr lang="en-IN" b="1" dirty="0">
                <a:latin typeface="Trebuchet MS" panose="020B0603020202020204" pitchFamily="34" charset="0"/>
              </a:rPr>
              <a:t>Mixes</a:t>
            </a:r>
            <a:r>
              <a:rPr lang="en-IN" b="1" dirty="0"/>
              <a:t/>
            </a:r>
            <a:br>
              <a:rPr lang="en-IN" b="1" dirty="0"/>
            </a:br>
            <a:endParaRPr lang="en-IN" b="1" dirty="0" smtClean="0"/>
          </a:p>
          <a:p>
            <a:pPr marL="0" indent="0">
              <a:buNone/>
            </a:pPr>
            <a:r>
              <a:rPr lang="en-IN" b="1" dirty="0" smtClean="0"/>
              <a:t>How </a:t>
            </a:r>
            <a:r>
              <a:rPr lang="en-IN" b="1" dirty="0"/>
              <a:t>it works:</a:t>
            </a:r>
            <a:r>
              <a:rPr lang="en-IN" dirty="0"/>
              <a:t> Based on David </a:t>
            </a:r>
            <a:r>
              <a:rPr lang="en-IN" dirty="0" err="1"/>
              <a:t>Chaum’s</a:t>
            </a:r>
            <a:r>
              <a:rPr lang="en-IN" dirty="0"/>
              <a:t> concept of mix networks, transactions are </a:t>
            </a:r>
            <a:r>
              <a:rPr lang="en-IN" b="1" dirty="0"/>
              <a:t>encrypted multiple times</a:t>
            </a:r>
            <a:r>
              <a:rPr lang="en-IN" dirty="0"/>
              <a:t> and sent through a network of mix nodes.</a:t>
            </a:r>
          </a:p>
          <a:p>
            <a:r>
              <a:rPr lang="en-IN" b="1" dirty="0"/>
              <a:t>Advantages:</a:t>
            </a:r>
            <a:endParaRPr lang="en-IN" dirty="0"/>
          </a:p>
          <a:p>
            <a:pPr lvl="1"/>
            <a:r>
              <a:rPr lang="en-IN" dirty="0"/>
              <a:t>Each mix node only knows the previous and next node, preserving anonymity.</a:t>
            </a:r>
          </a:p>
          <a:p>
            <a:pPr lvl="1"/>
            <a:r>
              <a:rPr lang="en-IN" dirty="0"/>
              <a:t>Resistant to timing analysis attacks.</a:t>
            </a:r>
          </a:p>
          <a:p>
            <a:r>
              <a:rPr lang="en-IN" b="1" dirty="0"/>
              <a:t>Limitations:</a:t>
            </a:r>
            <a:endParaRPr lang="en-IN" dirty="0"/>
          </a:p>
          <a:p>
            <a:pPr lvl="1"/>
            <a:r>
              <a:rPr lang="en-IN" dirty="0"/>
              <a:t>Requires trust in mix nodes to not collude.</a:t>
            </a:r>
          </a:p>
          <a:p>
            <a:pPr lvl="1"/>
            <a:r>
              <a:rPr lang="en-IN" dirty="0"/>
              <a:t>More computationally expensive than </a:t>
            </a:r>
            <a:r>
              <a:rPr lang="en-IN" dirty="0" err="1"/>
              <a:t>CoinJoin</a:t>
            </a:r>
            <a:r>
              <a:rPr lang="en-IN" dirty="0"/>
              <a:t> or </a:t>
            </a:r>
            <a:r>
              <a:rPr lang="en-IN" dirty="0" err="1"/>
              <a:t>CoinSwap</a:t>
            </a:r>
            <a:r>
              <a:rPr lang="en-IN" dirty="0"/>
              <a:t>.</a:t>
            </a:r>
          </a:p>
          <a:p>
            <a:pPr marL="0" indent="0">
              <a:buNone/>
            </a:pPr>
            <a:endParaRPr lang="en-IN" dirty="0"/>
          </a:p>
        </p:txBody>
      </p:sp>
    </p:spTree>
    <p:extLst>
      <p:ext uri="{BB962C8B-B14F-4D97-AF65-F5344CB8AC3E}">
        <p14:creationId xmlns:p14="http://schemas.microsoft.com/office/powerpoint/2010/main" val="13923282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b="1" dirty="0" smtClean="0"/>
              <a:t>Third –party mixing protocols</a:t>
            </a:r>
          </a:p>
          <a:p>
            <a:pPr marL="50799" indent="0">
              <a:buNone/>
            </a:pPr>
            <a:r>
              <a:rPr lang="en-IN" dirty="0" smtClean="0"/>
              <a:t>have been proposed for Bitcoin privacy include:</a:t>
            </a:r>
          </a:p>
          <a:p>
            <a:pPr marL="50799" indent="0">
              <a:buNone/>
            </a:pPr>
            <a:r>
              <a:rPr lang="en-IN" dirty="0" smtClean="0"/>
              <a:t>                 --TumbleBit</a:t>
            </a:r>
          </a:p>
          <a:p>
            <a:pPr marL="50799" indent="0">
              <a:buNone/>
            </a:pPr>
            <a:r>
              <a:rPr lang="en-IN" dirty="0"/>
              <a:t> </a:t>
            </a:r>
            <a:r>
              <a:rPr lang="en-IN" dirty="0" smtClean="0"/>
              <a:t>              -- Dandelion</a:t>
            </a:r>
          </a:p>
          <a:p>
            <a:pPr marL="50799" indent="0">
              <a:buNone/>
            </a:pPr>
            <a:endParaRPr lang="en-IN" dirty="0"/>
          </a:p>
          <a:p>
            <a:pPr marL="50799" indent="0">
              <a:buNone/>
            </a:pPr>
            <a:r>
              <a:rPr lang="en-IN" dirty="0" smtClean="0"/>
              <a:t> </a:t>
            </a:r>
            <a:r>
              <a:rPr lang="en-IN" dirty="0">
                <a:hlinkClick r:id="rId2"/>
              </a:rPr>
              <a:t>https://</a:t>
            </a:r>
            <a:r>
              <a:rPr lang="en-IN" dirty="0" smtClean="0">
                <a:hlinkClick r:id="rId2"/>
              </a:rPr>
              <a:t>bitcointalk.org/index.php?topic=321228</a:t>
            </a:r>
            <a:r>
              <a:rPr lang="en-IN" dirty="0" smtClean="0"/>
              <a:t>   about </a:t>
            </a:r>
            <a:r>
              <a:rPr lang="en-IN" dirty="0" err="1" smtClean="0"/>
              <a:t>CoinSwap</a:t>
            </a:r>
            <a:endParaRPr lang="en-IN" dirty="0" smtClean="0"/>
          </a:p>
          <a:p>
            <a:pPr marL="50799" indent="0">
              <a:buNone/>
            </a:pPr>
            <a:r>
              <a:rPr lang="en-IN" dirty="0">
                <a:hlinkClick r:id="rId3" action="ppaction://hlinkfile"/>
              </a:rPr>
              <a:t> </a:t>
            </a:r>
            <a:r>
              <a:rPr lang="en-IN" dirty="0">
                <a:hlinkClick r:id="rId4"/>
              </a:rPr>
              <a:t>https://</a:t>
            </a:r>
            <a:r>
              <a:rPr lang="en-IN" dirty="0" smtClean="0">
                <a:hlinkClick r:id="rId4"/>
              </a:rPr>
              <a:t>eprint.iacr.org/2016/575.pdf</a:t>
            </a:r>
            <a:r>
              <a:rPr lang="en-IN" dirty="0" smtClean="0"/>
              <a:t>  about </a:t>
            </a:r>
            <a:r>
              <a:rPr lang="en-IN" dirty="0" err="1"/>
              <a:t>TumbleBit</a:t>
            </a:r>
            <a:endParaRPr lang="en-IN" dirty="0"/>
          </a:p>
          <a:p>
            <a:pPr marL="50799" indent="0">
              <a:buNone/>
            </a:pPr>
            <a:endParaRPr lang="en-IN" dirty="0"/>
          </a:p>
        </p:txBody>
      </p:sp>
    </p:spTree>
    <p:extLst>
      <p:ext uri="{BB962C8B-B14F-4D97-AF65-F5344CB8AC3E}">
        <p14:creationId xmlns:p14="http://schemas.microsoft.com/office/powerpoint/2010/main" val="354734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endParaRPr lang="en-IN"/>
          </a:p>
        </p:txBody>
      </p:sp>
      <p:sp>
        <p:nvSpPr>
          <p:cNvPr id="3" name="Content Placeholder 2"/>
          <p:cNvSpPr>
            <a:spLocks noGrp="1"/>
          </p:cNvSpPr>
          <p:nvPr>
            <p:ph idx="1"/>
          </p:nvPr>
        </p:nvSpPr>
        <p:spPr>
          <a:xfrm>
            <a:off x="838200" y="1371600"/>
            <a:ext cx="10515600" cy="4805363"/>
          </a:xfrm>
        </p:spPr>
        <p:txBody>
          <a:bodyPr>
            <a:normAutofit fontScale="92500" lnSpcReduction="10000"/>
          </a:bodyPr>
          <a:lstStyle/>
          <a:p>
            <a:pPr marL="0" indent="0">
              <a:buNone/>
            </a:pPr>
            <a:r>
              <a:rPr lang="en-IN" b="1" dirty="0"/>
              <a:t>Conclusion:</a:t>
            </a:r>
          </a:p>
          <a:p>
            <a:pPr algn="just"/>
            <a:r>
              <a:rPr lang="en-IN" dirty="0"/>
              <a:t>Mixing is an essential tool for </a:t>
            </a:r>
            <a:r>
              <a:rPr lang="en-IN" dirty="0" err="1"/>
              <a:t>Bitcoin</a:t>
            </a:r>
            <a:r>
              <a:rPr lang="en-IN" dirty="0"/>
              <a:t> anonymity, but challenges remain in trust, security, and adoption.</a:t>
            </a:r>
          </a:p>
          <a:p>
            <a:pPr algn="just"/>
            <a:r>
              <a:rPr lang="en-IN" dirty="0" err="1" smtClean="0"/>
              <a:t>Bitcoin</a:t>
            </a:r>
            <a:r>
              <a:rPr lang="en-IN" dirty="0" smtClean="0"/>
              <a:t> </a:t>
            </a:r>
            <a:r>
              <a:rPr lang="en-IN" dirty="0"/>
              <a:t>mixing services provide anonymity by breaking the direct link between a user and their </a:t>
            </a:r>
            <a:r>
              <a:rPr lang="en-IN" dirty="0" err="1"/>
              <a:t>Bitcoin's</a:t>
            </a:r>
            <a:r>
              <a:rPr lang="en-IN" dirty="0"/>
              <a:t> transaction history. </a:t>
            </a:r>
            <a:endParaRPr lang="en-IN" dirty="0" smtClean="0"/>
          </a:p>
          <a:p>
            <a:pPr algn="just"/>
            <a:r>
              <a:rPr lang="en-IN" dirty="0" smtClean="0"/>
              <a:t>While </a:t>
            </a:r>
            <a:r>
              <a:rPr lang="en-IN" dirty="0"/>
              <a:t>effective for privacy, the use of such services is often scrutinized by law enforcement, as they can be misused for illegal activities like money laundering</a:t>
            </a:r>
            <a:r>
              <a:rPr lang="en-IN" dirty="0" smtClean="0"/>
              <a:t>.</a:t>
            </a:r>
          </a:p>
          <a:p>
            <a:pPr marL="0" indent="0" algn="just">
              <a:buNone/>
            </a:pPr>
            <a:r>
              <a:rPr lang="en-IN" i="1" dirty="0"/>
              <a:t>Future developments must focus on</a:t>
            </a:r>
            <a:r>
              <a:rPr lang="en-IN" i="1" dirty="0" smtClean="0"/>
              <a:t>:</a:t>
            </a:r>
          </a:p>
          <a:p>
            <a:pPr marL="0" indent="0" algn="just">
              <a:buNone/>
            </a:pPr>
            <a:r>
              <a:rPr lang="en-IN" i="1" dirty="0" smtClean="0"/>
              <a:t>Decentralized </a:t>
            </a:r>
            <a:r>
              <a:rPr lang="en-IN" i="1" dirty="0"/>
              <a:t>mixing protocols</a:t>
            </a:r>
            <a:r>
              <a:rPr lang="en-IN" i="1" dirty="0" smtClean="0"/>
              <a:t>.</a:t>
            </a:r>
          </a:p>
          <a:p>
            <a:pPr marL="0" indent="0" algn="just">
              <a:buNone/>
            </a:pPr>
            <a:r>
              <a:rPr lang="en-IN" i="1" dirty="0" smtClean="0"/>
              <a:t>Automated </a:t>
            </a:r>
            <a:r>
              <a:rPr lang="en-IN" i="1" dirty="0"/>
              <a:t>client-side mixing</a:t>
            </a:r>
            <a:r>
              <a:rPr lang="en-IN" i="1" dirty="0" smtClean="0"/>
              <a:t>.</a:t>
            </a:r>
          </a:p>
          <a:p>
            <a:pPr marL="0" indent="0" algn="just">
              <a:buNone/>
            </a:pPr>
            <a:r>
              <a:rPr lang="en-IN" i="1" dirty="0" smtClean="0"/>
              <a:t>Stronger </a:t>
            </a:r>
            <a:r>
              <a:rPr lang="en-IN" i="1" dirty="0"/>
              <a:t>cryptographic guarantees.</a:t>
            </a:r>
          </a:p>
          <a:p>
            <a:pPr marL="0" indent="0" algn="just">
              <a:buNone/>
            </a:pPr>
            <a:endParaRPr lang="en-IN" dirty="0"/>
          </a:p>
        </p:txBody>
      </p:sp>
    </p:spTree>
    <p:extLst>
      <p:ext uri="{BB962C8B-B14F-4D97-AF65-F5344CB8AC3E}">
        <p14:creationId xmlns:p14="http://schemas.microsoft.com/office/powerpoint/2010/main" val="333818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1871</Words>
  <Application>Microsoft Office PowerPoint</Application>
  <PresentationFormat>Widescreen</PresentationFormat>
  <Paragraphs>279</Paragraphs>
  <Slides>38</Slides>
  <Notes>23</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Trebuchet MS</vt:lpstr>
      <vt:lpstr>Office Theme</vt:lpstr>
      <vt:lpstr>PowerPoint Presentation</vt:lpstr>
      <vt:lpstr>PowerPoint Presentation</vt:lpstr>
      <vt:lpstr>Some say Bitcoin provides anonymity</vt:lpstr>
      <vt:lpstr>Others say it doesn’t</vt:lpstr>
      <vt:lpstr>What do we mean by anonymity?</vt:lpstr>
      <vt:lpstr>Anonymity in computer science</vt:lpstr>
      <vt:lpstr>Why is unlinkability needed?</vt:lpstr>
      <vt:lpstr>Defining unlinkability in Bitcoin</vt:lpstr>
      <vt:lpstr>Quantifying anonymity</vt:lpstr>
      <vt:lpstr> Ethics of anonymity: Why anonymous cryptocurrencies?</vt:lpstr>
      <vt:lpstr>Risk of money laundering What about money laundering?</vt:lpstr>
      <vt:lpstr>PowerPoint Presentation</vt:lpstr>
      <vt:lpstr>Anonymity &amp; decentralization: in conflict</vt:lpstr>
      <vt:lpstr>PowerPoint Presentation</vt:lpstr>
      <vt:lpstr>PowerPoint Presentation</vt:lpstr>
      <vt:lpstr>PowerPoint Presentation</vt:lpstr>
      <vt:lpstr>PowerPoint Presentation</vt:lpstr>
      <vt:lpstr>PowerPoint Presentation</vt:lpstr>
      <vt:lpstr>Tor</vt:lpstr>
      <vt:lpstr>Anonymous e-cash</vt:lpstr>
      <vt:lpstr>PowerPoint Presentation</vt:lpstr>
      <vt:lpstr>To protect anonymity, use an intermediary</vt:lpstr>
      <vt:lpstr>PowerPoint Presentation</vt:lpstr>
      <vt:lpstr>PowerPoint Presentation</vt:lpstr>
      <vt:lpstr>Coinjoin: remaining problems</vt:lpstr>
      <vt:lpstr>Principles for mixing services</vt:lpstr>
      <vt:lpstr>Series of mixes</vt:lpstr>
      <vt:lpstr>PowerPoint Presentation</vt:lpstr>
      <vt:lpstr>Why decentralized mixing?</vt:lpstr>
      <vt:lpstr>PowerPoint Presentation</vt:lpstr>
      <vt:lpstr>  Decentralized Mixing Approaches </vt:lpstr>
      <vt:lpstr>Coinjoin</vt:lpstr>
      <vt:lpstr>PowerPoint Presentation</vt:lpstr>
      <vt:lpstr>PowerPoint Presentation</vt:lpstr>
      <vt:lpstr> </vt:lpstr>
      <vt:lpstr>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cp:revision>
  <dcterms:created xsi:type="dcterms:W3CDTF">2025-03-10T09:56:32Z</dcterms:created>
  <dcterms:modified xsi:type="dcterms:W3CDTF">2025-03-10T09:56:51Z</dcterms:modified>
</cp:coreProperties>
</file>