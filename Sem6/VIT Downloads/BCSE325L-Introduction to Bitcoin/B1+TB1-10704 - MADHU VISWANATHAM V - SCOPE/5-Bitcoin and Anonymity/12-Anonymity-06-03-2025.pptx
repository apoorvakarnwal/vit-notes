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76C7F-038A-4449-BFBB-377F2810F924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D88D4-B8E1-4B9A-8336-D7326F27A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1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513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18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162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5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238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not necessary to communicate outputs securely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711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8389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2852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go a long way to improve anonymity even without mixes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343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648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8496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819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5564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3072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4278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580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5272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862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7876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and recipients know amounts, but nobody 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 to miners in zero knowledge that input amount &gt;= output amount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side-channel problems associated with mixing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24403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and recipients know amounts, but nobody 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 to miners in zero knowledge that input amount &gt;= output amount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side-channel problems associated with mixing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67156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Believability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7413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 complexity, believability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535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04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70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54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00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77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38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2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09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68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09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225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4345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09601" y="1600200"/>
            <a:ext cx="5326033" cy="496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6256365" y="1600200"/>
            <a:ext cx="5326033" cy="496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169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B83E5-0BA9-477C-A4BF-33FEDDCAB2EB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9E229-D1CA-4A51-9E07-9DA58C928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56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3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Why decentralized mixing?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4" name="Google Shape;444;p5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 bootstrapping problem</a:t>
            </a:r>
            <a:endParaRPr/>
          </a:p>
          <a:p>
            <a:pPr marL="685783" indent="-431789">
              <a:lnSpc>
                <a:spcPct val="100000"/>
              </a:lnSpc>
              <a:buClr>
                <a:srgbClr val="A3A3A3"/>
              </a:buClr>
              <a:buSzPts val="3000"/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Theft impossible</a:t>
            </a:r>
            <a:endParaRPr/>
          </a:p>
          <a:p>
            <a:pPr marL="685783" indent="-431789">
              <a:lnSpc>
                <a:spcPct val="100000"/>
              </a:lnSpc>
              <a:buClr>
                <a:srgbClr val="A3A3A3"/>
              </a:buClr>
              <a:buSzPts val="3000"/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Possibly better anonymity</a:t>
            </a:r>
            <a:endParaRPr/>
          </a:p>
          <a:p>
            <a:pPr marL="685783" indent="-431789">
              <a:lnSpc>
                <a:spcPct val="100000"/>
              </a:lnSpc>
              <a:buClr>
                <a:srgbClr val="A3A3A3"/>
              </a:buClr>
              <a:buSzPts val="3000"/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More philosophically aligned with Bitcoin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57688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Coinjoin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0" name="Google Shape;450;p58"/>
          <p:cNvSpPr txBox="1">
            <a:spLocks noGrp="1"/>
          </p:cNvSpPr>
          <p:nvPr>
            <p:ph type="body" idx="1"/>
          </p:nvPr>
        </p:nvSpPr>
        <p:spPr>
          <a:xfrm>
            <a:off x="7213600" y="1600200"/>
            <a:ext cx="4368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Each signature is entirely separate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1 mixing round 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Mixing principles from before apply on top of basic protocol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1" name="Google Shape;451;p58"/>
          <p:cNvSpPr/>
          <p:nvPr/>
        </p:nvSpPr>
        <p:spPr>
          <a:xfrm>
            <a:off x="1770771" y="2311400"/>
            <a:ext cx="101600" cy="101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2A5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58" descr="User 1 by cyberscooty -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200" y="1888155"/>
            <a:ext cx="763213" cy="94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8" descr="User 2 by cyberscooty -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390" y="4377355"/>
            <a:ext cx="763213" cy="94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8" descr="User 3 by cyberscooty - User #3 - special remix for a deman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200" y="3166069"/>
            <a:ext cx="749520" cy="9310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58"/>
          <p:cNvCxnSpPr>
            <a:stCxn id="451" idx="6"/>
          </p:cNvCxnSpPr>
          <p:nvPr/>
        </p:nvCxnSpPr>
        <p:spPr>
          <a:xfrm>
            <a:off x="1872371" y="2362200"/>
            <a:ext cx="1030000" cy="0"/>
          </a:xfrm>
          <a:prstGeom prst="straightConnector1">
            <a:avLst/>
          </a:prstGeom>
          <a:noFill/>
          <a:ln w="1905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6" name="Google Shape;456;p58"/>
          <p:cNvSpPr/>
          <p:nvPr/>
        </p:nvSpPr>
        <p:spPr>
          <a:xfrm>
            <a:off x="1771952" y="3580809"/>
            <a:ext cx="101600" cy="101600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58"/>
          <p:cNvCxnSpPr>
            <a:stCxn id="456" idx="6"/>
          </p:cNvCxnSpPr>
          <p:nvPr/>
        </p:nvCxnSpPr>
        <p:spPr>
          <a:xfrm>
            <a:off x="1873552" y="3631609"/>
            <a:ext cx="1030000" cy="0"/>
          </a:xfrm>
          <a:prstGeom prst="straightConnector1">
            <a:avLst/>
          </a:prstGeom>
          <a:noFill/>
          <a:ln w="1905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8" name="Google Shape;458;p58"/>
          <p:cNvSpPr/>
          <p:nvPr/>
        </p:nvSpPr>
        <p:spPr>
          <a:xfrm>
            <a:off x="1771952" y="4800600"/>
            <a:ext cx="101600" cy="101600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7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58"/>
          <p:cNvCxnSpPr>
            <a:stCxn id="458" idx="6"/>
          </p:cNvCxnSpPr>
          <p:nvPr/>
        </p:nvCxnSpPr>
        <p:spPr>
          <a:xfrm>
            <a:off x="1873552" y="4851400"/>
            <a:ext cx="1028800" cy="0"/>
          </a:xfrm>
          <a:prstGeom prst="straightConnector1">
            <a:avLst/>
          </a:prstGeom>
          <a:noFill/>
          <a:ln w="1905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0" name="Google Shape;460;p58"/>
          <p:cNvSpPr/>
          <p:nvPr/>
        </p:nvSpPr>
        <p:spPr>
          <a:xfrm>
            <a:off x="2540000" y="1701800"/>
            <a:ext cx="2438400" cy="3860800"/>
          </a:xfrm>
          <a:prstGeom prst="rect">
            <a:avLst/>
          </a:prstGeom>
          <a:noFill/>
          <a:ln w="2540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8"/>
          <p:cNvSpPr/>
          <p:nvPr/>
        </p:nvSpPr>
        <p:spPr>
          <a:xfrm>
            <a:off x="5615177" y="3583176"/>
            <a:ext cx="101600" cy="101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2A5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58" descr="User 1 by cyberscooty -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6514" y="3159931"/>
            <a:ext cx="763213" cy="94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8" descr="User 2 by cyberscooty -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6703" y="1888464"/>
            <a:ext cx="763213" cy="94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8" descr="User 3 by cyberscooty - User #3 - special remix for a deman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36513" y="4381136"/>
            <a:ext cx="749520" cy="93108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8"/>
          <p:cNvSpPr/>
          <p:nvPr/>
        </p:nvSpPr>
        <p:spPr>
          <a:xfrm>
            <a:off x="5616359" y="4795876"/>
            <a:ext cx="101600" cy="101600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8"/>
          <p:cNvSpPr/>
          <p:nvPr/>
        </p:nvSpPr>
        <p:spPr>
          <a:xfrm>
            <a:off x="5616359" y="2311400"/>
            <a:ext cx="101600" cy="101600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7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58"/>
          <p:cNvCxnSpPr/>
          <p:nvPr/>
        </p:nvCxnSpPr>
        <p:spPr>
          <a:xfrm>
            <a:off x="4573182" y="3638109"/>
            <a:ext cx="1028996" cy="0"/>
          </a:xfrm>
          <a:prstGeom prst="straightConnector1">
            <a:avLst/>
          </a:prstGeom>
          <a:noFill/>
          <a:ln w="1905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8" name="Google Shape;468;p58"/>
          <p:cNvCxnSpPr/>
          <p:nvPr/>
        </p:nvCxnSpPr>
        <p:spPr>
          <a:xfrm>
            <a:off x="4572001" y="4846675"/>
            <a:ext cx="1031359" cy="4135"/>
          </a:xfrm>
          <a:prstGeom prst="straightConnector1">
            <a:avLst/>
          </a:prstGeom>
          <a:noFill/>
          <a:ln w="1905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9" name="Google Shape;469;p58"/>
          <p:cNvCxnSpPr/>
          <p:nvPr/>
        </p:nvCxnSpPr>
        <p:spPr>
          <a:xfrm>
            <a:off x="4572001" y="2369001"/>
            <a:ext cx="1031359" cy="0"/>
          </a:xfrm>
          <a:prstGeom prst="straightConnector1">
            <a:avLst/>
          </a:prstGeom>
          <a:noFill/>
          <a:ln w="19050" cap="flat" cmpd="sng">
            <a:solidFill>
              <a:srgbClr val="A3A3A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0" name="Google Shape;470;p58"/>
          <p:cNvSpPr txBox="1"/>
          <p:nvPr/>
        </p:nvSpPr>
        <p:spPr>
          <a:xfrm>
            <a:off x="2844800" y="3225801"/>
            <a:ext cx="1800067" cy="86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Single</a:t>
            </a:r>
            <a:endParaRPr sz="2400"/>
          </a:p>
          <a:p>
            <a:pPr algn="ctr">
              <a:buClr>
                <a:srgbClr val="000000"/>
              </a:buClr>
            </a:pPr>
            <a:r>
              <a:rPr lang="en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transaction</a:t>
            </a:r>
            <a:endParaRPr sz="2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1" name="Google Shape;471;p58"/>
          <p:cNvSpPr/>
          <p:nvPr/>
        </p:nvSpPr>
        <p:spPr>
          <a:xfrm>
            <a:off x="609600" y="5867401"/>
            <a:ext cx="952440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32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by Greg Maxwell, Bitcoin core developer</a:t>
            </a:r>
            <a:endParaRPr sz="32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2629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Coinjoin algorithm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7" name="Google Shape;477;p5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71120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85783" indent="-685783">
              <a:lnSpc>
                <a:spcPct val="100000"/>
              </a:lnSpc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Find peers who want to mix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Exchange input/output addresses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Construct transaction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Send it around, collect signatures</a:t>
            </a:r>
            <a:b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(Before signing, each peer checks if her output is present)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Broadcast the transaction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8" name="Google Shape;47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1601" y="1615855"/>
            <a:ext cx="3852577" cy="255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51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Coinjoin: remaining problems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4" name="Google Shape;484;p6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6908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find peers</a:t>
            </a:r>
            <a:endParaRPr/>
          </a:p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Peers know your input-output mapping</a:t>
            </a:r>
            <a:b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(This is a worse problem than for centralized mixes)</a:t>
            </a:r>
            <a:endParaRPr/>
          </a:p>
          <a:p>
            <a:pPr marL="685783" indent="-685783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Denial of service</a:t>
            </a:r>
            <a:endParaRPr/>
          </a:p>
          <a:p>
            <a:pPr indent="-372524">
              <a:lnSpc>
                <a:spcPct val="100000"/>
              </a:lnSpc>
              <a:buClr>
                <a:srgbClr val="A3A3A3"/>
              </a:buClr>
              <a:buSzPts val="2800"/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5" name="Google Shape;48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1601" y="1615855"/>
            <a:ext cx="3852577" cy="255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495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peers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1" name="Google Shape;491;p6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 an untrusted server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2181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Peer anonymity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7" name="Google Shape;497;p6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Strawman solution: 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exchange inputs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disconnect and reconnect over Tor</a:t>
            </a:r>
            <a:endParaRPr/>
          </a:p>
          <a:p>
            <a:pPr marL="685783" indent="-685783">
              <a:lnSpc>
                <a:spcPct val="100000"/>
              </a:lnSpc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exchange outputs</a:t>
            </a:r>
            <a:endParaRPr/>
          </a:p>
          <a:p>
            <a:pPr marL="685783" indent="-431789">
              <a:lnSpc>
                <a:spcPct val="100000"/>
              </a:lnSpc>
              <a:buClr>
                <a:schemeClr val="dk1"/>
              </a:buClr>
              <a:buSzPts val="3000"/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Better solution: </a:t>
            </a:r>
            <a:b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special-purpose anonymous routing mechanism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8566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Denial of service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3" name="Google Shape;503;p6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A3A3A3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solutions: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Proof of work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Proof of burn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Server kicks out malicious participant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3000"/>
              <a:buFont typeface="Arial"/>
              <a:buChar char="•"/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Cryptographic “blame” protocol</a:t>
            </a:r>
            <a:b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" sz="40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CoinShuffle: Practical Decentralized Coin Mixing for Bitcoin</a:t>
            </a: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/>
            </a:r>
            <a:b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T. Ruffing et al., PETS 2014)</a:t>
            </a:r>
            <a:endParaRPr/>
          </a:p>
          <a:p>
            <a:pPr marL="685783" indent="-431789">
              <a:lnSpc>
                <a:spcPct val="100000"/>
              </a:lnSpc>
              <a:buClr>
                <a:srgbClr val="A3A3A3"/>
              </a:buClr>
              <a:buSzPts val="3000"/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83" indent="-431789">
              <a:lnSpc>
                <a:spcPct val="100000"/>
              </a:lnSpc>
              <a:buClr>
                <a:srgbClr val="A3A3A3"/>
              </a:buClr>
              <a:buSzPts val="3000"/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9555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High-level flows could be identifying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9" name="Google Shape;509;p6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Alice receives 43.12312 BTC / week as income </a:t>
            </a:r>
            <a:b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Always immediately transfers 5% to retirement account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242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Heuristic: merge avoidance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5" name="Google Shape;515;p6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Instead of a single payment transaction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receiver provides multiple output addresses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sender avoids combining different inputs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(Proposed by Mike Hearn)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5133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6"/>
          <p:cNvSpPr txBox="1">
            <a:spLocks noGrp="1"/>
          </p:cNvSpPr>
          <p:nvPr>
            <p:ph type="subTitle" idx="1"/>
          </p:nvPr>
        </p:nvSpPr>
        <p:spPr>
          <a:xfrm>
            <a:off x="914400" y="2253971"/>
            <a:ext cx="10363200" cy="10463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</a:pPr>
            <a:endParaRPr sz="4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</a:pPr>
            <a:r>
              <a:rPr lang="en" sz="4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 and Zerocash</a:t>
            </a:r>
            <a:endParaRPr sz="4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6302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Zerocoin: protocol-level mixing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6" name="Google Shape;526;p6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66040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Mixing capability baked into protocol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Advantage: cryptographic guarantee of mixing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Disadvantage: not currently compatible with Bitcoin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7" name="Google Shape;527;p67"/>
          <p:cNvSpPr txBox="1">
            <a:spLocks noGrp="1"/>
          </p:cNvSpPr>
          <p:nvPr>
            <p:ph type="body" idx="2"/>
          </p:nvPr>
        </p:nvSpPr>
        <p:spPr>
          <a:xfrm>
            <a:off x="7213600" y="1600200"/>
            <a:ext cx="4368797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2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Zerocoin: Anonymous Distributed E-Cash from Bitcoin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I. Miers et al.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IEEE S&amp;P 2013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791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Basecoin and Zerocoin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3" name="Google Shape;533;p6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Basecoin</a:t>
            </a: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Bitcoin-like Altcoin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Zerocoin: Extension of Basecoin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Basecoins can be converted  into zerocoins and back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Breaks link between original and new basecoin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0155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Minting zerocoins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8" name="Google Shape;558;p7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Zerocoins come in standard denominations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(Let’s assume 1 basecoin)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Anyone can make one!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They have value once put on the block chain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That costs 1 basecoin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90421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Minting a zerocoin: “commitment”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4" name="Google Shape;564;p7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8026401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 serial number </a:t>
            </a:r>
            <a:r>
              <a:rPr lang="en" sz="3733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(eventually made public)</a:t>
            </a: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and random secret </a:t>
            </a:r>
            <a:r>
              <a:rPr lang="en" sz="3733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(never public, ensures 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unlinkability)</a:t>
            </a: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 </a:t>
            </a:r>
            <a:r>
              <a:rPr lang="en" sz="3733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H(S, r)</a:t>
            </a:r>
            <a:endParaRPr/>
          </a:p>
        </p:txBody>
      </p:sp>
      <p:grpSp>
        <p:nvGrpSpPr>
          <p:cNvPr id="565" name="Google Shape;565;p73"/>
          <p:cNvGrpSpPr/>
          <p:nvPr/>
        </p:nvGrpSpPr>
        <p:grpSpPr>
          <a:xfrm>
            <a:off x="7810501" y="1600200"/>
            <a:ext cx="3670300" cy="3810000"/>
            <a:chOff x="5857875" y="1200150"/>
            <a:chExt cx="2752725" cy="2857500"/>
          </a:xfrm>
        </p:grpSpPr>
        <p:pic>
          <p:nvPicPr>
            <p:cNvPr id="566" name="Google Shape;566;p73" descr="http://openclipart.org/image/300px/svg_to_png/5333/kuba_Envelope_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57875" y="1200150"/>
              <a:ext cx="2752725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73"/>
            <p:cNvSpPr txBox="1"/>
            <p:nvPr/>
          </p:nvSpPr>
          <p:spPr>
            <a:xfrm rot="1444598">
              <a:off x="6348302" y="2088451"/>
              <a:ext cx="1603324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r>
                <a:rPr lang="en" sz="1867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Serial number: </a:t>
              </a:r>
              <a:endParaRPr sz="2400"/>
            </a:p>
            <a:p>
              <a:pPr>
                <a:buClr>
                  <a:srgbClr val="000000"/>
                </a:buClr>
              </a:pPr>
              <a:r>
                <a:rPr lang="en" sz="1867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317038628684424</a:t>
              </a: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568" name="Google Shape;568;p73"/>
          <p:cNvSpPr/>
          <p:nvPr/>
        </p:nvSpPr>
        <p:spPr>
          <a:xfrm>
            <a:off x="4572000" y="5635845"/>
            <a:ext cx="3251201" cy="697627"/>
          </a:xfrm>
          <a:prstGeom prst="rect">
            <a:avLst/>
          </a:prstGeom>
          <a:solidFill>
            <a:srgbClr val="EFD7AE"/>
          </a:solidFill>
          <a:ln w="19050" cap="flat" cmpd="sng">
            <a:solidFill>
              <a:srgbClr val="E7C5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" sz="373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Simplification</a:t>
            </a:r>
            <a:endParaRPr sz="3733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3181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Minting a zerocoin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4" name="Google Shape;574;p7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put </a:t>
            </a:r>
            <a:r>
              <a:rPr lang="en" sz="40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H(S, r)</a:t>
            </a: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on block chain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Mint Tx with 1 basecoin as input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75" name="Google Shape;575;p74"/>
          <p:cNvGrpSpPr/>
          <p:nvPr/>
        </p:nvGrpSpPr>
        <p:grpSpPr>
          <a:xfrm>
            <a:off x="2657433" y="5060906"/>
            <a:ext cx="1016000" cy="1207700"/>
            <a:chOff x="2895600" y="2199376"/>
            <a:chExt cx="762000" cy="905775"/>
          </a:xfrm>
        </p:grpSpPr>
        <p:sp>
          <p:nvSpPr>
            <p:cNvPr id="576" name="Google Shape;576;p74"/>
            <p:cNvSpPr/>
            <p:nvPr/>
          </p:nvSpPr>
          <p:spPr>
            <a:xfrm>
              <a:off x="2895600" y="2199376"/>
              <a:ext cx="762000" cy="228721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7" name="Google Shape;577;p74"/>
            <p:cNvSpPr/>
            <p:nvPr/>
          </p:nvSpPr>
          <p:spPr>
            <a:xfrm>
              <a:off x="2895600" y="2427976"/>
              <a:ext cx="762000" cy="223643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8" name="Google Shape;578;p74"/>
            <p:cNvSpPr/>
            <p:nvPr/>
          </p:nvSpPr>
          <p:spPr>
            <a:xfrm>
              <a:off x="2895600" y="2647950"/>
              <a:ext cx="762000" cy="216762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9" name="Google Shape;579;p74"/>
            <p:cNvSpPr/>
            <p:nvPr/>
          </p:nvSpPr>
          <p:spPr>
            <a:xfrm>
              <a:off x="2895600" y="2864713"/>
              <a:ext cx="762000" cy="240438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580" name="Google Shape;580;p74"/>
          <p:cNvGrpSpPr/>
          <p:nvPr/>
        </p:nvGrpSpPr>
        <p:grpSpPr>
          <a:xfrm>
            <a:off x="930233" y="5061766"/>
            <a:ext cx="1016000" cy="1207700"/>
            <a:chOff x="2895600" y="2199376"/>
            <a:chExt cx="762000" cy="905775"/>
          </a:xfrm>
        </p:grpSpPr>
        <p:sp>
          <p:nvSpPr>
            <p:cNvPr id="581" name="Google Shape;581;p74"/>
            <p:cNvSpPr/>
            <p:nvPr/>
          </p:nvSpPr>
          <p:spPr>
            <a:xfrm>
              <a:off x="2895600" y="2199376"/>
              <a:ext cx="762000" cy="228721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2" name="Google Shape;582;p74"/>
            <p:cNvSpPr/>
            <p:nvPr/>
          </p:nvSpPr>
          <p:spPr>
            <a:xfrm>
              <a:off x="2895600" y="2427976"/>
              <a:ext cx="762000" cy="223643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3" name="Google Shape;583;p74"/>
            <p:cNvSpPr/>
            <p:nvPr/>
          </p:nvSpPr>
          <p:spPr>
            <a:xfrm>
              <a:off x="2895600" y="2647950"/>
              <a:ext cx="762000" cy="216762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4" name="Google Shape;584;p74"/>
            <p:cNvSpPr/>
            <p:nvPr/>
          </p:nvSpPr>
          <p:spPr>
            <a:xfrm>
              <a:off x="2895600" y="2864713"/>
              <a:ext cx="762000" cy="240438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585" name="Google Shape;585;p74"/>
          <p:cNvGrpSpPr/>
          <p:nvPr/>
        </p:nvGrpSpPr>
        <p:grpSpPr>
          <a:xfrm>
            <a:off x="4384633" y="5066101"/>
            <a:ext cx="1016000" cy="1207700"/>
            <a:chOff x="2895600" y="2199376"/>
            <a:chExt cx="762000" cy="905775"/>
          </a:xfrm>
        </p:grpSpPr>
        <p:sp>
          <p:nvSpPr>
            <p:cNvPr id="586" name="Google Shape;586;p74"/>
            <p:cNvSpPr/>
            <p:nvPr/>
          </p:nvSpPr>
          <p:spPr>
            <a:xfrm>
              <a:off x="2895600" y="2199376"/>
              <a:ext cx="762000" cy="228721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7" name="Google Shape;587;p74"/>
            <p:cNvSpPr/>
            <p:nvPr/>
          </p:nvSpPr>
          <p:spPr>
            <a:xfrm>
              <a:off x="2895600" y="2427976"/>
              <a:ext cx="762000" cy="223643"/>
            </a:xfrm>
            <a:prstGeom prst="rect">
              <a:avLst/>
            </a:prstGeom>
            <a:solidFill>
              <a:srgbClr val="D1E0AF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" sz="16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Mint</a:t>
              </a:r>
              <a:endParaRPr sz="1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8" name="Google Shape;588;p74"/>
            <p:cNvSpPr/>
            <p:nvPr/>
          </p:nvSpPr>
          <p:spPr>
            <a:xfrm>
              <a:off x="2895600" y="2647950"/>
              <a:ext cx="762000" cy="216762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9" name="Google Shape;589;p74"/>
            <p:cNvSpPr/>
            <p:nvPr/>
          </p:nvSpPr>
          <p:spPr>
            <a:xfrm>
              <a:off x="2895600" y="2864713"/>
              <a:ext cx="762000" cy="240438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cxnSp>
        <p:nvCxnSpPr>
          <p:cNvPr id="590" name="Google Shape;590;p74"/>
          <p:cNvCxnSpPr/>
          <p:nvPr/>
        </p:nvCxnSpPr>
        <p:spPr>
          <a:xfrm rot="10800000">
            <a:off x="1946234" y="5659147"/>
            <a:ext cx="69536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91" name="Google Shape;591;p74"/>
          <p:cNvCxnSpPr/>
          <p:nvPr/>
        </p:nvCxnSpPr>
        <p:spPr>
          <a:xfrm rot="10800000">
            <a:off x="3673435" y="5655791"/>
            <a:ext cx="69536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92" name="Google Shape;592;p74"/>
          <p:cNvCxnSpPr/>
          <p:nvPr/>
        </p:nvCxnSpPr>
        <p:spPr>
          <a:xfrm flipH="1">
            <a:off x="1422403" y="4541407"/>
            <a:ext cx="6589820" cy="2164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3" name="Google Shape;593;p74"/>
          <p:cNvCxnSpPr/>
          <p:nvPr/>
        </p:nvCxnSpPr>
        <p:spPr>
          <a:xfrm rot="10800000" flipH="1">
            <a:off x="5400634" y="5066102"/>
            <a:ext cx="914404" cy="29960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74"/>
          <p:cNvCxnSpPr/>
          <p:nvPr/>
        </p:nvCxnSpPr>
        <p:spPr>
          <a:xfrm>
            <a:off x="5400634" y="5659005"/>
            <a:ext cx="914404" cy="149703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5" name="Google Shape;595;p74"/>
          <p:cNvCxnSpPr/>
          <p:nvPr/>
        </p:nvCxnSpPr>
        <p:spPr>
          <a:xfrm>
            <a:off x="1452411" y="4541407"/>
            <a:ext cx="0" cy="67197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596" name="Google Shape;596;p74"/>
          <p:cNvGrpSpPr/>
          <p:nvPr/>
        </p:nvGrpSpPr>
        <p:grpSpPr>
          <a:xfrm>
            <a:off x="6281959" y="5060906"/>
            <a:ext cx="2032000" cy="776189"/>
            <a:chOff x="4572000" y="1669225"/>
            <a:chExt cx="1905000" cy="582142"/>
          </a:xfrm>
        </p:grpSpPr>
        <p:sp>
          <p:nvSpPr>
            <p:cNvPr id="597" name="Google Shape;597;p74"/>
            <p:cNvSpPr/>
            <p:nvPr/>
          </p:nvSpPr>
          <p:spPr>
            <a:xfrm>
              <a:off x="4572003" y="1669225"/>
              <a:ext cx="1904997" cy="282299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" sz="2133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signed by A</a:t>
              </a:r>
              <a:endParaRPr sz="213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8" name="Google Shape;598;p74"/>
            <p:cNvSpPr/>
            <p:nvPr/>
          </p:nvSpPr>
          <p:spPr>
            <a:xfrm>
              <a:off x="4572000" y="1951524"/>
              <a:ext cx="1905000" cy="299843"/>
            </a:xfrm>
            <a:prstGeom prst="rect">
              <a:avLst/>
            </a:prstGeom>
            <a:solidFill>
              <a:srgbClr val="CCCCCC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" sz="2133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H(S, r)	H(  )</a:t>
              </a:r>
              <a:endParaRPr sz="2400"/>
            </a:p>
          </p:txBody>
        </p:sp>
      </p:grpSp>
      <p:cxnSp>
        <p:nvCxnSpPr>
          <p:cNvPr id="599" name="Google Shape;599;p74"/>
          <p:cNvCxnSpPr/>
          <p:nvPr/>
        </p:nvCxnSpPr>
        <p:spPr>
          <a:xfrm rot="10800000" flipH="1">
            <a:off x="8012222" y="4541407"/>
            <a:ext cx="1" cy="109352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83553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spend a zerocoin </a:t>
            </a:r>
            <a:r>
              <a:rPr lang="en" sz="4800" b="1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5" name="Google Shape;605;p7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609585">
              <a:lnSpc>
                <a:spcPct val="100000"/>
              </a:lnSpc>
              <a:buClr>
                <a:srgbClr val="A3A3A3"/>
              </a:buClr>
              <a:buSzPts val="2400"/>
              <a:buFont typeface="Arial"/>
              <a:buChar char="•"/>
            </a:pP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Reveal </a:t>
            </a:r>
            <a:r>
              <a:rPr lang="en" sz="32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b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(miners will verify </a:t>
            </a:r>
            <a:r>
              <a:rPr lang="en" sz="32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hasn’t been spent before)</a:t>
            </a:r>
            <a:endParaRPr dirty="0"/>
          </a:p>
          <a:p>
            <a:pPr indent="-406390">
              <a:lnSpc>
                <a:spcPct val="100000"/>
              </a:lnSpc>
              <a:buClr>
                <a:srgbClr val="A3A3A3"/>
              </a:buClr>
              <a:buSzPts val="2400"/>
            </a:pPr>
            <a:endParaRPr sz="32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2400"/>
              <a:buFont typeface="Arial"/>
              <a:buChar char="•"/>
            </a:pP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zero-knowledge proof that:</a:t>
            </a:r>
            <a:b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“I know a number </a:t>
            </a:r>
            <a:r>
              <a:rPr lang="en" sz="32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such that </a:t>
            </a:r>
            <a:r>
              <a:rPr lang="en" sz="32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H(S, r)</a:t>
            </a:r>
            <a:r>
              <a:rPr lang="en" sz="32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one of the zerocoins in the block chain”</a:t>
            </a:r>
            <a:endParaRPr dirty="0"/>
          </a:p>
          <a:p>
            <a:pPr indent="-406390">
              <a:lnSpc>
                <a:spcPct val="100000"/>
              </a:lnSpc>
              <a:buClr>
                <a:srgbClr val="A3A3A3"/>
              </a:buClr>
              <a:buSzPts val="2400"/>
            </a:pPr>
            <a:endParaRPr sz="32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09585">
              <a:buClr>
                <a:srgbClr val="A3A3A3"/>
              </a:buClr>
              <a:buSzPts val="2400"/>
              <a:buFont typeface="Arial"/>
              <a:buChar char="•"/>
            </a:pPr>
            <a:r>
              <a:rPr lang="en-IN" sz="3200" dirty="0"/>
              <a:t>The system only sees that </a:t>
            </a:r>
            <a:r>
              <a:rPr lang="en-IN" sz="3200" i="1" dirty="0"/>
              <a:t>some</a:t>
            </a:r>
            <a:r>
              <a:rPr lang="en-IN" sz="3200" dirty="0"/>
              <a:t> valid coin is being spent, not which one.</a:t>
            </a:r>
            <a:endParaRPr sz="32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24563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 is anonymous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1" name="Google Shape;611;p7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Since </a:t>
            </a:r>
            <a:r>
              <a:rPr lang="en" sz="40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secret, no one can figure out </a:t>
            </a:r>
            <a:r>
              <a:rPr lang="en" sz="40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which</a:t>
            </a: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zerocoin corresponds to serial number </a:t>
            </a:r>
            <a:r>
              <a:rPr lang="en" sz="4000" i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endParaRPr/>
          </a:p>
        </p:txBody>
      </p:sp>
      <p:sp>
        <p:nvSpPr>
          <p:cNvPr id="612" name="Google Shape;612;p76"/>
          <p:cNvSpPr/>
          <p:nvPr/>
        </p:nvSpPr>
        <p:spPr>
          <a:xfrm>
            <a:off x="711201" y="3835400"/>
            <a:ext cx="1659001" cy="69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3733" i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H(S, r)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3" name="Google Shape;613;p76" descr="https://openclipart.org/image/300px/svg_to_png/3593/c_schmitz_Closed_envelop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9600" y="3571438"/>
            <a:ext cx="1905000" cy="122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6" descr="https://openclipart.org/image/300px/svg_to_png/3593/c_schmitz_Closed_envelop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9600" y="3571438"/>
            <a:ext cx="1905000" cy="122555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6"/>
          <p:cNvSpPr/>
          <p:nvPr/>
        </p:nvSpPr>
        <p:spPr>
          <a:xfrm>
            <a:off x="3746020" y="4953000"/>
            <a:ext cx="71216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4000" i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</a:t>
            </a:r>
            <a:r>
              <a:rPr lang="en" sz="4000" i="1" baseline="-25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6"/>
          <p:cNvSpPr/>
          <p:nvPr/>
        </p:nvSpPr>
        <p:spPr>
          <a:xfrm>
            <a:off x="6286020" y="4948865"/>
            <a:ext cx="71216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4000" i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</a:t>
            </a:r>
            <a:r>
              <a:rPr lang="en" sz="4000" i="1" baseline="-25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7" name="Google Shape;617;p76"/>
          <p:cNvGrpSpPr/>
          <p:nvPr/>
        </p:nvGrpSpPr>
        <p:grpSpPr>
          <a:xfrm>
            <a:off x="8966200" y="3571438"/>
            <a:ext cx="1905000" cy="2130268"/>
            <a:chOff x="6172200" y="2678578"/>
            <a:chExt cx="1428750" cy="1597701"/>
          </a:xfrm>
        </p:grpSpPr>
        <p:pic>
          <p:nvPicPr>
            <p:cNvPr id="618" name="Google Shape;618;p76" descr="https://openclipart.org/image/300px/svg_to_png/3593/c_schmitz_Closed_envelop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72200" y="2678578"/>
              <a:ext cx="1428750" cy="919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76"/>
            <p:cNvSpPr/>
            <p:nvPr/>
          </p:nvSpPr>
          <p:spPr>
            <a:xfrm>
              <a:off x="6619514" y="3722281"/>
              <a:ext cx="56297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r>
                <a:rPr lang="en" sz="4000" i="1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</a:t>
              </a:r>
              <a:r>
                <a:rPr lang="en" sz="4000" i="1" baseline="-250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0" name="Google Shape;620;p76"/>
          <p:cNvSpPr/>
          <p:nvPr/>
        </p:nvSpPr>
        <p:spPr>
          <a:xfrm>
            <a:off x="8013608" y="3733800"/>
            <a:ext cx="6223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4000" i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…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865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4800"/>
            <a:ext cx="10972800" cy="6262973"/>
          </a:xfrm>
        </p:spPr>
        <p:txBody>
          <a:bodyPr/>
          <a:lstStyle/>
          <a:p>
            <a:r>
              <a:rPr lang="en-IN" b="1" dirty="0">
                <a:latin typeface="Trebuchet MS" panose="020B0603020202020204" pitchFamily="34" charset="0"/>
              </a:rPr>
              <a:t>Key Features</a:t>
            </a:r>
            <a:r>
              <a:rPr lang="en-IN" b="1" dirty="0" smtClean="0">
                <a:latin typeface="Trebuchet MS" panose="020B0603020202020204" pitchFamily="34" charset="0"/>
              </a:rPr>
              <a:t>:</a:t>
            </a:r>
          </a:p>
          <a:p>
            <a:endParaRPr lang="en-IN" b="1" dirty="0">
              <a:latin typeface="Trebuchet MS" panose="020B0603020202020204" pitchFamily="34" charset="0"/>
            </a:endParaRPr>
          </a:p>
          <a:p>
            <a:r>
              <a:rPr lang="en-IN" b="1" dirty="0">
                <a:latin typeface="Trebuchet MS" panose="020B0603020202020204" pitchFamily="34" charset="0"/>
              </a:rPr>
              <a:t>Anonymity</a:t>
            </a:r>
            <a:r>
              <a:rPr lang="en-IN" dirty="0">
                <a:latin typeface="Trebuchet MS" panose="020B0603020202020204" pitchFamily="34" charset="0"/>
              </a:rPr>
              <a:t>: Breaks the link between payer and payee.</a:t>
            </a:r>
          </a:p>
          <a:p>
            <a:r>
              <a:rPr lang="en-IN" b="1" dirty="0">
                <a:latin typeface="Trebuchet MS" panose="020B0603020202020204" pitchFamily="34" charset="0"/>
              </a:rPr>
              <a:t>Uses zero-knowledge proofs (ZKP)</a:t>
            </a:r>
            <a:r>
              <a:rPr lang="en-IN" dirty="0">
                <a:latin typeface="Trebuchet MS" panose="020B0603020202020204" pitchFamily="34" charset="0"/>
              </a:rPr>
              <a:t>: Proves you own a valid coin without revealing it.</a:t>
            </a:r>
          </a:p>
          <a:p>
            <a:r>
              <a:rPr lang="en-IN" b="1" dirty="0">
                <a:latin typeface="Trebuchet MS" panose="020B0603020202020204" pitchFamily="34" charset="0"/>
              </a:rPr>
              <a:t>Published balances</a:t>
            </a:r>
            <a:r>
              <a:rPr lang="en-IN" dirty="0">
                <a:latin typeface="Trebuchet MS" panose="020B0603020202020204" pitchFamily="34" charset="0"/>
              </a:rPr>
              <a:t>: Amounts are still visible</a:t>
            </a:r>
            <a:r>
              <a:rPr lang="en-IN" dirty="0" smtClean="0">
                <a:latin typeface="Trebuchet MS" panose="020B0603020202020204" pitchFamily="34" charset="0"/>
              </a:rPr>
              <a:t>.</a:t>
            </a:r>
          </a:p>
          <a:p>
            <a:endParaRPr lang="en-IN" b="1" dirty="0">
              <a:latin typeface="Trebuchet MS" panose="020B0603020202020204" pitchFamily="34" charset="0"/>
            </a:endParaRPr>
          </a:p>
          <a:p>
            <a:pPr algn="just"/>
            <a:r>
              <a:rPr lang="en-IN" b="1" dirty="0" err="1">
                <a:latin typeface="Trebuchet MS" panose="020B0603020202020204" pitchFamily="34" charset="0"/>
              </a:rPr>
              <a:t>Zerocoin</a:t>
            </a:r>
            <a:r>
              <a:rPr lang="en-IN" b="1" dirty="0">
                <a:latin typeface="Trebuchet MS" panose="020B0603020202020204" pitchFamily="34" charset="0"/>
              </a:rPr>
              <a:t> Security </a:t>
            </a:r>
            <a:r>
              <a:rPr lang="en-IN" b="1" dirty="0" smtClean="0">
                <a:latin typeface="Trebuchet MS" panose="020B0603020202020204" pitchFamily="34" charset="0"/>
              </a:rPr>
              <a:t>Properties:</a:t>
            </a:r>
            <a:endParaRPr lang="en-IN" b="1" dirty="0">
              <a:latin typeface="Trebuchet MS" panose="020B0603020202020204" pitchFamily="34" charset="0"/>
            </a:endParaRPr>
          </a:p>
          <a:p>
            <a:pPr algn="just"/>
            <a:endParaRPr lang="en-IN" b="1" dirty="0" smtClean="0">
              <a:latin typeface="Trebuchet MS" panose="020B0603020202020204" pitchFamily="34" charset="0"/>
            </a:endParaRPr>
          </a:p>
          <a:p>
            <a:pPr algn="just"/>
            <a:r>
              <a:rPr lang="en-IN" b="1" dirty="0" err="1" smtClean="0">
                <a:latin typeface="Trebuchet MS" panose="020B0603020202020204" pitchFamily="34" charset="0"/>
              </a:rPr>
              <a:t>Unlinkability</a:t>
            </a:r>
            <a:r>
              <a:rPr lang="en-IN" b="1" dirty="0">
                <a:latin typeface="Trebuchet MS" panose="020B0603020202020204" pitchFamily="34" charset="0"/>
              </a:rPr>
              <a:t>:</a:t>
            </a:r>
            <a:r>
              <a:rPr lang="en-IN" dirty="0">
                <a:latin typeface="Trebuchet MS" panose="020B0603020202020204" pitchFamily="34" charset="0"/>
              </a:rPr>
              <a:t> No way to match the new </a:t>
            </a:r>
            <a:r>
              <a:rPr lang="en-IN" dirty="0" err="1">
                <a:latin typeface="Trebuchet MS" panose="020B0603020202020204" pitchFamily="34" charset="0"/>
              </a:rPr>
              <a:t>basecoin</a:t>
            </a:r>
            <a:r>
              <a:rPr lang="en-IN" dirty="0">
                <a:latin typeface="Trebuchet MS" panose="020B0603020202020204" pitchFamily="34" charset="0"/>
              </a:rPr>
              <a:t> to the old</a:t>
            </a:r>
          </a:p>
          <a:p>
            <a:pPr algn="just"/>
            <a:r>
              <a:rPr lang="en-IN" b="1" dirty="0">
                <a:latin typeface="Trebuchet MS" panose="020B0603020202020204" pitchFamily="34" charset="0"/>
              </a:rPr>
              <a:t>ZKPs ensure uniqueness:</a:t>
            </a:r>
            <a:r>
              <a:rPr lang="en-IN" dirty="0">
                <a:latin typeface="Trebuchet MS" panose="020B0603020202020204" pitchFamily="34" charset="0"/>
              </a:rPr>
              <a:t> Each serial number is used only once</a:t>
            </a:r>
          </a:p>
          <a:p>
            <a:pPr algn="just"/>
            <a:r>
              <a:rPr lang="en-IN" b="1" dirty="0" err="1">
                <a:latin typeface="Trebuchet MS" panose="020B0603020202020204" pitchFamily="34" charset="0"/>
              </a:rPr>
              <a:t>Zerocoin's</a:t>
            </a:r>
            <a:r>
              <a:rPr lang="en-IN" b="1" dirty="0">
                <a:latin typeface="Trebuchet MS" panose="020B0603020202020204" pitchFamily="34" charset="0"/>
              </a:rPr>
              <a:t> anonymity is cryptographically guaranteed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8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rebuchet MS" panose="020B0603020202020204" pitchFamily="34" charset="0"/>
              </a:rPr>
              <a:t>Limitations of </a:t>
            </a:r>
            <a:r>
              <a:rPr lang="en-IN" dirty="0" err="1" smtClean="0">
                <a:latin typeface="Trebuchet MS" panose="020B0603020202020204" pitchFamily="34" charset="0"/>
              </a:rPr>
              <a:t>Zerocoin</a:t>
            </a:r>
            <a:r>
              <a:rPr lang="en-IN" dirty="0" smtClean="0">
                <a:latin typeface="Trebuchet MS" panose="020B0603020202020204" pitchFamily="34" charset="0"/>
              </a:rPr>
              <a:t>:</a:t>
            </a:r>
          </a:p>
          <a:p>
            <a:endParaRPr lang="en-IN" dirty="0" smtClean="0">
              <a:latin typeface="Trebuchet MS" panose="020B0603020202020204" pitchFamily="34" charset="0"/>
            </a:endParaRPr>
          </a:p>
          <a:p>
            <a:r>
              <a:rPr lang="en-IN" b="1" dirty="0">
                <a:latin typeface="Trebuchet MS" panose="020B0603020202020204" pitchFamily="34" charset="0"/>
              </a:rPr>
              <a:t>Large proof size</a:t>
            </a:r>
            <a:r>
              <a:rPr lang="en-IN" dirty="0">
                <a:latin typeface="Trebuchet MS" panose="020B0603020202020204" pitchFamily="34" charset="0"/>
              </a:rPr>
              <a:t> (~50 KB per transaction).</a:t>
            </a:r>
          </a:p>
          <a:p>
            <a:r>
              <a:rPr lang="en-IN" b="1" dirty="0">
                <a:latin typeface="Trebuchet MS" panose="020B0603020202020204" pitchFamily="34" charset="0"/>
              </a:rPr>
              <a:t>Requires trusted setup</a:t>
            </a:r>
            <a:r>
              <a:rPr lang="en-IN" dirty="0">
                <a:latin typeface="Trebuchet MS" panose="020B0603020202020204" pitchFamily="34" charset="0"/>
              </a:rPr>
              <a:t> (cryptographic parameters that must be safely generated and destroyed).</a:t>
            </a:r>
          </a:p>
          <a:p>
            <a:r>
              <a:rPr lang="en-IN" b="1" dirty="0">
                <a:latin typeface="Trebuchet MS" panose="020B0603020202020204" pitchFamily="34" charset="0"/>
              </a:rPr>
              <a:t>Not fully private</a:t>
            </a:r>
            <a:r>
              <a:rPr lang="en-IN" dirty="0">
                <a:latin typeface="Trebuchet MS" panose="020B0603020202020204" pitchFamily="34" charset="0"/>
              </a:rPr>
              <a:t> (transaction amounts are still visible</a:t>
            </a:r>
            <a:r>
              <a:rPr lang="en-IN" dirty="0" smtClean="0">
                <a:latin typeface="Trebuchet MS" panose="020B0603020202020204" pitchFamily="34" charset="0"/>
              </a:rPr>
              <a:t>)</a:t>
            </a:r>
            <a:r>
              <a:rPr lang="en-IN" dirty="0" smtClean="0"/>
              <a:t>.</a:t>
            </a:r>
          </a:p>
          <a:p>
            <a:r>
              <a:rPr lang="en-IN" b="1" dirty="0" err="1">
                <a:latin typeface="Trebuchet MS" panose="020B0603020202020204" pitchFamily="34" charset="0"/>
              </a:rPr>
              <a:t>Deployability</a:t>
            </a:r>
            <a:endParaRPr lang="en-IN" b="1" dirty="0">
              <a:latin typeface="Trebuchet MS" panose="020B0603020202020204" pitchFamily="34" charset="0"/>
            </a:endParaRPr>
          </a:p>
          <a:p>
            <a:endParaRPr lang="en-IN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64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Zero-knowledge proofs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1" name="Google Shape;551;p7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11760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A3A3A3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way to prove a statement </a:t>
            </a:r>
            <a:endParaRPr/>
          </a:p>
          <a:p>
            <a:pPr marL="0" indent="0">
              <a:lnSpc>
                <a:spcPct val="100000"/>
              </a:lnSpc>
              <a:buClr>
                <a:srgbClr val="A3A3A3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without revealing any other </a:t>
            </a:r>
            <a:endParaRPr/>
          </a:p>
          <a:p>
            <a:pPr marL="0" indent="0">
              <a:lnSpc>
                <a:spcPct val="100000"/>
              </a:lnSpc>
              <a:buClr>
                <a:srgbClr val="A3A3A3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</a:t>
            </a:r>
            <a:endParaRPr/>
          </a:p>
          <a:p>
            <a:pPr marL="0" indent="0">
              <a:lnSpc>
                <a:spcPct val="100000"/>
              </a:lnSpc>
              <a:buClr>
                <a:srgbClr val="A3A3A3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rgbClr val="A3A3A3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“I know an input that hashes to </a:t>
            </a:r>
            <a:r>
              <a:rPr lang="en" sz="3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da39a3ee5e</a:t>
            </a: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“I know an input that hashes to some hash in the following set: … ”</a:t>
            </a: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2" name="Google Shape;552;p71"/>
          <p:cNvSpPr/>
          <p:nvPr/>
        </p:nvSpPr>
        <p:spPr>
          <a:xfrm>
            <a:off x="7010400" y="1498600"/>
            <a:ext cx="4368800" cy="2540000"/>
          </a:xfrm>
          <a:prstGeom prst="irregularSeal2">
            <a:avLst/>
          </a:prstGeom>
          <a:solidFill>
            <a:srgbClr val="EFD7AE"/>
          </a:solidFill>
          <a:ln w="19050" cap="flat" cmpd="sng">
            <a:solidFill>
              <a:srgbClr val="E7C5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n" sz="426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Crypto </a:t>
            </a:r>
            <a:endParaRPr sz="2400"/>
          </a:p>
          <a:p>
            <a:pPr algn="ctr">
              <a:buClr>
                <a:schemeClr val="dk1"/>
              </a:buClr>
            </a:pPr>
            <a:r>
              <a:rPr lang="en" sz="426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magic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0471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Zero coin and Zero cash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err="1"/>
              <a:t>ZeroCoin</a:t>
            </a:r>
            <a:r>
              <a:rPr lang="en-IN" dirty="0"/>
              <a:t> was initially proposed as a </a:t>
            </a:r>
            <a:r>
              <a:rPr lang="en-IN" b="1" dirty="0"/>
              <a:t>privacy extension</a:t>
            </a:r>
            <a:r>
              <a:rPr lang="en-IN" dirty="0"/>
              <a:t> to Bitcoin. It aimed to add anonymity to Bitcoin transactions</a:t>
            </a:r>
            <a:r>
              <a:rPr lang="en-IN" dirty="0" smtClean="0"/>
              <a:t>.</a:t>
            </a:r>
          </a:p>
          <a:p>
            <a:pPr lvl="0"/>
            <a:r>
              <a:rPr lang="en-IN" dirty="0"/>
              <a:t>The concept of </a:t>
            </a:r>
            <a:r>
              <a:rPr lang="en-IN" dirty="0" err="1"/>
              <a:t>ZeroCoin</a:t>
            </a:r>
            <a:r>
              <a:rPr lang="en-IN" dirty="0"/>
              <a:t> eventually evolved into </a:t>
            </a:r>
            <a:r>
              <a:rPr lang="en-IN" b="1" dirty="0" err="1"/>
              <a:t>Zcoin</a:t>
            </a:r>
            <a:r>
              <a:rPr lang="en-IN" dirty="0"/>
              <a:t>, which is now known as </a:t>
            </a:r>
            <a:r>
              <a:rPr lang="en-IN" b="1" dirty="0" err="1"/>
              <a:t>Firo</a:t>
            </a:r>
            <a:r>
              <a:rPr lang="en-IN" dirty="0"/>
              <a:t> (a privacy-focused </a:t>
            </a:r>
            <a:r>
              <a:rPr lang="en-IN" dirty="0" err="1"/>
              <a:t>cryptocurrency</a:t>
            </a:r>
            <a:r>
              <a:rPr lang="en-IN" dirty="0" smtClean="0"/>
              <a:t>).</a:t>
            </a:r>
          </a:p>
          <a:p>
            <a:pPr lvl="0"/>
            <a:r>
              <a:rPr lang="en-IN" b="1" dirty="0" err="1"/>
              <a:t>ZeroCash</a:t>
            </a:r>
            <a:r>
              <a:rPr lang="en-IN" dirty="0"/>
              <a:t> was developed as an evolution of </a:t>
            </a:r>
            <a:r>
              <a:rPr lang="en-IN" dirty="0" err="1"/>
              <a:t>ZeroCoin</a:t>
            </a:r>
            <a:r>
              <a:rPr lang="en-IN" dirty="0"/>
              <a:t>, offering more efficient and secure privacy</a:t>
            </a:r>
            <a:r>
              <a:rPr lang="en-IN" dirty="0" smtClean="0"/>
              <a:t>.</a:t>
            </a:r>
          </a:p>
          <a:p>
            <a:pPr lvl="0"/>
            <a:r>
              <a:rPr lang="en-IN" dirty="0"/>
              <a:t>It formed the basis of the </a:t>
            </a:r>
            <a:r>
              <a:rPr lang="en-IN" dirty="0" err="1"/>
              <a:t>cryptocurrency</a:t>
            </a:r>
            <a:r>
              <a:rPr lang="en-IN" dirty="0"/>
              <a:t> </a:t>
            </a:r>
            <a:r>
              <a:rPr lang="en-IN" dirty="0" err="1"/>
              <a:t>Zcash</a:t>
            </a:r>
            <a:r>
              <a:rPr lang="en-IN" dirty="0"/>
              <a:t>, which is a well-known privacy-centric </a:t>
            </a:r>
            <a:r>
              <a:rPr lang="en-IN" dirty="0" err="1"/>
              <a:t>cryptocurrency</a:t>
            </a:r>
            <a:r>
              <a:rPr lang="en-IN" dirty="0" smtClean="0"/>
              <a:t>.</a:t>
            </a:r>
          </a:p>
          <a:p>
            <a:pPr lvl="0"/>
            <a:r>
              <a:rPr lang="en-IN" dirty="0"/>
              <a:t>With </a:t>
            </a:r>
            <a:r>
              <a:rPr lang="en-IN" dirty="0" err="1"/>
              <a:t>Zcash</a:t>
            </a:r>
            <a:r>
              <a:rPr lang="en-IN" dirty="0"/>
              <a:t>, users can choose between transparent and shielded transactions, providing flexibility in how much privacy they want.</a:t>
            </a:r>
          </a:p>
          <a:p>
            <a:pPr marL="50799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00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Zero-knowledge </a:t>
            </a:r>
            <a:r>
              <a:rPr lang="en-US" b="1" dirty="0" smtClean="0"/>
              <a:t>proofs</a:t>
            </a:r>
          </a:p>
          <a:p>
            <a:pPr marL="50799" indent="0">
              <a:buNone/>
            </a:pPr>
            <a:r>
              <a:rPr lang="en-US" dirty="0" smtClean="0"/>
              <a:t>             introduced </a:t>
            </a:r>
            <a:r>
              <a:rPr lang="en-US" dirty="0"/>
              <a:t>by </a:t>
            </a:r>
            <a:r>
              <a:rPr lang="en-US" dirty="0" err="1"/>
              <a:t>Goldwasser</a:t>
            </a:r>
            <a:r>
              <a:rPr lang="en-US" dirty="0"/>
              <a:t>, </a:t>
            </a:r>
            <a:r>
              <a:rPr lang="en-US" dirty="0" err="1"/>
              <a:t>Micali</a:t>
            </a:r>
            <a:r>
              <a:rPr lang="en-US" dirty="0"/>
              <a:t>, and </a:t>
            </a:r>
            <a:r>
              <a:rPr lang="en-US" dirty="0" err="1"/>
              <a:t>Rackoff</a:t>
            </a:r>
            <a:r>
              <a:rPr lang="en-US" dirty="0"/>
              <a:t> in </a:t>
            </a:r>
            <a:r>
              <a:rPr lang="en-US" dirty="0" smtClean="0"/>
              <a:t>1985</a:t>
            </a:r>
          </a:p>
          <a:p>
            <a:pPr marL="50799" indent="0">
              <a:buNone/>
            </a:pPr>
            <a:r>
              <a:rPr lang="en-US" dirty="0"/>
              <a:t> </a:t>
            </a:r>
            <a:r>
              <a:rPr lang="en-US" dirty="0" smtClean="0"/>
              <a:t>         Three </a:t>
            </a:r>
            <a:r>
              <a:rPr lang="en-US" dirty="0"/>
              <a:t>properties of ZKPs that are required:</a:t>
            </a:r>
            <a:endParaRPr lang="en-US" dirty="0" smtClean="0"/>
          </a:p>
          <a:p>
            <a:pPr marL="50799" indent="0">
              <a:buNone/>
            </a:pPr>
            <a:endParaRPr lang="en-IN" b="1" dirty="0"/>
          </a:p>
          <a:p>
            <a:pPr marL="50799" indent="0">
              <a:buNone/>
            </a:pPr>
            <a:r>
              <a:rPr lang="en-US" b="1" dirty="0" smtClean="0"/>
              <a:t>            -- </a:t>
            </a:r>
            <a:r>
              <a:rPr lang="en-US" dirty="0" smtClean="0"/>
              <a:t>Completeness </a:t>
            </a:r>
          </a:p>
          <a:p>
            <a:pPr marL="50799" indent="0">
              <a:buNone/>
            </a:pPr>
            <a:r>
              <a:rPr lang="en-US" dirty="0"/>
              <a:t> </a:t>
            </a:r>
            <a:r>
              <a:rPr lang="en-US" dirty="0" smtClean="0"/>
              <a:t>           -- soundness.</a:t>
            </a:r>
            <a:endParaRPr lang="en-IN" dirty="0"/>
          </a:p>
          <a:p>
            <a:pPr marL="50799" indent="0">
              <a:buNone/>
            </a:pPr>
            <a:r>
              <a:rPr lang="en-US" dirty="0" smtClean="0"/>
              <a:t>            -- zero-knowledge </a:t>
            </a:r>
            <a:r>
              <a:rPr lang="en-US" dirty="0"/>
              <a:t>property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37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5410200" cy="4191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0" y="609600"/>
            <a:ext cx="4876800" cy="3102917"/>
          </a:xfrm>
        </p:spPr>
        <p:txBody>
          <a:bodyPr/>
          <a:lstStyle/>
          <a:p>
            <a:pPr marL="50799" indent="0" algn="just">
              <a:buNone/>
            </a:pPr>
            <a:r>
              <a:rPr lang="en-IN" sz="2000" dirty="0" smtClean="0"/>
              <a:t>The steps </a:t>
            </a:r>
            <a:r>
              <a:rPr lang="en-IN" sz="2000" dirty="0"/>
              <a:t>that are taken by both Peggy and Victor to reach a conclusion regarding whether Peggy knows the secret or not:</a:t>
            </a:r>
          </a:p>
          <a:p>
            <a:pPr marL="50799" indent="0" algn="just">
              <a:buNone/>
            </a:pPr>
            <a:r>
              <a:rPr lang="en-IN" sz="2000" dirty="0" smtClean="0"/>
              <a:t>1.First</a:t>
            </a:r>
            <a:r>
              <a:rPr lang="en-IN" sz="2000" dirty="0"/>
              <a:t>, Victor waits outside the main cave entrance and Peggy goes in the cave.</a:t>
            </a:r>
          </a:p>
          <a:p>
            <a:pPr marL="50799" indent="0" algn="just">
              <a:buNone/>
            </a:pPr>
            <a:r>
              <a:rPr lang="en-IN" sz="2000" dirty="0" smtClean="0"/>
              <a:t>2.Peggy </a:t>
            </a:r>
            <a:r>
              <a:rPr lang="en-IN" sz="2000" dirty="0"/>
              <a:t>randomly chooses either the A or B entrance to the cave.</a:t>
            </a:r>
          </a:p>
          <a:p>
            <a:pPr marL="50799" indent="0" algn="just">
              <a:buNone/>
            </a:pPr>
            <a:r>
              <a:rPr lang="en-IN" sz="2000" dirty="0" smtClean="0"/>
              <a:t>3.Now</a:t>
            </a:r>
            <a:r>
              <a:rPr lang="en-IN" sz="2000" dirty="0"/>
              <a:t>, Victor enters the cave and shouts either A or B randomly, asking Peggy to come out of the exit he named.</a:t>
            </a:r>
          </a:p>
          <a:p>
            <a:pPr marL="50799" indent="0" algn="just">
              <a:buNone/>
            </a:pPr>
            <a:r>
              <a:rPr lang="en-IN" sz="2000" dirty="0" smtClean="0"/>
              <a:t>4.Victor </a:t>
            </a:r>
            <a:r>
              <a:rPr lang="en-IN" sz="2000" dirty="0"/>
              <a:t>records which exit Peggy comes out from</a:t>
            </a:r>
            <a:r>
              <a:rPr lang="en-IN" dirty="0"/>
              <a:t>.</a:t>
            </a:r>
          </a:p>
          <a:p>
            <a:pPr marL="50799" indent="0">
              <a:buNone/>
            </a:pPr>
            <a:r>
              <a:rPr lang="en-IN" dirty="0"/>
              <a:t> </a:t>
            </a:r>
          </a:p>
          <a:p>
            <a:pPr marL="50799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600200" y="5257800"/>
            <a:ext cx="4772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Analogy</a:t>
            </a:r>
            <a:r>
              <a:rPr lang="en-US" b="1" spc="-5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of</a:t>
            </a:r>
            <a:r>
              <a:rPr lang="en-US" b="1" spc="-5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</a:t>
            </a:r>
            <a:r>
              <a:rPr lang="en-US" b="1" spc="-10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zero-knowledge</a:t>
            </a:r>
            <a:r>
              <a:rPr lang="en-US" b="1" spc="-5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mechanism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1203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IN" dirty="0" smtClean="0"/>
              <a:t>Peggy and Victor repeatedly performing this routine proves knowledge of the secret with high probability.as probability of guessing or getting lucky reduces to the point of being negligible after n number of rounds.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174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10972800" cy="1143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57200"/>
            <a:ext cx="5715000" cy="5181599"/>
          </a:xfrm>
        </p:spPr>
        <p:txBody>
          <a:bodyPr/>
          <a:lstStyle/>
          <a:p>
            <a:pPr marL="50799" indent="0" algn="just">
              <a:buNone/>
            </a:pPr>
            <a:r>
              <a:rPr lang="en-IN" sz="2400" dirty="0"/>
              <a:t>A ZKP comprises the following phases:</a:t>
            </a:r>
          </a:p>
          <a:p>
            <a:pPr marL="50799" indent="0" algn="just">
              <a:buNone/>
            </a:pPr>
            <a:r>
              <a:rPr lang="en-IN" sz="2400" dirty="0" smtClean="0"/>
              <a:t>1.Witness </a:t>
            </a:r>
            <a:r>
              <a:rPr lang="en-IN" sz="2400" dirty="0"/>
              <a:t>phase: In this phase, the </a:t>
            </a:r>
            <a:r>
              <a:rPr lang="en-IN" sz="2400" dirty="0" err="1"/>
              <a:t>prover</a:t>
            </a:r>
            <a:r>
              <a:rPr lang="en-IN" sz="2400" dirty="0"/>
              <a:t> sends proof of the statement and sends it to </a:t>
            </a:r>
            <a:r>
              <a:rPr lang="en-IN" sz="2400" dirty="0" smtClean="0"/>
              <a:t>the verifier</a:t>
            </a:r>
            <a:r>
              <a:rPr lang="en-IN" sz="2400" dirty="0"/>
              <a:t>.</a:t>
            </a:r>
          </a:p>
          <a:p>
            <a:pPr marL="50799" indent="0" algn="just">
              <a:buNone/>
            </a:pPr>
            <a:r>
              <a:rPr lang="en-IN" sz="2400" dirty="0" smtClean="0"/>
              <a:t>2.Challenge </a:t>
            </a:r>
            <a:r>
              <a:rPr lang="en-IN" sz="2400" dirty="0"/>
              <a:t>phase: In this phase, the verifier chooses a question (challenge) and sends </a:t>
            </a:r>
            <a:r>
              <a:rPr lang="en-IN" sz="2400" dirty="0" smtClean="0"/>
              <a:t>it to </a:t>
            </a:r>
            <a:r>
              <a:rPr lang="en-IN" sz="2400" dirty="0"/>
              <a:t>the </a:t>
            </a:r>
            <a:r>
              <a:rPr lang="en-IN" sz="2400" dirty="0" err="1"/>
              <a:t>prover</a:t>
            </a:r>
            <a:r>
              <a:rPr lang="en-IN" sz="2400" dirty="0"/>
              <a:t>.</a:t>
            </a:r>
          </a:p>
          <a:p>
            <a:pPr marL="50799" indent="0" algn="just">
              <a:buNone/>
            </a:pPr>
            <a:r>
              <a:rPr lang="en-IN" sz="2400" dirty="0" smtClean="0"/>
              <a:t>3.Response </a:t>
            </a:r>
            <a:r>
              <a:rPr lang="en-IN" sz="2400" dirty="0"/>
              <a:t>phase: In this phase, the </a:t>
            </a:r>
            <a:r>
              <a:rPr lang="en-IN" sz="2400" dirty="0" err="1"/>
              <a:t>prover</a:t>
            </a:r>
            <a:r>
              <a:rPr lang="en-IN" sz="2400" dirty="0"/>
              <a:t> generates an answer and sends it as a response to the verifier. The verifier then checks the answer to ascertain whether the </a:t>
            </a:r>
            <a:r>
              <a:rPr lang="en-IN" sz="2400" dirty="0" err="1"/>
              <a:t>prover</a:t>
            </a:r>
            <a:r>
              <a:rPr lang="en-IN" sz="2400" dirty="0"/>
              <a:t> really knows the statement.</a:t>
            </a:r>
          </a:p>
          <a:p>
            <a:pPr marL="50799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32" y="1371600"/>
            <a:ext cx="5714286" cy="426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0" y="5715000"/>
            <a:ext cx="3255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A zero-knowledge proof scheme</a:t>
            </a:r>
          </a:p>
        </p:txBody>
      </p:sp>
    </p:spTree>
    <p:extLst>
      <p:ext uri="{BB962C8B-B14F-4D97-AF65-F5344CB8AC3E}">
        <p14:creationId xmlns:p14="http://schemas.microsoft.com/office/powerpoint/2010/main" val="60703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81001"/>
            <a:ext cx="10972800" cy="6186776"/>
          </a:xfrm>
        </p:spPr>
        <p:txBody>
          <a:bodyPr/>
          <a:lstStyle/>
          <a:p>
            <a:r>
              <a:rPr lang="en-US" dirty="0"/>
              <a:t>Applications of ZKP </a:t>
            </a:r>
            <a:r>
              <a:rPr lang="en-US" dirty="0" smtClean="0"/>
              <a:t>:</a:t>
            </a:r>
          </a:p>
          <a:p>
            <a:pPr marL="50799" indent="0">
              <a:buNone/>
            </a:pPr>
            <a:r>
              <a:rPr lang="en-US" dirty="0"/>
              <a:t> </a:t>
            </a:r>
            <a:r>
              <a:rPr lang="en-US" dirty="0" smtClean="0"/>
              <a:t>          --</a:t>
            </a:r>
            <a:r>
              <a:rPr lang="en-US" dirty="0"/>
              <a:t>proof of </a:t>
            </a:r>
            <a:r>
              <a:rPr lang="en-US" dirty="0" smtClean="0"/>
              <a:t>ownership</a:t>
            </a:r>
          </a:p>
          <a:p>
            <a:pPr marL="50799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</a:t>
            </a:r>
            <a:r>
              <a:rPr lang="en-US" sz="2000" b="1" dirty="0"/>
              <a:t>that is, proof that the </a:t>
            </a:r>
            <a:r>
              <a:rPr lang="en-US" sz="2000" b="1" dirty="0" err="1"/>
              <a:t>prover</a:t>
            </a:r>
            <a:r>
              <a:rPr lang="en-US" sz="2000" b="1" dirty="0"/>
              <a:t> is the owner of some secret or a private key without revealing the nature of it</a:t>
            </a:r>
            <a:endParaRPr lang="en-US" sz="2000" b="1" dirty="0" smtClean="0"/>
          </a:p>
          <a:p>
            <a:pPr marL="50799" indent="0">
              <a:buNone/>
            </a:pPr>
            <a:r>
              <a:rPr lang="en-US" dirty="0"/>
              <a:t> </a:t>
            </a:r>
            <a:r>
              <a:rPr lang="en-US" dirty="0" smtClean="0"/>
              <a:t>          --proof </a:t>
            </a:r>
            <a:r>
              <a:rPr lang="en-US" dirty="0"/>
              <a:t>of </a:t>
            </a:r>
            <a:r>
              <a:rPr lang="en-US" dirty="0" smtClean="0"/>
              <a:t>age</a:t>
            </a:r>
          </a:p>
          <a:p>
            <a:pPr marL="50799" indent="0">
              <a:buNone/>
            </a:pPr>
            <a:r>
              <a:rPr lang="en-US" dirty="0" smtClean="0"/>
              <a:t>                     </a:t>
            </a:r>
            <a:r>
              <a:rPr lang="en-US" sz="2000" b="1" dirty="0"/>
              <a:t>where the </a:t>
            </a:r>
            <a:r>
              <a:rPr lang="en-US" sz="2000" b="1" dirty="0" err="1"/>
              <a:t>prover</a:t>
            </a:r>
            <a:r>
              <a:rPr lang="en-US" sz="2000" b="1" dirty="0"/>
              <a:t> proves that they are, for example, older than 25 years, but do not want to reveal their exact age</a:t>
            </a:r>
            <a:endParaRPr lang="en-US" sz="2000" b="1" dirty="0" smtClean="0"/>
          </a:p>
          <a:p>
            <a:pPr marL="50799" indent="0">
              <a:buNone/>
            </a:pPr>
            <a:r>
              <a:rPr lang="en-US" dirty="0" smtClean="0"/>
              <a:t>          --</a:t>
            </a:r>
            <a:r>
              <a:rPr lang="en-US" dirty="0"/>
              <a:t>Another application could be where citizens can pay taxes </a:t>
            </a:r>
            <a:r>
              <a:rPr lang="en-US" dirty="0" smtClean="0"/>
              <a:t>without   	               revealing </a:t>
            </a:r>
            <a:r>
              <a:rPr lang="en-US" dirty="0"/>
              <a:t>their income</a:t>
            </a:r>
            <a:r>
              <a:rPr lang="en-US" dirty="0" smtClean="0"/>
              <a:t>.</a:t>
            </a:r>
          </a:p>
          <a:p>
            <a:r>
              <a:rPr lang="en-US" b="1" dirty="0" err="1"/>
              <a:t>zk</a:t>
            </a:r>
            <a:r>
              <a:rPr lang="en-US" b="1" dirty="0"/>
              <a:t>-SNARKs</a:t>
            </a:r>
            <a:endParaRPr lang="en-IN" b="1" dirty="0"/>
          </a:p>
          <a:p>
            <a:pPr marL="50799" indent="0">
              <a:buNone/>
            </a:pPr>
            <a:r>
              <a:rPr lang="en-US" dirty="0" smtClean="0"/>
              <a:t>       The </a:t>
            </a:r>
            <a:r>
              <a:rPr lang="en-US" b="1" dirty="0" err="1"/>
              <a:t>zk</a:t>
            </a:r>
            <a:r>
              <a:rPr lang="en-US" b="1" dirty="0"/>
              <a:t>-SNARK </a:t>
            </a:r>
            <a:r>
              <a:rPr lang="en-US" dirty="0"/>
              <a:t>is a variant of ZKPs that is more efficient and simpler to use and implement.</a:t>
            </a:r>
            <a:endParaRPr lang="en-IN" dirty="0"/>
          </a:p>
          <a:p>
            <a:pPr marL="50799" indent="0">
              <a:buNone/>
            </a:pPr>
            <a:endParaRPr lang="en-IN" dirty="0"/>
          </a:p>
          <a:p>
            <a:pPr marL="50799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67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4801"/>
            <a:ext cx="10972800" cy="6262976"/>
          </a:xfrm>
        </p:spPr>
        <p:txBody>
          <a:bodyPr/>
          <a:lstStyle/>
          <a:p>
            <a:pPr marL="50799" indent="0">
              <a:buNone/>
            </a:pPr>
            <a:r>
              <a:rPr lang="en-US" dirty="0" err="1"/>
              <a:t>Zk</a:t>
            </a:r>
            <a:r>
              <a:rPr lang="en-US" dirty="0"/>
              <a:t>-SNARKs </a:t>
            </a:r>
            <a:r>
              <a:rPr lang="en-IN" dirty="0" smtClean="0"/>
              <a:t>Properties:</a:t>
            </a:r>
          </a:p>
          <a:p>
            <a:pPr lvl="0"/>
            <a:r>
              <a:rPr lang="en-US" b="1" dirty="0" smtClean="0"/>
              <a:t>Zero </a:t>
            </a:r>
            <a:r>
              <a:rPr lang="en-US" b="1" dirty="0"/>
              <a:t>knowledge (zk)</a:t>
            </a:r>
            <a:r>
              <a:rPr lang="en-US" dirty="0"/>
              <a:t>: This property allows a </a:t>
            </a:r>
            <a:r>
              <a:rPr lang="en-US" dirty="0" err="1"/>
              <a:t>prover</a:t>
            </a:r>
            <a:r>
              <a:rPr lang="en-US" dirty="0"/>
              <a:t> to convince a verifier that </a:t>
            </a:r>
            <a:r>
              <a:rPr lang="en-US" dirty="0" smtClean="0"/>
              <a:t>an</a:t>
            </a:r>
            <a:r>
              <a:rPr lang="en-IN" dirty="0"/>
              <a:t> </a:t>
            </a:r>
            <a:r>
              <a:rPr lang="en-US" dirty="0" smtClean="0"/>
              <a:t>assertion </a:t>
            </a:r>
            <a:r>
              <a:rPr lang="en-US" dirty="0"/>
              <a:t>(statement) is true without revealing any information about </a:t>
            </a:r>
            <a:r>
              <a:rPr lang="en-US" dirty="0" smtClean="0"/>
              <a:t>it</a:t>
            </a:r>
          </a:p>
          <a:p>
            <a:r>
              <a:rPr lang="en-US" b="1" dirty="0"/>
              <a:t>Succinct (S)</a:t>
            </a:r>
            <a:r>
              <a:rPr lang="en-US" dirty="0"/>
              <a:t>: This property allows for a small proof that is very quick to verify and is succinct.</a:t>
            </a:r>
            <a:endParaRPr lang="en-IN" dirty="0"/>
          </a:p>
          <a:p>
            <a:pPr lvl="0"/>
            <a:r>
              <a:rPr lang="en-US" b="1" dirty="0"/>
              <a:t>Non-interactive (N)</a:t>
            </a:r>
            <a:r>
              <a:rPr lang="en-US" dirty="0"/>
              <a:t>: This property allows the </a:t>
            </a:r>
            <a:r>
              <a:rPr lang="en-US" dirty="0" err="1"/>
              <a:t>prover</a:t>
            </a:r>
            <a:r>
              <a:rPr lang="en-US" dirty="0"/>
              <a:t> to prove a statement without </a:t>
            </a:r>
            <a:r>
              <a:rPr lang="en-US" dirty="0" smtClean="0"/>
              <a:t>any</a:t>
            </a:r>
            <a:r>
              <a:rPr lang="en-IN" dirty="0"/>
              <a:t> </a:t>
            </a:r>
            <a:r>
              <a:rPr lang="en-US" dirty="0" smtClean="0"/>
              <a:t>interaction </a:t>
            </a:r>
            <a:r>
              <a:rPr lang="en-US" dirty="0"/>
              <a:t>with the verifier</a:t>
            </a:r>
            <a:r>
              <a:rPr lang="en-US" dirty="0" smtClean="0"/>
              <a:t>.</a:t>
            </a:r>
          </a:p>
          <a:p>
            <a:r>
              <a:rPr lang="en-US" b="1" dirty="0" err="1"/>
              <a:t>ARguments</a:t>
            </a:r>
            <a:r>
              <a:rPr lang="en-US" b="1" dirty="0"/>
              <a:t> of Knowledge (ARKs)</a:t>
            </a:r>
            <a:r>
              <a:rPr lang="en-US" dirty="0"/>
              <a:t>: These are the arguments to convince the verifier that the </a:t>
            </a:r>
            <a:r>
              <a:rPr lang="en-US" dirty="0" err="1"/>
              <a:t>prover's</a:t>
            </a:r>
            <a:r>
              <a:rPr lang="en-US" dirty="0"/>
              <a:t> assertion is true. </a:t>
            </a:r>
            <a:endParaRPr lang="en-US" dirty="0" smtClean="0"/>
          </a:p>
          <a:p>
            <a:pPr marL="50799" indent="0" algn="just">
              <a:buNone/>
            </a:pPr>
            <a:r>
              <a:rPr lang="en-US" dirty="0" smtClean="0"/>
              <a:t>Remember </a:t>
            </a:r>
            <a:r>
              <a:rPr lang="en-US" dirty="0"/>
              <a:t>that we discussed soundness and completeness earlier. In the case of ARKs, the </a:t>
            </a:r>
            <a:r>
              <a:rPr lang="en-US" dirty="0" err="1"/>
              <a:t>prover</a:t>
            </a:r>
            <a:r>
              <a:rPr lang="en-US" dirty="0"/>
              <a:t> has a computational soundness property, meaning that the </a:t>
            </a:r>
            <a:r>
              <a:rPr lang="en-US" dirty="0" err="1"/>
              <a:t>prover</a:t>
            </a:r>
            <a:r>
              <a:rPr lang="en-US" dirty="0"/>
              <a:t> is computationally bounded, and it is computationally infeasible for it to cheat the verifier.</a:t>
            </a:r>
            <a:endParaRPr lang="en-IN" dirty="0"/>
          </a:p>
          <a:p>
            <a:pPr lvl="0"/>
            <a:endParaRPr lang="en-IN" dirty="0"/>
          </a:p>
          <a:p>
            <a:pPr lvl="0"/>
            <a:endParaRPr lang="en-IN" dirty="0" smtClean="0"/>
          </a:p>
          <a:p>
            <a:pPr marL="50799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61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US" dirty="0"/>
              <a:t>The biggest criticism of </a:t>
            </a:r>
            <a:r>
              <a:rPr lang="en-US" b="1" dirty="0" err="1"/>
              <a:t>zk</a:t>
            </a:r>
            <a:r>
              <a:rPr lang="en-US" b="1" dirty="0"/>
              <a:t>-SNARKs</a:t>
            </a:r>
            <a:r>
              <a:rPr lang="en-US" dirty="0"/>
              <a:t> is the initial trusted </a:t>
            </a:r>
            <a:r>
              <a:rPr lang="en-US" dirty="0" smtClean="0"/>
              <a:t>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zk-STARKs</a:t>
            </a:r>
            <a:endParaRPr lang="en-IN" b="1" dirty="0"/>
          </a:p>
          <a:p>
            <a:pPr marL="50799" indent="0">
              <a:buNone/>
            </a:pPr>
            <a:r>
              <a:rPr lang="en-US" b="1" dirty="0"/>
              <a:t>Zero-knowledge Scalable Transparent </a:t>
            </a:r>
            <a:r>
              <a:rPr lang="en-US" b="1" dirty="0" err="1"/>
              <a:t>ARguments</a:t>
            </a:r>
            <a:r>
              <a:rPr lang="en-US" b="1" dirty="0"/>
              <a:t> of Knowledge </a:t>
            </a:r>
            <a:r>
              <a:rPr lang="en-US" dirty="0"/>
              <a:t>(</a:t>
            </a:r>
            <a:r>
              <a:rPr lang="en-US" b="1" dirty="0"/>
              <a:t>zk-STARKs</a:t>
            </a:r>
            <a:r>
              <a:rPr lang="en-US" dirty="0"/>
              <a:t>) are a new type of ZKP that has addressed </a:t>
            </a:r>
            <a:r>
              <a:rPr lang="en-US" dirty="0" smtClean="0"/>
              <a:t>limitations </a:t>
            </a:r>
            <a:r>
              <a:rPr lang="en-US" dirty="0"/>
              <a:t>in zk-SNARKs.</a:t>
            </a:r>
            <a:endParaRPr lang="en-IN" dirty="0"/>
          </a:p>
          <a:p>
            <a:pPr marL="50799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409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US" dirty="0"/>
              <a:t>The key differences between the zk-STARK and zk-SNARK </a:t>
            </a:r>
            <a:r>
              <a:rPr lang="en-US" dirty="0" smtClean="0"/>
              <a:t>:</a:t>
            </a:r>
          </a:p>
          <a:p>
            <a:pPr marL="50799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47912"/>
            <a:ext cx="8934450" cy="2376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495800"/>
            <a:ext cx="89725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5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563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36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Zerocoins</a:t>
            </a:r>
            <a:endParaRPr sz="36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9" name="Google Shape;539;p69"/>
          <p:cNvSpPr txBox="1">
            <a:spLocks noGrp="1"/>
          </p:cNvSpPr>
          <p:nvPr>
            <p:ph type="body" idx="1"/>
          </p:nvPr>
        </p:nvSpPr>
        <p:spPr>
          <a:xfrm>
            <a:off x="609600" y="762000"/>
            <a:ext cx="10972800" cy="58057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Zerocoin is a cryptographic proof that you owned a Basecoin and made it </a:t>
            </a:r>
            <a:r>
              <a:rPr lang="en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unspendable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-IN" b="1" dirty="0" err="1" smtClean="0">
                <a:latin typeface="Trebuchet MS" panose="020B0603020202020204" pitchFamily="34" charset="0"/>
              </a:rPr>
              <a:t>ZeroCoin</a:t>
            </a:r>
            <a:r>
              <a:rPr lang="en-IN" dirty="0" smtClean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was initially proposed as a </a:t>
            </a:r>
            <a:r>
              <a:rPr lang="en-IN" b="1" dirty="0">
                <a:latin typeface="Trebuchet MS" panose="020B0603020202020204" pitchFamily="34" charset="0"/>
              </a:rPr>
              <a:t>privacy extension</a:t>
            </a:r>
            <a:r>
              <a:rPr lang="en-IN" dirty="0">
                <a:latin typeface="Trebuchet MS" panose="020B0603020202020204" pitchFamily="34" charset="0"/>
              </a:rPr>
              <a:t> to </a:t>
            </a:r>
            <a:r>
              <a:rPr lang="en-IN" dirty="0" err="1">
                <a:latin typeface="Trebuchet MS" panose="020B0603020202020204" pitchFamily="34" charset="0"/>
              </a:rPr>
              <a:t>Bitcoin</a:t>
            </a:r>
            <a:r>
              <a:rPr lang="en-IN" dirty="0">
                <a:latin typeface="Trebuchet MS" panose="020B0603020202020204" pitchFamily="34" charset="0"/>
              </a:rPr>
              <a:t>. It aimed to add anonymity to </a:t>
            </a:r>
            <a:r>
              <a:rPr lang="en-IN" dirty="0" err="1">
                <a:latin typeface="Trebuchet MS" panose="020B0603020202020204" pitchFamily="34" charset="0"/>
              </a:rPr>
              <a:t>Bitcoin</a:t>
            </a:r>
            <a:r>
              <a:rPr lang="en-IN" dirty="0">
                <a:latin typeface="Trebuchet MS" panose="020B0603020202020204" pitchFamily="34" charset="0"/>
              </a:rPr>
              <a:t> </a:t>
            </a:r>
            <a:r>
              <a:rPr lang="en-IN" dirty="0" smtClean="0">
                <a:latin typeface="Trebuchet MS" panose="020B0603020202020204" pitchFamily="34" charset="0"/>
              </a:rPr>
              <a:t>transactions.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lang="en-IN" dirty="0">
              <a:latin typeface="Trebuchet MS" panose="020B0603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-IN" dirty="0" smtClean="0">
                <a:latin typeface="Trebuchet MS" panose="020B0603020202020204" pitchFamily="34" charset="0"/>
              </a:rPr>
              <a:t>The </a:t>
            </a:r>
            <a:r>
              <a:rPr lang="en-IN" dirty="0">
                <a:latin typeface="Trebuchet MS" panose="020B0603020202020204" pitchFamily="34" charset="0"/>
              </a:rPr>
              <a:t>concept of </a:t>
            </a:r>
            <a:r>
              <a:rPr lang="en-IN" dirty="0" err="1">
                <a:latin typeface="Trebuchet MS" panose="020B0603020202020204" pitchFamily="34" charset="0"/>
              </a:rPr>
              <a:t>ZeroCoin</a:t>
            </a:r>
            <a:r>
              <a:rPr lang="en-IN" dirty="0">
                <a:latin typeface="Trebuchet MS" panose="020B0603020202020204" pitchFamily="34" charset="0"/>
              </a:rPr>
              <a:t> eventually evolved into </a:t>
            </a:r>
            <a:r>
              <a:rPr lang="en-IN" b="1" dirty="0" err="1">
                <a:latin typeface="Trebuchet MS" panose="020B0603020202020204" pitchFamily="34" charset="0"/>
              </a:rPr>
              <a:t>Zcoin</a:t>
            </a:r>
            <a:r>
              <a:rPr lang="en-IN" dirty="0">
                <a:latin typeface="Trebuchet MS" panose="020B0603020202020204" pitchFamily="34" charset="0"/>
              </a:rPr>
              <a:t>, which is now known as </a:t>
            </a:r>
            <a:r>
              <a:rPr lang="en-IN" b="1" dirty="0" err="1">
                <a:latin typeface="Trebuchet MS" panose="020B0603020202020204" pitchFamily="34" charset="0"/>
              </a:rPr>
              <a:t>Firo</a:t>
            </a:r>
            <a:r>
              <a:rPr lang="en-IN" dirty="0">
                <a:latin typeface="Trebuchet MS" panose="020B0603020202020204" pitchFamily="34" charset="0"/>
              </a:rPr>
              <a:t> (a privacy-focused </a:t>
            </a:r>
            <a:r>
              <a:rPr lang="en-IN" dirty="0" err="1">
                <a:latin typeface="Trebuchet MS" panose="020B0603020202020204" pitchFamily="34" charset="0"/>
              </a:rPr>
              <a:t>cryptocurrency</a:t>
            </a:r>
            <a:r>
              <a:rPr lang="en-IN" dirty="0">
                <a:latin typeface="Trebuchet MS" panose="020B0603020202020204" pitchFamily="34" charset="0"/>
              </a:rPr>
              <a:t>).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lang="en" dirty="0" smtClean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Miners </a:t>
            </a:r>
            <a:r>
              <a:rPr lang="en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can verify these proofs</a:t>
            </a:r>
            <a:endParaRPr dirty="0"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Gives you the right to redeem a new Basecoin</a:t>
            </a:r>
            <a:endParaRPr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11608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Zerocash: Zerocoin without Basecoin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3" name="Google Shape;633;p7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66040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A3A3A3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Two differences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 crypto for proofs</a:t>
            </a:r>
            <a:b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(More efficient)</a:t>
            </a:r>
            <a:endParaRPr/>
          </a:p>
          <a:p>
            <a:pPr indent="-609585">
              <a:lnSpc>
                <a:spcPct val="100000"/>
              </a:lnSpc>
              <a:buClr>
                <a:srgbClr val="A3A3A3"/>
              </a:buClr>
              <a:buSzPts val="2800"/>
              <a:buFont typeface="Arial"/>
              <a:buChar char="•"/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Proposal to run system without Basecoin</a:t>
            </a:r>
            <a:endParaRPr/>
          </a:p>
          <a:p>
            <a:pPr marL="0" indent="0">
              <a:lnSpc>
                <a:spcPct val="100000"/>
              </a:lnSpc>
              <a:buClr>
                <a:srgbClr val="A3A3A3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4" name="Google Shape;634;p78"/>
          <p:cNvSpPr txBox="1"/>
          <p:nvPr/>
        </p:nvSpPr>
        <p:spPr>
          <a:xfrm>
            <a:off x="7213600" y="1600200"/>
            <a:ext cx="4368797" cy="496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en" sz="3200" i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Zerocash: Decentralized Anonymous Payments from Bitcoin</a:t>
            </a:r>
            <a:endParaRPr sz="3200" i="1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000000"/>
              </a:buClr>
            </a:pPr>
            <a:endParaRPr sz="32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000000"/>
              </a:buClr>
            </a:pPr>
            <a:r>
              <a:rPr lang="en" sz="32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E. Ben-Sasson et al.</a:t>
            </a:r>
            <a:endParaRPr sz="2400"/>
          </a:p>
          <a:p>
            <a:pPr>
              <a:buClr>
                <a:srgbClr val="000000"/>
              </a:buClr>
            </a:pPr>
            <a:r>
              <a:rPr lang="en" sz="32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Usenix Security 2014</a:t>
            </a:r>
            <a:endParaRPr sz="32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28536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Zerocash: </a:t>
            </a:r>
            <a:r>
              <a:rPr lang="en" sz="4800" b="1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untraceable</a:t>
            </a: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e-cash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0" name="Google Shape;640;p7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All transactions are zerocoins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Splitting and merging supported </a:t>
            </a: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Put transaction value </a:t>
            </a:r>
            <a:r>
              <a:rPr lang="en" sz="3733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the envelope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3733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Ledger merely records existence of transactions</a:t>
            </a:r>
            <a:endParaRPr sz="37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98745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Zerocash: the catch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6" name="Google Shape;646;p8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Random, secret inputs are required to generate public parameters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These secret inputs must then be securely destroyed</a:t>
            </a:r>
            <a:endParaRPr/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</a:pPr>
            <a:r>
              <a:rPr lang="en" sz="4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 one</a:t>
            </a:r>
            <a:r>
              <a:rPr lang="en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can know them (anyone who does can break the system)</a:t>
            </a:r>
            <a:endParaRPr sz="4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82278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</a:pPr>
            <a:r>
              <a:rPr lang="en" sz="4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 levels of anonymity</a:t>
            </a:r>
            <a:endParaRPr sz="4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652" name="Google Shape;652;p81"/>
          <p:cNvGraphicFramePr/>
          <p:nvPr/>
        </p:nvGraphicFramePr>
        <p:xfrm>
          <a:off x="812799" y="2108201"/>
          <a:ext cx="11074400" cy="328310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4000"/>
                <a:gridCol w="2540000"/>
                <a:gridCol w="4267200"/>
                <a:gridCol w="2743200"/>
              </a:tblGrid>
              <a:tr h="5399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System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>
                    <a:solidFill>
                      <a:srgbClr val="ADCC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Type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>
                    <a:solidFill>
                      <a:srgbClr val="ADCC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Anonymity attacks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>
                    <a:solidFill>
                      <a:srgbClr val="ADCC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Deployability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>
                    <a:solidFill>
                      <a:srgbClr val="ADCCE5"/>
                    </a:solidFill>
                  </a:tcPr>
                </a:tc>
              </a:tr>
              <a:tr h="5399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Bitcoin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Pseudonymous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Tx graph analysis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Default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</a:tr>
              <a:tr h="5399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Single mix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Mix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Tx graph analysis, bad mix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Usable today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</a:tr>
              <a:tr h="5399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Mix chain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Mix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Side channels, bad mixes/peers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Bitcoin-compatible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</a:tr>
              <a:tr h="5832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Zerocoin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Cryptographic mix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Side channels (possibly)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Altcoin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</a:tr>
              <a:tr h="5399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Zerocash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Untraceable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None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Trebuchet MS"/>
                        <a:buNone/>
                      </a:pPr>
                      <a:r>
                        <a:rPr lang="en" sz="21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Altcoin, tricky setup</a:t>
                      </a:r>
                      <a:endParaRPr sz="2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33" marR="121933" marT="60967" marB="6096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370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1408</Words>
  <Application>Microsoft Office PowerPoint</Application>
  <PresentationFormat>Widescreen</PresentationFormat>
  <Paragraphs>261</Paragraphs>
  <Slides>35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Consolas</vt:lpstr>
      <vt:lpstr>Palatino Linotype</vt:lpstr>
      <vt:lpstr>Trebuchet MS</vt:lpstr>
      <vt:lpstr>Office Theme</vt:lpstr>
      <vt:lpstr>PowerPoint Presentation</vt:lpstr>
      <vt:lpstr>Why decentralized mixing?</vt:lpstr>
      <vt:lpstr>Coinjoin</vt:lpstr>
      <vt:lpstr>Coinjoin algorithm</vt:lpstr>
      <vt:lpstr>Coinjoin: remaining problems</vt:lpstr>
      <vt:lpstr>Finding peers</vt:lpstr>
      <vt:lpstr>Peer anonymity</vt:lpstr>
      <vt:lpstr>Denial of service</vt:lpstr>
      <vt:lpstr>High-level flows could be identifying</vt:lpstr>
      <vt:lpstr>Heuristic: merge avoidance</vt:lpstr>
      <vt:lpstr>PowerPoint Presentation</vt:lpstr>
      <vt:lpstr>Zerocoin: protocol-level mixing</vt:lpstr>
      <vt:lpstr>Basecoin and Zerocoin</vt:lpstr>
      <vt:lpstr>Minting zerocoins</vt:lpstr>
      <vt:lpstr>Minting a zerocoin: “commitment”</vt:lpstr>
      <vt:lpstr>Minting a zerocoin</vt:lpstr>
      <vt:lpstr>To spend a zerocoin S:</vt:lpstr>
      <vt:lpstr>Zerocoin is anonymous</vt:lpstr>
      <vt:lpstr>PowerPoint Presentation</vt:lpstr>
      <vt:lpstr>PowerPoint Presentation</vt:lpstr>
      <vt:lpstr>Zero-knowledge proofs</vt:lpstr>
      <vt:lpstr>Zero coin and Zero cash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Zerocoins</vt:lpstr>
      <vt:lpstr>Zerocash: Zerocoin without Basecoin</vt:lpstr>
      <vt:lpstr>Zerocash: untraceable e-cash</vt:lpstr>
      <vt:lpstr>Zerocash: the catch</vt:lpstr>
      <vt:lpstr>5 levels of anonymity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2025-03-23T13:56:57Z</dcterms:created>
  <dcterms:modified xsi:type="dcterms:W3CDTF">2025-03-23T17:39:44Z</dcterms:modified>
</cp:coreProperties>
</file>