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7" r:id="rId20"/>
    <p:sldId id="278" r:id="rId21"/>
    <p:sldId id="279" r:id="rId22"/>
    <p:sldId id="282" r:id="rId23"/>
    <p:sldId id="283" r:id="rId24"/>
    <p:sldId id="284" r:id="rId25"/>
    <p:sldId id="287" r:id="rId26"/>
    <p:sldId id="288" r:id="rId27"/>
    <p:sldId id="289" r:id="rId28"/>
    <p:sldId id="290" r:id="rId29"/>
    <p:sldId id="291" r:id="rId30"/>
    <p:sldId id="292" r:id="rId31"/>
    <p:sldId id="293" r:id="rId32"/>
    <p:sldId id="294" r:id="rId33"/>
    <p:sldId id="295" r:id="rId34"/>
    <p:sldId id="296" r:id="rId35"/>
    <p:sldId id="298" r:id="rId36"/>
    <p:sldId id="299" r:id="rId37"/>
    <p:sldId id="303" r:id="rId38"/>
    <p:sldId id="304" r:id="rId39"/>
    <p:sldId id="305" r:id="rId40"/>
    <p:sldId id="30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howGuides="1">
      <p:cViewPr varScale="1">
        <p:scale>
          <a:sx n="74" d="100"/>
          <a:sy n="74" d="100"/>
        </p:scale>
        <p:origin x="4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80033B-9AAB-4A50-9F67-F6E7EB7CD54D}" type="datetimeFigureOut">
              <a:rPr lang="en-IN" smtClean="0"/>
              <a:t>18-01-2025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BEC5C-6B62-4239-8341-6BBDC067F8D5}" type="slidenum">
              <a:rPr lang="en-IN" smtClean="0"/>
              <a:t>‹#›</a:t>
            </a:fld>
            <a:endParaRPr lang="en-IN"/>
          </a:p>
        </p:txBody>
      </p:sp>
    </p:spTree>
    <p:extLst>
      <p:ext uri="{BB962C8B-B14F-4D97-AF65-F5344CB8AC3E}">
        <p14:creationId xmlns:p14="http://schemas.microsoft.com/office/powerpoint/2010/main" val="3484879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36e91fd57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 name="Google Shape;40;g36e91fd57_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Font typeface="Arial"/>
              <a:buNone/>
            </a:pPr>
            <a:endParaRPr sz="1100" b="0" i="0" u="none" strike="noStrike" cap="none"/>
          </a:p>
        </p:txBody>
      </p:sp>
    </p:spTree>
    <p:extLst>
      <p:ext uri="{BB962C8B-B14F-4D97-AF65-F5344CB8AC3E}">
        <p14:creationId xmlns:p14="http://schemas.microsoft.com/office/powerpoint/2010/main" val="2740425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18f88b7d4_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18f88b7d4_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7688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e91fd57_0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6e91fd57_0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called a “change address”</a:t>
            </a:r>
            <a:endParaRPr/>
          </a:p>
        </p:txBody>
      </p:sp>
    </p:spTree>
    <p:extLst>
      <p:ext uri="{BB962C8B-B14F-4D97-AF65-F5344CB8AC3E}">
        <p14:creationId xmlns:p14="http://schemas.microsoft.com/office/powerpoint/2010/main" val="3362028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6e91fd57_0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6e91fd57_0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862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6e91fd57_0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6e91fd57_0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9748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6e91fd57_0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6e91fd57_0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7007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e91fd57_0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6e91fd57_0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6811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6e91fd57_0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6e91fd57_0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1555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6e91fd57_0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6e91fd57_0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226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6e91fd57_0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6e91fd57_0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9548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6e91fd57_0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6e91fd57_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592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6e91fd57_0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6e91fd57_0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Gavel from OpenClipArt.com</a:t>
            </a:r>
            <a:endParaRPr dirty="0"/>
          </a:p>
        </p:txBody>
      </p:sp>
    </p:spTree>
    <p:extLst>
      <p:ext uri="{BB962C8B-B14F-4D97-AF65-F5344CB8AC3E}">
        <p14:creationId xmlns:p14="http://schemas.microsoft.com/office/powerpoint/2010/main" val="370477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e91fd57_0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e91fd57_04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mostly dead thanks to Mt. Gox, Instawallet</a:t>
            </a:r>
            <a:endParaRPr/>
          </a:p>
        </p:txBody>
      </p:sp>
    </p:spTree>
    <p:extLst>
      <p:ext uri="{BB962C8B-B14F-4D97-AF65-F5344CB8AC3E}">
        <p14:creationId xmlns:p14="http://schemas.microsoft.com/office/powerpoint/2010/main" val="591665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6e91fd57_04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6e91fd57_0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if Bob never paid?</a:t>
            </a:r>
            <a:endParaRPr/>
          </a:p>
        </p:txBody>
      </p:sp>
    </p:spTree>
    <p:extLst>
      <p:ext uri="{BB962C8B-B14F-4D97-AF65-F5344CB8AC3E}">
        <p14:creationId xmlns:p14="http://schemas.microsoft.com/office/powerpoint/2010/main" val="3566967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B0B67DB-31B6-4329-8413-27A1CEDE9C8E}" type="datetimeFigureOut">
              <a:rPr lang="en-IN" smtClean="0"/>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25757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B0B67DB-31B6-4329-8413-27A1CEDE9C8E}" type="datetimeFigureOut">
              <a:rPr lang="en-IN" smtClean="0"/>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2608397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B0B67DB-31B6-4329-8413-27A1CEDE9C8E}" type="datetimeFigureOut">
              <a:rPr lang="en-IN" smtClean="0"/>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118117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B0B67DB-31B6-4329-8413-27A1CEDE9C8E}" type="datetimeFigureOut">
              <a:rPr lang="en-IN" smtClean="0"/>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225786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B0B67DB-31B6-4329-8413-27A1CEDE9C8E}" type="datetimeFigureOut">
              <a:rPr lang="en-IN" smtClean="0"/>
              <a:t>18-01-2025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2757844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B0B67DB-31B6-4329-8413-27A1CEDE9C8E}" type="datetimeFigureOut">
              <a:rPr lang="en-IN" smtClean="0"/>
              <a:t>18-01-2025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2145618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0B67DB-31B6-4329-8413-27A1CEDE9C8E}" type="datetimeFigureOut">
              <a:rPr lang="en-IN" smtClean="0"/>
              <a:t>18-01-2025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412977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0B67DB-31B6-4329-8413-27A1CEDE9C8E}" type="datetimeFigureOut">
              <a:rPr lang="en-IN" smtClean="0"/>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306179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0B67DB-31B6-4329-8413-27A1CEDE9C8E}" type="datetimeFigureOut">
              <a:rPr lang="en-IN" smtClean="0"/>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1469466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B0B67DB-31B6-4329-8413-27A1CEDE9C8E}" type="datetimeFigureOut">
              <a:rPr lang="en-IN" smtClean="0"/>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148156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B0B67DB-31B6-4329-8413-27A1CEDE9C8E}" type="datetimeFigureOut">
              <a:rPr lang="en-IN" smtClean="0"/>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1061E0-EFF2-4882-90E6-A6C597C75D62}" type="slidenum">
              <a:rPr lang="en-IN" smtClean="0"/>
              <a:t>‹#›</a:t>
            </a:fld>
            <a:endParaRPr lang="en-IN"/>
          </a:p>
        </p:txBody>
      </p:sp>
    </p:spTree>
    <p:extLst>
      <p:ext uri="{BB962C8B-B14F-4D97-AF65-F5344CB8AC3E}">
        <p14:creationId xmlns:p14="http://schemas.microsoft.com/office/powerpoint/2010/main" val="3722760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09600" y="274637"/>
            <a:ext cx="10972800" cy="114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609600" y="1600201"/>
            <a:ext cx="10972800" cy="4967575"/>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3598109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0B67DB-31B6-4329-8413-27A1CEDE9C8E}" type="datetimeFigureOut">
              <a:rPr lang="en-IN" smtClean="0"/>
              <a:t>18-01-2025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1061E0-EFF2-4882-90E6-A6C597C75D62}" type="slidenum">
              <a:rPr lang="en-IN" smtClean="0"/>
              <a:t>‹#›</a:t>
            </a:fld>
            <a:endParaRPr lang="en-IN"/>
          </a:p>
        </p:txBody>
      </p:sp>
    </p:spTree>
    <p:extLst>
      <p:ext uri="{BB962C8B-B14F-4D97-AF65-F5344CB8AC3E}">
        <p14:creationId xmlns:p14="http://schemas.microsoft.com/office/powerpoint/2010/main" val="355650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hyperlink" Target="green%20addresses.pptx" TargetMode="Externa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10"/>
          <p:cNvSpPr txBox="1">
            <a:spLocks noGrp="1"/>
          </p:cNvSpPr>
          <p:nvPr>
            <p:ph type="subTitle" idx="1"/>
          </p:nvPr>
        </p:nvSpPr>
        <p:spPr>
          <a:xfrm>
            <a:off x="914400" y="2253961"/>
            <a:ext cx="10363200" cy="22976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r>
              <a:rPr lang="en" b="1" dirty="0" smtClean="0">
                <a:solidFill>
                  <a:schemeClr val="tx1"/>
                </a:solidFill>
              </a:rPr>
              <a:t>Features of Bitcoin</a:t>
            </a:r>
          </a:p>
          <a:p>
            <a:pPr>
              <a:spcBef>
                <a:spcPts val="0"/>
              </a:spcBef>
              <a:spcAft>
                <a:spcPts val="0"/>
              </a:spcAft>
              <a:buClr>
                <a:schemeClr val="dk2"/>
              </a:buClr>
            </a:pPr>
            <a:r>
              <a:rPr lang="en" b="1" dirty="0" smtClean="0">
                <a:solidFill>
                  <a:schemeClr val="tx1"/>
                </a:solidFill>
              </a:rPr>
              <a:t>Bitcoin </a:t>
            </a:r>
            <a:r>
              <a:rPr lang="en" b="1" dirty="0">
                <a:solidFill>
                  <a:schemeClr val="tx1"/>
                </a:solidFill>
              </a:rPr>
              <a:t>transactions</a:t>
            </a:r>
            <a:endParaRPr b="1" dirty="0">
              <a:solidFill>
                <a:schemeClr val="tx1"/>
              </a:solidFill>
            </a:endParaRPr>
          </a:p>
        </p:txBody>
      </p:sp>
    </p:spTree>
    <p:extLst>
      <p:ext uri="{BB962C8B-B14F-4D97-AF65-F5344CB8AC3E}">
        <p14:creationId xmlns:p14="http://schemas.microsoft.com/office/powerpoint/2010/main" val="23596433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IN" b="1" dirty="0" err="1" smtClean="0"/>
              <a:t>bitcoin_transaction</a:t>
            </a:r>
            <a:r>
              <a:rPr lang="en-IN" b="1" dirty="0" smtClean="0"/>
              <a:t> example:</a:t>
            </a:r>
          </a:p>
          <a:p>
            <a:pPr marL="0" indent="0">
              <a:buNone/>
            </a:pPr>
            <a:endParaRPr lang="en-IN" dirty="0" smtClean="0"/>
          </a:p>
          <a:p>
            <a:pPr marL="0" indent="0">
              <a:buNone/>
            </a:pPr>
            <a:endParaRPr lang="en-IN" dirty="0"/>
          </a:p>
          <a:p>
            <a:pPr marL="0" indent="0">
              <a:buNone/>
            </a:pPr>
            <a:endParaRPr lang="en-IN" dirty="0" smtClean="0"/>
          </a:p>
          <a:p>
            <a:pPr marL="0" indent="0">
              <a:buNone/>
            </a:pPr>
            <a:r>
              <a:rPr lang="en-IN" sz="2200" b="1" dirty="0"/>
              <a:t>The transaction is going to have:</a:t>
            </a:r>
          </a:p>
          <a:p>
            <a:pPr marL="0" indent="0">
              <a:buNone/>
            </a:pPr>
            <a:endParaRPr lang="en-IN" sz="2200" b="1" dirty="0"/>
          </a:p>
          <a:p>
            <a:pPr>
              <a:buFont typeface="Wingdings" panose="05000000000000000000" pitchFamily="2" charset="2"/>
              <a:buChar char="ü"/>
            </a:pPr>
            <a:r>
              <a:rPr lang="en-IN" sz="2200" b="1" dirty="0"/>
              <a:t>    Alice's signature used by other nodes to check the </a:t>
            </a:r>
            <a:r>
              <a:rPr lang="en-IN" sz="2200" b="1" dirty="0" err="1" smtClean="0"/>
              <a:t>orgin</a:t>
            </a:r>
            <a:r>
              <a:rPr lang="en-IN" sz="2200" b="1" dirty="0" smtClean="0"/>
              <a:t>.</a:t>
            </a:r>
            <a:endParaRPr lang="en-IN" sz="2200" b="1" dirty="0"/>
          </a:p>
          <a:p>
            <a:pPr>
              <a:buFont typeface="Wingdings" panose="05000000000000000000" pitchFamily="2" charset="2"/>
              <a:buChar char="ü"/>
            </a:pPr>
            <a:r>
              <a:rPr lang="en-IN" sz="2200" b="1" dirty="0"/>
              <a:t>    Bob's public key, which also accesses the address at which he wants to receive </a:t>
            </a:r>
            <a:r>
              <a:rPr lang="en-IN" sz="2200" b="1" dirty="0" err="1"/>
              <a:t>bitcoins</a:t>
            </a:r>
            <a:endParaRPr lang="en-IN" sz="2200" b="1" dirty="0"/>
          </a:p>
          <a:p>
            <a:pPr>
              <a:buFont typeface="Wingdings" panose="05000000000000000000" pitchFamily="2" charset="2"/>
              <a:buChar char="ü"/>
            </a:pPr>
            <a:r>
              <a:rPr lang="en-IN" sz="2200" b="1" dirty="0"/>
              <a:t>    a hash of the previous transaction. This is a way for Alice to link this transaction to her receipt of this coin from someone else previously</a:t>
            </a:r>
          </a:p>
          <a:p>
            <a:pPr marL="0" indent="0">
              <a:buNone/>
            </a:pPr>
            <a:endParaRPr lang="en-IN" sz="2200" dirty="0"/>
          </a:p>
        </p:txBody>
      </p:sp>
      <p:sp>
        <p:nvSpPr>
          <p:cNvPr id="4" name="Date Placeholder 3"/>
          <p:cNvSpPr>
            <a:spLocks noGrp="1"/>
          </p:cNvSpPr>
          <p:nvPr>
            <p:ph type="dt" sz="half" idx="10"/>
          </p:nvPr>
        </p:nvSpPr>
        <p:spPr/>
        <p:txBody>
          <a:bodyPr/>
          <a:lstStyle/>
          <a:p>
            <a:fld id="{713B2688-C35A-41F0-A0FA-11CC29259C5C}" type="datetime1">
              <a:rPr lang="en-IN" smtClean="0"/>
              <a:t>18-01-2025</a:t>
            </a:fld>
            <a:endParaRPr lang="en-IN"/>
          </a:p>
        </p:txBody>
      </p:sp>
      <p:sp>
        <p:nvSpPr>
          <p:cNvPr id="5" name="Footer Placeholder 4"/>
          <p:cNvSpPr>
            <a:spLocks noGrp="1"/>
          </p:cNvSpPr>
          <p:nvPr>
            <p:ph type="ftr" sz="quarter" idx="11"/>
          </p:nvPr>
        </p:nvSpPr>
        <p:spPr/>
        <p:txBody>
          <a:bodyPr/>
          <a:lstStyle/>
          <a:p>
            <a:r>
              <a:rPr lang="en-IN" smtClean="0"/>
              <a:t>Madhu Viswanatham</a:t>
            </a:r>
            <a:endParaRPr lang="en-IN"/>
          </a:p>
        </p:txBody>
      </p:sp>
      <p:sp>
        <p:nvSpPr>
          <p:cNvPr id="6" name="Slide Number Placeholder 5"/>
          <p:cNvSpPr>
            <a:spLocks noGrp="1"/>
          </p:cNvSpPr>
          <p:nvPr>
            <p:ph type="sldNum" sz="quarter" idx="12"/>
          </p:nvPr>
        </p:nvSpPr>
        <p:spPr/>
        <p:txBody>
          <a:bodyPr/>
          <a:lstStyle/>
          <a:p>
            <a:fld id="{9EEEBCA1-7FC4-4544-A902-24D63B55653B}" type="slidenum">
              <a:rPr lang="en-IN" smtClean="0"/>
              <a:t>2</a:t>
            </a:fld>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2438400"/>
            <a:ext cx="5867400" cy="1333371"/>
          </a:xfrm>
          <a:prstGeom prst="rect">
            <a:avLst/>
          </a:prstGeom>
        </p:spPr>
      </p:pic>
    </p:spTree>
    <p:extLst>
      <p:ext uri="{BB962C8B-B14F-4D97-AF65-F5344CB8AC3E}">
        <p14:creationId xmlns:p14="http://schemas.microsoft.com/office/powerpoint/2010/main" val="19954889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609600" y="53833"/>
            <a:ext cx="11192400" cy="1143200"/>
          </a:xfrm>
          <a:prstGeom prst="rect">
            <a:avLst/>
          </a:prstGeom>
        </p:spPr>
        <p:txBody>
          <a:bodyPr spcFirstLastPara="1" vert="horz" wrap="square" lIns="121900" tIns="121900" rIns="121900" bIns="121900" rtlCol="0" anchor="b" anchorCtr="0">
            <a:noAutofit/>
          </a:bodyPr>
          <a:lstStyle/>
          <a:p>
            <a:r>
              <a:rPr lang="en" dirty="0"/>
              <a:t>An account-based </a:t>
            </a:r>
            <a:r>
              <a:rPr lang="en" dirty="0" smtClean="0"/>
              <a:t>Model </a:t>
            </a:r>
            <a:r>
              <a:rPr lang="en" dirty="0"/>
              <a:t>(</a:t>
            </a:r>
            <a:r>
              <a:rPr lang="en" i="1" dirty="0"/>
              <a:t>not</a:t>
            </a:r>
            <a:r>
              <a:rPr lang="en" dirty="0"/>
              <a:t> Bitcoin)</a:t>
            </a:r>
            <a:endParaRPr dirty="0">
              <a:latin typeface="Trebuchet MS"/>
              <a:ea typeface="Trebuchet MS"/>
              <a:cs typeface="Trebuchet MS"/>
              <a:sym typeface="Trebuchet MS"/>
            </a:endParaRPr>
          </a:p>
        </p:txBody>
      </p:sp>
      <p:sp>
        <p:nvSpPr>
          <p:cNvPr id="48" name="Google Shape;48;p11"/>
          <p:cNvSpPr/>
          <p:nvPr/>
        </p:nvSpPr>
        <p:spPr>
          <a:xfrm>
            <a:off x="1160371" y="1659967"/>
            <a:ext cx="7488800" cy="5796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dirty="0">
                <a:latin typeface="Trebuchet MS"/>
                <a:ea typeface="Trebuchet MS"/>
                <a:cs typeface="Trebuchet MS"/>
                <a:sym typeface="Trebuchet MS"/>
              </a:rPr>
              <a:t>Create 25 coins and credit to Alice</a:t>
            </a:r>
            <a:r>
              <a:rPr lang="en" sz="2400" baseline="-25000" dirty="0">
                <a:latin typeface="Trebuchet MS"/>
                <a:ea typeface="Trebuchet MS"/>
                <a:cs typeface="Trebuchet MS"/>
                <a:sym typeface="Trebuchet MS"/>
              </a:rPr>
              <a:t>ASSERTED BY MINERS</a:t>
            </a:r>
            <a:endParaRPr sz="2400" baseline="-25000" dirty="0">
              <a:latin typeface="Trebuchet MS"/>
              <a:ea typeface="Trebuchet MS"/>
              <a:cs typeface="Trebuchet MS"/>
              <a:sym typeface="Trebuchet MS"/>
            </a:endParaRPr>
          </a:p>
        </p:txBody>
      </p:sp>
      <p:sp>
        <p:nvSpPr>
          <p:cNvPr id="49" name="Google Shape;49;p11"/>
          <p:cNvSpPr/>
          <p:nvPr/>
        </p:nvSpPr>
        <p:spPr>
          <a:xfrm>
            <a:off x="1160371" y="2239567"/>
            <a:ext cx="7488800" cy="5796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buClr>
                <a:schemeClr val="dk1"/>
              </a:buClr>
              <a:buSzPts val="1100"/>
            </a:pPr>
            <a:r>
              <a:rPr lang="en" sz="2400">
                <a:solidFill>
                  <a:schemeClr val="dk1"/>
                </a:solidFill>
                <a:latin typeface="Trebuchet MS"/>
                <a:ea typeface="Trebuchet MS"/>
                <a:cs typeface="Trebuchet MS"/>
                <a:sym typeface="Trebuchet MS"/>
              </a:rPr>
              <a:t>Transfer 17 coins from Alice to Bob</a:t>
            </a:r>
            <a:r>
              <a:rPr lang="en" sz="2400" baseline="-25000">
                <a:solidFill>
                  <a:schemeClr val="dk1"/>
                </a:solidFill>
                <a:latin typeface="Trebuchet MS"/>
                <a:ea typeface="Trebuchet MS"/>
                <a:cs typeface="Trebuchet MS"/>
                <a:sym typeface="Trebuchet MS"/>
              </a:rPr>
              <a:t>SIGNED(Alice)</a:t>
            </a:r>
            <a:endParaRPr sz="2400" baseline="-25000">
              <a:solidFill>
                <a:schemeClr val="dk1"/>
              </a:solidFill>
              <a:latin typeface="Trebuchet MS"/>
              <a:ea typeface="Trebuchet MS"/>
              <a:cs typeface="Trebuchet MS"/>
              <a:sym typeface="Trebuchet MS"/>
            </a:endParaRPr>
          </a:p>
        </p:txBody>
      </p:sp>
      <p:sp>
        <p:nvSpPr>
          <p:cNvPr id="50" name="Google Shape;50;p11"/>
          <p:cNvSpPr/>
          <p:nvPr/>
        </p:nvSpPr>
        <p:spPr>
          <a:xfrm>
            <a:off x="1160371" y="2819167"/>
            <a:ext cx="7488800" cy="5796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buClr>
                <a:schemeClr val="dk1"/>
              </a:buClr>
              <a:buSzPts val="1100"/>
            </a:pPr>
            <a:r>
              <a:rPr lang="en" sz="2400">
                <a:solidFill>
                  <a:schemeClr val="dk1"/>
                </a:solidFill>
                <a:latin typeface="Trebuchet MS"/>
                <a:ea typeface="Trebuchet MS"/>
                <a:cs typeface="Trebuchet MS"/>
                <a:sym typeface="Trebuchet MS"/>
              </a:rPr>
              <a:t>Transfer 8 coins from Bob to Carol</a:t>
            </a:r>
            <a:r>
              <a:rPr lang="en" sz="2400" baseline="-25000">
                <a:solidFill>
                  <a:schemeClr val="dk1"/>
                </a:solidFill>
                <a:latin typeface="Trebuchet MS"/>
                <a:ea typeface="Trebuchet MS"/>
                <a:cs typeface="Trebuchet MS"/>
                <a:sym typeface="Trebuchet MS"/>
              </a:rPr>
              <a:t>SIGNED(Bob)</a:t>
            </a:r>
            <a:endParaRPr sz="2400">
              <a:solidFill>
                <a:schemeClr val="dk1"/>
              </a:solidFill>
              <a:latin typeface="Trebuchet MS"/>
              <a:ea typeface="Trebuchet MS"/>
              <a:cs typeface="Trebuchet MS"/>
              <a:sym typeface="Trebuchet MS"/>
            </a:endParaRPr>
          </a:p>
        </p:txBody>
      </p:sp>
      <p:sp>
        <p:nvSpPr>
          <p:cNvPr id="51" name="Google Shape;51;p11"/>
          <p:cNvSpPr/>
          <p:nvPr/>
        </p:nvSpPr>
        <p:spPr>
          <a:xfrm>
            <a:off x="1160371" y="3398767"/>
            <a:ext cx="7488800" cy="5796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buClr>
                <a:schemeClr val="dk1"/>
              </a:buClr>
              <a:buSzPts val="1100"/>
            </a:pPr>
            <a:r>
              <a:rPr lang="en" sz="2400">
                <a:solidFill>
                  <a:schemeClr val="dk1"/>
                </a:solidFill>
                <a:latin typeface="Trebuchet MS"/>
                <a:ea typeface="Trebuchet MS"/>
                <a:cs typeface="Trebuchet MS"/>
                <a:sym typeface="Trebuchet MS"/>
              </a:rPr>
              <a:t>Transfer 5 coins from Carol to Alice</a:t>
            </a:r>
            <a:r>
              <a:rPr lang="en" sz="2400" baseline="-25000">
                <a:solidFill>
                  <a:schemeClr val="dk1"/>
                </a:solidFill>
                <a:latin typeface="Trebuchet MS"/>
                <a:ea typeface="Trebuchet MS"/>
                <a:cs typeface="Trebuchet MS"/>
                <a:sym typeface="Trebuchet MS"/>
              </a:rPr>
              <a:t>SIGNED(Carol)</a:t>
            </a:r>
            <a:endParaRPr sz="2400">
              <a:solidFill>
                <a:schemeClr val="dk1"/>
              </a:solidFill>
              <a:latin typeface="Trebuchet MS"/>
              <a:ea typeface="Trebuchet MS"/>
              <a:cs typeface="Trebuchet MS"/>
              <a:sym typeface="Trebuchet MS"/>
            </a:endParaRPr>
          </a:p>
        </p:txBody>
      </p:sp>
      <p:sp>
        <p:nvSpPr>
          <p:cNvPr id="52" name="Google Shape;52;p11"/>
          <p:cNvSpPr/>
          <p:nvPr/>
        </p:nvSpPr>
        <p:spPr>
          <a:xfrm>
            <a:off x="3144000" y="5987067"/>
            <a:ext cx="5904000" cy="702400"/>
          </a:xfrm>
          <a:prstGeom prst="roundRect">
            <a:avLst>
              <a:gd name="adj" fmla="val 16667"/>
            </a:avLst>
          </a:prstGeom>
          <a:solidFill>
            <a:srgbClr val="E6B8AF"/>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latin typeface="Trebuchet MS"/>
                <a:ea typeface="Trebuchet MS"/>
                <a:cs typeface="Trebuchet MS"/>
                <a:sym typeface="Trebuchet MS"/>
              </a:rPr>
              <a:t>SIMPLIFICATION: only one transaction per block</a:t>
            </a:r>
            <a:endParaRPr sz="2400">
              <a:latin typeface="Trebuchet MS"/>
              <a:ea typeface="Trebuchet MS"/>
              <a:cs typeface="Trebuchet MS"/>
              <a:sym typeface="Trebuchet MS"/>
            </a:endParaRPr>
          </a:p>
        </p:txBody>
      </p:sp>
      <p:cxnSp>
        <p:nvCxnSpPr>
          <p:cNvPr id="53" name="Google Shape;53;p11"/>
          <p:cNvCxnSpPr/>
          <p:nvPr/>
        </p:nvCxnSpPr>
        <p:spPr>
          <a:xfrm>
            <a:off x="539800" y="1800433"/>
            <a:ext cx="0" cy="3521200"/>
          </a:xfrm>
          <a:prstGeom prst="straightConnector1">
            <a:avLst/>
          </a:prstGeom>
          <a:noFill/>
          <a:ln w="19050" cap="flat" cmpd="sng">
            <a:solidFill>
              <a:schemeClr val="dk2"/>
            </a:solidFill>
            <a:prstDash val="solid"/>
            <a:round/>
            <a:headEnd type="none" w="med" len="med"/>
            <a:tailEnd type="triangle" w="med" len="med"/>
          </a:ln>
        </p:spPr>
      </p:cxnSp>
      <p:sp>
        <p:nvSpPr>
          <p:cNvPr id="54" name="Google Shape;54;p11"/>
          <p:cNvSpPr txBox="1"/>
          <p:nvPr/>
        </p:nvSpPr>
        <p:spPr>
          <a:xfrm>
            <a:off x="165533" y="1337233"/>
            <a:ext cx="797600" cy="463200"/>
          </a:xfrm>
          <a:prstGeom prst="rect">
            <a:avLst/>
          </a:prstGeom>
          <a:noFill/>
          <a:ln>
            <a:noFill/>
          </a:ln>
        </p:spPr>
        <p:txBody>
          <a:bodyPr spcFirstLastPara="1" wrap="square" lIns="121900" tIns="121900" rIns="121900" bIns="121900" anchor="t" anchorCtr="0">
            <a:noAutofit/>
          </a:bodyPr>
          <a:lstStyle/>
          <a:p>
            <a:r>
              <a:rPr lang="en" sz="2400"/>
              <a:t>time</a:t>
            </a:r>
            <a:endParaRPr sz="2400"/>
          </a:p>
        </p:txBody>
      </p:sp>
      <p:sp>
        <p:nvSpPr>
          <p:cNvPr id="55" name="Google Shape;55;p11"/>
          <p:cNvSpPr/>
          <p:nvPr/>
        </p:nvSpPr>
        <p:spPr>
          <a:xfrm>
            <a:off x="1160371" y="3978367"/>
            <a:ext cx="7488800" cy="579600"/>
          </a:xfrm>
          <a:prstGeom prst="rect">
            <a:avLst/>
          </a:prstGeom>
          <a:solidFill>
            <a:srgbClr val="F6B26B"/>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chemeClr val="dk1"/>
                </a:solidFill>
                <a:latin typeface="Trebuchet MS"/>
                <a:ea typeface="Trebuchet MS"/>
                <a:cs typeface="Trebuchet MS"/>
                <a:sym typeface="Trebuchet MS"/>
              </a:rPr>
              <a:t>Transfer 15 coins from Alice to David</a:t>
            </a:r>
            <a:r>
              <a:rPr lang="en" sz="2400" baseline="-25000">
                <a:solidFill>
                  <a:schemeClr val="dk1"/>
                </a:solidFill>
                <a:latin typeface="Trebuchet MS"/>
                <a:ea typeface="Trebuchet MS"/>
                <a:cs typeface="Trebuchet MS"/>
                <a:sym typeface="Trebuchet MS"/>
              </a:rPr>
              <a:t>SIGNED(Alice)</a:t>
            </a:r>
            <a:endParaRPr sz="2400">
              <a:solidFill>
                <a:schemeClr val="dk1"/>
              </a:solidFill>
              <a:latin typeface="Trebuchet MS"/>
              <a:ea typeface="Trebuchet MS"/>
              <a:cs typeface="Trebuchet MS"/>
              <a:sym typeface="Trebuchet MS"/>
            </a:endParaRPr>
          </a:p>
        </p:txBody>
      </p:sp>
      <p:cxnSp>
        <p:nvCxnSpPr>
          <p:cNvPr id="56" name="Google Shape;56;p11"/>
          <p:cNvCxnSpPr/>
          <p:nvPr/>
        </p:nvCxnSpPr>
        <p:spPr>
          <a:xfrm rot="10800000">
            <a:off x="9360867" y="1128567"/>
            <a:ext cx="24400" cy="2453200"/>
          </a:xfrm>
          <a:prstGeom prst="straightConnector1">
            <a:avLst/>
          </a:prstGeom>
          <a:noFill/>
          <a:ln w="19050" cap="flat" cmpd="sng">
            <a:solidFill>
              <a:schemeClr val="dk2"/>
            </a:solidFill>
            <a:prstDash val="dash"/>
            <a:round/>
            <a:headEnd type="none" w="med" len="med"/>
            <a:tailEnd type="triangle" w="med" len="med"/>
          </a:ln>
        </p:spPr>
      </p:cxnSp>
      <p:sp>
        <p:nvSpPr>
          <p:cNvPr id="57" name="Google Shape;57;p11"/>
          <p:cNvSpPr txBox="1"/>
          <p:nvPr/>
        </p:nvSpPr>
        <p:spPr>
          <a:xfrm>
            <a:off x="9571667" y="1466767"/>
            <a:ext cx="2070800" cy="1352400"/>
          </a:xfrm>
          <a:prstGeom prst="rect">
            <a:avLst/>
          </a:prstGeom>
          <a:noFill/>
          <a:ln>
            <a:noFill/>
          </a:ln>
        </p:spPr>
        <p:txBody>
          <a:bodyPr spcFirstLastPara="1" wrap="square" lIns="121900" tIns="121900" rIns="121900" bIns="121900" anchor="t" anchorCtr="0">
            <a:noAutofit/>
          </a:bodyPr>
          <a:lstStyle/>
          <a:p>
            <a:r>
              <a:rPr lang="en" sz="2400"/>
              <a:t>might need to scan backwards until genesis!</a:t>
            </a:r>
            <a:endParaRPr sz="2400"/>
          </a:p>
        </p:txBody>
      </p:sp>
      <p:sp>
        <p:nvSpPr>
          <p:cNvPr id="58" name="Google Shape;58;p11"/>
          <p:cNvSpPr/>
          <p:nvPr/>
        </p:nvSpPr>
        <p:spPr>
          <a:xfrm>
            <a:off x="8735033" y="3655967"/>
            <a:ext cx="2740800" cy="1006400"/>
          </a:xfrm>
          <a:prstGeom prst="cloudCallout">
            <a:avLst>
              <a:gd name="adj1" fmla="val -68996"/>
              <a:gd name="adj2" fmla="val 20028"/>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is this valid?</a:t>
            </a:r>
            <a:endParaRPr sz="2400"/>
          </a:p>
        </p:txBody>
      </p:sp>
      <p:sp>
        <p:nvSpPr>
          <p:cNvPr id="2" name="Rectangle 1"/>
          <p:cNvSpPr/>
          <p:nvPr/>
        </p:nvSpPr>
        <p:spPr>
          <a:xfrm>
            <a:off x="5939760" y="3223817"/>
            <a:ext cx="253596" cy="461665"/>
          </a:xfrm>
          <a:prstGeom prst="rect">
            <a:avLst/>
          </a:prstGeom>
        </p:spPr>
        <p:txBody>
          <a:bodyPr wrap="none">
            <a:spAutoFit/>
          </a:bodyPr>
          <a:lstStyle/>
          <a:p>
            <a:r>
              <a:rPr lang="en-IN" sz="2400" dirty="0"/>
              <a:t> </a:t>
            </a:r>
          </a:p>
        </p:txBody>
      </p:sp>
    </p:spTree>
    <p:extLst>
      <p:ext uri="{BB962C8B-B14F-4D97-AF65-F5344CB8AC3E}">
        <p14:creationId xmlns:p14="http://schemas.microsoft.com/office/powerpoint/2010/main" val="401690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1000"/>
                                        <p:tgtEl>
                                          <p:spTgt spid="50"/>
                                        </p:tgtEl>
                                      </p:cBhvr>
                                    </p:animEffect>
                                  </p:childTnLst>
                                </p:cTn>
                              </p:par>
                              <p:par>
                                <p:cTn id="13" presetID="10" presetClass="entr" presetSubtype="0" fill="hold" nodeType="with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1000"/>
                                        <p:tgtEl>
                                          <p:spTgt spid="5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fade">
                                      <p:cBhvr>
                                        <p:cTn id="20" dur="1000"/>
                                        <p:tgtEl>
                                          <p:spTgt spid="55"/>
                                        </p:tgtEl>
                                      </p:cBhvr>
                                    </p:animEffect>
                                  </p:childTnLst>
                                </p:cTn>
                              </p:par>
                              <p:par>
                                <p:cTn id="21" presetID="10"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fade">
                                      <p:cBhvr>
                                        <p:cTn id="23" dur="1000"/>
                                        <p:tgtEl>
                                          <p:spTgt spid="5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1000"/>
                                        <p:tgtEl>
                                          <p:spTgt spid="56"/>
                                        </p:tgtEl>
                                      </p:cBhvr>
                                    </p:animEffect>
                                  </p:childTnLst>
                                </p:cTn>
                              </p:par>
                              <p:par>
                                <p:cTn id="29" presetID="10" presetClass="entr" presetSubtype="0" fill="hold"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1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dirty="0"/>
              <a:t>A transaction-based ledger (Bitcoin)</a:t>
            </a:r>
            <a:endParaRPr lang="en-IN" dirty="0"/>
          </a:p>
        </p:txBody>
      </p:sp>
      <p:pic>
        <p:nvPicPr>
          <p:cNvPr id="4" name="Picture 3"/>
          <p:cNvPicPr>
            <a:picLocks noChangeAspect="1"/>
          </p:cNvPicPr>
          <p:nvPr/>
        </p:nvPicPr>
        <p:blipFill>
          <a:blip r:embed="rId2"/>
          <a:stretch>
            <a:fillRect/>
          </a:stretch>
        </p:blipFill>
        <p:spPr>
          <a:xfrm>
            <a:off x="1143000" y="2743200"/>
            <a:ext cx="5334000" cy="2990850"/>
          </a:xfrm>
          <a:prstGeom prst="rect">
            <a:avLst/>
          </a:prstGeom>
        </p:spPr>
      </p:pic>
      <p:sp>
        <p:nvSpPr>
          <p:cNvPr id="3" name="Text Placeholder 2"/>
          <p:cNvSpPr>
            <a:spLocks noGrp="1"/>
          </p:cNvSpPr>
          <p:nvPr>
            <p:ph type="body" idx="1"/>
          </p:nvPr>
        </p:nvSpPr>
        <p:spPr/>
        <p:txBody>
          <a:bodyPr/>
          <a:lstStyle/>
          <a:p>
            <a:pPr marL="50799" indent="0">
              <a:buNone/>
            </a:pPr>
            <a:endParaRPr lang="en-IN" dirty="0"/>
          </a:p>
        </p:txBody>
      </p:sp>
    </p:spTree>
    <p:extLst>
      <p:ext uri="{BB962C8B-B14F-4D97-AF65-F5344CB8AC3E}">
        <p14:creationId xmlns:p14="http://schemas.microsoft.com/office/powerpoint/2010/main" val="6600170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2"/>
          <p:cNvSpPr txBox="1">
            <a:spLocks noGrp="1"/>
          </p:cNvSpPr>
          <p:nvPr>
            <p:ph type="title"/>
          </p:nvPr>
        </p:nvSpPr>
        <p:spPr>
          <a:xfrm>
            <a:off x="609600" y="53837"/>
            <a:ext cx="10972800" cy="1143200"/>
          </a:xfrm>
          <a:prstGeom prst="rect">
            <a:avLst/>
          </a:prstGeom>
        </p:spPr>
        <p:txBody>
          <a:bodyPr spcFirstLastPara="1" vert="horz" wrap="square" lIns="121900" tIns="121900" rIns="121900" bIns="121900" rtlCol="0" anchor="b" anchorCtr="0">
            <a:noAutofit/>
          </a:bodyPr>
          <a:lstStyle/>
          <a:p>
            <a:r>
              <a:rPr lang="en" dirty="0" smtClean="0"/>
              <a:t>Example</a:t>
            </a:r>
            <a:endParaRPr dirty="0">
              <a:latin typeface="Trebuchet MS"/>
              <a:ea typeface="Trebuchet MS"/>
              <a:cs typeface="Trebuchet MS"/>
              <a:sym typeface="Trebuchet MS"/>
            </a:endParaRPr>
          </a:p>
        </p:txBody>
      </p:sp>
      <p:sp>
        <p:nvSpPr>
          <p:cNvPr id="64" name="Google Shape;64;p12"/>
          <p:cNvSpPr/>
          <p:nvPr/>
        </p:nvSpPr>
        <p:spPr>
          <a:xfrm>
            <a:off x="1160367" y="1096367"/>
            <a:ext cx="7488800" cy="11432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latin typeface="Trebuchet MS"/>
                <a:ea typeface="Trebuchet MS"/>
                <a:cs typeface="Trebuchet MS"/>
                <a:sym typeface="Trebuchet MS"/>
              </a:rPr>
              <a:t>	Inputs: Ø</a:t>
            </a:r>
            <a:endParaRPr sz="2400">
              <a:latin typeface="Trebuchet MS"/>
              <a:ea typeface="Trebuchet MS"/>
              <a:cs typeface="Trebuchet MS"/>
              <a:sym typeface="Trebuchet MS"/>
            </a:endParaRPr>
          </a:p>
          <a:p>
            <a:r>
              <a:rPr lang="en" sz="2400">
                <a:latin typeface="Trebuchet MS"/>
                <a:ea typeface="Trebuchet MS"/>
                <a:cs typeface="Trebuchet MS"/>
                <a:sym typeface="Trebuchet MS"/>
              </a:rPr>
              <a:t>       Outputs: 25.0</a:t>
            </a:r>
            <a:r>
              <a:rPr lang="en" sz="2400">
                <a:solidFill>
                  <a:schemeClr val="dk1"/>
                </a:solidFill>
                <a:latin typeface="Trebuchet MS"/>
                <a:ea typeface="Trebuchet MS"/>
                <a:cs typeface="Trebuchet MS"/>
                <a:sym typeface="Trebuchet MS"/>
              </a:rPr>
              <a:t>→</a:t>
            </a:r>
            <a:r>
              <a:rPr lang="en" sz="2400">
                <a:latin typeface="Trebuchet MS"/>
                <a:ea typeface="Trebuchet MS"/>
                <a:cs typeface="Trebuchet MS"/>
                <a:sym typeface="Trebuchet MS"/>
              </a:rPr>
              <a:t>Alice</a:t>
            </a:r>
            <a:endParaRPr sz="2400" baseline="-25000">
              <a:latin typeface="Trebuchet MS"/>
              <a:ea typeface="Trebuchet MS"/>
              <a:cs typeface="Trebuchet MS"/>
              <a:sym typeface="Trebuchet MS"/>
            </a:endParaRPr>
          </a:p>
        </p:txBody>
      </p:sp>
      <p:sp>
        <p:nvSpPr>
          <p:cNvPr id="65" name="Google Shape;65;p12"/>
          <p:cNvSpPr/>
          <p:nvPr/>
        </p:nvSpPr>
        <p:spPr>
          <a:xfrm>
            <a:off x="1160367" y="2239567"/>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1[0]</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17.0→Bob, 8.0→Alice</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SIGNED(Alice)</a:t>
            </a:r>
            <a:endParaRPr sz="1333">
              <a:solidFill>
                <a:schemeClr val="dk1"/>
              </a:solidFill>
              <a:latin typeface="Trebuchet MS"/>
              <a:ea typeface="Trebuchet MS"/>
              <a:cs typeface="Trebuchet MS"/>
              <a:sym typeface="Trebuchet MS"/>
            </a:endParaRPr>
          </a:p>
        </p:txBody>
      </p:sp>
      <p:sp>
        <p:nvSpPr>
          <p:cNvPr id="66" name="Google Shape;66;p12"/>
          <p:cNvSpPr/>
          <p:nvPr/>
        </p:nvSpPr>
        <p:spPr>
          <a:xfrm>
            <a:off x="3144000" y="6085233"/>
            <a:ext cx="5904000" cy="702400"/>
          </a:xfrm>
          <a:prstGeom prst="roundRect">
            <a:avLst>
              <a:gd name="adj" fmla="val 16667"/>
            </a:avLst>
          </a:prstGeom>
          <a:solidFill>
            <a:srgbClr val="E6B8AF"/>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latin typeface="Trebuchet MS"/>
                <a:ea typeface="Trebuchet MS"/>
                <a:cs typeface="Trebuchet MS"/>
                <a:sym typeface="Trebuchet MS"/>
              </a:rPr>
              <a:t>SIMPLIFICATION: only one transaction per block</a:t>
            </a:r>
            <a:endParaRPr sz="2400">
              <a:latin typeface="Trebuchet MS"/>
              <a:ea typeface="Trebuchet MS"/>
              <a:cs typeface="Trebuchet MS"/>
              <a:sym typeface="Trebuchet MS"/>
            </a:endParaRPr>
          </a:p>
        </p:txBody>
      </p:sp>
      <p:cxnSp>
        <p:nvCxnSpPr>
          <p:cNvPr id="67" name="Google Shape;67;p12"/>
          <p:cNvCxnSpPr/>
          <p:nvPr/>
        </p:nvCxnSpPr>
        <p:spPr>
          <a:xfrm>
            <a:off x="539800" y="1800433"/>
            <a:ext cx="0" cy="3521200"/>
          </a:xfrm>
          <a:prstGeom prst="straightConnector1">
            <a:avLst/>
          </a:prstGeom>
          <a:noFill/>
          <a:ln w="19050" cap="flat" cmpd="sng">
            <a:solidFill>
              <a:schemeClr val="dk2"/>
            </a:solidFill>
            <a:prstDash val="solid"/>
            <a:round/>
            <a:headEnd type="none" w="med" len="med"/>
            <a:tailEnd type="triangle" w="med" len="med"/>
          </a:ln>
        </p:spPr>
      </p:cxnSp>
      <p:sp>
        <p:nvSpPr>
          <p:cNvPr id="68" name="Google Shape;68;p12"/>
          <p:cNvSpPr txBox="1"/>
          <p:nvPr/>
        </p:nvSpPr>
        <p:spPr>
          <a:xfrm>
            <a:off x="165533" y="1337233"/>
            <a:ext cx="797600" cy="463200"/>
          </a:xfrm>
          <a:prstGeom prst="rect">
            <a:avLst/>
          </a:prstGeom>
          <a:noFill/>
          <a:ln>
            <a:noFill/>
          </a:ln>
        </p:spPr>
        <p:txBody>
          <a:bodyPr spcFirstLastPara="1" wrap="square" lIns="121900" tIns="121900" rIns="121900" bIns="121900" anchor="t" anchorCtr="0">
            <a:noAutofit/>
          </a:bodyPr>
          <a:lstStyle/>
          <a:p>
            <a:r>
              <a:rPr lang="en" sz="2400"/>
              <a:t>time</a:t>
            </a:r>
            <a:endParaRPr sz="2400"/>
          </a:p>
        </p:txBody>
      </p:sp>
      <p:sp>
        <p:nvSpPr>
          <p:cNvPr id="69" name="Google Shape;69;p12"/>
          <p:cNvSpPr/>
          <p:nvPr/>
        </p:nvSpPr>
        <p:spPr>
          <a:xfrm>
            <a:off x="8735033" y="4742233"/>
            <a:ext cx="2740800" cy="1006400"/>
          </a:xfrm>
          <a:prstGeom prst="cloudCallout">
            <a:avLst>
              <a:gd name="adj1" fmla="val -20833"/>
              <a:gd name="adj2" fmla="val 62500"/>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is this valid?</a:t>
            </a:r>
            <a:endParaRPr sz="2400"/>
          </a:p>
        </p:txBody>
      </p:sp>
      <p:sp>
        <p:nvSpPr>
          <p:cNvPr id="70" name="Google Shape;70;p12"/>
          <p:cNvSpPr txBox="1"/>
          <p:nvPr/>
        </p:nvSpPr>
        <p:spPr>
          <a:xfrm>
            <a:off x="9269733" y="3379967"/>
            <a:ext cx="2070800" cy="772800"/>
          </a:xfrm>
          <a:prstGeom prst="rect">
            <a:avLst/>
          </a:prstGeom>
          <a:noFill/>
          <a:ln>
            <a:noFill/>
          </a:ln>
        </p:spPr>
        <p:txBody>
          <a:bodyPr spcFirstLastPara="1" wrap="square" lIns="121900" tIns="121900" rIns="121900" bIns="121900" anchor="t" anchorCtr="0">
            <a:noAutofit/>
          </a:bodyPr>
          <a:lstStyle/>
          <a:p>
            <a:r>
              <a:rPr lang="en" sz="2400"/>
              <a:t>finite scan to check for validity</a:t>
            </a:r>
            <a:endParaRPr sz="2400"/>
          </a:p>
        </p:txBody>
      </p:sp>
      <p:sp>
        <p:nvSpPr>
          <p:cNvPr id="71" name="Google Shape;71;p12"/>
          <p:cNvSpPr/>
          <p:nvPr/>
        </p:nvSpPr>
        <p:spPr>
          <a:xfrm>
            <a:off x="1160367" y="3490900"/>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2[0]</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8.0→Carol, 7.0→Bob</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SIGNED(Bob)</a:t>
            </a:r>
            <a:endParaRPr sz="1333">
              <a:solidFill>
                <a:schemeClr val="dk1"/>
              </a:solidFill>
              <a:latin typeface="Trebuchet MS"/>
              <a:ea typeface="Trebuchet MS"/>
              <a:cs typeface="Trebuchet MS"/>
              <a:sym typeface="Trebuchet MS"/>
            </a:endParaRPr>
          </a:p>
        </p:txBody>
      </p:sp>
      <p:sp>
        <p:nvSpPr>
          <p:cNvPr id="72" name="Google Shape;72;p12"/>
          <p:cNvSpPr/>
          <p:nvPr/>
        </p:nvSpPr>
        <p:spPr>
          <a:xfrm>
            <a:off x="1160367" y="4742233"/>
            <a:ext cx="7488800" cy="1244800"/>
          </a:xfrm>
          <a:prstGeom prst="rect">
            <a:avLst/>
          </a:prstGeom>
          <a:solidFill>
            <a:srgbClr val="F6B26B"/>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2[1]</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6.0→David, 2.0→Alice</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SIGNED(Alice)</a:t>
            </a:r>
            <a:endParaRPr sz="1333">
              <a:solidFill>
                <a:schemeClr val="dk1"/>
              </a:solidFill>
              <a:latin typeface="Trebuchet MS"/>
              <a:ea typeface="Trebuchet MS"/>
              <a:cs typeface="Trebuchet MS"/>
              <a:sym typeface="Trebuchet MS"/>
            </a:endParaRPr>
          </a:p>
        </p:txBody>
      </p:sp>
      <p:cxnSp>
        <p:nvCxnSpPr>
          <p:cNvPr id="73" name="Google Shape;73;p12"/>
          <p:cNvCxnSpPr/>
          <p:nvPr/>
        </p:nvCxnSpPr>
        <p:spPr>
          <a:xfrm rot="10800000" flipH="1">
            <a:off x="3274600" y="3115367"/>
            <a:ext cx="2098000" cy="1668400"/>
          </a:xfrm>
          <a:prstGeom prst="straightConnector1">
            <a:avLst/>
          </a:prstGeom>
          <a:noFill/>
          <a:ln w="19050" cap="flat" cmpd="sng">
            <a:solidFill>
              <a:srgbClr val="FF0000"/>
            </a:solidFill>
            <a:prstDash val="solid"/>
            <a:round/>
            <a:headEnd type="none" w="med" len="med"/>
            <a:tailEnd type="triangle" w="med" len="med"/>
          </a:ln>
        </p:spPr>
      </p:cxnSp>
      <p:cxnSp>
        <p:nvCxnSpPr>
          <p:cNvPr id="74" name="Google Shape;74;p12"/>
          <p:cNvCxnSpPr/>
          <p:nvPr/>
        </p:nvCxnSpPr>
        <p:spPr>
          <a:xfrm rot="10800000">
            <a:off x="9041767" y="2797167"/>
            <a:ext cx="0" cy="1975200"/>
          </a:xfrm>
          <a:prstGeom prst="straightConnector1">
            <a:avLst/>
          </a:prstGeom>
          <a:noFill/>
          <a:ln w="19050" cap="flat" cmpd="sng">
            <a:solidFill>
              <a:schemeClr val="dk2"/>
            </a:solidFill>
            <a:prstDash val="dash"/>
            <a:round/>
            <a:headEnd type="none" w="med" len="med"/>
            <a:tailEnd type="triangle" w="med" len="med"/>
          </a:ln>
        </p:spPr>
      </p:cxnSp>
      <p:sp>
        <p:nvSpPr>
          <p:cNvPr id="75" name="Google Shape;75;p12"/>
          <p:cNvSpPr txBox="1"/>
          <p:nvPr/>
        </p:nvSpPr>
        <p:spPr>
          <a:xfrm>
            <a:off x="8846400" y="1486700"/>
            <a:ext cx="3090800" cy="868800"/>
          </a:xfrm>
          <a:prstGeom prst="rect">
            <a:avLst/>
          </a:prstGeom>
          <a:solidFill>
            <a:srgbClr val="6AA84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r>
              <a:rPr lang="en" sz="2400"/>
              <a:t>we implement this with hash pointers</a:t>
            </a:r>
            <a:endParaRPr sz="2400"/>
          </a:p>
        </p:txBody>
      </p:sp>
      <p:cxnSp>
        <p:nvCxnSpPr>
          <p:cNvPr id="76" name="Google Shape;76;p12"/>
          <p:cNvCxnSpPr/>
          <p:nvPr/>
        </p:nvCxnSpPr>
        <p:spPr>
          <a:xfrm rot="10800000" flipH="1">
            <a:off x="3328833" y="3076567"/>
            <a:ext cx="579200" cy="554400"/>
          </a:xfrm>
          <a:prstGeom prst="straightConnector1">
            <a:avLst/>
          </a:prstGeom>
          <a:noFill/>
          <a:ln w="19050" cap="flat" cmpd="sng">
            <a:solidFill>
              <a:srgbClr val="FF0000"/>
            </a:solidFill>
            <a:prstDash val="solid"/>
            <a:round/>
            <a:headEnd type="none" w="med" len="med"/>
            <a:tailEnd type="triangle" w="med" len="med"/>
          </a:ln>
        </p:spPr>
      </p:cxnSp>
      <p:cxnSp>
        <p:nvCxnSpPr>
          <p:cNvPr id="77" name="Google Shape;77;p12"/>
          <p:cNvCxnSpPr/>
          <p:nvPr/>
        </p:nvCxnSpPr>
        <p:spPr>
          <a:xfrm rot="10800000" flipH="1">
            <a:off x="3274600" y="1968000"/>
            <a:ext cx="584000" cy="376400"/>
          </a:xfrm>
          <a:prstGeom prst="straightConnector1">
            <a:avLst/>
          </a:prstGeom>
          <a:noFill/>
          <a:ln w="19050" cap="flat" cmpd="sng">
            <a:solidFill>
              <a:srgbClr val="FF0000"/>
            </a:solidFill>
            <a:prstDash val="solid"/>
            <a:round/>
            <a:headEnd type="none" w="med" len="med"/>
            <a:tailEnd type="triangle" w="med" len="med"/>
          </a:ln>
        </p:spPr>
      </p:cxnSp>
      <p:sp>
        <p:nvSpPr>
          <p:cNvPr id="78" name="Google Shape;78;p12"/>
          <p:cNvSpPr/>
          <p:nvPr/>
        </p:nvSpPr>
        <p:spPr>
          <a:xfrm>
            <a:off x="5243967" y="1994367"/>
            <a:ext cx="2959200" cy="699200"/>
          </a:xfrm>
          <a:prstGeom prst="wedgeEllipseCallout">
            <a:avLst>
              <a:gd name="adj1" fmla="val -20833"/>
              <a:gd name="adj2" fmla="val 62500"/>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change address</a:t>
            </a:r>
            <a:endParaRPr sz="2400"/>
          </a:p>
        </p:txBody>
      </p:sp>
      <p:sp>
        <p:nvSpPr>
          <p:cNvPr id="79" name="Google Shape;79;p12"/>
          <p:cNvSpPr txBox="1"/>
          <p:nvPr/>
        </p:nvSpPr>
        <p:spPr>
          <a:xfrm>
            <a:off x="1160367" y="1096367"/>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1</a:t>
            </a:r>
            <a:endParaRPr sz="2400" b="1">
              <a:latin typeface="Courier New"/>
              <a:ea typeface="Courier New"/>
              <a:cs typeface="Courier New"/>
              <a:sym typeface="Courier New"/>
            </a:endParaRPr>
          </a:p>
        </p:txBody>
      </p:sp>
      <p:sp>
        <p:nvSpPr>
          <p:cNvPr id="80" name="Google Shape;80;p12"/>
          <p:cNvSpPr txBox="1"/>
          <p:nvPr/>
        </p:nvSpPr>
        <p:spPr>
          <a:xfrm>
            <a:off x="1160367" y="2239567"/>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2</a:t>
            </a:r>
            <a:endParaRPr sz="2400" b="1">
              <a:latin typeface="Courier New"/>
              <a:ea typeface="Courier New"/>
              <a:cs typeface="Courier New"/>
              <a:sym typeface="Courier New"/>
            </a:endParaRPr>
          </a:p>
        </p:txBody>
      </p:sp>
      <p:sp>
        <p:nvSpPr>
          <p:cNvPr id="81" name="Google Shape;81;p12"/>
          <p:cNvSpPr txBox="1"/>
          <p:nvPr/>
        </p:nvSpPr>
        <p:spPr>
          <a:xfrm>
            <a:off x="1160367" y="3490900"/>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3</a:t>
            </a:r>
            <a:endParaRPr sz="2400" b="1">
              <a:latin typeface="Courier New"/>
              <a:ea typeface="Courier New"/>
              <a:cs typeface="Courier New"/>
              <a:sym typeface="Courier New"/>
            </a:endParaRPr>
          </a:p>
        </p:txBody>
      </p:sp>
      <p:sp>
        <p:nvSpPr>
          <p:cNvPr id="82" name="Google Shape;82;p12"/>
          <p:cNvSpPr txBox="1"/>
          <p:nvPr/>
        </p:nvSpPr>
        <p:spPr>
          <a:xfrm>
            <a:off x="1160367" y="4742233"/>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4</a:t>
            </a:r>
            <a:endParaRPr sz="2400" b="1">
              <a:latin typeface="Courier New"/>
              <a:ea typeface="Courier New"/>
              <a:cs typeface="Courier New"/>
              <a:sym typeface="Courier New"/>
            </a:endParaRPr>
          </a:p>
        </p:txBody>
      </p:sp>
    </p:spTree>
    <p:extLst>
      <p:ext uri="{BB962C8B-B14F-4D97-AF65-F5344CB8AC3E}">
        <p14:creationId xmlns:p14="http://schemas.microsoft.com/office/powerpoint/2010/main" val="182679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0"/>
                                        <p:tgtEl>
                                          <p:spTgt spid="65"/>
                                        </p:tgtEl>
                                      </p:cBhvr>
                                    </p:animEffect>
                                  </p:childTnLst>
                                </p:cTn>
                              </p:par>
                              <p:par>
                                <p:cTn id="8" presetID="10" presetClass="entr" presetSubtype="0" fill="hold"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fade">
                                      <p:cBhvr>
                                        <p:cTn id="10" dur="1000"/>
                                        <p:tgtEl>
                                          <p:spTgt spid="8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fade">
                                      <p:cBhvr>
                                        <p:cTn id="15" dur="1000"/>
                                        <p:tgtEl>
                                          <p:spTgt spid="7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1"/>
                                        </p:tgtEl>
                                        <p:attrNameLst>
                                          <p:attrName>style.visibility</p:attrName>
                                        </p:attrNameLst>
                                      </p:cBhvr>
                                      <p:to>
                                        <p:strVal val="visible"/>
                                      </p:to>
                                    </p:set>
                                    <p:animEffect transition="in" filter="fade">
                                      <p:cBhvr>
                                        <p:cTn id="20" dur="1000"/>
                                        <p:tgtEl>
                                          <p:spTgt spid="71"/>
                                        </p:tgtEl>
                                      </p:cBhvr>
                                    </p:animEffect>
                                  </p:childTnLst>
                                </p:cTn>
                              </p:par>
                              <p:par>
                                <p:cTn id="21" presetID="10" presetClass="entr" presetSubtype="0" fill="hold"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fade">
                                      <p:cBhvr>
                                        <p:cTn id="23" dur="1000"/>
                                        <p:tgtEl>
                                          <p:spTgt spid="81"/>
                                        </p:tgtEl>
                                      </p:cBhvr>
                                    </p:animEffect>
                                  </p:childTnLst>
                                </p:cTn>
                              </p:par>
                              <p:par>
                                <p:cTn id="24" presetID="10" presetClass="exit" presetSubtype="0" fill="hold" nodeType="withEffect">
                                  <p:stCondLst>
                                    <p:cond delay="0"/>
                                  </p:stCondLst>
                                  <p:childTnLst>
                                    <p:animEffect transition="out" filter="fade">
                                      <p:cBhvr>
                                        <p:cTn id="25" dur="1000"/>
                                        <p:tgtEl>
                                          <p:spTgt spid="78"/>
                                        </p:tgtEl>
                                      </p:cBhvr>
                                    </p:animEffect>
                                    <p:set>
                                      <p:cBhvr>
                                        <p:cTn id="26" dur="1" fill="hold">
                                          <p:stCondLst>
                                            <p:cond delay="1000"/>
                                          </p:stCondLst>
                                        </p:cTn>
                                        <p:tgtEl>
                                          <p:spTgt spid="7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fade">
                                      <p:cBhvr>
                                        <p:cTn id="31" dur="1000"/>
                                        <p:tgtEl>
                                          <p:spTgt spid="72"/>
                                        </p:tgtEl>
                                      </p:cBhvr>
                                    </p:animEffect>
                                  </p:childTnLst>
                                </p:cTn>
                              </p:par>
                              <p:par>
                                <p:cTn id="32" presetID="10" presetClass="entr" presetSubtype="0" fill="hold" nodeType="withEffect">
                                  <p:stCondLst>
                                    <p:cond delay="0"/>
                                  </p:stCondLst>
                                  <p:childTnLst>
                                    <p:set>
                                      <p:cBhvr>
                                        <p:cTn id="33" dur="1" fill="hold">
                                          <p:stCondLst>
                                            <p:cond delay="0"/>
                                          </p:stCondLst>
                                        </p:cTn>
                                        <p:tgtEl>
                                          <p:spTgt spid="82"/>
                                        </p:tgtEl>
                                        <p:attrNameLst>
                                          <p:attrName>style.visibility</p:attrName>
                                        </p:attrNameLst>
                                      </p:cBhvr>
                                      <p:to>
                                        <p:strVal val="visible"/>
                                      </p:to>
                                    </p:set>
                                    <p:animEffect transition="in" filter="fade">
                                      <p:cBhvr>
                                        <p:cTn id="34" dur="1000"/>
                                        <p:tgtEl>
                                          <p:spTgt spid="82"/>
                                        </p:tgtEl>
                                      </p:cBhvr>
                                    </p:animEffect>
                                  </p:childTnLst>
                                </p:cTn>
                              </p:par>
                              <p:par>
                                <p:cTn id="35" presetID="10" presetClass="entr" presetSubtype="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10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fade">
                                      <p:cBhvr>
                                        <p:cTn id="42" dur="1000"/>
                                        <p:tgtEl>
                                          <p:spTgt spid="70"/>
                                        </p:tgtEl>
                                      </p:cBhvr>
                                    </p:animEffect>
                                  </p:childTnLst>
                                </p:cTn>
                              </p:par>
                              <p:par>
                                <p:cTn id="43" presetID="10" presetClass="entr" presetSubtype="0" fill="hold" nodeType="with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fade">
                                      <p:cBhvr>
                                        <p:cTn id="45" dur="1000"/>
                                        <p:tgtEl>
                                          <p:spTgt spid="7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fade">
                                      <p:cBhvr>
                                        <p:cTn id="50" dur="1000"/>
                                        <p:tgtEl>
                                          <p:spTgt spid="73"/>
                                        </p:tgtEl>
                                      </p:cBhvr>
                                    </p:animEffect>
                                  </p:childTnLst>
                                </p:cTn>
                              </p:par>
                              <p:par>
                                <p:cTn id="51" presetID="10" presetClass="entr" presetSubtype="0" fill="hold" nodeType="withEffect">
                                  <p:stCondLst>
                                    <p:cond delay="0"/>
                                  </p:stCondLst>
                                  <p:childTnLst>
                                    <p:set>
                                      <p:cBhvr>
                                        <p:cTn id="52" dur="1" fill="hold">
                                          <p:stCondLst>
                                            <p:cond delay="0"/>
                                          </p:stCondLst>
                                        </p:cTn>
                                        <p:tgtEl>
                                          <p:spTgt spid="76"/>
                                        </p:tgtEl>
                                        <p:attrNameLst>
                                          <p:attrName>style.visibility</p:attrName>
                                        </p:attrNameLst>
                                      </p:cBhvr>
                                      <p:to>
                                        <p:strVal val="visible"/>
                                      </p:to>
                                    </p:set>
                                    <p:animEffect transition="in" filter="fade">
                                      <p:cBhvr>
                                        <p:cTn id="53" dur="1000"/>
                                        <p:tgtEl>
                                          <p:spTgt spid="76"/>
                                        </p:tgtEl>
                                      </p:cBhvr>
                                    </p:animEffect>
                                  </p:childTnLst>
                                </p:cTn>
                              </p:par>
                              <p:par>
                                <p:cTn id="54" presetID="10" presetClass="entr" presetSubtype="0" fill="hold" nodeType="withEffect">
                                  <p:stCondLst>
                                    <p:cond delay="0"/>
                                  </p:stCondLst>
                                  <p:childTnLst>
                                    <p:set>
                                      <p:cBhvr>
                                        <p:cTn id="55" dur="1" fill="hold">
                                          <p:stCondLst>
                                            <p:cond delay="0"/>
                                          </p:stCondLst>
                                        </p:cTn>
                                        <p:tgtEl>
                                          <p:spTgt spid="77"/>
                                        </p:tgtEl>
                                        <p:attrNameLst>
                                          <p:attrName>style.visibility</p:attrName>
                                        </p:attrNameLst>
                                      </p:cBhvr>
                                      <p:to>
                                        <p:strVal val="visible"/>
                                      </p:to>
                                    </p:set>
                                    <p:animEffect transition="in" filter="fade">
                                      <p:cBhvr>
                                        <p:cTn id="56" dur="1000"/>
                                        <p:tgtEl>
                                          <p:spTgt spid="77"/>
                                        </p:tgtEl>
                                      </p:cBhvr>
                                    </p:animEffect>
                                  </p:childTnLst>
                                </p:cTn>
                              </p:par>
                              <p:par>
                                <p:cTn id="57" presetID="10" presetClass="entr" presetSubtype="0" fill="hold" nodeType="withEffect">
                                  <p:stCondLst>
                                    <p:cond delay="0"/>
                                  </p:stCondLst>
                                  <p:childTnLst>
                                    <p:set>
                                      <p:cBhvr>
                                        <p:cTn id="58" dur="1" fill="hold">
                                          <p:stCondLst>
                                            <p:cond delay="0"/>
                                          </p:stCondLst>
                                        </p:cTn>
                                        <p:tgtEl>
                                          <p:spTgt spid="75"/>
                                        </p:tgtEl>
                                        <p:attrNameLst>
                                          <p:attrName>style.visibility</p:attrName>
                                        </p:attrNameLst>
                                      </p:cBhvr>
                                      <p:to>
                                        <p:strVal val="visible"/>
                                      </p:to>
                                    </p:set>
                                    <p:animEffect transition="in" filter="fade">
                                      <p:cBhvr>
                                        <p:cTn id="59" dur="13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title"/>
          </p:nvPr>
        </p:nvSpPr>
        <p:spPr>
          <a:xfrm>
            <a:off x="609600" y="53837"/>
            <a:ext cx="10972800" cy="1143200"/>
          </a:xfrm>
          <a:prstGeom prst="rect">
            <a:avLst/>
          </a:prstGeom>
        </p:spPr>
        <p:txBody>
          <a:bodyPr spcFirstLastPara="1" vert="horz" wrap="square" lIns="121900" tIns="121900" rIns="121900" bIns="121900" rtlCol="0" anchor="b" anchorCtr="0">
            <a:noAutofit/>
          </a:bodyPr>
          <a:lstStyle/>
          <a:p>
            <a:r>
              <a:rPr lang="en"/>
              <a:t>Merging value</a:t>
            </a:r>
            <a:endParaRPr>
              <a:latin typeface="Trebuchet MS"/>
              <a:ea typeface="Trebuchet MS"/>
              <a:cs typeface="Trebuchet MS"/>
              <a:sym typeface="Trebuchet MS"/>
            </a:endParaRPr>
          </a:p>
        </p:txBody>
      </p:sp>
      <p:sp>
        <p:nvSpPr>
          <p:cNvPr id="88" name="Google Shape;88;p13"/>
          <p:cNvSpPr/>
          <p:nvPr/>
        </p:nvSpPr>
        <p:spPr>
          <a:xfrm>
            <a:off x="1160367" y="1589251"/>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17.0→Bob, 8.0→Alice</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SIGNED(Alice)</a:t>
            </a:r>
            <a:endParaRPr sz="1333">
              <a:solidFill>
                <a:schemeClr val="dk1"/>
              </a:solidFill>
              <a:latin typeface="Trebuchet MS"/>
              <a:ea typeface="Trebuchet MS"/>
              <a:cs typeface="Trebuchet MS"/>
              <a:sym typeface="Trebuchet MS"/>
            </a:endParaRPr>
          </a:p>
        </p:txBody>
      </p:sp>
      <p:sp>
        <p:nvSpPr>
          <p:cNvPr id="89" name="Google Shape;89;p13"/>
          <p:cNvSpPr/>
          <p:nvPr/>
        </p:nvSpPr>
        <p:spPr>
          <a:xfrm>
            <a:off x="3144000" y="6085233"/>
            <a:ext cx="5904000" cy="702400"/>
          </a:xfrm>
          <a:prstGeom prst="roundRect">
            <a:avLst>
              <a:gd name="adj" fmla="val 16667"/>
            </a:avLst>
          </a:prstGeom>
          <a:solidFill>
            <a:srgbClr val="E6B8AF"/>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latin typeface="Trebuchet MS"/>
                <a:ea typeface="Trebuchet MS"/>
                <a:cs typeface="Trebuchet MS"/>
                <a:sym typeface="Trebuchet MS"/>
              </a:rPr>
              <a:t>SIMPLIFICATION: only one transaction per block</a:t>
            </a:r>
            <a:endParaRPr sz="2400">
              <a:latin typeface="Trebuchet MS"/>
              <a:ea typeface="Trebuchet MS"/>
              <a:cs typeface="Trebuchet MS"/>
              <a:sym typeface="Trebuchet MS"/>
            </a:endParaRPr>
          </a:p>
        </p:txBody>
      </p:sp>
      <p:cxnSp>
        <p:nvCxnSpPr>
          <p:cNvPr id="90" name="Google Shape;90;p13"/>
          <p:cNvCxnSpPr/>
          <p:nvPr/>
        </p:nvCxnSpPr>
        <p:spPr>
          <a:xfrm>
            <a:off x="539800" y="1800433"/>
            <a:ext cx="0" cy="3521200"/>
          </a:xfrm>
          <a:prstGeom prst="straightConnector1">
            <a:avLst/>
          </a:prstGeom>
          <a:noFill/>
          <a:ln w="19050" cap="flat" cmpd="sng">
            <a:solidFill>
              <a:schemeClr val="dk2"/>
            </a:solidFill>
            <a:prstDash val="solid"/>
            <a:round/>
            <a:headEnd type="none" w="med" len="med"/>
            <a:tailEnd type="triangle" w="med" len="med"/>
          </a:ln>
        </p:spPr>
      </p:cxnSp>
      <p:sp>
        <p:nvSpPr>
          <p:cNvPr id="91" name="Google Shape;91;p13"/>
          <p:cNvSpPr txBox="1"/>
          <p:nvPr/>
        </p:nvSpPr>
        <p:spPr>
          <a:xfrm>
            <a:off x="165533" y="1337233"/>
            <a:ext cx="797600" cy="463200"/>
          </a:xfrm>
          <a:prstGeom prst="rect">
            <a:avLst/>
          </a:prstGeom>
          <a:noFill/>
          <a:ln>
            <a:noFill/>
          </a:ln>
        </p:spPr>
        <p:txBody>
          <a:bodyPr spcFirstLastPara="1" wrap="square" lIns="121900" tIns="121900" rIns="121900" bIns="121900" anchor="t" anchorCtr="0">
            <a:noAutofit/>
          </a:bodyPr>
          <a:lstStyle/>
          <a:p>
            <a:r>
              <a:rPr lang="en" sz="2400"/>
              <a:t>time</a:t>
            </a:r>
            <a:endParaRPr sz="2400"/>
          </a:p>
        </p:txBody>
      </p:sp>
      <p:sp>
        <p:nvSpPr>
          <p:cNvPr id="92" name="Google Shape;92;p13"/>
          <p:cNvSpPr/>
          <p:nvPr/>
        </p:nvSpPr>
        <p:spPr>
          <a:xfrm>
            <a:off x="1160367" y="3126300"/>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1[1]</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6.0→Carol, 2.0→Bob</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SIGNED(Carol)</a:t>
            </a:r>
            <a:endParaRPr sz="1333">
              <a:solidFill>
                <a:schemeClr val="dk1"/>
              </a:solidFill>
              <a:latin typeface="Trebuchet MS"/>
              <a:ea typeface="Trebuchet MS"/>
              <a:cs typeface="Trebuchet MS"/>
              <a:sym typeface="Trebuchet MS"/>
            </a:endParaRPr>
          </a:p>
        </p:txBody>
      </p:sp>
      <p:sp>
        <p:nvSpPr>
          <p:cNvPr id="93" name="Google Shape;93;p13"/>
          <p:cNvSpPr/>
          <p:nvPr/>
        </p:nvSpPr>
        <p:spPr>
          <a:xfrm>
            <a:off x="1160367" y="4742233"/>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1[0], 2[1]</a:t>
            </a:r>
            <a:endParaRPr sz="2400">
              <a:solidFill>
                <a:schemeClr val="dk1"/>
              </a:solidFill>
              <a:latin typeface="Trebuchet MS"/>
              <a:ea typeface="Trebuchet MS"/>
              <a:cs typeface="Trebuchet MS"/>
              <a:sym typeface="Trebuchet MS"/>
            </a:endParaRPr>
          </a:p>
          <a:p>
            <a:pPr indent="609585">
              <a:lnSpc>
                <a:spcPct val="150000"/>
              </a:lnSpc>
            </a:pPr>
            <a:r>
              <a:rPr lang="en" sz="2400">
                <a:solidFill>
                  <a:schemeClr val="dk1"/>
                </a:solidFill>
                <a:latin typeface="Trebuchet MS"/>
                <a:ea typeface="Trebuchet MS"/>
                <a:cs typeface="Trebuchet MS"/>
                <a:sym typeface="Trebuchet MS"/>
              </a:rPr>
              <a:t>Outputs: 19.0→Bob</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SIGNED(Bob)</a:t>
            </a:r>
            <a:endParaRPr sz="1333">
              <a:solidFill>
                <a:schemeClr val="dk1"/>
              </a:solidFill>
              <a:latin typeface="Trebuchet MS"/>
              <a:ea typeface="Trebuchet MS"/>
              <a:cs typeface="Trebuchet MS"/>
              <a:sym typeface="Trebuchet MS"/>
            </a:endParaRPr>
          </a:p>
        </p:txBody>
      </p:sp>
      <p:cxnSp>
        <p:nvCxnSpPr>
          <p:cNvPr id="94" name="Google Shape;94;p13"/>
          <p:cNvCxnSpPr/>
          <p:nvPr/>
        </p:nvCxnSpPr>
        <p:spPr>
          <a:xfrm rot="10800000" flipH="1">
            <a:off x="3201967" y="2541233"/>
            <a:ext cx="478000" cy="2247200"/>
          </a:xfrm>
          <a:prstGeom prst="straightConnector1">
            <a:avLst/>
          </a:prstGeom>
          <a:noFill/>
          <a:ln w="19050" cap="flat" cmpd="sng">
            <a:solidFill>
              <a:srgbClr val="FF0000"/>
            </a:solidFill>
            <a:prstDash val="solid"/>
            <a:round/>
            <a:headEnd type="none" w="med" len="med"/>
            <a:tailEnd type="triangle" w="med" len="med"/>
          </a:ln>
        </p:spPr>
      </p:cxnSp>
      <p:cxnSp>
        <p:nvCxnSpPr>
          <p:cNvPr id="95" name="Google Shape;95;p13"/>
          <p:cNvCxnSpPr/>
          <p:nvPr/>
        </p:nvCxnSpPr>
        <p:spPr>
          <a:xfrm rot="10800000" flipH="1">
            <a:off x="3995100" y="4005400"/>
            <a:ext cx="1626800" cy="793200"/>
          </a:xfrm>
          <a:prstGeom prst="straightConnector1">
            <a:avLst/>
          </a:prstGeom>
          <a:noFill/>
          <a:ln w="19050" cap="flat" cmpd="sng">
            <a:solidFill>
              <a:srgbClr val="FF0000"/>
            </a:solidFill>
            <a:prstDash val="solid"/>
            <a:round/>
            <a:headEnd type="none" w="med" len="med"/>
            <a:tailEnd type="triangle" w="med" len="med"/>
          </a:ln>
        </p:spPr>
      </p:cxnSp>
      <p:sp>
        <p:nvSpPr>
          <p:cNvPr id="96" name="Google Shape;96;p13"/>
          <p:cNvSpPr txBox="1"/>
          <p:nvPr/>
        </p:nvSpPr>
        <p:spPr>
          <a:xfrm>
            <a:off x="1263633" y="2748100"/>
            <a:ext cx="454000" cy="306800"/>
          </a:xfrm>
          <a:prstGeom prst="rect">
            <a:avLst/>
          </a:prstGeom>
          <a:noFill/>
          <a:ln>
            <a:noFill/>
          </a:ln>
        </p:spPr>
        <p:txBody>
          <a:bodyPr spcFirstLastPara="1" wrap="square" lIns="121900" tIns="121900" rIns="121900" bIns="121900" anchor="ctr" anchorCtr="0">
            <a:noAutofit/>
          </a:bodyPr>
          <a:lstStyle/>
          <a:p>
            <a:r>
              <a:rPr lang="en" sz="2400"/>
              <a:t>...</a:t>
            </a:r>
            <a:endParaRPr sz="2400"/>
          </a:p>
        </p:txBody>
      </p:sp>
      <p:sp>
        <p:nvSpPr>
          <p:cNvPr id="97" name="Google Shape;97;p13"/>
          <p:cNvSpPr txBox="1"/>
          <p:nvPr/>
        </p:nvSpPr>
        <p:spPr>
          <a:xfrm>
            <a:off x="1263633" y="4371100"/>
            <a:ext cx="454000" cy="306800"/>
          </a:xfrm>
          <a:prstGeom prst="rect">
            <a:avLst/>
          </a:prstGeom>
          <a:noFill/>
          <a:ln>
            <a:noFill/>
          </a:ln>
        </p:spPr>
        <p:txBody>
          <a:bodyPr spcFirstLastPara="1" wrap="square" lIns="121900" tIns="121900" rIns="121900" bIns="121900" anchor="ctr" anchorCtr="0">
            <a:noAutofit/>
          </a:bodyPr>
          <a:lstStyle/>
          <a:p>
            <a:r>
              <a:rPr lang="en" sz="2400"/>
              <a:t>...</a:t>
            </a:r>
            <a:endParaRPr sz="2400"/>
          </a:p>
        </p:txBody>
      </p:sp>
      <p:sp>
        <p:nvSpPr>
          <p:cNvPr id="98" name="Google Shape;98;p13"/>
          <p:cNvSpPr txBox="1"/>
          <p:nvPr/>
        </p:nvSpPr>
        <p:spPr>
          <a:xfrm>
            <a:off x="1160367" y="1589267"/>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1</a:t>
            </a:r>
            <a:endParaRPr sz="2400" b="1">
              <a:latin typeface="Courier New"/>
              <a:ea typeface="Courier New"/>
              <a:cs typeface="Courier New"/>
              <a:sym typeface="Courier New"/>
            </a:endParaRPr>
          </a:p>
        </p:txBody>
      </p:sp>
      <p:sp>
        <p:nvSpPr>
          <p:cNvPr id="99" name="Google Shape;99;p13"/>
          <p:cNvSpPr txBox="1"/>
          <p:nvPr/>
        </p:nvSpPr>
        <p:spPr>
          <a:xfrm>
            <a:off x="1160367" y="3126300"/>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2</a:t>
            </a:r>
            <a:endParaRPr sz="2400" b="1">
              <a:latin typeface="Courier New"/>
              <a:ea typeface="Courier New"/>
              <a:cs typeface="Courier New"/>
              <a:sym typeface="Courier New"/>
            </a:endParaRPr>
          </a:p>
        </p:txBody>
      </p:sp>
      <p:sp>
        <p:nvSpPr>
          <p:cNvPr id="100" name="Google Shape;100;p13"/>
          <p:cNvSpPr txBox="1"/>
          <p:nvPr/>
        </p:nvSpPr>
        <p:spPr>
          <a:xfrm>
            <a:off x="1160367" y="4742233"/>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3</a:t>
            </a:r>
            <a:endParaRPr sz="2400" b="1">
              <a:latin typeface="Courier New"/>
              <a:ea typeface="Courier New"/>
              <a:cs typeface="Courier New"/>
              <a:sym typeface="Courier New"/>
            </a:endParaRPr>
          </a:p>
        </p:txBody>
      </p:sp>
    </p:spTree>
    <p:extLst>
      <p:ext uri="{BB962C8B-B14F-4D97-AF65-F5344CB8AC3E}">
        <p14:creationId xmlns:p14="http://schemas.microsoft.com/office/powerpoint/2010/main" val="361088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1000"/>
                                        <p:tgtEl>
                                          <p:spTgt spid="94"/>
                                        </p:tgtEl>
                                      </p:cBhvr>
                                    </p:animEffect>
                                  </p:childTnLst>
                                </p:cTn>
                              </p:par>
                              <p:par>
                                <p:cTn id="8" presetID="10" presetClass="entr" presetSubtype="0" fill="hold" nodeType="withEffect">
                                  <p:stCondLst>
                                    <p:cond delay="0"/>
                                  </p:stCondLst>
                                  <p:childTnLst>
                                    <p:set>
                                      <p:cBhvr>
                                        <p:cTn id="9" dur="1" fill="hold">
                                          <p:stCondLst>
                                            <p:cond delay="0"/>
                                          </p:stCondLst>
                                        </p:cTn>
                                        <p:tgtEl>
                                          <p:spTgt spid="95"/>
                                        </p:tgtEl>
                                        <p:attrNameLst>
                                          <p:attrName>style.visibility</p:attrName>
                                        </p:attrNameLst>
                                      </p:cBhvr>
                                      <p:to>
                                        <p:strVal val="visible"/>
                                      </p:to>
                                    </p:set>
                                    <p:animEffect transition="in" filter="fade">
                                      <p:cBhvr>
                                        <p:cTn id="10" dur="1000"/>
                                        <p:tgtEl>
                                          <p:spTgt spid="95"/>
                                        </p:tgtEl>
                                      </p:cBhvr>
                                    </p:animEffect>
                                  </p:childTnLst>
                                </p:cTn>
                              </p:par>
                              <p:par>
                                <p:cTn id="11" presetID="10" presetClass="entr" presetSubtype="0" fill="hold" nodeType="withEffect">
                                  <p:stCondLst>
                                    <p:cond delay="0"/>
                                  </p:stCondLst>
                                  <p:childTnLst>
                                    <p:set>
                                      <p:cBhvr>
                                        <p:cTn id="12" dur="1" fill="hold">
                                          <p:stCondLst>
                                            <p:cond delay="0"/>
                                          </p:stCondLst>
                                        </p:cTn>
                                        <p:tgtEl>
                                          <p:spTgt spid="93"/>
                                        </p:tgtEl>
                                        <p:attrNameLst>
                                          <p:attrName>style.visibility</p:attrName>
                                        </p:attrNameLst>
                                      </p:cBhvr>
                                      <p:to>
                                        <p:strVal val="visible"/>
                                      </p:to>
                                    </p:set>
                                    <p:animEffect transition="in" filter="fade">
                                      <p:cBhvr>
                                        <p:cTn id="13" dur="1000"/>
                                        <p:tgtEl>
                                          <p:spTgt spid="93"/>
                                        </p:tgtEl>
                                      </p:cBhvr>
                                    </p:animEffect>
                                  </p:childTnLst>
                                </p:cTn>
                              </p:par>
                              <p:par>
                                <p:cTn id="14" presetID="10" presetClass="entr" presetSubtype="0" fill="hold" nodeType="withEffect">
                                  <p:stCondLst>
                                    <p:cond delay="0"/>
                                  </p:stCondLst>
                                  <p:childTnLst>
                                    <p:set>
                                      <p:cBhvr>
                                        <p:cTn id="15" dur="1" fill="hold">
                                          <p:stCondLst>
                                            <p:cond delay="0"/>
                                          </p:stCondLst>
                                        </p:cTn>
                                        <p:tgtEl>
                                          <p:spTgt spid="100"/>
                                        </p:tgtEl>
                                        <p:attrNameLst>
                                          <p:attrName>style.visibility</p:attrName>
                                        </p:attrNameLst>
                                      </p:cBhvr>
                                      <p:to>
                                        <p:strVal val="visible"/>
                                      </p:to>
                                    </p:set>
                                    <p:animEffect transition="in" filter="fade">
                                      <p:cBhvr>
                                        <p:cTn id="16" dur="1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609600" y="53837"/>
            <a:ext cx="10972800" cy="1143200"/>
          </a:xfrm>
          <a:prstGeom prst="rect">
            <a:avLst/>
          </a:prstGeom>
        </p:spPr>
        <p:txBody>
          <a:bodyPr spcFirstLastPara="1" vert="horz" wrap="square" lIns="121900" tIns="121900" rIns="121900" bIns="121900" rtlCol="0" anchor="b" anchorCtr="0">
            <a:noAutofit/>
          </a:bodyPr>
          <a:lstStyle/>
          <a:p>
            <a:r>
              <a:rPr lang="en"/>
              <a:t>Joint payments</a:t>
            </a:r>
            <a:endParaRPr>
              <a:latin typeface="Trebuchet MS"/>
              <a:ea typeface="Trebuchet MS"/>
              <a:cs typeface="Trebuchet MS"/>
              <a:sym typeface="Trebuchet MS"/>
            </a:endParaRPr>
          </a:p>
        </p:txBody>
      </p:sp>
      <p:sp>
        <p:nvSpPr>
          <p:cNvPr id="106" name="Google Shape;106;p14"/>
          <p:cNvSpPr/>
          <p:nvPr/>
        </p:nvSpPr>
        <p:spPr>
          <a:xfrm>
            <a:off x="1160367" y="1589251"/>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17.0→Bob, 8.0→Alice</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SIGNED(Alice)</a:t>
            </a:r>
            <a:endParaRPr sz="1333">
              <a:solidFill>
                <a:schemeClr val="dk1"/>
              </a:solidFill>
              <a:latin typeface="Trebuchet MS"/>
              <a:ea typeface="Trebuchet MS"/>
              <a:cs typeface="Trebuchet MS"/>
              <a:sym typeface="Trebuchet MS"/>
            </a:endParaRPr>
          </a:p>
        </p:txBody>
      </p:sp>
      <p:sp>
        <p:nvSpPr>
          <p:cNvPr id="107" name="Google Shape;107;p14"/>
          <p:cNvSpPr/>
          <p:nvPr/>
        </p:nvSpPr>
        <p:spPr>
          <a:xfrm>
            <a:off x="3144000" y="6085233"/>
            <a:ext cx="5904000" cy="702400"/>
          </a:xfrm>
          <a:prstGeom prst="roundRect">
            <a:avLst>
              <a:gd name="adj" fmla="val 16667"/>
            </a:avLst>
          </a:prstGeom>
          <a:solidFill>
            <a:srgbClr val="E6B8AF"/>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latin typeface="Trebuchet MS"/>
                <a:ea typeface="Trebuchet MS"/>
                <a:cs typeface="Trebuchet MS"/>
                <a:sym typeface="Trebuchet MS"/>
              </a:rPr>
              <a:t>SIMPLIFICATION: only one transaction per block</a:t>
            </a:r>
            <a:endParaRPr sz="2400">
              <a:latin typeface="Trebuchet MS"/>
              <a:ea typeface="Trebuchet MS"/>
              <a:cs typeface="Trebuchet MS"/>
              <a:sym typeface="Trebuchet MS"/>
            </a:endParaRPr>
          </a:p>
        </p:txBody>
      </p:sp>
      <p:cxnSp>
        <p:nvCxnSpPr>
          <p:cNvPr id="108" name="Google Shape;108;p14"/>
          <p:cNvCxnSpPr/>
          <p:nvPr/>
        </p:nvCxnSpPr>
        <p:spPr>
          <a:xfrm>
            <a:off x="539800" y="1800433"/>
            <a:ext cx="0" cy="3521200"/>
          </a:xfrm>
          <a:prstGeom prst="straightConnector1">
            <a:avLst/>
          </a:prstGeom>
          <a:noFill/>
          <a:ln w="19050" cap="flat" cmpd="sng">
            <a:solidFill>
              <a:schemeClr val="dk2"/>
            </a:solidFill>
            <a:prstDash val="solid"/>
            <a:round/>
            <a:headEnd type="none" w="med" len="med"/>
            <a:tailEnd type="triangle" w="med" len="med"/>
          </a:ln>
        </p:spPr>
      </p:cxnSp>
      <p:sp>
        <p:nvSpPr>
          <p:cNvPr id="109" name="Google Shape;109;p14"/>
          <p:cNvSpPr txBox="1"/>
          <p:nvPr/>
        </p:nvSpPr>
        <p:spPr>
          <a:xfrm>
            <a:off x="165533" y="1337233"/>
            <a:ext cx="797600" cy="463200"/>
          </a:xfrm>
          <a:prstGeom prst="rect">
            <a:avLst/>
          </a:prstGeom>
          <a:noFill/>
          <a:ln>
            <a:noFill/>
          </a:ln>
        </p:spPr>
        <p:txBody>
          <a:bodyPr spcFirstLastPara="1" wrap="square" lIns="121900" tIns="121900" rIns="121900" bIns="121900" anchor="t" anchorCtr="0">
            <a:noAutofit/>
          </a:bodyPr>
          <a:lstStyle/>
          <a:p>
            <a:r>
              <a:rPr lang="en" sz="2400"/>
              <a:t>time</a:t>
            </a:r>
            <a:endParaRPr sz="2400"/>
          </a:p>
        </p:txBody>
      </p:sp>
      <p:sp>
        <p:nvSpPr>
          <p:cNvPr id="110" name="Google Shape;110;p14"/>
          <p:cNvSpPr/>
          <p:nvPr/>
        </p:nvSpPr>
        <p:spPr>
          <a:xfrm>
            <a:off x="1160367" y="3126300"/>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1[1]</a:t>
            </a:r>
            <a:endParaRPr sz="2400" baseline="-25000">
              <a:solidFill>
                <a:schemeClr val="dk1"/>
              </a:solidFill>
              <a:latin typeface="Trebuchet MS"/>
              <a:ea typeface="Trebuchet MS"/>
              <a:cs typeface="Trebuchet MS"/>
              <a:sym typeface="Trebuchet MS"/>
            </a:endParaRPr>
          </a:p>
          <a:p>
            <a:pPr indent="609585">
              <a:lnSpc>
                <a:spcPct val="115000"/>
              </a:lnSpc>
            </a:pPr>
            <a:r>
              <a:rPr lang="en" sz="2400">
                <a:solidFill>
                  <a:schemeClr val="dk1"/>
                </a:solidFill>
                <a:latin typeface="Trebuchet MS"/>
                <a:ea typeface="Trebuchet MS"/>
                <a:cs typeface="Trebuchet MS"/>
                <a:sym typeface="Trebuchet MS"/>
              </a:rPr>
              <a:t>Outputs: 6.0→Carol, 2.0→Bob</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SIGNED(Carol)</a:t>
            </a:r>
            <a:endParaRPr sz="1333">
              <a:solidFill>
                <a:schemeClr val="dk1"/>
              </a:solidFill>
              <a:latin typeface="Trebuchet MS"/>
              <a:ea typeface="Trebuchet MS"/>
              <a:cs typeface="Trebuchet MS"/>
              <a:sym typeface="Trebuchet MS"/>
            </a:endParaRPr>
          </a:p>
        </p:txBody>
      </p:sp>
      <p:sp>
        <p:nvSpPr>
          <p:cNvPr id="111" name="Google Shape;111;p14"/>
          <p:cNvSpPr/>
          <p:nvPr/>
        </p:nvSpPr>
        <p:spPr>
          <a:xfrm>
            <a:off x="1160367" y="4742233"/>
            <a:ext cx="7488800" cy="1244800"/>
          </a:xfrm>
          <a:prstGeom prst="rect">
            <a:avLst/>
          </a:prstGeom>
          <a:solidFill>
            <a:srgbClr val="CCCCCC"/>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indent="609585">
              <a:lnSpc>
                <a:spcPct val="150000"/>
              </a:lnSpc>
            </a:pPr>
            <a:r>
              <a:rPr lang="en" sz="2400">
                <a:solidFill>
                  <a:schemeClr val="dk1"/>
                </a:solidFill>
                <a:latin typeface="Trebuchet MS"/>
                <a:ea typeface="Trebuchet MS"/>
                <a:cs typeface="Trebuchet MS"/>
                <a:sym typeface="Trebuchet MS"/>
              </a:rPr>
              <a:t>Inputs: 2[0], 2[1]</a:t>
            </a:r>
            <a:endParaRPr sz="2400">
              <a:solidFill>
                <a:schemeClr val="dk1"/>
              </a:solidFill>
              <a:latin typeface="Trebuchet MS"/>
              <a:ea typeface="Trebuchet MS"/>
              <a:cs typeface="Trebuchet MS"/>
              <a:sym typeface="Trebuchet MS"/>
            </a:endParaRPr>
          </a:p>
          <a:p>
            <a:pPr indent="609585">
              <a:lnSpc>
                <a:spcPct val="150000"/>
              </a:lnSpc>
            </a:pPr>
            <a:r>
              <a:rPr lang="en" sz="2400">
                <a:solidFill>
                  <a:schemeClr val="dk1"/>
                </a:solidFill>
                <a:latin typeface="Trebuchet MS"/>
                <a:ea typeface="Trebuchet MS"/>
                <a:cs typeface="Trebuchet MS"/>
                <a:sym typeface="Trebuchet MS"/>
              </a:rPr>
              <a:t>Outputs: 8.0→David</a:t>
            </a:r>
            <a:endParaRPr sz="24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SIGNED(Carol), SIGNED(Bob)</a:t>
            </a:r>
            <a:endParaRPr sz="1333">
              <a:solidFill>
                <a:schemeClr val="dk1"/>
              </a:solidFill>
              <a:latin typeface="Trebuchet MS"/>
              <a:ea typeface="Trebuchet MS"/>
              <a:cs typeface="Trebuchet MS"/>
              <a:sym typeface="Trebuchet MS"/>
            </a:endParaRPr>
          </a:p>
        </p:txBody>
      </p:sp>
      <p:cxnSp>
        <p:nvCxnSpPr>
          <p:cNvPr id="112" name="Google Shape;112;p14"/>
          <p:cNvCxnSpPr/>
          <p:nvPr/>
        </p:nvCxnSpPr>
        <p:spPr>
          <a:xfrm rot="10800000" flipH="1">
            <a:off x="3242633" y="4046567"/>
            <a:ext cx="538800" cy="701200"/>
          </a:xfrm>
          <a:prstGeom prst="straightConnector1">
            <a:avLst/>
          </a:prstGeom>
          <a:noFill/>
          <a:ln w="19050" cap="flat" cmpd="sng">
            <a:solidFill>
              <a:srgbClr val="FF0000"/>
            </a:solidFill>
            <a:prstDash val="solid"/>
            <a:round/>
            <a:headEnd type="none" w="med" len="med"/>
            <a:tailEnd type="triangle" w="med" len="med"/>
          </a:ln>
        </p:spPr>
      </p:cxnSp>
      <p:cxnSp>
        <p:nvCxnSpPr>
          <p:cNvPr id="113" name="Google Shape;113;p14"/>
          <p:cNvCxnSpPr/>
          <p:nvPr/>
        </p:nvCxnSpPr>
        <p:spPr>
          <a:xfrm rot="10800000" flipH="1">
            <a:off x="3941767" y="3995267"/>
            <a:ext cx="1639600" cy="762000"/>
          </a:xfrm>
          <a:prstGeom prst="straightConnector1">
            <a:avLst/>
          </a:prstGeom>
          <a:noFill/>
          <a:ln w="19050" cap="flat" cmpd="sng">
            <a:solidFill>
              <a:srgbClr val="FF0000"/>
            </a:solidFill>
            <a:prstDash val="solid"/>
            <a:round/>
            <a:headEnd type="none" w="med" len="med"/>
            <a:tailEnd type="triangle" w="med" len="med"/>
          </a:ln>
        </p:spPr>
      </p:cxnSp>
      <p:sp>
        <p:nvSpPr>
          <p:cNvPr id="114" name="Google Shape;114;p14"/>
          <p:cNvSpPr txBox="1"/>
          <p:nvPr/>
        </p:nvSpPr>
        <p:spPr>
          <a:xfrm>
            <a:off x="1263633" y="2748100"/>
            <a:ext cx="454000" cy="306800"/>
          </a:xfrm>
          <a:prstGeom prst="rect">
            <a:avLst/>
          </a:prstGeom>
          <a:noFill/>
          <a:ln>
            <a:noFill/>
          </a:ln>
        </p:spPr>
        <p:txBody>
          <a:bodyPr spcFirstLastPara="1" wrap="square" lIns="121900" tIns="121900" rIns="121900" bIns="121900" anchor="ctr" anchorCtr="0">
            <a:noAutofit/>
          </a:bodyPr>
          <a:lstStyle/>
          <a:p>
            <a:r>
              <a:rPr lang="en" sz="2400"/>
              <a:t>...</a:t>
            </a:r>
            <a:endParaRPr sz="2400"/>
          </a:p>
        </p:txBody>
      </p:sp>
      <p:sp>
        <p:nvSpPr>
          <p:cNvPr id="115" name="Google Shape;115;p14"/>
          <p:cNvSpPr txBox="1"/>
          <p:nvPr/>
        </p:nvSpPr>
        <p:spPr>
          <a:xfrm>
            <a:off x="1263633" y="4371100"/>
            <a:ext cx="454000" cy="306800"/>
          </a:xfrm>
          <a:prstGeom prst="rect">
            <a:avLst/>
          </a:prstGeom>
          <a:noFill/>
          <a:ln>
            <a:noFill/>
          </a:ln>
        </p:spPr>
        <p:txBody>
          <a:bodyPr spcFirstLastPara="1" wrap="square" lIns="121900" tIns="121900" rIns="121900" bIns="121900" anchor="ctr" anchorCtr="0">
            <a:noAutofit/>
          </a:bodyPr>
          <a:lstStyle/>
          <a:p>
            <a:r>
              <a:rPr lang="en" sz="2400"/>
              <a:t>...</a:t>
            </a:r>
            <a:endParaRPr sz="2400"/>
          </a:p>
        </p:txBody>
      </p:sp>
      <p:sp>
        <p:nvSpPr>
          <p:cNvPr id="116" name="Google Shape;116;p14"/>
          <p:cNvSpPr/>
          <p:nvPr/>
        </p:nvSpPr>
        <p:spPr>
          <a:xfrm>
            <a:off x="5986933" y="4980933"/>
            <a:ext cx="2539600" cy="650400"/>
          </a:xfrm>
          <a:prstGeom prst="wedgeRectCallout">
            <a:avLst>
              <a:gd name="adj1" fmla="val -20833"/>
              <a:gd name="adj2" fmla="val 62500"/>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a:t>two signatures!</a:t>
            </a:r>
            <a:endParaRPr sz="2400"/>
          </a:p>
        </p:txBody>
      </p:sp>
      <p:sp>
        <p:nvSpPr>
          <p:cNvPr id="117" name="Google Shape;117;p14"/>
          <p:cNvSpPr txBox="1"/>
          <p:nvPr/>
        </p:nvSpPr>
        <p:spPr>
          <a:xfrm>
            <a:off x="1160367" y="1589267"/>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1</a:t>
            </a:r>
            <a:endParaRPr sz="2400" b="1">
              <a:latin typeface="Courier New"/>
              <a:ea typeface="Courier New"/>
              <a:cs typeface="Courier New"/>
              <a:sym typeface="Courier New"/>
            </a:endParaRPr>
          </a:p>
        </p:txBody>
      </p:sp>
      <p:sp>
        <p:nvSpPr>
          <p:cNvPr id="118" name="Google Shape;118;p14"/>
          <p:cNvSpPr txBox="1"/>
          <p:nvPr/>
        </p:nvSpPr>
        <p:spPr>
          <a:xfrm>
            <a:off x="1160367" y="3126300"/>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2</a:t>
            </a:r>
            <a:endParaRPr sz="2400" b="1">
              <a:latin typeface="Courier New"/>
              <a:ea typeface="Courier New"/>
              <a:cs typeface="Courier New"/>
              <a:sym typeface="Courier New"/>
            </a:endParaRPr>
          </a:p>
        </p:txBody>
      </p:sp>
      <p:sp>
        <p:nvSpPr>
          <p:cNvPr id="119" name="Google Shape;119;p14"/>
          <p:cNvSpPr txBox="1"/>
          <p:nvPr/>
        </p:nvSpPr>
        <p:spPr>
          <a:xfrm>
            <a:off x="1160367" y="4742233"/>
            <a:ext cx="451600" cy="463200"/>
          </a:xfrm>
          <a:prstGeom prst="rect">
            <a:avLst/>
          </a:prstGeom>
          <a:solidFill>
            <a:srgbClr val="00FF00"/>
          </a:solidFill>
          <a:ln w="9525" cap="flat" cmpd="sng">
            <a:solidFill>
              <a:srgbClr val="666666"/>
            </a:solidFill>
            <a:prstDash val="solid"/>
            <a:round/>
            <a:headEnd type="none" w="sm" len="sm"/>
            <a:tailEnd type="none" w="sm" len="sm"/>
          </a:ln>
        </p:spPr>
        <p:txBody>
          <a:bodyPr spcFirstLastPara="1" wrap="square" lIns="121900" tIns="121900" rIns="121900" bIns="121900" anchor="t" anchorCtr="0">
            <a:noAutofit/>
          </a:bodyPr>
          <a:lstStyle/>
          <a:p>
            <a:r>
              <a:rPr lang="en" sz="2400" b="1">
                <a:latin typeface="Courier New"/>
                <a:ea typeface="Courier New"/>
                <a:cs typeface="Courier New"/>
                <a:sym typeface="Courier New"/>
              </a:rPr>
              <a:t>3</a:t>
            </a:r>
            <a:endParaRPr sz="2400" b="1">
              <a:latin typeface="Courier New"/>
              <a:ea typeface="Courier New"/>
              <a:cs typeface="Courier New"/>
              <a:sym typeface="Courier New"/>
            </a:endParaRPr>
          </a:p>
        </p:txBody>
      </p:sp>
    </p:spTree>
    <p:extLst>
      <p:ext uri="{BB962C8B-B14F-4D97-AF65-F5344CB8AC3E}">
        <p14:creationId xmlns:p14="http://schemas.microsoft.com/office/powerpoint/2010/main" val="66502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1000"/>
                                        <p:tgtEl>
                                          <p:spTgt spid="112"/>
                                        </p:tgtEl>
                                      </p:cBhvr>
                                    </p:animEffect>
                                  </p:childTnLst>
                                </p:cTn>
                              </p:par>
                              <p:par>
                                <p:cTn id="8" presetID="10" presetClass="entr" presetSubtype="0" fill="hold" nodeType="withEffect">
                                  <p:stCondLst>
                                    <p:cond delay="0"/>
                                  </p:stCondLst>
                                  <p:childTnLst>
                                    <p:set>
                                      <p:cBhvr>
                                        <p:cTn id="9" dur="1" fill="hold">
                                          <p:stCondLst>
                                            <p:cond delay="0"/>
                                          </p:stCondLst>
                                        </p:cTn>
                                        <p:tgtEl>
                                          <p:spTgt spid="113"/>
                                        </p:tgtEl>
                                        <p:attrNameLst>
                                          <p:attrName>style.visibility</p:attrName>
                                        </p:attrNameLst>
                                      </p:cBhvr>
                                      <p:to>
                                        <p:strVal val="visible"/>
                                      </p:to>
                                    </p:set>
                                    <p:animEffect transition="in" filter="fade">
                                      <p:cBhvr>
                                        <p:cTn id="10" dur="1000"/>
                                        <p:tgtEl>
                                          <p:spTgt spid="113"/>
                                        </p:tgtEl>
                                      </p:cBhvr>
                                    </p:animEffect>
                                  </p:childTnLst>
                                </p:cTn>
                              </p:par>
                              <p:par>
                                <p:cTn id="11" presetID="10" presetClass="entr" presetSubtype="0" fill="hold"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fade">
                                      <p:cBhvr>
                                        <p:cTn id="13" dur="1000"/>
                                        <p:tgtEl>
                                          <p:spTgt spid="111"/>
                                        </p:tgtEl>
                                      </p:cBhvr>
                                    </p:animEffect>
                                  </p:childTnLst>
                                </p:cTn>
                              </p:par>
                              <p:par>
                                <p:cTn id="14" presetID="10" presetClass="entr" presetSubtype="0" fill="hold" nodeType="with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fade">
                                      <p:cBhvr>
                                        <p:cTn id="16" dur="10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6"/>
                                        </p:tgtEl>
                                        <p:attrNameLst>
                                          <p:attrName>style.visibility</p:attrName>
                                        </p:attrNameLst>
                                      </p:cBhvr>
                                      <p:to>
                                        <p:strVal val="visible"/>
                                      </p:to>
                                    </p:set>
                                    <p:animEffect transition="in" filter="fade">
                                      <p:cBhvr>
                                        <p:cTn id="21"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5"/>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The real deal: a Bitcoin transaction</a:t>
            </a:r>
            <a:endParaRPr>
              <a:latin typeface="Trebuchet MS"/>
              <a:ea typeface="Trebuchet MS"/>
              <a:cs typeface="Trebuchet MS"/>
              <a:sym typeface="Trebuchet MS"/>
            </a:endParaRPr>
          </a:p>
        </p:txBody>
      </p:sp>
      <p:sp>
        <p:nvSpPr>
          <p:cNvPr id="125" name="Google Shape;125;p15"/>
          <p:cNvSpPr txBox="1">
            <a:spLocks noGrp="1"/>
          </p:cNvSpPr>
          <p:nvPr>
            <p:ph type="body" idx="1"/>
          </p:nvPr>
        </p:nvSpPr>
        <p:spPr>
          <a:xfrm>
            <a:off x="2781100" y="1072600"/>
            <a:ext cx="10972800" cy="55276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Clr>
                <a:schemeClr val="dk1"/>
              </a:buClr>
              <a:buSzPts val="1100"/>
              <a:buNone/>
            </a:pPr>
            <a:r>
              <a:rPr lang="en" sz="1200" dirty="0"/>
              <a:t>{</a:t>
            </a:r>
            <a:br>
              <a:rPr lang="en" sz="1200" dirty="0"/>
            </a:br>
            <a:r>
              <a:rPr lang="en" sz="1200" dirty="0"/>
              <a:t>      "hash":"5a42590fbe0a90ee8e8747244d6c84f0db1a3a24e8f1b95b10c9e050990b8b6b",</a:t>
            </a:r>
            <a:br>
              <a:rPr lang="en" sz="1200" dirty="0"/>
            </a:br>
            <a:r>
              <a:rPr lang="en" sz="1200" dirty="0"/>
              <a:t>      "ver":1,</a:t>
            </a:r>
            <a:br>
              <a:rPr lang="en" sz="1200" dirty="0"/>
            </a:br>
            <a:r>
              <a:rPr lang="en" sz="1200" dirty="0"/>
              <a:t>      "vin_sz":2,</a:t>
            </a:r>
            <a:br>
              <a:rPr lang="en" sz="1200" dirty="0"/>
            </a:br>
            <a:r>
              <a:rPr lang="en" sz="1200" dirty="0"/>
              <a:t>      "vout_sz":1,</a:t>
            </a:r>
            <a:br>
              <a:rPr lang="en" sz="1200" dirty="0"/>
            </a:br>
            <a:r>
              <a:rPr lang="en" sz="1200" dirty="0"/>
              <a:t>      "lock_time":0,</a:t>
            </a:r>
            <a:br>
              <a:rPr lang="en" sz="1200" dirty="0"/>
            </a:br>
            <a:r>
              <a:rPr lang="en" sz="1200" dirty="0"/>
              <a:t>      "size":404,</a:t>
            </a:r>
            <a:br>
              <a:rPr lang="en" sz="1200" dirty="0"/>
            </a:br>
            <a:r>
              <a:rPr lang="en" sz="1200" dirty="0"/>
              <a:t>      "in":[</a:t>
            </a:r>
            <a:br>
              <a:rPr lang="en" sz="1200" dirty="0"/>
            </a:br>
            <a:r>
              <a:rPr lang="en" sz="1200" dirty="0"/>
              <a:t>        {</a:t>
            </a:r>
            <a:br>
              <a:rPr lang="en" sz="1200" dirty="0"/>
            </a:br>
            <a:r>
              <a:rPr lang="en" sz="1200" dirty="0"/>
              <a:t>          "prev_out":{</a:t>
            </a:r>
            <a:br>
              <a:rPr lang="en" sz="1200" dirty="0"/>
            </a:br>
            <a:r>
              <a:rPr lang="en" sz="1200" dirty="0"/>
              <a:t>            "hash":"3be4ac9728a0823cf5e2deb2e86fc0bd2aa503a91d307b42ba76117d79280260",</a:t>
            </a:r>
            <a:br>
              <a:rPr lang="en" sz="1200" dirty="0"/>
            </a:br>
            <a:r>
              <a:rPr lang="en" sz="1200" dirty="0"/>
              <a:t>            "n":0</a:t>
            </a:r>
            <a:br>
              <a:rPr lang="en" sz="1200" dirty="0"/>
            </a:br>
            <a:r>
              <a:rPr lang="en" sz="1200" dirty="0"/>
              <a:t>          }, </a:t>
            </a:r>
            <a:endParaRPr sz="1200" dirty="0"/>
          </a:p>
          <a:p>
            <a:pPr marL="0" indent="609585">
              <a:buClr>
                <a:schemeClr val="dk1"/>
              </a:buClr>
              <a:buSzPts val="1100"/>
              <a:buNone/>
            </a:pPr>
            <a:r>
              <a:rPr lang="en" sz="1200" dirty="0"/>
              <a:t>"scriptSig":"30440..."</a:t>
            </a:r>
            <a:br>
              <a:rPr lang="en" sz="1200" dirty="0"/>
            </a:br>
            <a:r>
              <a:rPr lang="en" sz="1200" dirty="0"/>
              <a:t>        },</a:t>
            </a:r>
            <a:br>
              <a:rPr lang="en" sz="1200" dirty="0"/>
            </a:br>
            <a:r>
              <a:rPr lang="en" sz="1200" dirty="0"/>
              <a:t>        {</a:t>
            </a:r>
            <a:br>
              <a:rPr lang="en" sz="1200" dirty="0"/>
            </a:br>
            <a:r>
              <a:rPr lang="en" sz="1200" dirty="0"/>
              <a:t>          "prev_out":{</a:t>
            </a:r>
            <a:br>
              <a:rPr lang="en" sz="1200" dirty="0"/>
            </a:br>
            <a:r>
              <a:rPr lang="en" sz="1200" dirty="0"/>
              <a:t>            "hash":"7508e6ab259b4df0fd5147bab0c949d81473db4518f81afc5c3f52f91ff6b34e",</a:t>
            </a:r>
            <a:br>
              <a:rPr lang="en" sz="1200" dirty="0"/>
            </a:br>
            <a:r>
              <a:rPr lang="en" sz="1200" dirty="0"/>
              <a:t>            "n":0</a:t>
            </a:r>
            <a:br>
              <a:rPr lang="en" sz="1200" dirty="0"/>
            </a:br>
            <a:r>
              <a:rPr lang="en" sz="1200" dirty="0"/>
              <a:t>          },</a:t>
            </a:r>
            <a:br>
              <a:rPr lang="en" sz="1200" dirty="0"/>
            </a:br>
            <a:r>
              <a:rPr lang="en" sz="1200" dirty="0"/>
              <a:t>          "scriptSig":"3f3a4ce81...."</a:t>
            </a:r>
            <a:br>
              <a:rPr lang="en" sz="1200" dirty="0"/>
            </a:br>
            <a:r>
              <a:rPr lang="en" sz="1200" dirty="0"/>
              <a:t>        }</a:t>
            </a:r>
            <a:br>
              <a:rPr lang="en" sz="1200" dirty="0"/>
            </a:br>
            <a:r>
              <a:rPr lang="en" sz="1200" dirty="0"/>
              <a:t>      ],</a:t>
            </a:r>
            <a:br>
              <a:rPr lang="en" sz="1200" dirty="0"/>
            </a:br>
            <a:r>
              <a:rPr lang="en" sz="1200" dirty="0"/>
              <a:t>      "out":[</a:t>
            </a:r>
            <a:br>
              <a:rPr lang="en" sz="1200" dirty="0"/>
            </a:br>
            <a:r>
              <a:rPr lang="en" sz="1200" dirty="0"/>
              <a:t>        {</a:t>
            </a:r>
            <a:br>
              <a:rPr lang="en" sz="1200" dirty="0"/>
            </a:br>
            <a:r>
              <a:rPr lang="en" sz="1200" dirty="0"/>
              <a:t>          "value":"10.12287097",</a:t>
            </a:r>
            <a:br>
              <a:rPr lang="en" sz="1200" dirty="0"/>
            </a:br>
            <a:r>
              <a:rPr lang="en" sz="1200" dirty="0"/>
              <a:t>          "scriptPubKey":"OP_DUP OP_HASH160 69e02e18b5705a05dd6b28ed517716c894b3d42e OP_EQUALVERIFY OP_CHECKSIG"</a:t>
            </a:r>
            <a:br>
              <a:rPr lang="en" sz="1200" dirty="0"/>
            </a:br>
            <a:r>
              <a:rPr lang="en" sz="1200" dirty="0"/>
              <a:t>        }</a:t>
            </a:r>
            <a:br>
              <a:rPr lang="en" sz="1200" dirty="0"/>
            </a:br>
            <a:r>
              <a:rPr lang="en" sz="1200" dirty="0"/>
              <a:t>      ]</a:t>
            </a:r>
            <a:endParaRPr sz="1200" dirty="0"/>
          </a:p>
          <a:p>
            <a:pPr marL="0" indent="0">
              <a:buClr>
                <a:schemeClr val="dk1"/>
              </a:buClr>
              <a:buSzPts val="1100"/>
              <a:buNone/>
            </a:pPr>
            <a:r>
              <a:rPr lang="en" sz="1200" dirty="0"/>
              <a:t>}</a:t>
            </a:r>
            <a:endParaRPr sz="1200" dirty="0"/>
          </a:p>
          <a:p>
            <a:pPr marL="0" indent="0">
              <a:buNone/>
            </a:pPr>
            <a:endParaRPr sz="1200" dirty="0"/>
          </a:p>
        </p:txBody>
      </p:sp>
      <p:sp>
        <p:nvSpPr>
          <p:cNvPr id="126" name="Google Shape;126;p15"/>
          <p:cNvSpPr/>
          <p:nvPr/>
        </p:nvSpPr>
        <p:spPr>
          <a:xfrm>
            <a:off x="2351733" y="1545767"/>
            <a:ext cx="368000" cy="10060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27" name="Google Shape;127;p15"/>
          <p:cNvSpPr/>
          <p:nvPr/>
        </p:nvSpPr>
        <p:spPr>
          <a:xfrm>
            <a:off x="2351733" y="2681367"/>
            <a:ext cx="368000" cy="27656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28" name="Google Shape;128;p15"/>
          <p:cNvSpPr/>
          <p:nvPr/>
        </p:nvSpPr>
        <p:spPr>
          <a:xfrm>
            <a:off x="2351733" y="5576567"/>
            <a:ext cx="368000" cy="11432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29" name="Google Shape;129;p15"/>
          <p:cNvSpPr txBox="1"/>
          <p:nvPr/>
        </p:nvSpPr>
        <p:spPr>
          <a:xfrm>
            <a:off x="374067" y="3781967"/>
            <a:ext cx="1564400" cy="564400"/>
          </a:xfrm>
          <a:prstGeom prst="rect">
            <a:avLst/>
          </a:prstGeom>
          <a:noFill/>
          <a:ln>
            <a:noFill/>
          </a:ln>
        </p:spPr>
        <p:txBody>
          <a:bodyPr spcFirstLastPara="1" wrap="square" lIns="121900" tIns="121900" rIns="121900" bIns="121900" anchor="t" anchorCtr="0">
            <a:noAutofit/>
          </a:bodyPr>
          <a:lstStyle/>
          <a:p>
            <a:r>
              <a:rPr lang="en" sz="2400"/>
              <a:t>input(s)</a:t>
            </a:r>
            <a:endParaRPr sz="2400"/>
          </a:p>
        </p:txBody>
      </p:sp>
      <p:sp>
        <p:nvSpPr>
          <p:cNvPr id="130" name="Google Shape;130;p15"/>
          <p:cNvSpPr txBox="1"/>
          <p:nvPr/>
        </p:nvSpPr>
        <p:spPr>
          <a:xfrm>
            <a:off x="374067" y="1859433"/>
            <a:ext cx="1564400" cy="564400"/>
          </a:xfrm>
          <a:prstGeom prst="rect">
            <a:avLst/>
          </a:prstGeom>
          <a:noFill/>
          <a:ln>
            <a:noFill/>
          </a:ln>
        </p:spPr>
        <p:txBody>
          <a:bodyPr spcFirstLastPara="1" wrap="square" lIns="121900" tIns="121900" rIns="121900" bIns="121900" anchor="t" anchorCtr="0">
            <a:noAutofit/>
          </a:bodyPr>
          <a:lstStyle/>
          <a:p>
            <a:r>
              <a:rPr lang="en" sz="2400"/>
              <a:t>metadata</a:t>
            </a:r>
            <a:endParaRPr sz="2400"/>
          </a:p>
        </p:txBody>
      </p:sp>
      <p:sp>
        <p:nvSpPr>
          <p:cNvPr id="131" name="Google Shape;131;p15"/>
          <p:cNvSpPr txBox="1"/>
          <p:nvPr/>
        </p:nvSpPr>
        <p:spPr>
          <a:xfrm>
            <a:off x="374067" y="5743100"/>
            <a:ext cx="1564400" cy="564400"/>
          </a:xfrm>
          <a:prstGeom prst="rect">
            <a:avLst/>
          </a:prstGeom>
          <a:noFill/>
          <a:ln>
            <a:noFill/>
          </a:ln>
        </p:spPr>
        <p:txBody>
          <a:bodyPr spcFirstLastPara="1" wrap="square" lIns="121900" tIns="121900" rIns="121900" bIns="121900" anchor="t" anchorCtr="0">
            <a:noAutofit/>
          </a:bodyPr>
          <a:lstStyle/>
          <a:p>
            <a:r>
              <a:rPr lang="en" sz="2400"/>
              <a:t>output(s)</a:t>
            </a:r>
            <a:endParaRPr sz="2400"/>
          </a:p>
        </p:txBody>
      </p:sp>
    </p:spTree>
    <p:extLst>
      <p:ext uri="{BB962C8B-B14F-4D97-AF65-F5344CB8AC3E}">
        <p14:creationId xmlns:p14="http://schemas.microsoft.com/office/powerpoint/2010/main" val="296044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1000"/>
                                        <p:tgtEl>
                                          <p:spTgt spid="126"/>
                                        </p:tgtEl>
                                      </p:cBhvr>
                                    </p:animEffect>
                                  </p:childTnLst>
                                </p:cTn>
                              </p:par>
                              <p:par>
                                <p:cTn id="8" presetID="10" presetClass="entr" presetSubtype="0" fill="hold" nodeType="with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1000"/>
                                        <p:tgtEl>
                                          <p:spTgt spid="127"/>
                                        </p:tgtEl>
                                      </p:cBhvr>
                                    </p:animEffect>
                                  </p:childTnLst>
                                </p:cTn>
                              </p:par>
                              <p:par>
                                <p:cTn id="11" presetID="10" presetClass="entr" presetSubtype="0" fill="hold" nodeType="withEffect">
                                  <p:stCondLst>
                                    <p:cond delay="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1000"/>
                                        <p:tgtEl>
                                          <p:spTgt spid="128"/>
                                        </p:tgtEl>
                                      </p:cBhvr>
                                    </p:animEffect>
                                  </p:childTnLst>
                                </p:cTn>
                              </p:par>
                              <p:par>
                                <p:cTn id="14" presetID="10" presetClass="entr" presetSubtype="0" fill="hold" nodeType="withEffect">
                                  <p:stCondLst>
                                    <p:cond delay="0"/>
                                  </p:stCondLst>
                                  <p:childTnLst>
                                    <p:set>
                                      <p:cBhvr>
                                        <p:cTn id="15" dur="1" fill="hold">
                                          <p:stCondLst>
                                            <p:cond delay="0"/>
                                          </p:stCondLst>
                                        </p:cTn>
                                        <p:tgtEl>
                                          <p:spTgt spid="129"/>
                                        </p:tgtEl>
                                        <p:attrNameLst>
                                          <p:attrName>style.visibility</p:attrName>
                                        </p:attrNameLst>
                                      </p:cBhvr>
                                      <p:to>
                                        <p:strVal val="visible"/>
                                      </p:to>
                                    </p:set>
                                    <p:animEffect transition="in" filter="fade">
                                      <p:cBhvr>
                                        <p:cTn id="16" dur="1000"/>
                                        <p:tgtEl>
                                          <p:spTgt spid="129"/>
                                        </p:tgtEl>
                                      </p:cBhvr>
                                    </p:animEffect>
                                  </p:childTnLst>
                                </p:cTn>
                              </p:par>
                              <p:par>
                                <p:cTn id="17" presetID="10" presetClass="entr" presetSubtype="0" fill="hold" nodeType="withEffect">
                                  <p:stCondLst>
                                    <p:cond delay="0"/>
                                  </p:stCondLst>
                                  <p:childTnLst>
                                    <p:set>
                                      <p:cBhvr>
                                        <p:cTn id="18" dur="1" fill="hold">
                                          <p:stCondLst>
                                            <p:cond delay="0"/>
                                          </p:stCondLst>
                                        </p:cTn>
                                        <p:tgtEl>
                                          <p:spTgt spid="130"/>
                                        </p:tgtEl>
                                        <p:attrNameLst>
                                          <p:attrName>style.visibility</p:attrName>
                                        </p:attrNameLst>
                                      </p:cBhvr>
                                      <p:to>
                                        <p:strVal val="visible"/>
                                      </p:to>
                                    </p:set>
                                    <p:animEffect transition="in" filter="fade">
                                      <p:cBhvr>
                                        <p:cTn id="19" dur="1000"/>
                                        <p:tgtEl>
                                          <p:spTgt spid="130"/>
                                        </p:tgtEl>
                                      </p:cBhvr>
                                    </p:animEffect>
                                  </p:childTnLst>
                                </p:cTn>
                              </p:par>
                              <p:par>
                                <p:cTn id="20" presetID="10" presetClass="entr" presetSubtype="0" fill="hold" nodeType="withEffect">
                                  <p:stCondLst>
                                    <p:cond delay="0"/>
                                  </p:stCondLst>
                                  <p:childTnLst>
                                    <p:set>
                                      <p:cBhvr>
                                        <p:cTn id="21" dur="1" fill="hold">
                                          <p:stCondLst>
                                            <p:cond delay="0"/>
                                          </p:stCondLst>
                                        </p:cTn>
                                        <p:tgtEl>
                                          <p:spTgt spid="131"/>
                                        </p:tgtEl>
                                        <p:attrNameLst>
                                          <p:attrName>style.visibility</p:attrName>
                                        </p:attrNameLst>
                                      </p:cBhvr>
                                      <p:to>
                                        <p:strVal val="visible"/>
                                      </p:to>
                                    </p:set>
                                    <p:animEffect transition="in" filter="fade">
                                      <p:cBhvr>
                                        <p:cTn id="22"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719"/>
          </a:xfrm>
        </p:spPr>
        <p:txBody>
          <a:bodyPr>
            <a:normAutofit fontScale="90000"/>
          </a:bodyPr>
          <a:lstStyle/>
          <a:p>
            <a:r>
              <a:rPr lang="en-IN" dirty="0" smtClean="0"/>
              <a:t>Transaction Data Structure</a:t>
            </a:r>
            <a:endParaRPr lang="en-IN" dirty="0"/>
          </a:p>
        </p:txBody>
      </p:sp>
      <p:pic>
        <p:nvPicPr>
          <p:cNvPr id="7" name="Content Placeholder 6"/>
          <p:cNvPicPr>
            <a:picLocks noGrp="1" noChangeAspect="1"/>
          </p:cNvPicPr>
          <p:nvPr>
            <p:ph idx="1"/>
          </p:nvPr>
        </p:nvPicPr>
        <p:blipFill>
          <a:blip r:embed="rId2"/>
          <a:stretch>
            <a:fillRect/>
          </a:stretch>
        </p:blipFill>
        <p:spPr>
          <a:xfrm>
            <a:off x="1676400" y="513556"/>
            <a:ext cx="9601200" cy="6496844"/>
          </a:xfrm>
          <a:prstGeom prst="rect">
            <a:avLst/>
          </a:prstGeom>
        </p:spPr>
      </p:pic>
      <p:sp>
        <p:nvSpPr>
          <p:cNvPr id="4" name="Date Placeholder 3"/>
          <p:cNvSpPr>
            <a:spLocks noGrp="1"/>
          </p:cNvSpPr>
          <p:nvPr>
            <p:ph type="dt" sz="half" idx="10"/>
          </p:nvPr>
        </p:nvSpPr>
        <p:spPr/>
        <p:txBody>
          <a:bodyPr/>
          <a:lstStyle/>
          <a:p>
            <a:fld id="{713B2688-C35A-41F0-A0FA-11CC29259C5C}" type="datetime1">
              <a:rPr lang="en-IN" smtClean="0"/>
              <a:t>18-01-2025</a:t>
            </a:fld>
            <a:endParaRPr lang="en-IN"/>
          </a:p>
        </p:txBody>
      </p:sp>
      <p:sp>
        <p:nvSpPr>
          <p:cNvPr id="5" name="Footer Placeholder 4"/>
          <p:cNvSpPr>
            <a:spLocks noGrp="1"/>
          </p:cNvSpPr>
          <p:nvPr>
            <p:ph type="ftr" sz="quarter" idx="11"/>
          </p:nvPr>
        </p:nvSpPr>
        <p:spPr/>
        <p:txBody>
          <a:bodyPr/>
          <a:lstStyle/>
          <a:p>
            <a:r>
              <a:rPr lang="en-IN" smtClean="0"/>
              <a:t>Madhu Viswanatham</a:t>
            </a:r>
            <a:endParaRPr lang="en-IN"/>
          </a:p>
        </p:txBody>
      </p:sp>
      <p:sp>
        <p:nvSpPr>
          <p:cNvPr id="6" name="Slide Number Placeholder 5"/>
          <p:cNvSpPr>
            <a:spLocks noGrp="1"/>
          </p:cNvSpPr>
          <p:nvPr>
            <p:ph type="sldNum" sz="quarter" idx="12"/>
          </p:nvPr>
        </p:nvSpPr>
        <p:spPr/>
        <p:txBody>
          <a:bodyPr/>
          <a:lstStyle/>
          <a:p>
            <a:fld id="{9EEEBCA1-7FC4-4544-A902-24D63B55653B}" type="slidenum">
              <a:rPr lang="en-IN" smtClean="0"/>
              <a:t>9</a:t>
            </a:fld>
            <a:endParaRPr lang="en-IN"/>
          </a:p>
        </p:txBody>
      </p:sp>
    </p:spTree>
    <p:extLst>
      <p:ext uri="{BB962C8B-B14F-4D97-AF65-F5344CB8AC3E}">
        <p14:creationId xmlns:p14="http://schemas.microsoft.com/office/powerpoint/2010/main" val="38915793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title"/>
          </p:nvPr>
        </p:nvSpPr>
        <p:spPr>
          <a:xfrm>
            <a:off x="609600" y="274637"/>
            <a:ext cx="10972800" cy="1143200"/>
          </a:xfrm>
          <a:prstGeom prst="rect">
            <a:avLst/>
          </a:prstGeom>
        </p:spPr>
        <p:txBody>
          <a:bodyPr spcFirstLastPara="1" wrap="square" lIns="121900" tIns="121900" rIns="121900" bIns="121900" anchor="b" anchorCtr="0">
            <a:noAutofit/>
          </a:bodyPr>
          <a:lstStyle/>
          <a:p>
            <a:r>
              <a:rPr lang="en"/>
              <a:t>The real deal: transaction metadata</a:t>
            </a:r>
            <a:endParaRPr>
              <a:latin typeface="Trebuchet MS"/>
              <a:ea typeface="Trebuchet MS"/>
              <a:cs typeface="Trebuchet MS"/>
              <a:sym typeface="Trebuchet MS"/>
            </a:endParaRPr>
          </a:p>
        </p:txBody>
      </p:sp>
      <p:sp>
        <p:nvSpPr>
          <p:cNvPr id="137" name="Google Shape;137;p16"/>
          <p:cNvSpPr txBox="1">
            <a:spLocks noGrp="1"/>
          </p:cNvSpPr>
          <p:nvPr>
            <p:ph type="body" idx="1"/>
          </p:nvPr>
        </p:nvSpPr>
        <p:spPr>
          <a:xfrm>
            <a:off x="2781100" y="1133967"/>
            <a:ext cx="10972800" cy="5527600"/>
          </a:xfrm>
          <a:prstGeom prst="rect">
            <a:avLst/>
          </a:prstGeom>
        </p:spPr>
        <p:txBody>
          <a:bodyPr spcFirstLastPara="1" wrap="square" lIns="121900" tIns="121900" rIns="121900" bIns="121900" anchor="t" anchorCtr="0">
            <a:noAutofit/>
          </a:bodyPr>
          <a:lstStyle/>
          <a:p>
            <a:pPr marL="0" indent="0">
              <a:buNone/>
            </a:pPr>
            <a:r>
              <a:rPr lang="en" sz="3200"/>
              <a:t>{</a:t>
            </a:r>
            <a:br>
              <a:rPr lang="en" sz="3200"/>
            </a:br>
            <a:r>
              <a:rPr lang="en" sz="3200"/>
              <a:t>    "hash":"5a42590...b8b6b",</a:t>
            </a:r>
            <a:br>
              <a:rPr lang="en" sz="3200"/>
            </a:br>
            <a:r>
              <a:rPr lang="en" sz="3200"/>
              <a:t>      "ver":1,</a:t>
            </a:r>
            <a:br>
              <a:rPr lang="en" sz="3200"/>
            </a:br>
            <a:r>
              <a:rPr lang="en" sz="3200"/>
              <a:t>      "vin_sz":2,</a:t>
            </a:r>
            <a:br>
              <a:rPr lang="en" sz="3200"/>
            </a:br>
            <a:r>
              <a:rPr lang="en" sz="3200"/>
              <a:t>      "vout_sz":1,</a:t>
            </a:r>
            <a:br>
              <a:rPr lang="en" sz="3200"/>
            </a:br>
            <a:r>
              <a:rPr lang="en" sz="3200"/>
              <a:t>      "lock_time":0,</a:t>
            </a:r>
            <a:br>
              <a:rPr lang="en" sz="3200"/>
            </a:br>
            <a:r>
              <a:rPr lang="en" sz="3200"/>
              <a:t>      "size":404,</a:t>
            </a:r>
            <a:endParaRPr sz="3200"/>
          </a:p>
          <a:p>
            <a:pPr marL="0" indent="0">
              <a:buNone/>
            </a:pPr>
            <a:r>
              <a:rPr lang="en" sz="3200"/>
              <a:t>...</a:t>
            </a:r>
            <a:endParaRPr sz="3200"/>
          </a:p>
          <a:p>
            <a:pPr marL="0" indent="0">
              <a:buNone/>
            </a:pPr>
            <a:r>
              <a:rPr lang="en" sz="3200"/>
              <a:t>}</a:t>
            </a:r>
            <a:endParaRPr sz="3200"/>
          </a:p>
        </p:txBody>
      </p:sp>
      <p:sp>
        <p:nvSpPr>
          <p:cNvPr id="138" name="Google Shape;138;p16"/>
          <p:cNvSpPr/>
          <p:nvPr/>
        </p:nvSpPr>
        <p:spPr>
          <a:xfrm>
            <a:off x="2351733" y="2423833"/>
            <a:ext cx="429200" cy="12636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39" name="Google Shape;139;p16"/>
          <p:cNvSpPr txBox="1"/>
          <p:nvPr/>
        </p:nvSpPr>
        <p:spPr>
          <a:xfrm>
            <a:off x="374067" y="4235167"/>
            <a:ext cx="1977600" cy="5644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housekeeping</a:t>
            </a:r>
            <a:endParaRPr sz="1867" kern="0">
              <a:solidFill>
                <a:srgbClr val="000000"/>
              </a:solidFill>
              <a:cs typeface="Arial"/>
              <a:sym typeface="Arial"/>
            </a:endParaRPr>
          </a:p>
        </p:txBody>
      </p:sp>
      <p:sp>
        <p:nvSpPr>
          <p:cNvPr id="140" name="Google Shape;140;p16"/>
          <p:cNvSpPr txBox="1"/>
          <p:nvPr/>
        </p:nvSpPr>
        <p:spPr>
          <a:xfrm>
            <a:off x="373967" y="2773433"/>
            <a:ext cx="1977600" cy="5644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housekeeping</a:t>
            </a:r>
            <a:endParaRPr sz="1867" kern="0">
              <a:solidFill>
                <a:srgbClr val="000000"/>
              </a:solidFill>
              <a:cs typeface="Arial"/>
              <a:sym typeface="Arial"/>
            </a:endParaRPr>
          </a:p>
        </p:txBody>
      </p:sp>
      <p:sp>
        <p:nvSpPr>
          <p:cNvPr id="141" name="Google Shape;141;p16"/>
          <p:cNvSpPr/>
          <p:nvPr/>
        </p:nvSpPr>
        <p:spPr>
          <a:xfrm>
            <a:off x="2413100" y="4346367"/>
            <a:ext cx="368000" cy="3420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42" name="Google Shape;142;p16"/>
          <p:cNvSpPr txBox="1"/>
          <p:nvPr/>
        </p:nvSpPr>
        <p:spPr>
          <a:xfrm>
            <a:off x="307367" y="1813433"/>
            <a:ext cx="2105600" cy="5644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transaction hash</a:t>
            </a:r>
            <a:endParaRPr sz="1867" kern="0">
              <a:solidFill>
                <a:srgbClr val="000000"/>
              </a:solidFill>
              <a:cs typeface="Arial"/>
              <a:sym typeface="Arial"/>
            </a:endParaRPr>
          </a:p>
        </p:txBody>
      </p:sp>
      <p:sp>
        <p:nvSpPr>
          <p:cNvPr id="143" name="Google Shape;143;p16"/>
          <p:cNvSpPr/>
          <p:nvPr/>
        </p:nvSpPr>
        <p:spPr>
          <a:xfrm>
            <a:off x="2346400" y="1924633"/>
            <a:ext cx="368000" cy="3420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44" name="Google Shape;144;p16"/>
          <p:cNvSpPr txBox="1"/>
          <p:nvPr/>
        </p:nvSpPr>
        <p:spPr>
          <a:xfrm>
            <a:off x="374067" y="3734700"/>
            <a:ext cx="2105600" cy="5644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“not valid before”</a:t>
            </a:r>
            <a:endParaRPr sz="1867" kern="0">
              <a:solidFill>
                <a:srgbClr val="000000"/>
              </a:solidFill>
              <a:cs typeface="Arial"/>
              <a:sym typeface="Arial"/>
            </a:endParaRPr>
          </a:p>
        </p:txBody>
      </p:sp>
      <p:sp>
        <p:nvSpPr>
          <p:cNvPr id="145" name="Google Shape;145;p16"/>
          <p:cNvSpPr/>
          <p:nvPr/>
        </p:nvSpPr>
        <p:spPr>
          <a:xfrm>
            <a:off x="2413100" y="3845900"/>
            <a:ext cx="368000" cy="3420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46" name="Google Shape;146;p16"/>
          <p:cNvSpPr/>
          <p:nvPr/>
        </p:nvSpPr>
        <p:spPr>
          <a:xfrm>
            <a:off x="6404067" y="3715100"/>
            <a:ext cx="2527200" cy="603600"/>
          </a:xfrm>
          <a:prstGeom prst="roundRect">
            <a:avLst>
              <a:gd name="adj" fmla="val 16667"/>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r>
              <a:rPr lang="en" sz="1867" kern="0">
                <a:solidFill>
                  <a:srgbClr val="000000"/>
                </a:solidFill>
                <a:cs typeface="Arial"/>
                <a:sym typeface="Arial"/>
              </a:rPr>
              <a:t>more on this later...</a:t>
            </a:r>
            <a:endParaRPr sz="1867" kern="0">
              <a:solidFill>
                <a:srgbClr val="000000"/>
              </a:solidFill>
              <a:cs typeface="Arial"/>
              <a:sym typeface="Arial"/>
            </a:endParaRPr>
          </a:p>
        </p:txBody>
      </p:sp>
    </p:spTree>
    <p:extLst>
      <p:ext uri="{BB962C8B-B14F-4D97-AF65-F5344CB8AC3E}">
        <p14:creationId xmlns:p14="http://schemas.microsoft.com/office/powerpoint/2010/main" val="188750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1000"/>
                                        <p:tgtEl>
                                          <p:spTgt spid="138"/>
                                        </p:tgtEl>
                                      </p:cBhvr>
                                    </p:animEffect>
                                  </p:childTnLst>
                                </p:cTn>
                              </p:par>
                              <p:par>
                                <p:cTn id="8" presetID="10" presetClass="entr" presetSubtype="0" fill="hold" nodeType="withEffect">
                                  <p:stCondLst>
                                    <p:cond delay="0"/>
                                  </p:stCondLst>
                                  <p:childTnLst>
                                    <p:set>
                                      <p:cBhvr>
                                        <p:cTn id="9" dur="1" fill="hold">
                                          <p:stCondLst>
                                            <p:cond delay="0"/>
                                          </p:stCondLst>
                                        </p:cTn>
                                        <p:tgtEl>
                                          <p:spTgt spid="140"/>
                                        </p:tgtEl>
                                        <p:attrNameLst>
                                          <p:attrName>style.visibility</p:attrName>
                                        </p:attrNameLst>
                                      </p:cBhvr>
                                      <p:to>
                                        <p:strVal val="visible"/>
                                      </p:to>
                                    </p:set>
                                    <p:animEffect transition="in" filter="fade">
                                      <p:cBhvr>
                                        <p:cTn id="10" dur="1000"/>
                                        <p:tgtEl>
                                          <p:spTgt spid="140"/>
                                        </p:tgtEl>
                                      </p:cBhvr>
                                    </p:animEffect>
                                  </p:childTnLst>
                                </p:cTn>
                              </p:par>
                              <p:par>
                                <p:cTn id="11" presetID="10" presetClass="entr" presetSubtype="0" fill="hold" nodeType="withEffect">
                                  <p:stCondLst>
                                    <p:cond delay="0"/>
                                  </p:stCondLst>
                                  <p:childTnLst>
                                    <p:set>
                                      <p:cBhvr>
                                        <p:cTn id="12" dur="1" fill="hold">
                                          <p:stCondLst>
                                            <p:cond delay="0"/>
                                          </p:stCondLst>
                                        </p:cTn>
                                        <p:tgtEl>
                                          <p:spTgt spid="139"/>
                                        </p:tgtEl>
                                        <p:attrNameLst>
                                          <p:attrName>style.visibility</p:attrName>
                                        </p:attrNameLst>
                                      </p:cBhvr>
                                      <p:to>
                                        <p:strVal val="visible"/>
                                      </p:to>
                                    </p:set>
                                    <p:animEffect transition="in" filter="fade">
                                      <p:cBhvr>
                                        <p:cTn id="13" dur="1000"/>
                                        <p:tgtEl>
                                          <p:spTgt spid="139"/>
                                        </p:tgtEl>
                                      </p:cBhvr>
                                    </p:animEffect>
                                  </p:childTnLst>
                                </p:cTn>
                              </p:par>
                              <p:par>
                                <p:cTn id="14" presetID="10" presetClass="entr" presetSubtype="0" fill="hold" nodeType="withEffect">
                                  <p:stCondLst>
                                    <p:cond delay="0"/>
                                  </p:stCondLst>
                                  <p:childTnLst>
                                    <p:set>
                                      <p:cBhvr>
                                        <p:cTn id="15" dur="1" fill="hold">
                                          <p:stCondLst>
                                            <p:cond delay="0"/>
                                          </p:stCondLst>
                                        </p:cTn>
                                        <p:tgtEl>
                                          <p:spTgt spid="141"/>
                                        </p:tgtEl>
                                        <p:attrNameLst>
                                          <p:attrName>style.visibility</p:attrName>
                                        </p:attrNameLst>
                                      </p:cBhvr>
                                      <p:to>
                                        <p:strVal val="visible"/>
                                      </p:to>
                                    </p:set>
                                    <p:animEffect transition="in" filter="fade">
                                      <p:cBhvr>
                                        <p:cTn id="16" dur="1000"/>
                                        <p:tgtEl>
                                          <p:spTgt spid="1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2"/>
                                        </p:tgtEl>
                                        <p:attrNameLst>
                                          <p:attrName>style.visibility</p:attrName>
                                        </p:attrNameLst>
                                      </p:cBhvr>
                                      <p:to>
                                        <p:strVal val="visible"/>
                                      </p:to>
                                    </p:set>
                                    <p:animEffect transition="in" filter="fade">
                                      <p:cBhvr>
                                        <p:cTn id="21" dur="1000"/>
                                        <p:tgtEl>
                                          <p:spTgt spid="142"/>
                                        </p:tgtEl>
                                      </p:cBhvr>
                                    </p:animEffect>
                                  </p:childTnLst>
                                </p:cTn>
                              </p:par>
                              <p:par>
                                <p:cTn id="22" presetID="10" presetClass="entr" presetSubtype="0" fill="hold" nodeType="withEffect">
                                  <p:stCondLst>
                                    <p:cond delay="0"/>
                                  </p:stCondLst>
                                  <p:childTnLst>
                                    <p:set>
                                      <p:cBhvr>
                                        <p:cTn id="23" dur="1" fill="hold">
                                          <p:stCondLst>
                                            <p:cond delay="0"/>
                                          </p:stCondLst>
                                        </p:cTn>
                                        <p:tgtEl>
                                          <p:spTgt spid="143"/>
                                        </p:tgtEl>
                                        <p:attrNameLst>
                                          <p:attrName>style.visibility</p:attrName>
                                        </p:attrNameLst>
                                      </p:cBhvr>
                                      <p:to>
                                        <p:strVal val="visible"/>
                                      </p:to>
                                    </p:set>
                                    <p:animEffect transition="in" filter="fade">
                                      <p:cBhvr>
                                        <p:cTn id="24" dur="1000"/>
                                        <p:tgtEl>
                                          <p:spTgt spid="14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4"/>
                                        </p:tgtEl>
                                        <p:attrNameLst>
                                          <p:attrName>style.visibility</p:attrName>
                                        </p:attrNameLst>
                                      </p:cBhvr>
                                      <p:to>
                                        <p:strVal val="visible"/>
                                      </p:to>
                                    </p:set>
                                    <p:animEffect transition="in" filter="fade">
                                      <p:cBhvr>
                                        <p:cTn id="29" dur="1000"/>
                                        <p:tgtEl>
                                          <p:spTgt spid="144"/>
                                        </p:tgtEl>
                                      </p:cBhvr>
                                    </p:animEffect>
                                  </p:childTnLst>
                                </p:cTn>
                              </p:par>
                              <p:par>
                                <p:cTn id="30" presetID="10" presetClass="entr" presetSubtype="0" fill="hold" nodeType="withEffect">
                                  <p:stCondLst>
                                    <p:cond delay="0"/>
                                  </p:stCondLst>
                                  <p:childTnLst>
                                    <p:set>
                                      <p:cBhvr>
                                        <p:cTn id="31" dur="1" fill="hold">
                                          <p:stCondLst>
                                            <p:cond delay="0"/>
                                          </p:stCondLst>
                                        </p:cTn>
                                        <p:tgtEl>
                                          <p:spTgt spid="145"/>
                                        </p:tgtEl>
                                        <p:attrNameLst>
                                          <p:attrName>style.visibility</p:attrName>
                                        </p:attrNameLst>
                                      </p:cBhvr>
                                      <p:to>
                                        <p:strVal val="visible"/>
                                      </p:to>
                                    </p:set>
                                    <p:animEffect transition="in" filter="fade">
                                      <p:cBhvr>
                                        <p:cTn id="32" dur="1000"/>
                                        <p:tgtEl>
                                          <p:spTgt spid="145"/>
                                        </p:tgtEl>
                                      </p:cBhvr>
                                    </p:animEffect>
                                  </p:childTnLst>
                                </p:cTn>
                              </p:par>
                              <p:par>
                                <p:cTn id="33" presetID="10" presetClass="entr" presetSubtype="0" fill="hold" nodeType="withEffect">
                                  <p:stCondLst>
                                    <p:cond delay="0"/>
                                  </p:stCondLst>
                                  <p:childTnLst>
                                    <p:set>
                                      <p:cBhvr>
                                        <p:cTn id="34" dur="1" fill="hold">
                                          <p:stCondLst>
                                            <p:cond delay="0"/>
                                          </p:stCondLst>
                                        </p:cTn>
                                        <p:tgtEl>
                                          <p:spTgt spid="146"/>
                                        </p:tgtEl>
                                        <p:attrNameLst>
                                          <p:attrName>style.visibility</p:attrName>
                                        </p:attrNameLst>
                                      </p:cBhvr>
                                      <p:to>
                                        <p:strVal val="visible"/>
                                      </p:to>
                                    </p:set>
                                    <p:animEffect transition="in" filter="fade">
                                      <p:cBhvr>
                                        <p:cTn id="35"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Text Placeholder 2"/>
          <p:cNvSpPr>
            <a:spLocks noGrp="1"/>
          </p:cNvSpPr>
          <p:nvPr>
            <p:ph type="body" idx="1"/>
          </p:nvPr>
        </p:nvSpPr>
        <p:spPr/>
        <p:txBody>
          <a:bodyPr/>
          <a:lstStyle/>
          <a:p>
            <a:pPr marL="50799" indent="0">
              <a:buNone/>
            </a:pPr>
            <a:r>
              <a:rPr lang="en-IN" dirty="0"/>
              <a:t>Transaction </a:t>
            </a:r>
            <a:r>
              <a:rPr lang="en-IN" dirty="0" smtClean="0"/>
              <a:t>output </a:t>
            </a:r>
            <a:r>
              <a:rPr lang="en-IN" dirty="0"/>
              <a:t>data structure</a:t>
            </a:r>
            <a:r>
              <a:rPr lang="en-IN" dirty="0" smtClean="0"/>
              <a:t>:</a:t>
            </a:r>
          </a:p>
          <a:p>
            <a:pPr marL="50799" indent="0">
              <a:buNone/>
            </a:pPr>
            <a:endParaRPr lang="en-IN" dirty="0"/>
          </a:p>
          <a:p>
            <a:pPr marL="50799" indent="0">
              <a:buNone/>
            </a:pPr>
            <a:endParaRPr lang="en-IN" dirty="0"/>
          </a:p>
        </p:txBody>
      </p:sp>
      <p:pic>
        <p:nvPicPr>
          <p:cNvPr id="4" name="Picture 3"/>
          <p:cNvPicPr>
            <a:picLocks noChangeAspect="1"/>
          </p:cNvPicPr>
          <p:nvPr/>
        </p:nvPicPr>
        <p:blipFill>
          <a:blip r:embed="rId2"/>
          <a:stretch>
            <a:fillRect/>
          </a:stretch>
        </p:blipFill>
        <p:spPr>
          <a:xfrm>
            <a:off x="1481137" y="2581274"/>
            <a:ext cx="8653463" cy="3667125"/>
          </a:xfrm>
          <a:prstGeom prst="rect">
            <a:avLst/>
          </a:prstGeom>
        </p:spPr>
      </p:pic>
    </p:spTree>
    <p:extLst>
      <p:ext uri="{BB962C8B-B14F-4D97-AF65-F5344CB8AC3E}">
        <p14:creationId xmlns:p14="http://schemas.microsoft.com/office/powerpoint/2010/main" val="2064982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2057400" y="2209800"/>
            <a:ext cx="9525000" cy="4038600"/>
          </a:xfrm>
          <a:prstGeom prst="rect">
            <a:avLst/>
          </a:prstGeom>
        </p:spPr>
      </p:pic>
      <p:sp>
        <p:nvSpPr>
          <p:cNvPr id="3" name="Text Placeholder 2"/>
          <p:cNvSpPr>
            <a:spLocks noGrp="1"/>
          </p:cNvSpPr>
          <p:nvPr>
            <p:ph type="body" idx="1"/>
          </p:nvPr>
        </p:nvSpPr>
        <p:spPr/>
        <p:txBody>
          <a:bodyPr/>
          <a:lstStyle/>
          <a:p>
            <a:pPr marL="50799" indent="0">
              <a:buNone/>
            </a:pPr>
            <a:r>
              <a:rPr lang="en-IN" dirty="0" smtClean="0"/>
              <a:t>Transaction input data structure:</a:t>
            </a:r>
            <a:endParaRPr lang="en-IN" dirty="0"/>
          </a:p>
        </p:txBody>
      </p:sp>
    </p:spTree>
    <p:extLst>
      <p:ext uri="{BB962C8B-B14F-4D97-AF65-F5344CB8AC3E}">
        <p14:creationId xmlns:p14="http://schemas.microsoft.com/office/powerpoint/2010/main" val="28311147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7"/>
          <p:cNvSpPr txBox="1">
            <a:spLocks noGrp="1"/>
          </p:cNvSpPr>
          <p:nvPr>
            <p:ph type="title"/>
          </p:nvPr>
        </p:nvSpPr>
        <p:spPr>
          <a:xfrm>
            <a:off x="609600" y="274637"/>
            <a:ext cx="10972800" cy="1143200"/>
          </a:xfrm>
          <a:prstGeom prst="rect">
            <a:avLst/>
          </a:prstGeom>
        </p:spPr>
        <p:txBody>
          <a:bodyPr spcFirstLastPara="1" wrap="square" lIns="121900" tIns="121900" rIns="121900" bIns="121900" anchor="b" anchorCtr="0">
            <a:noAutofit/>
          </a:bodyPr>
          <a:lstStyle/>
          <a:p>
            <a:r>
              <a:rPr lang="en"/>
              <a:t>The real deal: transaction inputs</a:t>
            </a:r>
            <a:endParaRPr>
              <a:latin typeface="Trebuchet MS"/>
              <a:ea typeface="Trebuchet MS"/>
              <a:cs typeface="Trebuchet MS"/>
              <a:sym typeface="Trebuchet MS"/>
            </a:endParaRPr>
          </a:p>
        </p:txBody>
      </p:sp>
      <p:sp>
        <p:nvSpPr>
          <p:cNvPr id="152" name="Google Shape;152;p17"/>
          <p:cNvSpPr txBox="1">
            <a:spLocks noGrp="1"/>
          </p:cNvSpPr>
          <p:nvPr>
            <p:ph type="body" idx="1"/>
          </p:nvPr>
        </p:nvSpPr>
        <p:spPr>
          <a:xfrm>
            <a:off x="2658433" y="1472200"/>
            <a:ext cx="10972800" cy="5496000"/>
          </a:xfrm>
          <a:prstGeom prst="rect">
            <a:avLst/>
          </a:prstGeom>
        </p:spPr>
        <p:txBody>
          <a:bodyPr spcFirstLastPara="1" wrap="square" lIns="121900" tIns="121900" rIns="121900" bIns="121900" anchor="t" anchorCtr="0">
            <a:noAutofit/>
          </a:bodyPr>
          <a:lstStyle/>
          <a:p>
            <a:pPr marL="0" indent="0">
              <a:buNone/>
            </a:pPr>
            <a:r>
              <a:rPr lang="en" sz="2667"/>
              <a:t>      "in":[</a:t>
            </a:r>
            <a:br>
              <a:rPr lang="en" sz="2667"/>
            </a:br>
            <a:r>
              <a:rPr lang="en" sz="2667"/>
              <a:t>        {</a:t>
            </a:r>
            <a:br>
              <a:rPr lang="en" sz="2667"/>
            </a:br>
            <a:r>
              <a:rPr lang="en" sz="2667"/>
              <a:t>          "prev_out":{</a:t>
            </a:r>
            <a:br>
              <a:rPr lang="en" sz="2667"/>
            </a:br>
            <a:r>
              <a:rPr lang="en" sz="2667"/>
              <a:t>            "hash":"3be4...80260",</a:t>
            </a:r>
            <a:br>
              <a:rPr lang="en" sz="2667"/>
            </a:br>
            <a:r>
              <a:rPr lang="en" sz="2667"/>
              <a:t>            "n":0</a:t>
            </a:r>
            <a:br>
              <a:rPr lang="en" sz="2667"/>
            </a:br>
            <a:r>
              <a:rPr lang="en" sz="2667"/>
              <a:t>          }, </a:t>
            </a:r>
            <a:endParaRPr sz="2667"/>
          </a:p>
          <a:p>
            <a:pPr marL="0" indent="609585">
              <a:buNone/>
            </a:pPr>
            <a:r>
              <a:rPr lang="en" sz="2667"/>
              <a:t>"scriptSig":"30440....3f3a4ce81"</a:t>
            </a:r>
            <a:br>
              <a:rPr lang="en" sz="2667"/>
            </a:br>
            <a:r>
              <a:rPr lang="en" sz="2667"/>
              <a:t>        },</a:t>
            </a:r>
            <a:br>
              <a:rPr lang="en" sz="2667"/>
            </a:br>
            <a:r>
              <a:rPr lang="en" sz="2667"/>
              <a:t>      ... </a:t>
            </a:r>
            <a:endParaRPr sz="2667"/>
          </a:p>
          <a:p>
            <a:pPr marL="0" indent="0">
              <a:buNone/>
            </a:pPr>
            <a:r>
              <a:rPr lang="en" sz="2667"/>
              <a:t>      ],</a:t>
            </a:r>
            <a:endParaRPr sz="2667"/>
          </a:p>
        </p:txBody>
      </p:sp>
      <p:sp>
        <p:nvSpPr>
          <p:cNvPr id="153" name="Google Shape;153;p17"/>
          <p:cNvSpPr/>
          <p:nvPr/>
        </p:nvSpPr>
        <p:spPr>
          <a:xfrm>
            <a:off x="2462133" y="2681367"/>
            <a:ext cx="368000" cy="10060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54" name="Google Shape;154;p17"/>
          <p:cNvSpPr/>
          <p:nvPr/>
        </p:nvSpPr>
        <p:spPr>
          <a:xfrm>
            <a:off x="2489733" y="4148633"/>
            <a:ext cx="312800" cy="4536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55" name="Google Shape;155;p17"/>
          <p:cNvSpPr/>
          <p:nvPr/>
        </p:nvSpPr>
        <p:spPr>
          <a:xfrm>
            <a:off x="2517333" y="5063500"/>
            <a:ext cx="257600" cy="564400"/>
          </a:xfrm>
          <a:prstGeom prst="leftBrace">
            <a:avLst>
              <a:gd name="adj1" fmla="val 8333"/>
              <a:gd name="adj2" fmla="val 48607"/>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buClr>
                <a:srgbClr val="000000"/>
              </a:buClr>
              <a:buFont typeface="Arial"/>
              <a:buNone/>
            </a:pPr>
            <a:endParaRPr sz="1867" kern="0">
              <a:solidFill>
                <a:srgbClr val="000000"/>
              </a:solidFill>
              <a:cs typeface="Arial"/>
              <a:sym typeface="Arial"/>
            </a:endParaRPr>
          </a:p>
        </p:txBody>
      </p:sp>
      <p:sp>
        <p:nvSpPr>
          <p:cNvPr id="156" name="Google Shape;156;p17"/>
          <p:cNvSpPr txBox="1"/>
          <p:nvPr/>
        </p:nvSpPr>
        <p:spPr>
          <a:xfrm>
            <a:off x="374067" y="4093233"/>
            <a:ext cx="1564400" cy="5644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signature</a:t>
            </a:r>
            <a:endParaRPr sz="1867" kern="0">
              <a:solidFill>
                <a:srgbClr val="000000"/>
              </a:solidFill>
              <a:cs typeface="Arial"/>
              <a:sym typeface="Arial"/>
            </a:endParaRPr>
          </a:p>
        </p:txBody>
      </p:sp>
      <p:sp>
        <p:nvSpPr>
          <p:cNvPr id="157" name="Google Shape;157;p17"/>
          <p:cNvSpPr txBox="1"/>
          <p:nvPr/>
        </p:nvSpPr>
        <p:spPr>
          <a:xfrm>
            <a:off x="374067" y="2681367"/>
            <a:ext cx="1564400" cy="7660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previous</a:t>
            </a:r>
            <a:endParaRPr sz="1867" kern="0">
              <a:solidFill>
                <a:srgbClr val="000000"/>
              </a:solidFill>
              <a:cs typeface="Arial"/>
              <a:sym typeface="Arial"/>
            </a:endParaRPr>
          </a:p>
          <a:p>
            <a:pPr>
              <a:buClr>
                <a:srgbClr val="000000"/>
              </a:buClr>
              <a:buFont typeface="Arial"/>
              <a:buNone/>
            </a:pPr>
            <a:r>
              <a:rPr lang="en" sz="1867" kern="0">
                <a:solidFill>
                  <a:srgbClr val="000000"/>
                </a:solidFill>
                <a:cs typeface="Arial"/>
                <a:sym typeface="Arial"/>
              </a:rPr>
              <a:t>transaction</a:t>
            </a:r>
            <a:endParaRPr sz="1867" kern="0">
              <a:solidFill>
                <a:srgbClr val="000000"/>
              </a:solidFill>
              <a:cs typeface="Arial"/>
              <a:sym typeface="Arial"/>
            </a:endParaRPr>
          </a:p>
        </p:txBody>
      </p:sp>
      <p:sp>
        <p:nvSpPr>
          <p:cNvPr id="158" name="Google Shape;158;p17"/>
          <p:cNvSpPr txBox="1"/>
          <p:nvPr/>
        </p:nvSpPr>
        <p:spPr>
          <a:xfrm>
            <a:off x="374067" y="5063500"/>
            <a:ext cx="1772800" cy="690400"/>
          </a:xfrm>
          <a:prstGeom prst="rect">
            <a:avLst/>
          </a:prstGeom>
          <a:noFill/>
          <a:ln>
            <a:noFill/>
          </a:ln>
        </p:spPr>
        <p:txBody>
          <a:bodyPr spcFirstLastPara="1" wrap="square" lIns="121900" tIns="121900" rIns="121900" bIns="121900" anchor="t" anchorCtr="0">
            <a:noAutofit/>
          </a:bodyPr>
          <a:lstStyle/>
          <a:p>
            <a:pPr>
              <a:buClr>
                <a:srgbClr val="000000"/>
              </a:buClr>
              <a:buFont typeface="Arial"/>
              <a:buNone/>
            </a:pPr>
            <a:r>
              <a:rPr lang="en" sz="1867" kern="0">
                <a:solidFill>
                  <a:srgbClr val="000000"/>
                </a:solidFill>
                <a:cs typeface="Arial"/>
                <a:sym typeface="Arial"/>
              </a:rPr>
              <a:t>(more inputs)</a:t>
            </a:r>
            <a:endParaRPr sz="1867" kern="0">
              <a:solidFill>
                <a:srgbClr val="000000"/>
              </a:solidFill>
              <a:cs typeface="Arial"/>
              <a:sym typeface="Arial"/>
            </a:endParaRPr>
          </a:p>
        </p:txBody>
      </p:sp>
    </p:spTree>
    <p:extLst>
      <p:ext uri="{BB962C8B-B14F-4D97-AF65-F5344CB8AC3E}">
        <p14:creationId xmlns:p14="http://schemas.microsoft.com/office/powerpoint/2010/main" val="132386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1000"/>
                                        <p:tgtEl>
                                          <p:spTgt spid="153"/>
                                        </p:tgtEl>
                                      </p:cBhvr>
                                    </p:animEffect>
                                  </p:childTnLst>
                                </p:cTn>
                              </p:par>
                              <p:par>
                                <p:cTn id="8" presetID="10" presetClass="entr" presetSubtype="0"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Effect transition="in" filter="fade">
                                      <p:cBhvr>
                                        <p:cTn id="10" dur="1000"/>
                                        <p:tgtEl>
                                          <p:spTgt spid="154"/>
                                        </p:tgtEl>
                                      </p:cBhvr>
                                    </p:animEffect>
                                  </p:childTnLst>
                                </p:cTn>
                              </p:par>
                              <p:par>
                                <p:cTn id="11" presetID="10" presetClass="entr" presetSubtype="0" fill="hold" nodeType="withEffect">
                                  <p:stCondLst>
                                    <p:cond delay="0"/>
                                  </p:stCondLst>
                                  <p:childTnLst>
                                    <p:set>
                                      <p:cBhvr>
                                        <p:cTn id="12" dur="1" fill="hold">
                                          <p:stCondLst>
                                            <p:cond delay="0"/>
                                          </p:stCondLst>
                                        </p:cTn>
                                        <p:tgtEl>
                                          <p:spTgt spid="155"/>
                                        </p:tgtEl>
                                        <p:attrNameLst>
                                          <p:attrName>style.visibility</p:attrName>
                                        </p:attrNameLst>
                                      </p:cBhvr>
                                      <p:to>
                                        <p:strVal val="visible"/>
                                      </p:to>
                                    </p:set>
                                    <p:animEffect transition="in" filter="fade">
                                      <p:cBhvr>
                                        <p:cTn id="13" dur="1000"/>
                                        <p:tgtEl>
                                          <p:spTgt spid="155"/>
                                        </p:tgtEl>
                                      </p:cBhvr>
                                    </p:animEffect>
                                  </p:childTnLst>
                                </p:cTn>
                              </p:par>
                              <p:par>
                                <p:cTn id="14" presetID="10" presetClass="entr" presetSubtype="0" fill="hold" nodeType="withEffect">
                                  <p:stCondLst>
                                    <p:cond delay="0"/>
                                  </p:stCondLst>
                                  <p:childTnLst>
                                    <p:set>
                                      <p:cBhvr>
                                        <p:cTn id="15" dur="1" fill="hold">
                                          <p:stCondLst>
                                            <p:cond delay="0"/>
                                          </p:stCondLst>
                                        </p:cTn>
                                        <p:tgtEl>
                                          <p:spTgt spid="156"/>
                                        </p:tgtEl>
                                        <p:attrNameLst>
                                          <p:attrName>style.visibility</p:attrName>
                                        </p:attrNameLst>
                                      </p:cBhvr>
                                      <p:to>
                                        <p:strVal val="visible"/>
                                      </p:to>
                                    </p:set>
                                    <p:animEffect transition="in" filter="fade">
                                      <p:cBhvr>
                                        <p:cTn id="16" dur="1000"/>
                                        <p:tgtEl>
                                          <p:spTgt spid="156"/>
                                        </p:tgtEl>
                                      </p:cBhvr>
                                    </p:animEffect>
                                  </p:childTnLst>
                                </p:cTn>
                              </p:par>
                              <p:par>
                                <p:cTn id="17" presetID="10" presetClass="entr" presetSubtype="0" fill="hold" nodeType="withEffect">
                                  <p:stCondLst>
                                    <p:cond delay="0"/>
                                  </p:stCondLst>
                                  <p:childTnLst>
                                    <p:set>
                                      <p:cBhvr>
                                        <p:cTn id="18" dur="1" fill="hold">
                                          <p:stCondLst>
                                            <p:cond delay="0"/>
                                          </p:stCondLst>
                                        </p:cTn>
                                        <p:tgtEl>
                                          <p:spTgt spid="157"/>
                                        </p:tgtEl>
                                        <p:attrNameLst>
                                          <p:attrName>style.visibility</p:attrName>
                                        </p:attrNameLst>
                                      </p:cBhvr>
                                      <p:to>
                                        <p:strVal val="visible"/>
                                      </p:to>
                                    </p:set>
                                    <p:animEffect transition="in" filter="fade">
                                      <p:cBhvr>
                                        <p:cTn id="19" dur="1000"/>
                                        <p:tgtEl>
                                          <p:spTgt spid="157"/>
                                        </p:tgtEl>
                                      </p:cBhvr>
                                    </p:animEffect>
                                  </p:childTnLst>
                                </p:cTn>
                              </p:par>
                              <p:par>
                                <p:cTn id="20" presetID="10" presetClass="entr" presetSubtype="0" fill="hold" nodeType="with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0" y="1828800"/>
            <a:ext cx="11734799" cy="3810000"/>
          </a:xfrm>
          <a:prstGeom prst="rect">
            <a:avLst/>
          </a:prstGeom>
        </p:spPr>
      </p:pic>
    </p:spTree>
    <p:extLst>
      <p:ext uri="{BB962C8B-B14F-4D97-AF65-F5344CB8AC3E}">
        <p14:creationId xmlns:p14="http://schemas.microsoft.com/office/powerpoint/2010/main" val="34815428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52400" y="1676401"/>
            <a:ext cx="12039599" cy="2285999"/>
          </a:xfrm>
          <a:prstGeom prst="rect">
            <a:avLst/>
          </a:prstGeom>
        </p:spPr>
      </p:pic>
    </p:spTree>
    <p:extLst>
      <p:ext uri="{BB962C8B-B14F-4D97-AF65-F5344CB8AC3E}">
        <p14:creationId xmlns:p14="http://schemas.microsoft.com/office/powerpoint/2010/main" val="32073963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dirty="0"/>
              <a:t>How it works</a:t>
            </a:r>
          </a:p>
          <a:p>
            <a:pPr marL="50799" indent="0">
              <a:buNone/>
            </a:pPr>
            <a:r>
              <a:rPr lang="en-IN" dirty="0"/>
              <a:t> </a:t>
            </a:r>
            <a:r>
              <a:rPr lang="en-IN" dirty="0" smtClean="0"/>
              <a:t>1</a:t>
            </a:r>
            <a:r>
              <a:rPr lang="en-IN" dirty="0"/>
              <a:t>. The locking </a:t>
            </a:r>
            <a:r>
              <a:rPr lang="en-IN" dirty="0" smtClean="0"/>
              <a:t>script (</a:t>
            </a:r>
            <a:r>
              <a:rPr lang="en-IN" dirty="0" err="1" smtClean="0"/>
              <a:t>scriptPubkey</a:t>
            </a:r>
            <a:r>
              <a:rPr lang="en-IN" dirty="0" smtClean="0"/>
              <a:t>) </a:t>
            </a:r>
            <a:r>
              <a:rPr lang="en-IN" dirty="0"/>
              <a:t>is stored in the UTXO and defines the conditions for spending the </a:t>
            </a:r>
            <a:r>
              <a:rPr lang="en-IN" dirty="0" err="1"/>
              <a:t>bitcoins</a:t>
            </a:r>
            <a:r>
              <a:rPr lang="en-IN" dirty="0"/>
              <a:t>.</a:t>
            </a:r>
          </a:p>
          <a:p>
            <a:pPr marL="50799" indent="0">
              <a:buNone/>
            </a:pPr>
            <a:r>
              <a:rPr lang="en-IN" dirty="0"/>
              <a:t>2. The spender creates an unlocking script that satisfies the conditions of the locking script.</a:t>
            </a:r>
          </a:p>
          <a:p>
            <a:pPr marL="50799" indent="0">
              <a:buNone/>
            </a:pPr>
            <a:r>
              <a:rPr lang="en-IN" dirty="0"/>
              <a:t>3. The unlocking script </a:t>
            </a:r>
            <a:r>
              <a:rPr lang="en-IN" dirty="0" smtClean="0"/>
              <a:t>(</a:t>
            </a:r>
            <a:r>
              <a:rPr lang="en-IN" dirty="0" err="1" smtClean="0"/>
              <a:t>ScriptSig</a:t>
            </a:r>
            <a:r>
              <a:rPr lang="en-IN" dirty="0" smtClean="0"/>
              <a:t>) is </a:t>
            </a:r>
            <a:r>
              <a:rPr lang="en-IN" dirty="0"/>
              <a:t>combined with the locking script to create a valid transaction.</a:t>
            </a:r>
          </a:p>
          <a:p>
            <a:pPr marL="50799" indent="0">
              <a:buNone/>
            </a:pPr>
            <a:r>
              <a:rPr lang="en-IN" dirty="0"/>
              <a:t>4. The transaction is verified by the network, and if valid, the </a:t>
            </a:r>
            <a:r>
              <a:rPr lang="en-IN" dirty="0" err="1"/>
              <a:t>bitcoins</a:t>
            </a:r>
            <a:r>
              <a:rPr lang="en-IN" dirty="0"/>
              <a:t> are spent.</a:t>
            </a:r>
          </a:p>
          <a:p>
            <a:pPr marL="50799" indent="0">
              <a:buNone/>
            </a:pPr>
            <a:endParaRPr lang="en-IN" dirty="0"/>
          </a:p>
        </p:txBody>
      </p:sp>
    </p:spTree>
    <p:extLst>
      <p:ext uri="{BB962C8B-B14F-4D97-AF65-F5344CB8AC3E}">
        <p14:creationId xmlns:p14="http://schemas.microsoft.com/office/powerpoint/2010/main" val="544625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81000"/>
            <a:ext cx="10515600" cy="5795963"/>
          </a:xfrm>
        </p:spPr>
        <p:txBody>
          <a:bodyPr/>
          <a:lstStyle/>
          <a:p>
            <a:pPr marL="0" indent="0" algn="just">
              <a:buNone/>
            </a:pPr>
            <a:r>
              <a:rPr lang="en-IN" dirty="0"/>
              <a:t>UTXOs are stored in the </a:t>
            </a:r>
            <a:r>
              <a:rPr lang="en-IN" dirty="0" err="1"/>
              <a:t>Bitcoin</a:t>
            </a:r>
            <a:r>
              <a:rPr lang="en-IN" dirty="0"/>
              <a:t> </a:t>
            </a:r>
            <a:r>
              <a:rPr lang="en-IN" dirty="0" err="1"/>
              <a:t>blockchain</a:t>
            </a:r>
            <a:r>
              <a:rPr lang="en-IN" dirty="0"/>
              <a:t> and are used to track the ownership of </a:t>
            </a:r>
            <a:r>
              <a:rPr lang="en-IN" dirty="0" err="1"/>
              <a:t>bitcoins</a:t>
            </a:r>
            <a:r>
              <a:rPr lang="en-IN" dirty="0"/>
              <a:t>. Each UTXO has the following properties:</a:t>
            </a:r>
          </a:p>
          <a:p>
            <a:pPr marL="0" indent="0" algn="just">
              <a:buNone/>
            </a:pPr>
            <a:r>
              <a:rPr lang="en-IN" dirty="0"/>
              <a:t> </a:t>
            </a:r>
          </a:p>
          <a:p>
            <a:pPr marL="0" indent="0" algn="just">
              <a:buNone/>
            </a:pPr>
            <a:r>
              <a:rPr lang="en-IN" dirty="0"/>
              <a:t>- Transaction ID: The ID of the transaction that created the UTXO.</a:t>
            </a:r>
          </a:p>
          <a:p>
            <a:pPr marL="0" indent="0" algn="just">
              <a:buNone/>
            </a:pPr>
            <a:r>
              <a:rPr lang="en-IN" dirty="0"/>
              <a:t>- Output index: The index of the output in the transaction.</a:t>
            </a:r>
          </a:p>
          <a:p>
            <a:pPr marL="0" indent="0" algn="just">
              <a:buNone/>
            </a:pPr>
            <a:r>
              <a:rPr lang="en-IN" dirty="0"/>
              <a:t>- Address: The </a:t>
            </a:r>
            <a:r>
              <a:rPr lang="en-IN" dirty="0" err="1"/>
              <a:t>Bitcoin</a:t>
            </a:r>
            <a:r>
              <a:rPr lang="en-IN" dirty="0"/>
              <a:t> address that received the UTXO.</a:t>
            </a:r>
          </a:p>
          <a:p>
            <a:pPr marL="0" indent="0" algn="just">
              <a:buNone/>
            </a:pPr>
            <a:r>
              <a:rPr lang="en-IN" dirty="0"/>
              <a:t>- Amount: The amount of </a:t>
            </a:r>
            <a:r>
              <a:rPr lang="en-IN" dirty="0" err="1"/>
              <a:t>bitcoins</a:t>
            </a:r>
            <a:r>
              <a:rPr lang="en-IN" dirty="0"/>
              <a:t> in the UTXO.</a:t>
            </a:r>
          </a:p>
          <a:p>
            <a:pPr marL="0" indent="0" algn="just">
              <a:buNone/>
            </a:pPr>
            <a:r>
              <a:rPr lang="en-IN" dirty="0"/>
              <a:t>- </a:t>
            </a:r>
            <a:r>
              <a:rPr lang="en-IN" dirty="0" err="1"/>
              <a:t>ScriptPubKey</a:t>
            </a:r>
            <a:r>
              <a:rPr lang="en-IN" dirty="0"/>
              <a:t>: The locking script that defines the conditions for spending the UTXO.</a:t>
            </a:r>
          </a:p>
          <a:p>
            <a:pPr marL="0" indent="0">
              <a:buNone/>
            </a:pPr>
            <a:endParaRPr lang="en-IN" dirty="0"/>
          </a:p>
        </p:txBody>
      </p:sp>
    </p:spTree>
    <p:extLst>
      <p:ext uri="{BB962C8B-B14F-4D97-AF65-F5344CB8AC3E}">
        <p14:creationId xmlns:p14="http://schemas.microsoft.com/office/powerpoint/2010/main" val="23634753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pPr>
            <a:r>
              <a:rPr lang="en-IN" dirty="0"/>
              <a:t>When a user wants to spend their </a:t>
            </a:r>
            <a:r>
              <a:rPr lang="en-IN" dirty="0" err="1"/>
              <a:t>bitcoins</a:t>
            </a:r>
            <a:r>
              <a:rPr lang="en-IN" dirty="0"/>
              <a:t>, they create a new transaction that references the UTXO(s) they want to </a:t>
            </a:r>
            <a:r>
              <a:rPr lang="en-IN" dirty="0" smtClean="0"/>
              <a:t>spend</a:t>
            </a:r>
            <a:r>
              <a:rPr lang="en-IN" dirty="0"/>
              <a:t>.</a:t>
            </a:r>
            <a:endParaRPr lang="en-IN" dirty="0" smtClean="0"/>
          </a:p>
          <a:p>
            <a:pPr marL="0" indent="0" algn="just">
              <a:buNone/>
            </a:pPr>
            <a:r>
              <a:rPr lang="en-IN" dirty="0"/>
              <a:t>A</a:t>
            </a:r>
            <a:r>
              <a:rPr lang="en-IN" dirty="0" smtClean="0"/>
              <a:t>nd </a:t>
            </a:r>
            <a:r>
              <a:rPr lang="en-IN" dirty="0"/>
              <a:t>provides an unlocking script to satisfy the conditions of the locking script. </a:t>
            </a:r>
            <a:endParaRPr lang="en-IN" dirty="0" smtClean="0"/>
          </a:p>
          <a:p>
            <a:pPr marL="0" indent="0" algn="just">
              <a:buNone/>
            </a:pPr>
            <a:r>
              <a:rPr lang="en-IN" dirty="0" smtClean="0"/>
              <a:t>If </a:t>
            </a:r>
            <a:r>
              <a:rPr lang="en-IN" dirty="0"/>
              <a:t>the transaction is valid, the UTXO is marked as spent, and a new UTXO is created for the recipient.</a:t>
            </a:r>
          </a:p>
          <a:p>
            <a:pPr marL="0" indent="0">
              <a:buNone/>
            </a:pPr>
            <a:endParaRPr lang="en-IN" dirty="0"/>
          </a:p>
        </p:txBody>
      </p:sp>
    </p:spTree>
    <p:extLst>
      <p:ext uri="{BB962C8B-B14F-4D97-AF65-F5344CB8AC3E}">
        <p14:creationId xmlns:p14="http://schemas.microsoft.com/office/powerpoint/2010/main" val="29917716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2"/>
          <p:cNvSpPr txBox="1">
            <a:spLocks noGrp="1"/>
          </p:cNvSpPr>
          <p:nvPr>
            <p:ph type="title"/>
          </p:nvPr>
        </p:nvSpPr>
        <p:spPr>
          <a:xfrm>
            <a:off x="609600" y="274633"/>
            <a:ext cx="11266000" cy="639767"/>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dirty="0"/>
              <a:t>Bitcoin scripting language (“Script”)</a:t>
            </a:r>
            <a:endParaRPr dirty="0">
              <a:latin typeface="Trebuchet MS"/>
              <a:ea typeface="Trebuchet MS"/>
              <a:cs typeface="Trebuchet MS"/>
              <a:sym typeface="Trebuchet MS"/>
            </a:endParaRPr>
          </a:p>
        </p:txBody>
      </p:sp>
      <p:sp>
        <p:nvSpPr>
          <p:cNvPr id="201" name="Google Shape;201;p22"/>
          <p:cNvSpPr txBox="1">
            <a:spLocks noGrp="1"/>
          </p:cNvSpPr>
          <p:nvPr>
            <p:ph type="body" idx="1"/>
          </p:nvPr>
        </p:nvSpPr>
        <p:spPr>
          <a:xfrm>
            <a:off x="609600" y="838200"/>
            <a:ext cx="11131200" cy="49524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Design goals</a:t>
            </a:r>
            <a:endParaRPr dirty="0"/>
          </a:p>
          <a:p>
            <a:pPr marL="1219170"/>
            <a:r>
              <a:rPr lang="en" dirty="0"/>
              <a:t>Built for Bitcoin (inspired by Forth)</a:t>
            </a:r>
            <a:endParaRPr dirty="0"/>
          </a:p>
          <a:p>
            <a:pPr marL="1219170">
              <a:spcBef>
                <a:spcPts val="0"/>
              </a:spcBef>
            </a:pPr>
            <a:r>
              <a:rPr lang="en-IN" dirty="0" smtClean="0"/>
              <a:t>Stack-based</a:t>
            </a:r>
          </a:p>
          <a:p>
            <a:pPr marL="1219170">
              <a:spcBef>
                <a:spcPts val="0"/>
              </a:spcBef>
            </a:pPr>
            <a:r>
              <a:rPr lang="en-IN" dirty="0"/>
              <a:t>non Turing </a:t>
            </a:r>
            <a:r>
              <a:rPr lang="en-IN" dirty="0" smtClean="0"/>
              <a:t>complete</a:t>
            </a:r>
          </a:p>
          <a:p>
            <a:pPr marL="1219170">
              <a:spcBef>
                <a:spcPts val="0"/>
              </a:spcBef>
            </a:pPr>
            <a:r>
              <a:rPr lang="en-IN" dirty="0">
                <a:solidFill>
                  <a:srgbClr val="FF0000"/>
                </a:solidFill>
              </a:rPr>
              <a:t>Reverse Polish Notation (RPN): </a:t>
            </a:r>
            <a:endParaRPr lang="en-IN" dirty="0" smtClean="0">
              <a:solidFill>
                <a:srgbClr val="FF0000"/>
              </a:solidFill>
            </a:endParaRPr>
          </a:p>
          <a:p>
            <a:pPr marL="1219170">
              <a:spcBef>
                <a:spcPts val="0"/>
              </a:spcBef>
            </a:pPr>
            <a:r>
              <a:rPr lang="en-IN" dirty="0"/>
              <a:t>with two types of instructions</a:t>
            </a:r>
          </a:p>
          <a:p>
            <a:pPr marL="1219170">
              <a:spcBef>
                <a:spcPts val="0"/>
              </a:spcBef>
            </a:pPr>
            <a:r>
              <a:rPr lang="en" dirty="0" smtClean="0"/>
              <a:t>Support </a:t>
            </a:r>
            <a:r>
              <a:rPr lang="en" dirty="0"/>
              <a:t>for </a:t>
            </a:r>
            <a:r>
              <a:rPr lang="en" dirty="0" smtClean="0"/>
              <a:t>cryptography</a:t>
            </a:r>
          </a:p>
        </p:txBody>
      </p:sp>
      <p:sp>
        <p:nvSpPr>
          <p:cNvPr id="2" name="Rectangle 1"/>
          <p:cNvSpPr/>
          <p:nvPr/>
        </p:nvSpPr>
        <p:spPr>
          <a:xfrm>
            <a:off x="1524000" y="5791200"/>
            <a:ext cx="9677400" cy="646331"/>
          </a:xfrm>
          <a:prstGeom prst="rect">
            <a:avLst/>
          </a:prstGeom>
        </p:spPr>
        <p:txBody>
          <a:bodyPr wrap="square">
            <a:spAutoFit/>
          </a:bodyPr>
          <a:lstStyle/>
          <a:p>
            <a:r>
              <a:rPr lang="en-IN" b="1" i="1" dirty="0" smtClean="0"/>
              <a:t>In Short,  </a:t>
            </a:r>
            <a:r>
              <a:rPr lang="en-IN" b="1" i="1" dirty="0" err="1"/>
              <a:t>Bitcoin's</a:t>
            </a:r>
            <a:r>
              <a:rPr lang="en-IN" b="1" i="1" dirty="0"/>
              <a:t> script is designed to be simple, predictable, and always finish in a finite number of steps.</a:t>
            </a:r>
          </a:p>
        </p:txBody>
      </p:sp>
      <p:sp>
        <p:nvSpPr>
          <p:cNvPr id="4" name="Rectangle 3"/>
          <p:cNvSpPr/>
          <p:nvPr/>
        </p:nvSpPr>
        <p:spPr>
          <a:xfrm>
            <a:off x="7315200" y="1582340"/>
            <a:ext cx="4191000" cy="3693319"/>
          </a:xfrm>
          <a:prstGeom prst="rect">
            <a:avLst/>
          </a:prstGeom>
        </p:spPr>
        <p:txBody>
          <a:bodyPr wrap="square">
            <a:spAutoFit/>
          </a:bodyPr>
          <a:lstStyle/>
          <a:p>
            <a:r>
              <a:rPr lang="en-IN" b="1" dirty="0">
                <a:solidFill>
                  <a:srgbClr val="FF0000"/>
                </a:solidFill>
              </a:rPr>
              <a:t>Example of RPN in </a:t>
            </a:r>
            <a:r>
              <a:rPr lang="en-IN" b="1" dirty="0" err="1">
                <a:solidFill>
                  <a:srgbClr val="FF0000"/>
                </a:solidFill>
              </a:rPr>
              <a:t>Bitcoin</a:t>
            </a:r>
            <a:r>
              <a:rPr lang="en-IN" b="1" dirty="0">
                <a:solidFill>
                  <a:srgbClr val="FF0000"/>
                </a:solidFill>
              </a:rPr>
              <a:t> Script</a:t>
            </a:r>
          </a:p>
          <a:p>
            <a:endParaRPr lang="en-IN" b="1" dirty="0" smtClean="0">
              <a:solidFill>
                <a:srgbClr val="FF0000"/>
              </a:solidFill>
            </a:endParaRPr>
          </a:p>
          <a:p>
            <a:r>
              <a:rPr lang="en-IN" dirty="0" smtClean="0">
                <a:solidFill>
                  <a:srgbClr val="FF0000"/>
                </a:solidFill>
              </a:rPr>
              <a:t>A </a:t>
            </a:r>
            <a:r>
              <a:rPr lang="en-IN" dirty="0">
                <a:solidFill>
                  <a:srgbClr val="FF0000"/>
                </a:solidFill>
              </a:rPr>
              <a:t>simple </a:t>
            </a:r>
            <a:r>
              <a:rPr lang="en-IN" dirty="0" err="1">
                <a:solidFill>
                  <a:srgbClr val="FF0000"/>
                </a:solidFill>
              </a:rPr>
              <a:t>Bitcoin</a:t>
            </a:r>
            <a:r>
              <a:rPr lang="en-IN" dirty="0">
                <a:solidFill>
                  <a:srgbClr val="FF0000"/>
                </a:solidFill>
              </a:rPr>
              <a:t> </a:t>
            </a:r>
            <a:r>
              <a:rPr lang="en-IN" dirty="0" smtClean="0">
                <a:solidFill>
                  <a:srgbClr val="FF0000"/>
                </a:solidFill>
              </a:rPr>
              <a:t>Script:</a:t>
            </a:r>
          </a:p>
          <a:p>
            <a:r>
              <a:rPr lang="en-IN" b="1" dirty="0" smtClean="0">
                <a:solidFill>
                  <a:srgbClr val="FF0000"/>
                </a:solidFill>
              </a:rPr>
              <a:t>&lt;Signature</a:t>
            </a:r>
            <a:r>
              <a:rPr lang="en-IN" b="1" dirty="0">
                <a:solidFill>
                  <a:srgbClr val="FF0000"/>
                </a:solidFill>
              </a:rPr>
              <a:t>&gt; &lt;</a:t>
            </a:r>
            <a:r>
              <a:rPr lang="en-IN" b="1" dirty="0" err="1">
                <a:solidFill>
                  <a:srgbClr val="FF0000"/>
                </a:solidFill>
              </a:rPr>
              <a:t>PublicKey</a:t>
            </a:r>
            <a:r>
              <a:rPr lang="en-IN" b="1" dirty="0">
                <a:solidFill>
                  <a:srgbClr val="FF0000"/>
                </a:solidFill>
              </a:rPr>
              <a:t>&gt; </a:t>
            </a:r>
            <a:r>
              <a:rPr lang="en-IN" b="1" dirty="0" smtClean="0">
                <a:solidFill>
                  <a:srgbClr val="FF0000"/>
                </a:solidFill>
              </a:rPr>
              <a:t>OP_CHECKSIG</a:t>
            </a:r>
          </a:p>
          <a:p>
            <a:endParaRPr lang="en-IN" b="1" dirty="0" smtClean="0">
              <a:solidFill>
                <a:srgbClr val="FF0000"/>
              </a:solidFill>
            </a:endParaRPr>
          </a:p>
          <a:p>
            <a:pPr marL="285750" indent="-285750">
              <a:buFont typeface="Wingdings" panose="05000000000000000000" pitchFamily="2" charset="2"/>
              <a:buChar char="ü"/>
            </a:pPr>
            <a:r>
              <a:rPr lang="en-IN" b="1" dirty="0" smtClean="0">
                <a:solidFill>
                  <a:srgbClr val="FF0000"/>
                </a:solidFill>
              </a:rPr>
              <a:t>Signature </a:t>
            </a:r>
            <a:r>
              <a:rPr lang="en-IN" b="1" dirty="0">
                <a:solidFill>
                  <a:srgbClr val="FF0000"/>
                </a:solidFill>
              </a:rPr>
              <a:t>and </a:t>
            </a:r>
            <a:r>
              <a:rPr lang="en-IN" b="1" dirty="0" err="1">
                <a:solidFill>
                  <a:srgbClr val="FF0000"/>
                </a:solidFill>
              </a:rPr>
              <a:t>PublicKey</a:t>
            </a:r>
            <a:r>
              <a:rPr lang="en-IN" b="1" dirty="0">
                <a:solidFill>
                  <a:srgbClr val="FF0000"/>
                </a:solidFill>
              </a:rPr>
              <a:t> are pushed onto the stack</a:t>
            </a:r>
            <a:r>
              <a:rPr lang="en-IN" b="1" dirty="0" smtClean="0">
                <a:solidFill>
                  <a:srgbClr val="FF0000"/>
                </a:solidFill>
              </a:rPr>
              <a:t>.</a:t>
            </a:r>
          </a:p>
          <a:p>
            <a:pPr marL="285750" indent="-285750">
              <a:buFont typeface="Wingdings" panose="05000000000000000000" pitchFamily="2" charset="2"/>
              <a:buChar char="ü"/>
            </a:pPr>
            <a:r>
              <a:rPr lang="en-IN" b="1" dirty="0" smtClean="0">
                <a:solidFill>
                  <a:srgbClr val="FF0000"/>
                </a:solidFill>
              </a:rPr>
              <a:t>OP_CHECKSIG </a:t>
            </a:r>
            <a:r>
              <a:rPr lang="en-IN" b="1" dirty="0">
                <a:solidFill>
                  <a:srgbClr val="FF0000"/>
                </a:solidFill>
              </a:rPr>
              <a:t>pops these values from the stack and verifies the signature</a:t>
            </a:r>
            <a:r>
              <a:rPr lang="en-IN" b="1" dirty="0" smtClean="0">
                <a:solidFill>
                  <a:srgbClr val="FF0000"/>
                </a:solidFill>
              </a:rPr>
              <a:t>.</a:t>
            </a:r>
          </a:p>
          <a:p>
            <a:endParaRPr lang="en-IN" b="1" dirty="0">
              <a:solidFill>
                <a:srgbClr val="FF0000"/>
              </a:solidFill>
            </a:endParaRPr>
          </a:p>
          <a:p>
            <a:pPr marL="285750" indent="-285750">
              <a:buFont typeface="Wingdings" panose="05000000000000000000" pitchFamily="2" charset="2"/>
              <a:buChar char="ü"/>
            </a:pPr>
            <a:r>
              <a:rPr lang="en-IN" b="1" dirty="0" smtClean="0">
                <a:solidFill>
                  <a:srgbClr val="FF0000"/>
                </a:solidFill>
              </a:rPr>
              <a:t>In </a:t>
            </a:r>
            <a:r>
              <a:rPr lang="en-IN" b="1" dirty="0">
                <a:solidFill>
                  <a:srgbClr val="FF0000"/>
                </a:solidFill>
              </a:rPr>
              <a:t>RPN, this </a:t>
            </a:r>
            <a:r>
              <a:rPr lang="en-IN" b="1" dirty="0" err="1">
                <a:solidFill>
                  <a:srgbClr val="FF0000"/>
                </a:solidFill>
              </a:rPr>
              <a:t>means:The</a:t>
            </a:r>
            <a:r>
              <a:rPr lang="en-IN" b="1" dirty="0">
                <a:solidFill>
                  <a:srgbClr val="FF0000"/>
                </a:solidFill>
              </a:rPr>
              <a:t> operands (Signature, </a:t>
            </a:r>
            <a:r>
              <a:rPr lang="en-IN" b="1" dirty="0" err="1">
                <a:solidFill>
                  <a:srgbClr val="FF0000"/>
                </a:solidFill>
              </a:rPr>
              <a:t>PublicKey</a:t>
            </a:r>
            <a:r>
              <a:rPr lang="en-IN" b="1" dirty="0">
                <a:solidFill>
                  <a:srgbClr val="FF0000"/>
                </a:solidFill>
              </a:rPr>
              <a:t>) come first</a:t>
            </a:r>
            <a:r>
              <a:rPr lang="en-IN" b="1" dirty="0" smtClean="0">
                <a:solidFill>
                  <a:srgbClr val="FF0000"/>
                </a:solidFill>
              </a:rPr>
              <a:t>.</a:t>
            </a:r>
          </a:p>
          <a:p>
            <a:pPr marL="285750" indent="-285750">
              <a:buFont typeface="Wingdings" panose="05000000000000000000" pitchFamily="2" charset="2"/>
              <a:buChar char="ü"/>
            </a:pPr>
            <a:r>
              <a:rPr lang="en-IN" b="1" dirty="0" smtClean="0">
                <a:solidFill>
                  <a:srgbClr val="FF0000"/>
                </a:solidFill>
              </a:rPr>
              <a:t>The </a:t>
            </a:r>
            <a:r>
              <a:rPr lang="en-IN" b="1" dirty="0">
                <a:solidFill>
                  <a:srgbClr val="FF0000"/>
                </a:solidFill>
              </a:rPr>
              <a:t>operator (OP_CHECKSIG) follows</a:t>
            </a:r>
            <a:r>
              <a:rPr lang="en-IN" dirty="0">
                <a:solidFill>
                  <a:srgbClr val="FF0000"/>
                </a:solidFill>
              </a:rPr>
              <a:t>.</a:t>
            </a:r>
          </a:p>
        </p:txBody>
      </p:sp>
    </p:spTree>
    <p:extLst>
      <p:ext uri="{BB962C8B-B14F-4D97-AF65-F5344CB8AC3E}">
        <p14:creationId xmlns:p14="http://schemas.microsoft.com/office/powerpoint/2010/main" val="153714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1">
                                            <p:txEl>
                                              <p:pRg st="5" end="5"/>
                                            </p:txEl>
                                          </p:spTgt>
                                        </p:tgtEl>
                                        <p:attrNameLst>
                                          <p:attrName>style.visibility</p:attrName>
                                        </p:attrNameLst>
                                      </p:cBhvr>
                                      <p:to>
                                        <p:strVal val="visible"/>
                                      </p:to>
                                    </p:set>
                                    <p:anim calcmode="lin" valueType="num">
                                      <p:cBhvr additive="base">
                                        <p:cTn id="13" dur="500" fill="hold"/>
                                        <p:tgtEl>
                                          <p:spTgt spid="20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1">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1">
                                            <p:txEl>
                                              <p:pRg st="6" end="6"/>
                                            </p:txEl>
                                          </p:spTgt>
                                        </p:tgtEl>
                                        <p:attrNameLst>
                                          <p:attrName>style.visibility</p:attrName>
                                        </p:attrNameLst>
                                      </p:cBhvr>
                                      <p:to>
                                        <p:strVal val="visible"/>
                                      </p:to>
                                    </p:set>
                                    <p:anim calcmode="lin" valueType="num">
                                      <p:cBhvr additive="base">
                                        <p:cTn id="17" dur="500" fill="hold"/>
                                        <p:tgtEl>
                                          <p:spTgt spid="201">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anim calcmode="lin" valueType="num">
                                      <p:cBhvr additive="base">
                                        <p:cTn id="2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Bitcoin script instructions</a:t>
            </a:r>
            <a:endParaRPr i="1"/>
          </a:p>
        </p:txBody>
      </p:sp>
      <p:sp>
        <p:nvSpPr>
          <p:cNvPr id="231" name="Google Shape;231;p24"/>
          <p:cNvSpPr txBox="1">
            <a:spLocks noGrp="1"/>
          </p:cNvSpPr>
          <p:nvPr>
            <p:ph type="body" idx="1"/>
          </p:nvPr>
        </p:nvSpPr>
        <p:spPr>
          <a:xfrm>
            <a:off x="609600" y="1600200"/>
            <a:ext cx="11131200" cy="48652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dirty="0"/>
              <a:t>256 opcodes total (15 disabled, 75 reserved)</a:t>
            </a:r>
            <a:endParaRPr dirty="0"/>
          </a:p>
          <a:p>
            <a:pPr marL="1219170"/>
            <a:r>
              <a:rPr lang="en" dirty="0"/>
              <a:t>Arithmetic</a:t>
            </a:r>
            <a:endParaRPr dirty="0"/>
          </a:p>
          <a:p>
            <a:pPr marL="1219170">
              <a:spcBef>
                <a:spcPts val="0"/>
              </a:spcBef>
            </a:pPr>
            <a:r>
              <a:rPr lang="en" dirty="0" smtClean="0"/>
              <a:t>Logic/data </a:t>
            </a:r>
            <a:r>
              <a:rPr lang="en" dirty="0"/>
              <a:t>handling</a:t>
            </a:r>
            <a:endParaRPr dirty="0"/>
          </a:p>
          <a:p>
            <a:pPr marL="1219170">
              <a:spcBef>
                <a:spcPts val="0"/>
              </a:spcBef>
            </a:pPr>
            <a:r>
              <a:rPr lang="en" dirty="0"/>
              <a:t>Crypto!</a:t>
            </a:r>
            <a:endParaRPr dirty="0"/>
          </a:p>
          <a:p>
            <a:pPr marL="2438339" lvl="1"/>
            <a:r>
              <a:rPr lang="en" dirty="0"/>
              <a:t>Hashes</a:t>
            </a:r>
            <a:endParaRPr dirty="0"/>
          </a:p>
          <a:p>
            <a:pPr marL="2438339" lvl="1"/>
            <a:r>
              <a:rPr lang="en" dirty="0"/>
              <a:t>Signature verification</a:t>
            </a:r>
            <a:endParaRPr dirty="0"/>
          </a:p>
          <a:p>
            <a:pPr marL="2438339" lvl="1"/>
            <a:r>
              <a:rPr lang="en" dirty="0"/>
              <a:t>Multi-signature verification</a:t>
            </a:r>
            <a:endParaRPr dirty="0"/>
          </a:p>
        </p:txBody>
      </p:sp>
    </p:spTree>
    <p:extLst>
      <p:ext uri="{BB962C8B-B14F-4D97-AF65-F5344CB8AC3E}">
        <p14:creationId xmlns:p14="http://schemas.microsoft.com/office/powerpoint/2010/main" val="286953407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381000"/>
            <a:ext cx="10515600" cy="5795963"/>
          </a:xfrm>
        </p:spPr>
        <p:txBody>
          <a:bodyPr/>
          <a:lstStyle/>
          <a:p>
            <a:pPr marL="0" indent="0">
              <a:buNone/>
            </a:pPr>
            <a:r>
              <a:rPr lang="en-IN" dirty="0" smtClean="0"/>
              <a:t>Commonly Used </a:t>
            </a:r>
            <a:r>
              <a:rPr lang="en-IN" dirty="0" err="1" smtClean="0"/>
              <a:t>opcodes</a:t>
            </a:r>
            <a:r>
              <a:rPr lang="en-IN" dirty="0" smtClean="0"/>
              <a:t>:</a:t>
            </a:r>
            <a:endParaRPr lang="en-IN" dirty="0"/>
          </a:p>
        </p:txBody>
      </p:sp>
      <p:pic>
        <p:nvPicPr>
          <p:cNvPr id="4" name="Picture 3"/>
          <p:cNvPicPr>
            <a:picLocks noChangeAspect="1"/>
          </p:cNvPicPr>
          <p:nvPr/>
        </p:nvPicPr>
        <p:blipFill>
          <a:blip r:embed="rId2"/>
          <a:stretch>
            <a:fillRect/>
          </a:stretch>
        </p:blipFill>
        <p:spPr>
          <a:xfrm>
            <a:off x="762000" y="762000"/>
            <a:ext cx="9182100" cy="4800600"/>
          </a:xfrm>
          <a:prstGeom prst="rect">
            <a:avLst/>
          </a:prstGeom>
        </p:spPr>
      </p:pic>
      <p:pic>
        <p:nvPicPr>
          <p:cNvPr id="6" name="Picture 5"/>
          <p:cNvPicPr>
            <a:picLocks noChangeAspect="1"/>
          </p:cNvPicPr>
          <p:nvPr/>
        </p:nvPicPr>
        <p:blipFill>
          <a:blip r:embed="rId3"/>
          <a:stretch>
            <a:fillRect/>
          </a:stretch>
        </p:blipFill>
        <p:spPr>
          <a:xfrm>
            <a:off x="838200" y="5486400"/>
            <a:ext cx="9067800" cy="993734"/>
          </a:xfrm>
          <a:prstGeom prst="rect">
            <a:avLst/>
          </a:prstGeom>
        </p:spPr>
      </p:pic>
    </p:spTree>
    <p:extLst>
      <p:ext uri="{BB962C8B-B14F-4D97-AF65-F5344CB8AC3E}">
        <p14:creationId xmlns:p14="http://schemas.microsoft.com/office/powerpoint/2010/main" val="357556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sz="half" idx="1"/>
          </p:nvPr>
        </p:nvSpPr>
        <p:spPr>
          <a:xfrm>
            <a:off x="914400" y="381000"/>
            <a:ext cx="5181600" cy="5491163"/>
          </a:xfrm>
        </p:spPr>
        <p:txBody>
          <a:bodyPr>
            <a:normAutofit fontScale="62500" lnSpcReduction="20000"/>
          </a:bodyPr>
          <a:lstStyle/>
          <a:p>
            <a:pPr marL="0" indent="0">
              <a:buNone/>
            </a:pPr>
            <a:r>
              <a:rPr lang="en-IN" sz="4500" b="1" dirty="0"/>
              <a:t>Types of standard Transaction scripts:</a:t>
            </a:r>
          </a:p>
          <a:p>
            <a:pPr marL="0" indent="0">
              <a:buNone/>
            </a:pPr>
            <a:r>
              <a:rPr lang="en-IN" b="1" dirty="0"/>
              <a:t>1</a:t>
            </a:r>
            <a:r>
              <a:rPr lang="en-IN" b="1" dirty="0">
                <a:solidFill>
                  <a:srgbClr val="FF0000"/>
                </a:solidFill>
              </a:rPr>
              <a:t>. </a:t>
            </a:r>
            <a:r>
              <a:rPr lang="en-IN" sz="3800" b="1" dirty="0">
                <a:solidFill>
                  <a:srgbClr val="FF0000"/>
                </a:solidFill>
              </a:rPr>
              <a:t>P2PKH (Pay-to-Public-Key-Hash) Script</a:t>
            </a:r>
            <a:r>
              <a:rPr lang="en-IN" sz="3800" dirty="0"/>
              <a:t>:</a:t>
            </a:r>
          </a:p>
          <a:p>
            <a:pPr marL="0" indent="0">
              <a:buNone/>
            </a:pPr>
            <a:r>
              <a:rPr lang="en-IN" sz="3800" dirty="0"/>
              <a:t>OP_DUP OP_HASH160 &lt;</a:t>
            </a:r>
            <a:r>
              <a:rPr lang="en-IN" sz="3800" dirty="0" err="1"/>
              <a:t>pubKeyHash</a:t>
            </a:r>
            <a:r>
              <a:rPr lang="en-IN" sz="3800" dirty="0"/>
              <a:t>&gt; OP_EQUALVERIFY OP_CHECKSIG</a:t>
            </a:r>
          </a:p>
          <a:p>
            <a:pPr marL="0" indent="0">
              <a:buNone/>
            </a:pPr>
            <a:r>
              <a:rPr lang="en-IN" sz="3800" dirty="0"/>
              <a:t>Example:</a:t>
            </a:r>
          </a:p>
          <a:p>
            <a:r>
              <a:rPr lang="en-IN" sz="3800" dirty="0"/>
              <a:t>OP_DUP OP_HASH160 76a914b4736d6f2b3d6f6f6f6f6f6f6f6f6f6f6f6f OP_EQUALVERIFY OP_CHECKSIG</a:t>
            </a:r>
          </a:p>
          <a:p>
            <a:endParaRPr lang="en-IN" sz="3800" dirty="0"/>
          </a:p>
          <a:p>
            <a:pPr algn="just"/>
            <a:r>
              <a:rPr lang="en-IN" sz="3800" dirty="0"/>
              <a:t>This script sends </a:t>
            </a:r>
            <a:r>
              <a:rPr lang="en-IN" sz="3800" dirty="0" err="1"/>
              <a:t>Bitcoins</a:t>
            </a:r>
            <a:r>
              <a:rPr lang="en-IN" sz="3800" dirty="0"/>
              <a:t> to a public key hash, requiring the recipient to provide the corresponding public key and signature to spend the funds</a:t>
            </a:r>
          </a:p>
        </p:txBody>
      </p:sp>
      <p:sp>
        <p:nvSpPr>
          <p:cNvPr id="4" name="Content Placeholder 3"/>
          <p:cNvSpPr>
            <a:spLocks noGrp="1"/>
          </p:cNvSpPr>
          <p:nvPr>
            <p:ph sz="half" idx="2"/>
          </p:nvPr>
        </p:nvSpPr>
        <p:spPr>
          <a:xfrm>
            <a:off x="6172200" y="381000"/>
            <a:ext cx="5181600" cy="5795963"/>
          </a:xfrm>
        </p:spPr>
        <p:txBody>
          <a:bodyPr>
            <a:normAutofit fontScale="62500" lnSpcReduction="20000"/>
          </a:bodyPr>
          <a:lstStyle/>
          <a:p>
            <a:r>
              <a:rPr lang="en-IN" dirty="0"/>
              <a:t>1. Public Key Hash: The sender generates a public key hash (address) from the recipient's public key using a one-way cryptographic function (RIPEMD-160 and SHA-256).</a:t>
            </a:r>
          </a:p>
          <a:p>
            <a:r>
              <a:rPr lang="en-IN" dirty="0"/>
              <a:t>2. Script Creation: The sender creates a P2PKH script, which includes:</a:t>
            </a:r>
          </a:p>
          <a:p>
            <a:r>
              <a:rPr lang="en-IN" dirty="0"/>
              <a:t>    - OP_DUP (duplicate top stack element)</a:t>
            </a:r>
          </a:p>
          <a:p>
            <a:r>
              <a:rPr lang="en-IN" dirty="0"/>
              <a:t>    - OP_HASH160 (hash top stack element with RIPEMD-160 and SHA-256)</a:t>
            </a:r>
          </a:p>
          <a:p>
            <a:r>
              <a:rPr lang="en-IN" dirty="0"/>
              <a:t>    - Public Key Hash (address)</a:t>
            </a:r>
          </a:p>
          <a:p>
            <a:r>
              <a:rPr lang="en-IN" dirty="0"/>
              <a:t>    - OP_EQUALVERIFY (check if top two stack elements are equal)</a:t>
            </a:r>
          </a:p>
          <a:p>
            <a:r>
              <a:rPr lang="en-IN" dirty="0"/>
              <a:t>    - OP_CHECKSIG (verify signature)</a:t>
            </a:r>
          </a:p>
          <a:p>
            <a:r>
              <a:rPr lang="en-IN" dirty="0"/>
              <a:t>3. Transaction: The sender creates a transaction with the P2PKH script and signs it with their private key.</a:t>
            </a:r>
          </a:p>
          <a:p>
            <a:r>
              <a:rPr lang="en-IN" dirty="0"/>
              <a:t>4. Verification: The network verifies the transaction by:</a:t>
            </a:r>
          </a:p>
          <a:p>
            <a:r>
              <a:rPr lang="en-IN" dirty="0"/>
              <a:t>    - Hashing the recipient's public key to match the public key hash (address)</a:t>
            </a:r>
          </a:p>
          <a:p>
            <a:r>
              <a:rPr lang="en-IN" dirty="0"/>
              <a:t>    - Checking the signature with the recipient's public key</a:t>
            </a:r>
          </a:p>
          <a:p>
            <a:endParaRPr lang="en-IN" dirty="0"/>
          </a:p>
        </p:txBody>
      </p:sp>
    </p:spTree>
    <p:extLst>
      <p:ext uri="{BB962C8B-B14F-4D97-AF65-F5344CB8AC3E}">
        <p14:creationId xmlns:p14="http://schemas.microsoft.com/office/powerpoint/2010/main" val="39571945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half" idx="1"/>
          </p:nvPr>
        </p:nvSpPr>
        <p:spPr>
          <a:xfrm>
            <a:off x="838200" y="381000"/>
            <a:ext cx="5181600" cy="5795963"/>
          </a:xfrm>
        </p:spPr>
        <p:txBody>
          <a:bodyPr>
            <a:normAutofit fontScale="92500" lnSpcReduction="10000"/>
          </a:bodyPr>
          <a:lstStyle/>
          <a:p>
            <a:pPr marL="0" indent="0">
              <a:buNone/>
            </a:pPr>
            <a:r>
              <a:rPr lang="en-IN" b="1" dirty="0">
                <a:solidFill>
                  <a:srgbClr val="FF0000"/>
                </a:solidFill>
              </a:rPr>
              <a:t>2.P2SH (Pay-to-Script-Hash) Script:</a:t>
            </a:r>
          </a:p>
          <a:p>
            <a:pPr marL="0" indent="0">
              <a:buNone/>
            </a:pPr>
            <a:r>
              <a:rPr lang="en-IN" dirty="0"/>
              <a:t>    </a:t>
            </a:r>
            <a:r>
              <a:rPr lang="en-IN" sz="2000" b="1" dirty="0"/>
              <a:t>OP_HASH160 &lt;</a:t>
            </a:r>
            <a:r>
              <a:rPr lang="en-IN" sz="2000" b="1" dirty="0" err="1"/>
              <a:t>scriptHash</a:t>
            </a:r>
            <a:r>
              <a:rPr lang="en-IN" sz="2000" b="1" dirty="0"/>
              <a:t>&gt; OP_EQUAL</a:t>
            </a:r>
          </a:p>
          <a:p>
            <a:pPr marL="0" indent="0">
              <a:buNone/>
            </a:pPr>
            <a:r>
              <a:rPr lang="en-IN" dirty="0"/>
              <a:t>   </a:t>
            </a:r>
            <a:r>
              <a:rPr lang="en-IN" b="1" dirty="0"/>
              <a:t>Example:</a:t>
            </a:r>
          </a:p>
          <a:p>
            <a:pPr marL="0" indent="0">
              <a:buNone/>
            </a:pPr>
            <a:r>
              <a:rPr lang="en-IN" dirty="0"/>
              <a:t>    OP_HASH160 51b7b5e8f6f6f6f6f6f6f6f6f6f6f6f6f OP_EQUAL</a:t>
            </a:r>
          </a:p>
          <a:p>
            <a:pPr marL="0" indent="0" algn="just">
              <a:buNone/>
            </a:pPr>
            <a:r>
              <a:rPr lang="en-IN" dirty="0"/>
              <a:t>This script sends </a:t>
            </a:r>
            <a:r>
              <a:rPr lang="en-IN" dirty="0" err="1"/>
              <a:t>Bitcoins</a:t>
            </a:r>
            <a:r>
              <a:rPr lang="en-IN" dirty="0"/>
              <a:t> to a script hash, requiring the recipient to provide the corresponding script and inputs to spend the funds.</a:t>
            </a:r>
          </a:p>
          <a:p>
            <a:pPr marL="0" indent="0">
              <a:buNone/>
            </a:pPr>
            <a:endParaRPr lang="en-IN" dirty="0"/>
          </a:p>
        </p:txBody>
      </p:sp>
      <p:sp>
        <p:nvSpPr>
          <p:cNvPr id="4" name="Content Placeholder 3"/>
          <p:cNvSpPr>
            <a:spLocks noGrp="1"/>
          </p:cNvSpPr>
          <p:nvPr>
            <p:ph sz="half" idx="2"/>
          </p:nvPr>
        </p:nvSpPr>
        <p:spPr>
          <a:xfrm>
            <a:off x="6172200" y="381000"/>
            <a:ext cx="5181600" cy="6477000"/>
          </a:xfrm>
        </p:spPr>
        <p:txBody>
          <a:bodyPr>
            <a:normAutofit fontScale="92500" lnSpcReduction="10000"/>
          </a:bodyPr>
          <a:lstStyle/>
          <a:p>
            <a:pPr marL="0" indent="0">
              <a:buNone/>
            </a:pPr>
            <a:r>
              <a:rPr lang="en-IN" dirty="0"/>
              <a:t>1. Script Creation: The sender creates a P2SH script, which includes:</a:t>
            </a:r>
          </a:p>
          <a:p>
            <a:pPr marL="0" indent="0">
              <a:buNone/>
            </a:pPr>
            <a:r>
              <a:rPr lang="en-IN" dirty="0"/>
              <a:t>    - Redeem script (contains the actual spending conditions)</a:t>
            </a:r>
          </a:p>
          <a:p>
            <a:pPr marL="0" indent="0">
              <a:buNone/>
            </a:pPr>
            <a:r>
              <a:rPr lang="en-IN" dirty="0" smtClean="0"/>
              <a:t> </a:t>
            </a:r>
            <a:r>
              <a:rPr lang="en-IN" dirty="0"/>
              <a:t>- OP_HASH160 (hash redeem script with RIPEMD-160 and SHA-256)</a:t>
            </a:r>
          </a:p>
          <a:p>
            <a:pPr marL="0" indent="0">
              <a:buNone/>
            </a:pPr>
            <a:r>
              <a:rPr lang="en-IN" dirty="0"/>
              <a:t>    - Script Hash (address)</a:t>
            </a:r>
          </a:p>
          <a:p>
            <a:pPr marL="0" indent="0">
              <a:buNone/>
            </a:pPr>
            <a:r>
              <a:rPr lang="en-IN" dirty="0"/>
              <a:t>2. Transaction: The sender creates a transaction with the P2SH script and signs it with their private key.</a:t>
            </a:r>
          </a:p>
          <a:p>
            <a:pPr marL="0" indent="0">
              <a:buNone/>
            </a:pPr>
            <a:r>
              <a:rPr lang="en-IN" dirty="0"/>
              <a:t>3. Verification: The network verifies the transaction by:</a:t>
            </a:r>
          </a:p>
          <a:p>
            <a:pPr marL="0" indent="0">
              <a:buNone/>
            </a:pPr>
            <a:r>
              <a:rPr lang="en-IN" dirty="0" smtClean="0"/>
              <a:t>     </a:t>
            </a:r>
            <a:r>
              <a:rPr lang="en-IN" dirty="0"/>
              <a:t>- Hashing the redeem script to match the script hash (address)</a:t>
            </a:r>
          </a:p>
          <a:p>
            <a:pPr marL="0" indent="0">
              <a:buNone/>
            </a:pPr>
            <a:r>
              <a:rPr lang="en-IN" dirty="0" smtClean="0"/>
              <a:t>     </a:t>
            </a:r>
            <a:r>
              <a:rPr lang="en-IN" dirty="0"/>
              <a:t>- Executing the redeem script to check spending conditions</a:t>
            </a:r>
          </a:p>
          <a:p>
            <a:endParaRPr lang="en-IN" dirty="0"/>
          </a:p>
        </p:txBody>
      </p:sp>
    </p:spTree>
    <p:extLst>
      <p:ext uri="{BB962C8B-B14F-4D97-AF65-F5344CB8AC3E}">
        <p14:creationId xmlns:p14="http://schemas.microsoft.com/office/powerpoint/2010/main" val="26633303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457200"/>
            <a:ext cx="10515600" cy="5719763"/>
          </a:xfrm>
        </p:spPr>
        <p:txBody>
          <a:bodyPr>
            <a:normAutofit/>
          </a:bodyPr>
          <a:lstStyle/>
          <a:p>
            <a:pPr marL="0" indent="0">
              <a:buNone/>
            </a:pPr>
            <a:r>
              <a:rPr lang="en-IN" sz="2400" b="1" dirty="0" smtClean="0">
                <a:solidFill>
                  <a:srgbClr val="FF0000"/>
                </a:solidFill>
              </a:rPr>
              <a:t>3</a:t>
            </a:r>
            <a:r>
              <a:rPr lang="en-IN" sz="2400" b="1" dirty="0">
                <a:solidFill>
                  <a:srgbClr val="FF0000"/>
                </a:solidFill>
              </a:rPr>
              <a:t>. </a:t>
            </a:r>
            <a:r>
              <a:rPr lang="en-IN" sz="2400" b="1" dirty="0" err="1">
                <a:solidFill>
                  <a:srgbClr val="FF0000"/>
                </a:solidFill>
              </a:rPr>
              <a:t>Multisig</a:t>
            </a:r>
            <a:r>
              <a:rPr lang="en-IN" sz="2400" b="1" dirty="0">
                <a:solidFill>
                  <a:srgbClr val="FF0000"/>
                </a:solidFill>
              </a:rPr>
              <a:t> Script:</a:t>
            </a:r>
          </a:p>
          <a:p>
            <a:pPr marL="0" indent="0">
              <a:buNone/>
            </a:pPr>
            <a:r>
              <a:rPr lang="en-IN" sz="2400" dirty="0" smtClean="0"/>
              <a:t> OP_2 </a:t>
            </a:r>
            <a:r>
              <a:rPr lang="en-IN" sz="2400" dirty="0"/>
              <a:t>&lt;pubKey1&gt; &lt;pubKey2&gt; OP_2 OP_CHECKMULTISIG</a:t>
            </a:r>
          </a:p>
          <a:p>
            <a:pPr marL="0" indent="0">
              <a:buNone/>
            </a:pPr>
            <a:r>
              <a:rPr lang="en-IN" sz="2400" dirty="0" smtClean="0"/>
              <a:t> Example</a:t>
            </a:r>
            <a:r>
              <a:rPr lang="en-IN" sz="2400" dirty="0"/>
              <a:t>:</a:t>
            </a:r>
          </a:p>
          <a:p>
            <a:pPr marL="0" indent="0">
              <a:buNone/>
            </a:pPr>
            <a:r>
              <a:rPr lang="en-IN" sz="2400" dirty="0" smtClean="0"/>
              <a:t> OP_2 </a:t>
            </a:r>
            <a:r>
              <a:rPr lang="en-IN" sz="2400" dirty="0"/>
              <a:t>03f3f3f3f3f3f3f3f3f3f3f3f3f3f3f3f 03f4f4f4f4f4f4f4f4f4f4f4f4f4f4f4 OP_2 OP_CHECKMULTISIG</a:t>
            </a:r>
          </a:p>
          <a:p>
            <a:pPr marL="0" indent="0">
              <a:buNone/>
            </a:pPr>
            <a:r>
              <a:rPr lang="en-IN" sz="2400" dirty="0"/>
              <a:t>This script requires multiple signatures (in this case, 2) to spend the funds</a:t>
            </a:r>
            <a:r>
              <a:rPr lang="en-IN" sz="2400" dirty="0" smtClean="0"/>
              <a:t>.</a:t>
            </a:r>
          </a:p>
          <a:p>
            <a:pPr marL="0" indent="0">
              <a:buNone/>
            </a:pPr>
            <a:endParaRPr lang="en-IN" sz="2400" dirty="0"/>
          </a:p>
          <a:p>
            <a:pPr marL="0" indent="0">
              <a:buNone/>
            </a:pPr>
            <a:endParaRPr lang="en-IN" sz="2400" dirty="0"/>
          </a:p>
          <a:p>
            <a:pPr marL="0" indent="0">
              <a:buNone/>
            </a:pPr>
            <a:endParaRPr lang="en-IN" sz="2400" dirty="0"/>
          </a:p>
        </p:txBody>
      </p:sp>
    </p:spTree>
    <p:extLst>
      <p:ext uri="{BB962C8B-B14F-4D97-AF65-F5344CB8AC3E}">
        <p14:creationId xmlns:p14="http://schemas.microsoft.com/office/powerpoint/2010/main" val="7819652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457200"/>
            <a:ext cx="10515600" cy="5719763"/>
          </a:xfrm>
        </p:spPr>
        <p:txBody>
          <a:bodyPr>
            <a:normAutofit lnSpcReduction="10000"/>
          </a:bodyPr>
          <a:lstStyle/>
          <a:p>
            <a:r>
              <a:rPr lang="en-IN" dirty="0"/>
              <a:t>Key differences</a:t>
            </a:r>
          </a:p>
          <a:p>
            <a:pPr marL="0" indent="0" algn="just">
              <a:buNone/>
            </a:pPr>
            <a:r>
              <a:rPr lang="en-IN" dirty="0"/>
              <a:t> </a:t>
            </a:r>
            <a:r>
              <a:rPr lang="en-IN" dirty="0" smtClean="0"/>
              <a:t>   </a:t>
            </a:r>
            <a:r>
              <a:rPr lang="en-IN" sz="2400" dirty="0" smtClean="0"/>
              <a:t>- </a:t>
            </a:r>
            <a:r>
              <a:rPr lang="en-IN" sz="2400" dirty="0"/>
              <a:t>Address type: P2PKH uses a public key hash (address), while P2SH uses a script hash (address).</a:t>
            </a:r>
          </a:p>
          <a:p>
            <a:pPr marL="0" indent="0" algn="just">
              <a:buNone/>
            </a:pPr>
            <a:r>
              <a:rPr lang="en-IN" sz="2400" dirty="0" smtClean="0"/>
              <a:t>   - </a:t>
            </a:r>
            <a:r>
              <a:rPr lang="en-IN" sz="2400" dirty="0"/>
              <a:t>Script complexity: P2PKH has a fixed, simple script, while P2SH allows for more complex scripts and smart contracts.</a:t>
            </a:r>
          </a:p>
          <a:p>
            <a:pPr marL="0" indent="0" algn="just">
              <a:buNone/>
            </a:pPr>
            <a:r>
              <a:rPr lang="en-IN" sz="2400" dirty="0" smtClean="0"/>
              <a:t>   - </a:t>
            </a:r>
            <a:r>
              <a:rPr lang="en-IN" sz="2400" dirty="0"/>
              <a:t>Verification: P2PKH verifies a signature, while P2SH executes a redeem script to check spending conditions</a:t>
            </a:r>
            <a:r>
              <a:rPr lang="en-IN" sz="2400" dirty="0" smtClean="0"/>
              <a:t>.</a:t>
            </a:r>
          </a:p>
          <a:p>
            <a:pPr marL="0" indent="0">
              <a:buNone/>
            </a:pPr>
            <a:r>
              <a:rPr lang="en-IN" sz="2400" b="1" dirty="0"/>
              <a:t>Example</a:t>
            </a:r>
          </a:p>
          <a:p>
            <a:pPr marL="0" indent="0" algn="just">
              <a:buNone/>
            </a:pPr>
            <a:r>
              <a:rPr lang="en-IN" sz="2400" dirty="0" smtClean="0"/>
              <a:t>Suppose </a:t>
            </a:r>
            <a:r>
              <a:rPr lang="en-IN" sz="2400" dirty="0"/>
              <a:t>Alice wants to send 1 BTC to Bob's multi-signature wallet, requiring 2-of-3 signatures from Bob, Charlie, and David.</a:t>
            </a:r>
          </a:p>
          <a:p>
            <a:pPr marL="0" indent="0" algn="just">
              <a:buNone/>
            </a:pPr>
            <a:r>
              <a:rPr lang="en-IN" sz="2400" dirty="0"/>
              <a:t> </a:t>
            </a:r>
            <a:r>
              <a:rPr lang="en-IN" sz="2400" dirty="0" smtClean="0"/>
              <a:t>- </a:t>
            </a:r>
            <a:r>
              <a:rPr lang="en-IN" sz="2400" dirty="0"/>
              <a:t>P2PKH: Alice sends 1 BTC to Bob's public key hash (address). Bob can spend the funds alone.</a:t>
            </a:r>
          </a:p>
          <a:p>
            <a:pPr marL="0" indent="0" algn="just">
              <a:buNone/>
            </a:pPr>
            <a:r>
              <a:rPr lang="en-IN" sz="2400" dirty="0"/>
              <a:t>- P2SH: Alice sends 1 BTC to a script hash (address) containing the multi-signature redeem script. The script requires 2 signatures from Bob, Charlie, and David to spend the funds.</a:t>
            </a:r>
          </a:p>
          <a:p>
            <a:pPr marL="0" indent="0" algn="just">
              <a:buNone/>
            </a:pPr>
            <a:endParaRPr lang="en-IN" sz="2400" dirty="0" smtClean="0"/>
          </a:p>
          <a:p>
            <a:pPr marL="0" indent="0">
              <a:buNone/>
            </a:pPr>
            <a:endParaRPr lang="en-IN" dirty="0"/>
          </a:p>
          <a:p>
            <a:pPr marL="0" indent="0">
              <a:buNone/>
            </a:pPr>
            <a:endParaRPr lang="en-IN" dirty="0"/>
          </a:p>
        </p:txBody>
      </p:sp>
    </p:spTree>
    <p:extLst>
      <p:ext uri="{BB962C8B-B14F-4D97-AF65-F5344CB8AC3E}">
        <p14:creationId xmlns:p14="http://schemas.microsoft.com/office/powerpoint/2010/main" val="11245239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smtClean="0">
                <a:solidFill>
                  <a:srgbClr val="FF0000"/>
                </a:solidFill>
              </a:rPr>
              <a:t>4</a:t>
            </a:r>
            <a:r>
              <a:rPr lang="en-IN" b="1" dirty="0">
                <a:solidFill>
                  <a:srgbClr val="FF0000"/>
                </a:solidFill>
              </a:rPr>
              <a:t>. Null data/OP-RETURN Script:</a:t>
            </a:r>
          </a:p>
          <a:p>
            <a:pPr marL="0" indent="0">
              <a:buNone/>
            </a:pPr>
            <a:r>
              <a:rPr lang="en-IN" dirty="0"/>
              <a:t> OP_RETURN &lt;data&gt;</a:t>
            </a:r>
          </a:p>
          <a:p>
            <a:pPr marL="0" indent="0">
              <a:buNone/>
            </a:pPr>
            <a:r>
              <a:rPr lang="en-IN" dirty="0"/>
              <a:t>Example:</a:t>
            </a:r>
          </a:p>
          <a:p>
            <a:pPr marL="0" indent="0">
              <a:buNone/>
            </a:pPr>
            <a:r>
              <a:rPr lang="en-IN" dirty="0"/>
              <a:t>  OP_RETURN 6a146f6f6f6f6f6f6f6f6f6f6f6f6f6f</a:t>
            </a:r>
          </a:p>
          <a:p>
            <a:pPr marL="0" indent="0">
              <a:buNone/>
            </a:pPr>
            <a:r>
              <a:rPr lang="en-IN" dirty="0"/>
              <a:t>  This script stores arbitrary data on the </a:t>
            </a:r>
            <a:r>
              <a:rPr lang="en-IN" dirty="0" err="1"/>
              <a:t>blockchain</a:t>
            </a:r>
            <a:r>
              <a:rPr lang="en-IN" dirty="0"/>
              <a:t>, marking the transaction as invalid.</a:t>
            </a:r>
          </a:p>
          <a:p>
            <a:pPr marL="0" indent="0">
              <a:buNone/>
            </a:pPr>
            <a:endParaRPr lang="en-IN" dirty="0"/>
          </a:p>
        </p:txBody>
      </p:sp>
    </p:spTree>
    <p:extLst>
      <p:ext uri="{BB962C8B-B14F-4D97-AF65-F5344CB8AC3E}">
        <p14:creationId xmlns:p14="http://schemas.microsoft.com/office/powerpoint/2010/main" val="475052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Bitcoin script execution example</a:t>
            </a:r>
            <a:endParaRPr i="1"/>
          </a:p>
        </p:txBody>
      </p:sp>
      <p:sp>
        <p:nvSpPr>
          <p:cNvPr id="211" name="Google Shape;211;p23"/>
          <p:cNvSpPr txBox="1"/>
          <p:nvPr/>
        </p:nvSpPr>
        <p:spPr>
          <a:xfrm>
            <a:off x="0" y="5877767"/>
            <a:ext cx="11937200" cy="6112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121900" tIns="121900" rIns="121900" bIns="121900" anchor="t" anchorCtr="0">
            <a:noAutofit/>
          </a:bodyPr>
          <a:lstStyle/>
          <a:p>
            <a:r>
              <a:rPr lang="en" sz="2000" b="1">
                <a:solidFill>
                  <a:prstClr val="black"/>
                </a:solidFill>
                <a:latin typeface="Courier New"/>
                <a:ea typeface="Courier New"/>
                <a:cs typeface="Courier New"/>
                <a:sym typeface="Courier New"/>
              </a:rPr>
              <a:t>&lt;sig&gt; &lt;pubKey&gt; OP_DUP OP_HASH160 &lt;pubKeyHash?&gt; OP_EQUALVERIFY OP_CHECKSIG</a:t>
            </a:r>
            <a:endParaRPr sz="2000">
              <a:solidFill>
                <a:prstClr val="black"/>
              </a:solidFill>
            </a:endParaRPr>
          </a:p>
        </p:txBody>
      </p:sp>
      <p:cxnSp>
        <p:nvCxnSpPr>
          <p:cNvPr id="212" name="Google Shape;212;p23"/>
          <p:cNvCxnSpPr/>
          <p:nvPr/>
        </p:nvCxnSpPr>
        <p:spPr>
          <a:xfrm>
            <a:off x="497167" y="5101700"/>
            <a:ext cx="0" cy="662800"/>
          </a:xfrm>
          <a:prstGeom prst="straightConnector1">
            <a:avLst/>
          </a:prstGeom>
          <a:noFill/>
          <a:ln w="76200" cap="flat" cmpd="sng">
            <a:solidFill>
              <a:srgbClr val="000000"/>
            </a:solidFill>
            <a:prstDash val="solid"/>
            <a:round/>
            <a:headEnd type="none" w="med" len="med"/>
            <a:tailEnd type="triangle" w="med" len="med"/>
          </a:ln>
        </p:spPr>
      </p:cxnSp>
      <p:cxnSp>
        <p:nvCxnSpPr>
          <p:cNvPr id="213" name="Google Shape;213;p23"/>
          <p:cNvCxnSpPr/>
          <p:nvPr/>
        </p:nvCxnSpPr>
        <p:spPr>
          <a:xfrm>
            <a:off x="1629900" y="5101700"/>
            <a:ext cx="0" cy="662800"/>
          </a:xfrm>
          <a:prstGeom prst="straightConnector1">
            <a:avLst/>
          </a:prstGeom>
          <a:noFill/>
          <a:ln w="76200" cap="flat" cmpd="sng">
            <a:solidFill>
              <a:srgbClr val="000000"/>
            </a:solidFill>
            <a:prstDash val="solid"/>
            <a:round/>
            <a:headEnd type="none" w="med" len="med"/>
            <a:tailEnd type="triangle" w="med" len="med"/>
          </a:ln>
        </p:spPr>
      </p:cxnSp>
      <p:cxnSp>
        <p:nvCxnSpPr>
          <p:cNvPr id="214" name="Google Shape;214;p23"/>
          <p:cNvCxnSpPr/>
          <p:nvPr/>
        </p:nvCxnSpPr>
        <p:spPr>
          <a:xfrm>
            <a:off x="3054400" y="5101700"/>
            <a:ext cx="0" cy="662800"/>
          </a:xfrm>
          <a:prstGeom prst="straightConnector1">
            <a:avLst/>
          </a:prstGeom>
          <a:noFill/>
          <a:ln w="76200" cap="flat" cmpd="sng">
            <a:solidFill>
              <a:srgbClr val="000000"/>
            </a:solidFill>
            <a:prstDash val="solid"/>
            <a:round/>
            <a:headEnd type="none" w="med" len="med"/>
            <a:tailEnd type="triangle" w="med" len="med"/>
          </a:ln>
        </p:spPr>
      </p:cxnSp>
      <p:cxnSp>
        <p:nvCxnSpPr>
          <p:cNvPr id="215" name="Google Shape;215;p23"/>
          <p:cNvCxnSpPr/>
          <p:nvPr/>
        </p:nvCxnSpPr>
        <p:spPr>
          <a:xfrm>
            <a:off x="4440933" y="5101700"/>
            <a:ext cx="0" cy="662800"/>
          </a:xfrm>
          <a:prstGeom prst="straightConnector1">
            <a:avLst/>
          </a:prstGeom>
          <a:noFill/>
          <a:ln w="76200" cap="flat" cmpd="sng">
            <a:solidFill>
              <a:srgbClr val="000000"/>
            </a:solidFill>
            <a:prstDash val="solid"/>
            <a:round/>
            <a:headEnd type="none" w="med" len="med"/>
            <a:tailEnd type="triangle" w="med" len="med"/>
          </a:ln>
        </p:spPr>
      </p:cxnSp>
      <p:cxnSp>
        <p:nvCxnSpPr>
          <p:cNvPr id="216" name="Google Shape;216;p23"/>
          <p:cNvCxnSpPr/>
          <p:nvPr/>
        </p:nvCxnSpPr>
        <p:spPr>
          <a:xfrm>
            <a:off x="5968600" y="5101700"/>
            <a:ext cx="0" cy="662800"/>
          </a:xfrm>
          <a:prstGeom prst="straightConnector1">
            <a:avLst/>
          </a:prstGeom>
          <a:noFill/>
          <a:ln w="76200" cap="flat" cmpd="sng">
            <a:solidFill>
              <a:srgbClr val="000000"/>
            </a:solidFill>
            <a:prstDash val="solid"/>
            <a:round/>
            <a:headEnd type="none" w="med" len="med"/>
            <a:tailEnd type="triangle" w="med" len="med"/>
          </a:ln>
        </p:spPr>
      </p:cxnSp>
      <p:cxnSp>
        <p:nvCxnSpPr>
          <p:cNvPr id="217" name="Google Shape;217;p23"/>
          <p:cNvCxnSpPr/>
          <p:nvPr/>
        </p:nvCxnSpPr>
        <p:spPr>
          <a:xfrm>
            <a:off x="8412567" y="5101700"/>
            <a:ext cx="0" cy="662800"/>
          </a:xfrm>
          <a:prstGeom prst="straightConnector1">
            <a:avLst/>
          </a:prstGeom>
          <a:noFill/>
          <a:ln w="76200" cap="flat" cmpd="sng">
            <a:solidFill>
              <a:srgbClr val="000000"/>
            </a:solidFill>
            <a:prstDash val="solid"/>
            <a:round/>
            <a:headEnd type="none" w="med" len="med"/>
            <a:tailEnd type="triangle" w="med" len="med"/>
          </a:ln>
        </p:spPr>
      </p:cxnSp>
      <p:cxnSp>
        <p:nvCxnSpPr>
          <p:cNvPr id="218" name="Google Shape;218;p23"/>
          <p:cNvCxnSpPr/>
          <p:nvPr/>
        </p:nvCxnSpPr>
        <p:spPr>
          <a:xfrm>
            <a:off x="10734967" y="5101700"/>
            <a:ext cx="0" cy="662800"/>
          </a:xfrm>
          <a:prstGeom prst="straightConnector1">
            <a:avLst/>
          </a:prstGeom>
          <a:noFill/>
          <a:ln w="76200" cap="flat" cmpd="sng">
            <a:solidFill>
              <a:srgbClr val="000000"/>
            </a:solidFill>
            <a:prstDash val="solid"/>
            <a:round/>
            <a:headEnd type="none" w="med" len="med"/>
            <a:tailEnd type="triangle" w="med" len="med"/>
          </a:ln>
        </p:spPr>
      </p:cxnSp>
      <p:sp>
        <p:nvSpPr>
          <p:cNvPr id="219" name="Google Shape;219;p23"/>
          <p:cNvSpPr/>
          <p:nvPr/>
        </p:nvSpPr>
        <p:spPr>
          <a:xfrm>
            <a:off x="3790400" y="3841667"/>
            <a:ext cx="3789600" cy="6324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solidFill>
                  <a:prstClr val="black"/>
                </a:solidFill>
                <a:latin typeface="Courier New"/>
                <a:ea typeface="Courier New"/>
                <a:cs typeface="Courier New"/>
                <a:sym typeface="Courier New"/>
              </a:rPr>
              <a:t>&lt;sig&gt;</a:t>
            </a:r>
            <a:endParaRPr sz="3200" b="1">
              <a:solidFill>
                <a:prstClr val="black"/>
              </a:solidFill>
              <a:latin typeface="Courier New"/>
              <a:ea typeface="Courier New"/>
              <a:cs typeface="Courier New"/>
              <a:sym typeface="Courier New"/>
            </a:endParaRPr>
          </a:p>
        </p:txBody>
      </p:sp>
      <p:sp>
        <p:nvSpPr>
          <p:cNvPr id="220" name="Google Shape;220;p23"/>
          <p:cNvSpPr txBox="1"/>
          <p:nvPr/>
        </p:nvSpPr>
        <p:spPr>
          <a:xfrm>
            <a:off x="4844567" y="1334233"/>
            <a:ext cx="1516800" cy="2735200"/>
          </a:xfrm>
          <a:prstGeom prst="rect">
            <a:avLst/>
          </a:prstGeom>
          <a:solidFill>
            <a:srgbClr val="FFFFFF"/>
          </a:solidFill>
          <a:ln>
            <a:noFill/>
          </a:ln>
        </p:spPr>
        <p:txBody>
          <a:bodyPr spcFirstLastPara="1" wrap="square" lIns="121900" tIns="121900" rIns="121900" bIns="121900" anchor="ctr" anchorCtr="0">
            <a:noAutofit/>
          </a:bodyPr>
          <a:lstStyle/>
          <a:p>
            <a:r>
              <a:rPr lang="en" sz="12800" b="1">
                <a:solidFill>
                  <a:srgbClr val="274E13"/>
                </a:solidFill>
                <a:highlight>
                  <a:srgbClr val="F9F9F9"/>
                </a:highlight>
              </a:rPr>
              <a:t>✓</a:t>
            </a:r>
            <a:endParaRPr sz="12800" b="1">
              <a:solidFill>
                <a:srgbClr val="274E13"/>
              </a:solidFill>
            </a:endParaRPr>
          </a:p>
        </p:txBody>
      </p:sp>
      <p:sp>
        <p:nvSpPr>
          <p:cNvPr id="221" name="Google Shape;221;p23"/>
          <p:cNvSpPr/>
          <p:nvPr/>
        </p:nvSpPr>
        <p:spPr>
          <a:xfrm>
            <a:off x="3790400" y="3209267"/>
            <a:ext cx="3789600" cy="6324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solidFill>
                  <a:prstClr val="black"/>
                </a:solidFill>
                <a:latin typeface="Courier New"/>
                <a:ea typeface="Courier New"/>
                <a:cs typeface="Courier New"/>
                <a:sym typeface="Courier New"/>
              </a:rPr>
              <a:t>&lt;pubKey&gt;</a:t>
            </a:r>
            <a:endParaRPr sz="3200" b="1">
              <a:solidFill>
                <a:prstClr val="black"/>
              </a:solidFill>
              <a:latin typeface="Courier New"/>
              <a:ea typeface="Courier New"/>
              <a:cs typeface="Courier New"/>
              <a:sym typeface="Courier New"/>
            </a:endParaRPr>
          </a:p>
        </p:txBody>
      </p:sp>
      <p:sp>
        <p:nvSpPr>
          <p:cNvPr id="222" name="Google Shape;222;p23"/>
          <p:cNvSpPr/>
          <p:nvPr/>
        </p:nvSpPr>
        <p:spPr>
          <a:xfrm>
            <a:off x="3790400" y="2576867"/>
            <a:ext cx="3789600" cy="6324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solidFill>
                  <a:prstClr val="black"/>
                </a:solidFill>
                <a:latin typeface="Courier New"/>
                <a:ea typeface="Courier New"/>
                <a:cs typeface="Courier New"/>
                <a:sym typeface="Courier New"/>
              </a:rPr>
              <a:t>&lt;pubKey&gt;</a:t>
            </a:r>
            <a:endParaRPr sz="3200" b="1">
              <a:solidFill>
                <a:prstClr val="black"/>
              </a:solidFill>
              <a:latin typeface="Courier New"/>
              <a:ea typeface="Courier New"/>
              <a:cs typeface="Courier New"/>
              <a:sym typeface="Courier New"/>
            </a:endParaRPr>
          </a:p>
        </p:txBody>
      </p:sp>
      <p:sp>
        <p:nvSpPr>
          <p:cNvPr id="223" name="Google Shape;223;p23"/>
          <p:cNvSpPr/>
          <p:nvPr/>
        </p:nvSpPr>
        <p:spPr>
          <a:xfrm>
            <a:off x="3790400" y="1944467"/>
            <a:ext cx="3789600" cy="6324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solidFill>
                  <a:prstClr val="black"/>
                </a:solidFill>
                <a:latin typeface="Courier New"/>
                <a:ea typeface="Courier New"/>
                <a:cs typeface="Courier New"/>
                <a:sym typeface="Courier New"/>
              </a:rPr>
              <a:t>&lt;pubKeyHash?&gt;</a:t>
            </a:r>
            <a:endParaRPr sz="3200" b="1">
              <a:solidFill>
                <a:prstClr val="black"/>
              </a:solidFill>
              <a:latin typeface="Courier New"/>
              <a:ea typeface="Courier New"/>
              <a:cs typeface="Courier New"/>
              <a:sym typeface="Courier New"/>
            </a:endParaRPr>
          </a:p>
        </p:txBody>
      </p:sp>
      <p:sp>
        <p:nvSpPr>
          <p:cNvPr id="224" name="Google Shape;224;p23"/>
          <p:cNvSpPr/>
          <p:nvPr/>
        </p:nvSpPr>
        <p:spPr>
          <a:xfrm>
            <a:off x="3790400" y="2581633"/>
            <a:ext cx="3789600" cy="6324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solidFill>
                  <a:prstClr val="black"/>
                </a:solidFill>
                <a:latin typeface="Courier New"/>
                <a:ea typeface="Courier New"/>
                <a:cs typeface="Courier New"/>
                <a:sym typeface="Courier New"/>
              </a:rPr>
              <a:t>&lt;pubKeyHash&gt;</a:t>
            </a:r>
            <a:endParaRPr sz="3200" b="1">
              <a:solidFill>
                <a:prstClr val="black"/>
              </a:solidFill>
              <a:latin typeface="Courier New"/>
              <a:ea typeface="Courier New"/>
              <a:cs typeface="Courier New"/>
              <a:sym typeface="Courier New"/>
            </a:endParaRPr>
          </a:p>
        </p:txBody>
      </p:sp>
      <p:sp>
        <p:nvSpPr>
          <p:cNvPr id="225" name="Google Shape;225;p23"/>
          <p:cNvSpPr/>
          <p:nvPr/>
        </p:nvSpPr>
        <p:spPr>
          <a:xfrm>
            <a:off x="3790400" y="3841667"/>
            <a:ext cx="3789600" cy="632400"/>
          </a:xfrm>
          <a:prstGeom prst="rect">
            <a:avLst/>
          </a:prstGeom>
          <a:solidFill>
            <a:srgbClr val="6AA84F"/>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solidFill>
                  <a:prstClr val="black"/>
                </a:solidFill>
                <a:latin typeface="Courier New"/>
                <a:ea typeface="Courier New"/>
                <a:cs typeface="Courier New"/>
                <a:sym typeface="Courier New"/>
              </a:rPr>
              <a:t>true</a:t>
            </a:r>
            <a:endParaRPr sz="3200" b="1">
              <a:solidFill>
                <a:prstClr val="black"/>
              </a:solidFill>
              <a:latin typeface="Courier New"/>
              <a:ea typeface="Courier New"/>
              <a:cs typeface="Courier New"/>
              <a:sym typeface="Courier New"/>
            </a:endParaRPr>
          </a:p>
        </p:txBody>
      </p:sp>
    </p:spTree>
    <p:extLst>
      <p:ext uri="{BB962C8B-B14F-4D97-AF65-F5344CB8AC3E}">
        <p14:creationId xmlns:p14="http://schemas.microsoft.com/office/powerpoint/2010/main" val="57374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2"/>
                                        </p:tgtEl>
                                        <p:attrNameLst>
                                          <p:attrName>style.visibility</p:attrName>
                                        </p:attrNameLst>
                                      </p:cBhvr>
                                      <p:to>
                                        <p:strVal val="visible"/>
                                      </p:to>
                                    </p:set>
                                    <p:animEffect transition="in" filter="fade">
                                      <p:cBhvr>
                                        <p:cTn id="7" dur="1000"/>
                                        <p:tgtEl>
                                          <p:spTgt spid="2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9"/>
                                        </p:tgtEl>
                                        <p:attrNameLst>
                                          <p:attrName>style.visibility</p:attrName>
                                        </p:attrNameLst>
                                      </p:cBhvr>
                                      <p:to>
                                        <p:strVal val="visible"/>
                                      </p:to>
                                    </p:set>
                                    <p:animEffect transition="in" filter="fade">
                                      <p:cBhvr>
                                        <p:cTn id="12" dur="1000"/>
                                        <p:tgtEl>
                                          <p:spTgt spid="2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212"/>
                                        </p:tgtEl>
                                      </p:cBhvr>
                                    </p:animEffect>
                                    <p:set>
                                      <p:cBhvr>
                                        <p:cTn id="17" dur="1" fill="hold">
                                          <p:stCondLst>
                                            <p:cond delay="1000"/>
                                          </p:stCondLst>
                                        </p:cTn>
                                        <p:tgtEl>
                                          <p:spTgt spid="212"/>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213"/>
                                        </p:tgtEl>
                                        <p:attrNameLst>
                                          <p:attrName>style.visibility</p:attrName>
                                        </p:attrNameLst>
                                      </p:cBhvr>
                                      <p:to>
                                        <p:strVal val="visible"/>
                                      </p:to>
                                    </p:set>
                                    <p:animEffect transition="in" filter="fade">
                                      <p:cBhvr>
                                        <p:cTn id="20" dur="1000"/>
                                        <p:tgtEl>
                                          <p:spTgt spid="2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1"/>
                                        </p:tgtEl>
                                        <p:attrNameLst>
                                          <p:attrName>style.visibility</p:attrName>
                                        </p:attrNameLst>
                                      </p:cBhvr>
                                      <p:to>
                                        <p:strVal val="visible"/>
                                      </p:to>
                                    </p:set>
                                    <p:animEffect transition="in" filter="fade">
                                      <p:cBhvr>
                                        <p:cTn id="25" dur="1000"/>
                                        <p:tgtEl>
                                          <p:spTgt spid="2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1000"/>
                                        <p:tgtEl>
                                          <p:spTgt spid="213"/>
                                        </p:tgtEl>
                                      </p:cBhvr>
                                    </p:animEffect>
                                    <p:set>
                                      <p:cBhvr>
                                        <p:cTn id="30" dur="1" fill="hold">
                                          <p:stCondLst>
                                            <p:cond delay="1000"/>
                                          </p:stCondLst>
                                        </p:cTn>
                                        <p:tgtEl>
                                          <p:spTgt spid="213"/>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214"/>
                                        </p:tgtEl>
                                        <p:attrNameLst>
                                          <p:attrName>style.visibility</p:attrName>
                                        </p:attrNameLst>
                                      </p:cBhvr>
                                      <p:to>
                                        <p:strVal val="visible"/>
                                      </p:to>
                                    </p:set>
                                    <p:animEffect transition="in" filter="fade">
                                      <p:cBhvr>
                                        <p:cTn id="33" dur="1000"/>
                                        <p:tgtEl>
                                          <p:spTgt spid="2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22"/>
                                        </p:tgtEl>
                                        <p:attrNameLst>
                                          <p:attrName>style.visibility</p:attrName>
                                        </p:attrNameLst>
                                      </p:cBhvr>
                                      <p:to>
                                        <p:strVal val="visible"/>
                                      </p:to>
                                    </p:set>
                                    <p:animEffect transition="in" filter="fade">
                                      <p:cBhvr>
                                        <p:cTn id="38" dur="1000"/>
                                        <p:tgtEl>
                                          <p:spTgt spid="2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nodeType="clickEffect">
                                  <p:stCondLst>
                                    <p:cond delay="0"/>
                                  </p:stCondLst>
                                  <p:childTnLst>
                                    <p:animEffect transition="out" filter="fade">
                                      <p:cBhvr>
                                        <p:cTn id="42" dur="1000"/>
                                        <p:tgtEl>
                                          <p:spTgt spid="214"/>
                                        </p:tgtEl>
                                      </p:cBhvr>
                                    </p:animEffect>
                                    <p:set>
                                      <p:cBhvr>
                                        <p:cTn id="43" dur="1" fill="hold">
                                          <p:stCondLst>
                                            <p:cond delay="1000"/>
                                          </p:stCondLst>
                                        </p:cTn>
                                        <p:tgtEl>
                                          <p:spTgt spid="214"/>
                                        </p:tgtEl>
                                        <p:attrNameLst>
                                          <p:attrName>style.visibility</p:attrName>
                                        </p:attrNameLst>
                                      </p:cBhvr>
                                      <p:to>
                                        <p:strVal val="hidden"/>
                                      </p:to>
                                    </p:set>
                                  </p:childTnLst>
                                </p:cTn>
                              </p:par>
                              <p:par>
                                <p:cTn id="44" presetID="10" presetClass="entr" presetSubtype="0" fill="hold" nodeType="withEffect">
                                  <p:stCondLst>
                                    <p:cond delay="0"/>
                                  </p:stCondLst>
                                  <p:childTnLst>
                                    <p:set>
                                      <p:cBhvr>
                                        <p:cTn id="45" dur="1" fill="hold">
                                          <p:stCondLst>
                                            <p:cond delay="0"/>
                                          </p:stCondLst>
                                        </p:cTn>
                                        <p:tgtEl>
                                          <p:spTgt spid="215"/>
                                        </p:tgtEl>
                                        <p:attrNameLst>
                                          <p:attrName>style.visibility</p:attrName>
                                        </p:attrNameLst>
                                      </p:cBhvr>
                                      <p:to>
                                        <p:strVal val="visible"/>
                                      </p:to>
                                    </p:set>
                                    <p:animEffect transition="in" filter="fade">
                                      <p:cBhvr>
                                        <p:cTn id="46" dur="1000"/>
                                        <p:tgtEl>
                                          <p:spTgt spid="2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4"/>
                                        </p:tgtEl>
                                        <p:attrNameLst>
                                          <p:attrName>style.visibility</p:attrName>
                                        </p:attrNameLst>
                                      </p:cBhvr>
                                      <p:to>
                                        <p:strVal val="visible"/>
                                      </p:to>
                                    </p:set>
                                    <p:animEffect transition="in" filter="fade">
                                      <p:cBhvr>
                                        <p:cTn id="51" dur="1000"/>
                                        <p:tgtEl>
                                          <p:spTgt spid="224"/>
                                        </p:tgtEl>
                                      </p:cBhvr>
                                    </p:animEffect>
                                  </p:childTnLst>
                                </p:cTn>
                              </p:par>
                              <p:par>
                                <p:cTn id="52" presetID="10" presetClass="exit" presetSubtype="0" fill="hold" nodeType="withEffect">
                                  <p:stCondLst>
                                    <p:cond delay="0"/>
                                  </p:stCondLst>
                                  <p:childTnLst>
                                    <p:animEffect transition="out" filter="fade">
                                      <p:cBhvr>
                                        <p:cTn id="53" dur="1000"/>
                                        <p:tgtEl>
                                          <p:spTgt spid="222"/>
                                        </p:tgtEl>
                                      </p:cBhvr>
                                    </p:animEffect>
                                    <p:set>
                                      <p:cBhvr>
                                        <p:cTn id="54" dur="1" fill="hold">
                                          <p:stCondLst>
                                            <p:cond delay="1000"/>
                                          </p:stCondLst>
                                        </p:cTn>
                                        <p:tgtEl>
                                          <p:spTgt spid="22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nodeType="clickEffect">
                                  <p:stCondLst>
                                    <p:cond delay="0"/>
                                  </p:stCondLst>
                                  <p:childTnLst>
                                    <p:animEffect transition="out" filter="fade">
                                      <p:cBhvr>
                                        <p:cTn id="58" dur="1000"/>
                                        <p:tgtEl>
                                          <p:spTgt spid="215"/>
                                        </p:tgtEl>
                                      </p:cBhvr>
                                    </p:animEffect>
                                    <p:set>
                                      <p:cBhvr>
                                        <p:cTn id="59" dur="1" fill="hold">
                                          <p:stCondLst>
                                            <p:cond delay="1000"/>
                                          </p:stCondLst>
                                        </p:cTn>
                                        <p:tgtEl>
                                          <p:spTgt spid="215"/>
                                        </p:tgtEl>
                                        <p:attrNameLst>
                                          <p:attrName>style.visibility</p:attrName>
                                        </p:attrNameLst>
                                      </p:cBhvr>
                                      <p:to>
                                        <p:strVal val="hidden"/>
                                      </p:to>
                                    </p:set>
                                  </p:childTnLst>
                                </p:cTn>
                              </p:par>
                              <p:par>
                                <p:cTn id="60" presetID="10" presetClass="entr" presetSubtype="0" fill="hold" nodeType="withEffect">
                                  <p:stCondLst>
                                    <p:cond delay="0"/>
                                  </p:stCondLst>
                                  <p:childTnLst>
                                    <p:set>
                                      <p:cBhvr>
                                        <p:cTn id="61" dur="1" fill="hold">
                                          <p:stCondLst>
                                            <p:cond delay="0"/>
                                          </p:stCondLst>
                                        </p:cTn>
                                        <p:tgtEl>
                                          <p:spTgt spid="216"/>
                                        </p:tgtEl>
                                        <p:attrNameLst>
                                          <p:attrName>style.visibility</p:attrName>
                                        </p:attrNameLst>
                                      </p:cBhvr>
                                      <p:to>
                                        <p:strVal val="visible"/>
                                      </p:to>
                                    </p:set>
                                    <p:animEffect transition="in" filter="fade">
                                      <p:cBhvr>
                                        <p:cTn id="62" dur="1000"/>
                                        <p:tgtEl>
                                          <p:spTgt spid="2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23"/>
                                        </p:tgtEl>
                                        <p:attrNameLst>
                                          <p:attrName>style.visibility</p:attrName>
                                        </p:attrNameLst>
                                      </p:cBhvr>
                                      <p:to>
                                        <p:strVal val="visible"/>
                                      </p:to>
                                    </p:set>
                                    <p:animEffect transition="in" filter="fade">
                                      <p:cBhvr>
                                        <p:cTn id="67" dur="1000"/>
                                        <p:tgtEl>
                                          <p:spTgt spid="22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nodeType="clickEffect">
                                  <p:stCondLst>
                                    <p:cond delay="0"/>
                                  </p:stCondLst>
                                  <p:childTnLst>
                                    <p:animEffect transition="out" filter="fade">
                                      <p:cBhvr>
                                        <p:cTn id="71" dur="1000"/>
                                        <p:tgtEl>
                                          <p:spTgt spid="216"/>
                                        </p:tgtEl>
                                      </p:cBhvr>
                                    </p:animEffect>
                                    <p:set>
                                      <p:cBhvr>
                                        <p:cTn id="72" dur="1" fill="hold">
                                          <p:stCondLst>
                                            <p:cond delay="1000"/>
                                          </p:stCondLst>
                                        </p:cTn>
                                        <p:tgtEl>
                                          <p:spTgt spid="216"/>
                                        </p:tgtEl>
                                        <p:attrNameLst>
                                          <p:attrName>style.visibility</p:attrName>
                                        </p:attrNameLst>
                                      </p:cBhvr>
                                      <p:to>
                                        <p:strVal val="hidden"/>
                                      </p:to>
                                    </p:set>
                                  </p:childTnLst>
                                </p:cTn>
                              </p:par>
                              <p:par>
                                <p:cTn id="73" presetID="10" presetClass="entr" presetSubtype="0" fill="hold" nodeType="withEffect">
                                  <p:stCondLst>
                                    <p:cond delay="0"/>
                                  </p:stCondLst>
                                  <p:childTnLst>
                                    <p:set>
                                      <p:cBhvr>
                                        <p:cTn id="74" dur="1" fill="hold">
                                          <p:stCondLst>
                                            <p:cond delay="0"/>
                                          </p:stCondLst>
                                        </p:cTn>
                                        <p:tgtEl>
                                          <p:spTgt spid="217"/>
                                        </p:tgtEl>
                                        <p:attrNameLst>
                                          <p:attrName>style.visibility</p:attrName>
                                        </p:attrNameLst>
                                      </p:cBhvr>
                                      <p:to>
                                        <p:strVal val="visible"/>
                                      </p:to>
                                    </p:set>
                                    <p:animEffect transition="in" filter="fade">
                                      <p:cBhvr>
                                        <p:cTn id="75" dur="1000"/>
                                        <p:tgtEl>
                                          <p:spTgt spid="217"/>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nodeType="clickEffect">
                                  <p:stCondLst>
                                    <p:cond delay="0"/>
                                  </p:stCondLst>
                                  <p:childTnLst>
                                    <p:animEffect transition="out" filter="fade">
                                      <p:cBhvr>
                                        <p:cTn id="79" dur="1000"/>
                                        <p:tgtEl>
                                          <p:spTgt spid="224"/>
                                        </p:tgtEl>
                                      </p:cBhvr>
                                    </p:animEffect>
                                    <p:set>
                                      <p:cBhvr>
                                        <p:cTn id="80" dur="1" fill="hold">
                                          <p:stCondLst>
                                            <p:cond delay="1000"/>
                                          </p:stCondLst>
                                        </p:cTn>
                                        <p:tgtEl>
                                          <p:spTgt spid="224"/>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1000"/>
                                        <p:tgtEl>
                                          <p:spTgt spid="223"/>
                                        </p:tgtEl>
                                      </p:cBhvr>
                                    </p:animEffect>
                                    <p:set>
                                      <p:cBhvr>
                                        <p:cTn id="83" dur="1" fill="hold">
                                          <p:stCondLst>
                                            <p:cond delay="1000"/>
                                          </p:stCondLst>
                                        </p:cTn>
                                        <p:tgtEl>
                                          <p:spTgt spid="223"/>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nodeType="clickEffect">
                                  <p:stCondLst>
                                    <p:cond delay="0"/>
                                  </p:stCondLst>
                                  <p:childTnLst>
                                    <p:animEffect transition="out" filter="fade">
                                      <p:cBhvr>
                                        <p:cTn id="87" dur="1000"/>
                                        <p:tgtEl>
                                          <p:spTgt spid="217"/>
                                        </p:tgtEl>
                                      </p:cBhvr>
                                    </p:animEffect>
                                    <p:set>
                                      <p:cBhvr>
                                        <p:cTn id="88" dur="1" fill="hold">
                                          <p:stCondLst>
                                            <p:cond delay="1000"/>
                                          </p:stCondLst>
                                        </p:cTn>
                                        <p:tgtEl>
                                          <p:spTgt spid="217"/>
                                        </p:tgtEl>
                                        <p:attrNameLst>
                                          <p:attrName>style.visibility</p:attrName>
                                        </p:attrNameLst>
                                      </p:cBhvr>
                                      <p:to>
                                        <p:strVal val="hidden"/>
                                      </p:to>
                                    </p:set>
                                  </p:childTnLst>
                                </p:cTn>
                              </p:par>
                              <p:par>
                                <p:cTn id="89" presetID="10" presetClass="entr" presetSubtype="0" fill="hold" nodeType="withEffect">
                                  <p:stCondLst>
                                    <p:cond delay="0"/>
                                  </p:stCondLst>
                                  <p:childTnLst>
                                    <p:set>
                                      <p:cBhvr>
                                        <p:cTn id="90" dur="1" fill="hold">
                                          <p:stCondLst>
                                            <p:cond delay="0"/>
                                          </p:stCondLst>
                                        </p:cTn>
                                        <p:tgtEl>
                                          <p:spTgt spid="218"/>
                                        </p:tgtEl>
                                        <p:attrNameLst>
                                          <p:attrName>style.visibility</p:attrName>
                                        </p:attrNameLst>
                                      </p:cBhvr>
                                      <p:to>
                                        <p:strVal val="visible"/>
                                      </p:to>
                                    </p:set>
                                    <p:animEffect transition="in" filter="fade">
                                      <p:cBhvr>
                                        <p:cTn id="91" dur="1000"/>
                                        <p:tgtEl>
                                          <p:spTgt spid="218"/>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xit" presetSubtype="0" fill="hold" nodeType="clickEffect">
                                  <p:stCondLst>
                                    <p:cond delay="0"/>
                                  </p:stCondLst>
                                  <p:childTnLst>
                                    <p:animEffect transition="out" filter="fade">
                                      <p:cBhvr>
                                        <p:cTn id="95" dur="1000"/>
                                        <p:tgtEl>
                                          <p:spTgt spid="221"/>
                                        </p:tgtEl>
                                      </p:cBhvr>
                                    </p:animEffect>
                                    <p:set>
                                      <p:cBhvr>
                                        <p:cTn id="96" dur="1" fill="hold">
                                          <p:stCondLst>
                                            <p:cond delay="1000"/>
                                          </p:stCondLst>
                                        </p:cTn>
                                        <p:tgtEl>
                                          <p:spTgt spid="221"/>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1000"/>
                                        <p:tgtEl>
                                          <p:spTgt spid="219"/>
                                        </p:tgtEl>
                                      </p:cBhvr>
                                    </p:animEffect>
                                    <p:set>
                                      <p:cBhvr>
                                        <p:cTn id="99" dur="1" fill="hold">
                                          <p:stCondLst>
                                            <p:cond delay="1000"/>
                                          </p:stCondLst>
                                        </p:cTn>
                                        <p:tgtEl>
                                          <p:spTgt spid="219"/>
                                        </p:tgtEl>
                                        <p:attrNameLst>
                                          <p:attrName>style.visibility</p:attrName>
                                        </p:attrNameLst>
                                      </p:cBhvr>
                                      <p:to>
                                        <p:strVal val="hidden"/>
                                      </p:to>
                                    </p:set>
                                  </p:childTnLst>
                                </p:cTn>
                              </p:par>
                            </p:childTnLst>
                          </p:cTn>
                        </p:par>
                        <p:par>
                          <p:cTn id="100" fill="hold">
                            <p:stCondLst>
                              <p:cond delay="1000"/>
                            </p:stCondLst>
                            <p:childTnLst>
                              <p:par>
                                <p:cTn id="101" presetID="10" presetClass="entr" presetSubtype="0" fill="hold" nodeType="afterEffect">
                                  <p:stCondLst>
                                    <p:cond delay="0"/>
                                  </p:stCondLst>
                                  <p:childTnLst>
                                    <p:set>
                                      <p:cBhvr>
                                        <p:cTn id="102" dur="1" fill="hold">
                                          <p:stCondLst>
                                            <p:cond delay="0"/>
                                          </p:stCondLst>
                                        </p:cTn>
                                        <p:tgtEl>
                                          <p:spTgt spid="225"/>
                                        </p:tgtEl>
                                        <p:attrNameLst>
                                          <p:attrName>style.visibility</p:attrName>
                                        </p:attrNameLst>
                                      </p:cBhvr>
                                      <p:to>
                                        <p:strVal val="visible"/>
                                      </p:to>
                                    </p:set>
                                    <p:animEffect transition="in" filter="fade">
                                      <p:cBhvr>
                                        <p:cTn id="103" dur="1000"/>
                                        <p:tgtEl>
                                          <p:spTgt spid="225"/>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xit" presetSubtype="0" fill="hold" nodeType="clickEffect">
                                  <p:stCondLst>
                                    <p:cond delay="0"/>
                                  </p:stCondLst>
                                  <p:childTnLst>
                                    <p:animEffect transition="out" filter="fade">
                                      <p:cBhvr>
                                        <p:cTn id="107" dur="1000"/>
                                        <p:tgtEl>
                                          <p:spTgt spid="218"/>
                                        </p:tgtEl>
                                      </p:cBhvr>
                                    </p:animEffect>
                                    <p:set>
                                      <p:cBhvr>
                                        <p:cTn id="108" dur="1" fill="hold">
                                          <p:stCondLst>
                                            <p:cond delay="1000"/>
                                          </p:stCondLst>
                                        </p:cTn>
                                        <p:tgtEl>
                                          <p:spTgt spid="218"/>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220"/>
                                        </p:tgtEl>
                                        <p:attrNameLst>
                                          <p:attrName>style.visibility</p:attrName>
                                        </p:attrNameLst>
                                      </p:cBhvr>
                                      <p:to>
                                        <p:strVal val="visible"/>
                                      </p:to>
                                    </p:set>
                                    <p:animEffect transition="in" filter="fade">
                                      <p:cBhvr>
                                        <p:cTn id="113" dur="10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smtClean="0">
                <a:solidFill>
                  <a:srgbClr val="FF0000"/>
                </a:solidFill>
              </a:rPr>
              <a:t>5</a:t>
            </a:r>
            <a:r>
              <a:rPr lang="en-IN" b="1" dirty="0">
                <a:solidFill>
                  <a:srgbClr val="FF0000"/>
                </a:solidFill>
              </a:rPr>
              <a:t>. </a:t>
            </a:r>
            <a:r>
              <a:rPr lang="en-IN" b="1" dirty="0" err="1">
                <a:solidFill>
                  <a:srgbClr val="FF0000"/>
                </a:solidFill>
              </a:rPr>
              <a:t>SegWit</a:t>
            </a:r>
            <a:r>
              <a:rPr lang="en-IN" b="1" dirty="0">
                <a:solidFill>
                  <a:srgbClr val="FF0000"/>
                </a:solidFill>
              </a:rPr>
              <a:t> </a:t>
            </a:r>
            <a:r>
              <a:rPr lang="en-IN" b="1" dirty="0" smtClean="0">
                <a:solidFill>
                  <a:srgbClr val="FF0000"/>
                </a:solidFill>
              </a:rPr>
              <a:t>(</a:t>
            </a:r>
            <a:r>
              <a:rPr lang="en-IN" b="1" dirty="0" smtClean="0"/>
              <a:t>Segregated </a:t>
            </a:r>
            <a:r>
              <a:rPr lang="en-IN" b="1" dirty="0"/>
              <a:t>Witness</a:t>
            </a:r>
            <a:r>
              <a:rPr lang="en-IN" dirty="0"/>
              <a:t>)</a:t>
            </a:r>
            <a:r>
              <a:rPr lang="en-IN" b="1" dirty="0" smtClean="0">
                <a:solidFill>
                  <a:srgbClr val="FF0000"/>
                </a:solidFill>
              </a:rPr>
              <a:t>Address Formats</a:t>
            </a:r>
          </a:p>
          <a:p>
            <a:pPr>
              <a:buFont typeface="Wingdings" panose="05000000000000000000" pitchFamily="2" charset="2"/>
              <a:buChar char="Ø"/>
            </a:pPr>
            <a:r>
              <a:rPr lang="en-IN" b="1" dirty="0" smtClean="0"/>
              <a:t>P2WPKH </a:t>
            </a:r>
            <a:r>
              <a:rPr lang="en-IN" b="1" dirty="0"/>
              <a:t>(Pay-to-Witness-Public-Key-Hash</a:t>
            </a:r>
            <a:r>
              <a:rPr lang="en-IN" b="1" dirty="0" smtClean="0"/>
              <a:t>):</a:t>
            </a:r>
          </a:p>
          <a:p>
            <a:pPr marL="50799" indent="0">
              <a:buNone/>
            </a:pPr>
            <a:r>
              <a:rPr lang="en-IN" b="1" dirty="0"/>
              <a:t> </a:t>
            </a:r>
            <a:r>
              <a:rPr lang="en-IN" b="1" dirty="0" smtClean="0"/>
              <a:t>   Format</a:t>
            </a:r>
            <a:r>
              <a:rPr lang="en-IN" b="1" dirty="0"/>
              <a:t>: Starts with bc1</a:t>
            </a:r>
            <a:r>
              <a:rPr lang="en-IN" b="1" dirty="0" smtClean="0"/>
              <a:t>.</a:t>
            </a:r>
          </a:p>
          <a:p>
            <a:pPr marL="50799" indent="0">
              <a:buNone/>
            </a:pPr>
            <a:r>
              <a:rPr lang="en-IN" b="1" dirty="0" smtClean="0"/>
              <a:t>Example</a:t>
            </a:r>
            <a:r>
              <a:rPr lang="en-IN" b="1" dirty="0"/>
              <a:t>: bc1qw508d6qejxtdg4y5r3zarvaryvhm3vcxz6s8cp</a:t>
            </a:r>
            <a:r>
              <a:rPr lang="en-IN" b="1" dirty="0" smtClean="0"/>
              <a:t>.</a:t>
            </a:r>
          </a:p>
          <a:p>
            <a:pPr>
              <a:buFont typeface="Wingdings" panose="05000000000000000000" pitchFamily="2" charset="2"/>
              <a:buChar char="Ø"/>
            </a:pPr>
            <a:r>
              <a:rPr lang="en-IN" b="1" dirty="0" smtClean="0"/>
              <a:t>P2WSH </a:t>
            </a:r>
            <a:r>
              <a:rPr lang="en-IN" b="1" dirty="0"/>
              <a:t>(Pay-to-Witness-Script-Hash</a:t>
            </a:r>
            <a:r>
              <a:rPr lang="en-IN" b="1" dirty="0" smtClean="0"/>
              <a:t>):</a:t>
            </a:r>
          </a:p>
          <a:p>
            <a:pPr marL="50799" indent="0">
              <a:buNone/>
            </a:pPr>
            <a:r>
              <a:rPr lang="en-IN" b="1" dirty="0" smtClean="0"/>
              <a:t>Used </a:t>
            </a:r>
            <a:r>
              <a:rPr lang="en-IN" b="1" dirty="0"/>
              <a:t>for </a:t>
            </a:r>
            <a:r>
              <a:rPr lang="en-IN" b="1" dirty="0" err="1"/>
              <a:t>multisig</a:t>
            </a:r>
            <a:r>
              <a:rPr lang="en-IN" b="1" dirty="0"/>
              <a:t> or complex scripts</a:t>
            </a:r>
            <a:r>
              <a:rPr lang="en-IN" b="1" dirty="0" smtClean="0"/>
              <a:t>.</a:t>
            </a:r>
          </a:p>
          <a:p>
            <a:pPr marL="50799" indent="0">
              <a:buNone/>
            </a:pPr>
            <a:r>
              <a:rPr lang="en-IN" b="1" dirty="0"/>
              <a:t> </a:t>
            </a:r>
            <a:r>
              <a:rPr lang="en-IN" b="1" dirty="0" smtClean="0"/>
              <a:t>   Format</a:t>
            </a:r>
            <a:r>
              <a:rPr lang="en-IN" b="1" dirty="0"/>
              <a:t>: Starts with bc1.</a:t>
            </a:r>
            <a:endParaRPr lang="en-IN" dirty="0"/>
          </a:p>
        </p:txBody>
      </p:sp>
    </p:spTree>
    <p:extLst>
      <p:ext uri="{BB962C8B-B14F-4D97-AF65-F5344CB8AC3E}">
        <p14:creationId xmlns:p14="http://schemas.microsoft.com/office/powerpoint/2010/main" val="11899825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r>
            <a:br>
              <a:rPr lang="en-IN" dirty="0" smtClean="0"/>
            </a:br>
            <a:r>
              <a:rPr lang="en-IN" dirty="0"/>
              <a:t/>
            </a:r>
            <a:br>
              <a:rPr lang="en-IN" dirty="0"/>
            </a:br>
            <a:r>
              <a:rPr lang="en-IN" dirty="0" smtClean="0"/>
              <a:t/>
            </a:r>
            <a:br>
              <a:rPr lang="en-IN" dirty="0" smtClean="0"/>
            </a:br>
            <a:r>
              <a:rPr lang="en-IN" dirty="0"/>
              <a:t/>
            </a:r>
            <a:br>
              <a:rPr lang="en-IN" dirty="0"/>
            </a:br>
            <a:r>
              <a:rPr lang="en-IN" dirty="0" smtClean="0"/>
              <a:t/>
            </a:r>
            <a:br>
              <a:rPr lang="en-IN" dirty="0" smtClean="0"/>
            </a:br>
            <a:endParaRPr lang="en-IN" dirty="0"/>
          </a:p>
        </p:txBody>
      </p:sp>
      <p:sp>
        <p:nvSpPr>
          <p:cNvPr id="3" name="Text Placeholder 2"/>
          <p:cNvSpPr>
            <a:spLocks noGrp="1"/>
          </p:cNvSpPr>
          <p:nvPr>
            <p:ph type="body" idx="1"/>
          </p:nvPr>
        </p:nvSpPr>
        <p:spPr/>
        <p:txBody>
          <a:bodyPr/>
          <a:lstStyle/>
          <a:p>
            <a:pPr marL="50799" indent="0">
              <a:buNone/>
            </a:pPr>
            <a:r>
              <a:rPr lang="en-IN" dirty="0" smtClean="0"/>
              <a:t>Comparison </a:t>
            </a:r>
            <a:r>
              <a:rPr lang="en-IN" dirty="0"/>
              <a:t>of P2WPKH and </a:t>
            </a:r>
            <a:r>
              <a:rPr lang="en-IN" dirty="0" smtClean="0"/>
              <a:t>P2PKH</a:t>
            </a:r>
          </a:p>
          <a:p>
            <a:pPr marL="50799" indent="0">
              <a:buNone/>
            </a:pPr>
            <a:endParaRPr lang="en-IN" dirty="0"/>
          </a:p>
          <a:p>
            <a:pPr marL="50799" indent="0">
              <a:buNone/>
            </a:pPr>
            <a:endParaRPr lang="en-IN" dirty="0" smtClean="0"/>
          </a:p>
          <a:p>
            <a:pPr marL="50799" indent="0">
              <a:buNone/>
            </a:pPr>
            <a:endParaRPr lang="en-IN" dirty="0" smtClean="0"/>
          </a:p>
        </p:txBody>
      </p:sp>
      <p:graphicFrame>
        <p:nvGraphicFramePr>
          <p:cNvPr id="5" name="Table 4"/>
          <p:cNvGraphicFramePr>
            <a:graphicFrameLocks noGrp="1"/>
          </p:cNvGraphicFramePr>
          <p:nvPr>
            <p:extLst/>
          </p:nvPr>
        </p:nvGraphicFramePr>
        <p:xfrm>
          <a:off x="990600" y="2438400"/>
          <a:ext cx="8254999" cy="3657601"/>
        </p:xfrm>
        <a:graphic>
          <a:graphicData uri="http://schemas.openxmlformats.org/drawingml/2006/table">
            <a:tbl>
              <a:tblPr firstRow="1" bandRow="1">
                <a:tableStyleId>{5C22544A-7EE6-4342-B048-85BDC9FD1C3A}</a:tableStyleId>
              </a:tblPr>
              <a:tblGrid>
                <a:gridCol w="2836333"/>
                <a:gridCol w="2709333"/>
                <a:gridCol w="2709333"/>
              </a:tblGrid>
              <a:tr h="516367">
                <a:tc>
                  <a:txBody>
                    <a:bodyPr/>
                    <a:lstStyle/>
                    <a:p>
                      <a:r>
                        <a:rPr lang="en-IN" sz="1800" b="1" kern="1200" dirty="0" smtClean="0">
                          <a:solidFill>
                            <a:schemeClr val="lt1"/>
                          </a:solidFill>
                          <a:effectLst/>
                          <a:latin typeface="+mn-lt"/>
                          <a:ea typeface="+mn-ea"/>
                          <a:cs typeface="+mn-cs"/>
                        </a:rPr>
                        <a:t>Feature</a:t>
                      </a:r>
                      <a:endParaRPr lang="en-IN" dirty="0"/>
                    </a:p>
                  </a:txBody>
                  <a:tcPr/>
                </a:tc>
                <a:tc>
                  <a:txBody>
                    <a:bodyPr/>
                    <a:lstStyle/>
                    <a:p>
                      <a:r>
                        <a:rPr lang="en-IN" sz="1800" b="1" kern="1200" dirty="0" smtClean="0">
                          <a:solidFill>
                            <a:schemeClr val="lt1"/>
                          </a:solidFill>
                          <a:effectLst/>
                          <a:latin typeface="+mn-lt"/>
                          <a:ea typeface="+mn-ea"/>
                          <a:cs typeface="+mn-cs"/>
                        </a:rPr>
                        <a:t>P2PKH</a:t>
                      </a:r>
                      <a:endParaRPr lang="en-IN" dirty="0"/>
                    </a:p>
                  </a:txBody>
                  <a:tcPr/>
                </a:tc>
                <a:tc>
                  <a:txBody>
                    <a:bodyPr/>
                    <a:lstStyle/>
                    <a:p>
                      <a:r>
                        <a:rPr lang="en-IN" dirty="0" smtClean="0"/>
                        <a:t>P2WPKH</a:t>
                      </a:r>
                      <a:endParaRPr lang="en-IN" dirty="0"/>
                    </a:p>
                  </a:txBody>
                  <a:tcPr/>
                </a:tc>
              </a:tr>
              <a:tr h="523539">
                <a:tc>
                  <a:txBody>
                    <a:bodyPr/>
                    <a:lstStyle/>
                    <a:p>
                      <a:r>
                        <a:rPr lang="en-IN" sz="1800" b="1" kern="1200" dirty="0" smtClean="0">
                          <a:solidFill>
                            <a:schemeClr val="dk1"/>
                          </a:solidFill>
                          <a:effectLst/>
                          <a:latin typeface="+mn-lt"/>
                          <a:ea typeface="+mn-ea"/>
                          <a:cs typeface="+mn-cs"/>
                        </a:rPr>
                        <a:t>Address Format</a:t>
                      </a:r>
                      <a:endParaRPr lang="en-IN" b="1" dirty="0"/>
                    </a:p>
                  </a:txBody>
                  <a:tcPr/>
                </a:tc>
                <a:tc>
                  <a:txBody>
                    <a:bodyPr/>
                    <a:lstStyle/>
                    <a:p>
                      <a:r>
                        <a:rPr lang="en-IN" sz="1800" b="1" kern="1200" dirty="0" smtClean="0">
                          <a:solidFill>
                            <a:schemeClr val="dk1"/>
                          </a:solidFill>
                          <a:effectLst/>
                          <a:latin typeface="+mn-lt"/>
                          <a:ea typeface="+mn-ea"/>
                          <a:cs typeface="+mn-cs"/>
                        </a:rPr>
                        <a:t>Base58, starts with 1</a:t>
                      </a:r>
                      <a:endParaRPr lang="en-IN" b="1" dirty="0"/>
                    </a:p>
                  </a:txBody>
                  <a:tcPr/>
                </a:tc>
                <a:tc>
                  <a:txBody>
                    <a:bodyPr/>
                    <a:lstStyle/>
                    <a:p>
                      <a:r>
                        <a:rPr lang="en-IN" sz="1800" b="1" kern="1200" dirty="0" smtClean="0">
                          <a:solidFill>
                            <a:schemeClr val="dk1"/>
                          </a:solidFill>
                          <a:effectLst/>
                          <a:latin typeface="+mn-lt"/>
                          <a:ea typeface="+mn-ea"/>
                          <a:cs typeface="+mn-cs"/>
                        </a:rPr>
                        <a:t>Bech32, starts with bc1</a:t>
                      </a:r>
                      <a:endParaRPr lang="en-IN" b="1" dirty="0"/>
                    </a:p>
                  </a:txBody>
                  <a:tcPr/>
                </a:tc>
              </a:tr>
              <a:tr h="523539">
                <a:tc>
                  <a:txBody>
                    <a:bodyPr/>
                    <a:lstStyle/>
                    <a:p>
                      <a:r>
                        <a:rPr lang="en-IN" sz="1800" b="1" kern="1200" dirty="0" smtClean="0">
                          <a:solidFill>
                            <a:schemeClr val="dk1"/>
                          </a:solidFill>
                          <a:effectLst/>
                          <a:latin typeface="+mn-lt"/>
                          <a:ea typeface="+mn-ea"/>
                          <a:cs typeface="+mn-cs"/>
                        </a:rPr>
                        <a:t>Signature Placement</a:t>
                      </a:r>
                      <a:endParaRPr lang="en-IN" b="1" dirty="0"/>
                    </a:p>
                  </a:txBody>
                  <a:tcPr/>
                </a:tc>
                <a:tc>
                  <a:txBody>
                    <a:bodyPr/>
                    <a:lstStyle/>
                    <a:p>
                      <a:r>
                        <a:rPr lang="en-IN" sz="1800" b="1" kern="1200" dirty="0" smtClean="0">
                          <a:solidFill>
                            <a:schemeClr val="dk1"/>
                          </a:solidFill>
                          <a:effectLst/>
                          <a:latin typeface="+mn-lt"/>
                          <a:ea typeface="+mn-ea"/>
                          <a:cs typeface="+mn-cs"/>
                        </a:rPr>
                        <a:t>Part of transaction data</a:t>
                      </a:r>
                      <a:endParaRPr lang="en-IN" b="1" dirty="0"/>
                    </a:p>
                  </a:txBody>
                  <a:tcPr/>
                </a:tc>
                <a:tc>
                  <a:txBody>
                    <a:bodyPr/>
                    <a:lstStyle/>
                    <a:p>
                      <a:r>
                        <a:rPr lang="en-IN" sz="1800" b="1" kern="1200" dirty="0" smtClean="0">
                          <a:solidFill>
                            <a:schemeClr val="dk1"/>
                          </a:solidFill>
                          <a:effectLst/>
                          <a:latin typeface="+mn-lt"/>
                          <a:ea typeface="+mn-ea"/>
                          <a:cs typeface="+mn-cs"/>
                        </a:rPr>
                        <a:t>In witness data</a:t>
                      </a:r>
                      <a:endParaRPr lang="en-IN" b="1" dirty="0"/>
                    </a:p>
                  </a:txBody>
                  <a:tcPr/>
                </a:tc>
              </a:tr>
              <a:tr h="523539">
                <a:tc>
                  <a:txBody>
                    <a:bodyPr/>
                    <a:lstStyle/>
                    <a:p>
                      <a:r>
                        <a:rPr lang="en-IN" sz="1800" b="1" kern="1200" dirty="0" smtClean="0">
                          <a:solidFill>
                            <a:schemeClr val="dk1"/>
                          </a:solidFill>
                          <a:effectLst/>
                          <a:latin typeface="+mn-lt"/>
                          <a:ea typeface="+mn-ea"/>
                          <a:cs typeface="+mn-cs"/>
                        </a:rPr>
                        <a:t>Transaction Size</a:t>
                      </a:r>
                      <a:endParaRPr lang="en-IN" b="1" dirty="0"/>
                    </a:p>
                  </a:txBody>
                  <a:tcPr/>
                </a:tc>
                <a:tc>
                  <a:txBody>
                    <a:bodyPr/>
                    <a:lstStyle/>
                    <a:p>
                      <a:r>
                        <a:rPr lang="en-IN" sz="1800" b="1" kern="1200" dirty="0" smtClean="0">
                          <a:solidFill>
                            <a:schemeClr val="dk1"/>
                          </a:solidFill>
                          <a:effectLst/>
                          <a:latin typeface="+mn-lt"/>
                          <a:ea typeface="+mn-ea"/>
                          <a:cs typeface="+mn-cs"/>
                        </a:rPr>
                        <a:t>Larger</a:t>
                      </a:r>
                      <a:endParaRPr lang="en-IN" b="1" dirty="0"/>
                    </a:p>
                  </a:txBody>
                  <a:tcPr/>
                </a:tc>
                <a:tc>
                  <a:txBody>
                    <a:bodyPr/>
                    <a:lstStyle/>
                    <a:p>
                      <a:r>
                        <a:rPr lang="en-IN" sz="1800" b="1" kern="1200" dirty="0" smtClean="0">
                          <a:solidFill>
                            <a:schemeClr val="dk1"/>
                          </a:solidFill>
                          <a:effectLst/>
                          <a:latin typeface="+mn-lt"/>
                          <a:ea typeface="+mn-ea"/>
                          <a:cs typeface="+mn-cs"/>
                        </a:rPr>
                        <a:t>Smaller</a:t>
                      </a:r>
                      <a:endParaRPr lang="en-IN" b="1" dirty="0"/>
                    </a:p>
                  </a:txBody>
                  <a:tcPr/>
                </a:tc>
              </a:tr>
              <a:tr h="523539">
                <a:tc>
                  <a:txBody>
                    <a:bodyPr/>
                    <a:lstStyle/>
                    <a:p>
                      <a:r>
                        <a:rPr lang="en-IN" sz="1800" b="1" kern="1200" dirty="0" smtClean="0">
                          <a:solidFill>
                            <a:schemeClr val="dk1"/>
                          </a:solidFill>
                          <a:effectLst/>
                          <a:latin typeface="+mn-lt"/>
                          <a:ea typeface="+mn-ea"/>
                          <a:cs typeface="+mn-cs"/>
                        </a:rPr>
                        <a:t>Fees</a:t>
                      </a:r>
                      <a:endParaRPr lang="en-IN" b="1" dirty="0"/>
                    </a:p>
                  </a:txBody>
                  <a:tcPr/>
                </a:tc>
                <a:tc>
                  <a:txBody>
                    <a:bodyPr/>
                    <a:lstStyle/>
                    <a:p>
                      <a:r>
                        <a:rPr lang="en-IN" sz="1800" b="1" kern="1200" dirty="0" smtClean="0">
                          <a:solidFill>
                            <a:schemeClr val="dk1"/>
                          </a:solidFill>
                          <a:effectLst/>
                          <a:latin typeface="+mn-lt"/>
                          <a:ea typeface="+mn-ea"/>
                          <a:cs typeface="+mn-cs"/>
                        </a:rPr>
                        <a:t>Higher</a:t>
                      </a:r>
                      <a:endParaRPr lang="en-IN" b="1" dirty="0"/>
                    </a:p>
                  </a:txBody>
                  <a:tcPr/>
                </a:tc>
                <a:tc>
                  <a:txBody>
                    <a:bodyPr/>
                    <a:lstStyle/>
                    <a:p>
                      <a:r>
                        <a:rPr lang="en-IN" b="1" dirty="0" smtClean="0"/>
                        <a:t>Lower</a:t>
                      </a:r>
                      <a:endParaRPr lang="en-IN" b="1" dirty="0"/>
                    </a:p>
                  </a:txBody>
                  <a:tcPr/>
                </a:tc>
              </a:tr>
              <a:tr h="1047078">
                <a:tc>
                  <a:txBody>
                    <a:bodyPr/>
                    <a:lstStyle/>
                    <a:p>
                      <a:r>
                        <a:rPr lang="en-IN" sz="1800" b="1" kern="1200" dirty="0" smtClean="0">
                          <a:solidFill>
                            <a:schemeClr val="dk1"/>
                          </a:solidFill>
                          <a:effectLst/>
                          <a:latin typeface="+mn-lt"/>
                          <a:ea typeface="+mn-ea"/>
                          <a:cs typeface="+mn-cs"/>
                        </a:rPr>
                        <a:t>Transaction Malleability</a:t>
                      </a:r>
                      <a:endParaRPr lang="en-IN" b="1" dirty="0"/>
                    </a:p>
                  </a:txBody>
                  <a:tcPr/>
                </a:tc>
                <a:tc>
                  <a:txBody>
                    <a:bodyPr/>
                    <a:lstStyle/>
                    <a:p>
                      <a:r>
                        <a:rPr lang="en-IN" sz="1800" b="1" kern="1200" dirty="0" smtClean="0">
                          <a:solidFill>
                            <a:schemeClr val="dk1"/>
                          </a:solidFill>
                          <a:effectLst/>
                          <a:latin typeface="+mn-lt"/>
                          <a:ea typeface="+mn-ea"/>
                          <a:cs typeface="+mn-cs"/>
                        </a:rPr>
                        <a:t>Vulnerable</a:t>
                      </a:r>
                      <a:endParaRPr lang="en-IN" b="1" dirty="0"/>
                    </a:p>
                  </a:txBody>
                  <a:tcPr/>
                </a:tc>
                <a:tc>
                  <a:txBody>
                    <a:bodyPr/>
                    <a:lstStyle/>
                    <a:p>
                      <a:r>
                        <a:rPr lang="en-IN" b="1" dirty="0" smtClean="0"/>
                        <a:t>Fixed</a:t>
                      </a:r>
                      <a:endParaRPr lang="en-IN" b="1" dirty="0"/>
                    </a:p>
                  </a:txBody>
                  <a:tcPr/>
                </a:tc>
              </a:tr>
            </a:tbl>
          </a:graphicData>
        </a:graphic>
      </p:graphicFrame>
    </p:spTree>
    <p:extLst>
      <p:ext uri="{BB962C8B-B14F-4D97-AF65-F5344CB8AC3E}">
        <p14:creationId xmlns:p14="http://schemas.microsoft.com/office/powerpoint/2010/main" val="22817168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Challenges and </a:t>
            </a:r>
            <a:r>
              <a:rPr lang="en-IN" dirty="0" smtClean="0"/>
              <a:t>Criticisms:</a:t>
            </a:r>
          </a:p>
          <a:p>
            <a:pPr marL="0" indent="0">
              <a:buNone/>
            </a:pPr>
            <a:r>
              <a:rPr lang="en-IN" b="1" dirty="0" smtClean="0"/>
              <a:t> 1. Slow </a:t>
            </a:r>
            <a:r>
              <a:rPr lang="en-IN" b="1" dirty="0"/>
              <a:t>Adoption:</a:t>
            </a:r>
            <a:endParaRPr lang="en-IN" dirty="0"/>
          </a:p>
          <a:p>
            <a:pPr marL="457200" lvl="1" indent="0">
              <a:buNone/>
            </a:pPr>
            <a:r>
              <a:rPr lang="en-IN" dirty="0" smtClean="0"/>
              <a:t>  Many </a:t>
            </a:r>
            <a:r>
              <a:rPr lang="en-IN" dirty="0"/>
              <a:t>users and platforms were slow to adopt </a:t>
            </a:r>
            <a:r>
              <a:rPr lang="en-IN" dirty="0" err="1"/>
              <a:t>SegWit</a:t>
            </a:r>
            <a:r>
              <a:rPr lang="en-IN" dirty="0"/>
              <a:t> due to the need for wallet and software updates.</a:t>
            </a:r>
          </a:p>
          <a:p>
            <a:pPr marL="0" indent="0">
              <a:buNone/>
            </a:pPr>
            <a:r>
              <a:rPr lang="en-IN" b="1" dirty="0" smtClean="0"/>
              <a:t>  2. Not </a:t>
            </a:r>
            <a:r>
              <a:rPr lang="en-IN" b="1" dirty="0"/>
              <a:t>a Permanent Fix:</a:t>
            </a:r>
            <a:endParaRPr lang="en-IN" dirty="0"/>
          </a:p>
          <a:p>
            <a:pPr marL="457200" lvl="1" indent="0">
              <a:buNone/>
            </a:pPr>
            <a:r>
              <a:rPr lang="en-IN" dirty="0" smtClean="0"/>
              <a:t>  While </a:t>
            </a:r>
            <a:r>
              <a:rPr lang="en-IN" dirty="0" err="1"/>
              <a:t>SegWit</a:t>
            </a:r>
            <a:r>
              <a:rPr lang="en-IN" dirty="0"/>
              <a:t> improves scalability, it is not a long-term solution to </a:t>
            </a:r>
            <a:r>
              <a:rPr lang="en-IN" dirty="0" err="1"/>
              <a:t>Bitcoin's</a:t>
            </a:r>
            <a:r>
              <a:rPr lang="en-IN" dirty="0"/>
              <a:t> scalability issues. It works in conjunction with other solutions like the Lightning Network.</a:t>
            </a:r>
          </a:p>
          <a:p>
            <a:endParaRPr lang="en-IN" dirty="0"/>
          </a:p>
        </p:txBody>
      </p:sp>
    </p:spTree>
    <p:extLst>
      <p:ext uri="{BB962C8B-B14F-4D97-AF65-F5344CB8AC3E}">
        <p14:creationId xmlns:p14="http://schemas.microsoft.com/office/powerpoint/2010/main" val="16823418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81001"/>
            <a:ext cx="10972800" cy="6186776"/>
          </a:xfrm>
        </p:spPr>
        <p:txBody>
          <a:bodyPr/>
          <a:lstStyle/>
          <a:p>
            <a:pPr marL="50799" indent="0">
              <a:buNone/>
            </a:pPr>
            <a:r>
              <a:rPr lang="en-IN" b="1" dirty="0"/>
              <a:t>Script Properties</a:t>
            </a:r>
          </a:p>
          <a:p>
            <a:pPr marL="50799" indent="0">
              <a:buNone/>
            </a:pPr>
            <a:r>
              <a:rPr lang="en-IN" dirty="0"/>
              <a:t>The main properties of </a:t>
            </a:r>
            <a:r>
              <a:rPr lang="en-IN" dirty="0" err="1"/>
              <a:t>Bitcoin</a:t>
            </a:r>
            <a:r>
              <a:rPr lang="en-IN" dirty="0"/>
              <a:t> language and scripts are the following:</a:t>
            </a:r>
          </a:p>
          <a:p>
            <a:pPr algn="just"/>
            <a:r>
              <a:rPr lang="en-IN" dirty="0" smtClean="0"/>
              <a:t>Every </a:t>
            </a:r>
            <a:r>
              <a:rPr lang="en-IN" dirty="0" err="1"/>
              <a:t>Bitcoin</a:t>
            </a:r>
            <a:r>
              <a:rPr lang="en-IN" dirty="0"/>
              <a:t> script can only produce two outcomes. It can either execute successfully or return an error. If it fails during transaction validation, the entire transaction becomes invalid and won't be added to the </a:t>
            </a:r>
            <a:r>
              <a:rPr lang="en-IN" dirty="0" err="1"/>
              <a:t>blockchain</a:t>
            </a:r>
            <a:r>
              <a:rPr lang="en-IN" dirty="0" smtClean="0"/>
              <a:t>.</a:t>
            </a:r>
          </a:p>
          <a:p>
            <a:pPr algn="just"/>
            <a:r>
              <a:rPr lang="en-IN" dirty="0" err="1" smtClean="0"/>
              <a:t>Bitcoin</a:t>
            </a:r>
            <a:r>
              <a:rPr lang="en-IN" dirty="0" smtClean="0"/>
              <a:t> </a:t>
            </a:r>
            <a:r>
              <a:rPr lang="en-IN" dirty="0"/>
              <a:t>scripting language is very small, </a:t>
            </a:r>
            <a:r>
              <a:rPr lang="en-IN" dirty="0" err="1"/>
              <a:t>Bitcoin's</a:t>
            </a:r>
            <a:r>
              <a:rPr lang="en-IN" dirty="0"/>
              <a:t> scripting language is limited to 256 instructions (1 byte each). 15 instructions are disabled, and 75 are reserved for future use, so they currently have no function</a:t>
            </a:r>
            <a:r>
              <a:rPr lang="en-IN" dirty="0" smtClean="0"/>
              <a:t>.</a:t>
            </a:r>
          </a:p>
          <a:p>
            <a:pPr algn="just"/>
            <a:r>
              <a:rPr lang="en-IN" dirty="0" err="1" smtClean="0"/>
              <a:t>Bitcoin</a:t>
            </a:r>
            <a:r>
              <a:rPr lang="en-IN" dirty="0" smtClean="0"/>
              <a:t> </a:t>
            </a:r>
            <a:r>
              <a:rPr lang="en-IN" dirty="0"/>
              <a:t>scripting language includes instructions to </a:t>
            </a:r>
            <a:r>
              <a:rPr lang="en-IN" dirty="0" smtClean="0"/>
              <a:t>handle </a:t>
            </a:r>
            <a:r>
              <a:rPr lang="en-IN" dirty="0"/>
              <a:t>basic arithmetic and </a:t>
            </a:r>
            <a:r>
              <a:rPr lang="en-IN" dirty="0" smtClean="0"/>
              <a:t>logic, managing  </a:t>
            </a:r>
            <a:r>
              <a:rPr lang="en-IN" dirty="0"/>
              <a:t>errors and </a:t>
            </a:r>
            <a:r>
              <a:rPr lang="en-IN" dirty="0" smtClean="0"/>
              <a:t>perform </a:t>
            </a:r>
            <a:r>
              <a:rPr lang="en-IN" dirty="0"/>
              <a:t>cryptographic tasks like hashing and verifying signatures.</a:t>
            </a:r>
          </a:p>
          <a:p>
            <a:pPr marL="50799" indent="0">
              <a:buNone/>
            </a:pPr>
            <a:r>
              <a:rPr lang="en-IN" b="1" i="1" dirty="0" err="1"/>
              <a:t>Bitcoin</a:t>
            </a:r>
            <a:r>
              <a:rPr lang="en-IN" b="1" i="1" dirty="0"/>
              <a:t> scripts are simple, efficient, and focused on essential functions</a:t>
            </a:r>
          </a:p>
        </p:txBody>
      </p:sp>
    </p:spTree>
    <p:extLst>
      <p:ext uri="{BB962C8B-B14F-4D97-AF65-F5344CB8AC3E}">
        <p14:creationId xmlns:p14="http://schemas.microsoft.com/office/powerpoint/2010/main" val="305628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ctr">
              <a:buNone/>
            </a:pPr>
            <a:endParaRPr lang="en-IN" b="1" dirty="0" smtClean="0"/>
          </a:p>
          <a:p>
            <a:pPr marL="0" indent="0" algn="ctr">
              <a:buNone/>
            </a:pPr>
            <a:endParaRPr lang="en-IN" b="1" dirty="0"/>
          </a:p>
          <a:p>
            <a:pPr marL="0" indent="0" algn="ctr">
              <a:buNone/>
            </a:pPr>
            <a:r>
              <a:rPr lang="en-IN" b="1" dirty="0" smtClean="0"/>
              <a:t>Applications of Bitcoin Scripts</a:t>
            </a:r>
            <a:endParaRPr lang="en-IN" b="1" dirty="0"/>
          </a:p>
        </p:txBody>
      </p:sp>
      <p:sp>
        <p:nvSpPr>
          <p:cNvPr id="4" name="Date Placeholder 3"/>
          <p:cNvSpPr>
            <a:spLocks noGrp="1"/>
          </p:cNvSpPr>
          <p:nvPr>
            <p:ph type="dt" sz="half" idx="10"/>
          </p:nvPr>
        </p:nvSpPr>
        <p:spPr/>
        <p:txBody>
          <a:bodyPr/>
          <a:lstStyle/>
          <a:p>
            <a:pPr>
              <a:defRPr/>
            </a:pPr>
            <a:fld id="{6A90A815-4443-4C29-BFDA-E333D997CF7F}" type="datetime8">
              <a:rPr lang="en-US" smtClean="0">
                <a:solidFill>
                  <a:prstClr val="black">
                    <a:tint val="75000"/>
                  </a:prstClr>
                </a:solidFill>
              </a:rPr>
              <a:t>1/18/2025 1:14 AM</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r>
              <a:rPr lang="en-US" smtClean="0">
                <a:solidFill>
                  <a:prstClr val="black">
                    <a:tint val="75000"/>
                  </a:prstClr>
                </a:solidFill>
              </a:rPr>
              <a:t>V.madhu Viswanatham</a:t>
            </a: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7109F07-F13A-4551-BD1A-AFA4DB786849}" type="slidenum">
              <a:rPr lang="en-US" smtClean="0"/>
              <a:pPr>
                <a:defRPr/>
              </a:pPr>
              <a:t>32</a:t>
            </a:fld>
            <a:endParaRPr lang="en-US"/>
          </a:p>
        </p:txBody>
      </p:sp>
    </p:spTree>
    <p:extLst>
      <p:ext uri="{BB962C8B-B14F-4D97-AF65-F5344CB8AC3E}">
        <p14:creationId xmlns:p14="http://schemas.microsoft.com/office/powerpoint/2010/main" val="16035446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Some are</a:t>
            </a:r>
          </a:p>
          <a:p>
            <a:pPr marL="0" indent="0">
              <a:buNone/>
            </a:pPr>
            <a:r>
              <a:rPr lang="en-IN" dirty="0"/>
              <a:t> </a:t>
            </a:r>
            <a:r>
              <a:rPr lang="en-IN" dirty="0" smtClean="0"/>
              <a:t> </a:t>
            </a:r>
            <a:r>
              <a:rPr lang="en" dirty="0" smtClean="0"/>
              <a:t>1. Escrow transactions</a:t>
            </a:r>
          </a:p>
          <a:p>
            <a:pPr marL="0" indent="0">
              <a:buNone/>
            </a:pPr>
            <a:r>
              <a:rPr lang="en" dirty="0"/>
              <a:t> </a:t>
            </a:r>
            <a:r>
              <a:rPr lang="en" dirty="0" smtClean="0"/>
              <a:t> 2  . Green addresses</a:t>
            </a:r>
          </a:p>
          <a:p>
            <a:pPr marL="0" indent="0">
              <a:buNone/>
            </a:pPr>
            <a:r>
              <a:rPr lang="en" dirty="0"/>
              <a:t> </a:t>
            </a:r>
            <a:r>
              <a:rPr lang="en" dirty="0" smtClean="0"/>
              <a:t> 3. </a:t>
            </a:r>
            <a:r>
              <a:rPr lang="en" dirty="0"/>
              <a:t>Efficient micro-payments</a:t>
            </a:r>
            <a:endParaRPr lang="en-IN" dirty="0"/>
          </a:p>
        </p:txBody>
      </p:sp>
    </p:spTree>
    <p:extLst>
      <p:ext uri="{BB962C8B-B14F-4D97-AF65-F5344CB8AC3E}">
        <p14:creationId xmlns:p14="http://schemas.microsoft.com/office/powerpoint/2010/main" val="12648827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2"/>
          <p:cNvSpPr txBox="1">
            <a:spLocks noGrp="1"/>
          </p:cNvSpPr>
          <p:nvPr>
            <p:ph type="title"/>
          </p:nvPr>
        </p:nvSpPr>
        <p:spPr>
          <a:xfrm>
            <a:off x="381000" y="228600"/>
            <a:ext cx="10972800" cy="1265437"/>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dirty="0"/>
              <a:t>Example </a:t>
            </a:r>
            <a:r>
              <a:rPr lang="en" dirty="0" smtClean="0"/>
              <a:t>1:Escrow </a:t>
            </a:r>
            <a:r>
              <a:rPr lang="en" dirty="0"/>
              <a:t>transactions</a:t>
            </a:r>
            <a:endParaRPr i="1" dirty="0"/>
          </a:p>
        </p:txBody>
      </p:sp>
      <p:sp>
        <p:nvSpPr>
          <p:cNvPr id="301" name="Google Shape;301;p32"/>
          <p:cNvSpPr/>
          <p:nvPr/>
        </p:nvSpPr>
        <p:spPr>
          <a:xfrm>
            <a:off x="194217" y="3699000"/>
            <a:ext cx="1901600" cy="17420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02" name="Google Shape;302;p32"/>
          <p:cNvSpPr/>
          <p:nvPr/>
        </p:nvSpPr>
        <p:spPr>
          <a:xfrm>
            <a:off x="9483051" y="3699000"/>
            <a:ext cx="1901600" cy="17420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03" name="Google Shape;303;p32"/>
          <p:cNvSpPr/>
          <p:nvPr/>
        </p:nvSpPr>
        <p:spPr>
          <a:xfrm>
            <a:off x="2327867" y="5426200"/>
            <a:ext cx="7155200" cy="1301600"/>
          </a:xfrm>
          <a:prstGeom prst="roundRect">
            <a:avLst>
              <a:gd name="adj" fmla="val 16667"/>
            </a:avLst>
          </a:prstGeom>
          <a:solidFill>
            <a:srgbClr val="6AA84F"/>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latin typeface="Trebuchet MS"/>
                <a:ea typeface="Trebuchet MS"/>
                <a:cs typeface="Trebuchet MS"/>
                <a:sym typeface="Trebuchet MS"/>
              </a:rPr>
              <a:t>PROBLEM:</a:t>
            </a:r>
            <a:r>
              <a:rPr lang="en" sz="2400">
                <a:latin typeface="Trebuchet MS"/>
                <a:ea typeface="Trebuchet MS"/>
                <a:cs typeface="Trebuchet MS"/>
                <a:sym typeface="Trebuchet MS"/>
              </a:rPr>
              <a:t> Alice wants to buy online from Bob. Alice doesn’t want to pay until after Bob ships.</a:t>
            </a:r>
            <a:endParaRPr sz="2400">
              <a:latin typeface="Trebuchet MS"/>
              <a:ea typeface="Trebuchet MS"/>
              <a:cs typeface="Trebuchet MS"/>
              <a:sym typeface="Trebuchet MS"/>
            </a:endParaRPr>
          </a:p>
          <a:p>
            <a:pPr algn="ctr"/>
            <a:r>
              <a:rPr lang="en" sz="2400">
                <a:latin typeface="Trebuchet MS"/>
                <a:ea typeface="Trebuchet MS"/>
                <a:cs typeface="Trebuchet MS"/>
                <a:sym typeface="Trebuchet MS"/>
              </a:rPr>
              <a:t>Bob doesn’t want to ship until after Alice pays.</a:t>
            </a:r>
            <a:endParaRPr sz="2400">
              <a:latin typeface="Trebuchet MS"/>
              <a:ea typeface="Trebuchet MS"/>
              <a:cs typeface="Trebuchet MS"/>
              <a:sym typeface="Trebuchet MS"/>
            </a:endParaRPr>
          </a:p>
        </p:txBody>
      </p:sp>
      <p:sp>
        <p:nvSpPr>
          <p:cNvPr id="304" name="Google Shape;304;p32"/>
          <p:cNvSpPr/>
          <p:nvPr/>
        </p:nvSpPr>
        <p:spPr>
          <a:xfrm>
            <a:off x="2526567" y="5426200"/>
            <a:ext cx="6670800" cy="888000"/>
          </a:xfrm>
          <a:prstGeom prst="rect">
            <a:avLst/>
          </a:prstGeom>
          <a:solidFill>
            <a:srgbClr val="FCE5CD"/>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nSpc>
                <a:spcPct val="150000"/>
              </a:lnSpc>
            </a:pPr>
            <a:r>
              <a:rPr lang="en" sz="2400">
                <a:solidFill>
                  <a:schemeClr val="dk1"/>
                </a:solidFill>
                <a:latin typeface="Trebuchet MS"/>
                <a:ea typeface="Trebuchet MS"/>
                <a:cs typeface="Trebuchet MS"/>
                <a:sym typeface="Trebuchet MS"/>
              </a:rPr>
              <a:t>Pay </a:t>
            </a:r>
            <a:r>
              <a:rPr lang="en" sz="2400" i="1">
                <a:solidFill>
                  <a:schemeClr val="dk1"/>
                </a:solidFill>
                <a:latin typeface="Trebuchet MS"/>
                <a:ea typeface="Trebuchet MS"/>
                <a:cs typeface="Trebuchet MS"/>
                <a:sym typeface="Trebuchet MS"/>
              </a:rPr>
              <a:t>x</a:t>
            </a:r>
            <a:r>
              <a:rPr lang="en" sz="2400">
                <a:solidFill>
                  <a:schemeClr val="dk1"/>
                </a:solidFill>
                <a:latin typeface="Trebuchet MS"/>
                <a:ea typeface="Trebuchet MS"/>
                <a:cs typeface="Trebuchet MS"/>
                <a:sym typeface="Trebuchet MS"/>
              </a:rPr>
              <a:t> to 2-of-3 of Alice, Bob, Judy (MULTISIG)</a:t>
            </a:r>
            <a:endParaRPr sz="2400" baseline="-250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SIGNED(ALICE)</a:t>
            </a:r>
            <a:endParaRPr sz="1333">
              <a:solidFill>
                <a:schemeClr val="dk1"/>
              </a:solidFill>
              <a:latin typeface="Trebuchet MS"/>
              <a:ea typeface="Trebuchet MS"/>
              <a:cs typeface="Trebuchet MS"/>
              <a:sym typeface="Trebuchet MS"/>
            </a:endParaRPr>
          </a:p>
        </p:txBody>
      </p:sp>
      <p:sp>
        <p:nvSpPr>
          <p:cNvPr id="305" name="Google Shape;305;p32"/>
          <p:cNvSpPr txBox="1"/>
          <p:nvPr/>
        </p:nvSpPr>
        <p:spPr>
          <a:xfrm>
            <a:off x="10015251" y="5441000"/>
            <a:ext cx="837200" cy="429600"/>
          </a:xfrm>
          <a:prstGeom prst="rect">
            <a:avLst/>
          </a:prstGeom>
          <a:noFill/>
          <a:ln>
            <a:noFill/>
          </a:ln>
        </p:spPr>
        <p:txBody>
          <a:bodyPr spcFirstLastPara="1" wrap="square" lIns="121900" tIns="121900" rIns="121900" bIns="121900" anchor="t" anchorCtr="0">
            <a:noAutofit/>
          </a:bodyPr>
          <a:lstStyle/>
          <a:p>
            <a:pPr algn="ctr"/>
            <a:r>
              <a:rPr lang="en" sz="2400"/>
              <a:t>Bob</a:t>
            </a:r>
            <a:endParaRPr sz="2400"/>
          </a:p>
        </p:txBody>
      </p:sp>
      <p:sp>
        <p:nvSpPr>
          <p:cNvPr id="306" name="Google Shape;306;p32"/>
          <p:cNvSpPr txBox="1"/>
          <p:nvPr/>
        </p:nvSpPr>
        <p:spPr>
          <a:xfrm>
            <a:off x="726417" y="5441000"/>
            <a:ext cx="837200" cy="429600"/>
          </a:xfrm>
          <a:prstGeom prst="rect">
            <a:avLst/>
          </a:prstGeom>
          <a:noFill/>
          <a:ln>
            <a:noFill/>
          </a:ln>
        </p:spPr>
        <p:txBody>
          <a:bodyPr spcFirstLastPara="1" wrap="square" lIns="121900" tIns="121900" rIns="121900" bIns="121900" anchor="t" anchorCtr="0">
            <a:noAutofit/>
          </a:bodyPr>
          <a:lstStyle/>
          <a:p>
            <a:pPr algn="ctr"/>
            <a:r>
              <a:rPr lang="en" sz="2400"/>
              <a:t>Alice</a:t>
            </a:r>
            <a:endParaRPr sz="2400"/>
          </a:p>
        </p:txBody>
      </p:sp>
      <p:sp>
        <p:nvSpPr>
          <p:cNvPr id="307" name="Google Shape;307;p32"/>
          <p:cNvSpPr/>
          <p:nvPr/>
        </p:nvSpPr>
        <p:spPr>
          <a:xfrm>
            <a:off x="966963" y="1237200"/>
            <a:ext cx="1358800" cy="12448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08" name="Google Shape;308;p32"/>
          <p:cNvSpPr/>
          <p:nvPr/>
        </p:nvSpPr>
        <p:spPr>
          <a:xfrm>
            <a:off x="4922851" y="3530317"/>
            <a:ext cx="1733200" cy="1143200"/>
          </a:xfrm>
          <a:prstGeom prst="cube">
            <a:avLst>
              <a:gd name="adj" fmla="val 25000"/>
            </a:avLst>
          </a:prstGeom>
          <a:solidFill>
            <a:srgbClr val="B45F06"/>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To: Alice</a:t>
            </a:r>
            <a:endParaRPr sz="2400"/>
          </a:p>
          <a:p>
            <a:r>
              <a:rPr lang="en" sz="2400"/>
              <a:t>From: Bob</a:t>
            </a:r>
            <a:endParaRPr sz="2400"/>
          </a:p>
        </p:txBody>
      </p:sp>
      <p:cxnSp>
        <p:nvCxnSpPr>
          <p:cNvPr id="309" name="Google Shape;309;p32"/>
          <p:cNvCxnSpPr/>
          <p:nvPr/>
        </p:nvCxnSpPr>
        <p:spPr>
          <a:xfrm rot="10800000">
            <a:off x="2130733" y="4911833"/>
            <a:ext cx="7279600" cy="0"/>
          </a:xfrm>
          <a:prstGeom prst="straightConnector1">
            <a:avLst/>
          </a:prstGeom>
          <a:noFill/>
          <a:ln w="19050" cap="flat" cmpd="sng">
            <a:solidFill>
              <a:schemeClr val="dk2"/>
            </a:solidFill>
            <a:prstDash val="solid"/>
            <a:round/>
            <a:headEnd type="none" w="med" len="med"/>
            <a:tailEnd type="triangle" w="med" len="med"/>
          </a:ln>
        </p:spPr>
      </p:cxnSp>
      <p:sp>
        <p:nvSpPr>
          <p:cNvPr id="310" name="Google Shape;310;p32"/>
          <p:cNvSpPr/>
          <p:nvPr/>
        </p:nvSpPr>
        <p:spPr>
          <a:xfrm>
            <a:off x="2555000" y="2222233"/>
            <a:ext cx="6670800" cy="888000"/>
          </a:xfrm>
          <a:prstGeom prst="rect">
            <a:avLst/>
          </a:prstGeom>
          <a:solidFill>
            <a:srgbClr val="FCE5CD"/>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nSpc>
                <a:spcPct val="150000"/>
              </a:lnSpc>
            </a:pPr>
            <a:r>
              <a:rPr lang="en" sz="2400">
                <a:solidFill>
                  <a:schemeClr val="dk1"/>
                </a:solidFill>
                <a:latin typeface="Trebuchet MS"/>
                <a:ea typeface="Trebuchet MS"/>
                <a:cs typeface="Trebuchet MS"/>
                <a:sym typeface="Trebuchet MS"/>
              </a:rPr>
              <a:t>Pay </a:t>
            </a:r>
            <a:r>
              <a:rPr lang="en" sz="2400" i="1">
                <a:solidFill>
                  <a:schemeClr val="dk1"/>
                </a:solidFill>
                <a:latin typeface="Trebuchet MS"/>
                <a:ea typeface="Trebuchet MS"/>
                <a:cs typeface="Trebuchet MS"/>
                <a:sym typeface="Trebuchet MS"/>
              </a:rPr>
              <a:t>x</a:t>
            </a:r>
            <a:r>
              <a:rPr lang="en" sz="2400">
                <a:solidFill>
                  <a:schemeClr val="dk1"/>
                </a:solidFill>
                <a:latin typeface="Trebuchet MS"/>
                <a:ea typeface="Trebuchet MS"/>
                <a:cs typeface="Trebuchet MS"/>
                <a:sym typeface="Trebuchet MS"/>
              </a:rPr>
              <a:t> to Bob</a:t>
            </a:r>
            <a:endParaRPr sz="2400" baseline="-250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SIGNED(ALICE, BOB)</a:t>
            </a:r>
            <a:endParaRPr sz="1333">
              <a:solidFill>
                <a:schemeClr val="dk1"/>
              </a:solidFill>
              <a:latin typeface="Trebuchet MS"/>
              <a:ea typeface="Trebuchet MS"/>
              <a:cs typeface="Trebuchet MS"/>
              <a:sym typeface="Trebuchet MS"/>
            </a:endParaRPr>
          </a:p>
        </p:txBody>
      </p:sp>
      <p:cxnSp>
        <p:nvCxnSpPr>
          <p:cNvPr id="311" name="Google Shape;311;p32"/>
          <p:cNvCxnSpPr/>
          <p:nvPr/>
        </p:nvCxnSpPr>
        <p:spPr>
          <a:xfrm>
            <a:off x="2971067" y="2876367"/>
            <a:ext cx="284000" cy="2675200"/>
          </a:xfrm>
          <a:prstGeom prst="straightConnector1">
            <a:avLst/>
          </a:prstGeom>
          <a:noFill/>
          <a:ln w="19050" cap="flat" cmpd="sng">
            <a:solidFill>
              <a:srgbClr val="FF0000"/>
            </a:solidFill>
            <a:prstDash val="solid"/>
            <a:round/>
            <a:headEnd type="none" w="med" len="med"/>
            <a:tailEnd type="triangle" w="med" len="med"/>
          </a:ln>
        </p:spPr>
      </p:cxnSp>
      <p:sp>
        <p:nvSpPr>
          <p:cNvPr id="312" name="Google Shape;312;p32"/>
          <p:cNvSpPr txBox="1"/>
          <p:nvPr/>
        </p:nvSpPr>
        <p:spPr>
          <a:xfrm>
            <a:off x="3688467" y="1417867"/>
            <a:ext cx="4202000" cy="770400"/>
          </a:xfrm>
          <a:prstGeom prst="rect">
            <a:avLst/>
          </a:prstGeom>
          <a:noFill/>
          <a:ln>
            <a:noFill/>
          </a:ln>
        </p:spPr>
        <p:txBody>
          <a:bodyPr spcFirstLastPara="1" wrap="square" lIns="121900" tIns="121900" rIns="121900" bIns="121900" anchor="t" anchorCtr="0">
            <a:noAutofit/>
          </a:bodyPr>
          <a:lstStyle/>
          <a:p>
            <a:r>
              <a:rPr lang="en" sz="4000"/>
              <a:t>(normal case)</a:t>
            </a:r>
            <a:endParaRPr sz="4000"/>
          </a:p>
        </p:txBody>
      </p:sp>
      <p:sp>
        <p:nvSpPr>
          <p:cNvPr id="313" name="Google Shape;313;p32"/>
          <p:cNvSpPr/>
          <p:nvPr/>
        </p:nvSpPr>
        <p:spPr>
          <a:xfrm>
            <a:off x="6478500" y="3936017"/>
            <a:ext cx="177552" cy="331848"/>
          </a:xfrm>
          <a:prstGeom prst="irregularSeal2">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14" name="Google Shape;314;p32"/>
          <p:cNvSpPr/>
          <p:nvPr/>
        </p:nvSpPr>
        <p:spPr>
          <a:xfrm rot="4877682">
            <a:off x="5628531" y="3405272"/>
            <a:ext cx="284000" cy="530699"/>
          </a:xfrm>
          <a:prstGeom prst="irregularSeal2">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15" name="Google Shape;315;p32"/>
          <p:cNvSpPr/>
          <p:nvPr/>
        </p:nvSpPr>
        <p:spPr>
          <a:xfrm>
            <a:off x="2541633" y="2258584"/>
            <a:ext cx="6670800" cy="888000"/>
          </a:xfrm>
          <a:prstGeom prst="rect">
            <a:avLst/>
          </a:prstGeom>
          <a:solidFill>
            <a:srgbClr val="FCE5CD"/>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nSpc>
                <a:spcPct val="150000"/>
              </a:lnSpc>
            </a:pPr>
            <a:r>
              <a:rPr lang="en" sz="2400" dirty="0">
                <a:solidFill>
                  <a:schemeClr val="dk1"/>
                </a:solidFill>
                <a:latin typeface="Trebuchet MS"/>
                <a:ea typeface="Trebuchet MS"/>
                <a:cs typeface="Trebuchet MS"/>
                <a:sym typeface="Trebuchet MS"/>
              </a:rPr>
              <a:t>Pay </a:t>
            </a:r>
            <a:r>
              <a:rPr lang="en" sz="2400" i="1" dirty="0">
                <a:solidFill>
                  <a:schemeClr val="dk1"/>
                </a:solidFill>
                <a:latin typeface="Trebuchet MS"/>
                <a:ea typeface="Trebuchet MS"/>
                <a:cs typeface="Trebuchet MS"/>
                <a:sym typeface="Trebuchet MS"/>
              </a:rPr>
              <a:t>x</a:t>
            </a:r>
            <a:r>
              <a:rPr lang="en" sz="2400" dirty="0">
                <a:solidFill>
                  <a:schemeClr val="dk1"/>
                </a:solidFill>
                <a:latin typeface="Trebuchet MS"/>
                <a:ea typeface="Trebuchet MS"/>
                <a:cs typeface="Trebuchet MS"/>
                <a:sym typeface="Trebuchet MS"/>
              </a:rPr>
              <a:t> to Alice</a:t>
            </a:r>
            <a:endParaRPr sz="2400" baseline="-25000" dirty="0">
              <a:solidFill>
                <a:schemeClr val="dk1"/>
              </a:solidFill>
              <a:latin typeface="Trebuchet MS"/>
              <a:ea typeface="Trebuchet MS"/>
              <a:cs typeface="Trebuchet MS"/>
              <a:sym typeface="Trebuchet MS"/>
            </a:endParaRPr>
          </a:p>
          <a:p>
            <a:pPr algn="r">
              <a:lnSpc>
                <a:spcPct val="115000"/>
              </a:lnSpc>
            </a:pPr>
            <a:r>
              <a:rPr lang="en" sz="1333" dirty="0">
                <a:solidFill>
                  <a:schemeClr val="dk1"/>
                </a:solidFill>
                <a:latin typeface="Trebuchet MS"/>
                <a:ea typeface="Trebuchet MS"/>
                <a:cs typeface="Trebuchet MS"/>
                <a:sym typeface="Trebuchet MS"/>
              </a:rPr>
              <a:t>SIGNED(ALICE, JUDY)</a:t>
            </a:r>
            <a:endParaRPr sz="1333" dirty="0">
              <a:solidFill>
                <a:schemeClr val="dk1"/>
              </a:solidFill>
              <a:latin typeface="Trebuchet MS"/>
              <a:ea typeface="Trebuchet MS"/>
              <a:cs typeface="Trebuchet MS"/>
              <a:sym typeface="Trebuchet MS"/>
            </a:endParaRPr>
          </a:p>
        </p:txBody>
      </p:sp>
      <p:sp>
        <p:nvSpPr>
          <p:cNvPr id="316" name="Google Shape;316;p32"/>
          <p:cNvSpPr txBox="1"/>
          <p:nvPr/>
        </p:nvSpPr>
        <p:spPr>
          <a:xfrm>
            <a:off x="3804467" y="1342767"/>
            <a:ext cx="4202000" cy="770400"/>
          </a:xfrm>
          <a:prstGeom prst="rect">
            <a:avLst/>
          </a:prstGeom>
          <a:noFill/>
          <a:ln>
            <a:noFill/>
          </a:ln>
        </p:spPr>
        <p:txBody>
          <a:bodyPr spcFirstLastPara="1" wrap="square" lIns="121900" tIns="121900" rIns="121900" bIns="121900" anchor="t" anchorCtr="0">
            <a:noAutofit/>
          </a:bodyPr>
          <a:lstStyle/>
          <a:p>
            <a:r>
              <a:rPr lang="en" sz="4000" dirty="0"/>
              <a:t>(disputed case)</a:t>
            </a:r>
            <a:endParaRPr sz="4000" dirty="0"/>
          </a:p>
        </p:txBody>
      </p:sp>
      <p:sp>
        <p:nvSpPr>
          <p:cNvPr id="317" name="Google Shape;317;p32"/>
          <p:cNvSpPr txBox="1"/>
          <p:nvPr/>
        </p:nvSpPr>
        <p:spPr>
          <a:xfrm>
            <a:off x="1151351" y="2451433"/>
            <a:ext cx="837200" cy="429600"/>
          </a:xfrm>
          <a:prstGeom prst="rect">
            <a:avLst/>
          </a:prstGeom>
          <a:noFill/>
          <a:ln>
            <a:noFill/>
          </a:ln>
        </p:spPr>
        <p:txBody>
          <a:bodyPr spcFirstLastPara="1" wrap="square" lIns="121900" tIns="121900" rIns="121900" bIns="121900" anchor="t" anchorCtr="0">
            <a:noAutofit/>
          </a:bodyPr>
          <a:lstStyle/>
          <a:p>
            <a:pPr algn="ctr"/>
            <a:r>
              <a:rPr lang="en" sz="2400"/>
              <a:t>Judy</a:t>
            </a:r>
            <a:endParaRPr sz="2400"/>
          </a:p>
        </p:txBody>
      </p:sp>
      <p:pic>
        <p:nvPicPr>
          <p:cNvPr id="318" name="Google Shape;318;p32"/>
          <p:cNvPicPr preferRelativeResize="0"/>
          <p:nvPr/>
        </p:nvPicPr>
        <p:blipFill>
          <a:blip r:embed="rId3">
            <a:alphaModFix/>
          </a:blip>
          <a:stretch>
            <a:fillRect/>
          </a:stretch>
        </p:blipFill>
        <p:spPr>
          <a:xfrm>
            <a:off x="1238000" y="875234"/>
            <a:ext cx="1733067" cy="2452433"/>
          </a:xfrm>
          <a:prstGeom prst="rect">
            <a:avLst/>
          </a:prstGeom>
          <a:noFill/>
          <a:ln>
            <a:noFill/>
          </a:ln>
        </p:spPr>
      </p:pic>
    </p:spTree>
    <p:extLst>
      <p:ext uri="{BB962C8B-B14F-4D97-AF65-F5344CB8AC3E}">
        <p14:creationId xmlns:p14="http://schemas.microsoft.com/office/powerpoint/2010/main" val="3725429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03"/>
                                        </p:tgtEl>
                                      </p:cBhvr>
                                    </p:animEffect>
                                    <p:set>
                                      <p:cBhvr>
                                        <p:cTn id="7" dur="1" fill="hold">
                                          <p:stCondLst>
                                            <p:cond delay="1000"/>
                                          </p:stCondLst>
                                        </p:cTn>
                                        <p:tgtEl>
                                          <p:spTgt spid="303"/>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04"/>
                                        </p:tgtEl>
                                        <p:attrNameLst>
                                          <p:attrName>style.visibility</p:attrName>
                                        </p:attrNameLst>
                                      </p:cBhvr>
                                      <p:to>
                                        <p:strVal val="visible"/>
                                      </p:to>
                                    </p:set>
                                    <p:animEffect transition="in" filter="fade">
                                      <p:cBhvr>
                                        <p:cTn id="10" dur="1000"/>
                                        <p:tgtEl>
                                          <p:spTgt spid="30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9"/>
                                        </p:tgtEl>
                                        <p:attrNameLst>
                                          <p:attrName>style.visibility</p:attrName>
                                        </p:attrNameLst>
                                      </p:cBhvr>
                                      <p:to>
                                        <p:strVal val="visible"/>
                                      </p:to>
                                    </p:set>
                                    <p:animEffect transition="in" filter="fade">
                                      <p:cBhvr>
                                        <p:cTn id="15" dur="1000"/>
                                        <p:tgtEl>
                                          <p:spTgt spid="309"/>
                                        </p:tgtEl>
                                      </p:cBhvr>
                                    </p:animEffect>
                                  </p:childTnLst>
                                </p:cTn>
                              </p:par>
                              <p:par>
                                <p:cTn id="16" presetID="10" presetClass="entr" presetSubtype="0" fill="hold" nodeType="withEffect">
                                  <p:stCondLst>
                                    <p:cond delay="0"/>
                                  </p:stCondLst>
                                  <p:childTnLst>
                                    <p:set>
                                      <p:cBhvr>
                                        <p:cTn id="17" dur="1" fill="hold">
                                          <p:stCondLst>
                                            <p:cond delay="0"/>
                                          </p:stCondLst>
                                        </p:cTn>
                                        <p:tgtEl>
                                          <p:spTgt spid="308"/>
                                        </p:tgtEl>
                                        <p:attrNameLst>
                                          <p:attrName>style.visibility</p:attrName>
                                        </p:attrNameLst>
                                      </p:cBhvr>
                                      <p:to>
                                        <p:strVal val="visible"/>
                                      </p:to>
                                    </p:set>
                                    <p:animEffect transition="in" filter="fade">
                                      <p:cBhvr>
                                        <p:cTn id="18" dur="1000"/>
                                        <p:tgtEl>
                                          <p:spTgt spid="30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10"/>
                                        </p:tgtEl>
                                        <p:attrNameLst>
                                          <p:attrName>style.visibility</p:attrName>
                                        </p:attrNameLst>
                                      </p:cBhvr>
                                      <p:to>
                                        <p:strVal val="visible"/>
                                      </p:to>
                                    </p:set>
                                    <p:animEffect transition="in" filter="fade">
                                      <p:cBhvr>
                                        <p:cTn id="23" dur="1000"/>
                                        <p:tgtEl>
                                          <p:spTgt spid="310"/>
                                        </p:tgtEl>
                                      </p:cBhvr>
                                    </p:animEffect>
                                  </p:childTnLst>
                                </p:cTn>
                              </p:par>
                              <p:par>
                                <p:cTn id="24" presetID="10" presetClass="entr" presetSubtype="0" fill="hold" nodeType="withEffect">
                                  <p:stCondLst>
                                    <p:cond delay="0"/>
                                  </p:stCondLst>
                                  <p:childTnLst>
                                    <p:set>
                                      <p:cBhvr>
                                        <p:cTn id="25" dur="1" fill="hold">
                                          <p:stCondLst>
                                            <p:cond delay="0"/>
                                          </p:stCondLst>
                                        </p:cTn>
                                        <p:tgtEl>
                                          <p:spTgt spid="311"/>
                                        </p:tgtEl>
                                        <p:attrNameLst>
                                          <p:attrName>style.visibility</p:attrName>
                                        </p:attrNameLst>
                                      </p:cBhvr>
                                      <p:to>
                                        <p:strVal val="visible"/>
                                      </p:to>
                                    </p:set>
                                    <p:animEffect transition="in" filter="fade">
                                      <p:cBhvr>
                                        <p:cTn id="26" dur="1000"/>
                                        <p:tgtEl>
                                          <p:spTgt spid="311"/>
                                        </p:tgtEl>
                                      </p:cBhvr>
                                    </p:animEffect>
                                  </p:childTnLst>
                                </p:cTn>
                              </p:par>
                              <p:par>
                                <p:cTn id="27" presetID="10" presetClass="entr" presetSubtype="0" fill="hold" nodeType="withEffect">
                                  <p:stCondLst>
                                    <p:cond delay="0"/>
                                  </p:stCondLst>
                                  <p:childTnLst>
                                    <p:set>
                                      <p:cBhvr>
                                        <p:cTn id="28" dur="1" fill="hold">
                                          <p:stCondLst>
                                            <p:cond delay="0"/>
                                          </p:stCondLst>
                                        </p:cTn>
                                        <p:tgtEl>
                                          <p:spTgt spid="312"/>
                                        </p:tgtEl>
                                        <p:attrNameLst>
                                          <p:attrName>style.visibility</p:attrName>
                                        </p:attrNameLst>
                                      </p:cBhvr>
                                      <p:to>
                                        <p:strVal val="visible"/>
                                      </p:to>
                                    </p:set>
                                    <p:animEffect transition="in" filter="fade">
                                      <p:cBhvr>
                                        <p:cTn id="29" dur="1000"/>
                                        <p:tgtEl>
                                          <p:spTgt spid="31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1000"/>
                                        <p:tgtEl>
                                          <p:spTgt spid="310"/>
                                        </p:tgtEl>
                                      </p:cBhvr>
                                    </p:animEffect>
                                    <p:set>
                                      <p:cBhvr>
                                        <p:cTn id="34" dur="1" fill="hold">
                                          <p:stCondLst>
                                            <p:cond delay="1000"/>
                                          </p:stCondLst>
                                        </p:cTn>
                                        <p:tgtEl>
                                          <p:spTgt spid="310"/>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1000"/>
                                        <p:tgtEl>
                                          <p:spTgt spid="311"/>
                                        </p:tgtEl>
                                      </p:cBhvr>
                                    </p:animEffect>
                                    <p:set>
                                      <p:cBhvr>
                                        <p:cTn id="37" dur="1" fill="hold">
                                          <p:stCondLst>
                                            <p:cond delay="1000"/>
                                          </p:stCondLst>
                                        </p:cTn>
                                        <p:tgtEl>
                                          <p:spTgt spid="311"/>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1000"/>
                                        <p:tgtEl>
                                          <p:spTgt spid="312"/>
                                        </p:tgtEl>
                                      </p:cBhvr>
                                    </p:animEffect>
                                    <p:set>
                                      <p:cBhvr>
                                        <p:cTn id="40" dur="1" fill="hold">
                                          <p:stCondLst>
                                            <p:cond delay="1000"/>
                                          </p:stCondLst>
                                        </p:cTn>
                                        <p:tgtEl>
                                          <p:spTgt spid="31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14"/>
                                        </p:tgtEl>
                                        <p:attrNameLst>
                                          <p:attrName>style.visibility</p:attrName>
                                        </p:attrNameLst>
                                      </p:cBhvr>
                                      <p:to>
                                        <p:strVal val="visible"/>
                                      </p:to>
                                    </p:set>
                                    <p:animEffect transition="in" filter="fade">
                                      <p:cBhvr>
                                        <p:cTn id="45" dur="1000"/>
                                        <p:tgtEl>
                                          <p:spTgt spid="314"/>
                                        </p:tgtEl>
                                      </p:cBhvr>
                                    </p:animEffect>
                                  </p:childTnLst>
                                </p:cTn>
                              </p:par>
                              <p:par>
                                <p:cTn id="46" presetID="10" presetClass="entr" presetSubtype="0" fill="hold" nodeType="withEffect">
                                  <p:stCondLst>
                                    <p:cond delay="0"/>
                                  </p:stCondLst>
                                  <p:childTnLst>
                                    <p:set>
                                      <p:cBhvr>
                                        <p:cTn id="47" dur="1" fill="hold">
                                          <p:stCondLst>
                                            <p:cond delay="0"/>
                                          </p:stCondLst>
                                        </p:cTn>
                                        <p:tgtEl>
                                          <p:spTgt spid="313"/>
                                        </p:tgtEl>
                                        <p:attrNameLst>
                                          <p:attrName>style.visibility</p:attrName>
                                        </p:attrNameLst>
                                      </p:cBhvr>
                                      <p:to>
                                        <p:strVal val="visible"/>
                                      </p:to>
                                    </p:set>
                                    <p:animEffect transition="in" filter="fade">
                                      <p:cBhvr>
                                        <p:cTn id="48" dur="1000"/>
                                        <p:tgtEl>
                                          <p:spTgt spid="3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07"/>
                                        </p:tgtEl>
                                        <p:attrNameLst>
                                          <p:attrName>style.visibility</p:attrName>
                                        </p:attrNameLst>
                                      </p:cBhvr>
                                      <p:to>
                                        <p:strVal val="visible"/>
                                      </p:to>
                                    </p:set>
                                    <p:animEffect transition="in" filter="fade">
                                      <p:cBhvr>
                                        <p:cTn id="53" dur="1000"/>
                                        <p:tgtEl>
                                          <p:spTgt spid="307"/>
                                        </p:tgtEl>
                                      </p:cBhvr>
                                    </p:animEffect>
                                  </p:childTnLst>
                                </p:cTn>
                              </p:par>
                              <p:par>
                                <p:cTn id="54" presetID="10" presetClass="entr" presetSubtype="0" fill="hold" nodeType="withEffect">
                                  <p:stCondLst>
                                    <p:cond delay="0"/>
                                  </p:stCondLst>
                                  <p:childTnLst>
                                    <p:set>
                                      <p:cBhvr>
                                        <p:cTn id="55" dur="1" fill="hold">
                                          <p:stCondLst>
                                            <p:cond delay="0"/>
                                          </p:stCondLst>
                                        </p:cTn>
                                        <p:tgtEl>
                                          <p:spTgt spid="318"/>
                                        </p:tgtEl>
                                        <p:attrNameLst>
                                          <p:attrName>style.visibility</p:attrName>
                                        </p:attrNameLst>
                                      </p:cBhvr>
                                      <p:to>
                                        <p:strVal val="visible"/>
                                      </p:to>
                                    </p:set>
                                    <p:animEffect transition="in" filter="fade">
                                      <p:cBhvr>
                                        <p:cTn id="56" dur="1000"/>
                                        <p:tgtEl>
                                          <p:spTgt spid="318"/>
                                        </p:tgtEl>
                                      </p:cBhvr>
                                    </p:animEffect>
                                  </p:childTnLst>
                                </p:cTn>
                              </p:par>
                              <p:par>
                                <p:cTn id="57" presetID="10" presetClass="entr" presetSubtype="0" fill="hold" nodeType="withEffect">
                                  <p:stCondLst>
                                    <p:cond delay="0"/>
                                  </p:stCondLst>
                                  <p:childTnLst>
                                    <p:set>
                                      <p:cBhvr>
                                        <p:cTn id="58" dur="1" fill="hold">
                                          <p:stCondLst>
                                            <p:cond delay="0"/>
                                          </p:stCondLst>
                                        </p:cTn>
                                        <p:tgtEl>
                                          <p:spTgt spid="315"/>
                                        </p:tgtEl>
                                        <p:attrNameLst>
                                          <p:attrName>style.visibility</p:attrName>
                                        </p:attrNameLst>
                                      </p:cBhvr>
                                      <p:to>
                                        <p:strVal val="visible"/>
                                      </p:to>
                                    </p:set>
                                    <p:animEffect transition="in" filter="fade">
                                      <p:cBhvr>
                                        <p:cTn id="59" dur="1000"/>
                                        <p:tgtEl>
                                          <p:spTgt spid="315"/>
                                        </p:tgtEl>
                                      </p:cBhvr>
                                    </p:animEffect>
                                  </p:childTnLst>
                                </p:cTn>
                              </p:par>
                              <p:par>
                                <p:cTn id="60" presetID="10" presetClass="entr" presetSubtype="0" fill="hold" nodeType="withEffect">
                                  <p:stCondLst>
                                    <p:cond delay="0"/>
                                  </p:stCondLst>
                                  <p:childTnLst>
                                    <p:set>
                                      <p:cBhvr>
                                        <p:cTn id="61" dur="1" fill="hold">
                                          <p:stCondLst>
                                            <p:cond delay="0"/>
                                          </p:stCondLst>
                                        </p:cTn>
                                        <p:tgtEl>
                                          <p:spTgt spid="317"/>
                                        </p:tgtEl>
                                        <p:attrNameLst>
                                          <p:attrName>style.visibility</p:attrName>
                                        </p:attrNameLst>
                                      </p:cBhvr>
                                      <p:to>
                                        <p:strVal val="visible"/>
                                      </p:to>
                                    </p:set>
                                    <p:animEffect transition="in" filter="fade">
                                      <p:cBhvr>
                                        <p:cTn id="62" dur="1000"/>
                                        <p:tgtEl>
                                          <p:spTgt spid="317"/>
                                        </p:tgtEl>
                                      </p:cBhvr>
                                    </p:animEffect>
                                  </p:childTnLst>
                                </p:cTn>
                              </p:par>
                              <p:par>
                                <p:cTn id="63" presetID="10" presetClass="entr" presetSubtype="0" fill="hold" nodeType="withEffect">
                                  <p:stCondLst>
                                    <p:cond delay="0"/>
                                  </p:stCondLst>
                                  <p:childTnLst>
                                    <p:set>
                                      <p:cBhvr>
                                        <p:cTn id="64" dur="1" fill="hold">
                                          <p:stCondLst>
                                            <p:cond delay="0"/>
                                          </p:stCondLst>
                                        </p:cTn>
                                        <p:tgtEl>
                                          <p:spTgt spid="316"/>
                                        </p:tgtEl>
                                        <p:attrNameLst>
                                          <p:attrName>style.visibility</p:attrName>
                                        </p:attrNameLst>
                                      </p:cBhvr>
                                      <p:to>
                                        <p:strVal val="visible"/>
                                      </p:to>
                                    </p:set>
                                    <p:animEffect transition="in" filter="fade">
                                      <p:cBhvr>
                                        <p:cTn id="65" dur="10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 dirty="0"/>
              <a:t>Example 2 : </a:t>
            </a:r>
            <a:r>
              <a:rPr lang="en" dirty="0">
                <a:hlinkClick r:id="rId2" action="ppaction://hlinkpres?slideindex=1&amp;slidetitle="/>
              </a:rPr>
              <a:t>Green addresses</a:t>
            </a:r>
            <a:r>
              <a:rPr lang="en-IN" dirty="0"/>
              <a:t/>
            </a:r>
            <a:br>
              <a:rPr lang="en-IN" dirty="0"/>
            </a:br>
            <a:endParaRPr lang="en-IN" dirty="0"/>
          </a:p>
        </p:txBody>
      </p:sp>
      <p:sp>
        <p:nvSpPr>
          <p:cNvPr id="3" name="Text Placeholder 2"/>
          <p:cNvSpPr>
            <a:spLocks noGrp="1"/>
          </p:cNvSpPr>
          <p:nvPr>
            <p:ph type="body" idx="1"/>
          </p:nvPr>
        </p:nvSpPr>
        <p:spPr/>
        <p:txBody>
          <a:bodyPr/>
          <a:lstStyle/>
          <a:p>
            <a:pPr marL="50799" indent="0">
              <a:buNone/>
            </a:pPr>
            <a:r>
              <a:rPr lang="en-IN" dirty="0"/>
              <a:t>A Green Address in </a:t>
            </a:r>
            <a:r>
              <a:rPr lang="en-IN" dirty="0" err="1"/>
              <a:t>Bitcoin</a:t>
            </a:r>
            <a:r>
              <a:rPr lang="en-IN" dirty="0"/>
              <a:t> refers to a trusted address controlled by a reputable third party, such as a bank or a payment processor, that guarantees the validity of a transaction</a:t>
            </a:r>
            <a:r>
              <a:rPr lang="en-IN" dirty="0" smtClean="0"/>
              <a:t>.</a:t>
            </a:r>
          </a:p>
          <a:p>
            <a:pPr marL="50799" indent="0">
              <a:buNone/>
            </a:pPr>
            <a:r>
              <a:rPr lang="en-IN" dirty="0" smtClean="0"/>
              <a:t> </a:t>
            </a:r>
            <a:r>
              <a:rPr lang="en-IN" dirty="0"/>
              <a:t>This concept is used to facilitate instant transaction acceptance even before the transaction is confirmed on the </a:t>
            </a:r>
            <a:r>
              <a:rPr lang="en-IN" dirty="0" err="1"/>
              <a:t>blockchain</a:t>
            </a:r>
            <a:r>
              <a:rPr lang="en-IN" dirty="0"/>
              <a:t>.</a:t>
            </a:r>
          </a:p>
        </p:txBody>
      </p:sp>
    </p:spTree>
    <p:extLst>
      <p:ext uri="{BB962C8B-B14F-4D97-AF65-F5344CB8AC3E}">
        <p14:creationId xmlns:p14="http://schemas.microsoft.com/office/powerpoint/2010/main" val="6353351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3"/>
          <p:cNvSpPr/>
          <p:nvPr/>
        </p:nvSpPr>
        <p:spPr>
          <a:xfrm>
            <a:off x="9398500" y="3338000"/>
            <a:ext cx="2237200" cy="2604000"/>
          </a:xfrm>
          <a:prstGeom prst="rect">
            <a:avLst/>
          </a:prstGeom>
          <a:noFill/>
          <a:ln w="19050" cap="flat" cmpd="sng">
            <a:solidFill>
              <a:schemeClr val="dk2"/>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sp>
        <p:nvSpPr>
          <p:cNvPr id="324" name="Google Shape;324;p33"/>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endParaRPr i="1" dirty="0"/>
          </a:p>
        </p:txBody>
      </p:sp>
      <p:sp>
        <p:nvSpPr>
          <p:cNvPr id="325" name="Google Shape;325;p33"/>
          <p:cNvSpPr/>
          <p:nvPr/>
        </p:nvSpPr>
        <p:spPr>
          <a:xfrm>
            <a:off x="194217" y="3699000"/>
            <a:ext cx="1901600" cy="17420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6" name="Google Shape;326;p33"/>
          <p:cNvSpPr txBox="1"/>
          <p:nvPr/>
        </p:nvSpPr>
        <p:spPr>
          <a:xfrm>
            <a:off x="726417" y="5441000"/>
            <a:ext cx="837200" cy="429600"/>
          </a:xfrm>
          <a:prstGeom prst="rect">
            <a:avLst/>
          </a:prstGeom>
          <a:noFill/>
          <a:ln>
            <a:noFill/>
          </a:ln>
        </p:spPr>
        <p:txBody>
          <a:bodyPr spcFirstLastPara="1" wrap="square" lIns="121900" tIns="121900" rIns="121900" bIns="121900" anchor="t" anchorCtr="0">
            <a:noAutofit/>
          </a:bodyPr>
          <a:lstStyle/>
          <a:p>
            <a:pPr algn="ctr"/>
            <a:r>
              <a:rPr lang="en" sz="2400"/>
              <a:t>Alice</a:t>
            </a:r>
            <a:endParaRPr sz="2400"/>
          </a:p>
        </p:txBody>
      </p:sp>
      <p:sp>
        <p:nvSpPr>
          <p:cNvPr id="327" name="Google Shape;327;p33"/>
          <p:cNvSpPr/>
          <p:nvPr/>
        </p:nvSpPr>
        <p:spPr>
          <a:xfrm>
            <a:off x="9483051" y="3699000"/>
            <a:ext cx="1901600" cy="17420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8" name="Google Shape;328;p33"/>
          <p:cNvSpPr txBox="1"/>
          <p:nvPr/>
        </p:nvSpPr>
        <p:spPr>
          <a:xfrm>
            <a:off x="10015251" y="5441000"/>
            <a:ext cx="837200" cy="429600"/>
          </a:xfrm>
          <a:prstGeom prst="rect">
            <a:avLst/>
          </a:prstGeom>
          <a:noFill/>
          <a:ln>
            <a:noFill/>
          </a:ln>
        </p:spPr>
        <p:txBody>
          <a:bodyPr spcFirstLastPara="1" wrap="square" lIns="121900" tIns="121900" rIns="121900" bIns="121900" anchor="t" anchorCtr="0">
            <a:noAutofit/>
          </a:bodyPr>
          <a:lstStyle/>
          <a:p>
            <a:pPr algn="ctr"/>
            <a:r>
              <a:rPr lang="en" sz="2400"/>
              <a:t>Bob</a:t>
            </a:r>
            <a:endParaRPr sz="2400"/>
          </a:p>
        </p:txBody>
      </p:sp>
      <p:pic>
        <p:nvPicPr>
          <p:cNvPr id="330" name="Google Shape;330;p33"/>
          <p:cNvPicPr preferRelativeResize="0"/>
          <p:nvPr/>
        </p:nvPicPr>
        <p:blipFill>
          <a:blip r:embed="rId3">
            <a:alphaModFix/>
          </a:blip>
          <a:stretch>
            <a:fillRect/>
          </a:stretch>
        </p:blipFill>
        <p:spPr>
          <a:xfrm>
            <a:off x="4194167" y="1596000"/>
            <a:ext cx="1742000" cy="1742000"/>
          </a:xfrm>
          <a:prstGeom prst="rect">
            <a:avLst/>
          </a:prstGeom>
          <a:noFill/>
          <a:ln>
            <a:noFill/>
          </a:ln>
        </p:spPr>
      </p:pic>
      <p:sp>
        <p:nvSpPr>
          <p:cNvPr id="331" name="Google Shape;331;p33"/>
          <p:cNvSpPr/>
          <p:nvPr/>
        </p:nvSpPr>
        <p:spPr>
          <a:xfrm>
            <a:off x="2327867" y="4195167"/>
            <a:ext cx="6670800" cy="888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nSpc>
                <a:spcPct val="150000"/>
              </a:lnSpc>
            </a:pPr>
            <a:r>
              <a:rPr lang="en" sz="2400">
                <a:solidFill>
                  <a:schemeClr val="dk1"/>
                </a:solidFill>
                <a:latin typeface="Trebuchet MS"/>
                <a:ea typeface="Trebuchet MS"/>
                <a:cs typeface="Trebuchet MS"/>
                <a:sym typeface="Trebuchet MS"/>
              </a:rPr>
              <a:t>Pay x to Bob, y to Bank</a:t>
            </a:r>
            <a:endParaRPr sz="2400" baseline="-25000">
              <a:solidFill>
                <a:schemeClr val="dk1"/>
              </a:solidFill>
              <a:latin typeface="Trebuchet MS"/>
              <a:ea typeface="Trebuchet MS"/>
              <a:cs typeface="Trebuchet MS"/>
              <a:sym typeface="Trebuchet MS"/>
            </a:endParaRPr>
          </a:p>
          <a:p>
            <a:pPr algn="r">
              <a:lnSpc>
                <a:spcPct val="115000"/>
              </a:lnSpc>
            </a:pPr>
            <a:r>
              <a:rPr lang="en" sz="1333">
                <a:solidFill>
                  <a:schemeClr val="dk1"/>
                </a:solidFill>
                <a:latin typeface="Trebuchet MS"/>
                <a:ea typeface="Trebuchet MS"/>
                <a:cs typeface="Trebuchet MS"/>
                <a:sym typeface="Trebuchet MS"/>
              </a:rPr>
              <a:t>SIGNED(BANK)</a:t>
            </a:r>
            <a:endParaRPr sz="1333">
              <a:solidFill>
                <a:schemeClr val="dk1"/>
              </a:solidFill>
              <a:latin typeface="Trebuchet MS"/>
              <a:ea typeface="Trebuchet MS"/>
              <a:cs typeface="Trebuchet MS"/>
              <a:sym typeface="Trebuchet MS"/>
            </a:endParaRPr>
          </a:p>
        </p:txBody>
      </p:sp>
      <p:cxnSp>
        <p:nvCxnSpPr>
          <p:cNvPr id="333" name="Google Shape;333;p33"/>
          <p:cNvCxnSpPr/>
          <p:nvPr/>
        </p:nvCxnSpPr>
        <p:spPr>
          <a:xfrm rot="10800000" flipH="1">
            <a:off x="2024100" y="3077400"/>
            <a:ext cx="2083200" cy="769600"/>
          </a:xfrm>
          <a:prstGeom prst="straightConnector1">
            <a:avLst/>
          </a:prstGeom>
          <a:noFill/>
          <a:ln w="19050" cap="flat" cmpd="sng">
            <a:solidFill>
              <a:schemeClr val="dk2"/>
            </a:solidFill>
            <a:prstDash val="solid"/>
            <a:round/>
            <a:headEnd type="none" w="med" len="med"/>
            <a:tailEnd type="triangle" w="med" len="med"/>
          </a:ln>
        </p:spPr>
      </p:cxnSp>
      <p:sp>
        <p:nvSpPr>
          <p:cNvPr id="334" name="Google Shape;334;p33"/>
          <p:cNvSpPr txBox="1"/>
          <p:nvPr/>
        </p:nvSpPr>
        <p:spPr>
          <a:xfrm>
            <a:off x="19733" y="2515500"/>
            <a:ext cx="3882400" cy="888000"/>
          </a:xfrm>
          <a:prstGeom prst="rect">
            <a:avLst/>
          </a:prstGeom>
          <a:noFill/>
          <a:ln>
            <a:noFill/>
          </a:ln>
        </p:spPr>
        <p:txBody>
          <a:bodyPr spcFirstLastPara="1" wrap="square" lIns="121900" tIns="121900" rIns="121900" bIns="121900" anchor="t" anchorCtr="0">
            <a:noAutofit/>
          </a:bodyPr>
          <a:lstStyle/>
          <a:p>
            <a:pPr algn="ctr"/>
            <a:r>
              <a:rPr lang="en" sz="2400"/>
              <a:t>It’s me, Alice! Could you make out  a green payment to Bob?</a:t>
            </a:r>
            <a:endParaRPr sz="2400"/>
          </a:p>
        </p:txBody>
      </p:sp>
      <p:sp>
        <p:nvSpPr>
          <p:cNvPr id="335" name="Google Shape;335;p33"/>
          <p:cNvSpPr txBox="1"/>
          <p:nvPr/>
        </p:nvSpPr>
        <p:spPr>
          <a:xfrm>
            <a:off x="4646551" y="3099300"/>
            <a:ext cx="837200" cy="429600"/>
          </a:xfrm>
          <a:prstGeom prst="rect">
            <a:avLst/>
          </a:prstGeom>
          <a:noFill/>
          <a:ln>
            <a:noFill/>
          </a:ln>
        </p:spPr>
        <p:txBody>
          <a:bodyPr spcFirstLastPara="1" wrap="square" lIns="121900" tIns="121900" rIns="121900" bIns="121900" anchor="t" anchorCtr="0">
            <a:noAutofit/>
          </a:bodyPr>
          <a:lstStyle/>
          <a:p>
            <a:pPr algn="ctr"/>
            <a:r>
              <a:rPr lang="en" sz="2400"/>
              <a:t>Bank</a:t>
            </a:r>
            <a:endParaRPr sz="2400"/>
          </a:p>
        </p:txBody>
      </p:sp>
      <p:pic>
        <p:nvPicPr>
          <p:cNvPr id="336" name="Google Shape;336;p33"/>
          <p:cNvPicPr preferRelativeResize="0"/>
          <p:nvPr/>
        </p:nvPicPr>
        <p:blipFill>
          <a:blip r:embed="rId4">
            <a:alphaModFix/>
          </a:blip>
          <a:stretch>
            <a:fillRect/>
          </a:stretch>
        </p:blipFill>
        <p:spPr>
          <a:xfrm>
            <a:off x="1321733" y="1713300"/>
            <a:ext cx="1278400" cy="802200"/>
          </a:xfrm>
          <a:prstGeom prst="rect">
            <a:avLst/>
          </a:prstGeom>
          <a:noFill/>
          <a:ln>
            <a:noFill/>
          </a:ln>
        </p:spPr>
      </p:pic>
      <p:sp>
        <p:nvSpPr>
          <p:cNvPr id="337" name="Google Shape;337;p33"/>
          <p:cNvSpPr/>
          <p:nvPr/>
        </p:nvSpPr>
        <p:spPr>
          <a:xfrm>
            <a:off x="5936167" y="4291800"/>
            <a:ext cx="2341600" cy="556400"/>
          </a:xfrm>
          <a:prstGeom prst="horizontalScroll">
            <a:avLst>
              <a:gd name="adj" fmla="val 12500"/>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No double spend</a:t>
            </a:r>
            <a:endParaRPr sz="2400"/>
          </a:p>
        </p:txBody>
      </p:sp>
      <p:sp>
        <p:nvSpPr>
          <p:cNvPr id="338" name="Google Shape;338;p33"/>
          <p:cNvSpPr/>
          <p:nvPr/>
        </p:nvSpPr>
        <p:spPr>
          <a:xfrm>
            <a:off x="6084200" y="1417833"/>
            <a:ext cx="5646000" cy="1029200"/>
          </a:xfrm>
          <a:prstGeom prst="wedgeEllipseCallout">
            <a:avLst>
              <a:gd name="adj1" fmla="val -49320"/>
              <a:gd name="adj2" fmla="val 59260"/>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b="1">
                <a:latin typeface="Courier New"/>
                <a:ea typeface="Courier New"/>
                <a:cs typeface="Courier New"/>
                <a:sym typeface="Courier New"/>
              </a:rPr>
              <a:t>004</a:t>
            </a:r>
            <a:r>
              <a:rPr lang="en" sz="2400"/>
              <a:t> days since last double spend!</a:t>
            </a:r>
            <a:endParaRPr sz="2400"/>
          </a:p>
        </p:txBody>
      </p:sp>
      <p:sp>
        <p:nvSpPr>
          <p:cNvPr id="339" name="Google Shape;339;p33"/>
          <p:cNvSpPr/>
          <p:nvPr/>
        </p:nvSpPr>
        <p:spPr>
          <a:xfrm>
            <a:off x="6948267" y="1811033"/>
            <a:ext cx="556400" cy="272400"/>
          </a:xfrm>
          <a:prstGeom prst="rect">
            <a:avLst/>
          </a:prstGeom>
          <a:solidFill>
            <a:srgbClr val="CC687A">
              <a:alpha val="58850"/>
            </a:srgb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40764282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3"/>
                                        </p:tgtEl>
                                        <p:attrNameLst>
                                          <p:attrName>style.visibility</p:attrName>
                                        </p:attrNameLst>
                                      </p:cBhvr>
                                      <p:to>
                                        <p:strVal val="visible"/>
                                      </p:to>
                                    </p:set>
                                    <p:animEffect transition="in" filter="fade">
                                      <p:cBhvr>
                                        <p:cTn id="7" dur="1000"/>
                                        <p:tgtEl>
                                          <p:spTgt spid="3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0"/>
                                        </p:tgtEl>
                                        <p:attrNameLst>
                                          <p:attrName>style.visibility</p:attrName>
                                        </p:attrNameLst>
                                      </p:cBhvr>
                                      <p:to>
                                        <p:strVal val="visible"/>
                                      </p:to>
                                    </p:set>
                                    <p:animEffect transition="in" filter="fade">
                                      <p:cBhvr>
                                        <p:cTn id="12" dur="1000"/>
                                        <p:tgtEl>
                                          <p:spTgt spid="330"/>
                                        </p:tgtEl>
                                      </p:cBhvr>
                                    </p:animEffect>
                                  </p:childTnLst>
                                </p:cTn>
                              </p:par>
                              <p:par>
                                <p:cTn id="13" presetID="10" presetClass="entr" presetSubtype="0" fill="hold" nodeType="withEffect">
                                  <p:stCondLst>
                                    <p:cond delay="0"/>
                                  </p:stCondLst>
                                  <p:childTnLst>
                                    <p:set>
                                      <p:cBhvr>
                                        <p:cTn id="14" dur="1" fill="hold">
                                          <p:stCondLst>
                                            <p:cond delay="0"/>
                                          </p:stCondLst>
                                        </p:cTn>
                                        <p:tgtEl>
                                          <p:spTgt spid="335"/>
                                        </p:tgtEl>
                                        <p:attrNameLst>
                                          <p:attrName>style.visibility</p:attrName>
                                        </p:attrNameLst>
                                      </p:cBhvr>
                                      <p:to>
                                        <p:strVal val="visible"/>
                                      </p:to>
                                    </p:set>
                                    <p:animEffect transition="in" filter="fade">
                                      <p:cBhvr>
                                        <p:cTn id="15" dur="1000"/>
                                        <p:tgtEl>
                                          <p:spTgt spid="3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33"/>
                                        </p:tgtEl>
                                        <p:attrNameLst>
                                          <p:attrName>style.visibility</p:attrName>
                                        </p:attrNameLst>
                                      </p:cBhvr>
                                      <p:to>
                                        <p:strVal val="visible"/>
                                      </p:to>
                                    </p:set>
                                    <p:animEffect transition="in" filter="fade">
                                      <p:cBhvr>
                                        <p:cTn id="20" dur="1000"/>
                                        <p:tgtEl>
                                          <p:spTgt spid="333"/>
                                        </p:tgtEl>
                                      </p:cBhvr>
                                    </p:animEffect>
                                  </p:childTnLst>
                                </p:cTn>
                              </p:par>
                              <p:par>
                                <p:cTn id="21" presetID="10" presetClass="entr" presetSubtype="0" fill="hold" nodeType="withEffect">
                                  <p:stCondLst>
                                    <p:cond delay="0"/>
                                  </p:stCondLst>
                                  <p:childTnLst>
                                    <p:set>
                                      <p:cBhvr>
                                        <p:cTn id="22" dur="1" fill="hold">
                                          <p:stCondLst>
                                            <p:cond delay="0"/>
                                          </p:stCondLst>
                                        </p:cTn>
                                        <p:tgtEl>
                                          <p:spTgt spid="334"/>
                                        </p:tgtEl>
                                        <p:attrNameLst>
                                          <p:attrName>style.visibility</p:attrName>
                                        </p:attrNameLst>
                                      </p:cBhvr>
                                      <p:to>
                                        <p:strVal val="visible"/>
                                      </p:to>
                                    </p:set>
                                    <p:animEffect transition="in" filter="fade">
                                      <p:cBhvr>
                                        <p:cTn id="23" dur="1000"/>
                                        <p:tgtEl>
                                          <p:spTgt spid="334"/>
                                        </p:tgtEl>
                                      </p:cBhvr>
                                    </p:animEffect>
                                  </p:childTnLst>
                                </p:cTn>
                              </p:par>
                              <p:par>
                                <p:cTn id="24" presetID="10" presetClass="entr" presetSubtype="0" fill="hold" nodeType="withEffect">
                                  <p:stCondLst>
                                    <p:cond delay="0"/>
                                  </p:stCondLst>
                                  <p:childTnLst>
                                    <p:set>
                                      <p:cBhvr>
                                        <p:cTn id="25" dur="1" fill="hold">
                                          <p:stCondLst>
                                            <p:cond delay="0"/>
                                          </p:stCondLst>
                                        </p:cTn>
                                        <p:tgtEl>
                                          <p:spTgt spid="336"/>
                                        </p:tgtEl>
                                        <p:attrNameLst>
                                          <p:attrName>style.visibility</p:attrName>
                                        </p:attrNameLst>
                                      </p:cBhvr>
                                      <p:to>
                                        <p:strVal val="visible"/>
                                      </p:to>
                                    </p:set>
                                    <p:animEffect transition="in" filter="fade">
                                      <p:cBhvr>
                                        <p:cTn id="26" dur="1000"/>
                                        <p:tgtEl>
                                          <p:spTgt spid="3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37"/>
                                        </p:tgtEl>
                                        <p:attrNameLst>
                                          <p:attrName>style.visibility</p:attrName>
                                        </p:attrNameLst>
                                      </p:cBhvr>
                                      <p:to>
                                        <p:strVal val="visible"/>
                                      </p:to>
                                    </p:set>
                                    <p:animEffect transition="in" filter="fade">
                                      <p:cBhvr>
                                        <p:cTn id="31" dur="1000"/>
                                        <p:tgtEl>
                                          <p:spTgt spid="337"/>
                                        </p:tgtEl>
                                      </p:cBhvr>
                                    </p:animEffect>
                                  </p:childTnLst>
                                </p:cTn>
                              </p:par>
                              <p:par>
                                <p:cTn id="32" presetID="10" presetClass="entr" presetSubtype="0" fill="hold" nodeType="withEffect">
                                  <p:stCondLst>
                                    <p:cond delay="0"/>
                                  </p:stCondLst>
                                  <p:childTnLst>
                                    <p:set>
                                      <p:cBhvr>
                                        <p:cTn id="33" dur="1" fill="hold">
                                          <p:stCondLst>
                                            <p:cond delay="0"/>
                                          </p:stCondLst>
                                        </p:cTn>
                                        <p:tgtEl>
                                          <p:spTgt spid="331"/>
                                        </p:tgtEl>
                                        <p:attrNameLst>
                                          <p:attrName>style.visibility</p:attrName>
                                        </p:attrNameLst>
                                      </p:cBhvr>
                                      <p:to>
                                        <p:strVal val="visible"/>
                                      </p:to>
                                    </p:set>
                                    <p:animEffect transition="in" filter="fade">
                                      <p:cBhvr>
                                        <p:cTn id="34" dur="1000"/>
                                        <p:tgtEl>
                                          <p:spTgt spid="3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38"/>
                                        </p:tgtEl>
                                        <p:attrNameLst>
                                          <p:attrName>style.visibility</p:attrName>
                                        </p:attrNameLst>
                                      </p:cBhvr>
                                      <p:to>
                                        <p:strVal val="visible"/>
                                      </p:to>
                                    </p:set>
                                    <p:animEffect transition="in" filter="fade">
                                      <p:cBhvr>
                                        <p:cTn id="39" dur="1000"/>
                                        <p:tgtEl>
                                          <p:spTgt spid="338"/>
                                        </p:tgtEl>
                                      </p:cBhvr>
                                    </p:animEffect>
                                  </p:childTnLst>
                                </p:cTn>
                              </p:par>
                              <p:par>
                                <p:cTn id="40" presetID="10" presetClass="entr" presetSubtype="0" fill="hold" nodeType="withEffect">
                                  <p:stCondLst>
                                    <p:cond delay="0"/>
                                  </p:stCondLst>
                                  <p:childTnLst>
                                    <p:set>
                                      <p:cBhvr>
                                        <p:cTn id="41" dur="1" fill="hold">
                                          <p:stCondLst>
                                            <p:cond delay="0"/>
                                          </p:stCondLst>
                                        </p:cTn>
                                        <p:tgtEl>
                                          <p:spTgt spid="339"/>
                                        </p:tgtEl>
                                        <p:attrNameLst>
                                          <p:attrName>style.visibility</p:attrName>
                                        </p:attrNameLst>
                                      </p:cBhvr>
                                      <p:to>
                                        <p:strVal val="visible"/>
                                      </p:to>
                                    </p:set>
                                    <p:animEffect transition="in" filter="fade">
                                      <p:cBhvr>
                                        <p:cTn id="42" dur="1000"/>
                                        <p:tgtEl>
                                          <p:spTgt spid="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4"/>
          <p:cNvSpPr txBox="1">
            <a:spLocks noGrp="1"/>
          </p:cNvSpPr>
          <p:nvPr>
            <p:ph type="title"/>
          </p:nvPr>
        </p:nvSpPr>
        <p:spPr>
          <a:xfrm>
            <a:off x="21465" y="304800"/>
            <a:ext cx="112776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sz="3200" dirty="0"/>
              <a:t>Example 3: Efficient micro-payments</a:t>
            </a:r>
            <a:endParaRPr sz="3200" i="1" dirty="0"/>
          </a:p>
        </p:txBody>
      </p:sp>
      <p:sp>
        <p:nvSpPr>
          <p:cNvPr id="345" name="Google Shape;345;p34"/>
          <p:cNvSpPr/>
          <p:nvPr/>
        </p:nvSpPr>
        <p:spPr>
          <a:xfrm>
            <a:off x="135017" y="4196167"/>
            <a:ext cx="1901600" cy="17420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4"/>
          <p:cNvSpPr txBox="1"/>
          <p:nvPr/>
        </p:nvSpPr>
        <p:spPr>
          <a:xfrm>
            <a:off x="667217" y="5938167"/>
            <a:ext cx="837200" cy="429600"/>
          </a:xfrm>
          <a:prstGeom prst="rect">
            <a:avLst/>
          </a:prstGeom>
          <a:noFill/>
          <a:ln>
            <a:noFill/>
          </a:ln>
        </p:spPr>
        <p:txBody>
          <a:bodyPr spcFirstLastPara="1" wrap="square" lIns="121900" tIns="121900" rIns="121900" bIns="121900" anchor="t" anchorCtr="0">
            <a:noAutofit/>
          </a:bodyPr>
          <a:lstStyle/>
          <a:p>
            <a:pPr algn="ctr"/>
            <a:r>
              <a:rPr lang="en" sz="2400"/>
              <a:t>Alice</a:t>
            </a:r>
            <a:endParaRPr sz="2400"/>
          </a:p>
        </p:txBody>
      </p:sp>
      <p:sp>
        <p:nvSpPr>
          <p:cNvPr id="347" name="Google Shape;347;p34"/>
          <p:cNvSpPr/>
          <p:nvPr/>
        </p:nvSpPr>
        <p:spPr>
          <a:xfrm>
            <a:off x="9483051" y="3981367"/>
            <a:ext cx="1901600" cy="1742000"/>
          </a:xfrm>
          <a:prstGeom prst="smileyFace">
            <a:avLst>
              <a:gd name="adj" fmla="val 4653"/>
            </a:avLst>
          </a:prstGeom>
          <a:solidFill>
            <a:schemeClr val="lt2"/>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8" name="Google Shape;348;p34"/>
          <p:cNvSpPr txBox="1"/>
          <p:nvPr/>
        </p:nvSpPr>
        <p:spPr>
          <a:xfrm>
            <a:off x="10015251" y="5723367"/>
            <a:ext cx="837200" cy="429600"/>
          </a:xfrm>
          <a:prstGeom prst="rect">
            <a:avLst/>
          </a:prstGeom>
          <a:noFill/>
          <a:ln>
            <a:noFill/>
          </a:ln>
        </p:spPr>
        <p:txBody>
          <a:bodyPr spcFirstLastPara="1" wrap="square" lIns="121900" tIns="121900" rIns="121900" bIns="121900" anchor="t" anchorCtr="0">
            <a:noAutofit/>
          </a:bodyPr>
          <a:lstStyle/>
          <a:p>
            <a:pPr algn="ctr"/>
            <a:r>
              <a:rPr lang="en" sz="2400"/>
              <a:t>Bob</a:t>
            </a:r>
            <a:endParaRPr sz="2400"/>
          </a:p>
        </p:txBody>
      </p:sp>
      <p:sp>
        <p:nvSpPr>
          <p:cNvPr id="349" name="Google Shape;349;p34"/>
          <p:cNvSpPr/>
          <p:nvPr/>
        </p:nvSpPr>
        <p:spPr>
          <a:xfrm>
            <a:off x="2327867" y="5426200"/>
            <a:ext cx="7155200" cy="1301600"/>
          </a:xfrm>
          <a:prstGeom prst="roundRect">
            <a:avLst>
              <a:gd name="adj" fmla="val 16667"/>
            </a:avLst>
          </a:prstGeom>
          <a:solidFill>
            <a:srgbClr val="D5A6BD"/>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pPr algn="ctr"/>
            <a:r>
              <a:rPr lang="en" sz="2400" b="1">
                <a:latin typeface="Trebuchet MS"/>
                <a:ea typeface="Trebuchet MS"/>
                <a:cs typeface="Trebuchet MS"/>
                <a:sym typeface="Trebuchet MS"/>
              </a:rPr>
              <a:t>PROBLEM:</a:t>
            </a:r>
            <a:r>
              <a:rPr lang="en" sz="2400">
                <a:latin typeface="Trebuchet MS"/>
                <a:ea typeface="Trebuchet MS"/>
                <a:cs typeface="Trebuchet MS"/>
                <a:sym typeface="Trebuchet MS"/>
              </a:rPr>
              <a:t> Alice wants to pay Bob for each minute of phone service. She doesn’t want to incur a transaction fee every minute.</a:t>
            </a:r>
            <a:endParaRPr sz="2400">
              <a:latin typeface="Trebuchet MS"/>
              <a:ea typeface="Trebuchet MS"/>
              <a:cs typeface="Trebuchet MS"/>
              <a:sym typeface="Trebuchet MS"/>
            </a:endParaRPr>
          </a:p>
        </p:txBody>
      </p:sp>
      <p:sp>
        <p:nvSpPr>
          <p:cNvPr id="350" name="Google Shape;350;p34"/>
          <p:cNvSpPr/>
          <p:nvPr/>
        </p:nvSpPr>
        <p:spPr>
          <a:xfrm>
            <a:off x="2424433" y="4952633"/>
            <a:ext cx="6670800" cy="656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dirty="0">
                <a:solidFill>
                  <a:schemeClr val="dk1"/>
                </a:solidFill>
                <a:latin typeface="Trebuchet MS"/>
                <a:ea typeface="Trebuchet MS"/>
                <a:cs typeface="Trebuchet MS"/>
                <a:sym typeface="Trebuchet MS"/>
              </a:rPr>
              <a:t>Input: </a:t>
            </a:r>
            <a:r>
              <a:rPr lang="en" sz="2400" i="1" dirty="0">
                <a:solidFill>
                  <a:schemeClr val="dk1"/>
                </a:solidFill>
                <a:latin typeface="Trebuchet MS"/>
                <a:ea typeface="Trebuchet MS"/>
                <a:cs typeface="Trebuchet MS"/>
                <a:sym typeface="Trebuchet MS"/>
              </a:rPr>
              <a:t>x</a:t>
            </a:r>
            <a:r>
              <a:rPr lang="en" sz="2400" dirty="0">
                <a:solidFill>
                  <a:schemeClr val="dk1"/>
                </a:solidFill>
                <a:latin typeface="Trebuchet MS"/>
                <a:ea typeface="Trebuchet MS"/>
                <a:cs typeface="Trebuchet MS"/>
                <a:sym typeface="Trebuchet MS"/>
              </a:rPr>
              <a:t>; Pay 01 to Bob, 99 to Alice</a:t>
            </a:r>
            <a:endParaRPr sz="2400" baseline="-25000" dirty="0">
              <a:solidFill>
                <a:schemeClr val="dk1"/>
              </a:solidFill>
              <a:latin typeface="Trebuchet MS"/>
              <a:ea typeface="Trebuchet MS"/>
              <a:cs typeface="Trebuchet MS"/>
              <a:sym typeface="Trebuchet MS"/>
            </a:endParaRPr>
          </a:p>
          <a:p>
            <a:pPr algn="r"/>
            <a:r>
              <a:rPr lang="en" sz="1333" dirty="0">
                <a:solidFill>
                  <a:schemeClr val="dk1"/>
                </a:solidFill>
                <a:latin typeface="Trebuchet MS"/>
                <a:ea typeface="Trebuchet MS"/>
                <a:cs typeface="Trebuchet MS"/>
                <a:sym typeface="Trebuchet MS"/>
              </a:rPr>
              <a:t>SIGNED(ALICE)___________</a:t>
            </a:r>
            <a:endParaRPr sz="1333" dirty="0">
              <a:solidFill>
                <a:schemeClr val="dk1"/>
              </a:solidFill>
              <a:latin typeface="Trebuchet MS"/>
              <a:ea typeface="Trebuchet MS"/>
              <a:cs typeface="Trebuchet MS"/>
              <a:sym typeface="Trebuchet MS"/>
            </a:endParaRPr>
          </a:p>
        </p:txBody>
      </p:sp>
      <p:sp>
        <p:nvSpPr>
          <p:cNvPr id="351" name="Google Shape;351;p34"/>
          <p:cNvSpPr/>
          <p:nvPr/>
        </p:nvSpPr>
        <p:spPr>
          <a:xfrm>
            <a:off x="2424433" y="4296633"/>
            <a:ext cx="6670800" cy="656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dirty="0">
                <a:solidFill>
                  <a:schemeClr val="dk1"/>
                </a:solidFill>
                <a:latin typeface="Trebuchet MS"/>
                <a:ea typeface="Trebuchet MS"/>
                <a:cs typeface="Trebuchet MS"/>
                <a:sym typeface="Trebuchet MS"/>
              </a:rPr>
              <a:t>Input: </a:t>
            </a:r>
            <a:r>
              <a:rPr lang="en" sz="2400" i="1" dirty="0">
                <a:solidFill>
                  <a:schemeClr val="dk1"/>
                </a:solidFill>
                <a:latin typeface="Trebuchet MS"/>
                <a:ea typeface="Trebuchet MS"/>
                <a:cs typeface="Trebuchet MS"/>
                <a:sym typeface="Trebuchet MS"/>
              </a:rPr>
              <a:t>x</a:t>
            </a:r>
            <a:r>
              <a:rPr lang="en" sz="2400" dirty="0">
                <a:solidFill>
                  <a:schemeClr val="dk1"/>
                </a:solidFill>
                <a:latin typeface="Trebuchet MS"/>
                <a:ea typeface="Trebuchet MS"/>
                <a:cs typeface="Trebuchet MS"/>
                <a:sym typeface="Trebuchet MS"/>
              </a:rPr>
              <a:t>; Pay 02 to Bob, 98 to Alice</a:t>
            </a:r>
            <a:endParaRPr sz="2400" baseline="-25000" dirty="0">
              <a:solidFill>
                <a:schemeClr val="dk1"/>
              </a:solidFill>
              <a:latin typeface="Trebuchet MS"/>
              <a:ea typeface="Trebuchet MS"/>
              <a:cs typeface="Trebuchet MS"/>
              <a:sym typeface="Trebuchet MS"/>
            </a:endParaRPr>
          </a:p>
          <a:p>
            <a:pPr algn="r"/>
            <a:r>
              <a:rPr lang="en" sz="1333" dirty="0">
                <a:solidFill>
                  <a:schemeClr val="dk1"/>
                </a:solidFill>
                <a:latin typeface="Trebuchet MS"/>
                <a:ea typeface="Trebuchet MS"/>
                <a:cs typeface="Trebuchet MS"/>
                <a:sym typeface="Trebuchet MS"/>
              </a:rPr>
              <a:t>SIGNED(ALICE)___________</a:t>
            </a:r>
            <a:endParaRPr sz="1333" dirty="0">
              <a:solidFill>
                <a:schemeClr val="dk1"/>
              </a:solidFill>
              <a:latin typeface="Trebuchet MS"/>
              <a:ea typeface="Trebuchet MS"/>
              <a:cs typeface="Trebuchet MS"/>
              <a:sym typeface="Trebuchet MS"/>
            </a:endParaRPr>
          </a:p>
        </p:txBody>
      </p:sp>
      <p:sp>
        <p:nvSpPr>
          <p:cNvPr id="352" name="Google Shape;352;p34"/>
          <p:cNvSpPr/>
          <p:nvPr/>
        </p:nvSpPr>
        <p:spPr>
          <a:xfrm>
            <a:off x="2424433" y="3640633"/>
            <a:ext cx="6670800" cy="656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dirty="0">
                <a:solidFill>
                  <a:schemeClr val="dk1"/>
                </a:solidFill>
                <a:latin typeface="Trebuchet MS"/>
                <a:ea typeface="Trebuchet MS"/>
                <a:cs typeface="Trebuchet MS"/>
                <a:sym typeface="Trebuchet MS"/>
              </a:rPr>
              <a:t>Input: </a:t>
            </a:r>
            <a:r>
              <a:rPr lang="en" sz="2400" i="1" dirty="0">
                <a:solidFill>
                  <a:schemeClr val="dk1"/>
                </a:solidFill>
                <a:latin typeface="Trebuchet MS"/>
                <a:ea typeface="Trebuchet MS"/>
                <a:cs typeface="Trebuchet MS"/>
                <a:sym typeface="Trebuchet MS"/>
              </a:rPr>
              <a:t>x</a:t>
            </a:r>
            <a:r>
              <a:rPr lang="en" sz="2400" dirty="0">
                <a:solidFill>
                  <a:schemeClr val="dk1"/>
                </a:solidFill>
                <a:latin typeface="Trebuchet MS"/>
                <a:ea typeface="Trebuchet MS"/>
                <a:cs typeface="Trebuchet MS"/>
                <a:sym typeface="Trebuchet MS"/>
              </a:rPr>
              <a:t>; Pay 03 to Bob, 97 to Alice</a:t>
            </a:r>
            <a:endParaRPr sz="2400" baseline="-25000" dirty="0">
              <a:solidFill>
                <a:schemeClr val="dk1"/>
              </a:solidFill>
              <a:latin typeface="Trebuchet MS"/>
              <a:ea typeface="Trebuchet MS"/>
              <a:cs typeface="Trebuchet MS"/>
              <a:sym typeface="Trebuchet MS"/>
            </a:endParaRPr>
          </a:p>
          <a:p>
            <a:pPr algn="r"/>
            <a:r>
              <a:rPr lang="en" sz="1333" dirty="0">
                <a:solidFill>
                  <a:schemeClr val="dk1"/>
                </a:solidFill>
                <a:latin typeface="Trebuchet MS"/>
                <a:ea typeface="Trebuchet MS"/>
                <a:cs typeface="Trebuchet MS"/>
                <a:sym typeface="Trebuchet MS"/>
              </a:rPr>
              <a:t>SIGNED(ALICE)___________</a:t>
            </a:r>
            <a:endParaRPr sz="1333" dirty="0">
              <a:solidFill>
                <a:schemeClr val="dk1"/>
              </a:solidFill>
              <a:latin typeface="Trebuchet MS"/>
              <a:ea typeface="Trebuchet MS"/>
              <a:cs typeface="Trebuchet MS"/>
              <a:sym typeface="Trebuchet MS"/>
            </a:endParaRPr>
          </a:p>
        </p:txBody>
      </p:sp>
      <p:sp>
        <p:nvSpPr>
          <p:cNvPr id="353" name="Google Shape;353;p34"/>
          <p:cNvSpPr/>
          <p:nvPr/>
        </p:nvSpPr>
        <p:spPr>
          <a:xfrm>
            <a:off x="2424433" y="2984633"/>
            <a:ext cx="6670800" cy="656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chemeClr val="dk1"/>
                </a:solidFill>
                <a:latin typeface="Trebuchet MS"/>
                <a:ea typeface="Trebuchet MS"/>
                <a:cs typeface="Trebuchet MS"/>
                <a:sym typeface="Trebuchet MS"/>
              </a:rPr>
              <a:t>Input: </a:t>
            </a:r>
            <a:r>
              <a:rPr lang="en" sz="2400" i="1">
                <a:solidFill>
                  <a:schemeClr val="dk1"/>
                </a:solidFill>
                <a:latin typeface="Trebuchet MS"/>
                <a:ea typeface="Trebuchet MS"/>
                <a:cs typeface="Trebuchet MS"/>
                <a:sym typeface="Trebuchet MS"/>
              </a:rPr>
              <a:t>x</a:t>
            </a:r>
            <a:r>
              <a:rPr lang="en" sz="2400">
                <a:solidFill>
                  <a:schemeClr val="dk1"/>
                </a:solidFill>
                <a:latin typeface="Trebuchet MS"/>
                <a:ea typeface="Trebuchet MS"/>
                <a:cs typeface="Trebuchet MS"/>
                <a:sym typeface="Trebuchet MS"/>
              </a:rPr>
              <a:t>; Pay 04 to Bob, 96 to Alice</a:t>
            </a:r>
            <a:endParaRPr sz="2400" baseline="-25000">
              <a:solidFill>
                <a:schemeClr val="dk1"/>
              </a:solidFill>
              <a:latin typeface="Trebuchet MS"/>
              <a:ea typeface="Trebuchet MS"/>
              <a:cs typeface="Trebuchet MS"/>
              <a:sym typeface="Trebuchet MS"/>
            </a:endParaRPr>
          </a:p>
          <a:p>
            <a:pPr algn="r"/>
            <a:r>
              <a:rPr lang="en" sz="1333">
                <a:solidFill>
                  <a:schemeClr val="dk1"/>
                </a:solidFill>
                <a:latin typeface="Trebuchet MS"/>
                <a:ea typeface="Trebuchet MS"/>
                <a:cs typeface="Trebuchet MS"/>
                <a:sym typeface="Trebuchet MS"/>
              </a:rPr>
              <a:t>SIGNED(ALICE)___________</a:t>
            </a:r>
            <a:endParaRPr sz="1333">
              <a:solidFill>
                <a:schemeClr val="dk1"/>
              </a:solidFill>
              <a:latin typeface="Trebuchet MS"/>
              <a:ea typeface="Trebuchet MS"/>
              <a:cs typeface="Trebuchet MS"/>
              <a:sym typeface="Trebuchet MS"/>
            </a:endParaRPr>
          </a:p>
        </p:txBody>
      </p:sp>
      <p:sp>
        <p:nvSpPr>
          <p:cNvPr id="354" name="Google Shape;354;p34"/>
          <p:cNvSpPr/>
          <p:nvPr/>
        </p:nvSpPr>
        <p:spPr>
          <a:xfrm>
            <a:off x="2424451" y="1873233"/>
            <a:ext cx="6670800" cy="656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chemeClr val="dk1"/>
                </a:solidFill>
                <a:latin typeface="Trebuchet MS"/>
                <a:ea typeface="Trebuchet MS"/>
                <a:cs typeface="Trebuchet MS"/>
                <a:sym typeface="Trebuchet MS"/>
              </a:rPr>
              <a:t>Input: </a:t>
            </a:r>
            <a:r>
              <a:rPr lang="en" sz="2400" i="1">
                <a:solidFill>
                  <a:schemeClr val="dk1"/>
                </a:solidFill>
                <a:latin typeface="Trebuchet MS"/>
                <a:ea typeface="Trebuchet MS"/>
                <a:cs typeface="Trebuchet MS"/>
                <a:sym typeface="Trebuchet MS"/>
              </a:rPr>
              <a:t>x</a:t>
            </a:r>
            <a:r>
              <a:rPr lang="en" sz="2400">
                <a:solidFill>
                  <a:schemeClr val="dk1"/>
                </a:solidFill>
                <a:latin typeface="Trebuchet MS"/>
                <a:ea typeface="Trebuchet MS"/>
                <a:cs typeface="Trebuchet MS"/>
                <a:sym typeface="Trebuchet MS"/>
              </a:rPr>
              <a:t>; Pay 42 to Bob, 58 to Alice</a:t>
            </a:r>
            <a:endParaRPr sz="2400" baseline="-25000">
              <a:solidFill>
                <a:schemeClr val="dk1"/>
              </a:solidFill>
              <a:latin typeface="Trebuchet MS"/>
              <a:ea typeface="Trebuchet MS"/>
              <a:cs typeface="Trebuchet MS"/>
              <a:sym typeface="Trebuchet MS"/>
            </a:endParaRPr>
          </a:p>
          <a:p>
            <a:pPr algn="r"/>
            <a:r>
              <a:rPr lang="en" sz="1333">
                <a:solidFill>
                  <a:schemeClr val="dk1"/>
                </a:solidFill>
                <a:latin typeface="Trebuchet MS"/>
                <a:ea typeface="Trebuchet MS"/>
                <a:cs typeface="Trebuchet MS"/>
                <a:sym typeface="Trebuchet MS"/>
              </a:rPr>
              <a:t>SIGNED(ALICE)___________</a:t>
            </a:r>
            <a:endParaRPr sz="1333">
              <a:solidFill>
                <a:schemeClr val="dk1"/>
              </a:solidFill>
              <a:latin typeface="Trebuchet MS"/>
              <a:ea typeface="Trebuchet MS"/>
              <a:cs typeface="Trebuchet MS"/>
              <a:sym typeface="Trebuchet MS"/>
            </a:endParaRPr>
          </a:p>
        </p:txBody>
      </p:sp>
      <p:sp>
        <p:nvSpPr>
          <p:cNvPr id="355" name="Google Shape;355;p34"/>
          <p:cNvSpPr txBox="1"/>
          <p:nvPr/>
        </p:nvSpPr>
        <p:spPr>
          <a:xfrm>
            <a:off x="2570517" y="2467600"/>
            <a:ext cx="1030000" cy="429600"/>
          </a:xfrm>
          <a:prstGeom prst="rect">
            <a:avLst/>
          </a:prstGeom>
          <a:noFill/>
          <a:ln>
            <a:noFill/>
          </a:ln>
        </p:spPr>
        <p:txBody>
          <a:bodyPr spcFirstLastPara="1" wrap="square" lIns="121900" tIns="121900" rIns="121900" bIns="121900" anchor="t" anchorCtr="0">
            <a:noAutofit/>
          </a:bodyPr>
          <a:lstStyle/>
          <a:p>
            <a:r>
              <a:rPr lang="en" sz="2400"/>
              <a:t>...</a:t>
            </a:r>
            <a:endParaRPr sz="2400"/>
          </a:p>
        </p:txBody>
      </p:sp>
      <p:sp>
        <p:nvSpPr>
          <p:cNvPr id="356" name="Google Shape;356;p34"/>
          <p:cNvSpPr/>
          <p:nvPr/>
        </p:nvSpPr>
        <p:spPr>
          <a:xfrm>
            <a:off x="1669000" y="3633933"/>
            <a:ext cx="1931600" cy="656000"/>
          </a:xfrm>
          <a:prstGeom prst="wedgeEllipseCallout">
            <a:avLst>
              <a:gd name="adj1" fmla="val -33454"/>
              <a:gd name="adj2" fmla="val 94350"/>
            </a:avLst>
          </a:prstGeom>
          <a:solidFill>
            <a:srgbClr val="FFE599"/>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I’m done!</a:t>
            </a:r>
            <a:endParaRPr sz="2400"/>
          </a:p>
        </p:txBody>
      </p:sp>
      <p:sp>
        <p:nvSpPr>
          <p:cNvPr id="357" name="Google Shape;357;p34"/>
          <p:cNvSpPr/>
          <p:nvPr/>
        </p:nvSpPr>
        <p:spPr>
          <a:xfrm>
            <a:off x="8522567" y="3540167"/>
            <a:ext cx="2071600" cy="656000"/>
          </a:xfrm>
          <a:prstGeom prst="wedgeEllipseCallout">
            <a:avLst>
              <a:gd name="adj1" fmla="val 32013"/>
              <a:gd name="adj2" fmla="val 92983"/>
            </a:avLst>
          </a:prstGeom>
          <a:solidFill>
            <a:srgbClr val="FFE599"/>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400"/>
              <a:t>I’ll publish!</a:t>
            </a:r>
            <a:endParaRPr sz="2400"/>
          </a:p>
        </p:txBody>
      </p:sp>
      <p:sp>
        <p:nvSpPr>
          <p:cNvPr id="358" name="Google Shape;358;p34"/>
          <p:cNvSpPr/>
          <p:nvPr/>
        </p:nvSpPr>
        <p:spPr>
          <a:xfrm>
            <a:off x="2118800" y="1988600"/>
            <a:ext cx="305600" cy="3556400"/>
          </a:xfrm>
          <a:prstGeom prst="leftBrace">
            <a:avLst>
              <a:gd name="adj1" fmla="val 8333"/>
              <a:gd name="adj2" fmla="val 12054"/>
            </a:avLst>
          </a:prstGeom>
          <a:no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9" name="Google Shape;359;p34"/>
          <p:cNvSpPr txBox="1"/>
          <p:nvPr/>
        </p:nvSpPr>
        <p:spPr>
          <a:xfrm>
            <a:off x="187167" y="1988600"/>
            <a:ext cx="2071600" cy="797600"/>
          </a:xfrm>
          <a:prstGeom prst="rect">
            <a:avLst/>
          </a:prstGeom>
          <a:noFill/>
          <a:ln>
            <a:noFill/>
          </a:ln>
        </p:spPr>
        <p:txBody>
          <a:bodyPr spcFirstLastPara="1" wrap="square" lIns="121900" tIns="121900" rIns="121900" bIns="121900" anchor="t" anchorCtr="0">
            <a:noAutofit/>
          </a:bodyPr>
          <a:lstStyle/>
          <a:p>
            <a:r>
              <a:rPr lang="en" sz="2400"/>
              <a:t>all of these could be double-spends!</a:t>
            </a:r>
            <a:endParaRPr sz="2400"/>
          </a:p>
        </p:txBody>
      </p:sp>
      <p:sp>
        <p:nvSpPr>
          <p:cNvPr id="360" name="Google Shape;360;p34"/>
          <p:cNvSpPr/>
          <p:nvPr/>
        </p:nvSpPr>
        <p:spPr>
          <a:xfrm>
            <a:off x="2424451" y="5938167"/>
            <a:ext cx="6670800" cy="656000"/>
          </a:xfrm>
          <a:prstGeom prst="rect">
            <a:avLst/>
          </a:prstGeom>
          <a:solidFill>
            <a:srgbClr val="00FF00"/>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chemeClr val="dk1"/>
                </a:solidFill>
                <a:latin typeface="Trebuchet MS"/>
                <a:ea typeface="Trebuchet MS"/>
                <a:cs typeface="Trebuchet MS"/>
                <a:sym typeface="Trebuchet MS"/>
              </a:rPr>
              <a:t>Input: </a:t>
            </a:r>
            <a:r>
              <a:rPr lang="en" sz="2400" i="1">
                <a:solidFill>
                  <a:schemeClr val="dk1"/>
                </a:solidFill>
                <a:latin typeface="Trebuchet MS"/>
                <a:ea typeface="Trebuchet MS"/>
                <a:cs typeface="Trebuchet MS"/>
                <a:sym typeface="Trebuchet MS"/>
              </a:rPr>
              <a:t>y</a:t>
            </a:r>
            <a:r>
              <a:rPr lang="en" sz="2400">
                <a:solidFill>
                  <a:schemeClr val="dk1"/>
                </a:solidFill>
                <a:latin typeface="Trebuchet MS"/>
                <a:ea typeface="Trebuchet MS"/>
                <a:cs typeface="Trebuchet MS"/>
                <a:sym typeface="Trebuchet MS"/>
              </a:rPr>
              <a:t>; Pay 100 to Bob/Alice (MULTISIG)</a:t>
            </a:r>
            <a:endParaRPr sz="2400" baseline="-25000">
              <a:solidFill>
                <a:schemeClr val="dk1"/>
              </a:solidFill>
              <a:latin typeface="Trebuchet MS"/>
              <a:ea typeface="Trebuchet MS"/>
              <a:cs typeface="Trebuchet MS"/>
              <a:sym typeface="Trebuchet MS"/>
            </a:endParaRPr>
          </a:p>
          <a:p>
            <a:pPr algn="r"/>
            <a:r>
              <a:rPr lang="en" sz="1333">
                <a:solidFill>
                  <a:schemeClr val="dk1"/>
                </a:solidFill>
                <a:latin typeface="Trebuchet MS"/>
                <a:ea typeface="Trebuchet MS"/>
                <a:cs typeface="Trebuchet MS"/>
                <a:sym typeface="Trebuchet MS"/>
              </a:rPr>
              <a:t>SIGNED(ALICE)</a:t>
            </a:r>
            <a:endParaRPr sz="1333">
              <a:solidFill>
                <a:schemeClr val="dk1"/>
              </a:solidFill>
              <a:latin typeface="Trebuchet MS"/>
              <a:ea typeface="Trebuchet MS"/>
              <a:cs typeface="Trebuchet MS"/>
              <a:sym typeface="Trebuchet MS"/>
            </a:endParaRPr>
          </a:p>
        </p:txBody>
      </p:sp>
      <p:sp>
        <p:nvSpPr>
          <p:cNvPr id="361" name="Google Shape;361;p34"/>
          <p:cNvSpPr/>
          <p:nvPr/>
        </p:nvSpPr>
        <p:spPr>
          <a:xfrm>
            <a:off x="2424417" y="1873233"/>
            <a:ext cx="6670800" cy="656000"/>
          </a:xfrm>
          <a:prstGeom prst="rect">
            <a:avLst/>
          </a:prstGeom>
          <a:solidFill>
            <a:srgbClr val="00FF00"/>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dirty="0">
                <a:solidFill>
                  <a:schemeClr val="dk1"/>
                </a:solidFill>
                <a:latin typeface="Trebuchet MS"/>
                <a:ea typeface="Trebuchet MS"/>
                <a:cs typeface="Trebuchet MS"/>
                <a:sym typeface="Trebuchet MS"/>
              </a:rPr>
              <a:t>Input: </a:t>
            </a:r>
            <a:r>
              <a:rPr lang="en" sz="2400" i="1" dirty="0">
                <a:solidFill>
                  <a:schemeClr val="dk1"/>
                </a:solidFill>
                <a:latin typeface="Trebuchet MS"/>
                <a:ea typeface="Trebuchet MS"/>
                <a:cs typeface="Trebuchet MS"/>
                <a:sym typeface="Trebuchet MS"/>
              </a:rPr>
              <a:t>x</a:t>
            </a:r>
            <a:r>
              <a:rPr lang="en" sz="2400" dirty="0">
                <a:solidFill>
                  <a:schemeClr val="dk1"/>
                </a:solidFill>
                <a:latin typeface="Trebuchet MS"/>
                <a:ea typeface="Trebuchet MS"/>
                <a:cs typeface="Trebuchet MS"/>
                <a:sym typeface="Trebuchet MS"/>
              </a:rPr>
              <a:t>; Pay 42 to Bob, 58 to Alice</a:t>
            </a:r>
            <a:endParaRPr sz="2400" baseline="-25000" dirty="0">
              <a:solidFill>
                <a:schemeClr val="dk1"/>
              </a:solidFill>
              <a:latin typeface="Trebuchet MS"/>
              <a:ea typeface="Trebuchet MS"/>
              <a:cs typeface="Trebuchet MS"/>
              <a:sym typeface="Trebuchet MS"/>
            </a:endParaRPr>
          </a:p>
          <a:p>
            <a:pPr algn="r"/>
            <a:r>
              <a:rPr lang="en" sz="1333" dirty="0">
                <a:solidFill>
                  <a:schemeClr val="dk1"/>
                </a:solidFill>
                <a:latin typeface="Trebuchet MS"/>
                <a:ea typeface="Trebuchet MS"/>
                <a:cs typeface="Trebuchet MS"/>
                <a:sym typeface="Trebuchet MS"/>
              </a:rPr>
              <a:t>SIGNED(ALICE) SIGNED(BOB)</a:t>
            </a:r>
            <a:endParaRPr sz="1333" dirty="0">
              <a:solidFill>
                <a:schemeClr val="dk1"/>
              </a:solidFill>
              <a:latin typeface="Trebuchet MS"/>
              <a:ea typeface="Trebuchet MS"/>
              <a:cs typeface="Trebuchet MS"/>
              <a:sym typeface="Trebuchet MS"/>
            </a:endParaRPr>
          </a:p>
        </p:txBody>
      </p:sp>
      <p:cxnSp>
        <p:nvCxnSpPr>
          <p:cNvPr id="362" name="Google Shape;362;p34"/>
          <p:cNvCxnSpPr/>
          <p:nvPr/>
        </p:nvCxnSpPr>
        <p:spPr>
          <a:xfrm flipH="1">
            <a:off x="3600333" y="5366567"/>
            <a:ext cx="83600" cy="856400"/>
          </a:xfrm>
          <a:prstGeom prst="straightConnector1">
            <a:avLst/>
          </a:prstGeom>
          <a:noFill/>
          <a:ln w="19050" cap="flat" cmpd="sng">
            <a:solidFill>
              <a:srgbClr val="FF0000"/>
            </a:solidFill>
            <a:prstDash val="solid"/>
            <a:round/>
            <a:headEnd type="none" w="med" len="med"/>
            <a:tailEnd type="triangle" w="med" len="med"/>
          </a:ln>
        </p:spPr>
      </p:cxnSp>
      <p:cxnSp>
        <p:nvCxnSpPr>
          <p:cNvPr id="363" name="Google Shape;363;p34"/>
          <p:cNvCxnSpPr/>
          <p:nvPr/>
        </p:nvCxnSpPr>
        <p:spPr>
          <a:xfrm flipH="1">
            <a:off x="3516567" y="4652733"/>
            <a:ext cx="116400" cy="1500400"/>
          </a:xfrm>
          <a:prstGeom prst="straightConnector1">
            <a:avLst/>
          </a:prstGeom>
          <a:noFill/>
          <a:ln w="19050" cap="flat" cmpd="sng">
            <a:solidFill>
              <a:srgbClr val="FF0000"/>
            </a:solidFill>
            <a:prstDash val="solid"/>
            <a:round/>
            <a:headEnd type="none" w="med" len="med"/>
            <a:tailEnd type="triangle" w="med" len="med"/>
          </a:ln>
        </p:spPr>
      </p:cxnSp>
      <p:cxnSp>
        <p:nvCxnSpPr>
          <p:cNvPr id="364" name="Google Shape;364;p34"/>
          <p:cNvCxnSpPr/>
          <p:nvPr/>
        </p:nvCxnSpPr>
        <p:spPr>
          <a:xfrm flipH="1">
            <a:off x="3467400" y="3961933"/>
            <a:ext cx="133200" cy="2246000"/>
          </a:xfrm>
          <a:prstGeom prst="straightConnector1">
            <a:avLst/>
          </a:prstGeom>
          <a:noFill/>
          <a:ln w="19050" cap="flat" cmpd="sng">
            <a:solidFill>
              <a:srgbClr val="FF0000"/>
            </a:solidFill>
            <a:prstDash val="solid"/>
            <a:round/>
            <a:headEnd type="none" w="med" len="med"/>
            <a:tailEnd type="triangle" w="med" len="med"/>
          </a:ln>
        </p:spPr>
      </p:cxnSp>
      <p:cxnSp>
        <p:nvCxnSpPr>
          <p:cNvPr id="365" name="Google Shape;365;p34"/>
          <p:cNvCxnSpPr/>
          <p:nvPr/>
        </p:nvCxnSpPr>
        <p:spPr>
          <a:xfrm flipH="1">
            <a:off x="3467267" y="3403500"/>
            <a:ext cx="89200" cy="2779200"/>
          </a:xfrm>
          <a:prstGeom prst="straightConnector1">
            <a:avLst/>
          </a:prstGeom>
          <a:noFill/>
          <a:ln w="19050" cap="flat" cmpd="sng">
            <a:solidFill>
              <a:srgbClr val="FF0000"/>
            </a:solidFill>
            <a:prstDash val="solid"/>
            <a:round/>
            <a:headEnd type="none" w="med" len="med"/>
            <a:tailEnd type="triangle" w="med" len="med"/>
          </a:ln>
        </p:spPr>
      </p:cxnSp>
      <p:cxnSp>
        <p:nvCxnSpPr>
          <p:cNvPr id="366" name="Google Shape;366;p34"/>
          <p:cNvCxnSpPr/>
          <p:nvPr/>
        </p:nvCxnSpPr>
        <p:spPr>
          <a:xfrm flipH="1">
            <a:off x="3454433" y="2294500"/>
            <a:ext cx="12800" cy="3926400"/>
          </a:xfrm>
          <a:prstGeom prst="straightConnector1">
            <a:avLst/>
          </a:prstGeom>
          <a:noFill/>
          <a:ln w="19050" cap="flat" cmpd="sng">
            <a:solidFill>
              <a:srgbClr val="FF0000"/>
            </a:solidFill>
            <a:prstDash val="solid"/>
            <a:round/>
            <a:headEnd type="none" w="med" len="med"/>
            <a:tailEnd type="triangle" w="med" len="med"/>
          </a:ln>
        </p:spPr>
      </p:cxnSp>
      <p:sp>
        <p:nvSpPr>
          <p:cNvPr id="367" name="Google Shape;367;p34"/>
          <p:cNvSpPr txBox="1"/>
          <p:nvPr/>
        </p:nvSpPr>
        <p:spPr>
          <a:xfrm>
            <a:off x="2544933" y="1408600"/>
            <a:ext cx="6273600" cy="429600"/>
          </a:xfrm>
          <a:prstGeom prst="rect">
            <a:avLst/>
          </a:prstGeom>
          <a:noFill/>
          <a:ln>
            <a:noFill/>
          </a:ln>
        </p:spPr>
        <p:txBody>
          <a:bodyPr spcFirstLastPara="1" wrap="square" lIns="121900" tIns="121900" rIns="121900" bIns="121900" anchor="t" anchorCtr="0">
            <a:noAutofit/>
          </a:bodyPr>
          <a:lstStyle/>
          <a:p>
            <a:r>
              <a:rPr lang="en" sz="2400"/>
              <a:t>What if Bob never signs??</a:t>
            </a:r>
            <a:endParaRPr sz="2400"/>
          </a:p>
        </p:txBody>
      </p:sp>
      <p:sp>
        <p:nvSpPr>
          <p:cNvPr id="368" name="Google Shape;368;p34"/>
          <p:cNvSpPr/>
          <p:nvPr/>
        </p:nvSpPr>
        <p:spPr>
          <a:xfrm>
            <a:off x="2424451" y="3167051"/>
            <a:ext cx="6670800" cy="656000"/>
          </a:xfrm>
          <a:prstGeom prst="rect">
            <a:avLst/>
          </a:prstGeom>
          <a:solidFill>
            <a:srgbClr val="B6D7A8"/>
          </a:solidFill>
          <a:ln w="19050" cap="flat" cmpd="sng">
            <a:solidFill>
              <a:srgbClr val="666666"/>
            </a:solidFill>
            <a:prstDash val="solid"/>
            <a:round/>
            <a:headEnd type="none" w="sm" len="sm"/>
            <a:tailEnd type="none" w="sm" len="sm"/>
          </a:ln>
        </p:spPr>
        <p:txBody>
          <a:bodyPr spcFirstLastPara="1" wrap="square" lIns="121900" tIns="121900" rIns="121900" bIns="121900" anchor="ctr" anchorCtr="0">
            <a:noAutofit/>
          </a:bodyPr>
          <a:lstStyle/>
          <a:p>
            <a:r>
              <a:rPr lang="en" sz="2400">
                <a:solidFill>
                  <a:schemeClr val="dk1"/>
                </a:solidFill>
                <a:latin typeface="Trebuchet MS"/>
                <a:ea typeface="Trebuchet MS"/>
                <a:cs typeface="Trebuchet MS"/>
                <a:sym typeface="Trebuchet MS"/>
              </a:rPr>
              <a:t>Input: </a:t>
            </a:r>
            <a:r>
              <a:rPr lang="en" sz="2400" i="1">
                <a:solidFill>
                  <a:schemeClr val="dk1"/>
                </a:solidFill>
                <a:latin typeface="Trebuchet MS"/>
                <a:ea typeface="Trebuchet MS"/>
                <a:cs typeface="Trebuchet MS"/>
                <a:sym typeface="Trebuchet MS"/>
              </a:rPr>
              <a:t>x</a:t>
            </a:r>
            <a:r>
              <a:rPr lang="en" sz="2400">
                <a:solidFill>
                  <a:schemeClr val="dk1"/>
                </a:solidFill>
                <a:latin typeface="Trebuchet MS"/>
                <a:ea typeface="Trebuchet MS"/>
                <a:cs typeface="Trebuchet MS"/>
                <a:sym typeface="Trebuchet MS"/>
              </a:rPr>
              <a:t>; Pay 100 to Alice, LOCK until time </a:t>
            </a:r>
            <a:r>
              <a:rPr lang="en" sz="2400" i="1">
                <a:solidFill>
                  <a:schemeClr val="dk1"/>
                </a:solidFill>
                <a:latin typeface="Trebuchet MS"/>
                <a:ea typeface="Trebuchet MS"/>
                <a:cs typeface="Trebuchet MS"/>
                <a:sym typeface="Trebuchet MS"/>
              </a:rPr>
              <a:t>t</a:t>
            </a:r>
            <a:endParaRPr sz="2400" i="1" baseline="-25000">
              <a:solidFill>
                <a:schemeClr val="dk1"/>
              </a:solidFill>
              <a:latin typeface="Trebuchet MS"/>
              <a:ea typeface="Trebuchet MS"/>
              <a:cs typeface="Trebuchet MS"/>
              <a:sym typeface="Trebuchet MS"/>
            </a:endParaRPr>
          </a:p>
          <a:p>
            <a:pPr algn="r"/>
            <a:r>
              <a:rPr lang="en" sz="1333">
                <a:solidFill>
                  <a:schemeClr val="dk1"/>
                </a:solidFill>
                <a:latin typeface="Trebuchet MS"/>
                <a:ea typeface="Trebuchet MS"/>
                <a:cs typeface="Trebuchet MS"/>
                <a:sym typeface="Trebuchet MS"/>
              </a:rPr>
              <a:t>SIGNED(ALICE) SIGNED(BOB)</a:t>
            </a:r>
            <a:endParaRPr sz="1333">
              <a:solidFill>
                <a:schemeClr val="dk1"/>
              </a:solidFill>
              <a:latin typeface="Trebuchet MS"/>
              <a:ea typeface="Trebuchet MS"/>
              <a:cs typeface="Trebuchet MS"/>
              <a:sym typeface="Trebuchet MS"/>
            </a:endParaRPr>
          </a:p>
        </p:txBody>
      </p:sp>
      <p:sp>
        <p:nvSpPr>
          <p:cNvPr id="369" name="Google Shape;369;p34"/>
          <p:cNvSpPr txBox="1"/>
          <p:nvPr/>
        </p:nvSpPr>
        <p:spPr>
          <a:xfrm>
            <a:off x="2487733" y="2751567"/>
            <a:ext cx="6555600" cy="429600"/>
          </a:xfrm>
          <a:prstGeom prst="rect">
            <a:avLst/>
          </a:prstGeom>
          <a:noFill/>
          <a:ln>
            <a:noFill/>
          </a:ln>
        </p:spPr>
        <p:txBody>
          <a:bodyPr spcFirstLastPara="1" wrap="square" lIns="121900" tIns="121900" rIns="121900" bIns="121900" anchor="t" anchorCtr="0">
            <a:noAutofit/>
          </a:bodyPr>
          <a:lstStyle/>
          <a:p>
            <a:r>
              <a:rPr lang="en" sz="2400" dirty="0"/>
              <a:t>Alice demands a timed refund transaction before starting</a:t>
            </a:r>
            <a:endParaRPr sz="2400" dirty="0"/>
          </a:p>
        </p:txBody>
      </p:sp>
      <p:sp>
        <p:nvSpPr>
          <p:cNvPr id="3" name="Rectangle 2"/>
          <p:cNvSpPr/>
          <p:nvPr/>
        </p:nvSpPr>
        <p:spPr>
          <a:xfrm>
            <a:off x="9372600" y="1981200"/>
            <a:ext cx="2667000" cy="1477328"/>
          </a:xfrm>
          <a:prstGeom prst="rect">
            <a:avLst/>
          </a:prstGeom>
        </p:spPr>
        <p:txBody>
          <a:bodyPr wrap="square">
            <a:spAutoFit/>
          </a:bodyPr>
          <a:lstStyle/>
          <a:p>
            <a:r>
              <a:rPr lang="en-IN" dirty="0"/>
              <a:t>With this feature Alice knows that she can get her money back if Bob never signs the transactions.</a:t>
            </a:r>
          </a:p>
        </p:txBody>
      </p:sp>
    </p:spTree>
    <p:extLst>
      <p:ext uri="{BB962C8B-B14F-4D97-AF65-F5344CB8AC3E}">
        <p14:creationId xmlns:p14="http://schemas.microsoft.com/office/powerpoint/2010/main" val="7230264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49"/>
                                        </p:tgtEl>
                                      </p:cBhvr>
                                    </p:animEffect>
                                    <p:set>
                                      <p:cBhvr>
                                        <p:cTn id="7" dur="1" fill="hold">
                                          <p:stCondLst>
                                            <p:cond delay="1000"/>
                                          </p:stCondLst>
                                        </p:cTn>
                                        <p:tgtEl>
                                          <p:spTgt spid="349"/>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60"/>
                                        </p:tgtEl>
                                        <p:attrNameLst>
                                          <p:attrName>style.visibility</p:attrName>
                                        </p:attrNameLst>
                                      </p:cBhvr>
                                      <p:to>
                                        <p:strVal val="visible"/>
                                      </p:to>
                                    </p:set>
                                    <p:animEffect transition="in" filter="fade">
                                      <p:cBhvr>
                                        <p:cTn id="10" dur="1000"/>
                                        <p:tgtEl>
                                          <p:spTgt spid="360"/>
                                        </p:tgtEl>
                                      </p:cBhvr>
                                    </p:animEffect>
                                  </p:childTnLst>
                                </p:cTn>
                              </p:par>
                              <p:par>
                                <p:cTn id="11" presetID="10" presetClass="entr" presetSubtype="0" fill="hold" nodeType="withEffect">
                                  <p:stCondLst>
                                    <p:cond delay="0"/>
                                  </p:stCondLst>
                                  <p:childTnLst>
                                    <p:set>
                                      <p:cBhvr>
                                        <p:cTn id="12" dur="1" fill="hold">
                                          <p:stCondLst>
                                            <p:cond delay="0"/>
                                          </p:stCondLst>
                                        </p:cTn>
                                        <p:tgtEl>
                                          <p:spTgt spid="360"/>
                                        </p:tgtEl>
                                        <p:attrNameLst>
                                          <p:attrName>style.visibility</p:attrName>
                                        </p:attrNameLst>
                                      </p:cBhvr>
                                      <p:to>
                                        <p:strVal val="visible"/>
                                      </p:to>
                                    </p:set>
                                    <p:animEffect transition="in" filter="fade">
                                      <p:cBhvr>
                                        <p:cTn id="13" dur="1000"/>
                                        <p:tgtEl>
                                          <p:spTgt spid="36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50"/>
                                        </p:tgtEl>
                                        <p:attrNameLst>
                                          <p:attrName>style.visibility</p:attrName>
                                        </p:attrNameLst>
                                      </p:cBhvr>
                                      <p:to>
                                        <p:strVal val="visible"/>
                                      </p:to>
                                    </p:set>
                                    <p:animEffect transition="in" filter="fade">
                                      <p:cBhvr>
                                        <p:cTn id="18" dur="1000"/>
                                        <p:tgtEl>
                                          <p:spTgt spid="35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1"/>
                                        </p:tgtEl>
                                        <p:attrNameLst>
                                          <p:attrName>style.visibility</p:attrName>
                                        </p:attrNameLst>
                                      </p:cBhvr>
                                      <p:to>
                                        <p:strVal val="visible"/>
                                      </p:to>
                                    </p:set>
                                    <p:animEffect transition="in" filter="fade">
                                      <p:cBhvr>
                                        <p:cTn id="23" dur="1000"/>
                                        <p:tgtEl>
                                          <p:spTgt spid="35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52"/>
                                        </p:tgtEl>
                                        <p:attrNameLst>
                                          <p:attrName>style.visibility</p:attrName>
                                        </p:attrNameLst>
                                      </p:cBhvr>
                                      <p:to>
                                        <p:strVal val="visible"/>
                                      </p:to>
                                    </p:set>
                                    <p:animEffect transition="in" filter="fade">
                                      <p:cBhvr>
                                        <p:cTn id="28" dur="1000"/>
                                        <p:tgtEl>
                                          <p:spTgt spid="352"/>
                                        </p:tgtEl>
                                      </p:cBhvr>
                                    </p:animEffect>
                                  </p:childTnLst>
                                </p:cTn>
                              </p:par>
                              <p:par>
                                <p:cTn id="29" presetID="10" presetClass="entr" presetSubtype="0" fill="hold" nodeType="withEffect">
                                  <p:stCondLst>
                                    <p:cond delay="0"/>
                                  </p:stCondLst>
                                  <p:childTnLst>
                                    <p:set>
                                      <p:cBhvr>
                                        <p:cTn id="30" dur="1" fill="hold">
                                          <p:stCondLst>
                                            <p:cond delay="0"/>
                                          </p:stCondLst>
                                        </p:cTn>
                                        <p:tgtEl>
                                          <p:spTgt spid="353"/>
                                        </p:tgtEl>
                                        <p:attrNameLst>
                                          <p:attrName>style.visibility</p:attrName>
                                        </p:attrNameLst>
                                      </p:cBhvr>
                                      <p:to>
                                        <p:strVal val="visible"/>
                                      </p:to>
                                    </p:set>
                                    <p:animEffect transition="in" filter="fade">
                                      <p:cBhvr>
                                        <p:cTn id="31" dur="1000"/>
                                        <p:tgtEl>
                                          <p:spTgt spid="35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54"/>
                                        </p:tgtEl>
                                        <p:attrNameLst>
                                          <p:attrName>style.visibility</p:attrName>
                                        </p:attrNameLst>
                                      </p:cBhvr>
                                      <p:to>
                                        <p:strVal val="visible"/>
                                      </p:to>
                                    </p:set>
                                    <p:animEffect transition="in" filter="fade">
                                      <p:cBhvr>
                                        <p:cTn id="36" dur="1000"/>
                                        <p:tgtEl>
                                          <p:spTgt spid="354"/>
                                        </p:tgtEl>
                                      </p:cBhvr>
                                    </p:animEffect>
                                  </p:childTnLst>
                                </p:cTn>
                              </p:par>
                              <p:par>
                                <p:cTn id="37" presetID="10" presetClass="entr" presetSubtype="0" fill="hold" nodeType="withEffect">
                                  <p:stCondLst>
                                    <p:cond delay="0"/>
                                  </p:stCondLst>
                                  <p:childTnLst>
                                    <p:set>
                                      <p:cBhvr>
                                        <p:cTn id="38" dur="1" fill="hold">
                                          <p:stCondLst>
                                            <p:cond delay="0"/>
                                          </p:stCondLst>
                                        </p:cTn>
                                        <p:tgtEl>
                                          <p:spTgt spid="355"/>
                                        </p:tgtEl>
                                        <p:attrNameLst>
                                          <p:attrName>style.visibility</p:attrName>
                                        </p:attrNameLst>
                                      </p:cBhvr>
                                      <p:to>
                                        <p:strVal val="visible"/>
                                      </p:to>
                                    </p:set>
                                    <p:animEffect transition="in" filter="fade">
                                      <p:cBhvr>
                                        <p:cTn id="39" dur="1000"/>
                                        <p:tgtEl>
                                          <p:spTgt spid="355"/>
                                        </p:tgtEl>
                                      </p:cBhvr>
                                    </p:animEffect>
                                  </p:childTnLst>
                                </p:cTn>
                              </p:par>
                              <p:par>
                                <p:cTn id="40" presetID="10" presetClass="entr" presetSubtype="0" fill="hold" nodeType="withEffect">
                                  <p:stCondLst>
                                    <p:cond delay="0"/>
                                  </p:stCondLst>
                                  <p:childTnLst>
                                    <p:set>
                                      <p:cBhvr>
                                        <p:cTn id="41" dur="1" fill="hold">
                                          <p:stCondLst>
                                            <p:cond delay="0"/>
                                          </p:stCondLst>
                                        </p:cTn>
                                        <p:tgtEl>
                                          <p:spTgt spid="356"/>
                                        </p:tgtEl>
                                        <p:attrNameLst>
                                          <p:attrName>style.visibility</p:attrName>
                                        </p:attrNameLst>
                                      </p:cBhvr>
                                      <p:to>
                                        <p:strVal val="visible"/>
                                      </p:to>
                                    </p:set>
                                    <p:animEffect transition="in" filter="fade">
                                      <p:cBhvr>
                                        <p:cTn id="42" dur="1000"/>
                                        <p:tgtEl>
                                          <p:spTgt spid="35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7"/>
                                        </p:tgtEl>
                                        <p:attrNameLst>
                                          <p:attrName>style.visibility</p:attrName>
                                        </p:attrNameLst>
                                      </p:cBhvr>
                                      <p:to>
                                        <p:strVal val="visible"/>
                                      </p:to>
                                    </p:set>
                                    <p:animEffect transition="in" filter="fade">
                                      <p:cBhvr>
                                        <p:cTn id="47" dur="1000"/>
                                        <p:tgtEl>
                                          <p:spTgt spid="357"/>
                                        </p:tgtEl>
                                      </p:cBhvr>
                                    </p:animEffect>
                                  </p:childTnLst>
                                </p:cTn>
                              </p:par>
                              <p:par>
                                <p:cTn id="48" presetID="10" presetClass="entr" presetSubtype="0" fill="hold" nodeType="withEffect">
                                  <p:stCondLst>
                                    <p:cond delay="0"/>
                                  </p:stCondLst>
                                  <p:childTnLst>
                                    <p:set>
                                      <p:cBhvr>
                                        <p:cTn id="49" dur="1" fill="hold">
                                          <p:stCondLst>
                                            <p:cond delay="0"/>
                                          </p:stCondLst>
                                        </p:cTn>
                                        <p:tgtEl>
                                          <p:spTgt spid="361"/>
                                        </p:tgtEl>
                                        <p:attrNameLst>
                                          <p:attrName>style.visibility</p:attrName>
                                        </p:attrNameLst>
                                      </p:cBhvr>
                                      <p:to>
                                        <p:strVal val="visible"/>
                                      </p:to>
                                    </p:set>
                                    <p:animEffect transition="in" filter="fade">
                                      <p:cBhvr>
                                        <p:cTn id="50" dur="1000"/>
                                        <p:tgtEl>
                                          <p:spTgt spid="36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58"/>
                                        </p:tgtEl>
                                        <p:attrNameLst>
                                          <p:attrName>style.visibility</p:attrName>
                                        </p:attrNameLst>
                                      </p:cBhvr>
                                      <p:to>
                                        <p:strVal val="visible"/>
                                      </p:to>
                                    </p:set>
                                    <p:animEffect transition="in" filter="fade">
                                      <p:cBhvr>
                                        <p:cTn id="55" dur="1000"/>
                                        <p:tgtEl>
                                          <p:spTgt spid="358"/>
                                        </p:tgtEl>
                                      </p:cBhvr>
                                    </p:animEffect>
                                  </p:childTnLst>
                                </p:cTn>
                              </p:par>
                              <p:par>
                                <p:cTn id="56" presetID="10" presetClass="entr" presetSubtype="0" fill="hold" nodeType="withEffect">
                                  <p:stCondLst>
                                    <p:cond delay="0"/>
                                  </p:stCondLst>
                                  <p:childTnLst>
                                    <p:set>
                                      <p:cBhvr>
                                        <p:cTn id="57" dur="1" fill="hold">
                                          <p:stCondLst>
                                            <p:cond delay="0"/>
                                          </p:stCondLst>
                                        </p:cTn>
                                        <p:tgtEl>
                                          <p:spTgt spid="359"/>
                                        </p:tgtEl>
                                        <p:attrNameLst>
                                          <p:attrName>style.visibility</p:attrName>
                                        </p:attrNameLst>
                                      </p:cBhvr>
                                      <p:to>
                                        <p:strVal val="visible"/>
                                      </p:to>
                                    </p:set>
                                    <p:animEffect transition="in" filter="fade">
                                      <p:cBhvr>
                                        <p:cTn id="58" dur="1000"/>
                                        <p:tgtEl>
                                          <p:spTgt spid="359"/>
                                        </p:tgtEl>
                                      </p:cBhvr>
                                    </p:animEffect>
                                  </p:childTnLst>
                                </p:cTn>
                              </p:par>
                              <p:par>
                                <p:cTn id="59" presetID="10" presetClass="entr" presetSubtype="0" fill="hold" nodeType="withEffect">
                                  <p:stCondLst>
                                    <p:cond delay="0"/>
                                  </p:stCondLst>
                                  <p:childTnLst>
                                    <p:set>
                                      <p:cBhvr>
                                        <p:cTn id="60" dur="1" fill="hold">
                                          <p:stCondLst>
                                            <p:cond delay="0"/>
                                          </p:stCondLst>
                                        </p:cTn>
                                        <p:tgtEl>
                                          <p:spTgt spid="362"/>
                                        </p:tgtEl>
                                        <p:attrNameLst>
                                          <p:attrName>style.visibility</p:attrName>
                                        </p:attrNameLst>
                                      </p:cBhvr>
                                      <p:to>
                                        <p:strVal val="visible"/>
                                      </p:to>
                                    </p:set>
                                    <p:animEffect transition="in" filter="fade">
                                      <p:cBhvr>
                                        <p:cTn id="61" dur="1000"/>
                                        <p:tgtEl>
                                          <p:spTgt spid="362"/>
                                        </p:tgtEl>
                                      </p:cBhvr>
                                    </p:animEffect>
                                  </p:childTnLst>
                                </p:cTn>
                              </p:par>
                              <p:par>
                                <p:cTn id="62" presetID="10" presetClass="entr" presetSubtype="0" fill="hold" nodeType="withEffect">
                                  <p:stCondLst>
                                    <p:cond delay="0"/>
                                  </p:stCondLst>
                                  <p:childTnLst>
                                    <p:set>
                                      <p:cBhvr>
                                        <p:cTn id="63" dur="1" fill="hold">
                                          <p:stCondLst>
                                            <p:cond delay="0"/>
                                          </p:stCondLst>
                                        </p:cTn>
                                        <p:tgtEl>
                                          <p:spTgt spid="363"/>
                                        </p:tgtEl>
                                        <p:attrNameLst>
                                          <p:attrName>style.visibility</p:attrName>
                                        </p:attrNameLst>
                                      </p:cBhvr>
                                      <p:to>
                                        <p:strVal val="visible"/>
                                      </p:to>
                                    </p:set>
                                    <p:animEffect transition="in" filter="fade">
                                      <p:cBhvr>
                                        <p:cTn id="64" dur="1000"/>
                                        <p:tgtEl>
                                          <p:spTgt spid="363"/>
                                        </p:tgtEl>
                                      </p:cBhvr>
                                    </p:animEffect>
                                  </p:childTnLst>
                                </p:cTn>
                              </p:par>
                              <p:par>
                                <p:cTn id="65" presetID="10" presetClass="entr" presetSubtype="0" fill="hold" nodeType="withEffect">
                                  <p:stCondLst>
                                    <p:cond delay="0"/>
                                  </p:stCondLst>
                                  <p:childTnLst>
                                    <p:set>
                                      <p:cBhvr>
                                        <p:cTn id="66" dur="1" fill="hold">
                                          <p:stCondLst>
                                            <p:cond delay="0"/>
                                          </p:stCondLst>
                                        </p:cTn>
                                        <p:tgtEl>
                                          <p:spTgt spid="363"/>
                                        </p:tgtEl>
                                        <p:attrNameLst>
                                          <p:attrName>style.visibility</p:attrName>
                                        </p:attrNameLst>
                                      </p:cBhvr>
                                      <p:to>
                                        <p:strVal val="visible"/>
                                      </p:to>
                                    </p:set>
                                    <p:animEffect transition="in" filter="fade">
                                      <p:cBhvr>
                                        <p:cTn id="67" dur="1000"/>
                                        <p:tgtEl>
                                          <p:spTgt spid="363"/>
                                        </p:tgtEl>
                                      </p:cBhvr>
                                    </p:animEffect>
                                  </p:childTnLst>
                                </p:cTn>
                              </p:par>
                              <p:par>
                                <p:cTn id="68" presetID="10" presetClass="entr" presetSubtype="0" fill="hold" nodeType="withEffect">
                                  <p:stCondLst>
                                    <p:cond delay="0"/>
                                  </p:stCondLst>
                                  <p:childTnLst>
                                    <p:set>
                                      <p:cBhvr>
                                        <p:cTn id="69" dur="1" fill="hold">
                                          <p:stCondLst>
                                            <p:cond delay="0"/>
                                          </p:stCondLst>
                                        </p:cTn>
                                        <p:tgtEl>
                                          <p:spTgt spid="365"/>
                                        </p:tgtEl>
                                        <p:attrNameLst>
                                          <p:attrName>style.visibility</p:attrName>
                                        </p:attrNameLst>
                                      </p:cBhvr>
                                      <p:to>
                                        <p:strVal val="visible"/>
                                      </p:to>
                                    </p:set>
                                    <p:animEffect transition="in" filter="fade">
                                      <p:cBhvr>
                                        <p:cTn id="70" dur="1000"/>
                                        <p:tgtEl>
                                          <p:spTgt spid="365"/>
                                        </p:tgtEl>
                                      </p:cBhvr>
                                    </p:animEffect>
                                  </p:childTnLst>
                                </p:cTn>
                              </p:par>
                              <p:par>
                                <p:cTn id="71" presetID="10" presetClass="entr" presetSubtype="0" fill="hold" nodeType="withEffect">
                                  <p:stCondLst>
                                    <p:cond delay="0"/>
                                  </p:stCondLst>
                                  <p:childTnLst>
                                    <p:set>
                                      <p:cBhvr>
                                        <p:cTn id="72" dur="1" fill="hold">
                                          <p:stCondLst>
                                            <p:cond delay="0"/>
                                          </p:stCondLst>
                                        </p:cTn>
                                        <p:tgtEl>
                                          <p:spTgt spid="366"/>
                                        </p:tgtEl>
                                        <p:attrNameLst>
                                          <p:attrName>style.visibility</p:attrName>
                                        </p:attrNameLst>
                                      </p:cBhvr>
                                      <p:to>
                                        <p:strVal val="visible"/>
                                      </p:to>
                                    </p:set>
                                    <p:animEffect transition="in" filter="fade">
                                      <p:cBhvr>
                                        <p:cTn id="73" dur="1000"/>
                                        <p:tgtEl>
                                          <p:spTgt spid="366"/>
                                        </p:tgtEl>
                                      </p:cBhvr>
                                    </p:animEffect>
                                  </p:childTnLst>
                                </p:cTn>
                              </p:par>
                              <p:par>
                                <p:cTn id="74" presetID="10" presetClass="entr" presetSubtype="0" fill="hold" nodeType="withEffect">
                                  <p:stCondLst>
                                    <p:cond delay="0"/>
                                  </p:stCondLst>
                                  <p:childTnLst>
                                    <p:set>
                                      <p:cBhvr>
                                        <p:cTn id="75" dur="1" fill="hold">
                                          <p:stCondLst>
                                            <p:cond delay="0"/>
                                          </p:stCondLst>
                                        </p:cTn>
                                        <p:tgtEl>
                                          <p:spTgt spid="365"/>
                                        </p:tgtEl>
                                        <p:attrNameLst>
                                          <p:attrName>style.visibility</p:attrName>
                                        </p:attrNameLst>
                                      </p:cBhvr>
                                      <p:to>
                                        <p:strVal val="visible"/>
                                      </p:to>
                                    </p:set>
                                    <p:animEffect transition="in" filter="fade">
                                      <p:cBhvr>
                                        <p:cTn id="76" dur="1000"/>
                                        <p:tgtEl>
                                          <p:spTgt spid="365"/>
                                        </p:tgtEl>
                                      </p:cBhvr>
                                    </p:animEffect>
                                  </p:childTnLst>
                                </p:cTn>
                              </p:par>
                              <p:par>
                                <p:cTn id="77" presetID="10" presetClass="entr" presetSubtype="0" fill="hold" nodeType="withEffect">
                                  <p:stCondLst>
                                    <p:cond delay="0"/>
                                  </p:stCondLst>
                                  <p:childTnLst>
                                    <p:set>
                                      <p:cBhvr>
                                        <p:cTn id="78" dur="1" fill="hold">
                                          <p:stCondLst>
                                            <p:cond delay="0"/>
                                          </p:stCondLst>
                                        </p:cTn>
                                        <p:tgtEl>
                                          <p:spTgt spid="364"/>
                                        </p:tgtEl>
                                        <p:attrNameLst>
                                          <p:attrName>style.visibility</p:attrName>
                                        </p:attrNameLst>
                                      </p:cBhvr>
                                      <p:to>
                                        <p:strVal val="visible"/>
                                      </p:to>
                                    </p:set>
                                    <p:animEffect transition="in" filter="fade">
                                      <p:cBhvr>
                                        <p:cTn id="79" dur="1000"/>
                                        <p:tgtEl>
                                          <p:spTgt spid="364"/>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1000"/>
                                        <p:tgtEl>
                                          <p:spTgt spid="350"/>
                                        </p:tgtEl>
                                      </p:cBhvr>
                                    </p:animEffect>
                                    <p:set>
                                      <p:cBhvr>
                                        <p:cTn id="84" dur="1" fill="hold">
                                          <p:stCondLst>
                                            <p:cond delay="1000"/>
                                          </p:stCondLst>
                                        </p:cTn>
                                        <p:tgtEl>
                                          <p:spTgt spid="350"/>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1000"/>
                                        <p:tgtEl>
                                          <p:spTgt spid="351"/>
                                        </p:tgtEl>
                                      </p:cBhvr>
                                    </p:animEffect>
                                    <p:set>
                                      <p:cBhvr>
                                        <p:cTn id="87" dur="1" fill="hold">
                                          <p:stCondLst>
                                            <p:cond delay="1000"/>
                                          </p:stCondLst>
                                        </p:cTn>
                                        <p:tgtEl>
                                          <p:spTgt spid="351"/>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1000"/>
                                        <p:tgtEl>
                                          <p:spTgt spid="352"/>
                                        </p:tgtEl>
                                      </p:cBhvr>
                                    </p:animEffect>
                                    <p:set>
                                      <p:cBhvr>
                                        <p:cTn id="90" dur="1" fill="hold">
                                          <p:stCondLst>
                                            <p:cond delay="1000"/>
                                          </p:stCondLst>
                                        </p:cTn>
                                        <p:tgtEl>
                                          <p:spTgt spid="352"/>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1000"/>
                                        <p:tgtEl>
                                          <p:spTgt spid="362"/>
                                        </p:tgtEl>
                                      </p:cBhvr>
                                    </p:animEffect>
                                    <p:set>
                                      <p:cBhvr>
                                        <p:cTn id="93" dur="1" fill="hold">
                                          <p:stCondLst>
                                            <p:cond delay="1000"/>
                                          </p:stCondLst>
                                        </p:cTn>
                                        <p:tgtEl>
                                          <p:spTgt spid="362"/>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1000"/>
                                        <p:tgtEl>
                                          <p:spTgt spid="363"/>
                                        </p:tgtEl>
                                      </p:cBhvr>
                                    </p:animEffect>
                                    <p:set>
                                      <p:cBhvr>
                                        <p:cTn id="96" dur="1" fill="hold">
                                          <p:stCondLst>
                                            <p:cond delay="1000"/>
                                          </p:stCondLst>
                                        </p:cTn>
                                        <p:tgtEl>
                                          <p:spTgt spid="363"/>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1000"/>
                                        <p:tgtEl>
                                          <p:spTgt spid="364"/>
                                        </p:tgtEl>
                                      </p:cBhvr>
                                    </p:animEffect>
                                    <p:set>
                                      <p:cBhvr>
                                        <p:cTn id="99" dur="1" fill="hold">
                                          <p:stCondLst>
                                            <p:cond delay="1000"/>
                                          </p:stCondLst>
                                        </p:cTn>
                                        <p:tgtEl>
                                          <p:spTgt spid="364"/>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1000"/>
                                        <p:tgtEl>
                                          <p:spTgt spid="365"/>
                                        </p:tgtEl>
                                      </p:cBhvr>
                                    </p:animEffect>
                                    <p:set>
                                      <p:cBhvr>
                                        <p:cTn id="102" dur="1" fill="hold">
                                          <p:stCondLst>
                                            <p:cond delay="1000"/>
                                          </p:stCondLst>
                                        </p:cTn>
                                        <p:tgtEl>
                                          <p:spTgt spid="365"/>
                                        </p:tgtEl>
                                        <p:attrNameLst>
                                          <p:attrName>style.visibility</p:attrName>
                                        </p:attrNameLst>
                                      </p:cBhvr>
                                      <p:to>
                                        <p:strVal val="hidden"/>
                                      </p:to>
                                    </p:set>
                                  </p:childTnLst>
                                </p:cTn>
                              </p:par>
                              <p:par>
                                <p:cTn id="103" presetID="10" presetClass="exit" presetSubtype="0" fill="hold" nodeType="withEffect">
                                  <p:stCondLst>
                                    <p:cond delay="0"/>
                                  </p:stCondLst>
                                  <p:childTnLst>
                                    <p:animEffect transition="out" filter="fade">
                                      <p:cBhvr>
                                        <p:cTn id="104" dur="1000"/>
                                        <p:tgtEl>
                                          <p:spTgt spid="366"/>
                                        </p:tgtEl>
                                      </p:cBhvr>
                                    </p:animEffect>
                                    <p:set>
                                      <p:cBhvr>
                                        <p:cTn id="105" dur="1" fill="hold">
                                          <p:stCondLst>
                                            <p:cond delay="1000"/>
                                          </p:stCondLst>
                                        </p:cTn>
                                        <p:tgtEl>
                                          <p:spTgt spid="366"/>
                                        </p:tgtEl>
                                        <p:attrNameLst>
                                          <p:attrName>style.visibility</p:attrName>
                                        </p:attrNameLst>
                                      </p:cBhvr>
                                      <p:to>
                                        <p:strVal val="hidden"/>
                                      </p:to>
                                    </p:set>
                                  </p:childTnLst>
                                </p:cTn>
                              </p:par>
                              <p:par>
                                <p:cTn id="106" presetID="10" presetClass="exit" presetSubtype="0" fill="hold" nodeType="withEffect">
                                  <p:stCondLst>
                                    <p:cond delay="0"/>
                                  </p:stCondLst>
                                  <p:childTnLst>
                                    <p:animEffect transition="out" filter="fade">
                                      <p:cBhvr>
                                        <p:cTn id="107" dur="1000"/>
                                        <p:tgtEl>
                                          <p:spTgt spid="353"/>
                                        </p:tgtEl>
                                      </p:cBhvr>
                                    </p:animEffect>
                                    <p:set>
                                      <p:cBhvr>
                                        <p:cTn id="108" dur="1" fill="hold">
                                          <p:stCondLst>
                                            <p:cond delay="1000"/>
                                          </p:stCondLst>
                                        </p:cTn>
                                        <p:tgtEl>
                                          <p:spTgt spid="353"/>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1000"/>
                                        <p:tgtEl>
                                          <p:spTgt spid="355"/>
                                        </p:tgtEl>
                                      </p:cBhvr>
                                    </p:animEffect>
                                    <p:set>
                                      <p:cBhvr>
                                        <p:cTn id="111" dur="1" fill="hold">
                                          <p:stCondLst>
                                            <p:cond delay="1000"/>
                                          </p:stCondLst>
                                        </p:cTn>
                                        <p:tgtEl>
                                          <p:spTgt spid="355"/>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1000"/>
                                        <p:tgtEl>
                                          <p:spTgt spid="356"/>
                                        </p:tgtEl>
                                      </p:cBhvr>
                                    </p:animEffect>
                                    <p:set>
                                      <p:cBhvr>
                                        <p:cTn id="114" dur="1" fill="hold">
                                          <p:stCondLst>
                                            <p:cond delay="1000"/>
                                          </p:stCondLst>
                                        </p:cTn>
                                        <p:tgtEl>
                                          <p:spTgt spid="356"/>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1000"/>
                                        <p:tgtEl>
                                          <p:spTgt spid="358"/>
                                        </p:tgtEl>
                                      </p:cBhvr>
                                    </p:animEffect>
                                    <p:set>
                                      <p:cBhvr>
                                        <p:cTn id="117" dur="1" fill="hold">
                                          <p:stCondLst>
                                            <p:cond delay="1000"/>
                                          </p:stCondLst>
                                        </p:cTn>
                                        <p:tgtEl>
                                          <p:spTgt spid="358"/>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1000"/>
                                        <p:tgtEl>
                                          <p:spTgt spid="359"/>
                                        </p:tgtEl>
                                      </p:cBhvr>
                                    </p:animEffect>
                                    <p:set>
                                      <p:cBhvr>
                                        <p:cTn id="120" dur="1" fill="hold">
                                          <p:stCondLst>
                                            <p:cond delay="1000"/>
                                          </p:stCondLst>
                                        </p:cTn>
                                        <p:tgtEl>
                                          <p:spTgt spid="359"/>
                                        </p:tgtEl>
                                        <p:attrNameLst>
                                          <p:attrName>style.visibility</p:attrName>
                                        </p:attrNameLst>
                                      </p:cBhvr>
                                      <p:to>
                                        <p:strVal val="hidden"/>
                                      </p:to>
                                    </p:set>
                                  </p:childTnLst>
                                </p:cTn>
                              </p:par>
                              <p:par>
                                <p:cTn id="121" presetID="10" presetClass="exit" presetSubtype="0" fill="hold" nodeType="withEffect">
                                  <p:stCondLst>
                                    <p:cond delay="0"/>
                                  </p:stCondLst>
                                  <p:childTnLst>
                                    <p:animEffect transition="out" filter="fade">
                                      <p:cBhvr>
                                        <p:cTn id="122" dur="1000"/>
                                        <p:tgtEl>
                                          <p:spTgt spid="357"/>
                                        </p:tgtEl>
                                      </p:cBhvr>
                                    </p:animEffect>
                                    <p:set>
                                      <p:cBhvr>
                                        <p:cTn id="123" dur="1" fill="hold">
                                          <p:stCondLst>
                                            <p:cond delay="1000"/>
                                          </p:stCondLst>
                                        </p:cTn>
                                        <p:tgtEl>
                                          <p:spTgt spid="357"/>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1000"/>
                                        <p:tgtEl>
                                          <p:spTgt spid="361"/>
                                        </p:tgtEl>
                                      </p:cBhvr>
                                    </p:animEffect>
                                    <p:set>
                                      <p:cBhvr>
                                        <p:cTn id="126" dur="1" fill="hold">
                                          <p:stCondLst>
                                            <p:cond delay="1000"/>
                                          </p:stCondLst>
                                        </p:cTn>
                                        <p:tgtEl>
                                          <p:spTgt spid="361"/>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367"/>
                                        </p:tgtEl>
                                        <p:attrNameLst>
                                          <p:attrName>style.visibility</p:attrName>
                                        </p:attrNameLst>
                                      </p:cBhvr>
                                      <p:to>
                                        <p:strVal val="visible"/>
                                      </p:to>
                                    </p:set>
                                    <p:animEffect transition="in" filter="fade">
                                      <p:cBhvr>
                                        <p:cTn id="131" dur="1000"/>
                                        <p:tgtEl>
                                          <p:spTgt spid="367"/>
                                        </p:tgtEl>
                                      </p:cBhvr>
                                    </p:animEffect>
                                  </p:childTnLst>
                                </p:cTn>
                              </p:par>
                              <p:par>
                                <p:cTn id="132" presetID="10" presetClass="entr" presetSubtype="0" fill="hold" nodeType="withEffect">
                                  <p:stCondLst>
                                    <p:cond delay="0"/>
                                  </p:stCondLst>
                                  <p:childTnLst>
                                    <p:set>
                                      <p:cBhvr>
                                        <p:cTn id="133" dur="1" fill="hold">
                                          <p:stCondLst>
                                            <p:cond delay="0"/>
                                          </p:stCondLst>
                                        </p:cTn>
                                        <p:tgtEl>
                                          <p:spTgt spid="368"/>
                                        </p:tgtEl>
                                        <p:attrNameLst>
                                          <p:attrName>style.visibility</p:attrName>
                                        </p:attrNameLst>
                                      </p:cBhvr>
                                      <p:to>
                                        <p:strVal val="visible"/>
                                      </p:to>
                                    </p:set>
                                    <p:animEffect transition="in" filter="fade">
                                      <p:cBhvr>
                                        <p:cTn id="134" dur="1000"/>
                                        <p:tgtEl>
                                          <p:spTgt spid="368"/>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3"/>
                                        </p:tgtEl>
                                        <p:attrNameLst>
                                          <p:attrName>style.visibility</p:attrName>
                                        </p:attrNameLst>
                                      </p:cBhvr>
                                      <p:to>
                                        <p:strVal val="visible"/>
                                      </p:to>
                                    </p:set>
                                    <p:anim calcmode="lin" valueType="num">
                                      <p:cBhvr additive="base">
                                        <p:cTn id="139" dur="500" fill="hold"/>
                                        <p:tgtEl>
                                          <p:spTgt spid="3"/>
                                        </p:tgtEl>
                                        <p:attrNameLst>
                                          <p:attrName>ppt_x</p:attrName>
                                        </p:attrNameLst>
                                      </p:cBhvr>
                                      <p:tavLst>
                                        <p:tav tm="0">
                                          <p:val>
                                            <p:strVal val="#ppt_x"/>
                                          </p:val>
                                        </p:tav>
                                        <p:tav tm="100000">
                                          <p:val>
                                            <p:strVal val="#ppt_x"/>
                                          </p:val>
                                        </p:tav>
                                      </p:tavLst>
                                    </p:anim>
                                    <p:anim calcmode="lin" valueType="num">
                                      <p:cBhvr additive="base">
                                        <p:cTn id="14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369"/>
                                        </p:tgtEl>
                                        <p:attrNameLst>
                                          <p:attrName>style.visibility</p:attrName>
                                        </p:attrNameLst>
                                      </p:cBhvr>
                                      <p:to>
                                        <p:strVal val="visible"/>
                                      </p:to>
                                    </p:set>
                                    <p:anim calcmode="lin" valueType="num">
                                      <p:cBhvr additive="base">
                                        <p:cTn id="145" dur="500" fill="hold"/>
                                        <p:tgtEl>
                                          <p:spTgt spid="369"/>
                                        </p:tgtEl>
                                        <p:attrNameLst>
                                          <p:attrName>ppt_x</p:attrName>
                                        </p:attrNameLst>
                                      </p:cBhvr>
                                      <p:tavLst>
                                        <p:tav tm="0">
                                          <p:val>
                                            <p:strVal val="#ppt_x"/>
                                          </p:val>
                                        </p:tav>
                                        <p:tav tm="100000">
                                          <p:val>
                                            <p:strVal val="#ppt_x"/>
                                          </p:val>
                                        </p:tav>
                                      </p:tavLst>
                                    </p:anim>
                                    <p:anim calcmode="lin" valueType="num">
                                      <p:cBhvr additive="base">
                                        <p:cTn id="146" dur="500" fill="hold"/>
                                        <p:tgtEl>
                                          <p:spTgt spid="3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algn="just"/>
            <a:r>
              <a:rPr lang="en-IN" dirty="0" smtClean="0"/>
              <a:t>It </a:t>
            </a:r>
            <a:r>
              <a:rPr lang="en-IN" dirty="0"/>
              <a:t>is impossible to redeem two different transactions generated by Alice, since they are all technically double spends of the same beginning transaction. If both parties are operating normally, Bob will never sign any transaction but the last one, so the </a:t>
            </a:r>
            <a:r>
              <a:rPr lang="en-IN" dirty="0" err="1"/>
              <a:t>blockchain</a:t>
            </a:r>
            <a:r>
              <a:rPr lang="en-IN" dirty="0"/>
              <a:t> won't actually see any attempt of double-spending</a:t>
            </a:r>
            <a:r>
              <a:rPr lang="en-IN" dirty="0" smtClean="0"/>
              <a:t>.</a:t>
            </a:r>
          </a:p>
        </p:txBody>
      </p:sp>
    </p:spTree>
    <p:extLst>
      <p:ext uri="{BB962C8B-B14F-4D97-AF65-F5344CB8AC3E}">
        <p14:creationId xmlns:p14="http://schemas.microsoft.com/office/powerpoint/2010/main" val="29760590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pPr algn="just"/>
            <a:r>
              <a:rPr lang="en-IN" sz="2400" dirty="0"/>
              <a:t>problem of the micro-payments protocol could be that Bob will never signs any of the transactions, so all the money that Alice first sent to the </a:t>
            </a:r>
            <a:r>
              <a:rPr lang="en-IN" sz="2400" dirty="0" err="1"/>
              <a:t>multisign</a:t>
            </a:r>
            <a:r>
              <a:rPr lang="en-IN" sz="2400" dirty="0"/>
              <a:t> address remains blocked. How can Alice have her money back? She can use another feature called Lock Time.</a:t>
            </a:r>
          </a:p>
          <a:p>
            <a:pPr algn="just"/>
            <a:r>
              <a:rPr lang="en-IN" sz="2400" dirty="0"/>
              <a:t>Before the micro-payment protocol starts, Alice and Bob will both sign a transaction which refunds all of Alice's money back to her, but is locked until some time in the future.</a:t>
            </a:r>
          </a:p>
          <a:p>
            <a:pPr algn="just"/>
            <a:r>
              <a:rPr lang="en-IN" sz="2400" dirty="0"/>
              <a:t>So before Alice signs the first transaction for the first minute of service, she requires this refund transaction from Bob. If a certain time T is reached and Bob hasn't signed any of the small transactions that Alice sent, she can publish this transaction which refunds all of the money directly to her.</a:t>
            </a:r>
          </a:p>
          <a:p>
            <a:pPr algn="just"/>
            <a:r>
              <a:rPr lang="en-IN" sz="2400" dirty="0"/>
              <a:t>To do this, we will use the </a:t>
            </a:r>
            <a:r>
              <a:rPr lang="en-IN" sz="2400" b="1" dirty="0"/>
              <a:t>LOCK_TIME</a:t>
            </a:r>
            <a:r>
              <a:rPr lang="en-IN" sz="2400" dirty="0"/>
              <a:t> parameter in the metadata of </a:t>
            </a:r>
            <a:r>
              <a:rPr lang="en-IN" sz="2400" dirty="0" err="1"/>
              <a:t>Bitcoin</a:t>
            </a:r>
            <a:r>
              <a:rPr lang="en-IN" sz="2400" dirty="0"/>
              <a:t> transactions. It is possible to specify a value different from 0 for the lock time, which tells the miners not to publish the transaction until some point in time, based on the timestamps that are put </a:t>
            </a:r>
            <a:r>
              <a:rPr lang="en-IN" sz="2400" dirty="0" err="1"/>
              <a:t>inyo</a:t>
            </a:r>
            <a:r>
              <a:rPr lang="en-IN" sz="2400" dirty="0"/>
              <a:t> blocks.</a:t>
            </a:r>
          </a:p>
          <a:p>
            <a:pPr marL="50799" indent="0">
              <a:buNone/>
            </a:pPr>
            <a:endParaRPr lang="en-IN" dirty="0"/>
          </a:p>
        </p:txBody>
      </p:sp>
    </p:spTree>
    <p:extLst>
      <p:ext uri="{BB962C8B-B14F-4D97-AF65-F5344CB8AC3E}">
        <p14:creationId xmlns:p14="http://schemas.microsoft.com/office/powerpoint/2010/main" val="9718261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304801"/>
            <a:ext cx="10972800" cy="6262976"/>
          </a:xfrm>
        </p:spPr>
        <p:txBody>
          <a:bodyPr/>
          <a:lstStyle/>
          <a:p>
            <a:r>
              <a:rPr lang="en-IN" b="1" dirty="0"/>
              <a:t>Other applications</a:t>
            </a:r>
          </a:p>
          <a:p>
            <a:pPr marL="50799" indent="0">
              <a:buNone/>
            </a:pPr>
            <a:r>
              <a:rPr lang="en-IN" dirty="0"/>
              <a:t>There are many other possible applications of </a:t>
            </a:r>
            <a:r>
              <a:rPr lang="en-IN" dirty="0" err="1"/>
              <a:t>Bitcoin</a:t>
            </a:r>
            <a:r>
              <a:rPr lang="en-IN" dirty="0"/>
              <a:t> protocol, more complicated that the one explained, for example:</a:t>
            </a:r>
          </a:p>
          <a:p>
            <a:pPr algn="just"/>
            <a:r>
              <a:rPr lang="en-IN" dirty="0"/>
              <a:t>multi-player lotteries, that requires a very complicated, multi-step protocol</a:t>
            </a:r>
          </a:p>
          <a:p>
            <a:pPr algn="just"/>
            <a:r>
              <a:rPr lang="en-IN" dirty="0"/>
              <a:t>people can get their coins together and mix them so that it's harder to trace who owns which coins and provides a higher level of </a:t>
            </a:r>
            <a:r>
              <a:rPr lang="en-IN" dirty="0" err="1"/>
              <a:t>anonimity</a:t>
            </a:r>
            <a:endParaRPr lang="en-IN" dirty="0"/>
          </a:p>
          <a:p>
            <a:pPr algn="just"/>
            <a:r>
              <a:rPr lang="en-IN" dirty="0"/>
              <a:t>a huge variety of smart contract, even if there are a lot of limitations in this field, since some operations are not permitted by </a:t>
            </a:r>
            <a:r>
              <a:rPr lang="en-IN" dirty="0" err="1"/>
              <a:t>Bitcoin</a:t>
            </a:r>
            <a:r>
              <a:rPr lang="en-IN" dirty="0"/>
              <a:t> scripting language, or because nobody has figured out yet how to manage them with </a:t>
            </a:r>
            <a:r>
              <a:rPr lang="en-IN" dirty="0" err="1"/>
              <a:t>Bitcoin</a:t>
            </a:r>
            <a:r>
              <a:rPr lang="en-IN" dirty="0"/>
              <a:t> system.</a:t>
            </a:r>
          </a:p>
          <a:p>
            <a:endParaRPr lang="en-IN" dirty="0"/>
          </a:p>
        </p:txBody>
      </p:sp>
    </p:spTree>
    <p:extLst>
      <p:ext uri="{BB962C8B-B14F-4D97-AF65-F5344CB8AC3E}">
        <p14:creationId xmlns:p14="http://schemas.microsoft.com/office/powerpoint/2010/main" val="32725746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2163</Words>
  <Application>Microsoft Office PowerPoint</Application>
  <PresentationFormat>Widescreen</PresentationFormat>
  <Paragraphs>334</Paragraphs>
  <Slides>40</Slides>
  <Notes>14</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Courier New</vt:lpstr>
      <vt:lpstr>Trebuchet MS</vt:lpstr>
      <vt:lpstr>Wingdings</vt:lpstr>
      <vt:lpstr>Office Theme</vt:lpstr>
      <vt:lpstr>PowerPoint Presentation</vt:lpstr>
      <vt:lpstr>PowerPoint Presentation</vt:lpstr>
      <vt:lpstr>An account-based Model (not Bitcoin)</vt:lpstr>
      <vt:lpstr>A transaction-based ledger (Bitcoin)</vt:lpstr>
      <vt:lpstr>Example</vt:lpstr>
      <vt:lpstr>Merging value</vt:lpstr>
      <vt:lpstr>Joint payments</vt:lpstr>
      <vt:lpstr>The real deal: a Bitcoin transaction</vt:lpstr>
      <vt:lpstr>Transaction Data Structure</vt:lpstr>
      <vt:lpstr>The real deal: transaction metadata</vt:lpstr>
      <vt:lpstr> </vt:lpstr>
      <vt:lpstr>PowerPoint Presentation</vt:lpstr>
      <vt:lpstr>The real deal: transaction inputs</vt:lpstr>
      <vt:lpstr>PowerPoint Presentation</vt:lpstr>
      <vt:lpstr>PowerPoint Presentation</vt:lpstr>
      <vt:lpstr>PowerPoint Presentation</vt:lpstr>
      <vt:lpstr>PowerPoint Presentation</vt:lpstr>
      <vt:lpstr>PowerPoint Presentation</vt:lpstr>
      <vt:lpstr>Bitcoin scripting language (“Script”)</vt:lpstr>
      <vt:lpstr>Bitcoin script instructions</vt:lpstr>
      <vt:lpstr>PowerPoint Presentation</vt:lpstr>
      <vt:lpstr>PowerPoint Presentation</vt:lpstr>
      <vt:lpstr>PowerPoint Presentation</vt:lpstr>
      <vt:lpstr>PowerPoint Presentation</vt:lpstr>
      <vt:lpstr>PowerPoint Presentation</vt:lpstr>
      <vt:lpstr>PowerPoint Presentation</vt:lpstr>
      <vt:lpstr>Bitcoin script execution example</vt:lpstr>
      <vt:lpstr>PowerPoint Presentation</vt:lpstr>
      <vt:lpstr>     </vt:lpstr>
      <vt:lpstr>PowerPoint Presentation</vt:lpstr>
      <vt:lpstr>PowerPoint Presentation</vt:lpstr>
      <vt:lpstr>PowerPoint Presentation</vt:lpstr>
      <vt:lpstr>PowerPoint Presentation</vt:lpstr>
      <vt:lpstr>Example 1:Escrow transactions</vt:lpstr>
      <vt:lpstr>Example 2 : Green addresses </vt:lpstr>
      <vt:lpstr>PowerPoint Presentation</vt:lpstr>
      <vt:lpstr>Example 3: Efficient micro-payments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cp:revision>
  <dcterms:created xsi:type="dcterms:W3CDTF">2025-01-17T19:46:58Z</dcterms:created>
  <dcterms:modified xsi:type="dcterms:W3CDTF">2025-01-17T19:47:10Z</dcterms:modified>
</cp:coreProperties>
</file>