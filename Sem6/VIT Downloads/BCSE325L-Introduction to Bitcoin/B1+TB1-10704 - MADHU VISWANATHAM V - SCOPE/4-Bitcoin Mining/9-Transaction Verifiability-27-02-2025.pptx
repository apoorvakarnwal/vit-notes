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60" r:id="rId5"/>
    <p:sldId id="261" r:id="rId6"/>
    <p:sldId id="262" r:id="rId7"/>
    <p:sldId id="288" r:id="rId8"/>
    <p:sldId id="286" r:id="rId9"/>
    <p:sldId id="293" r:id="rId10"/>
    <p:sldId id="289" r:id="rId11"/>
    <p:sldId id="290" r:id="rId12"/>
    <p:sldId id="292" r:id="rId13"/>
    <p:sldId id="268" r:id="rId14"/>
    <p:sldId id="269" r:id="rId15"/>
    <p:sldId id="270" r:id="rId16"/>
    <p:sldId id="273" r:id="rId17"/>
    <p:sldId id="274" r:id="rId18"/>
    <p:sldId id="275" r:id="rId19"/>
    <p:sldId id="280" r:id="rId20"/>
    <p:sldId id="283" r:id="rId21"/>
    <p:sldId id="284" r:id="rId22"/>
    <p:sldId id="28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howGuides="1">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876B47-D668-4D15-A30C-599506B0695D}" type="datetimeFigureOut">
              <a:rPr lang="en-IN" smtClean="0"/>
              <a:t>01-03-2025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95501E-58FA-4FF4-A0CA-A7DB54604418}" type="slidenum">
              <a:rPr lang="en-IN" smtClean="0"/>
              <a:t>‹#›</a:t>
            </a:fld>
            <a:endParaRPr lang="en-IN"/>
          </a:p>
        </p:txBody>
      </p:sp>
    </p:spTree>
    <p:extLst>
      <p:ext uri="{BB962C8B-B14F-4D97-AF65-F5344CB8AC3E}">
        <p14:creationId xmlns:p14="http://schemas.microsoft.com/office/powerpoint/2010/main" val="504453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6e91fd57_010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0" name="Google Shape;500;g36e91fd57_010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Font typeface="Arial"/>
              <a:buNone/>
            </a:pPr>
            <a:endParaRPr sz="1100" b="0" i="0" u="none" strike="noStrike" cap="none"/>
          </a:p>
        </p:txBody>
      </p:sp>
    </p:spTree>
    <p:extLst>
      <p:ext uri="{BB962C8B-B14F-4D97-AF65-F5344CB8AC3E}">
        <p14:creationId xmlns:p14="http://schemas.microsoft.com/office/powerpoint/2010/main" val="3531315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6f4a98fd_27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36f4a98fd_27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0193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6f4a98fd_26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36f4a98fd_26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6779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6f3c03d4_0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36f3c03d4_0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8059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6f3c03d4_0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36f3c03d4_0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31778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36f4a98fd_2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36f4a98fd_2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5008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D60730D-EE3F-4B24-A774-7176E622902D}"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0C6B79-2898-4795-BE20-7B42836480D9}" type="slidenum">
              <a:rPr lang="en-IN" smtClean="0"/>
              <a:t>‹#›</a:t>
            </a:fld>
            <a:endParaRPr lang="en-IN"/>
          </a:p>
        </p:txBody>
      </p:sp>
    </p:spTree>
    <p:extLst>
      <p:ext uri="{BB962C8B-B14F-4D97-AF65-F5344CB8AC3E}">
        <p14:creationId xmlns:p14="http://schemas.microsoft.com/office/powerpoint/2010/main" val="1572901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D60730D-EE3F-4B24-A774-7176E622902D}"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0C6B79-2898-4795-BE20-7B42836480D9}" type="slidenum">
              <a:rPr lang="en-IN" smtClean="0"/>
              <a:t>‹#›</a:t>
            </a:fld>
            <a:endParaRPr lang="en-IN"/>
          </a:p>
        </p:txBody>
      </p:sp>
    </p:spTree>
    <p:extLst>
      <p:ext uri="{BB962C8B-B14F-4D97-AF65-F5344CB8AC3E}">
        <p14:creationId xmlns:p14="http://schemas.microsoft.com/office/powerpoint/2010/main" val="500032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D60730D-EE3F-4B24-A774-7176E622902D}"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0C6B79-2898-4795-BE20-7B42836480D9}" type="slidenum">
              <a:rPr lang="en-IN" smtClean="0"/>
              <a:t>‹#›</a:t>
            </a:fld>
            <a:endParaRPr lang="en-IN"/>
          </a:p>
        </p:txBody>
      </p:sp>
    </p:spTree>
    <p:extLst>
      <p:ext uri="{BB962C8B-B14F-4D97-AF65-F5344CB8AC3E}">
        <p14:creationId xmlns:p14="http://schemas.microsoft.com/office/powerpoint/2010/main" val="2236103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D60730D-EE3F-4B24-A774-7176E622902D}" type="datetimeFigureOut">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0C6B79-2898-4795-BE20-7B42836480D9}" type="slidenum">
              <a:rPr lang="en-IN" smtClean="0"/>
              <a:t>‹#›</a:t>
            </a:fld>
            <a:endParaRPr lang="en-IN"/>
          </a:p>
        </p:txBody>
      </p:sp>
    </p:spTree>
    <p:extLst>
      <p:ext uri="{BB962C8B-B14F-4D97-AF65-F5344CB8AC3E}">
        <p14:creationId xmlns:p14="http://schemas.microsoft.com/office/powerpoint/2010/main" val="2367867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D60730D-EE3F-4B24-A774-7176E622902D}" type="datetimeFigureOut">
              <a:rPr lang="en-IN" smtClean="0"/>
              <a:t>01-03-2025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0C6B79-2898-4795-BE20-7B42836480D9}" type="slidenum">
              <a:rPr lang="en-IN" smtClean="0"/>
              <a:t>‹#›</a:t>
            </a:fld>
            <a:endParaRPr lang="en-IN"/>
          </a:p>
        </p:txBody>
      </p:sp>
    </p:spTree>
    <p:extLst>
      <p:ext uri="{BB962C8B-B14F-4D97-AF65-F5344CB8AC3E}">
        <p14:creationId xmlns:p14="http://schemas.microsoft.com/office/powerpoint/2010/main" val="2177459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D60730D-EE3F-4B24-A774-7176E622902D}" type="datetimeFigureOut">
              <a:rPr lang="en-IN" smtClean="0"/>
              <a:t>01-03-2025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0C6B79-2898-4795-BE20-7B42836480D9}" type="slidenum">
              <a:rPr lang="en-IN" smtClean="0"/>
              <a:t>‹#›</a:t>
            </a:fld>
            <a:endParaRPr lang="en-IN"/>
          </a:p>
        </p:txBody>
      </p:sp>
    </p:spTree>
    <p:extLst>
      <p:ext uri="{BB962C8B-B14F-4D97-AF65-F5344CB8AC3E}">
        <p14:creationId xmlns:p14="http://schemas.microsoft.com/office/powerpoint/2010/main" val="3295160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60730D-EE3F-4B24-A774-7176E622902D}" type="datetimeFigureOut">
              <a:rPr lang="en-IN" smtClean="0"/>
              <a:t>01-03-2025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0C6B79-2898-4795-BE20-7B42836480D9}" type="slidenum">
              <a:rPr lang="en-IN" smtClean="0"/>
              <a:t>‹#›</a:t>
            </a:fld>
            <a:endParaRPr lang="en-IN"/>
          </a:p>
        </p:txBody>
      </p:sp>
    </p:spTree>
    <p:extLst>
      <p:ext uri="{BB962C8B-B14F-4D97-AF65-F5344CB8AC3E}">
        <p14:creationId xmlns:p14="http://schemas.microsoft.com/office/powerpoint/2010/main" val="1918102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60730D-EE3F-4B24-A774-7176E622902D}" type="datetimeFigureOut">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0C6B79-2898-4795-BE20-7B42836480D9}" type="slidenum">
              <a:rPr lang="en-IN" smtClean="0"/>
              <a:t>‹#›</a:t>
            </a:fld>
            <a:endParaRPr lang="en-IN"/>
          </a:p>
        </p:txBody>
      </p:sp>
    </p:spTree>
    <p:extLst>
      <p:ext uri="{BB962C8B-B14F-4D97-AF65-F5344CB8AC3E}">
        <p14:creationId xmlns:p14="http://schemas.microsoft.com/office/powerpoint/2010/main" val="1904618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60730D-EE3F-4B24-A774-7176E622902D}" type="datetimeFigureOut">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0C6B79-2898-4795-BE20-7B42836480D9}" type="slidenum">
              <a:rPr lang="en-IN" smtClean="0"/>
              <a:t>‹#›</a:t>
            </a:fld>
            <a:endParaRPr lang="en-IN"/>
          </a:p>
        </p:txBody>
      </p:sp>
    </p:spTree>
    <p:extLst>
      <p:ext uri="{BB962C8B-B14F-4D97-AF65-F5344CB8AC3E}">
        <p14:creationId xmlns:p14="http://schemas.microsoft.com/office/powerpoint/2010/main" val="3113761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D60730D-EE3F-4B24-A774-7176E622902D}"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0C6B79-2898-4795-BE20-7B42836480D9}" type="slidenum">
              <a:rPr lang="en-IN" smtClean="0"/>
              <a:t>‹#›</a:t>
            </a:fld>
            <a:endParaRPr lang="en-IN"/>
          </a:p>
        </p:txBody>
      </p:sp>
    </p:spTree>
    <p:extLst>
      <p:ext uri="{BB962C8B-B14F-4D97-AF65-F5344CB8AC3E}">
        <p14:creationId xmlns:p14="http://schemas.microsoft.com/office/powerpoint/2010/main" val="1113090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D60730D-EE3F-4B24-A774-7176E622902D}"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0C6B79-2898-4795-BE20-7B42836480D9}" type="slidenum">
              <a:rPr lang="en-IN" smtClean="0"/>
              <a:t>‹#›</a:t>
            </a:fld>
            <a:endParaRPr lang="en-IN"/>
          </a:p>
        </p:txBody>
      </p:sp>
    </p:spTree>
    <p:extLst>
      <p:ext uri="{BB962C8B-B14F-4D97-AF65-F5344CB8AC3E}">
        <p14:creationId xmlns:p14="http://schemas.microsoft.com/office/powerpoint/2010/main" val="2392719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609600" y="274637"/>
            <a:ext cx="10972800" cy="11430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 name="Google Shape;15;p3"/>
          <p:cNvSpPr txBox="1">
            <a:spLocks noGrp="1"/>
          </p:cNvSpPr>
          <p:nvPr>
            <p:ph type="body" idx="1"/>
          </p:nvPr>
        </p:nvSpPr>
        <p:spPr>
          <a:xfrm>
            <a:off x="609600" y="1600201"/>
            <a:ext cx="10972800" cy="4967575"/>
          </a:xfrm>
          <a:prstGeom prst="rect">
            <a:avLst/>
          </a:prstGeom>
        </p:spPr>
        <p:txBody>
          <a:bodyPr spcFirstLastPara="1" wrap="square" lIns="91425" tIns="91425" rIns="91425" bIns="91425" anchor="t" anchorCtr="0">
            <a:noAutofit/>
          </a:bodyPr>
          <a:lstStyle>
            <a:lvl1pPr marL="609585" lvl="0" indent="-558786">
              <a:spcBef>
                <a:spcPts val="800"/>
              </a:spcBef>
              <a:spcAft>
                <a:spcPts val="0"/>
              </a:spcAft>
              <a:buSzPts val="3000"/>
              <a:buChar char="●"/>
              <a:defRPr/>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spTree>
    <p:extLst>
      <p:ext uri="{BB962C8B-B14F-4D97-AF65-F5344CB8AC3E}">
        <p14:creationId xmlns:p14="http://schemas.microsoft.com/office/powerpoint/2010/main" val="967365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60730D-EE3F-4B24-A774-7176E622902D}" type="datetimeFigureOut">
              <a:rPr lang="en-IN" smtClean="0"/>
              <a:t>01-03-2025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0C6B79-2898-4795-BE20-7B42836480D9}" type="slidenum">
              <a:rPr lang="en-IN" smtClean="0"/>
              <a:t>‹#›</a:t>
            </a:fld>
            <a:endParaRPr lang="en-IN"/>
          </a:p>
        </p:txBody>
      </p:sp>
    </p:spTree>
    <p:extLst>
      <p:ext uri="{BB962C8B-B14F-4D97-AF65-F5344CB8AC3E}">
        <p14:creationId xmlns:p14="http://schemas.microsoft.com/office/powerpoint/2010/main" val="259219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59"/>
          <p:cNvSpPr txBox="1">
            <a:spLocks noGrp="1"/>
          </p:cNvSpPr>
          <p:nvPr>
            <p:ph type="subTitle" idx="1"/>
          </p:nvPr>
        </p:nvSpPr>
        <p:spPr>
          <a:xfrm>
            <a:off x="914400" y="2253961"/>
            <a:ext cx="10363200" cy="2297600"/>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spcBef>
                <a:spcPts val="0"/>
              </a:spcBef>
              <a:spcAft>
                <a:spcPts val="0"/>
              </a:spcAft>
              <a:buClr>
                <a:schemeClr val="dk2"/>
              </a:buClr>
            </a:pPr>
            <a:endParaRPr sz="4000" dirty="0">
              <a:solidFill>
                <a:schemeClr val="dk2"/>
              </a:solidFill>
              <a:latin typeface="Trebuchet MS"/>
              <a:ea typeface="Trebuchet MS"/>
              <a:cs typeface="Trebuchet MS"/>
              <a:sym typeface="Trebuchet MS"/>
            </a:endParaRPr>
          </a:p>
          <a:p>
            <a:pPr>
              <a:spcBef>
                <a:spcPts val="0"/>
              </a:spcBef>
              <a:spcAft>
                <a:spcPts val="0"/>
              </a:spcAft>
              <a:buClr>
                <a:schemeClr val="dk2"/>
              </a:buClr>
            </a:pPr>
            <a:r>
              <a:rPr lang="en" b="1" dirty="0"/>
              <a:t>Mining incentives and strategies</a:t>
            </a:r>
            <a:endParaRPr b="1" dirty="0"/>
          </a:p>
        </p:txBody>
      </p:sp>
    </p:spTree>
    <p:extLst>
      <p:ext uri="{BB962C8B-B14F-4D97-AF65-F5344CB8AC3E}">
        <p14:creationId xmlns:p14="http://schemas.microsoft.com/office/powerpoint/2010/main" val="42673876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60"/>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dirty="0" smtClean="0"/>
              <a:t>Analysis </a:t>
            </a:r>
            <a:r>
              <a:rPr lang="en" dirty="0"/>
              <a:t>of mining</a:t>
            </a:r>
            <a:endParaRPr dirty="0"/>
          </a:p>
        </p:txBody>
      </p:sp>
      <p:sp>
        <p:nvSpPr>
          <p:cNvPr id="508" name="Google Shape;508;p60"/>
          <p:cNvSpPr txBox="1">
            <a:spLocks noGrp="1"/>
          </p:cNvSpPr>
          <p:nvPr>
            <p:ph type="body" idx="1"/>
          </p:nvPr>
        </p:nvSpPr>
        <p:spPr>
          <a:xfrm>
            <a:off x="3276600" y="1186800"/>
            <a:ext cx="11622800" cy="5671200"/>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solidFill>
                  <a:srgbClr val="000000"/>
                </a:solidFill>
              </a:rPr>
              <a:t>Several strategic decisions</a:t>
            </a:r>
            <a:endParaRPr dirty="0">
              <a:solidFill>
                <a:srgbClr val="000000"/>
              </a:solidFill>
            </a:endParaRPr>
          </a:p>
          <a:p>
            <a:pPr>
              <a:buClr>
                <a:srgbClr val="000000"/>
              </a:buClr>
            </a:pPr>
            <a:r>
              <a:rPr lang="en" dirty="0">
                <a:solidFill>
                  <a:srgbClr val="000000"/>
                </a:solidFill>
              </a:rPr>
              <a:t>Which transactions to include in a block</a:t>
            </a:r>
            <a:endParaRPr dirty="0">
              <a:solidFill>
                <a:srgbClr val="000000"/>
              </a:solidFill>
            </a:endParaRPr>
          </a:p>
          <a:p>
            <a:pPr lvl="1">
              <a:buClr>
                <a:srgbClr val="000000"/>
              </a:buClr>
            </a:pPr>
            <a:r>
              <a:rPr lang="en" dirty="0">
                <a:solidFill>
                  <a:srgbClr val="000000"/>
                </a:solidFill>
              </a:rPr>
              <a:t>Default: any above minimum transaction fee</a:t>
            </a:r>
            <a:endParaRPr dirty="0">
              <a:solidFill>
                <a:srgbClr val="000000"/>
              </a:solidFill>
            </a:endParaRPr>
          </a:p>
          <a:p>
            <a:pPr>
              <a:spcBef>
                <a:spcPts val="0"/>
              </a:spcBef>
              <a:buClr>
                <a:srgbClr val="000000"/>
              </a:buClr>
            </a:pPr>
            <a:r>
              <a:rPr lang="en" dirty="0">
                <a:solidFill>
                  <a:srgbClr val="000000"/>
                </a:solidFill>
              </a:rPr>
              <a:t>Which block to mine on top of</a:t>
            </a:r>
            <a:endParaRPr dirty="0">
              <a:solidFill>
                <a:srgbClr val="000000"/>
              </a:solidFill>
            </a:endParaRPr>
          </a:p>
          <a:p>
            <a:pPr lvl="1">
              <a:buClr>
                <a:srgbClr val="000000"/>
              </a:buClr>
            </a:pPr>
            <a:r>
              <a:rPr lang="en" dirty="0">
                <a:solidFill>
                  <a:srgbClr val="000000"/>
                </a:solidFill>
              </a:rPr>
              <a:t>Default: longest valid chain</a:t>
            </a:r>
            <a:endParaRPr dirty="0">
              <a:solidFill>
                <a:srgbClr val="000000"/>
              </a:solidFill>
            </a:endParaRPr>
          </a:p>
          <a:p>
            <a:pPr>
              <a:spcBef>
                <a:spcPts val="0"/>
              </a:spcBef>
              <a:buClr>
                <a:srgbClr val="000000"/>
              </a:buClr>
            </a:pPr>
            <a:r>
              <a:rPr lang="en" dirty="0">
                <a:solidFill>
                  <a:srgbClr val="000000"/>
                </a:solidFill>
              </a:rPr>
              <a:t>How to choose between colliding blocks</a:t>
            </a:r>
            <a:endParaRPr dirty="0">
              <a:solidFill>
                <a:srgbClr val="000000"/>
              </a:solidFill>
            </a:endParaRPr>
          </a:p>
          <a:p>
            <a:pPr lvl="1">
              <a:buClr>
                <a:srgbClr val="000000"/>
              </a:buClr>
            </a:pPr>
            <a:r>
              <a:rPr lang="en" dirty="0">
                <a:solidFill>
                  <a:srgbClr val="000000"/>
                </a:solidFill>
              </a:rPr>
              <a:t>Default: first block heard</a:t>
            </a:r>
            <a:endParaRPr dirty="0">
              <a:solidFill>
                <a:srgbClr val="000000"/>
              </a:solidFill>
            </a:endParaRPr>
          </a:p>
          <a:p>
            <a:pPr>
              <a:spcBef>
                <a:spcPts val="0"/>
              </a:spcBef>
              <a:buClr>
                <a:srgbClr val="000000"/>
              </a:buClr>
            </a:pPr>
            <a:r>
              <a:rPr lang="en" dirty="0">
                <a:solidFill>
                  <a:srgbClr val="000000"/>
                </a:solidFill>
              </a:rPr>
              <a:t>When to announce new </a:t>
            </a:r>
            <a:r>
              <a:rPr lang="en" dirty="0" smtClean="0">
                <a:solidFill>
                  <a:srgbClr val="000000"/>
                </a:solidFill>
              </a:rPr>
              <a:t>found blocks</a:t>
            </a:r>
            <a:endParaRPr dirty="0">
              <a:solidFill>
                <a:srgbClr val="000000"/>
              </a:solidFill>
            </a:endParaRPr>
          </a:p>
          <a:p>
            <a:pPr lvl="1">
              <a:buClr>
                <a:srgbClr val="000000"/>
              </a:buClr>
            </a:pPr>
            <a:r>
              <a:rPr lang="en" dirty="0">
                <a:solidFill>
                  <a:srgbClr val="000000"/>
                </a:solidFill>
              </a:rPr>
              <a:t>Default: immediately after finding them</a:t>
            </a:r>
            <a:endParaRPr dirty="0">
              <a:solidFill>
                <a:srgbClr val="000000"/>
              </a:solidFill>
            </a:endParaRPr>
          </a:p>
        </p:txBody>
      </p:sp>
    </p:spTree>
    <p:extLst>
      <p:ext uri="{BB962C8B-B14F-4D97-AF65-F5344CB8AC3E}">
        <p14:creationId xmlns:p14="http://schemas.microsoft.com/office/powerpoint/2010/main" val="9707631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IN" sz="3600" b="1" dirty="0" smtClean="0"/>
              <a:t>Forking:</a:t>
            </a:r>
          </a:p>
          <a:p>
            <a:pPr marL="0" indent="0">
              <a:buNone/>
            </a:pPr>
            <a:r>
              <a:rPr lang="en-IN" sz="3600" b="1" dirty="0"/>
              <a:t>     </a:t>
            </a:r>
            <a:endParaRPr lang="en-IN" sz="3600" b="1" dirty="0" smtClean="0"/>
          </a:p>
          <a:p>
            <a:pPr marL="0" indent="0">
              <a:buNone/>
            </a:pPr>
            <a:endParaRPr lang="en-IN" sz="3600" b="1" dirty="0"/>
          </a:p>
          <a:p>
            <a:pPr marL="0" indent="0">
              <a:buNone/>
            </a:pPr>
            <a:endParaRPr lang="en-IN" sz="3600" b="1" dirty="0" smtClean="0"/>
          </a:p>
          <a:p>
            <a:pPr>
              <a:buFont typeface="Wingdings" panose="05000000000000000000" pitchFamily="2" charset="2"/>
              <a:buChar char="Ø"/>
            </a:pPr>
            <a:endParaRPr lang="en-IN" sz="3600" b="1" dirty="0" smtClean="0"/>
          </a:p>
          <a:p>
            <a:pPr>
              <a:buFont typeface="Wingdings" panose="05000000000000000000" pitchFamily="2" charset="2"/>
              <a:buChar char="Ø"/>
            </a:pPr>
            <a:endParaRPr lang="en-IN" sz="3600" b="1" dirty="0"/>
          </a:p>
          <a:p>
            <a:pPr>
              <a:buFont typeface="Wingdings" panose="05000000000000000000" pitchFamily="2" charset="2"/>
              <a:buChar char="Ø"/>
            </a:pPr>
            <a:r>
              <a:rPr lang="en-IN" sz="3600" b="1" dirty="0" smtClean="0"/>
              <a:t>  </a:t>
            </a:r>
            <a:r>
              <a:rPr lang="en-IN" sz="3300" b="1" dirty="0"/>
              <a:t>Regular/Tem</a:t>
            </a:r>
            <a:r>
              <a:rPr lang="en-IN" sz="3600" b="1" dirty="0"/>
              <a:t>porary Fork / Accidental Fork </a:t>
            </a:r>
          </a:p>
          <a:p>
            <a:pPr>
              <a:buFont typeface="Wingdings" panose="05000000000000000000" pitchFamily="2" charset="2"/>
              <a:buChar char="Ø"/>
            </a:pPr>
            <a:r>
              <a:rPr lang="en-IN" sz="3300" b="1" dirty="0" smtClean="0"/>
              <a:t> Soft fork</a:t>
            </a:r>
          </a:p>
          <a:p>
            <a:pPr>
              <a:buFont typeface="Wingdings" panose="05000000000000000000" pitchFamily="2" charset="2"/>
              <a:buChar char="Ø"/>
            </a:pPr>
            <a:r>
              <a:rPr lang="en-IN" sz="3300" b="1" dirty="0"/>
              <a:t> </a:t>
            </a:r>
            <a:r>
              <a:rPr lang="en-IN" sz="3300" b="1" dirty="0" smtClean="0"/>
              <a:t> </a:t>
            </a:r>
            <a:r>
              <a:rPr lang="en-IN" sz="3300" b="1" dirty="0"/>
              <a:t>Hard </a:t>
            </a:r>
            <a:r>
              <a:rPr lang="en-IN" sz="3300" b="1" dirty="0" smtClean="0"/>
              <a:t>fork</a:t>
            </a:r>
          </a:p>
          <a:p>
            <a:pPr marL="0" indent="0">
              <a:buNone/>
            </a:pPr>
            <a:r>
              <a:rPr lang="en-IN" sz="3600" b="1" dirty="0" smtClean="0"/>
              <a:t>   </a:t>
            </a:r>
            <a:endParaRPr lang="en-IN" sz="36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609600"/>
            <a:ext cx="6667500" cy="3810000"/>
          </a:xfrm>
          <a:prstGeom prst="rect">
            <a:avLst/>
          </a:prstGeom>
        </p:spPr>
      </p:pic>
    </p:spTree>
    <p:extLst>
      <p:ext uri="{BB962C8B-B14F-4D97-AF65-F5344CB8AC3E}">
        <p14:creationId xmlns:p14="http://schemas.microsoft.com/office/powerpoint/2010/main" val="355703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 calcmode="lin" valueType="num">
                                      <p:cBhvr additive="base">
                                        <p:cTn id="1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 calcmode="lin" valueType="num">
                                      <p:cBhvr additive="base">
                                        <p:cTn id="2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286000" y="2591594"/>
            <a:ext cx="7696200" cy="3733006"/>
          </a:xfrm>
          <a:prstGeom prst="rect">
            <a:avLst/>
          </a:prstGeom>
        </p:spPr>
      </p:pic>
    </p:spTree>
    <p:extLst>
      <p:ext uri="{BB962C8B-B14F-4D97-AF65-F5344CB8AC3E}">
        <p14:creationId xmlns:p14="http://schemas.microsoft.com/office/powerpoint/2010/main" val="18499933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6" name="Content Placeholder 5"/>
          <p:cNvSpPr>
            <a:spLocks noGrp="1"/>
          </p:cNvSpPr>
          <p:nvPr>
            <p:ph idx="1"/>
          </p:nvPr>
        </p:nvSpPr>
        <p:spPr>
          <a:xfrm>
            <a:off x="838200" y="457200"/>
            <a:ext cx="10515600" cy="5719763"/>
          </a:xfrm>
        </p:spPr>
        <p:txBody>
          <a:bodyPr>
            <a:normAutofit lnSpcReduction="10000"/>
          </a:bodyPr>
          <a:lstStyle/>
          <a:p>
            <a:r>
              <a:rPr lang="en-IN" b="1" dirty="0"/>
              <a:t>Soft </a:t>
            </a:r>
            <a:r>
              <a:rPr lang="en-IN" b="1" dirty="0" smtClean="0"/>
              <a:t>fork</a:t>
            </a:r>
          </a:p>
          <a:p>
            <a:pPr marL="0" indent="0">
              <a:buNone/>
            </a:pPr>
            <a:r>
              <a:rPr lang="en-IN" dirty="0" smtClean="0"/>
              <a:t>Example</a:t>
            </a:r>
            <a:r>
              <a:rPr lang="en-IN" dirty="0"/>
              <a:t>:</a:t>
            </a:r>
            <a:br>
              <a:rPr lang="en-IN" dirty="0"/>
            </a:br>
            <a:r>
              <a:rPr lang="en-IN" sz="2400" dirty="0"/>
              <a:t>The Bitcoin network’s </a:t>
            </a:r>
            <a:r>
              <a:rPr lang="en-IN" sz="2400" dirty="0" err="1"/>
              <a:t>SegWit</a:t>
            </a:r>
            <a:r>
              <a:rPr lang="en-IN" sz="2400" dirty="0"/>
              <a:t> update added a new class of addresses (Bech32). However, this didn’t invalidate the existing P2SH addresses. A full node with a P2SH type address could do a valid transaction with a node of Bech32 type address</a:t>
            </a:r>
            <a:r>
              <a:rPr lang="en-IN" sz="2400" dirty="0" smtClean="0"/>
              <a:t>.</a:t>
            </a:r>
          </a:p>
          <a:p>
            <a:r>
              <a:rPr lang="en-IN" sz="2000" b="1" dirty="0"/>
              <a:t> </a:t>
            </a:r>
            <a:r>
              <a:rPr lang="en-IN" b="1" dirty="0"/>
              <a:t>Hard </a:t>
            </a:r>
            <a:r>
              <a:rPr lang="en-IN" b="1" dirty="0" smtClean="0"/>
              <a:t>fork</a:t>
            </a:r>
          </a:p>
          <a:p>
            <a:pPr marL="0" indent="0">
              <a:buNone/>
            </a:pPr>
            <a:r>
              <a:rPr lang="en-IN" dirty="0" smtClean="0"/>
              <a:t>  Example:</a:t>
            </a:r>
          </a:p>
          <a:p>
            <a:pPr marL="0" indent="0" algn="just">
              <a:buNone/>
            </a:pPr>
            <a:r>
              <a:rPr lang="en-IN" sz="2200" dirty="0"/>
              <a:t>The new Casper update in the </a:t>
            </a:r>
            <a:r>
              <a:rPr lang="en-IN" sz="2200" dirty="0" err="1"/>
              <a:t>Ethereum</a:t>
            </a:r>
            <a:r>
              <a:rPr lang="en-IN" sz="2200" dirty="0"/>
              <a:t> </a:t>
            </a:r>
            <a:r>
              <a:rPr lang="en-IN" sz="2200" dirty="0" err="1"/>
              <a:t>Blockchain</a:t>
            </a:r>
            <a:r>
              <a:rPr lang="en-IN" sz="2200" dirty="0"/>
              <a:t> in which the consensus protocol will change from a type of Proof of Work (</a:t>
            </a:r>
            <a:r>
              <a:rPr lang="en-IN" sz="2200" dirty="0" err="1" smtClean="0"/>
              <a:t>PoW</a:t>
            </a:r>
            <a:r>
              <a:rPr lang="en-IN" sz="2200" dirty="0" smtClean="0"/>
              <a:t>) </a:t>
            </a:r>
            <a:r>
              <a:rPr lang="en-IN" sz="2200" dirty="0"/>
              <a:t>to a type of Proof of Stake (</a:t>
            </a:r>
            <a:r>
              <a:rPr lang="en-IN" sz="2200" dirty="0" err="1"/>
              <a:t>PoS</a:t>
            </a:r>
            <a:r>
              <a:rPr lang="en-IN" sz="2200" dirty="0"/>
              <a:t>). The nodes which install the Casper update will use the new consensus protocol. Full nodes that do not choose to install the Casper update will become incompatible with the full nodes that do</a:t>
            </a:r>
            <a:r>
              <a:rPr lang="en-IN" sz="2200" dirty="0" smtClean="0"/>
              <a:t>.</a:t>
            </a:r>
          </a:p>
          <a:p>
            <a:pPr algn="just"/>
            <a:r>
              <a:rPr lang="en-IN" b="1" dirty="0" smtClean="0"/>
              <a:t>Regular</a:t>
            </a:r>
          </a:p>
          <a:p>
            <a:pPr marL="0" indent="0" algn="just">
              <a:buNone/>
            </a:pPr>
            <a:r>
              <a:rPr lang="en-IN" sz="2400" dirty="0"/>
              <a:t>Example:</a:t>
            </a:r>
            <a:endParaRPr lang="en-IN" sz="2400" b="1" dirty="0" smtClean="0"/>
          </a:p>
          <a:p>
            <a:pPr marL="0" indent="0" algn="just">
              <a:buNone/>
            </a:pPr>
            <a:r>
              <a:rPr lang="en-IN" sz="2400" dirty="0"/>
              <a:t>Temporary forks happen more often than not and a usual event that triggers this fork is mining of a block by more than one party at nearly the same time.</a:t>
            </a:r>
            <a:endParaRPr lang="en-IN" sz="2200" dirty="0" smtClean="0"/>
          </a:p>
          <a:p>
            <a:pPr marL="0" indent="0">
              <a:buNone/>
            </a:pPr>
            <a:endParaRPr lang="en-IN" sz="2000" dirty="0"/>
          </a:p>
        </p:txBody>
      </p:sp>
    </p:spTree>
    <p:extLst>
      <p:ext uri="{BB962C8B-B14F-4D97-AF65-F5344CB8AC3E}">
        <p14:creationId xmlns:p14="http://schemas.microsoft.com/office/powerpoint/2010/main" val="9993437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Why do forks occur?</a:t>
            </a:r>
          </a:p>
          <a:p>
            <a:pPr marL="0" indent="0">
              <a:buNone/>
            </a:pPr>
            <a:r>
              <a:rPr lang="en-IN" sz="2400" dirty="0" err="1" smtClean="0"/>
              <a:t>Blockchains</a:t>
            </a:r>
            <a:r>
              <a:rPr lang="en-IN" sz="2400" dirty="0" smtClean="0"/>
              <a:t> </a:t>
            </a:r>
            <a:r>
              <a:rPr lang="en-IN" sz="2400" dirty="0"/>
              <a:t>are updated for a variety of reasons:</a:t>
            </a:r>
          </a:p>
          <a:p>
            <a:r>
              <a:rPr lang="en-IN" sz="2400" dirty="0"/>
              <a:t>To add functionality</a:t>
            </a:r>
          </a:p>
          <a:p>
            <a:r>
              <a:rPr lang="en-IN" sz="2400" dirty="0"/>
              <a:t>To address security risks</a:t>
            </a:r>
          </a:p>
          <a:p>
            <a:r>
              <a:rPr lang="en-IN" sz="2400" dirty="0"/>
              <a:t>To resolve a disagreement within the community about the </a:t>
            </a:r>
            <a:r>
              <a:rPr lang="en-IN" sz="2400" dirty="0" err="1"/>
              <a:t>cryptocurrency’s</a:t>
            </a:r>
            <a:r>
              <a:rPr lang="en-IN" sz="2400" dirty="0"/>
              <a:t> direction</a:t>
            </a:r>
          </a:p>
          <a:p>
            <a:pPr marL="0" indent="0">
              <a:buNone/>
            </a:pPr>
            <a:endParaRPr lang="en-IN" dirty="0"/>
          </a:p>
        </p:txBody>
      </p:sp>
    </p:spTree>
    <p:extLst>
      <p:ext uri="{BB962C8B-B14F-4D97-AF65-F5344CB8AC3E}">
        <p14:creationId xmlns:p14="http://schemas.microsoft.com/office/powerpoint/2010/main" val="31866017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3"/>
          <p:cNvPicPr>
            <a:picLocks noChangeAspect="1"/>
          </p:cNvPicPr>
          <p:nvPr/>
        </p:nvPicPr>
        <p:blipFill>
          <a:blip r:embed="rId2"/>
          <a:stretch>
            <a:fillRect/>
          </a:stretch>
        </p:blipFill>
        <p:spPr>
          <a:xfrm>
            <a:off x="381000" y="457200"/>
            <a:ext cx="5562600" cy="3962400"/>
          </a:xfrm>
          <a:prstGeom prst="rect">
            <a:avLst/>
          </a:prstGeom>
        </p:spPr>
      </p:pic>
      <p:pic>
        <p:nvPicPr>
          <p:cNvPr id="5" name="Picture 4"/>
          <p:cNvPicPr>
            <a:picLocks noChangeAspect="1"/>
          </p:cNvPicPr>
          <p:nvPr/>
        </p:nvPicPr>
        <p:blipFill>
          <a:blip r:embed="rId3"/>
          <a:stretch>
            <a:fillRect/>
          </a:stretch>
        </p:blipFill>
        <p:spPr>
          <a:xfrm>
            <a:off x="6070243" y="290310"/>
            <a:ext cx="5359758" cy="5196089"/>
          </a:xfrm>
          <a:prstGeom prst="rect">
            <a:avLst/>
          </a:prstGeom>
        </p:spPr>
      </p:pic>
      <p:sp>
        <p:nvSpPr>
          <p:cNvPr id="3" name="Text Placeholder 2"/>
          <p:cNvSpPr>
            <a:spLocks noGrp="1"/>
          </p:cNvSpPr>
          <p:nvPr>
            <p:ph type="body" idx="1"/>
          </p:nvPr>
        </p:nvSpPr>
        <p:spPr>
          <a:xfrm>
            <a:off x="533400" y="-228600"/>
            <a:ext cx="10972800" cy="6262976"/>
          </a:xfrm>
        </p:spPr>
        <p:txBody>
          <a:bodyPr/>
          <a:lstStyle/>
          <a:p>
            <a:pPr marL="50799" indent="0">
              <a:buNone/>
            </a:pPr>
            <a:r>
              <a:rPr lang="en-IN" b="1" dirty="0"/>
              <a:t>Attacks in </a:t>
            </a:r>
            <a:r>
              <a:rPr lang="en-IN" b="1" dirty="0" err="1"/>
              <a:t>Bitcoin</a:t>
            </a:r>
            <a:r>
              <a:rPr lang="en-IN" b="1" dirty="0"/>
              <a:t> Mining</a:t>
            </a:r>
            <a:endParaRPr lang="en-IN" dirty="0"/>
          </a:p>
        </p:txBody>
      </p:sp>
    </p:spTree>
    <p:extLst>
      <p:ext uri="{BB962C8B-B14F-4D97-AF65-F5344CB8AC3E}">
        <p14:creationId xmlns:p14="http://schemas.microsoft.com/office/powerpoint/2010/main" val="1985129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561"/>
        <p:cNvGrpSpPr/>
        <p:nvPr/>
      </p:nvGrpSpPr>
      <p:grpSpPr>
        <a:xfrm>
          <a:off x="0" y="0"/>
          <a:ext cx="0" cy="0"/>
          <a:chOff x="0" y="0"/>
          <a:chExt cx="0" cy="0"/>
        </a:xfrm>
      </p:grpSpPr>
      <p:sp>
        <p:nvSpPr>
          <p:cNvPr id="562" name="Google Shape;562;p64"/>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r>
              <a:rPr lang="en" sz="2800" b="1" dirty="0" smtClean="0"/>
              <a:t>2.Forking </a:t>
            </a:r>
            <a:r>
              <a:rPr lang="en" sz="2800" b="1" dirty="0"/>
              <a:t>attacks via </a:t>
            </a:r>
            <a:r>
              <a:rPr lang="en" sz="2800" b="1" dirty="0" smtClean="0"/>
              <a:t>bribery(Bribery attack/</a:t>
            </a:r>
            <a:r>
              <a:rPr lang="en-IN" sz="2800" b="1" dirty="0"/>
              <a:t>Nothing-at-Stake</a:t>
            </a:r>
            <a:r>
              <a:rPr lang="en" dirty="0" smtClean="0"/>
              <a:t>)</a:t>
            </a:r>
            <a:endParaRPr dirty="0"/>
          </a:p>
        </p:txBody>
      </p:sp>
      <p:sp>
        <p:nvSpPr>
          <p:cNvPr id="563" name="Google Shape;563;p64"/>
          <p:cNvSpPr txBox="1">
            <a:spLocks noGrp="1"/>
          </p:cNvSpPr>
          <p:nvPr>
            <p:ph type="body" idx="1"/>
          </p:nvPr>
        </p:nvSpPr>
        <p:spPr>
          <a:xfrm>
            <a:off x="609600" y="1329167"/>
            <a:ext cx="10706800" cy="4914400"/>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IN" sz="2400" dirty="0"/>
              <a:t>How It Works:</a:t>
            </a:r>
          </a:p>
          <a:p>
            <a:pPr marL="0" indent="0">
              <a:buNone/>
            </a:pPr>
            <a:r>
              <a:rPr lang="en-IN" sz="2400" b="1" dirty="0"/>
              <a:t>Why Bribery Attacks Are Dangerous:</a:t>
            </a:r>
          </a:p>
          <a:p>
            <a:r>
              <a:rPr lang="en-IN" sz="2400" dirty="0"/>
              <a:t>Attackers </a:t>
            </a:r>
            <a:r>
              <a:rPr lang="en-IN" sz="2400" b="1" dirty="0"/>
              <a:t>don’t need to buy mining hardware</a:t>
            </a:r>
            <a:r>
              <a:rPr lang="en-IN" sz="2400" dirty="0"/>
              <a:t>; they simply </a:t>
            </a:r>
            <a:r>
              <a:rPr lang="en-IN" sz="2400" b="1" dirty="0"/>
              <a:t>pay existing miners</a:t>
            </a:r>
            <a:r>
              <a:rPr lang="en-IN" sz="2400" dirty="0"/>
              <a:t>.</a:t>
            </a:r>
          </a:p>
          <a:p>
            <a:r>
              <a:rPr lang="en-IN" sz="2400" dirty="0"/>
              <a:t>It’s </a:t>
            </a:r>
            <a:r>
              <a:rPr lang="en-IN" sz="2400" b="1" dirty="0"/>
              <a:t>cheaper than a 51% attack</a:t>
            </a:r>
            <a:r>
              <a:rPr lang="en-IN" sz="2400" dirty="0"/>
              <a:t>, making it more feasible.</a:t>
            </a:r>
          </a:p>
          <a:p>
            <a:r>
              <a:rPr lang="en-IN" sz="2400" dirty="0"/>
              <a:t>If many miners </a:t>
            </a:r>
            <a:r>
              <a:rPr lang="en-IN" sz="2400" b="1" dirty="0"/>
              <a:t>accept bribes</a:t>
            </a:r>
            <a:r>
              <a:rPr lang="en-IN" sz="2400" dirty="0"/>
              <a:t>, the </a:t>
            </a:r>
            <a:r>
              <a:rPr lang="en-IN" sz="2400" dirty="0" err="1"/>
              <a:t>blockchain's</a:t>
            </a:r>
            <a:r>
              <a:rPr lang="en-IN" sz="2400" dirty="0"/>
              <a:t> security is </a:t>
            </a:r>
            <a:r>
              <a:rPr lang="en-IN" sz="2400" b="1" dirty="0"/>
              <a:t>severely weakened</a:t>
            </a:r>
            <a:r>
              <a:rPr lang="en-IN" sz="2400" dirty="0"/>
              <a:t>.</a:t>
            </a:r>
          </a:p>
          <a:p>
            <a:pPr marL="0" indent="0">
              <a:buNone/>
            </a:pPr>
            <a:endParaRPr lang="en-IN" sz="2400" dirty="0"/>
          </a:p>
          <a:p>
            <a:pPr marL="0" indent="0">
              <a:buNone/>
            </a:pPr>
            <a:r>
              <a:rPr lang="en-IN" sz="2400" b="1" dirty="0"/>
              <a:t>Countermeasures:</a:t>
            </a:r>
          </a:p>
          <a:p>
            <a:pPr marL="0" indent="0">
              <a:buNone/>
            </a:pPr>
            <a:r>
              <a:rPr lang="en-IN" sz="2400" dirty="0"/>
              <a:t>✅ </a:t>
            </a:r>
            <a:r>
              <a:rPr lang="en-IN" sz="2400" b="1" dirty="0"/>
              <a:t>Implement strong network monitoring</a:t>
            </a:r>
            <a:r>
              <a:rPr lang="en-IN" sz="2400" dirty="0"/>
              <a:t> – Detect unusual mining activity.</a:t>
            </a:r>
            <a:br>
              <a:rPr lang="en-IN" sz="2400" dirty="0"/>
            </a:br>
            <a:r>
              <a:rPr lang="en-IN" sz="2400" dirty="0"/>
              <a:t>✅ </a:t>
            </a:r>
            <a:r>
              <a:rPr lang="en-IN" sz="2400" b="1" dirty="0"/>
              <a:t>Economic incentives for honest mining</a:t>
            </a:r>
            <a:r>
              <a:rPr lang="en-IN" sz="2400" dirty="0"/>
              <a:t> – Ensure legitimate mining is more profitable than attacking the network.</a:t>
            </a:r>
            <a:br>
              <a:rPr lang="en-IN" sz="2400" dirty="0"/>
            </a:br>
            <a:r>
              <a:rPr lang="en-IN" sz="2400" dirty="0"/>
              <a:t>✅ </a:t>
            </a:r>
            <a:r>
              <a:rPr lang="en-IN" sz="2400" b="1" dirty="0"/>
              <a:t>Penalties for dishonest miners</a:t>
            </a:r>
            <a:r>
              <a:rPr lang="en-IN" sz="2400" dirty="0"/>
              <a:t> – </a:t>
            </a:r>
            <a:r>
              <a:rPr lang="en-IN" sz="2400" dirty="0" err="1"/>
              <a:t>Blockchain</a:t>
            </a:r>
            <a:r>
              <a:rPr lang="en-IN" sz="2400" dirty="0"/>
              <a:t> protocols could introduce mechanisms that penalize miners for suspicious activities.</a:t>
            </a:r>
          </a:p>
          <a:p>
            <a:pPr marL="50799" indent="0">
              <a:buClr>
                <a:srgbClr val="000000"/>
              </a:buClr>
              <a:buNone/>
            </a:pPr>
            <a:endParaRPr sz="2400" dirty="0">
              <a:solidFill>
                <a:srgbClr val="000000"/>
              </a:solidFill>
            </a:endParaRPr>
          </a:p>
        </p:txBody>
      </p:sp>
    </p:spTree>
    <p:extLst>
      <p:ext uri="{BB962C8B-B14F-4D97-AF65-F5344CB8AC3E}">
        <p14:creationId xmlns:p14="http://schemas.microsoft.com/office/powerpoint/2010/main" val="24061649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575"/>
        <p:cNvGrpSpPr/>
        <p:nvPr/>
      </p:nvGrpSpPr>
      <p:grpSpPr>
        <a:xfrm>
          <a:off x="0" y="0"/>
          <a:ext cx="0" cy="0"/>
          <a:chOff x="0" y="0"/>
          <a:chExt cx="0" cy="0"/>
        </a:xfrm>
      </p:grpSpPr>
      <p:sp>
        <p:nvSpPr>
          <p:cNvPr id="576" name="Google Shape;576;p66"/>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r>
              <a:rPr lang="en" sz="2800" b="1" dirty="0" smtClean="0"/>
              <a:t>3.Block-withholding attacks(</a:t>
            </a:r>
            <a:r>
              <a:rPr lang="en-IN" sz="2800" b="1" dirty="0" smtClean="0"/>
              <a:t>Selfish </a:t>
            </a:r>
            <a:r>
              <a:rPr lang="en-IN" sz="2800" b="1" dirty="0"/>
              <a:t>Mining )</a:t>
            </a:r>
            <a:r>
              <a:rPr lang="en" sz="2800" b="1" dirty="0"/>
              <a:t>:</a:t>
            </a:r>
            <a:br>
              <a:rPr lang="en" sz="2800" b="1" dirty="0"/>
            </a:br>
            <a:endParaRPr sz="2800" b="1" dirty="0"/>
          </a:p>
        </p:txBody>
      </p:sp>
      <p:sp>
        <p:nvSpPr>
          <p:cNvPr id="577" name="Google Shape;577;p66"/>
          <p:cNvSpPr/>
          <p:nvPr/>
        </p:nvSpPr>
        <p:spPr>
          <a:xfrm>
            <a:off x="1133229" y="3287052"/>
            <a:ext cx="3789600" cy="4132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endParaRPr sz="2400" b="1"/>
          </a:p>
        </p:txBody>
      </p:sp>
      <p:cxnSp>
        <p:nvCxnSpPr>
          <p:cNvPr id="578" name="Google Shape;578;p66"/>
          <p:cNvCxnSpPr>
            <a:stCxn id="579" idx="0"/>
            <a:endCxn id="577" idx="2"/>
          </p:cNvCxnSpPr>
          <p:nvPr/>
        </p:nvCxnSpPr>
        <p:spPr>
          <a:xfrm rot="10800000">
            <a:off x="3028029" y="3700080"/>
            <a:ext cx="0" cy="169200"/>
          </a:xfrm>
          <a:prstGeom prst="straightConnector1">
            <a:avLst/>
          </a:prstGeom>
          <a:noFill/>
          <a:ln w="19050" cap="flat" cmpd="sng">
            <a:solidFill>
              <a:schemeClr val="dk2"/>
            </a:solidFill>
            <a:prstDash val="solid"/>
            <a:round/>
            <a:headEnd type="none" w="med" len="med"/>
            <a:tailEnd type="none" w="med" len="med"/>
          </a:ln>
        </p:spPr>
      </p:cxnSp>
      <p:sp>
        <p:nvSpPr>
          <p:cNvPr id="579" name="Google Shape;579;p66"/>
          <p:cNvSpPr/>
          <p:nvPr/>
        </p:nvSpPr>
        <p:spPr>
          <a:xfrm>
            <a:off x="1133229" y="3869280"/>
            <a:ext cx="3789600" cy="4132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endParaRPr sz="2400" b="1"/>
          </a:p>
        </p:txBody>
      </p:sp>
      <p:sp>
        <p:nvSpPr>
          <p:cNvPr id="580" name="Google Shape;580;p66"/>
          <p:cNvSpPr txBox="1">
            <a:spLocks noGrp="1"/>
          </p:cNvSpPr>
          <p:nvPr>
            <p:ph type="body" idx="1"/>
          </p:nvPr>
        </p:nvSpPr>
        <p:spPr>
          <a:xfrm>
            <a:off x="609600" y="1328400"/>
            <a:ext cx="10972800" cy="1143200"/>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sz="2800" b="1" dirty="0">
                <a:solidFill>
                  <a:srgbClr val="000000"/>
                </a:solidFill>
              </a:rPr>
              <a:t>Strategy: don’t announce blocks right away. Try to get ahead!</a:t>
            </a:r>
            <a:endParaRPr sz="2800" dirty="0">
              <a:solidFill>
                <a:srgbClr val="000000"/>
              </a:solidFill>
            </a:endParaRPr>
          </a:p>
        </p:txBody>
      </p:sp>
      <p:cxnSp>
        <p:nvCxnSpPr>
          <p:cNvPr id="581" name="Google Shape;581;p66"/>
          <p:cNvCxnSpPr>
            <a:stCxn id="582" idx="1"/>
          </p:cNvCxnSpPr>
          <p:nvPr/>
        </p:nvCxnSpPr>
        <p:spPr>
          <a:xfrm rot="10800000">
            <a:off x="4922833" y="3458719"/>
            <a:ext cx="1830000" cy="0"/>
          </a:xfrm>
          <a:prstGeom prst="straightConnector1">
            <a:avLst/>
          </a:prstGeom>
          <a:noFill/>
          <a:ln w="19050" cap="flat" cmpd="sng">
            <a:solidFill>
              <a:schemeClr val="dk2"/>
            </a:solidFill>
            <a:prstDash val="solid"/>
            <a:round/>
            <a:headEnd type="none" w="med" len="med"/>
            <a:tailEnd type="triangle" w="med" len="med"/>
          </a:ln>
        </p:spPr>
      </p:cxnSp>
      <p:sp>
        <p:nvSpPr>
          <p:cNvPr id="582" name="Google Shape;582;p66"/>
          <p:cNvSpPr/>
          <p:nvPr/>
        </p:nvSpPr>
        <p:spPr>
          <a:xfrm>
            <a:off x="6752833" y="3252119"/>
            <a:ext cx="3789600" cy="413200"/>
          </a:xfrm>
          <a:prstGeom prst="rect">
            <a:avLst/>
          </a:prstGeom>
          <a:solidFill>
            <a:srgbClr val="D9EAD3"/>
          </a:solidFill>
          <a:ln w="19050" cap="flat" cmpd="sng">
            <a:solidFill>
              <a:srgbClr val="000000"/>
            </a:solidFill>
            <a:prstDash val="dot"/>
            <a:round/>
            <a:headEnd type="none" w="sm" len="sm"/>
            <a:tailEnd type="none" w="sm" len="sm"/>
          </a:ln>
        </p:spPr>
        <p:txBody>
          <a:bodyPr spcFirstLastPara="1" wrap="square" lIns="121900" tIns="121900" rIns="121900" bIns="121900" anchor="ctr" anchorCtr="0">
            <a:noAutofit/>
          </a:bodyPr>
          <a:lstStyle/>
          <a:p>
            <a:pPr algn="ctr"/>
            <a:r>
              <a:rPr lang="en" sz="2400"/>
              <a:t>Secret Block</a:t>
            </a:r>
            <a:endParaRPr sz="2400"/>
          </a:p>
        </p:txBody>
      </p:sp>
      <p:sp>
        <p:nvSpPr>
          <p:cNvPr id="583" name="Google Shape;583;p66"/>
          <p:cNvSpPr/>
          <p:nvPr/>
        </p:nvSpPr>
        <p:spPr>
          <a:xfrm>
            <a:off x="6752833" y="3904203"/>
            <a:ext cx="3789600" cy="413200"/>
          </a:xfrm>
          <a:prstGeom prst="rect">
            <a:avLst/>
          </a:prstGeom>
          <a:solidFill>
            <a:srgbClr val="D9EAD3"/>
          </a:solidFill>
          <a:ln w="19050" cap="flat" cmpd="sng">
            <a:solidFill>
              <a:srgbClr val="000000"/>
            </a:solidFill>
            <a:prstDash val="dot"/>
            <a:round/>
            <a:headEnd type="none" w="sm" len="sm"/>
            <a:tailEnd type="none" w="sm" len="sm"/>
          </a:ln>
        </p:spPr>
        <p:txBody>
          <a:bodyPr spcFirstLastPara="1" wrap="square" lIns="121900" tIns="121900" rIns="121900" bIns="121900" anchor="ctr" anchorCtr="0">
            <a:noAutofit/>
          </a:bodyPr>
          <a:lstStyle/>
          <a:p>
            <a:pPr algn="ctr"/>
            <a:r>
              <a:rPr lang="en" sz="2400"/>
              <a:t>Secret Block</a:t>
            </a:r>
            <a:endParaRPr sz="2400"/>
          </a:p>
        </p:txBody>
      </p:sp>
      <p:cxnSp>
        <p:nvCxnSpPr>
          <p:cNvPr id="584" name="Google Shape;584;p66"/>
          <p:cNvCxnSpPr/>
          <p:nvPr/>
        </p:nvCxnSpPr>
        <p:spPr>
          <a:xfrm rot="10800000">
            <a:off x="8502863" y="3700163"/>
            <a:ext cx="0" cy="169200"/>
          </a:xfrm>
          <a:prstGeom prst="straightConnector1">
            <a:avLst/>
          </a:prstGeom>
          <a:noFill/>
          <a:ln w="19050" cap="flat" cmpd="sng">
            <a:solidFill>
              <a:schemeClr val="dk2"/>
            </a:solidFill>
            <a:prstDash val="solid"/>
            <a:round/>
            <a:headEnd type="none" w="med" len="med"/>
            <a:tailEnd type="none" w="med" len="med"/>
          </a:ln>
        </p:spPr>
      </p:cxnSp>
      <p:sp>
        <p:nvSpPr>
          <p:cNvPr id="585" name="Google Shape;585;p66"/>
          <p:cNvSpPr/>
          <p:nvPr/>
        </p:nvSpPr>
        <p:spPr>
          <a:xfrm>
            <a:off x="6752845" y="3904203"/>
            <a:ext cx="3789600" cy="4132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endParaRPr sz="2400" b="1"/>
          </a:p>
        </p:txBody>
      </p:sp>
      <p:sp>
        <p:nvSpPr>
          <p:cNvPr id="586" name="Google Shape;586;p66"/>
          <p:cNvSpPr/>
          <p:nvPr/>
        </p:nvSpPr>
        <p:spPr>
          <a:xfrm>
            <a:off x="6752845" y="3252103"/>
            <a:ext cx="3789600" cy="4132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endParaRPr sz="2400" b="1"/>
          </a:p>
        </p:txBody>
      </p:sp>
      <p:sp>
        <p:nvSpPr>
          <p:cNvPr id="587" name="Google Shape;587;p66"/>
          <p:cNvSpPr/>
          <p:nvPr/>
        </p:nvSpPr>
        <p:spPr>
          <a:xfrm>
            <a:off x="1133229" y="2718669"/>
            <a:ext cx="3789600" cy="4132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endParaRPr sz="2400" b="1"/>
          </a:p>
        </p:txBody>
      </p:sp>
      <p:cxnSp>
        <p:nvCxnSpPr>
          <p:cNvPr id="588" name="Google Shape;588;p66"/>
          <p:cNvCxnSpPr/>
          <p:nvPr/>
        </p:nvCxnSpPr>
        <p:spPr>
          <a:xfrm rot="10800000">
            <a:off x="7086600" y="838200"/>
            <a:ext cx="0" cy="169200"/>
          </a:xfrm>
          <a:prstGeom prst="straightConnector1">
            <a:avLst/>
          </a:prstGeom>
          <a:noFill/>
          <a:ln w="19050" cap="flat" cmpd="sng">
            <a:solidFill>
              <a:schemeClr val="dk2"/>
            </a:solidFill>
            <a:prstDash val="solid"/>
            <a:round/>
            <a:headEnd type="none" w="med" len="med"/>
            <a:tailEnd type="none" w="med" len="med"/>
          </a:ln>
        </p:spPr>
      </p:cxnSp>
      <p:sp>
        <p:nvSpPr>
          <p:cNvPr id="589" name="Google Shape;589;p66"/>
          <p:cNvSpPr/>
          <p:nvPr/>
        </p:nvSpPr>
        <p:spPr>
          <a:xfrm>
            <a:off x="1144696" y="2142652"/>
            <a:ext cx="3789600" cy="4132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endParaRPr sz="2400" b="1"/>
          </a:p>
        </p:txBody>
      </p:sp>
      <p:cxnSp>
        <p:nvCxnSpPr>
          <p:cNvPr id="590" name="Google Shape;590;p66"/>
          <p:cNvCxnSpPr>
            <a:endCxn id="589" idx="2"/>
          </p:cNvCxnSpPr>
          <p:nvPr/>
        </p:nvCxnSpPr>
        <p:spPr>
          <a:xfrm rot="10800000">
            <a:off x="3039496" y="2555852"/>
            <a:ext cx="0" cy="169200"/>
          </a:xfrm>
          <a:prstGeom prst="straightConnector1">
            <a:avLst/>
          </a:prstGeom>
          <a:noFill/>
          <a:ln w="19050" cap="flat" cmpd="sng">
            <a:solidFill>
              <a:schemeClr val="dk2"/>
            </a:solidFill>
            <a:prstDash val="solid"/>
            <a:round/>
            <a:headEnd type="none" w="med" len="med"/>
            <a:tailEnd type="none" w="med" len="med"/>
          </a:ln>
        </p:spPr>
      </p:cxnSp>
      <p:cxnSp>
        <p:nvCxnSpPr>
          <p:cNvPr id="591" name="Google Shape;591;p66"/>
          <p:cNvCxnSpPr/>
          <p:nvPr/>
        </p:nvCxnSpPr>
        <p:spPr>
          <a:xfrm rot="10800000" flipH="1">
            <a:off x="2469833" y="3855467"/>
            <a:ext cx="30400" cy="1393200"/>
          </a:xfrm>
          <a:prstGeom prst="straightConnector1">
            <a:avLst/>
          </a:prstGeom>
          <a:noFill/>
          <a:ln w="19050" cap="flat" cmpd="sng">
            <a:solidFill>
              <a:schemeClr val="dk2"/>
            </a:solidFill>
            <a:prstDash val="solid"/>
            <a:round/>
            <a:headEnd type="none" w="med" len="med"/>
            <a:tailEnd type="triangle" w="med" len="med"/>
          </a:ln>
        </p:spPr>
      </p:cxnSp>
      <p:sp>
        <p:nvSpPr>
          <p:cNvPr id="592" name="Google Shape;592;p66"/>
          <p:cNvSpPr txBox="1"/>
          <p:nvPr/>
        </p:nvSpPr>
        <p:spPr>
          <a:xfrm>
            <a:off x="1351300" y="5195167"/>
            <a:ext cx="2725200" cy="722000"/>
          </a:xfrm>
          <a:prstGeom prst="rect">
            <a:avLst/>
          </a:prstGeom>
          <a:noFill/>
          <a:ln>
            <a:noFill/>
          </a:ln>
        </p:spPr>
        <p:txBody>
          <a:bodyPr spcFirstLastPara="1" wrap="square" lIns="121900" tIns="121900" rIns="121900" bIns="121900" anchor="t" anchorCtr="0">
            <a:noAutofit/>
          </a:bodyPr>
          <a:lstStyle/>
          <a:p>
            <a:r>
              <a:rPr lang="en" sz="2400">
                <a:latin typeface="Trebuchet MS"/>
                <a:ea typeface="Trebuchet MS"/>
                <a:cs typeface="Trebuchet MS"/>
                <a:sym typeface="Trebuchet MS"/>
              </a:rPr>
              <a:t>All other miners are wasting effort here!</a:t>
            </a:r>
            <a:endParaRPr sz="2400">
              <a:latin typeface="Trebuchet MS"/>
              <a:ea typeface="Trebuchet MS"/>
              <a:cs typeface="Trebuchet MS"/>
              <a:sym typeface="Trebuchet MS"/>
            </a:endParaRPr>
          </a:p>
        </p:txBody>
      </p:sp>
      <p:sp>
        <p:nvSpPr>
          <p:cNvPr id="593" name="Google Shape;593;p66"/>
          <p:cNvSpPr/>
          <p:nvPr/>
        </p:nvSpPr>
        <p:spPr>
          <a:xfrm>
            <a:off x="1133245" y="3855469"/>
            <a:ext cx="3789600" cy="413200"/>
          </a:xfrm>
          <a:prstGeom prst="rect">
            <a:avLst/>
          </a:prstGeom>
          <a:solidFill>
            <a:srgbClr val="EA9999"/>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endParaRPr sz="2400" b="1"/>
          </a:p>
        </p:txBody>
      </p:sp>
      <p:sp>
        <p:nvSpPr>
          <p:cNvPr id="594" name="Google Shape;594;p66"/>
          <p:cNvSpPr/>
          <p:nvPr/>
        </p:nvSpPr>
        <p:spPr>
          <a:xfrm>
            <a:off x="7398600" y="1572200"/>
            <a:ext cx="4614000" cy="1053600"/>
          </a:xfrm>
          <a:prstGeom prst="wedgeEllipseCallout">
            <a:avLst>
              <a:gd name="adj1" fmla="val -91209"/>
              <a:gd name="adj2" fmla="val -66420"/>
            </a:avLst>
          </a:prstGeom>
          <a:solidFill>
            <a:srgbClr val="FFFF00"/>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3200">
                <a:latin typeface="Trebuchet MS"/>
                <a:ea typeface="Trebuchet MS"/>
                <a:cs typeface="Trebuchet MS"/>
                <a:sym typeface="Trebuchet MS"/>
              </a:rPr>
              <a:t>“Selfish mining”</a:t>
            </a:r>
            <a:endParaRPr sz="3200">
              <a:latin typeface="Trebuchet MS"/>
              <a:ea typeface="Trebuchet MS"/>
              <a:cs typeface="Trebuchet MS"/>
              <a:sym typeface="Trebuchet MS"/>
            </a:endParaRPr>
          </a:p>
        </p:txBody>
      </p:sp>
      <p:sp>
        <p:nvSpPr>
          <p:cNvPr id="2" name="Rectangle 1"/>
          <p:cNvSpPr/>
          <p:nvPr/>
        </p:nvSpPr>
        <p:spPr>
          <a:xfrm>
            <a:off x="5410200" y="2590800"/>
            <a:ext cx="6096000" cy="646331"/>
          </a:xfrm>
          <a:prstGeom prst="rect">
            <a:avLst/>
          </a:prstGeom>
        </p:spPr>
        <p:txBody>
          <a:bodyPr>
            <a:spAutoFit/>
          </a:bodyPr>
          <a:lstStyle/>
          <a:p>
            <a:r>
              <a:rPr lang="en-IN" dirty="0"/>
              <a:t>Why would it be possible to gain in </a:t>
            </a:r>
            <a:r>
              <a:rPr lang="en-IN" dirty="0" err="1"/>
              <a:t>mantaining</a:t>
            </a:r>
            <a:r>
              <a:rPr lang="en-IN" dirty="0"/>
              <a:t> some block secret?</a:t>
            </a:r>
          </a:p>
        </p:txBody>
      </p:sp>
    </p:spTree>
    <p:extLst>
      <p:ext uri="{BB962C8B-B14F-4D97-AF65-F5344CB8AC3E}">
        <p14:creationId xmlns:p14="http://schemas.microsoft.com/office/powerpoint/2010/main" val="14010463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1"/>
                                        </p:tgtEl>
                                        <p:attrNameLst>
                                          <p:attrName>style.visibility</p:attrName>
                                        </p:attrNameLst>
                                      </p:cBhvr>
                                      <p:to>
                                        <p:strVal val="visible"/>
                                      </p:to>
                                    </p:set>
                                    <p:animEffect transition="in" filter="fade">
                                      <p:cBhvr>
                                        <p:cTn id="7" dur="1000"/>
                                        <p:tgtEl>
                                          <p:spTgt spid="581"/>
                                        </p:tgtEl>
                                      </p:cBhvr>
                                    </p:animEffect>
                                  </p:childTnLst>
                                </p:cTn>
                              </p:par>
                              <p:par>
                                <p:cTn id="8" presetID="10" presetClass="entr" presetSubtype="0" fill="hold" nodeType="withEffect">
                                  <p:stCondLst>
                                    <p:cond delay="0"/>
                                  </p:stCondLst>
                                  <p:childTnLst>
                                    <p:set>
                                      <p:cBhvr>
                                        <p:cTn id="9" dur="1" fill="hold">
                                          <p:stCondLst>
                                            <p:cond delay="0"/>
                                          </p:stCondLst>
                                        </p:cTn>
                                        <p:tgtEl>
                                          <p:spTgt spid="582"/>
                                        </p:tgtEl>
                                        <p:attrNameLst>
                                          <p:attrName>style.visibility</p:attrName>
                                        </p:attrNameLst>
                                      </p:cBhvr>
                                      <p:to>
                                        <p:strVal val="visible"/>
                                      </p:to>
                                    </p:set>
                                    <p:animEffect transition="in" filter="fade">
                                      <p:cBhvr>
                                        <p:cTn id="10" dur="1000"/>
                                        <p:tgtEl>
                                          <p:spTgt spid="582"/>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583"/>
                                        </p:tgtEl>
                                        <p:attrNameLst>
                                          <p:attrName>style.visibility</p:attrName>
                                        </p:attrNameLst>
                                      </p:cBhvr>
                                      <p:to>
                                        <p:strVal val="visible"/>
                                      </p:to>
                                    </p:set>
                                    <p:animEffect transition="in" filter="fade">
                                      <p:cBhvr>
                                        <p:cTn id="14" dur="1000"/>
                                        <p:tgtEl>
                                          <p:spTgt spid="583"/>
                                        </p:tgtEl>
                                      </p:cBhvr>
                                    </p:animEffect>
                                  </p:childTnLst>
                                </p:cTn>
                              </p:par>
                              <p:par>
                                <p:cTn id="15" presetID="10" presetClass="entr" presetSubtype="0" fill="hold" nodeType="withEffect">
                                  <p:stCondLst>
                                    <p:cond delay="0"/>
                                  </p:stCondLst>
                                  <p:childTnLst>
                                    <p:set>
                                      <p:cBhvr>
                                        <p:cTn id="16" dur="1" fill="hold">
                                          <p:stCondLst>
                                            <p:cond delay="0"/>
                                          </p:stCondLst>
                                        </p:cTn>
                                        <p:tgtEl>
                                          <p:spTgt spid="584"/>
                                        </p:tgtEl>
                                        <p:attrNameLst>
                                          <p:attrName>style.visibility</p:attrName>
                                        </p:attrNameLst>
                                      </p:cBhvr>
                                      <p:to>
                                        <p:strVal val="visible"/>
                                      </p:to>
                                    </p:set>
                                    <p:animEffect transition="in" filter="fade">
                                      <p:cBhvr>
                                        <p:cTn id="17" dur="1000"/>
                                        <p:tgtEl>
                                          <p:spTgt spid="58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92"/>
                                        </p:tgtEl>
                                        <p:attrNameLst>
                                          <p:attrName>style.visibility</p:attrName>
                                        </p:attrNameLst>
                                      </p:cBhvr>
                                      <p:to>
                                        <p:strVal val="visible"/>
                                      </p:to>
                                    </p:set>
                                    <p:animEffect transition="in" filter="fade">
                                      <p:cBhvr>
                                        <p:cTn id="22" dur="1000"/>
                                        <p:tgtEl>
                                          <p:spTgt spid="592"/>
                                        </p:tgtEl>
                                      </p:cBhvr>
                                    </p:animEffect>
                                  </p:childTnLst>
                                </p:cTn>
                              </p:par>
                              <p:par>
                                <p:cTn id="23" presetID="10" presetClass="entr" presetSubtype="0" fill="hold" nodeType="withEffect">
                                  <p:stCondLst>
                                    <p:cond delay="0"/>
                                  </p:stCondLst>
                                  <p:childTnLst>
                                    <p:set>
                                      <p:cBhvr>
                                        <p:cTn id="24" dur="1" fill="hold">
                                          <p:stCondLst>
                                            <p:cond delay="0"/>
                                          </p:stCondLst>
                                        </p:cTn>
                                        <p:tgtEl>
                                          <p:spTgt spid="591"/>
                                        </p:tgtEl>
                                        <p:attrNameLst>
                                          <p:attrName>style.visibility</p:attrName>
                                        </p:attrNameLst>
                                      </p:cBhvr>
                                      <p:to>
                                        <p:strVal val="visible"/>
                                      </p:to>
                                    </p:set>
                                    <p:animEffect transition="in" filter="fade">
                                      <p:cBhvr>
                                        <p:cTn id="25" dur="1000"/>
                                        <p:tgtEl>
                                          <p:spTgt spid="59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1000"/>
                                        <p:tgtEl>
                                          <p:spTgt spid="592"/>
                                        </p:tgtEl>
                                      </p:cBhvr>
                                    </p:animEffect>
                                    <p:set>
                                      <p:cBhvr>
                                        <p:cTn id="30" dur="1" fill="hold">
                                          <p:stCondLst>
                                            <p:cond delay="1000"/>
                                          </p:stCondLst>
                                        </p:cTn>
                                        <p:tgtEl>
                                          <p:spTgt spid="592"/>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1000"/>
                                        <p:tgtEl>
                                          <p:spTgt spid="591"/>
                                        </p:tgtEl>
                                      </p:cBhvr>
                                    </p:animEffect>
                                    <p:set>
                                      <p:cBhvr>
                                        <p:cTn id="33" dur="1" fill="hold">
                                          <p:stCondLst>
                                            <p:cond delay="1000"/>
                                          </p:stCondLst>
                                        </p:cTn>
                                        <p:tgtEl>
                                          <p:spTgt spid="591"/>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79"/>
                                        </p:tgtEl>
                                        <p:attrNameLst>
                                          <p:attrName>style.visibility</p:attrName>
                                        </p:attrNameLst>
                                      </p:cBhvr>
                                      <p:to>
                                        <p:strVal val="visible"/>
                                      </p:to>
                                    </p:set>
                                    <p:animEffect transition="in" filter="fade">
                                      <p:cBhvr>
                                        <p:cTn id="38" dur="1000"/>
                                        <p:tgtEl>
                                          <p:spTgt spid="579"/>
                                        </p:tgtEl>
                                      </p:cBhvr>
                                    </p:animEffect>
                                  </p:childTnLst>
                                </p:cTn>
                              </p:par>
                              <p:par>
                                <p:cTn id="39" presetID="10" presetClass="entr" presetSubtype="0" fill="hold" nodeType="withEffect">
                                  <p:stCondLst>
                                    <p:cond delay="0"/>
                                  </p:stCondLst>
                                  <p:childTnLst>
                                    <p:set>
                                      <p:cBhvr>
                                        <p:cTn id="40" dur="1" fill="hold">
                                          <p:stCondLst>
                                            <p:cond delay="0"/>
                                          </p:stCondLst>
                                        </p:cTn>
                                        <p:tgtEl>
                                          <p:spTgt spid="578"/>
                                        </p:tgtEl>
                                        <p:attrNameLst>
                                          <p:attrName>style.visibility</p:attrName>
                                        </p:attrNameLst>
                                      </p:cBhvr>
                                      <p:to>
                                        <p:strVal val="visible"/>
                                      </p:to>
                                    </p:set>
                                    <p:animEffect transition="in" filter="fade">
                                      <p:cBhvr>
                                        <p:cTn id="41" dur="1000"/>
                                        <p:tgtEl>
                                          <p:spTgt spid="57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85"/>
                                        </p:tgtEl>
                                        <p:attrNameLst>
                                          <p:attrName>style.visibility</p:attrName>
                                        </p:attrNameLst>
                                      </p:cBhvr>
                                      <p:to>
                                        <p:strVal val="visible"/>
                                      </p:to>
                                    </p:set>
                                    <p:animEffect transition="in" filter="fade">
                                      <p:cBhvr>
                                        <p:cTn id="46" dur="1000"/>
                                        <p:tgtEl>
                                          <p:spTgt spid="585"/>
                                        </p:tgtEl>
                                      </p:cBhvr>
                                    </p:animEffect>
                                  </p:childTnLst>
                                </p:cTn>
                              </p:par>
                              <p:par>
                                <p:cTn id="47" presetID="10" presetClass="entr" presetSubtype="0" fill="hold" nodeType="withEffect">
                                  <p:stCondLst>
                                    <p:cond delay="0"/>
                                  </p:stCondLst>
                                  <p:childTnLst>
                                    <p:set>
                                      <p:cBhvr>
                                        <p:cTn id="48" dur="1" fill="hold">
                                          <p:stCondLst>
                                            <p:cond delay="0"/>
                                          </p:stCondLst>
                                        </p:cTn>
                                        <p:tgtEl>
                                          <p:spTgt spid="586"/>
                                        </p:tgtEl>
                                        <p:attrNameLst>
                                          <p:attrName>style.visibility</p:attrName>
                                        </p:attrNameLst>
                                      </p:cBhvr>
                                      <p:to>
                                        <p:strVal val="visible"/>
                                      </p:to>
                                    </p:set>
                                    <p:animEffect transition="in" filter="fade">
                                      <p:cBhvr>
                                        <p:cTn id="49" dur="1000"/>
                                        <p:tgtEl>
                                          <p:spTgt spid="586"/>
                                        </p:tgtEl>
                                      </p:cBhvr>
                                    </p:animEffect>
                                  </p:childTnLst>
                                </p:cTn>
                              </p:par>
                            </p:childTnLst>
                          </p:cTn>
                        </p:par>
                        <p:par>
                          <p:cTn id="50" fill="hold">
                            <p:stCondLst>
                              <p:cond delay="1000"/>
                            </p:stCondLst>
                            <p:childTnLst>
                              <p:par>
                                <p:cTn id="51" presetID="10" presetClass="entr" presetSubtype="0" fill="hold" nodeType="afterEffect">
                                  <p:stCondLst>
                                    <p:cond delay="0"/>
                                  </p:stCondLst>
                                  <p:childTnLst>
                                    <p:set>
                                      <p:cBhvr>
                                        <p:cTn id="52" dur="1" fill="hold">
                                          <p:stCondLst>
                                            <p:cond delay="0"/>
                                          </p:stCondLst>
                                        </p:cTn>
                                        <p:tgtEl>
                                          <p:spTgt spid="593"/>
                                        </p:tgtEl>
                                        <p:attrNameLst>
                                          <p:attrName>style.visibility</p:attrName>
                                        </p:attrNameLst>
                                      </p:cBhvr>
                                      <p:to>
                                        <p:strVal val="visible"/>
                                      </p:to>
                                    </p:set>
                                    <p:animEffect transition="in" filter="fade">
                                      <p:cBhvr>
                                        <p:cTn id="53" dur="1000"/>
                                        <p:tgtEl>
                                          <p:spTgt spid="59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594"/>
                                        </p:tgtEl>
                                        <p:attrNameLst>
                                          <p:attrName>style.visibility</p:attrName>
                                        </p:attrNameLst>
                                      </p:cBhvr>
                                      <p:to>
                                        <p:strVal val="visible"/>
                                      </p:to>
                                    </p:set>
                                    <p:animEffect transition="in" filter="fade">
                                      <p:cBhvr>
                                        <p:cTn id="58" dur="1000"/>
                                        <p:tgtEl>
                                          <p:spTgt spid="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a:xfrm>
            <a:off x="609600" y="304801"/>
            <a:ext cx="10972800" cy="6262976"/>
          </a:xfrm>
        </p:spPr>
        <p:txBody>
          <a:bodyPr/>
          <a:lstStyle/>
          <a:p>
            <a:pPr marL="50799" indent="0">
              <a:buNone/>
            </a:pPr>
            <a:r>
              <a:rPr lang="en-IN" b="1" dirty="0" smtClean="0">
                <a:solidFill>
                  <a:srgbClr val="000000"/>
                </a:solidFill>
              </a:rPr>
              <a:t>Strategy</a:t>
            </a:r>
            <a:r>
              <a:rPr lang="en-IN" b="1" dirty="0">
                <a:solidFill>
                  <a:srgbClr val="000000"/>
                </a:solidFill>
              </a:rPr>
              <a:t>: don’t announce blocks right away. Try to get ahead</a:t>
            </a:r>
            <a:r>
              <a:rPr lang="en-IN" b="1" dirty="0" smtClean="0">
                <a:solidFill>
                  <a:srgbClr val="000000"/>
                </a:solidFill>
              </a:rPr>
              <a:t>!</a:t>
            </a:r>
          </a:p>
          <a:p>
            <a:pPr marL="50799" indent="0">
              <a:buNone/>
            </a:pPr>
            <a:r>
              <a:rPr lang="en-IN" b="1" dirty="0">
                <a:solidFill>
                  <a:srgbClr val="000000"/>
                </a:solidFill>
              </a:rPr>
              <a:t> </a:t>
            </a:r>
            <a:r>
              <a:rPr lang="en-IN" b="1" dirty="0" smtClean="0">
                <a:solidFill>
                  <a:srgbClr val="000000"/>
                </a:solidFill>
              </a:rPr>
              <a:t>   -- </a:t>
            </a:r>
            <a:r>
              <a:rPr lang="en-IN" dirty="0" smtClean="0"/>
              <a:t>This </a:t>
            </a:r>
            <a:r>
              <a:rPr lang="en-IN" dirty="0"/>
              <a:t>attack can undermine the trust and stability of the </a:t>
            </a:r>
            <a:r>
              <a:rPr lang="en-IN" dirty="0" err="1"/>
              <a:t>blockchain</a:t>
            </a:r>
            <a:r>
              <a:rPr lang="en-IN" dirty="0"/>
              <a:t> </a:t>
            </a:r>
            <a:r>
              <a:rPr lang="en-IN" dirty="0" smtClean="0"/>
              <a:t>system</a:t>
            </a:r>
          </a:p>
          <a:p>
            <a:pPr marL="50799" indent="0">
              <a:buNone/>
            </a:pPr>
            <a:r>
              <a:rPr lang="en-IN" b="1" dirty="0"/>
              <a:t>How a Block Withholding Attack Works:</a:t>
            </a:r>
          </a:p>
          <a:p>
            <a:pPr marL="50799" indent="0">
              <a:buNone/>
            </a:pPr>
            <a:r>
              <a:rPr lang="en-IN" b="1" dirty="0" smtClean="0"/>
              <a:t>             --Mining </a:t>
            </a:r>
            <a:r>
              <a:rPr lang="en-IN" b="1" dirty="0"/>
              <a:t>a Valid Block</a:t>
            </a:r>
            <a:r>
              <a:rPr lang="en-IN" dirty="0"/>
              <a:t>: A malicious miner (or pool member) mines a valid block but does not immediately broadcast it to the </a:t>
            </a:r>
            <a:r>
              <a:rPr lang="en-IN" dirty="0" err="1"/>
              <a:t>blockchain</a:t>
            </a:r>
            <a:r>
              <a:rPr lang="en-IN" dirty="0"/>
              <a:t> network.</a:t>
            </a:r>
          </a:p>
          <a:p>
            <a:pPr marL="50799" indent="0">
              <a:buNone/>
            </a:pPr>
            <a:r>
              <a:rPr lang="en-IN" b="1" dirty="0" smtClean="0"/>
              <a:t>             --Withholding </a:t>
            </a:r>
            <a:r>
              <a:rPr lang="en-IN" b="1" dirty="0"/>
              <a:t>the Block</a:t>
            </a:r>
            <a:r>
              <a:rPr lang="en-IN" dirty="0"/>
              <a:t>: Instead of broadcasting the valid block, the miner keeps it hidden. This prevents the block from being added to the </a:t>
            </a:r>
            <a:r>
              <a:rPr lang="en-IN" dirty="0" err="1"/>
              <a:t>blockchain</a:t>
            </a:r>
            <a:r>
              <a:rPr lang="en-IN" dirty="0"/>
              <a:t>, and other miners continue to work on the previous block</a:t>
            </a:r>
            <a:r>
              <a:rPr lang="en-IN" dirty="0" smtClean="0"/>
              <a:t>.</a:t>
            </a:r>
            <a:endParaRPr lang="en-IN" dirty="0"/>
          </a:p>
        </p:txBody>
      </p:sp>
    </p:spTree>
    <p:extLst>
      <p:ext uri="{BB962C8B-B14F-4D97-AF65-F5344CB8AC3E}">
        <p14:creationId xmlns:p14="http://schemas.microsoft.com/office/powerpoint/2010/main" val="29701717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b="1" dirty="0"/>
              <a:t>Purpose</a:t>
            </a:r>
            <a:r>
              <a:rPr lang="en-IN" dirty="0"/>
              <a:t>:</a:t>
            </a:r>
          </a:p>
          <a:p>
            <a:pPr marL="711183" lvl="1" indent="0" algn="just">
              <a:buNone/>
            </a:pPr>
            <a:r>
              <a:rPr lang="en-IN" b="1" dirty="0"/>
              <a:t>    </a:t>
            </a:r>
            <a:r>
              <a:rPr lang="en-IN" sz="2800" b="1" dirty="0"/>
              <a:t>-Sabotage</a:t>
            </a:r>
            <a:r>
              <a:rPr lang="en-IN" sz="2800" dirty="0"/>
              <a:t>: In a mining pool, a dishonest miner may attempt to sabotage the pool by withholding blocks, reducing the overall earnings of the pool.</a:t>
            </a:r>
          </a:p>
          <a:p>
            <a:pPr marL="711183" lvl="1" indent="0" algn="just">
              <a:buNone/>
            </a:pPr>
            <a:r>
              <a:rPr lang="en-IN" sz="2800" b="1" dirty="0" smtClean="0"/>
              <a:t>    --Self-Gain</a:t>
            </a:r>
            <a:r>
              <a:rPr lang="en-IN" sz="2800" dirty="0"/>
              <a:t>: In some scenarios, the attacker could attempt to create a situation where their hidden block could later be revealed at an opportune moment, allowing them to overtake the current chain (creating a </a:t>
            </a:r>
            <a:r>
              <a:rPr lang="en-IN" sz="2800" b="1" dirty="0"/>
              <a:t>fork</a:t>
            </a:r>
            <a:r>
              <a:rPr lang="en-IN" sz="2800" dirty="0"/>
              <a:t> or reorganization).</a:t>
            </a:r>
          </a:p>
          <a:p>
            <a:pPr marL="50799" indent="0" algn="just">
              <a:buNone/>
            </a:pPr>
            <a:endParaRPr lang="en-IN" dirty="0">
              <a:solidFill>
                <a:srgbClr val="000000"/>
              </a:solidFill>
            </a:endParaRPr>
          </a:p>
          <a:p>
            <a:pPr marL="50799" indent="0" algn="just">
              <a:buNone/>
            </a:pPr>
            <a:endParaRPr lang="en-IN" dirty="0"/>
          </a:p>
          <a:p>
            <a:pPr marL="50799" indent="0">
              <a:buNone/>
            </a:pPr>
            <a:endParaRPr lang="en-IN" dirty="0"/>
          </a:p>
        </p:txBody>
      </p:sp>
    </p:spTree>
    <p:extLst>
      <p:ext uri="{BB962C8B-B14F-4D97-AF65-F5344CB8AC3E}">
        <p14:creationId xmlns:p14="http://schemas.microsoft.com/office/powerpoint/2010/main" val="7734322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381001"/>
            <a:ext cx="10972800" cy="6186776"/>
          </a:xfrm>
        </p:spPr>
        <p:txBody>
          <a:bodyPr/>
          <a:lstStyle/>
          <a:p>
            <a:pPr marL="50799" indent="0">
              <a:buNone/>
            </a:pPr>
            <a:r>
              <a:rPr lang="en-IN" b="1" dirty="0"/>
              <a:t>Consequences of a Block Withholding Attack:</a:t>
            </a:r>
          </a:p>
          <a:p>
            <a:pPr marL="50799" indent="0">
              <a:buNone/>
            </a:pPr>
            <a:r>
              <a:rPr lang="en-IN" b="1" dirty="0" smtClean="0"/>
              <a:t>          -- Wasted </a:t>
            </a:r>
            <a:r>
              <a:rPr lang="en-IN" b="1" dirty="0"/>
              <a:t>Resources</a:t>
            </a:r>
            <a:r>
              <a:rPr lang="en-IN" dirty="0"/>
              <a:t>: Honest miners waste computational power working on an outdated chain.</a:t>
            </a:r>
          </a:p>
          <a:p>
            <a:pPr marL="50799" indent="0" algn="just">
              <a:buNone/>
            </a:pPr>
            <a:r>
              <a:rPr lang="en-IN" b="1" dirty="0" smtClean="0"/>
              <a:t>           -- Reduced Pool Efficiency</a:t>
            </a:r>
            <a:r>
              <a:rPr lang="en-IN" dirty="0" smtClean="0"/>
              <a:t>: In the case of a pool, the overall efficiency of the pool is reduced, as fewer valid blocks are found and broadcast to the network.</a:t>
            </a:r>
          </a:p>
          <a:p>
            <a:pPr marL="50799" indent="0" algn="just">
              <a:buNone/>
            </a:pPr>
            <a:r>
              <a:rPr lang="en-IN" b="1" dirty="0" smtClean="0"/>
              <a:t>             ---  Centralization Risk</a:t>
            </a:r>
            <a:r>
              <a:rPr lang="en-IN" dirty="0" smtClean="0"/>
              <a:t>: Prolonged or large-scale attacks can lead to centralization, as smaller or vulnerable pools may be forced to merge with larger ones.</a:t>
            </a:r>
          </a:p>
          <a:p>
            <a:pPr marL="50799" indent="0" algn="just">
              <a:buNone/>
            </a:pPr>
            <a:r>
              <a:rPr lang="en-IN" b="1" dirty="0" smtClean="0"/>
              <a:t>            --- Network </a:t>
            </a:r>
            <a:r>
              <a:rPr lang="en-IN" b="1" dirty="0"/>
              <a:t>Instability</a:t>
            </a:r>
            <a:r>
              <a:rPr lang="en-IN" dirty="0"/>
              <a:t>: If block withholding is used in combination with other attacks, such as selfish mining, it could lead to network instability, chain reorganization, and even temporary forks in the </a:t>
            </a:r>
            <a:r>
              <a:rPr lang="en-IN" dirty="0" err="1"/>
              <a:t>blockchain</a:t>
            </a:r>
            <a:r>
              <a:rPr lang="en-IN" dirty="0"/>
              <a:t>.</a:t>
            </a:r>
          </a:p>
          <a:p>
            <a:pPr marL="50799" indent="0">
              <a:buNone/>
            </a:pPr>
            <a:endParaRPr lang="en-IN" dirty="0"/>
          </a:p>
        </p:txBody>
      </p:sp>
    </p:spTree>
    <p:extLst>
      <p:ext uri="{BB962C8B-B14F-4D97-AF65-F5344CB8AC3E}">
        <p14:creationId xmlns:p14="http://schemas.microsoft.com/office/powerpoint/2010/main" val="11932326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04800"/>
            <a:ext cx="10515600" cy="5872163"/>
          </a:xfrm>
        </p:spPr>
        <p:txBody>
          <a:bodyPr>
            <a:normAutofit fontScale="77500" lnSpcReduction="20000"/>
          </a:bodyPr>
          <a:lstStyle/>
          <a:p>
            <a:pPr marL="0" indent="0">
              <a:buNone/>
            </a:pPr>
            <a:r>
              <a:rPr lang="en-IN" dirty="0"/>
              <a:t>4</a:t>
            </a:r>
            <a:r>
              <a:rPr lang="en-IN" b="1" dirty="0"/>
              <a:t>. Punitive Forking (Blacklisting Transactions</a:t>
            </a:r>
            <a:r>
              <a:rPr lang="en-IN" b="1" dirty="0" smtClean="0"/>
              <a:t>)</a:t>
            </a:r>
          </a:p>
          <a:p>
            <a:pPr marL="0" indent="0">
              <a:buNone/>
            </a:pPr>
            <a:r>
              <a:rPr lang="en-IN" sz="2600" b="1" dirty="0"/>
              <a:t>How It Works:</a:t>
            </a:r>
          </a:p>
          <a:p>
            <a:r>
              <a:rPr lang="en-IN" sz="2600" dirty="0"/>
              <a:t>A </a:t>
            </a:r>
            <a:r>
              <a:rPr lang="en-IN" sz="2600" b="1" dirty="0"/>
              <a:t>group of miners</a:t>
            </a:r>
            <a:r>
              <a:rPr lang="en-IN" sz="2600" dirty="0"/>
              <a:t> decides to </a:t>
            </a:r>
            <a:r>
              <a:rPr lang="en-IN" sz="2600" b="1" dirty="0"/>
              <a:t>blacklist</a:t>
            </a:r>
            <a:r>
              <a:rPr lang="en-IN" sz="2600" dirty="0"/>
              <a:t> certain transactions (e.g., transactions linked to criminal activity or politically motivated addresses).</a:t>
            </a:r>
          </a:p>
          <a:p>
            <a:r>
              <a:rPr lang="en-IN" sz="2600" dirty="0"/>
              <a:t>They </a:t>
            </a:r>
            <a:r>
              <a:rPr lang="en-IN" sz="2600" b="1" dirty="0"/>
              <a:t>refuse to mine</a:t>
            </a:r>
            <a:r>
              <a:rPr lang="en-IN" sz="2600" dirty="0"/>
              <a:t> any block containing the blacklisted transactions.</a:t>
            </a:r>
          </a:p>
          <a:p>
            <a:r>
              <a:rPr lang="en-IN" sz="2600" dirty="0"/>
              <a:t>If </a:t>
            </a:r>
            <a:r>
              <a:rPr lang="en-IN" sz="2600" b="1" dirty="0"/>
              <a:t>large mining pools</a:t>
            </a:r>
            <a:r>
              <a:rPr lang="en-IN" sz="2600" dirty="0"/>
              <a:t> coordinate, they can </a:t>
            </a:r>
            <a:r>
              <a:rPr lang="en-IN" sz="2600" b="1" dirty="0"/>
              <a:t>force censorship</a:t>
            </a:r>
            <a:r>
              <a:rPr lang="en-IN" sz="2600" dirty="0"/>
              <a:t> on the network.</a:t>
            </a:r>
          </a:p>
          <a:p>
            <a:r>
              <a:rPr lang="en-IN" sz="2600" b="1" dirty="0"/>
              <a:t>Users with blacklisted transactions face delays or permanent exclusion from the network</a:t>
            </a:r>
            <a:r>
              <a:rPr lang="en-IN" sz="2600" dirty="0"/>
              <a:t>.</a:t>
            </a:r>
          </a:p>
          <a:p>
            <a:pPr marL="0" indent="0">
              <a:buNone/>
            </a:pPr>
            <a:r>
              <a:rPr lang="en-IN" sz="2600" b="1" dirty="0"/>
              <a:t>Why It’s Problematic:</a:t>
            </a:r>
          </a:p>
          <a:p>
            <a:r>
              <a:rPr lang="en-IN" sz="2600" b="1" dirty="0"/>
              <a:t>Leads to </a:t>
            </a:r>
            <a:r>
              <a:rPr lang="en-IN" sz="2600" b="1" dirty="0" err="1"/>
              <a:t>blockchain</a:t>
            </a:r>
            <a:r>
              <a:rPr lang="en-IN" sz="2600" b="1" dirty="0"/>
              <a:t> censorship</a:t>
            </a:r>
            <a:r>
              <a:rPr lang="en-IN" sz="2600" dirty="0"/>
              <a:t> – Certain users may be unfairly excluded.</a:t>
            </a:r>
          </a:p>
          <a:p>
            <a:r>
              <a:rPr lang="en-IN" sz="2600" b="1" dirty="0"/>
              <a:t>Gives miners too much power</a:t>
            </a:r>
            <a:r>
              <a:rPr lang="en-IN" sz="2600" dirty="0"/>
              <a:t> – They can choose which transactions get confirmed.</a:t>
            </a:r>
          </a:p>
          <a:p>
            <a:r>
              <a:rPr lang="en-IN" sz="2600" b="1" dirty="0"/>
              <a:t>Encourages government interference</a:t>
            </a:r>
            <a:r>
              <a:rPr lang="en-IN" sz="2600" dirty="0"/>
              <a:t> – Regulatory authorities may pressure miners to block specific addresses.</a:t>
            </a:r>
          </a:p>
          <a:p>
            <a:pPr marL="0" indent="0">
              <a:buNone/>
            </a:pPr>
            <a:r>
              <a:rPr lang="en-IN" sz="2600" b="1" dirty="0"/>
              <a:t>Countermeasures:</a:t>
            </a:r>
          </a:p>
          <a:p>
            <a:r>
              <a:rPr lang="en-IN" sz="2600" dirty="0"/>
              <a:t>✅ </a:t>
            </a:r>
            <a:r>
              <a:rPr lang="en-IN" sz="2600" b="1" dirty="0"/>
              <a:t>Promote mining decentralization</a:t>
            </a:r>
            <a:r>
              <a:rPr lang="en-IN" sz="2600" dirty="0"/>
              <a:t> – The more independent miners there are, the harder it is to coordinate blacklisting.</a:t>
            </a:r>
            <a:br>
              <a:rPr lang="en-IN" sz="2600" dirty="0"/>
            </a:br>
            <a:r>
              <a:rPr lang="en-IN" sz="2600" dirty="0"/>
              <a:t>✅ </a:t>
            </a:r>
            <a:r>
              <a:rPr lang="en-IN" sz="2600" b="1" dirty="0"/>
              <a:t>Use privacy-enhancing tools</a:t>
            </a:r>
            <a:r>
              <a:rPr lang="en-IN" sz="2600" dirty="0"/>
              <a:t> – Techniques like </a:t>
            </a:r>
            <a:r>
              <a:rPr lang="en-IN" sz="2600" dirty="0" err="1"/>
              <a:t>CoinJoin</a:t>
            </a:r>
            <a:r>
              <a:rPr lang="en-IN" sz="2600" dirty="0"/>
              <a:t> (used in </a:t>
            </a:r>
            <a:r>
              <a:rPr lang="en-IN" sz="2600" dirty="0" err="1"/>
              <a:t>Bitcoin</a:t>
            </a:r>
            <a:r>
              <a:rPr lang="en-IN" sz="2600" dirty="0"/>
              <a:t> mixing) can obscure transaction histories.</a:t>
            </a:r>
            <a:br>
              <a:rPr lang="en-IN" sz="2600" dirty="0"/>
            </a:br>
            <a:r>
              <a:rPr lang="en-IN" sz="2600" dirty="0"/>
              <a:t>✅ </a:t>
            </a:r>
            <a:r>
              <a:rPr lang="en-IN" sz="2600" b="1" dirty="0"/>
              <a:t>Implement slashing penalties</a:t>
            </a:r>
            <a:r>
              <a:rPr lang="en-IN" sz="2600" dirty="0"/>
              <a:t> – Miners who engage in transaction censorship could be penalized.</a:t>
            </a:r>
          </a:p>
          <a:p>
            <a:pPr marL="0" indent="0">
              <a:buNone/>
            </a:pPr>
            <a:endParaRPr lang="en-IN" sz="2200" b="1" dirty="0"/>
          </a:p>
        </p:txBody>
      </p:sp>
    </p:spTree>
    <p:extLst>
      <p:ext uri="{BB962C8B-B14F-4D97-AF65-F5344CB8AC3E}">
        <p14:creationId xmlns:p14="http://schemas.microsoft.com/office/powerpoint/2010/main" val="61416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 calcmode="lin" valueType="num">
                                      <p:cBhvr additive="base">
                                        <p:cTn id="4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 calcmode="lin" valueType="num">
                                      <p:cBhvr additive="base">
                                        <p:cTn id="4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anim calcmode="lin" valueType="num">
                                      <p:cBhvr additive="base">
                                        <p:cTn id="5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81000"/>
            <a:ext cx="10515600" cy="5795963"/>
          </a:xfrm>
        </p:spPr>
        <p:txBody>
          <a:bodyPr>
            <a:normAutofit fontScale="32500" lnSpcReduction="20000"/>
          </a:bodyPr>
          <a:lstStyle/>
          <a:p>
            <a:pPr marL="0" indent="0">
              <a:buNone/>
            </a:pPr>
            <a:r>
              <a:rPr lang="en-IN" sz="5900" b="1" dirty="0"/>
              <a:t>5. Feather-Forking </a:t>
            </a:r>
            <a:r>
              <a:rPr lang="en-IN" sz="5900" b="1" dirty="0" smtClean="0"/>
              <a:t>Attack</a:t>
            </a:r>
          </a:p>
          <a:p>
            <a:pPr marL="0" indent="0">
              <a:buNone/>
            </a:pPr>
            <a:r>
              <a:rPr lang="en-IN" sz="6200" b="1" dirty="0"/>
              <a:t>How It Works:</a:t>
            </a:r>
          </a:p>
          <a:p>
            <a:r>
              <a:rPr lang="en-IN" sz="6200" dirty="0"/>
              <a:t>Attackers </a:t>
            </a:r>
            <a:r>
              <a:rPr lang="en-IN" sz="6200" b="1" dirty="0"/>
              <a:t>announce that they will fork</a:t>
            </a:r>
            <a:r>
              <a:rPr lang="en-IN" sz="6200" dirty="0"/>
              <a:t> the </a:t>
            </a:r>
            <a:r>
              <a:rPr lang="en-IN" sz="6200" dirty="0" err="1"/>
              <a:t>blockchain</a:t>
            </a:r>
            <a:r>
              <a:rPr lang="en-IN" sz="6200" dirty="0"/>
              <a:t> if certain transactions are included.</a:t>
            </a:r>
          </a:p>
          <a:p>
            <a:r>
              <a:rPr lang="en-IN" sz="6200" dirty="0"/>
              <a:t>They </a:t>
            </a:r>
            <a:r>
              <a:rPr lang="en-IN" sz="6200" b="1" dirty="0"/>
              <a:t>mine an alternative chain for a short period</a:t>
            </a:r>
            <a:r>
              <a:rPr lang="en-IN" sz="6200" dirty="0"/>
              <a:t> to create uncertainty.</a:t>
            </a:r>
          </a:p>
          <a:p>
            <a:r>
              <a:rPr lang="en-IN" sz="6200" dirty="0"/>
              <a:t>If honest miners </a:t>
            </a:r>
            <a:r>
              <a:rPr lang="en-IN" sz="6200" b="1" dirty="0"/>
              <a:t>choose to include blacklisted transactions,</a:t>
            </a:r>
            <a:r>
              <a:rPr lang="en-IN" sz="6200" dirty="0"/>
              <a:t> the attackers start mining their own chain.</a:t>
            </a:r>
          </a:p>
          <a:p>
            <a:r>
              <a:rPr lang="en-IN" sz="6200" dirty="0"/>
              <a:t>Eventually, the attackers </a:t>
            </a:r>
            <a:r>
              <a:rPr lang="en-IN" sz="6200" b="1" dirty="0"/>
              <a:t>stop mining on their fork</a:t>
            </a:r>
            <a:r>
              <a:rPr lang="en-IN" sz="6200" dirty="0"/>
              <a:t> because maintaining it is costly.</a:t>
            </a:r>
          </a:p>
          <a:p>
            <a:r>
              <a:rPr lang="en-IN" sz="6200" dirty="0"/>
              <a:t>Honest miners, fearing future forks, </a:t>
            </a:r>
            <a:r>
              <a:rPr lang="en-IN" sz="6200" b="1" dirty="0"/>
              <a:t>voluntarily stop including blacklisted transactions</a:t>
            </a:r>
            <a:r>
              <a:rPr lang="en-IN" sz="6200" dirty="0"/>
              <a:t> to avoid disruptions.</a:t>
            </a:r>
          </a:p>
          <a:p>
            <a:pPr marL="0" indent="0">
              <a:buNone/>
            </a:pPr>
            <a:r>
              <a:rPr lang="en-IN" sz="6200" b="1" dirty="0"/>
              <a:t>Why It’s Dangerous:</a:t>
            </a:r>
          </a:p>
          <a:p>
            <a:r>
              <a:rPr lang="en-IN" sz="6200" b="1" dirty="0"/>
              <a:t>Creates uncertainty</a:t>
            </a:r>
            <a:r>
              <a:rPr lang="en-IN" sz="6200" dirty="0"/>
              <a:t> – Users may fear their transactions will be invalidated.</a:t>
            </a:r>
          </a:p>
          <a:p>
            <a:r>
              <a:rPr lang="en-IN" sz="6200" b="1" dirty="0"/>
              <a:t>Discourages legitimate transactions</a:t>
            </a:r>
            <a:r>
              <a:rPr lang="en-IN" sz="6200" dirty="0"/>
              <a:t> – Users avoid transactions that might trigger a feather-fork.</a:t>
            </a:r>
          </a:p>
          <a:p>
            <a:r>
              <a:rPr lang="en-IN" sz="6200" b="1" dirty="0"/>
              <a:t>Can be used for economic coercion</a:t>
            </a:r>
            <a:r>
              <a:rPr lang="en-IN" sz="6200" dirty="0"/>
              <a:t> – Attackers could pressure exchanges or businesses to block certain users.</a:t>
            </a:r>
          </a:p>
          <a:p>
            <a:pPr marL="0" indent="0">
              <a:buNone/>
            </a:pPr>
            <a:r>
              <a:rPr lang="en-IN" sz="6200" b="1" dirty="0"/>
              <a:t>Countermeasures:</a:t>
            </a:r>
          </a:p>
          <a:p>
            <a:r>
              <a:rPr lang="en-IN" sz="6200" dirty="0"/>
              <a:t>✅ </a:t>
            </a:r>
            <a:r>
              <a:rPr lang="en-IN" sz="6200" b="1" dirty="0"/>
              <a:t>Incentivize honest mining</a:t>
            </a:r>
            <a:r>
              <a:rPr lang="en-IN" sz="6200" dirty="0"/>
              <a:t> – Make mining on the main chain more profitable.</a:t>
            </a:r>
            <a:br>
              <a:rPr lang="en-IN" sz="6200" dirty="0"/>
            </a:br>
            <a:r>
              <a:rPr lang="en-IN" sz="6200" dirty="0"/>
              <a:t>✅ </a:t>
            </a:r>
            <a:r>
              <a:rPr lang="en-IN" sz="6200" b="1" dirty="0"/>
              <a:t>Use economic penalties</a:t>
            </a:r>
            <a:r>
              <a:rPr lang="en-IN" sz="6200" dirty="0"/>
              <a:t> – Punish miners who engage in feather-forking attempts.</a:t>
            </a:r>
            <a:br>
              <a:rPr lang="en-IN" sz="6200" dirty="0"/>
            </a:br>
            <a:r>
              <a:rPr lang="en-IN" sz="6200" dirty="0"/>
              <a:t>✅ </a:t>
            </a:r>
            <a:r>
              <a:rPr lang="en-IN" sz="6200" b="1" dirty="0"/>
              <a:t>Increase miner anonymity</a:t>
            </a:r>
            <a:r>
              <a:rPr lang="en-IN" sz="6200" dirty="0"/>
              <a:t> – If attackers </a:t>
            </a:r>
            <a:r>
              <a:rPr lang="en-IN" sz="4200" dirty="0"/>
              <a:t>can’t coordinate, feather-forking becomes impractical.</a:t>
            </a:r>
          </a:p>
          <a:p>
            <a:pPr marL="0" indent="0">
              <a:buNone/>
            </a:pPr>
            <a:endParaRPr lang="en-IN" sz="4200" b="1" dirty="0"/>
          </a:p>
        </p:txBody>
      </p:sp>
    </p:spTree>
    <p:extLst>
      <p:ext uri="{BB962C8B-B14F-4D97-AF65-F5344CB8AC3E}">
        <p14:creationId xmlns:p14="http://schemas.microsoft.com/office/powerpoint/2010/main" val="700918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 calcmode="lin" valueType="num">
                                      <p:cBhvr additive="base">
                                        <p:cTn id="4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 calcmode="lin" valueType="num">
                                      <p:cBhvr additive="base">
                                        <p:cTn id="4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anim calcmode="lin" valueType="num">
                                      <p:cBhvr additive="base">
                                        <p:cTn id="5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 calcmode="lin" valueType="num">
                                      <p:cBhvr additive="base">
                                        <p:cTn id="5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nvPr>
        </p:nvGraphicFramePr>
        <p:xfrm>
          <a:off x="838200" y="1457801"/>
          <a:ext cx="10515600" cy="4663440"/>
        </p:xfrm>
        <a:graphic>
          <a:graphicData uri="http://schemas.openxmlformats.org/drawingml/2006/table">
            <a:tbl>
              <a:tblPr/>
              <a:tblGrid>
                <a:gridCol w="3505200"/>
                <a:gridCol w="3505200"/>
                <a:gridCol w="3505200"/>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tx1"/>
                          </a:solidFill>
                          <a:effectLst/>
                          <a:latin typeface="Arial" panose="020B0604020202020204" pitchFamily="34" charset="0"/>
                        </a:rPr>
                        <a:t>         Summary Table of Attack</a:t>
                      </a:r>
                    </a:p>
                    <a:p>
                      <a:endParaRPr lang="en-IN" b="1" u="none" dirty="0" smtClean="0"/>
                    </a:p>
                    <a:p>
                      <a:endParaRPr lang="en-IN" b="1" u="none" dirty="0" smtClean="0"/>
                    </a:p>
                    <a:p>
                      <a:endParaRPr lang="en-IN" b="1" u="none" dirty="0" smtClean="0"/>
                    </a:p>
                    <a:p>
                      <a:r>
                        <a:rPr lang="en-IN" b="1" u="none" dirty="0" smtClean="0"/>
                        <a:t>Attack</a:t>
                      </a:r>
                      <a:endParaRPr lang="en-IN" u="none" dirty="0"/>
                    </a:p>
                  </a:txBody>
                  <a:tcPr anchor="ctr">
                    <a:lnL>
                      <a:noFill/>
                    </a:lnL>
                    <a:lnR>
                      <a:noFill/>
                    </a:lnR>
                    <a:lnT>
                      <a:noFill/>
                    </a:lnT>
                    <a:lnB>
                      <a:noFill/>
                    </a:lnB>
                  </a:tcPr>
                </a:tc>
                <a:tc>
                  <a:txBody>
                    <a:bodyPr/>
                    <a:lstStyle/>
                    <a:p>
                      <a:endParaRPr lang="en-IN" b="1" u="none" dirty="0" smtClean="0"/>
                    </a:p>
                    <a:p>
                      <a:endParaRPr lang="en-IN" b="1" u="none" dirty="0" smtClean="0"/>
                    </a:p>
                    <a:p>
                      <a:endParaRPr lang="en-IN" b="1" u="none" dirty="0" smtClean="0"/>
                    </a:p>
                    <a:p>
                      <a:endParaRPr lang="en-IN" b="1" u="none" dirty="0" smtClean="0"/>
                    </a:p>
                    <a:p>
                      <a:r>
                        <a:rPr lang="en-IN" b="1" u="none" dirty="0" smtClean="0"/>
                        <a:t>Impact</a:t>
                      </a:r>
                      <a:endParaRPr lang="en-IN" u="none" dirty="0"/>
                    </a:p>
                  </a:txBody>
                  <a:tcPr anchor="ctr">
                    <a:lnL>
                      <a:noFill/>
                    </a:lnL>
                    <a:lnR>
                      <a:noFill/>
                    </a:lnR>
                    <a:lnT>
                      <a:noFill/>
                    </a:lnT>
                    <a:lnB>
                      <a:noFill/>
                    </a:lnB>
                  </a:tcPr>
                </a:tc>
                <a:tc>
                  <a:txBody>
                    <a:bodyPr/>
                    <a:lstStyle/>
                    <a:p>
                      <a:endParaRPr lang="en-IN" b="1" u="none" dirty="0" smtClean="0"/>
                    </a:p>
                    <a:p>
                      <a:endParaRPr lang="en-IN" b="1" u="none" dirty="0" smtClean="0"/>
                    </a:p>
                    <a:p>
                      <a:endParaRPr lang="en-IN" b="1" u="none" dirty="0" smtClean="0"/>
                    </a:p>
                    <a:p>
                      <a:endParaRPr lang="en-IN" b="1" u="none" dirty="0" smtClean="0"/>
                    </a:p>
                    <a:p>
                      <a:r>
                        <a:rPr lang="en-IN" b="1" u="none" dirty="0" smtClean="0"/>
                        <a:t>Countermeasures</a:t>
                      </a:r>
                      <a:endParaRPr lang="en-IN" u="none" dirty="0"/>
                    </a:p>
                  </a:txBody>
                  <a:tcPr anchor="ctr">
                    <a:lnL>
                      <a:noFill/>
                    </a:lnL>
                    <a:lnR>
                      <a:noFill/>
                    </a:lnR>
                    <a:lnT>
                      <a:noFill/>
                    </a:lnT>
                    <a:lnB>
                      <a:noFill/>
                    </a:lnB>
                  </a:tcPr>
                </a:tc>
              </a:tr>
              <a:tr h="0">
                <a:tc>
                  <a:txBody>
                    <a:bodyPr/>
                    <a:lstStyle/>
                    <a:p>
                      <a:r>
                        <a:rPr lang="en-IN" b="1"/>
                        <a:t>Forking Attack (Double Spending)</a:t>
                      </a:r>
                      <a:endParaRPr lang="en-IN"/>
                    </a:p>
                  </a:txBody>
                  <a:tcPr anchor="ctr">
                    <a:lnL>
                      <a:noFill/>
                    </a:lnL>
                    <a:lnR>
                      <a:noFill/>
                    </a:lnR>
                    <a:lnT>
                      <a:noFill/>
                    </a:lnT>
                    <a:lnB>
                      <a:noFill/>
                    </a:lnB>
                  </a:tcPr>
                </a:tc>
                <a:tc>
                  <a:txBody>
                    <a:bodyPr/>
                    <a:lstStyle/>
                    <a:p>
                      <a:r>
                        <a:rPr lang="en-IN"/>
                        <a:t>Allows reversing transactions</a:t>
                      </a:r>
                    </a:p>
                  </a:txBody>
                  <a:tcPr anchor="ctr">
                    <a:lnL>
                      <a:noFill/>
                    </a:lnL>
                    <a:lnR>
                      <a:noFill/>
                    </a:lnR>
                    <a:lnT>
                      <a:noFill/>
                    </a:lnT>
                    <a:lnB>
                      <a:noFill/>
                    </a:lnB>
                  </a:tcPr>
                </a:tc>
                <a:tc>
                  <a:txBody>
                    <a:bodyPr/>
                    <a:lstStyle/>
                    <a:p>
                      <a:r>
                        <a:rPr lang="en-IN"/>
                        <a:t>Increase decentralization, longer confirmation times</a:t>
                      </a:r>
                    </a:p>
                  </a:txBody>
                  <a:tcPr anchor="ctr">
                    <a:lnL>
                      <a:noFill/>
                    </a:lnL>
                    <a:lnR>
                      <a:noFill/>
                    </a:lnR>
                    <a:lnT>
                      <a:noFill/>
                    </a:lnT>
                    <a:lnB>
                      <a:noFill/>
                    </a:lnB>
                  </a:tcPr>
                </a:tc>
              </a:tr>
              <a:tr h="0">
                <a:tc>
                  <a:txBody>
                    <a:bodyPr/>
                    <a:lstStyle/>
                    <a:p>
                      <a:r>
                        <a:rPr lang="en-IN" b="1"/>
                        <a:t>Bribery Attack</a:t>
                      </a:r>
                      <a:endParaRPr lang="en-IN"/>
                    </a:p>
                  </a:txBody>
                  <a:tcPr anchor="ctr">
                    <a:lnL>
                      <a:noFill/>
                    </a:lnL>
                    <a:lnR>
                      <a:noFill/>
                    </a:lnR>
                    <a:lnT>
                      <a:noFill/>
                    </a:lnT>
                    <a:lnB>
                      <a:noFill/>
                    </a:lnB>
                  </a:tcPr>
                </a:tc>
                <a:tc>
                  <a:txBody>
                    <a:bodyPr/>
                    <a:lstStyle/>
                    <a:p>
                      <a:r>
                        <a:rPr lang="en-IN"/>
                        <a:t>Attackers manipulate miners</a:t>
                      </a:r>
                    </a:p>
                  </a:txBody>
                  <a:tcPr anchor="ctr">
                    <a:lnL>
                      <a:noFill/>
                    </a:lnL>
                    <a:lnR>
                      <a:noFill/>
                    </a:lnR>
                    <a:lnT>
                      <a:noFill/>
                    </a:lnT>
                    <a:lnB>
                      <a:noFill/>
                    </a:lnB>
                  </a:tcPr>
                </a:tc>
                <a:tc>
                  <a:txBody>
                    <a:bodyPr/>
                    <a:lstStyle/>
                    <a:p>
                      <a:r>
                        <a:rPr lang="en-IN"/>
                        <a:t>Network monitoring, penalties for dishonest mining</a:t>
                      </a:r>
                    </a:p>
                  </a:txBody>
                  <a:tcPr anchor="ctr">
                    <a:lnL>
                      <a:noFill/>
                    </a:lnL>
                    <a:lnR>
                      <a:noFill/>
                    </a:lnR>
                    <a:lnT>
                      <a:noFill/>
                    </a:lnT>
                    <a:lnB>
                      <a:noFill/>
                    </a:lnB>
                  </a:tcPr>
                </a:tc>
              </a:tr>
              <a:tr h="0">
                <a:tc>
                  <a:txBody>
                    <a:bodyPr/>
                    <a:lstStyle/>
                    <a:p>
                      <a:r>
                        <a:rPr lang="en-IN" b="1"/>
                        <a:t>Selfish Mining</a:t>
                      </a:r>
                      <a:endParaRPr lang="en-IN"/>
                    </a:p>
                  </a:txBody>
                  <a:tcPr anchor="ctr">
                    <a:lnL>
                      <a:noFill/>
                    </a:lnL>
                    <a:lnR>
                      <a:noFill/>
                    </a:lnR>
                    <a:lnT>
                      <a:noFill/>
                    </a:lnT>
                    <a:lnB>
                      <a:noFill/>
                    </a:lnB>
                  </a:tcPr>
                </a:tc>
                <a:tc>
                  <a:txBody>
                    <a:bodyPr/>
                    <a:lstStyle/>
                    <a:p>
                      <a:r>
                        <a:rPr lang="en-IN"/>
                        <a:t>Wastes competitor hash power</a:t>
                      </a:r>
                    </a:p>
                  </a:txBody>
                  <a:tcPr anchor="ctr">
                    <a:lnL>
                      <a:noFill/>
                    </a:lnL>
                    <a:lnR>
                      <a:noFill/>
                    </a:lnR>
                    <a:lnT>
                      <a:noFill/>
                    </a:lnT>
                    <a:lnB>
                      <a:noFill/>
                    </a:lnB>
                  </a:tcPr>
                </a:tc>
                <a:tc>
                  <a:txBody>
                    <a:bodyPr/>
                    <a:lstStyle/>
                    <a:p>
                      <a:r>
                        <a:rPr lang="en-IN"/>
                        <a:t>Fast block propagation, decentralization</a:t>
                      </a:r>
                    </a:p>
                  </a:txBody>
                  <a:tcPr anchor="ctr">
                    <a:lnL>
                      <a:noFill/>
                    </a:lnL>
                    <a:lnR>
                      <a:noFill/>
                    </a:lnR>
                    <a:lnT>
                      <a:noFill/>
                    </a:lnT>
                    <a:lnB>
                      <a:noFill/>
                    </a:lnB>
                  </a:tcPr>
                </a:tc>
              </a:tr>
              <a:tr h="0">
                <a:tc>
                  <a:txBody>
                    <a:bodyPr/>
                    <a:lstStyle/>
                    <a:p>
                      <a:r>
                        <a:rPr lang="en-IN" b="1"/>
                        <a:t>Punitive Forking</a:t>
                      </a:r>
                      <a:endParaRPr lang="en-IN"/>
                    </a:p>
                  </a:txBody>
                  <a:tcPr anchor="ctr">
                    <a:lnL>
                      <a:noFill/>
                    </a:lnL>
                    <a:lnR>
                      <a:noFill/>
                    </a:lnR>
                    <a:lnT>
                      <a:noFill/>
                    </a:lnT>
                    <a:lnB>
                      <a:noFill/>
                    </a:lnB>
                  </a:tcPr>
                </a:tc>
                <a:tc>
                  <a:txBody>
                    <a:bodyPr/>
                    <a:lstStyle/>
                    <a:p>
                      <a:r>
                        <a:rPr lang="en-IN"/>
                        <a:t>Censorship of transactions</a:t>
                      </a:r>
                    </a:p>
                  </a:txBody>
                  <a:tcPr anchor="ctr">
                    <a:lnL>
                      <a:noFill/>
                    </a:lnL>
                    <a:lnR>
                      <a:noFill/>
                    </a:lnR>
                    <a:lnT>
                      <a:noFill/>
                    </a:lnT>
                    <a:lnB>
                      <a:noFill/>
                    </a:lnB>
                  </a:tcPr>
                </a:tc>
                <a:tc>
                  <a:txBody>
                    <a:bodyPr/>
                    <a:lstStyle/>
                    <a:p>
                      <a:r>
                        <a:rPr lang="en-IN"/>
                        <a:t>Privacy-enhancing tools, miner decentralization</a:t>
                      </a:r>
                    </a:p>
                  </a:txBody>
                  <a:tcPr anchor="ctr">
                    <a:lnL>
                      <a:noFill/>
                    </a:lnL>
                    <a:lnR>
                      <a:noFill/>
                    </a:lnR>
                    <a:lnT>
                      <a:noFill/>
                    </a:lnT>
                    <a:lnB>
                      <a:noFill/>
                    </a:lnB>
                  </a:tcPr>
                </a:tc>
              </a:tr>
              <a:tr h="0">
                <a:tc>
                  <a:txBody>
                    <a:bodyPr/>
                    <a:lstStyle/>
                    <a:p>
                      <a:r>
                        <a:rPr lang="en-IN" b="1" dirty="0"/>
                        <a:t>Feather-Forking</a:t>
                      </a:r>
                      <a:endParaRPr lang="en-IN" dirty="0"/>
                    </a:p>
                  </a:txBody>
                  <a:tcPr anchor="ctr">
                    <a:lnL>
                      <a:noFill/>
                    </a:lnL>
                    <a:lnR>
                      <a:noFill/>
                    </a:lnR>
                    <a:lnT>
                      <a:noFill/>
                    </a:lnT>
                    <a:lnB>
                      <a:noFill/>
                    </a:lnB>
                  </a:tcPr>
                </a:tc>
                <a:tc>
                  <a:txBody>
                    <a:bodyPr/>
                    <a:lstStyle/>
                    <a:p>
                      <a:r>
                        <a:rPr lang="en-IN"/>
                        <a:t>Pressures miners to reject transactions</a:t>
                      </a:r>
                    </a:p>
                  </a:txBody>
                  <a:tcPr anchor="ctr">
                    <a:lnL>
                      <a:noFill/>
                    </a:lnL>
                    <a:lnR>
                      <a:noFill/>
                    </a:lnR>
                    <a:lnT>
                      <a:noFill/>
                    </a:lnT>
                    <a:lnB>
                      <a:noFill/>
                    </a:lnB>
                  </a:tcPr>
                </a:tc>
                <a:tc>
                  <a:txBody>
                    <a:bodyPr/>
                    <a:lstStyle/>
                    <a:p>
                      <a:r>
                        <a:rPr lang="en-IN" dirty="0"/>
                        <a:t>Economic penalties, miner anonymity</a:t>
                      </a:r>
                    </a:p>
                  </a:txBody>
                  <a:tcPr anchor="ctr">
                    <a:lnL>
                      <a:noFill/>
                    </a:lnL>
                    <a:lnR>
                      <a:noFill/>
                    </a:lnR>
                    <a:lnT>
                      <a:noFill/>
                    </a:lnT>
                    <a:lnB>
                      <a:noFill/>
                    </a:lnB>
                  </a:tcPr>
                </a:tc>
              </a:tr>
            </a:tbl>
          </a:graphicData>
        </a:graphic>
      </p:graphicFrame>
      <p:sp>
        <p:nvSpPr>
          <p:cNvPr id="6" name="Rectangle 5"/>
          <p:cNvSpPr/>
          <p:nvPr/>
        </p:nvSpPr>
        <p:spPr>
          <a:xfrm>
            <a:off x="533400" y="6183236"/>
            <a:ext cx="10820400" cy="369332"/>
          </a:xfrm>
          <a:prstGeom prst="rect">
            <a:avLst/>
          </a:prstGeom>
        </p:spPr>
        <p:txBody>
          <a:bodyPr wrap="square">
            <a:spAutoFit/>
          </a:bodyPr>
          <a:lstStyle/>
          <a:p>
            <a:r>
              <a:rPr lang="en-IN" b="1" i="1" dirty="0" smtClean="0"/>
              <a:t>To </a:t>
            </a:r>
            <a:r>
              <a:rPr lang="en-IN" b="1" i="1" dirty="0"/>
              <a:t>keep </a:t>
            </a:r>
            <a:r>
              <a:rPr lang="en-IN" b="1" i="1" dirty="0" err="1"/>
              <a:t>Bitcoin</a:t>
            </a:r>
            <a:r>
              <a:rPr lang="en-IN" b="1" i="1" dirty="0"/>
              <a:t> secure, developers and miners must work together to prevent these vulnerabilities.</a:t>
            </a:r>
          </a:p>
        </p:txBody>
      </p:sp>
    </p:spTree>
    <p:extLst>
      <p:ext uri="{BB962C8B-B14F-4D97-AF65-F5344CB8AC3E}">
        <p14:creationId xmlns:p14="http://schemas.microsoft.com/office/powerpoint/2010/main" val="9059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457201"/>
            <a:ext cx="10972800" cy="6110576"/>
          </a:xfrm>
        </p:spPr>
        <p:txBody>
          <a:bodyPr/>
          <a:lstStyle/>
          <a:p>
            <a:pPr marL="50799" indent="0">
              <a:buNone/>
            </a:pPr>
            <a:r>
              <a:rPr lang="en" i="1" dirty="0">
                <a:latin typeface="Trebuchet MS"/>
                <a:ea typeface="Trebuchet MS"/>
                <a:cs typeface="Trebuchet MS"/>
                <a:sym typeface="Trebuchet MS"/>
              </a:rPr>
              <a:t>Goldfinger </a:t>
            </a:r>
            <a:r>
              <a:rPr lang="en" i="1" dirty="0" smtClean="0">
                <a:latin typeface="Trebuchet MS"/>
                <a:ea typeface="Trebuchet MS"/>
                <a:cs typeface="Trebuchet MS"/>
                <a:sym typeface="Trebuchet MS"/>
              </a:rPr>
              <a:t>Attack:</a:t>
            </a:r>
            <a:endParaRPr lang="en-IN" dirty="0"/>
          </a:p>
          <a:p>
            <a:pPr marL="50799" indent="0">
              <a:buNone/>
            </a:pPr>
            <a:r>
              <a:rPr lang="en-IN" dirty="0" smtClean="0"/>
              <a:t>step-by-step of </a:t>
            </a:r>
            <a:r>
              <a:rPr lang="en-IN" dirty="0"/>
              <a:t>the </a:t>
            </a:r>
            <a:r>
              <a:rPr lang="en-IN" dirty="0" err="1"/>
              <a:t>Goldfinger</a:t>
            </a:r>
            <a:r>
              <a:rPr lang="en-IN" dirty="0"/>
              <a:t> attack on </a:t>
            </a:r>
            <a:r>
              <a:rPr lang="en-IN" dirty="0" smtClean="0"/>
              <a:t>Bitcoin</a:t>
            </a:r>
          </a:p>
          <a:p>
            <a:pPr marL="50799" indent="0">
              <a:buNone/>
            </a:pPr>
            <a:r>
              <a:rPr lang="en-IN" b="1" dirty="0"/>
              <a:t>Step 1: Acquire majority of mining </a:t>
            </a:r>
            <a:r>
              <a:rPr lang="en-IN" b="1" dirty="0" smtClean="0"/>
              <a:t>hardware</a:t>
            </a:r>
          </a:p>
          <a:p>
            <a:pPr marL="50799" indent="0">
              <a:buNone/>
            </a:pPr>
            <a:r>
              <a:rPr lang="en-IN" dirty="0" smtClean="0"/>
              <a:t>     -An </a:t>
            </a:r>
            <a:r>
              <a:rPr lang="en-IN" dirty="0"/>
              <a:t>attacker buys or controls a large majority of the specialized computer chips (ASIC miners) used for mining Bitcoin</a:t>
            </a:r>
            <a:r>
              <a:rPr lang="en-IN" dirty="0" smtClean="0"/>
              <a:t>.</a:t>
            </a:r>
          </a:p>
          <a:p>
            <a:pPr marL="50799" indent="0">
              <a:buNone/>
            </a:pPr>
            <a:r>
              <a:rPr lang="en-IN" dirty="0" smtClean="0"/>
              <a:t>     - </a:t>
            </a:r>
            <a:r>
              <a:rPr lang="en-IN" dirty="0"/>
              <a:t>This gives them control over a significant portion of the network's mining power</a:t>
            </a:r>
            <a:r>
              <a:rPr lang="en-IN" dirty="0" smtClean="0"/>
              <a:t>.</a:t>
            </a:r>
          </a:p>
          <a:p>
            <a:pPr marL="50799" indent="0">
              <a:buNone/>
            </a:pPr>
            <a:r>
              <a:rPr lang="en-IN" b="1" dirty="0" smtClean="0"/>
              <a:t>Step </a:t>
            </a:r>
            <a:r>
              <a:rPr lang="en-IN" b="1" dirty="0"/>
              <a:t>2: Control the </a:t>
            </a:r>
            <a:r>
              <a:rPr lang="en-IN" b="1" dirty="0" smtClean="0"/>
              <a:t>network</a:t>
            </a:r>
          </a:p>
          <a:p>
            <a:pPr marL="50799" indent="0">
              <a:buNone/>
            </a:pPr>
            <a:r>
              <a:rPr lang="en-IN" dirty="0"/>
              <a:t> </a:t>
            </a:r>
            <a:r>
              <a:rPr lang="en-IN" dirty="0" smtClean="0"/>
              <a:t>    - </a:t>
            </a:r>
            <a:r>
              <a:rPr lang="en-IN" dirty="0"/>
              <a:t>With their majority of mining hardware, the attacker can control the network's mining power</a:t>
            </a:r>
            <a:r>
              <a:rPr lang="en-IN" dirty="0" smtClean="0"/>
              <a:t>.</a:t>
            </a:r>
          </a:p>
          <a:p>
            <a:pPr marL="50799" indent="0">
              <a:buNone/>
            </a:pPr>
            <a:r>
              <a:rPr lang="en-IN" dirty="0"/>
              <a:t> </a:t>
            </a:r>
            <a:r>
              <a:rPr lang="en-IN" dirty="0" smtClean="0"/>
              <a:t>  - </a:t>
            </a:r>
            <a:r>
              <a:rPr lang="en-IN" dirty="0"/>
              <a:t>They can decide which transactions to include in the </a:t>
            </a:r>
            <a:r>
              <a:rPr lang="en-IN" dirty="0" err="1"/>
              <a:t>blockchain</a:t>
            </a:r>
            <a:r>
              <a:rPr lang="en-IN" dirty="0"/>
              <a:t> and which to exclude.</a:t>
            </a:r>
          </a:p>
        </p:txBody>
      </p:sp>
      <p:pic>
        <p:nvPicPr>
          <p:cNvPr id="4" name="Picture 3"/>
          <p:cNvPicPr>
            <a:picLocks noChangeAspect="1"/>
          </p:cNvPicPr>
          <p:nvPr/>
        </p:nvPicPr>
        <p:blipFill>
          <a:blip r:embed="rId2"/>
          <a:stretch>
            <a:fillRect/>
          </a:stretch>
        </p:blipFill>
        <p:spPr>
          <a:xfrm>
            <a:off x="8991600" y="0"/>
            <a:ext cx="2362200" cy="2247900"/>
          </a:xfrm>
          <a:prstGeom prst="rect">
            <a:avLst/>
          </a:prstGeom>
        </p:spPr>
      </p:pic>
    </p:spTree>
    <p:extLst>
      <p:ext uri="{BB962C8B-B14F-4D97-AF65-F5344CB8AC3E}">
        <p14:creationId xmlns:p14="http://schemas.microsoft.com/office/powerpoint/2010/main" val="39190835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b="1" dirty="0"/>
              <a:t>Step 3: Manipulate </a:t>
            </a:r>
            <a:r>
              <a:rPr lang="en-IN" b="1" dirty="0" smtClean="0"/>
              <a:t>transactions</a:t>
            </a:r>
          </a:p>
          <a:p>
            <a:pPr marL="50799" indent="0">
              <a:buNone/>
            </a:pPr>
            <a:r>
              <a:rPr lang="en-IN" dirty="0"/>
              <a:t> </a:t>
            </a:r>
            <a:r>
              <a:rPr lang="en-IN" dirty="0" smtClean="0"/>
              <a:t>    - </a:t>
            </a:r>
            <a:r>
              <a:rPr lang="en-IN" dirty="0"/>
              <a:t>The attacker can use their control to:    - Double-spend coins (spend the same coins twice)   </a:t>
            </a:r>
            <a:endParaRPr lang="en-IN" dirty="0" smtClean="0"/>
          </a:p>
          <a:p>
            <a:pPr marL="50799" indent="0">
              <a:buNone/>
            </a:pPr>
            <a:r>
              <a:rPr lang="en-IN" dirty="0"/>
              <a:t> </a:t>
            </a:r>
            <a:r>
              <a:rPr lang="en-IN" dirty="0" smtClean="0"/>
              <a:t>    </a:t>
            </a:r>
            <a:r>
              <a:rPr lang="en-IN" dirty="0"/>
              <a:t>- Block or delay transactions    - Steal mining </a:t>
            </a:r>
            <a:r>
              <a:rPr lang="en-IN" dirty="0" smtClean="0"/>
              <a:t>rewards</a:t>
            </a:r>
          </a:p>
          <a:p>
            <a:pPr marL="50799" indent="0">
              <a:buNone/>
            </a:pPr>
            <a:r>
              <a:rPr lang="en-IN" b="1" dirty="0" smtClean="0"/>
              <a:t>Step </a:t>
            </a:r>
            <a:r>
              <a:rPr lang="en-IN" b="1" dirty="0"/>
              <a:t>4: Disrupt the </a:t>
            </a:r>
            <a:r>
              <a:rPr lang="en-IN" b="1" dirty="0" smtClean="0"/>
              <a:t>network</a:t>
            </a:r>
          </a:p>
          <a:p>
            <a:pPr marL="50799" indent="0">
              <a:buNone/>
            </a:pPr>
            <a:r>
              <a:rPr lang="en-IN" dirty="0"/>
              <a:t> </a:t>
            </a:r>
            <a:r>
              <a:rPr lang="en-IN" dirty="0" smtClean="0"/>
              <a:t>    - </a:t>
            </a:r>
            <a:r>
              <a:rPr lang="en-IN" dirty="0"/>
              <a:t>The attacker's manipulation can disrupt the entire Bitcoin network</a:t>
            </a:r>
            <a:r>
              <a:rPr lang="en-IN" dirty="0" smtClean="0"/>
              <a:t>.</a:t>
            </a:r>
          </a:p>
          <a:p>
            <a:pPr marL="50799" indent="0">
              <a:buNone/>
            </a:pPr>
            <a:r>
              <a:rPr lang="en-IN" dirty="0"/>
              <a:t> </a:t>
            </a:r>
            <a:r>
              <a:rPr lang="en-IN" dirty="0" smtClean="0"/>
              <a:t>    - </a:t>
            </a:r>
            <a:r>
              <a:rPr lang="en-IN" dirty="0"/>
              <a:t>This can lead to a loss of trust in the network and potentially even a collapse of the currency.</a:t>
            </a:r>
          </a:p>
        </p:txBody>
      </p:sp>
    </p:spTree>
    <p:extLst>
      <p:ext uri="{BB962C8B-B14F-4D97-AF65-F5344CB8AC3E}">
        <p14:creationId xmlns:p14="http://schemas.microsoft.com/office/powerpoint/2010/main" val="5748225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sz="1800" dirty="0"/>
          </a:p>
        </p:txBody>
      </p:sp>
      <p:sp>
        <p:nvSpPr>
          <p:cNvPr id="3" name="Text Placeholder 2"/>
          <p:cNvSpPr>
            <a:spLocks noGrp="1"/>
          </p:cNvSpPr>
          <p:nvPr>
            <p:ph type="body" idx="1"/>
          </p:nvPr>
        </p:nvSpPr>
        <p:spPr/>
        <p:txBody>
          <a:bodyPr/>
          <a:lstStyle/>
          <a:p>
            <a:pPr marL="50799" indent="0">
              <a:buNone/>
            </a:pPr>
            <a:r>
              <a:rPr lang="en-IN" b="1" dirty="0" smtClean="0"/>
              <a:t>Why it is s </a:t>
            </a:r>
            <a:r>
              <a:rPr lang="en-IN" b="1" dirty="0"/>
              <a:t>unlikely</a:t>
            </a:r>
            <a:r>
              <a:rPr lang="en-IN" b="1" dirty="0" smtClean="0"/>
              <a:t>:</a:t>
            </a:r>
          </a:p>
          <a:p>
            <a:pPr marL="50799" indent="0">
              <a:buNone/>
            </a:pPr>
            <a:r>
              <a:rPr lang="en-IN" dirty="0" smtClean="0"/>
              <a:t>      -  Requires </a:t>
            </a:r>
            <a:r>
              <a:rPr lang="en-IN" dirty="0"/>
              <a:t>an enormous amount of resources to acquire and maintain control over the majority of mining hardware</a:t>
            </a:r>
            <a:r>
              <a:rPr lang="en-IN" dirty="0" smtClean="0"/>
              <a:t>.</a:t>
            </a:r>
          </a:p>
          <a:p>
            <a:pPr marL="50799" indent="0">
              <a:buNone/>
            </a:pPr>
            <a:r>
              <a:rPr lang="en-IN" dirty="0"/>
              <a:t> </a:t>
            </a:r>
            <a:r>
              <a:rPr lang="en-IN" dirty="0" smtClean="0"/>
              <a:t>     - </a:t>
            </a:r>
            <a:r>
              <a:rPr lang="en-IN" dirty="0"/>
              <a:t>The decentralized nature of the Bitcoin network makes it hard for one person to control</a:t>
            </a:r>
            <a:r>
              <a:rPr lang="en-IN" dirty="0" smtClean="0"/>
              <a:t>.</a:t>
            </a:r>
          </a:p>
          <a:p>
            <a:pPr marL="50799" indent="0">
              <a:buNone/>
            </a:pPr>
            <a:r>
              <a:rPr lang="en-IN" dirty="0"/>
              <a:t> </a:t>
            </a:r>
            <a:r>
              <a:rPr lang="en-IN" dirty="0" smtClean="0"/>
              <a:t>      - </a:t>
            </a:r>
            <a:r>
              <a:rPr lang="en-IN" dirty="0"/>
              <a:t>The community is working to prevent such an attack through decentralizing mining pools and developing more </a:t>
            </a:r>
            <a:r>
              <a:rPr lang="en-IN" dirty="0" smtClean="0"/>
              <a:t>energy-efficient </a:t>
            </a:r>
            <a:r>
              <a:rPr lang="en-IN" dirty="0"/>
              <a:t>mining hardware.</a:t>
            </a:r>
          </a:p>
        </p:txBody>
      </p:sp>
    </p:spTree>
    <p:extLst>
      <p:ext uri="{BB962C8B-B14F-4D97-AF65-F5344CB8AC3E}">
        <p14:creationId xmlns:p14="http://schemas.microsoft.com/office/powerpoint/2010/main" val="2072656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b="1" dirty="0"/>
              <a:t>Mitigation Strategies:</a:t>
            </a:r>
          </a:p>
          <a:p>
            <a:pPr marL="50799" indent="0" algn="just">
              <a:buNone/>
            </a:pPr>
            <a:r>
              <a:rPr lang="en-IN" b="1" dirty="0" smtClean="0"/>
              <a:t>     -- Detection </a:t>
            </a:r>
            <a:r>
              <a:rPr lang="en-IN" b="1" dirty="0"/>
              <a:t>Mechanisms</a:t>
            </a:r>
            <a:r>
              <a:rPr lang="en-IN" dirty="0"/>
              <a:t>: Mining pools can develop algorithms to detect and discourage block withholding by </a:t>
            </a:r>
            <a:r>
              <a:rPr lang="en-IN" dirty="0" err="1"/>
              <a:t>analyzing</a:t>
            </a:r>
            <a:r>
              <a:rPr lang="en-IN" dirty="0"/>
              <a:t> miner </a:t>
            </a:r>
            <a:r>
              <a:rPr lang="en-IN" dirty="0" err="1"/>
              <a:t>behavior</a:t>
            </a:r>
            <a:r>
              <a:rPr lang="en-IN" dirty="0" smtClean="0"/>
              <a:t>.</a:t>
            </a:r>
          </a:p>
          <a:p>
            <a:pPr marL="50799" indent="0" algn="just">
              <a:buNone/>
            </a:pPr>
            <a:r>
              <a:rPr lang="en-IN" b="1" dirty="0" smtClean="0"/>
              <a:t>      -- Protocol </a:t>
            </a:r>
            <a:r>
              <a:rPr lang="en-IN" b="1" dirty="0"/>
              <a:t>Adjustments</a:t>
            </a:r>
            <a:r>
              <a:rPr lang="en-IN" dirty="0"/>
              <a:t>: </a:t>
            </a:r>
            <a:r>
              <a:rPr lang="en-IN" dirty="0" err="1"/>
              <a:t>Blockchain</a:t>
            </a:r>
            <a:r>
              <a:rPr lang="en-IN" dirty="0"/>
              <a:t> protocols could be adjusted to reduce the incentive for withholding valid blocks or to penalize malicious miners who attempt to withhold blocks.</a:t>
            </a:r>
          </a:p>
          <a:p>
            <a:pPr marL="50799" indent="0" algn="just">
              <a:buNone/>
            </a:pPr>
            <a:endParaRPr lang="en-IN" dirty="0"/>
          </a:p>
        </p:txBody>
      </p:sp>
    </p:spTree>
    <p:extLst>
      <p:ext uri="{BB962C8B-B14F-4D97-AF65-F5344CB8AC3E}">
        <p14:creationId xmlns:p14="http://schemas.microsoft.com/office/powerpoint/2010/main" val="25240550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73"/>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dirty="0" smtClean="0"/>
              <a:t>transaction </a:t>
            </a:r>
            <a:r>
              <a:rPr lang="en" dirty="0"/>
              <a:t>fees</a:t>
            </a:r>
            <a:endParaRPr dirty="0"/>
          </a:p>
        </p:txBody>
      </p:sp>
      <p:sp>
        <p:nvSpPr>
          <p:cNvPr id="651" name="Google Shape;651;p73"/>
          <p:cNvSpPr txBox="1"/>
          <p:nvPr/>
        </p:nvSpPr>
        <p:spPr>
          <a:xfrm>
            <a:off x="253200" y="2581900"/>
            <a:ext cx="11134400" cy="854000"/>
          </a:xfrm>
          <a:prstGeom prst="rect">
            <a:avLst/>
          </a:prstGeom>
          <a:noFill/>
          <a:ln>
            <a:noFill/>
          </a:ln>
        </p:spPr>
        <p:txBody>
          <a:bodyPr spcFirstLastPara="1" wrap="square" lIns="121900" tIns="121900" rIns="121900" bIns="121900" anchor="ctr" anchorCtr="0">
            <a:noAutofit/>
          </a:bodyPr>
          <a:lstStyle/>
          <a:p>
            <a:r>
              <a:rPr lang="en" sz="2667" b="1" dirty="0">
                <a:latin typeface="Courier New"/>
                <a:ea typeface="Courier New"/>
                <a:cs typeface="Courier New"/>
                <a:sym typeface="Courier New"/>
              </a:rPr>
              <a:t>priority = sum(input_value * input_age)/size_in_bytes</a:t>
            </a:r>
            <a:endParaRPr sz="2667" b="1" dirty="0">
              <a:latin typeface="Courier New"/>
              <a:ea typeface="Courier New"/>
              <a:cs typeface="Courier New"/>
              <a:sym typeface="Courier New"/>
            </a:endParaRPr>
          </a:p>
          <a:p>
            <a:endParaRPr sz="2400" dirty="0"/>
          </a:p>
        </p:txBody>
      </p:sp>
      <p:sp>
        <p:nvSpPr>
          <p:cNvPr id="652" name="Google Shape;652;p73"/>
          <p:cNvSpPr txBox="1"/>
          <p:nvPr/>
        </p:nvSpPr>
        <p:spPr>
          <a:xfrm>
            <a:off x="354700" y="1595500"/>
            <a:ext cx="6843200" cy="986400"/>
          </a:xfrm>
          <a:prstGeom prst="rect">
            <a:avLst/>
          </a:prstGeom>
          <a:noFill/>
          <a:ln>
            <a:noFill/>
          </a:ln>
        </p:spPr>
        <p:txBody>
          <a:bodyPr spcFirstLastPara="1" wrap="square" lIns="121900" tIns="121900" rIns="121900" bIns="121900" anchor="t" anchorCtr="0">
            <a:noAutofit/>
          </a:bodyPr>
          <a:lstStyle/>
          <a:p>
            <a:r>
              <a:rPr lang="en" sz="2400" dirty="0">
                <a:latin typeface="Trebuchet MS"/>
                <a:ea typeface="Trebuchet MS"/>
                <a:cs typeface="Trebuchet MS"/>
                <a:sym typeface="Trebuchet MS"/>
              </a:rPr>
              <a:t>Default policy:</a:t>
            </a:r>
            <a:endParaRPr sz="2400" dirty="0">
              <a:latin typeface="Trebuchet MS"/>
              <a:ea typeface="Trebuchet MS"/>
              <a:cs typeface="Trebuchet MS"/>
              <a:sym typeface="Trebuchet MS"/>
            </a:endParaRPr>
          </a:p>
        </p:txBody>
      </p:sp>
      <p:sp>
        <p:nvSpPr>
          <p:cNvPr id="653" name="Google Shape;653;p73"/>
          <p:cNvSpPr txBox="1"/>
          <p:nvPr/>
        </p:nvSpPr>
        <p:spPr>
          <a:xfrm>
            <a:off x="533400" y="5105400"/>
            <a:ext cx="3657600" cy="838200"/>
          </a:xfrm>
          <a:prstGeom prst="rect">
            <a:avLst/>
          </a:prstGeom>
          <a:noFill/>
          <a:ln>
            <a:noFill/>
          </a:ln>
        </p:spPr>
        <p:txBody>
          <a:bodyPr spcFirstLastPara="1" wrap="square" lIns="121900" tIns="121900" rIns="121900" bIns="121900" anchor="ctr" anchorCtr="0">
            <a:noAutofit/>
          </a:bodyPr>
          <a:lstStyle/>
          <a:p>
            <a:r>
              <a:rPr lang="en" sz="2667" b="1" dirty="0" smtClean="0">
                <a:latin typeface="Courier New"/>
                <a:ea typeface="Courier New"/>
                <a:cs typeface="Courier New"/>
                <a:sym typeface="Courier New"/>
              </a:rPr>
              <a:t>priority &gt; 0.576</a:t>
            </a:r>
            <a:endParaRPr sz="2400" dirty="0"/>
          </a:p>
        </p:txBody>
      </p:sp>
      <p:sp>
        <p:nvSpPr>
          <p:cNvPr id="654" name="Google Shape;654;p73"/>
          <p:cNvSpPr txBox="1"/>
          <p:nvPr/>
        </p:nvSpPr>
        <p:spPr>
          <a:xfrm>
            <a:off x="304800" y="4648200"/>
            <a:ext cx="5105400" cy="533400"/>
          </a:xfrm>
          <a:prstGeom prst="rect">
            <a:avLst/>
          </a:prstGeom>
          <a:noFill/>
          <a:ln>
            <a:noFill/>
          </a:ln>
        </p:spPr>
        <p:txBody>
          <a:bodyPr spcFirstLastPara="1" wrap="square" lIns="121900" tIns="121900" rIns="121900" bIns="121900" anchor="t" anchorCtr="0">
            <a:noAutofit/>
          </a:bodyPr>
          <a:lstStyle/>
          <a:p>
            <a:r>
              <a:rPr lang="en" sz="2400" dirty="0" smtClean="0">
                <a:latin typeface="Trebuchet MS"/>
                <a:ea typeface="Trebuchet MS"/>
                <a:cs typeface="Trebuchet MS"/>
                <a:sym typeface="Trebuchet MS"/>
              </a:rPr>
              <a:t>Miners Accept </a:t>
            </a:r>
            <a:r>
              <a:rPr lang="en" sz="2400" dirty="0">
                <a:latin typeface="Trebuchet MS"/>
                <a:ea typeface="Trebuchet MS"/>
                <a:cs typeface="Trebuchet MS"/>
                <a:sym typeface="Trebuchet MS"/>
              </a:rPr>
              <a:t>without fees if:</a:t>
            </a:r>
            <a:endParaRPr sz="2400" dirty="0">
              <a:latin typeface="Trebuchet MS"/>
              <a:ea typeface="Trebuchet MS"/>
              <a:cs typeface="Trebuchet MS"/>
              <a:sym typeface="Trebuchet MS"/>
            </a:endParaRPr>
          </a:p>
        </p:txBody>
      </p:sp>
      <p:sp>
        <p:nvSpPr>
          <p:cNvPr id="2" name="Rectangle 1"/>
          <p:cNvSpPr/>
          <p:nvPr/>
        </p:nvSpPr>
        <p:spPr>
          <a:xfrm>
            <a:off x="0" y="3352800"/>
            <a:ext cx="11277600" cy="1200329"/>
          </a:xfrm>
          <a:prstGeom prst="rect">
            <a:avLst/>
          </a:prstGeom>
        </p:spPr>
        <p:txBody>
          <a:bodyPr wrap="square">
            <a:spAutoFit/>
          </a:bodyPr>
          <a:lstStyle/>
          <a:p>
            <a:r>
              <a:rPr lang="en-IN" b="1" i="1" dirty="0"/>
              <a:t>the transactions with </a:t>
            </a:r>
            <a:r>
              <a:rPr lang="en-IN" b="1" i="1" dirty="0" err="1"/>
              <a:t>higer</a:t>
            </a:r>
            <a:r>
              <a:rPr lang="en-IN" b="1" i="1" dirty="0"/>
              <a:t> values, that are spending older coins that haven't been moved in a while and with smaller dimensions have </a:t>
            </a:r>
            <a:r>
              <a:rPr lang="en-IN" b="1" i="1" dirty="0" err="1"/>
              <a:t>higer</a:t>
            </a:r>
            <a:r>
              <a:rPr lang="en-IN" b="1" i="1" dirty="0"/>
              <a:t> priority. </a:t>
            </a:r>
            <a:endParaRPr lang="en-IN" b="1" i="1" dirty="0" smtClean="0"/>
          </a:p>
          <a:p>
            <a:r>
              <a:rPr lang="en-IN" b="1" i="1" dirty="0"/>
              <a:t>So, if you want to move money more quickly, with lower amounts and complicated scripts, you will have to pay higher fees</a:t>
            </a:r>
            <a:r>
              <a:rPr lang="en-IN" b="1" i="1"/>
              <a:t>. </a:t>
            </a:r>
            <a:endParaRPr lang="en-IN" b="1" i="1" dirty="0"/>
          </a:p>
        </p:txBody>
      </p:sp>
      <p:sp>
        <p:nvSpPr>
          <p:cNvPr id="3" name="Rectangle 2"/>
          <p:cNvSpPr/>
          <p:nvPr/>
        </p:nvSpPr>
        <p:spPr>
          <a:xfrm>
            <a:off x="457200" y="6096000"/>
            <a:ext cx="9906000" cy="461665"/>
          </a:xfrm>
          <a:prstGeom prst="rect">
            <a:avLst/>
          </a:prstGeom>
        </p:spPr>
        <p:txBody>
          <a:bodyPr wrap="square">
            <a:spAutoFit/>
          </a:bodyPr>
          <a:lstStyle/>
          <a:p>
            <a:r>
              <a:rPr lang="en-IN" dirty="0"/>
              <a:t> </a:t>
            </a:r>
            <a:r>
              <a:rPr lang="en-IN" sz="2400" b="1" dirty="0"/>
              <a:t>It's a very arbitrary choice, but it's the default of Bitcoin core client.</a:t>
            </a:r>
          </a:p>
        </p:txBody>
      </p:sp>
    </p:spTree>
    <p:extLst>
      <p:ext uri="{BB962C8B-B14F-4D97-AF65-F5344CB8AC3E}">
        <p14:creationId xmlns:p14="http://schemas.microsoft.com/office/powerpoint/2010/main" val="1979780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4"/>
                                        </p:tgtEl>
                                        <p:attrNameLst>
                                          <p:attrName>style.visibility</p:attrName>
                                        </p:attrNameLst>
                                      </p:cBhvr>
                                      <p:to>
                                        <p:strVal val="visible"/>
                                      </p:to>
                                    </p:set>
                                    <p:anim calcmode="lin" valueType="num">
                                      <p:cBhvr additive="base">
                                        <p:cTn id="13" dur="500" fill="hold"/>
                                        <p:tgtEl>
                                          <p:spTgt spid="654"/>
                                        </p:tgtEl>
                                        <p:attrNameLst>
                                          <p:attrName>ppt_x</p:attrName>
                                        </p:attrNameLst>
                                      </p:cBhvr>
                                      <p:tavLst>
                                        <p:tav tm="0">
                                          <p:val>
                                            <p:strVal val="#ppt_x"/>
                                          </p:val>
                                        </p:tav>
                                        <p:tav tm="100000">
                                          <p:val>
                                            <p:strVal val="#ppt_x"/>
                                          </p:val>
                                        </p:tav>
                                      </p:tavLst>
                                    </p:anim>
                                    <p:anim calcmode="lin" valueType="num">
                                      <p:cBhvr additive="base">
                                        <p:cTn id="14" dur="500" fill="hold"/>
                                        <p:tgtEl>
                                          <p:spTgt spid="65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53"/>
                                        </p:tgtEl>
                                        <p:attrNameLst>
                                          <p:attrName>style.visibility</p:attrName>
                                        </p:attrNameLst>
                                      </p:cBhvr>
                                      <p:to>
                                        <p:strVal val="visible"/>
                                      </p:to>
                                    </p:set>
                                    <p:anim calcmode="lin" valueType="num">
                                      <p:cBhvr additive="base">
                                        <p:cTn id="19" dur="500" fill="hold"/>
                                        <p:tgtEl>
                                          <p:spTgt spid="653"/>
                                        </p:tgtEl>
                                        <p:attrNameLst>
                                          <p:attrName>ppt_x</p:attrName>
                                        </p:attrNameLst>
                                      </p:cBhvr>
                                      <p:tavLst>
                                        <p:tav tm="0">
                                          <p:val>
                                            <p:strVal val="#ppt_x"/>
                                          </p:val>
                                        </p:tav>
                                        <p:tav tm="100000">
                                          <p:val>
                                            <p:strVal val="#ppt_x"/>
                                          </p:val>
                                        </p:tav>
                                      </p:tavLst>
                                    </p:anim>
                                    <p:anim calcmode="lin" valueType="num">
                                      <p:cBhvr additive="base">
                                        <p:cTn id="20" dur="500" fill="hold"/>
                                        <p:tgtEl>
                                          <p:spTgt spid="65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 grpId="0"/>
      <p:bldP spid="654" grpId="0"/>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74"/>
          <p:cNvSpPr txBox="1">
            <a:spLocks noGrp="1"/>
          </p:cNvSpPr>
          <p:nvPr>
            <p:ph type="title"/>
          </p:nvPr>
        </p:nvSpPr>
        <p:spPr>
          <a:xfrm>
            <a:off x="304800" y="244137"/>
            <a:ext cx="11002000" cy="517863"/>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sz="2400" smtClean="0"/>
              <a:t>Transaction fees will matter more</a:t>
            </a:r>
            <a:endParaRPr sz="2400" dirty="0"/>
          </a:p>
        </p:txBody>
      </p:sp>
      <p:pic>
        <p:nvPicPr>
          <p:cNvPr id="662" name="Google Shape;662;p74"/>
          <p:cNvPicPr preferRelativeResize="0"/>
          <p:nvPr/>
        </p:nvPicPr>
        <p:blipFill>
          <a:blip r:embed="rId3">
            <a:alphaModFix/>
          </a:blip>
          <a:stretch>
            <a:fillRect/>
          </a:stretch>
        </p:blipFill>
        <p:spPr>
          <a:xfrm>
            <a:off x="152400" y="685800"/>
            <a:ext cx="4419600" cy="4176734"/>
          </a:xfrm>
          <a:prstGeom prst="rect">
            <a:avLst/>
          </a:prstGeom>
          <a:noFill/>
          <a:ln>
            <a:noFill/>
          </a:ln>
        </p:spPr>
      </p:pic>
      <p:sp>
        <p:nvSpPr>
          <p:cNvPr id="663" name="Google Shape;663;p74"/>
          <p:cNvSpPr txBox="1"/>
          <p:nvPr/>
        </p:nvSpPr>
        <p:spPr>
          <a:xfrm>
            <a:off x="533400" y="4572000"/>
            <a:ext cx="4876800" cy="609600"/>
          </a:xfrm>
          <a:prstGeom prst="rect">
            <a:avLst/>
          </a:prstGeom>
          <a:noFill/>
          <a:ln>
            <a:noFill/>
          </a:ln>
        </p:spPr>
        <p:txBody>
          <a:bodyPr spcFirstLastPara="1" wrap="square" lIns="121900" tIns="121900" rIns="121900" bIns="121900" anchor="t" anchorCtr="0">
            <a:noAutofit/>
          </a:bodyPr>
          <a:lstStyle/>
          <a:p>
            <a:r>
              <a:rPr lang="en" sz="2400" dirty="0"/>
              <a:t>Courtesy: </a:t>
            </a:r>
            <a:r>
              <a:rPr lang="en" sz="2400" dirty="0" smtClean="0"/>
              <a:t>Brian </a:t>
            </a:r>
            <a:r>
              <a:rPr lang="en" sz="2400" dirty="0"/>
              <a:t>Warner</a:t>
            </a:r>
            <a:endParaRPr sz="2400" dirty="0"/>
          </a:p>
        </p:txBody>
      </p:sp>
      <p:sp>
        <p:nvSpPr>
          <p:cNvPr id="2" name="Rectangle 1"/>
          <p:cNvSpPr/>
          <p:nvPr/>
        </p:nvSpPr>
        <p:spPr>
          <a:xfrm>
            <a:off x="5257800" y="32825"/>
            <a:ext cx="1906612" cy="369332"/>
          </a:xfrm>
          <a:prstGeom prst="rect">
            <a:avLst/>
          </a:prstGeom>
        </p:spPr>
        <p:txBody>
          <a:bodyPr wrap="none">
            <a:spAutoFit/>
          </a:bodyPr>
          <a:lstStyle/>
          <a:p>
            <a:r>
              <a:rPr lang="en-IN" b="1" dirty="0"/>
              <a:t>Key Observations:</a:t>
            </a:r>
            <a:endParaRPr lang="en-IN" dirty="0"/>
          </a:p>
        </p:txBody>
      </p:sp>
      <p:sp>
        <p:nvSpPr>
          <p:cNvPr id="3" name="Rectangle 2"/>
          <p:cNvSpPr/>
          <p:nvPr/>
        </p:nvSpPr>
        <p:spPr>
          <a:xfrm>
            <a:off x="4572000" y="990600"/>
            <a:ext cx="7543800" cy="5355312"/>
          </a:xfrm>
          <a:prstGeom prst="rect">
            <a:avLst/>
          </a:prstGeom>
        </p:spPr>
        <p:txBody>
          <a:bodyPr wrap="square">
            <a:spAutoFit/>
          </a:bodyPr>
          <a:lstStyle/>
          <a:p>
            <a:pPr marL="342900" indent="-342900">
              <a:buAutoNum type="arabicPeriod"/>
            </a:pPr>
            <a:r>
              <a:rPr lang="en-IN" b="1" dirty="0" smtClean="0"/>
              <a:t>Declining </a:t>
            </a:r>
            <a:r>
              <a:rPr lang="en-IN" b="1" dirty="0"/>
              <a:t>Block Rewards</a:t>
            </a:r>
            <a:r>
              <a:rPr lang="en-IN" dirty="0" smtClean="0"/>
              <a:t>:</a:t>
            </a:r>
          </a:p>
          <a:p>
            <a:pPr marL="285750" indent="-285750" algn="just">
              <a:buFont typeface="Arial" panose="020B0604020202020204" pitchFamily="34" charset="0"/>
              <a:buChar char="•"/>
            </a:pPr>
            <a:r>
              <a:rPr lang="en-IN" dirty="0" smtClean="0"/>
              <a:t>The </a:t>
            </a:r>
            <a:r>
              <a:rPr lang="en-IN" dirty="0"/>
              <a:t>most recent halving occurred in April 2024, reducing the block reward from 6.25 BTC to 3.125 BTC per block. </a:t>
            </a:r>
            <a:endParaRPr lang="en-IN" dirty="0" smtClean="0"/>
          </a:p>
          <a:p>
            <a:pPr marL="285750" indent="-285750" algn="just">
              <a:buFont typeface="Arial" panose="020B0604020202020204" pitchFamily="34" charset="0"/>
              <a:buChar char="•"/>
            </a:pPr>
            <a:r>
              <a:rPr lang="en-IN" dirty="0" smtClean="0"/>
              <a:t>This </a:t>
            </a:r>
            <a:r>
              <a:rPr lang="en-IN" dirty="0"/>
              <a:t>reduction aligns with </a:t>
            </a:r>
            <a:r>
              <a:rPr lang="en-IN" dirty="0" err="1"/>
              <a:t>Bitcoin's</a:t>
            </a:r>
            <a:r>
              <a:rPr lang="en-IN" dirty="0"/>
              <a:t> programmed halving schedule, which decreases miner rewards by 50% approximately every four years</a:t>
            </a:r>
            <a:r>
              <a:rPr lang="en-IN" dirty="0" smtClean="0"/>
              <a:t>.</a:t>
            </a:r>
          </a:p>
          <a:p>
            <a:pPr algn="just"/>
            <a:r>
              <a:rPr lang="en-IN" b="1" dirty="0" smtClean="0"/>
              <a:t>2. Transaction </a:t>
            </a:r>
            <a:r>
              <a:rPr lang="en-IN" b="1" dirty="0"/>
              <a:t>Fees as a Growing Revenue Source</a:t>
            </a:r>
            <a:r>
              <a:rPr lang="en-IN" b="1" dirty="0" smtClean="0"/>
              <a:t>:</a:t>
            </a:r>
          </a:p>
          <a:p>
            <a:pPr marL="285750" indent="-285750" algn="just">
              <a:buFont typeface="Arial" panose="020B0604020202020204" pitchFamily="34" charset="0"/>
              <a:buChar char="•"/>
            </a:pPr>
            <a:r>
              <a:rPr lang="en-IN" dirty="0" smtClean="0"/>
              <a:t>With </a:t>
            </a:r>
            <a:r>
              <a:rPr lang="en-IN" dirty="0"/>
              <a:t>the decrease in block rewards, transaction fees have become an increasingly vital component of miner revenue</a:t>
            </a:r>
            <a:r>
              <a:rPr lang="en-IN" dirty="0" smtClean="0"/>
              <a:t>.</a:t>
            </a:r>
          </a:p>
          <a:p>
            <a:pPr marL="285750" indent="-285750" algn="just">
              <a:buFont typeface="Arial" panose="020B0604020202020204" pitchFamily="34" charset="0"/>
              <a:buChar char="•"/>
            </a:pPr>
            <a:r>
              <a:rPr lang="en-IN" dirty="0" smtClean="0"/>
              <a:t>During </a:t>
            </a:r>
            <a:r>
              <a:rPr lang="en-IN" dirty="0"/>
              <a:t>periods of high network activity, such as the lead-up to the 2024 halving, transaction fees spiked, contributing significantly to miners' earnings</a:t>
            </a:r>
            <a:r>
              <a:rPr lang="en-IN" dirty="0" smtClean="0"/>
              <a:t>.</a:t>
            </a:r>
          </a:p>
          <a:p>
            <a:pPr algn="just"/>
            <a:r>
              <a:rPr lang="en-IN" b="1" dirty="0" smtClean="0"/>
              <a:t>3. Total </a:t>
            </a:r>
            <a:r>
              <a:rPr lang="en-IN" b="1" dirty="0"/>
              <a:t>Miner Revenue Trends:</a:t>
            </a:r>
            <a:endParaRPr lang="en-IN" dirty="0"/>
          </a:p>
          <a:p>
            <a:pPr marL="285750" indent="-285750" algn="just">
              <a:buFont typeface="Arial" panose="020B0604020202020204" pitchFamily="34" charset="0"/>
              <a:buChar char="•"/>
            </a:pPr>
            <a:r>
              <a:rPr lang="en-IN" dirty="0"/>
              <a:t>Despite the reduction in block rewards, total miner revenue has experienced fluctuations influenced by </a:t>
            </a:r>
            <a:r>
              <a:rPr lang="en-IN" dirty="0" err="1"/>
              <a:t>Bitcoin's</a:t>
            </a:r>
            <a:r>
              <a:rPr lang="en-IN" dirty="0"/>
              <a:t> market price and transaction volume.</a:t>
            </a:r>
          </a:p>
          <a:p>
            <a:pPr marL="285750" indent="-285750" algn="just">
              <a:buFont typeface="Arial" panose="020B0604020202020204" pitchFamily="34" charset="0"/>
              <a:buChar char="•"/>
            </a:pPr>
            <a:r>
              <a:rPr lang="en-IN" dirty="0"/>
              <a:t>As of February 25, 2025, daily miner revenue stands at approximately $42.86 million, reflecting a 7% increase from the previous day but a 7.79% decrease compared to the same period last year</a:t>
            </a:r>
          </a:p>
          <a:p>
            <a:endParaRPr lang="en-IN" dirty="0"/>
          </a:p>
        </p:txBody>
      </p:sp>
    </p:spTree>
    <p:extLst>
      <p:ext uri="{BB962C8B-B14F-4D97-AF65-F5344CB8AC3E}">
        <p14:creationId xmlns:p14="http://schemas.microsoft.com/office/powerpoint/2010/main" val="359745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63"/>
                                        </p:tgtEl>
                                        <p:attrNameLst>
                                          <p:attrName>style.visibility</p:attrName>
                                        </p:attrNameLst>
                                      </p:cBhvr>
                                      <p:to>
                                        <p:strVal val="visible"/>
                                      </p:to>
                                    </p:set>
                                    <p:animEffect transition="in" filter="fade">
                                      <p:cBhvr>
                                        <p:cTn id="7" dur="1000"/>
                                        <p:tgtEl>
                                          <p:spTgt spid="66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304801"/>
            <a:ext cx="10972800" cy="6262976"/>
          </a:xfrm>
        </p:spPr>
        <p:txBody>
          <a:bodyPr/>
          <a:lstStyle/>
          <a:p>
            <a:pPr>
              <a:buFont typeface="Arial" panose="020B0604020202020204" pitchFamily="34" charset="0"/>
              <a:buChar char="•"/>
            </a:pPr>
            <a:r>
              <a:rPr lang="en-IN" dirty="0"/>
              <a:t>As of 2025, over 19.6 million BTC have been mined</a:t>
            </a:r>
            <a:r>
              <a:rPr lang="en-IN" dirty="0" smtClean="0"/>
              <a:t>.</a:t>
            </a:r>
          </a:p>
          <a:p>
            <a:pPr>
              <a:buFont typeface="Arial" panose="020B0604020202020204" pitchFamily="34" charset="0"/>
              <a:buChar char="•"/>
            </a:pPr>
            <a:r>
              <a:rPr lang="en-IN" dirty="0" smtClean="0"/>
              <a:t>By </a:t>
            </a:r>
            <a:r>
              <a:rPr lang="en-IN" dirty="0"/>
              <a:t>2140, nearly all 21 million BTC will have been issued</a:t>
            </a:r>
            <a:r>
              <a:rPr lang="en-IN" dirty="0" smtClean="0"/>
              <a:t>.</a:t>
            </a:r>
          </a:p>
          <a:p>
            <a:pPr>
              <a:buFont typeface="Arial" panose="020B0604020202020204" pitchFamily="34" charset="0"/>
              <a:buChar char="•"/>
            </a:pPr>
            <a:r>
              <a:rPr lang="en-IN" dirty="0" smtClean="0"/>
              <a:t>After </a:t>
            </a:r>
            <a:r>
              <a:rPr lang="en-IN" dirty="0"/>
              <a:t>that point, </a:t>
            </a:r>
            <a:r>
              <a:rPr lang="en-IN" dirty="0" smtClean="0"/>
              <a:t>miners will rely entirely on transaction </a:t>
            </a:r>
            <a:r>
              <a:rPr lang="en-IN" dirty="0" err="1" smtClean="0"/>
              <a:t>fees.In</a:t>
            </a:r>
            <a:r>
              <a:rPr lang="en-IN" dirty="0" smtClean="0"/>
              <a:t> </a:t>
            </a:r>
            <a:r>
              <a:rPr lang="en-IN" dirty="0"/>
              <a:t>the future, </a:t>
            </a:r>
            <a:r>
              <a:rPr lang="en-IN" b="1" dirty="0"/>
              <a:t>transaction fees</a:t>
            </a:r>
            <a:r>
              <a:rPr lang="en-IN" dirty="0"/>
              <a:t> will be the </a:t>
            </a:r>
            <a:r>
              <a:rPr lang="en-IN" b="1" dirty="0"/>
              <a:t>primary income</a:t>
            </a:r>
            <a:r>
              <a:rPr lang="en-IN" dirty="0"/>
              <a:t> for miners</a:t>
            </a:r>
            <a:r>
              <a:rPr lang="en-IN" dirty="0" smtClean="0"/>
              <a:t>.</a:t>
            </a:r>
          </a:p>
          <a:p>
            <a:pPr>
              <a:buFont typeface="Arial" panose="020B0604020202020204" pitchFamily="34" charset="0"/>
              <a:buChar char="•"/>
            </a:pPr>
            <a:r>
              <a:rPr lang="en-IN" dirty="0"/>
              <a:t>As of </a:t>
            </a:r>
            <a:r>
              <a:rPr lang="en-IN" b="1" dirty="0"/>
              <a:t>2025</a:t>
            </a:r>
            <a:r>
              <a:rPr lang="en-IN" dirty="0"/>
              <a:t>, the current block reward is </a:t>
            </a:r>
            <a:r>
              <a:rPr lang="en-IN" b="1" dirty="0"/>
              <a:t>3.125 BTC per block</a:t>
            </a:r>
            <a:r>
              <a:rPr lang="en-IN" dirty="0"/>
              <a:t>.</a:t>
            </a:r>
            <a:br>
              <a:rPr lang="en-IN" dirty="0"/>
            </a:br>
            <a:r>
              <a:rPr lang="en-IN" dirty="0" smtClean="0"/>
              <a:t>   -- The </a:t>
            </a:r>
            <a:r>
              <a:rPr lang="en-IN" dirty="0"/>
              <a:t>next halving (expected in </a:t>
            </a:r>
            <a:r>
              <a:rPr lang="en-IN" b="1" dirty="0"/>
              <a:t>2028</a:t>
            </a:r>
            <a:r>
              <a:rPr lang="en-IN" dirty="0"/>
              <a:t>) will reduce it to </a:t>
            </a:r>
            <a:r>
              <a:rPr lang="en-IN" b="1" dirty="0"/>
              <a:t>1.5625 BTC</a:t>
            </a:r>
            <a:r>
              <a:rPr lang="en-IN" dirty="0"/>
              <a:t>.</a:t>
            </a:r>
            <a:br>
              <a:rPr lang="en-IN" dirty="0"/>
            </a:br>
            <a:r>
              <a:rPr lang="en-IN" dirty="0" smtClean="0"/>
              <a:t>   --</a:t>
            </a:r>
            <a:r>
              <a:rPr lang="en-IN" b="1" dirty="0" smtClean="0"/>
              <a:t>Transaction </a:t>
            </a:r>
            <a:r>
              <a:rPr lang="en-IN" b="1" dirty="0"/>
              <a:t>fees currently account for ~10-15%</a:t>
            </a:r>
            <a:r>
              <a:rPr lang="en-IN" dirty="0"/>
              <a:t> of total miner revenue (up from &lt;1% in early years).</a:t>
            </a:r>
          </a:p>
          <a:p>
            <a:pPr marL="50799" indent="0">
              <a:buNone/>
            </a:pPr>
            <a:r>
              <a:rPr lang="en-IN" b="1" dirty="0"/>
              <a:t>Open questions</a:t>
            </a:r>
            <a:r>
              <a:rPr lang="en-IN" dirty="0"/>
              <a:t>:</a:t>
            </a:r>
          </a:p>
          <a:p>
            <a:pPr lvl="1"/>
            <a:r>
              <a:rPr lang="en-IN" dirty="0"/>
              <a:t>Will miners </a:t>
            </a:r>
            <a:r>
              <a:rPr lang="en-IN" b="1" dirty="0"/>
              <a:t>collude</a:t>
            </a:r>
            <a:r>
              <a:rPr lang="en-IN" dirty="0"/>
              <a:t> to enforce higher fees?</a:t>
            </a:r>
          </a:p>
          <a:p>
            <a:pPr lvl="1"/>
            <a:r>
              <a:rPr lang="en-IN" dirty="0"/>
              <a:t>Will they </a:t>
            </a:r>
            <a:r>
              <a:rPr lang="en-IN" b="1" dirty="0"/>
              <a:t>refuse low-fee transactions</a:t>
            </a:r>
            <a:r>
              <a:rPr lang="en-IN" dirty="0"/>
              <a:t>?</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35533726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1531</Words>
  <Application>Microsoft Office PowerPoint</Application>
  <PresentationFormat>Widescreen</PresentationFormat>
  <Paragraphs>170</Paragraphs>
  <Slides>22</Slides>
  <Notes>6</Notes>
  <HiddenSlides>9</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Courier New</vt:lpstr>
      <vt:lpstr>Trebuchet MS</vt:lpstr>
      <vt:lpstr>Wingdings</vt:lpstr>
      <vt:lpstr>Office Theme</vt:lpstr>
      <vt:lpstr>PowerPoint Presentation</vt:lpstr>
      <vt:lpstr>Analysis of mining</vt:lpstr>
      <vt:lpstr>PowerPoint Presentation</vt:lpstr>
      <vt:lpstr>PowerPoint Presentation</vt:lpstr>
      <vt:lpstr>PowerPoint Presentation</vt:lpstr>
      <vt:lpstr>PowerPoint Presentation</vt:lpstr>
      <vt:lpstr>PowerPoint Presentation</vt:lpstr>
      <vt:lpstr>2.Forking attacks via bribery(Bribery attack/Nothing-at-Stake)</vt:lpstr>
      <vt:lpstr>3.Block-withholding attacks(Selfish Mining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transaction fees</vt:lpstr>
      <vt:lpstr>Transaction fees will matter more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3</cp:revision>
  <dcterms:created xsi:type="dcterms:W3CDTF">2025-03-01T03:18:26Z</dcterms:created>
  <dcterms:modified xsi:type="dcterms:W3CDTF">2025-03-01T04:04:54Z</dcterms:modified>
</cp:coreProperties>
</file>