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9" r:id="rId4"/>
    <p:sldId id="260" r:id="rId5"/>
    <p:sldId id="261" r:id="rId6"/>
    <p:sldId id="262" r:id="rId7"/>
    <p:sldId id="263" r:id="rId8"/>
    <p:sldId id="264" r:id="rId9"/>
    <p:sldId id="265" r:id="rId10"/>
    <p:sldId id="268" r:id="rId11"/>
    <p:sldId id="269" r:id="rId12"/>
    <p:sldId id="270" r:id="rId13"/>
    <p:sldId id="271" r:id="rId14"/>
    <p:sldId id="272" r:id="rId15"/>
    <p:sldId id="274" r:id="rId16"/>
    <p:sldId id="275" r:id="rId17"/>
    <p:sldId id="279" r:id="rId18"/>
    <p:sldId id="28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howGuides="1">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633E6-4392-47FA-BA59-15CD24212329}" type="datetimeFigureOut">
              <a:rPr lang="en-IN" smtClean="0"/>
              <a:t>01-03-2025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3F4FF3-9D94-41C2-B568-8899E45B0938}" type="slidenum">
              <a:rPr lang="en-IN" smtClean="0"/>
              <a:t>‹#›</a:t>
            </a:fld>
            <a:endParaRPr lang="en-IN"/>
          </a:p>
        </p:txBody>
      </p:sp>
    </p:spTree>
    <p:extLst>
      <p:ext uri="{BB962C8B-B14F-4D97-AF65-F5344CB8AC3E}">
        <p14:creationId xmlns:p14="http://schemas.microsoft.com/office/powerpoint/2010/main" val="492887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6e91fd57_0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36e91fd57_0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Font typeface="Arial"/>
              <a:buNone/>
            </a:pPr>
            <a:endParaRPr sz="1100" b="0" i="0" u="none" strike="noStrike" cap="none" dirty="0"/>
          </a:p>
        </p:txBody>
      </p:sp>
    </p:spTree>
    <p:extLst>
      <p:ext uri="{BB962C8B-B14F-4D97-AF65-F5344CB8AC3E}">
        <p14:creationId xmlns:p14="http://schemas.microsoft.com/office/powerpoint/2010/main" val="4134622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6f4a98fd_24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36f4a98fd_2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104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6f4a98fd_2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6f4a98fd_2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3215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6f4a98fd_2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36f4a98fd_2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2953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D5A08BA-9E8B-442F-ACF3-C10B3F1A2B83}" type="slidenum">
              <a:rPr lang="en-IN" smtClean="0"/>
              <a:t>16</a:t>
            </a:fld>
            <a:endParaRPr lang="en-IN"/>
          </a:p>
        </p:txBody>
      </p:sp>
    </p:spTree>
    <p:extLst>
      <p:ext uri="{BB962C8B-B14F-4D97-AF65-F5344CB8AC3E}">
        <p14:creationId xmlns:p14="http://schemas.microsoft.com/office/powerpoint/2010/main" val="2077286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6f4a98fd_2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6f4a98fd_2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7358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993672B-7C89-47C2-8F8C-FABF07B88C54}"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2296480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93672B-7C89-47C2-8F8C-FABF07B88C54}"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117282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93672B-7C89-47C2-8F8C-FABF07B88C54}"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3600831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993672B-7C89-47C2-8F8C-FABF07B88C54}"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2076427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993672B-7C89-47C2-8F8C-FABF07B88C54}" type="datetimeFigureOut">
              <a:rPr lang="en-IN" smtClean="0"/>
              <a:t>01-03-2025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2243104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993672B-7C89-47C2-8F8C-FABF07B88C54}" type="datetimeFigureOut">
              <a:rPr lang="en-IN" smtClean="0"/>
              <a:t>01-03-2025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3519461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3672B-7C89-47C2-8F8C-FABF07B88C54}" type="datetimeFigureOut">
              <a:rPr lang="en-IN" smtClean="0"/>
              <a:t>01-03-2025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59911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3672B-7C89-47C2-8F8C-FABF07B88C54}"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3882567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3672B-7C89-47C2-8F8C-FABF07B88C54}"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382567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93672B-7C89-47C2-8F8C-FABF07B88C54}"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2860757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93672B-7C89-47C2-8F8C-FABF07B88C54}"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84E0AB4-88EE-4E7A-A2CC-A1125C2CDBF8}" type="slidenum">
              <a:rPr lang="en-IN" smtClean="0"/>
              <a:t>‹#›</a:t>
            </a:fld>
            <a:endParaRPr lang="en-IN"/>
          </a:p>
        </p:txBody>
      </p:sp>
    </p:spTree>
    <p:extLst>
      <p:ext uri="{BB962C8B-B14F-4D97-AF65-F5344CB8AC3E}">
        <p14:creationId xmlns:p14="http://schemas.microsoft.com/office/powerpoint/2010/main" val="2322021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09600" y="274637"/>
            <a:ext cx="10972800" cy="1143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609600" y="1600201"/>
            <a:ext cx="10972800" cy="4967575"/>
          </a:xfrm>
          <a:prstGeom prst="rect">
            <a:avLst/>
          </a:prstGeom>
        </p:spPr>
        <p:txBody>
          <a:bodyPr spcFirstLastPara="1" wrap="square" lIns="91425" tIns="91425" rIns="91425" bIns="91425" anchor="t" anchorCtr="0">
            <a:noAutofit/>
          </a:bodyPr>
          <a:lstStyle>
            <a:lvl1pPr marL="609585" lvl="0" indent="-558786">
              <a:spcBef>
                <a:spcPts val="800"/>
              </a:spcBef>
              <a:spcAft>
                <a:spcPts val="0"/>
              </a:spcAft>
              <a:buSzPts val="30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Tree>
    <p:extLst>
      <p:ext uri="{BB962C8B-B14F-4D97-AF65-F5344CB8AC3E}">
        <p14:creationId xmlns:p14="http://schemas.microsoft.com/office/powerpoint/2010/main" val="964306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3672B-7C89-47C2-8F8C-FABF07B88C54}" type="datetimeFigureOut">
              <a:rPr lang="en-IN" smtClean="0"/>
              <a:t>01-03-2025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4E0AB4-88EE-4E7A-A2CC-A1125C2CDBF8}" type="slidenum">
              <a:rPr lang="en-IN" smtClean="0"/>
              <a:t>‹#›</a:t>
            </a:fld>
            <a:endParaRPr lang="en-IN"/>
          </a:p>
        </p:txBody>
      </p:sp>
    </p:spTree>
    <p:extLst>
      <p:ext uri="{BB962C8B-B14F-4D97-AF65-F5344CB8AC3E}">
        <p14:creationId xmlns:p14="http://schemas.microsoft.com/office/powerpoint/2010/main" val="1518808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buybitcoinworldwide.com/mining/cloud-mining/" TargetMode="Externa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hyperlink" Target="https://www.buybitcoinworldwide.com/mining/pool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7"/>
          <p:cNvSpPr txBox="1">
            <a:spLocks noGrp="1"/>
          </p:cNvSpPr>
          <p:nvPr>
            <p:ph type="subTitle" idx="1"/>
          </p:nvPr>
        </p:nvSpPr>
        <p:spPr>
          <a:xfrm>
            <a:off x="914400" y="2253961"/>
            <a:ext cx="10363200" cy="22976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endParaRPr sz="4000" dirty="0">
              <a:solidFill>
                <a:schemeClr val="dk2"/>
              </a:solidFill>
              <a:latin typeface="Trebuchet MS"/>
              <a:ea typeface="Trebuchet MS"/>
              <a:cs typeface="Trebuchet MS"/>
              <a:sym typeface="Trebuchet MS"/>
            </a:endParaRPr>
          </a:p>
          <a:p>
            <a:pPr>
              <a:spcBef>
                <a:spcPts val="0"/>
              </a:spcBef>
              <a:spcAft>
                <a:spcPts val="0"/>
              </a:spcAft>
              <a:buClr>
                <a:schemeClr val="dk2"/>
              </a:buClr>
            </a:pPr>
            <a:r>
              <a:rPr lang="en" dirty="0"/>
              <a:t>Mining pools</a:t>
            </a:r>
            <a:endParaRPr dirty="0"/>
          </a:p>
        </p:txBody>
      </p:sp>
    </p:spTree>
    <p:extLst>
      <p:ext uri="{BB962C8B-B14F-4D97-AF65-F5344CB8AC3E}">
        <p14:creationId xmlns:p14="http://schemas.microsoft.com/office/powerpoint/2010/main" val="39408878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394"/>
        <p:cNvGrpSpPr/>
        <p:nvPr/>
      </p:nvGrpSpPr>
      <p:grpSpPr>
        <a:xfrm>
          <a:off x="0" y="0"/>
          <a:ext cx="0" cy="0"/>
          <a:chOff x="0" y="0"/>
          <a:chExt cx="0" cy="0"/>
        </a:xfrm>
      </p:grpSpPr>
      <p:sp>
        <p:nvSpPr>
          <p:cNvPr id="395" name="Google Shape;395;p48"/>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a:t>Economics of being a small miner</a:t>
            </a:r>
            <a:endParaRPr/>
          </a:p>
        </p:txBody>
      </p:sp>
      <p:pic>
        <p:nvPicPr>
          <p:cNvPr id="396" name="Google Shape;396;p48"/>
          <p:cNvPicPr preferRelativeResize="0"/>
          <p:nvPr/>
        </p:nvPicPr>
        <p:blipFill>
          <a:blip r:embed="rId3">
            <a:alphaModFix/>
          </a:blip>
          <a:stretch>
            <a:fillRect/>
          </a:stretch>
        </p:blipFill>
        <p:spPr>
          <a:xfrm>
            <a:off x="690833" y="1785965"/>
            <a:ext cx="4107600" cy="3286067"/>
          </a:xfrm>
          <a:prstGeom prst="rect">
            <a:avLst/>
          </a:prstGeom>
          <a:noFill/>
          <a:ln>
            <a:noFill/>
          </a:ln>
        </p:spPr>
      </p:pic>
      <p:sp>
        <p:nvSpPr>
          <p:cNvPr id="397" name="Google Shape;397;p48"/>
          <p:cNvSpPr txBox="1">
            <a:spLocks noGrp="1"/>
          </p:cNvSpPr>
          <p:nvPr>
            <p:ph type="body" idx="1"/>
          </p:nvPr>
        </p:nvSpPr>
        <p:spPr>
          <a:xfrm>
            <a:off x="4986533" y="1633433"/>
            <a:ext cx="6370800" cy="3988800"/>
          </a:xfrm>
          <a:prstGeom prst="rect">
            <a:avLst/>
          </a:prstGeom>
        </p:spPr>
        <p:txBody>
          <a:bodyPr spcFirstLastPara="1" vert="horz" wrap="square" lIns="121900" tIns="121900" rIns="121900" bIns="121900" numCol="1" anchor="t" anchorCtr="0" compatLnSpc="1">
            <a:prstTxWarp prst="textNoShape">
              <a:avLst/>
            </a:prstTxWarp>
            <a:noAutofit/>
          </a:bodyPr>
          <a:lstStyle/>
          <a:p>
            <a:r>
              <a:rPr lang="en" dirty="0"/>
              <a:t>Cost: ≈US$6,000</a:t>
            </a:r>
            <a:endParaRPr dirty="0"/>
          </a:p>
          <a:p>
            <a:pPr>
              <a:spcBef>
                <a:spcPts val="0"/>
              </a:spcBef>
            </a:pPr>
            <a:r>
              <a:rPr lang="en" dirty="0"/>
              <a:t>Expected time to find a block: ≈14 months</a:t>
            </a:r>
            <a:endParaRPr dirty="0"/>
          </a:p>
          <a:p>
            <a:pPr>
              <a:spcBef>
                <a:spcPts val="0"/>
              </a:spcBef>
            </a:pPr>
            <a:r>
              <a:rPr lang="en" dirty="0"/>
              <a:t>Expected revenue: ≈</a:t>
            </a:r>
            <a:r>
              <a:rPr lang="en" dirty="0" smtClean="0"/>
              <a:t>$2,000/month</a:t>
            </a:r>
            <a:endParaRPr dirty="0"/>
          </a:p>
          <a:p>
            <a:pPr marL="0" indent="0">
              <a:buNone/>
            </a:pPr>
            <a:endParaRPr dirty="0"/>
          </a:p>
        </p:txBody>
      </p:sp>
      <p:sp>
        <p:nvSpPr>
          <p:cNvPr id="398" name="Google Shape;398;p48"/>
          <p:cNvSpPr txBox="1"/>
          <p:nvPr/>
        </p:nvSpPr>
        <p:spPr>
          <a:xfrm>
            <a:off x="792633" y="3681000"/>
            <a:ext cx="4869600" cy="4000000"/>
          </a:xfrm>
          <a:prstGeom prst="rect">
            <a:avLst/>
          </a:prstGeom>
          <a:noFill/>
          <a:ln>
            <a:noFill/>
          </a:ln>
        </p:spPr>
        <p:txBody>
          <a:bodyPr spcFirstLastPara="1" wrap="square" lIns="121900" tIns="121900" rIns="121900" bIns="121900" anchor="ctr" anchorCtr="0">
            <a:noAutofit/>
          </a:bodyPr>
          <a:lstStyle/>
          <a:p>
            <a:r>
              <a:rPr lang="en" sz="4800" b="1">
                <a:solidFill>
                  <a:schemeClr val="dk1"/>
                </a:solidFill>
                <a:latin typeface="Trebuchet MS"/>
                <a:ea typeface="Trebuchet MS"/>
                <a:cs typeface="Trebuchet MS"/>
                <a:sym typeface="Trebuchet MS"/>
              </a:rPr>
              <a:t>TerraMiner IV</a:t>
            </a:r>
            <a:endParaRPr sz="2400"/>
          </a:p>
        </p:txBody>
      </p:sp>
    </p:spTree>
    <p:extLst>
      <p:ext uri="{BB962C8B-B14F-4D97-AF65-F5344CB8AC3E}">
        <p14:creationId xmlns:p14="http://schemas.microsoft.com/office/powerpoint/2010/main" val="29149592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pPr marL="50799" indent="0">
              <a:buNone/>
            </a:pPr>
            <a:r>
              <a:rPr lang="en-IN" b="1" dirty="0"/>
              <a:t>Computing the revenue for each </a:t>
            </a:r>
            <a:r>
              <a:rPr lang="en-IN" b="1" dirty="0" smtClean="0"/>
              <a:t>miner:</a:t>
            </a:r>
          </a:p>
          <a:p>
            <a:pPr marL="50799" indent="0">
              <a:buNone/>
            </a:pPr>
            <a:endParaRPr lang="en-IN" b="1" dirty="0"/>
          </a:p>
          <a:p>
            <a:pPr algn="just"/>
            <a:r>
              <a:rPr lang="en-IN" dirty="0" smtClean="0"/>
              <a:t>The </a:t>
            </a:r>
            <a:r>
              <a:rPr lang="en-IN" dirty="0"/>
              <a:t>pool manager chooses the new transactions that are going to be inserted, assemble the </a:t>
            </a:r>
            <a:r>
              <a:rPr lang="en-IN" dirty="0" err="1"/>
              <a:t>Merkle</a:t>
            </a:r>
            <a:r>
              <a:rPr lang="en-IN" dirty="0"/>
              <a:t> tree including the </a:t>
            </a:r>
            <a:r>
              <a:rPr lang="en-IN" dirty="0" err="1"/>
              <a:t>coinbase</a:t>
            </a:r>
            <a:r>
              <a:rPr lang="en-IN" dirty="0"/>
              <a:t> transaction that creates new coins towards himself.</a:t>
            </a:r>
          </a:p>
          <a:p>
            <a:pPr algn="just"/>
            <a:r>
              <a:rPr lang="en-IN" dirty="0" smtClean="0"/>
              <a:t>The </a:t>
            </a:r>
            <a:r>
              <a:rPr lang="en-IN" dirty="0"/>
              <a:t>block header will be sent to all of the participants in the pool. The miners have to prove that </a:t>
            </a:r>
            <a:r>
              <a:rPr lang="en-IN" dirty="0" smtClean="0"/>
              <a:t>they </a:t>
            </a:r>
            <a:r>
              <a:rPr lang="en-IN" dirty="0"/>
              <a:t> been working on it by sending in shares showing that </a:t>
            </a:r>
            <a:r>
              <a:rPr lang="en-IN" dirty="0" smtClean="0"/>
              <a:t>they have  </a:t>
            </a:r>
            <a:r>
              <a:rPr lang="en-IN" dirty="0"/>
              <a:t>been hashing this block. Finally one of the miners, hopefully in the pool, finds a valid block that will be published.</a:t>
            </a:r>
          </a:p>
          <a:p>
            <a:pPr algn="just"/>
            <a:r>
              <a:rPr lang="en-IN" dirty="0"/>
              <a:t>After this happens, all the miners will send the pool manager all the shares found. He will verify them and distribute the revenue proportionally to how much work they actually did.</a:t>
            </a:r>
          </a:p>
          <a:p>
            <a:pPr marL="50799" indent="0" algn="just">
              <a:buNone/>
            </a:pPr>
            <a:endParaRPr lang="en-IN" dirty="0"/>
          </a:p>
        </p:txBody>
      </p:sp>
    </p:spTree>
    <p:extLst>
      <p:ext uri="{BB962C8B-B14F-4D97-AF65-F5344CB8AC3E}">
        <p14:creationId xmlns:p14="http://schemas.microsoft.com/office/powerpoint/2010/main" val="2145072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53"/>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a:t>Mining pools</a:t>
            </a:r>
            <a:endParaRPr/>
          </a:p>
        </p:txBody>
      </p:sp>
      <p:pic>
        <p:nvPicPr>
          <p:cNvPr id="440" name="Google Shape;440;p53"/>
          <p:cNvPicPr preferRelativeResize="0"/>
          <p:nvPr/>
        </p:nvPicPr>
        <p:blipFill>
          <a:blip r:embed="rId3">
            <a:alphaModFix/>
          </a:blip>
          <a:stretch>
            <a:fillRect/>
          </a:stretch>
        </p:blipFill>
        <p:spPr>
          <a:xfrm>
            <a:off x="4534048" y="5334582"/>
            <a:ext cx="4155045" cy="1267852"/>
          </a:xfrm>
          <a:prstGeom prst="rect">
            <a:avLst/>
          </a:prstGeom>
          <a:noFill/>
          <a:ln>
            <a:noFill/>
          </a:ln>
        </p:spPr>
      </p:pic>
      <p:sp>
        <p:nvSpPr>
          <p:cNvPr id="441" name="Google Shape;441;p53"/>
          <p:cNvSpPr/>
          <p:nvPr/>
        </p:nvSpPr>
        <p:spPr>
          <a:xfrm>
            <a:off x="6869504" y="5334581"/>
            <a:ext cx="2411600" cy="12680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pic>
        <p:nvPicPr>
          <p:cNvPr id="442" name="Google Shape;442;p53"/>
          <p:cNvPicPr preferRelativeResize="0"/>
          <p:nvPr/>
        </p:nvPicPr>
        <p:blipFill>
          <a:blip r:embed="rId4">
            <a:alphaModFix/>
          </a:blip>
          <a:stretch>
            <a:fillRect/>
          </a:stretch>
        </p:blipFill>
        <p:spPr>
          <a:xfrm>
            <a:off x="8795953" y="5231431"/>
            <a:ext cx="2291047" cy="1192088"/>
          </a:xfrm>
          <a:prstGeom prst="rect">
            <a:avLst/>
          </a:prstGeom>
          <a:noFill/>
          <a:ln>
            <a:noFill/>
          </a:ln>
        </p:spPr>
      </p:pic>
      <p:sp>
        <p:nvSpPr>
          <p:cNvPr id="443" name="Google Shape;443;p53"/>
          <p:cNvSpPr txBox="1"/>
          <p:nvPr/>
        </p:nvSpPr>
        <p:spPr>
          <a:xfrm>
            <a:off x="238135" y="4462933"/>
            <a:ext cx="3789600" cy="522400"/>
          </a:xfrm>
          <a:prstGeom prst="rect">
            <a:avLst/>
          </a:prstGeom>
          <a:noFill/>
          <a:ln>
            <a:noFill/>
          </a:ln>
        </p:spPr>
        <p:txBody>
          <a:bodyPr spcFirstLastPara="1" wrap="square" lIns="121900" tIns="121900" rIns="121900" bIns="121900" anchor="t" anchorCtr="0">
            <a:noAutofit/>
          </a:bodyPr>
          <a:lstStyle/>
          <a:p>
            <a:r>
              <a:rPr lang="en" sz="2400">
                <a:latin typeface="Courier New"/>
                <a:ea typeface="Courier New"/>
                <a:cs typeface="Courier New"/>
                <a:sym typeface="Courier New"/>
              </a:rPr>
              <a:t>0x00000000</a:t>
            </a:r>
            <a:r>
              <a:rPr lang="en" sz="2400">
                <a:solidFill>
                  <a:schemeClr val="dk1"/>
                </a:solidFill>
                <a:latin typeface="Courier New"/>
                <a:ea typeface="Courier New"/>
                <a:cs typeface="Courier New"/>
                <a:sym typeface="Courier New"/>
              </a:rPr>
              <a:t>000490c</a:t>
            </a:r>
            <a:r>
              <a:rPr lang="en" sz="2400">
                <a:latin typeface="Courier New"/>
                <a:ea typeface="Courier New"/>
                <a:cs typeface="Courier New"/>
                <a:sym typeface="Courier New"/>
              </a:rPr>
              <a:t>6b00...</a:t>
            </a:r>
            <a:endParaRPr sz="2400">
              <a:latin typeface="Courier New"/>
              <a:ea typeface="Courier New"/>
              <a:cs typeface="Courier New"/>
              <a:sym typeface="Courier New"/>
            </a:endParaRPr>
          </a:p>
        </p:txBody>
      </p:sp>
      <p:sp>
        <p:nvSpPr>
          <p:cNvPr id="444" name="Google Shape;444;p53"/>
          <p:cNvSpPr txBox="1"/>
          <p:nvPr/>
        </p:nvSpPr>
        <p:spPr>
          <a:xfrm>
            <a:off x="8330668" y="4003251"/>
            <a:ext cx="3841200" cy="522400"/>
          </a:xfrm>
          <a:prstGeom prst="rect">
            <a:avLst/>
          </a:prstGeom>
          <a:noFill/>
          <a:ln>
            <a:noFill/>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0x00000000</a:t>
            </a:r>
            <a:r>
              <a:rPr lang="en" sz="2400" b="1">
                <a:solidFill>
                  <a:schemeClr val="dk1"/>
                </a:solidFill>
                <a:latin typeface="Courier New"/>
                <a:ea typeface="Courier New"/>
                <a:cs typeface="Courier New"/>
                <a:sym typeface="Courier New"/>
              </a:rPr>
              <a:t>00000000</a:t>
            </a:r>
            <a:r>
              <a:rPr lang="en" sz="2400" b="1">
                <a:latin typeface="Courier New"/>
                <a:ea typeface="Courier New"/>
                <a:cs typeface="Courier New"/>
                <a:sym typeface="Courier New"/>
              </a:rPr>
              <a:t>3f89...</a:t>
            </a:r>
            <a:endParaRPr sz="2400" b="1">
              <a:latin typeface="Courier New"/>
              <a:ea typeface="Courier New"/>
              <a:cs typeface="Courier New"/>
              <a:sym typeface="Courier New"/>
            </a:endParaRPr>
          </a:p>
        </p:txBody>
      </p:sp>
      <p:sp>
        <p:nvSpPr>
          <p:cNvPr id="445" name="Google Shape;445;p53"/>
          <p:cNvSpPr txBox="1"/>
          <p:nvPr/>
        </p:nvSpPr>
        <p:spPr>
          <a:xfrm>
            <a:off x="238135" y="4003267"/>
            <a:ext cx="3841200" cy="522400"/>
          </a:xfrm>
          <a:prstGeom prst="rect">
            <a:avLst/>
          </a:prstGeom>
          <a:noFill/>
          <a:ln>
            <a:noFill/>
          </a:ln>
        </p:spPr>
        <p:txBody>
          <a:bodyPr spcFirstLastPara="1" wrap="square" lIns="121900" tIns="121900" rIns="121900" bIns="121900" anchor="t" anchorCtr="0">
            <a:noAutofit/>
          </a:bodyPr>
          <a:lstStyle/>
          <a:p>
            <a:r>
              <a:rPr lang="en" sz="2400">
                <a:latin typeface="Courier New"/>
                <a:ea typeface="Courier New"/>
                <a:cs typeface="Courier New"/>
                <a:sym typeface="Courier New"/>
              </a:rPr>
              <a:t>0x0000000</a:t>
            </a:r>
            <a:r>
              <a:rPr lang="en" sz="2400">
                <a:solidFill>
                  <a:schemeClr val="dk1"/>
                </a:solidFill>
                <a:latin typeface="Courier New"/>
                <a:ea typeface="Courier New"/>
                <a:cs typeface="Courier New"/>
                <a:sym typeface="Courier New"/>
              </a:rPr>
              <a:t>00001e87</a:t>
            </a:r>
            <a:r>
              <a:rPr lang="en" sz="2400">
                <a:latin typeface="Courier New"/>
                <a:ea typeface="Courier New"/>
                <a:cs typeface="Courier New"/>
                <a:sym typeface="Courier New"/>
              </a:rPr>
              <a:t>09ce...</a:t>
            </a:r>
            <a:endParaRPr sz="2400">
              <a:latin typeface="Courier New"/>
              <a:ea typeface="Courier New"/>
              <a:cs typeface="Courier New"/>
              <a:sym typeface="Courier New"/>
            </a:endParaRPr>
          </a:p>
        </p:txBody>
      </p:sp>
      <p:sp>
        <p:nvSpPr>
          <p:cNvPr id="446" name="Google Shape;446;p53"/>
          <p:cNvSpPr txBox="1"/>
          <p:nvPr/>
        </p:nvSpPr>
        <p:spPr>
          <a:xfrm>
            <a:off x="4319867" y="4462933"/>
            <a:ext cx="3789600" cy="522400"/>
          </a:xfrm>
          <a:prstGeom prst="rect">
            <a:avLst/>
          </a:prstGeom>
          <a:noFill/>
          <a:ln>
            <a:noFill/>
          </a:ln>
        </p:spPr>
        <p:txBody>
          <a:bodyPr spcFirstLastPara="1" wrap="square" lIns="121900" tIns="121900" rIns="121900" bIns="121900" anchor="t" anchorCtr="0">
            <a:noAutofit/>
          </a:bodyPr>
          <a:lstStyle/>
          <a:p>
            <a:r>
              <a:rPr lang="en" sz="2400">
                <a:latin typeface="Courier New"/>
                <a:ea typeface="Courier New"/>
                <a:cs typeface="Courier New"/>
                <a:sym typeface="Courier New"/>
              </a:rPr>
              <a:t>0x0000000</a:t>
            </a:r>
            <a:r>
              <a:rPr lang="en" sz="2400">
                <a:solidFill>
                  <a:schemeClr val="dk1"/>
                </a:solidFill>
                <a:latin typeface="Courier New"/>
                <a:ea typeface="Courier New"/>
                <a:cs typeface="Courier New"/>
                <a:sym typeface="Courier New"/>
              </a:rPr>
              <a:t>00000731</a:t>
            </a:r>
            <a:r>
              <a:rPr lang="en" sz="2400">
                <a:latin typeface="Courier New"/>
                <a:ea typeface="Courier New"/>
                <a:cs typeface="Courier New"/>
                <a:sym typeface="Courier New"/>
              </a:rPr>
              <a:t>3f89...</a:t>
            </a:r>
            <a:endParaRPr sz="2400">
              <a:latin typeface="Courier New"/>
              <a:ea typeface="Courier New"/>
              <a:cs typeface="Courier New"/>
              <a:sym typeface="Courier New"/>
            </a:endParaRPr>
          </a:p>
        </p:txBody>
      </p:sp>
      <p:sp>
        <p:nvSpPr>
          <p:cNvPr id="447" name="Google Shape;447;p53"/>
          <p:cNvSpPr txBox="1"/>
          <p:nvPr/>
        </p:nvSpPr>
        <p:spPr>
          <a:xfrm>
            <a:off x="8330668" y="4462933"/>
            <a:ext cx="3789600" cy="522400"/>
          </a:xfrm>
          <a:prstGeom prst="rect">
            <a:avLst/>
          </a:prstGeom>
          <a:noFill/>
          <a:ln>
            <a:noFill/>
          </a:ln>
        </p:spPr>
        <p:txBody>
          <a:bodyPr spcFirstLastPara="1" wrap="square" lIns="121900" tIns="121900" rIns="121900" bIns="121900" anchor="t" anchorCtr="0">
            <a:noAutofit/>
          </a:bodyPr>
          <a:lstStyle/>
          <a:p>
            <a:r>
              <a:rPr lang="en" sz="2400">
                <a:latin typeface="Courier New"/>
                <a:ea typeface="Courier New"/>
                <a:cs typeface="Courier New"/>
                <a:sym typeface="Courier New"/>
              </a:rPr>
              <a:t>0x0000000</a:t>
            </a:r>
            <a:r>
              <a:rPr lang="en" sz="2400">
                <a:solidFill>
                  <a:schemeClr val="dk1"/>
                </a:solidFill>
                <a:latin typeface="Courier New"/>
                <a:ea typeface="Courier New"/>
                <a:cs typeface="Courier New"/>
                <a:sym typeface="Courier New"/>
              </a:rPr>
              <a:t>000045a1</a:t>
            </a:r>
            <a:r>
              <a:rPr lang="en" sz="2400">
                <a:latin typeface="Courier New"/>
                <a:ea typeface="Courier New"/>
                <a:cs typeface="Courier New"/>
                <a:sym typeface="Courier New"/>
              </a:rPr>
              <a:t>611f...</a:t>
            </a:r>
            <a:endParaRPr sz="2400">
              <a:latin typeface="Courier New"/>
              <a:ea typeface="Courier New"/>
              <a:cs typeface="Courier New"/>
              <a:sym typeface="Courier New"/>
            </a:endParaRPr>
          </a:p>
        </p:txBody>
      </p:sp>
      <p:sp>
        <p:nvSpPr>
          <p:cNvPr id="448" name="Google Shape;448;p53"/>
          <p:cNvSpPr txBox="1"/>
          <p:nvPr/>
        </p:nvSpPr>
        <p:spPr>
          <a:xfrm>
            <a:off x="238135" y="3553967"/>
            <a:ext cx="3841200" cy="522400"/>
          </a:xfrm>
          <a:prstGeom prst="rect">
            <a:avLst/>
          </a:prstGeom>
          <a:noFill/>
          <a:ln>
            <a:noFill/>
          </a:ln>
        </p:spPr>
        <p:txBody>
          <a:bodyPr spcFirstLastPara="1" wrap="square" lIns="121900" tIns="121900" rIns="121900" bIns="121900" anchor="t" anchorCtr="0">
            <a:noAutofit/>
          </a:bodyPr>
          <a:lstStyle/>
          <a:p>
            <a:r>
              <a:rPr lang="en" sz="2400">
                <a:latin typeface="Courier New"/>
                <a:ea typeface="Courier New"/>
                <a:cs typeface="Courier New"/>
                <a:sym typeface="Courier New"/>
              </a:rPr>
              <a:t>0x0000000</a:t>
            </a:r>
            <a:r>
              <a:rPr lang="en" sz="2400">
                <a:solidFill>
                  <a:schemeClr val="dk1"/>
                </a:solidFill>
                <a:latin typeface="Courier New"/>
                <a:ea typeface="Courier New"/>
                <a:cs typeface="Courier New"/>
                <a:sym typeface="Courier New"/>
              </a:rPr>
              <a:t>0000a877</a:t>
            </a:r>
            <a:r>
              <a:rPr lang="en" sz="2400">
                <a:latin typeface="Courier New"/>
                <a:ea typeface="Courier New"/>
                <a:cs typeface="Courier New"/>
                <a:sym typeface="Courier New"/>
              </a:rPr>
              <a:t>902e...</a:t>
            </a:r>
            <a:endParaRPr sz="2400">
              <a:latin typeface="Courier New"/>
              <a:ea typeface="Courier New"/>
              <a:cs typeface="Courier New"/>
              <a:sym typeface="Courier New"/>
            </a:endParaRPr>
          </a:p>
        </p:txBody>
      </p:sp>
      <p:cxnSp>
        <p:nvCxnSpPr>
          <p:cNvPr id="449" name="Google Shape;449;p53"/>
          <p:cNvCxnSpPr/>
          <p:nvPr/>
        </p:nvCxnSpPr>
        <p:spPr>
          <a:xfrm rot="10800000" flipH="1">
            <a:off x="2419033" y="1595600"/>
            <a:ext cx="2989600" cy="1840400"/>
          </a:xfrm>
          <a:prstGeom prst="straightConnector1">
            <a:avLst/>
          </a:prstGeom>
          <a:noFill/>
          <a:ln w="19050" cap="flat" cmpd="sng">
            <a:solidFill>
              <a:srgbClr val="274E13"/>
            </a:solidFill>
            <a:prstDash val="solid"/>
            <a:round/>
            <a:headEnd type="none" w="med" len="med"/>
            <a:tailEnd type="triangle" w="med" len="med"/>
          </a:ln>
        </p:spPr>
      </p:cxnSp>
      <p:cxnSp>
        <p:nvCxnSpPr>
          <p:cNvPr id="450" name="Google Shape;450;p53"/>
          <p:cNvCxnSpPr/>
          <p:nvPr/>
        </p:nvCxnSpPr>
        <p:spPr>
          <a:xfrm rot="10800000">
            <a:off x="8939133" y="1802700"/>
            <a:ext cx="1574000" cy="2111200"/>
          </a:xfrm>
          <a:prstGeom prst="straightConnector1">
            <a:avLst/>
          </a:prstGeom>
          <a:noFill/>
          <a:ln w="19050" cap="flat" cmpd="sng">
            <a:solidFill>
              <a:srgbClr val="274E13"/>
            </a:solidFill>
            <a:prstDash val="solid"/>
            <a:round/>
            <a:headEnd type="none" w="med" len="med"/>
            <a:tailEnd type="triangle" w="med" len="med"/>
          </a:ln>
        </p:spPr>
      </p:cxnSp>
      <p:cxnSp>
        <p:nvCxnSpPr>
          <p:cNvPr id="451" name="Google Shape;451;p53"/>
          <p:cNvCxnSpPr/>
          <p:nvPr/>
        </p:nvCxnSpPr>
        <p:spPr>
          <a:xfrm rot="10800000" flipH="1">
            <a:off x="5978000" y="1951333"/>
            <a:ext cx="813600" cy="2532000"/>
          </a:xfrm>
          <a:prstGeom prst="straightConnector1">
            <a:avLst/>
          </a:prstGeom>
          <a:noFill/>
          <a:ln w="19050" cap="flat" cmpd="sng">
            <a:solidFill>
              <a:srgbClr val="274E13"/>
            </a:solidFill>
            <a:prstDash val="solid"/>
            <a:round/>
            <a:headEnd type="none" w="med" len="med"/>
            <a:tailEnd type="triangle" w="med" len="med"/>
          </a:ln>
        </p:spPr>
      </p:cxnSp>
      <p:sp>
        <p:nvSpPr>
          <p:cNvPr id="452" name="Google Shape;452;p53"/>
          <p:cNvSpPr/>
          <p:nvPr/>
        </p:nvSpPr>
        <p:spPr>
          <a:xfrm>
            <a:off x="5520367" y="914200"/>
            <a:ext cx="4738400" cy="823600"/>
          </a:xfrm>
          <a:prstGeom prst="roundRect">
            <a:avLst>
              <a:gd name="adj" fmla="val 16667"/>
            </a:avLst>
          </a:prstGeom>
          <a:solidFill>
            <a:srgbClr val="D5A6B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a:latin typeface="Trebuchet MS"/>
                <a:ea typeface="Trebuchet MS"/>
                <a:cs typeface="Trebuchet MS"/>
                <a:sym typeface="Trebuchet MS"/>
              </a:rPr>
              <a:t>Pool manager</a:t>
            </a:r>
            <a:endParaRPr sz="3200">
              <a:latin typeface="Trebuchet MS"/>
              <a:ea typeface="Trebuchet MS"/>
              <a:cs typeface="Trebuchet MS"/>
              <a:sym typeface="Trebuchet MS"/>
            </a:endParaRPr>
          </a:p>
        </p:txBody>
      </p:sp>
      <p:sp>
        <p:nvSpPr>
          <p:cNvPr id="453" name="Google Shape;453;p53"/>
          <p:cNvSpPr/>
          <p:nvPr/>
        </p:nvSpPr>
        <p:spPr>
          <a:xfrm>
            <a:off x="5998300" y="2607984"/>
            <a:ext cx="3136800" cy="4024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latin typeface="Trebuchet MS"/>
                <a:ea typeface="Trebuchet MS"/>
                <a:cs typeface="Trebuchet MS"/>
                <a:sym typeface="Trebuchet MS"/>
              </a:rPr>
              <a:t>mrkl_root: 	H(  )</a:t>
            </a:r>
            <a:endParaRPr sz="2400" baseline="-25000">
              <a:latin typeface="Trebuchet MS"/>
              <a:ea typeface="Trebuchet MS"/>
              <a:cs typeface="Trebuchet MS"/>
              <a:sym typeface="Trebuchet MS"/>
            </a:endParaRPr>
          </a:p>
        </p:txBody>
      </p:sp>
      <p:sp>
        <p:nvSpPr>
          <p:cNvPr id="454" name="Google Shape;454;p53"/>
          <p:cNvSpPr txBox="1"/>
          <p:nvPr/>
        </p:nvSpPr>
        <p:spPr>
          <a:xfrm>
            <a:off x="9692003" y="2472800"/>
            <a:ext cx="1890400" cy="672800"/>
          </a:xfrm>
          <a:prstGeom prst="rect">
            <a:avLst/>
          </a:prstGeom>
          <a:solidFill>
            <a:srgbClr val="D9D9D9"/>
          </a:solidFill>
          <a:ln w="9525" cap="flat" cmpd="sng">
            <a:solidFill>
              <a:srgbClr val="000000"/>
            </a:solidFill>
            <a:prstDash val="solid"/>
            <a:round/>
            <a:headEnd type="none" w="sm" len="sm"/>
            <a:tailEnd type="none" w="sm" len="sm"/>
          </a:ln>
        </p:spPr>
        <p:txBody>
          <a:bodyPr spcFirstLastPara="1" wrap="square" lIns="121900" tIns="121900" rIns="121900" bIns="121900" anchor="t" anchorCtr="0">
            <a:noAutofit/>
          </a:bodyPr>
          <a:lstStyle/>
          <a:p>
            <a:pPr algn="ctr"/>
            <a:r>
              <a:rPr lang="en" sz="1600" dirty="0"/>
              <a:t>coinbase:</a:t>
            </a:r>
            <a:endParaRPr sz="1600" dirty="0"/>
          </a:p>
          <a:p>
            <a:pPr algn="ctr"/>
            <a:r>
              <a:rPr lang="en" sz="1600" b="1" dirty="0">
                <a:latin typeface="Trebuchet MS"/>
                <a:ea typeface="Trebuchet MS"/>
                <a:cs typeface="Trebuchet MS"/>
                <a:sym typeface="Trebuchet MS"/>
              </a:rPr>
              <a:t>25→pool</a:t>
            </a:r>
            <a:endParaRPr sz="1600" b="1" dirty="0">
              <a:latin typeface="Trebuchet MS"/>
              <a:ea typeface="Trebuchet MS"/>
              <a:cs typeface="Trebuchet MS"/>
              <a:sym typeface="Trebuchet MS"/>
            </a:endParaRPr>
          </a:p>
        </p:txBody>
      </p:sp>
      <p:sp>
        <p:nvSpPr>
          <p:cNvPr id="455" name="Google Shape;455;p53"/>
          <p:cNvSpPr/>
          <p:nvPr/>
        </p:nvSpPr>
        <p:spPr>
          <a:xfrm>
            <a:off x="5998300" y="2205600"/>
            <a:ext cx="3136800" cy="4024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latin typeface="Trebuchet MS"/>
                <a:ea typeface="Trebuchet MS"/>
                <a:cs typeface="Trebuchet MS"/>
                <a:sym typeface="Trebuchet MS"/>
              </a:rPr>
              <a:t>prev:		H(  )</a:t>
            </a:r>
            <a:endParaRPr sz="2400" baseline="-25000">
              <a:latin typeface="Trebuchet MS"/>
              <a:ea typeface="Trebuchet MS"/>
              <a:cs typeface="Trebuchet MS"/>
              <a:sym typeface="Trebuchet MS"/>
            </a:endParaRPr>
          </a:p>
        </p:txBody>
      </p:sp>
      <p:sp>
        <p:nvSpPr>
          <p:cNvPr id="456" name="Google Shape;456;p53"/>
          <p:cNvSpPr/>
          <p:nvPr/>
        </p:nvSpPr>
        <p:spPr>
          <a:xfrm>
            <a:off x="5998300" y="2973817"/>
            <a:ext cx="3136800" cy="4024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latin typeface="Trebuchet MS"/>
                <a:ea typeface="Trebuchet MS"/>
                <a:cs typeface="Trebuchet MS"/>
                <a:sym typeface="Trebuchet MS"/>
              </a:rPr>
              <a:t>nonce: 	</a:t>
            </a:r>
            <a:endParaRPr sz="2400" b="1" baseline="-25000">
              <a:latin typeface="Courier New"/>
              <a:ea typeface="Courier New"/>
              <a:cs typeface="Courier New"/>
              <a:sym typeface="Courier New"/>
            </a:endParaRPr>
          </a:p>
        </p:txBody>
      </p:sp>
      <p:sp>
        <p:nvSpPr>
          <p:cNvPr id="457" name="Google Shape;457;p53"/>
          <p:cNvSpPr/>
          <p:nvPr/>
        </p:nvSpPr>
        <p:spPr>
          <a:xfrm>
            <a:off x="5998300" y="3376184"/>
            <a:ext cx="3136800" cy="4024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latin typeface="Trebuchet MS"/>
                <a:ea typeface="Trebuchet MS"/>
                <a:cs typeface="Trebuchet MS"/>
                <a:sym typeface="Trebuchet MS"/>
              </a:rPr>
              <a:t>hash:   	</a:t>
            </a:r>
            <a:endParaRPr sz="2400" b="1" baseline="-25000">
              <a:latin typeface="Courier New"/>
              <a:ea typeface="Courier New"/>
              <a:cs typeface="Courier New"/>
              <a:sym typeface="Courier New"/>
            </a:endParaRPr>
          </a:p>
        </p:txBody>
      </p:sp>
      <p:cxnSp>
        <p:nvCxnSpPr>
          <p:cNvPr id="458" name="Google Shape;458;p53"/>
          <p:cNvCxnSpPr>
            <a:endCxn id="454" idx="1"/>
          </p:cNvCxnSpPr>
          <p:nvPr/>
        </p:nvCxnSpPr>
        <p:spPr>
          <a:xfrm rot="10800000" flipH="1">
            <a:off x="8316803" y="2809200"/>
            <a:ext cx="1375200" cy="88000"/>
          </a:xfrm>
          <a:prstGeom prst="straightConnector1">
            <a:avLst/>
          </a:prstGeom>
          <a:noFill/>
          <a:ln w="19050" cap="flat" cmpd="sng">
            <a:solidFill>
              <a:srgbClr val="990000"/>
            </a:solidFill>
            <a:prstDash val="solid"/>
            <a:round/>
            <a:headEnd type="none" w="med" len="med"/>
            <a:tailEnd type="triangle" w="med" len="med"/>
          </a:ln>
        </p:spPr>
      </p:cxnSp>
      <p:sp>
        <p:nvSpPr>
          <p:cNvPr id="459" name="Google Shape;459;p53"/>
          <p:cNvSpPr/>
          <p:nvPr/>
        </p:nvSpPr>
        <p:spPr>
          <a:xfrm>
            <a:off x="9015467" y="222767"/>
            <a:ext cx="2911200" cy="1067600"/>
          </a:xfrm>
          <a:prstGeom prst="wedgeEllipseCallout">
            <a:avLst>
              <a:gd name="adj1" fmla="val -20833"/>
              <a:gd name="adj2" fmla="val 62500"/>
            </a:avLst>
          </a:prstGeom>
          <a:solidFill>
            <a:srgbClr val="FFFF00"/>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Hey folks! Here’s our next block to work on</a:t>
            </a:r>
            <a:endParaRPr sz="2400"/>
          </a:p>
        </p:txBody>
      </p:sp>
      <p:cxnSp>
        <p:nvCxnSpPr>
          <p:cNvPr id="460" name="Google Shape;460;p53"/>
          <p:cNvCxnSpPr/>
          <p:nvPr/>
        </p:nvCxnSpPr>
        <p:spPr>
          <a:xfrm flipH="1">
            <a:off x="3201700" y="1971733"/>
            <a:ext cx="2420400" cy="1586400"/>
          </a:xfrm>
          <a:prstGeom prst="straightConnector1">
            <a:avLst/>
          </a:prstGeom>
          <a:noFill/>
          <a:ln w="19050" cap="flat" cmpd="sng">
            <a:solidFill>
              <a:srgbClr val="274E13"/>
            </a:solidFill>
            <a:prstDash val="solid"/>
            <a:round/>
            <a:headEnd type="none" w="med" len="med"/>
            <a:tailEnd type="triangle" w="med" len="med"/>
          </a:ln>
        </p:spPr>
      </p:cxnSp>
      <p:sp>
        <p:nvSpPr>
          <p:cNvPr id="461" name="Google Shape;461;p53"/>
          <p:cNvSpPr txBox="1"/>
          <p:nvPr/>
        </p:nvSpPr>
        <p:spPr>
          <a:xfrm>
            <a:off x="3598600" y="3008133"/>
            <a:ext cx="1189600" cy="672800"/>
          </a:xfrm>
          <a:prstGeom prst="rect">
            <a:avLst/>
          </a:prstGeom>
          <a:noFill/>
          <a:ln>
            <a:noFill/>
          </a:ln>
        </p:spPr>
        <p:txBody>
          <a:bodyPr spcFirstLastPara="1" wrap="square" lIns="121900" tIns="121900" rIns="121900" bIns="121900" anchor="t" anchorCtr="0">
            <a:noAutofit/>
          </a:bodyPr>
          <a:lstStyle/>
          <a:p>
            <a:r>
              <a:rPr lang="en" sz="4000" b="1">
                <a:solidFill>
                  <a:srgbClr val="274E13"/>
                </a:solidFill>
                <a:latin typeface="Trebuchet MS"/>
                <a:ea typeface="Trebuchet MS"/>
                <a:cs typeface="Trebuchet MS"/>
                <a:sym typeface="Trebuchet MS"/>
              </a:rPr>
              <a:t>$$$</a:t>
            </a:r>
            <a:endParaRPr sz="4000" b="1">
              <a:solidFill>
                <a:srgbClr val="274E13"/>
              </a:solidFill>
              <a:latin typeface="Trebuchet MS"/>
              <a:ea typeface="Trebuchet MS"/>
              <a:cs typeface="Trebuchet MS"/>
              <a:sym typeface="Trebuchet MS"/>
            </a:endParaRPr>
          </a:p>
        </p:txBody>
      </p:sp>
      <p:sp>
        <p:nvSpPr>
          <p:cNvPr id="462" name="Google Shape;462;p53"/>
          <p:cNvSpPr txBox="1"/>
          <p:nvPr/>
        </p:nvSpPr>
        <p:spPr>
          <a:xfrm flipH="1">
            <a:off x="8798547" y="3261837"/>
            <a:ext cx="1212800" cy="625200"/>
          </a:xfrm>
          <a:prstGeom prst="rect">
            <a:avLst/>
          </a:prstGeom>
          <a:noFill/>
          <a:ln>
            <a:noFill/>
          </a:ln>
        </p:spPr>
        <p:txBody>
          <a:bodyPr spcFirstLastPara="1" wrap="square" lIns="121900" tIns="121900" rIns="121900" bIns="121900" anchor="t" anchorCtr="0">
            <a:noAutofit/>
          </a:bodyPr>
          <a:lstStyle/>
          <a:p>
            <a:r>
              <a:rPr lang="en" sz="4000" b="1">
                <a:solidFill>
                  <a:srgbClr val="274E13"/>
                </a:solidFill>
                <a:latin typeface="Trebuchet MS"/>
                <a:ea typeface="Trebuchet MS"/>
                <a:cs typeface="Trebuchet MS"/>
                <a:sym typeface="Trebuchet MS"/>
              </a:rPr>
              <a:t>$$</a:t>
            </a:r>
            <a:endParaRPr sz="4000" b="1">
              <a:solidFill>
                <a:srgbClr val="274E13"/>
              </a:solidFill>
              <a:latin typeface="Trebuchet MS"/>
              <a:ea typeface="Trebuchet MS"/>
              <a:cs typeface="Trebuchet MS"/>
              <a:sym typeface="Trebuchet MS"/>
            </a:endParaRPr>
          </a:p>
        </p:txBody>
      </p:sp>
      <p:cxnSp>
        <p:nvCxnSpPr>
          <p:cNvPr id="463" name="Google Shape;463;p53"/>
          <p:cNvCxnSpPr/>
          <p:nvPr/>
        </p:nvCxnSpPr>
        <p:spPr>
          <a:xfrm flipH="1">
            <a:off x="6425300" y="1819200"/>
            <a:ext cx="742400" cy="2725200"/>
          </a:xfrm>
          <a:prstGeom prst="straightConnector1">
            <a:avLst/>
          </a:prstGeom>
          <a:noFill/>
          <a:ln w="19050" cap="flat" cmpd="sng">
            <a:solidFill>
              <a:srgbClr val="274E13"/>
            </a:solidFill>
            <a:prstDash val="solid"/>
            <a:round/>
            <a:headEnd type="none" w="med" len="med"/>
            <a:tailEnd type="triangle" w="med" len="med"/>
          </a:ln>
        </p:spPr>
      </p:cxnSp>
      <p:cxnSp>
        <p:nvCxnSpPr>
          <p:cNvPr id="464" name="Google Shape;464;p53"/>
          <p:cNvCxnSpPr/>
          <p:nvPr/>
        </p:nvCxnSpPr>
        <p:spPr>
          <a:xfrm>
            <a:off x="8463317" y="1888217"/>
            <a:ext cx="1439600" cy="2117200"/>
          </a:xfrm>
          <a:prstGeom prst="straightConnector1">
            <a:avLst/>
          </a:prstGeom>
          <a:noFill/>
          <a:ln w="19050" cap="flat" cmpd="sng">
            <a:solidFill>
              <a:srgbClr val="274E13"/>
            </a:solidFill>
            <a:prstDash val="solid"/>
            <a:round/>
            <a:headEnd type="none" w="med" len="med"/>
            <a:tailEnd type="triangle" w="med" len="med"/>
          </a:ln>
        </p:spPr>
      </p:cxnSp>
      <p:sp>
        <p:nvSpPr>
          <p:cNvPr id="465" name="Google Shape;465;p53"/>
          <p:cNvSpPr txBox="1"/>
          <p:nvPr/>
        </p:nvSpPr>
        <p:spPr>
          <a:xfrm flipH="1">
            <a:off x="6531980" y="3658671"/>
            <a:ext cx="1212800" cy="625200"/>
          </a:xfrm>
          <a:prstGeom prst="rect">
            <a:avLst/>
          </a:prstGeom>
          <a:noFill/>
          <a:ln>
            <a:noFill/>
          </a:ln>
        </p:spPr>
        <p:txBody>
          <a:bodyPr spcFirstLastPara="1" wrap="square" lIns="121900" tIns="121900" rIns="121900" bIns="121900" anchor="t" anchorCtr="0">
            <a:noAutofit/>
          </a:bodyPr>
          <a:lstStyle/>
          <a:p>
            <a:r>
              <a:rPr lang="en" sz="4000" b="1">
                <a:solidFill>
                  <a:srgbClr val="274E13"/>
                </a:solidFill>
                <a:latin typeface="Trebuchet MS"/>
                <a:ea typeface="Trebuchet MS"/>
                <a:cs typeface="Trebuchet MS"/>
                <a:sym typeface="Trebuchet MS"/>
              </a:rPr>
              <a:t>$</a:t>
            </a:r>
            <a:endParaRPr sz="4000" b="1">
              <a:solidFill>
                <a:srgbClr val="274E13"/>
              </a:solidFill>
              <a:latin typeface="Trebuchet MS"/>
              <a:ea typeface="Trebuchet MS"/>
              <a:cs typeface="Trebuchet MS"/>
              <a:sym typeface="Trebuchet MS"/>
            </a:endParaRPr>
          </a:p>
        </p:txBody>
      </p:sp>
      <p:pic>
        <p:nvPicPr>
          <p:cNvPr id="466" name="Google Shape;466;p53"/>
          <p:cNvPicPr preferRelativeResize="0"/>
          <p:nvPr/>
        </p:nvPicPr>
        <p:blipFill>
          <a:blip r:embed="rId5">
            <a:alphaModFix/>
          </a:blip>
          <a:stretch>
            <a:fillRect/>
          </a:stretch>
        </p:blipFill>
        <p:spPr>
          <a:xfrm>
            <a:off x="842749" y="4985333"/>
            <a:ext cx="1983020" cy="1586400"/>
          </a:xfrm>
          <a:prstGeom prst="rect">
            <a:avLst/>
          </a:prstGeom>
          <a:noFill/>
          <a:ln>
            <a:noFill/>
          </a:ln>
        </p:spPr>
      </p:pic>
      <p:sp>
        <p:nvSpPr>
          <p:cNvPr id="2" name="Rectangle 1"/>
          <p:cNvSpPr/>
          <p:nvPr/>
        </p:nvSpPr>
        <p:spPr>
          <a:xfrm>
            <a:off x="533400" y="2514600"/>
            <a:ext cx="7772400" cy="646331"/>
          </a:xfrm>
          <a:prstGeom prst="rect">
            <a:avLst/>
          </a:prstGeom>
        </p:spPr>
        <p:txBody>
          <a:bodyPr wrap="square">
            <a:spAutoFit/>
          </a:bodyPr>
          <a:lstStyle/>
          <a:p>
            <a:r>
              <a:rPr lang="en-IN" dirty="0"/>
              <a:t>So it would have been better if he had just mined alone. While, the miner on the left would be glad since he will receive a higher reward.</a:t>
            </a:r>
          </a:p>
        </p:txBody>
      </p:sp>
    </p:spTree>
    <p:extLst>
      <p:ext uri="{BB962C8B-B14F-4D97-AF65-F5344CB8AC3E}">
        <p14:creationId xmlns:p14="http://schemas.microsoft.com/office/powerpoint/2010/main" val="29882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9"/>
                                        </p:tgtEl>
                                        <p:attrNameLst>
                                          <p:attrName>style.visibility</p:attrName>
                                        </p:attrNameLst>
                                      </p:cBhvr>
                                      <p:to>
                                        <p:strVal val="visible"/>
                                      </p:to>
                                    </p:set>
                                    <p:animEffect transition="in" filter="fade">
                                      <p:cBhvr>
                                        <p:cTn id="7" dur="1000"/>
                                        <p:tgtEl>
                                          <p:spTgt spid="4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459"/>
                                        </p:tgtEl>
                                      </p:cBhvr>
                                    </p:animEffect>
                                    <p:set>
                                      <p:cBhvr>
                                        <p:cTn id="12" dur="1" fill="hold">
                                          <p:stCondLst>
                                            <p:cond delay="1000"/>
                                          </p:stCondLst>
                                        </p:cTn>
                                        <p:tgtEl>
                                          <p:spTgt spid="459"/>
                                        </p:tgtEl>
                                        <p:attrNameLst>
                                          <p:attrName>style.visibility</p:attrName>
                                        </p:attrNameLst>
                                      </p:cBhvr>
                                      <p:to>
                                        <p:strVal val="hidden"/>
                                      </p:to>
                                    </p:se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456"/>
                                        </p:tgtEl>
                                        <p:attrNameLst>
                                          <p:attrName>style.visibility</p:attrName>
                                        </p:attrNameLst>
                                      </p:cBhvr>
                                      <p:to>
                                        <p:strVal val="visible"/>
                                      </p:to>
                                    </p:set>
                                    <p:animEffect transition="in" filter="fade">
                                      <p:cBhvr>
                                        <p:cTn id="16" dur="1000"/>
                                        <p:tgtEl>
                                          <p:spTgt spid="456"/>
                                        </p:tgtEl>
                                      </p:cBhvr>
                                    </p:animEffect>
                                  </p:childTnLst>
                                </p:cTn>
                              </p:par>
                              <p:par>
                                <p:cTn id="17" presetID="10" presetClass="entr" presetSubtype="0" fill="hold" nodeType="withEffect">
                                  <p:stCondLst>
                                    <p:cond delay="0"/>
                                  </p:stCondLst>
                                  <p:childTnLst>
                                    <p:set>
                                      <p:cBhvr>
                                        <p:cTn id="18" dur="1" fill="hold">
                                          <p:stCondLst>
                                            <p:cond delay="0"/>
                                          </p:stCondLst>
                                        </p:cTn>
                                        <p:tgtEl>
                                          <p:spTgt spid="457"/>
                                        </p:tgtEl>
                                        <p:attrNameLst>
                                          <p:attrName>style.visibility</p:attrName>
                                        </p:attrNameLst>
                                      </p:cBhvr>
                                      <p:to>
                                        <p:strVal val="visible"/>
                                      </p:to>
                                    </p:set>
                                    <p:animEffect transition="in" filter="fade">
                                      <p:cBhvr>
                                        <p:cTn id="19" dur="1000"/>
                                        <p:tgtEl>
                                          <p:spTgt spid="457"/>
                                        </p:tgtEl>
                                      </p:cBhvr>
                                    </p:animEffect>
                                  </p:childTnLst>
                                </p:cTn>
                              </p:par>
                              <p:par>
                                <p:cTn id="20" presetID="10" presetClass="entr" presetSubtype="0" fill="hold" nodeType="withEffect">
                                  <p:stCondLst>
                                    <p:cond delay="0"/>
                                  </p:stCondLst>
                                  <p:childTnLst>
                                    <p:set>
                                      <p:cBhvr>
                                        <p:cTn id="21" dur="1" fill="hold">
                                          <p:stCondLst>
                                            <p:cond delay="0"/>
                                          </p:stCondLst>
                                        </p:cTn>
                                        <p:tgtEl>
                                          <p:spTgt spid="453"/>
                                        </p:tgtEl>
                                        <p:attrNameLst>
                                          <p:attrName>style.visibility</p:attrName>
                                        </p:attrNameLst>
                                      </p:cBhvr>
                                      <p:to>
                                        <p:strVal val="visible"/>
                                      </p:to>
                                    </p:set>
                                    <p:animEffect transition="in" filter="fade">
                                      <p:cBhvr>
                                        <p:cTn id="22" dur="1000"/>
                                        <p:tgtEl>
                                          <p:spTgt spid="453"/>
                                        </p:tgtEl>
                                      </p:cBhvr>
                                    </p:animEffect>
                                  </p:childTnLst>
                                </p:cTn>
                              </p:par>
                              <p:par>
                                <p:cTn id="23" presetID="10" presetClass="entr" presetSubtype="0" fill="hold" nodeType="withEffect">
                                  <p:stCondLst>
                                    <p:cond delay="0"/>
                                  </p:stCondLst>
                                  <p:childTnLst>
                                    <p:set>
                                      <p:cBhvr>
                                        <p:cTn id="24" dur="1" fill="hold">
                                          <p:stCondLst>
                                            <p:cond delay="0"/>
                                          </p:stCondLst>
                                        </p:cTn>
                                        <p:tgtEl>
                                          <p:spTgt spid="455"/>
                                        </p:tgtEl>
                                        <p:attrNameLst>
                                          <p:attrName>style.visibility</p:attrName>
                                        </p:attrNameLst>
                                      </p:cBhvr>
                                      <p:to>
                                        <p:strVal val="visible"/>
                                      </p:to>
                                    </p:set>
                                    <p:animEffect transition="in" filter="fade">
                                      <p:cBhvr>
                                        <p:cTn id="25" dur="1000"/>
                                        <p:tgtEl>
                                          <p:spTgt spid="45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54"/>
                                        </p:tgtEl>
                                        <p:attrNameLst>
                                          <p:attrName>style.visibility</p:attrName>
                                        </p:attrNameLst>
                                      </p:cBhvr>
                                      <p:to>
                                        <p:strVal val="visible"/>
                                      </p:to>
                                    </p:set>
                                    <p:animEffect transition="in" filter="fade">
                                      <p:cBhvr>
                                        <p:cTn id="30" dur="1000"/>
                                        <p:tgtEl>
                                          <p:spTgt spid="454"/>
                                        </p:tgtEl>
                                      </p:cBhvr>
                                    </p:animEffect>
                                  </p:childTnLst>
                                </p:cTn>
                              </p:par>
                              <p:par>
                                <p:cTn id="31" presetID="10" presetClass="entr" presetSubtype="0" fill="hold" nodeType="withEffect">
                                  <p:stCondLst>
                                    <p:cond delay="0"/>
                                  </p:stCondLst>
                                  <p:childTnLst>
                                    <p:set>
                                      <p:cBhvr>
                                        <p:cTn id="32" dur="1" fill="hold">
                                          <p:stCondLst>
                                            <p:cond delay="0"/>
                                          </p:stCondLst>
                                        </p:cTn>
                                        <p:tgtEl>
                                          <p:spTgt spid="458"/>
                                        </p:tgtEl>
                                        <p:attrNameLst>
                                          <p:attrName>style.visibility</p:attrName>
                                        </p:attrNameLst>
                                      </p:cBhvr>
                                      <p:to>
                                        <p:strVal val="visible"/>
                                      </p:to>
                                    </p:set>
                                    <p:animEffect transition="in" filter="fade">
                                      <p:cBhvr>
                                        <p:cTn id="33" dur="1000"/>
                                        <p:tgtEl>
                                          <p:spTgt spid="45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1000"/>
                                        <p:tgtEl>
                                          <p:spTgt spid="453"/>
                                        </p:tgtEl>
                                      </p:cBhvr>
                                    </p:animEffect>
                                    <p:set>
                                      <p:cBhvr>
                                        <p:cTn id="38" dur="1" fill="hold">
                                          <p:stCondLst>
                                            <p:cond delay="1000"/>
                                          </p:stCondLst>
                                        </p:cTn>
                                        <p:tgtEl>
                                          <p:spTgt spid="453"/>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1000"/>
                                        <p:tgtEl>
                                          <p:spTgt spid="454"/>
                                        </p:tgtEl>
                                      </p:cBhvr>
                                    </p:animEffect>
                                    <p:set>
                                      <p:cBhvr>
                                        <p:cTn id="41" dur="1" fill="hold">
                                          <p:stCondLst>
                                            <p:cond delay="1000"/>
                                          </p:stCondLst>
                                        </p:cTn>
                                        <p:tgtEl>
                                          <p:spTgt spid="454"/>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1000"/>
                                        <p:tgtEl>
                                          <p:spTgt spid="455"/>
                                        </p:tgtEl>
                                      </p:cBhvr>
                                    </p:animEffect>
                                    <p:set>
                                      <p:cBhvr>
                                        <p:cTn id="44" dur="1" fill="hold">
                                          <p:stCondLst>
                                            <p:cond delay="1000"/>
                                          </p:stCondLst>
                                        </p:cTn>
                                        <p:tgtEl>
                                          <p:spTgt spid="455"/>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1000"/>
                                        <p:tgtEl>
                                          <p:spTgt spid="456"/>
                                        </p:tgtEl>
                                      </p:cBhvr>
                                    </p:animEffect>
                                    <p:set>
                                      <p:cBhvr>
                                        <p:cTn id="47" dur="1" fill="hold">
                                          <p:stCondLst>
                                            <p:cond delay="1000"/>
                                          </p:stCondLst>
                                        </p:cTn>
                                        <p:tgtEl>
                                          <p:spTgt spid="456"/>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1000"/>
                                        <p:tgtEl>
                                          <p:spTgt spid="458"/>
                                        </p:tgtEl>
                                      </p:cBhvr>
                                    </p:animEffect>
                                    <p:set>
                                      <p:cBhvr>
                                        <p:cTn id="50" dur="1" fill="hold">
                                          <p:stCondLst>
                                            <p:cond delay="1000"/>
                                          </p:stCondLst>
                                        </p:cTn>
                                        <p:tgtEl>
                                          <p:spTgt spid="458"/>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000"/>
                                        <p:tgtEl>
                                          <p:spTgt spid="457"/>
                                        </p:tgtEl>
                                      </p:cBhvr>
                                    </p:animEffect>
                                    <p:set>
                                      <p:cBhvr>
                                        <p:cTn id="53" dur="1" fill="hold">
                                          <p:stCondLst>
                                            <p:cond delay="1000"/>
                                          </p:stCondLst>
                                        </p:cTn>
                                        <p:tgtEl>
                                          <p:spTgt spid="457"/>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47"/>
                                        </p:tgtEl>
                                        <p:attrNameLst>
                                          <p:attrName>style.visibility</p:attrName>
                                        </p:attrNameLst>
                                      </p:cBhvr>
                                      <p:to>
                                        <p:strVal val="visible"/>
                                      </p:to>
                                    </p:set>
                                    <p:animEffect transition="in" filter="fade">
                                      <p:cBhvr>
                                        <p:cTn id="58" dur="1000"/>
                                        <p:tgtEl>
                                          <p:spTgt spid="447"/>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443"/>
                                        </p:tgtEl>
                                        <p:attrNameLst>
                                          <p:attrName>style.visibility</p:attrName>
                                        </p:attrNameLst>
                                      </p:cBhvr>
                                      <p:to>
                                        <p:strVal val="visible"/>
                                      </p:to>
                                    </p:set>
                                    <p:animEffect transition="in" filter="fade">
                                      <p:cBhvr>
                                        <p:cTn id="62" dur="1000"/>
                                        <p:tgtEl>
                                          <p:spTgt spid="443"/>
                                        </p:tgtEl>
                                      </p:cBhvr>
                                    </p:animEffect>
                                  </p:childTnLst>
                                </p:cTn>
                              </p:par>
                            </p:childTnLst>
                          </p:cTn>
                        </p:par>
                        <p:par>
                          <p:cTn id="63" fill="hold">
                            <p:stCondLst>
                              <p:cond delay="2000"/>
                            </p:stCondLst>
                            <p:childTnLst>
                              <p:par>
                                <p:cTn id="64" presetID="10" presetClass="entr" presetSubtype="0" fill="hold" nodeType="afterEffect">
                                  <p:stCondLst>
                                    <p:cond delay="0"/>
                                  </p:stCondLst>
                                  <p:childTnLst>
                                    <p:set>
                                      <p:cBhvr>
                                        <p:cTn id="65" dur="1" fill="hold">
                                          <p:stCondLst>
                                            <p:cond delay="0"/>
                                          </p:stCondLst>
                                        </p:cTn>
                                        <p:tgtEl>
                                          <p:spTgt spid="446"/>
                                        </p:tgtEl>
                                        <p:attrNameLst>
                                          <p:attrName>style.visibility</p:attrName>
                                        </p:attrNameLst>
                                      </p:cBhvr>
                                      <p:to>
                                        <p:strVal val="visible"/>
                                      </p:to>
                                    </p:set>
                                    <p:animEffect transition="in" filter="fade">
                                      <p:cBhvr>
                                        <p:cTn id="66" dur="1000"/>
                                        <p:tgtEl>
                                          <p:spTgt spid="446"/>
                                        </p:tgtEl>
                                      </p:cBhvr>
                                    </p:animEffect>
                                  </p:childTnLst>
                                </p:cTn>
                              </p:par>
                            </p:childTnLst>
                          </p:cTn>
                        </p:par>
                        <p:par>
                          <p:cTn id="67" fill="hold">
                            <p:stCondLst>
                              <p:cond delay="3000"/>
                            </p:stCondLst>
                            <p:childTnLst>
                              <p:par>
                                <p:cTn id="68" presetID="10" presetClass="entr" presetSubtype="0" fill="hold" nodeType="afterEffect">
                                  <p:stCondLst>
                                    <p:cond delay="0"/>
                                  </p:stCondLst>
                                  <p:childTnLst>
                                    <p:set>
                                      <p:cBhvr>
                                        <p:cTn id="69" dur="1" fill="hold">
                                          <p:stCondLst>
                                            <p:cond delay="0"/>
                                          </p:stCondLst>
                                        </p:cTn>
                                        <p:tgtEl>
                                          <p:spTgt spid="445"/>
                                        </p:tgtEl>
                                        <p:attrNameLst>
                                          <p:attrName>style.visibility</p:attrName>
                                        </p:attrNameLst>
                                      </p:cBhvr>
                                      <p:to>
                                        <p:strVal val="visible"/>
                                      </p:to>
                                    </p:set>
                                    <p:animEffect transition="in" filter="fade">
                                      <p:cBhvr>
                                        <p:cTn id="70" dur="1000"/>
                                        <p:tgtEl>
                                          <p:spTgt spid="445"/>
                                        </p:tgtEl>
                                      </p:cBhvr>
                                    </p:animEffect>
                                  </p:childTnLst>
                                </p:cTn>
                              </p:par>
                            </p:childTnLst>
                          </p:cTn>
                        </p:par>
                        <p:par>
                          <p:cTn id="71" fill="hold">
                            <p:stCondLst>
                              <p:cond delay="4000"/>
                            </p:stCondLst>
                            <p:childTnLst>
                              <p:par>
                                <p:cTn id="72" presetID="10" presetClass="entr" presetSubtype="0" fill="hold" nodeType="afterEffect">
                                  <p:stCondLst>
                                    <p:cond delay="0"/>
                                  </p:stCondLst>
                                  <p:childTnLst>
                                    <p:set>
                                      <p:cBhvr>
                                        <p:cTn id="73" dur="1" fill="hold">
                                          <p:stCondLst>
                                            <p:cond delay="0"/>
                                          </p:stCondLst>
                                        </p:cTn>
                                        <p:tgtEl>
                                          <p:spTgt spid="448"/>
                                        </p:tgtEl>
                                        <p:attrNameLst>
                                          <p:attrName>style.visibility</p:attrName>
                                        </p:attrNameLst>
                                      </p:cBhvr>
                                      <p:to>
                                        <p:strVal val="visible"/>
                                      </p:to>
                                    </p:set>
                                    <p:animEffect transition="in" filter="fade">
                                      <p:cBhvr>
                                        <p:cTn id="74" dur="1000"/>
                                        <p:tgtEl>
                                          <p:spTgt spid="448"/>
                                        </p:tgtEl>
                                      </p:cBhvr>
                                    </p:animEffect>
                                  </p:childTnLst>
                                </p:cTn>
                              </p:par>
                            </p:childTnLst>
                          </p:cTn>
                        </p:par>
                        <p:par>
                          <p:cTn id="75" fill="hold">
                            <p:stCondLst>
                              <p:cond delay="5000"/>
                            </p:stCondLst>
                            <p:childTnLst>
                              <p:par>
                                <p:cTn id="76" presetID="10" presetClass="entr" presetSubtype="0" fill="hold" nodeType="afterEffect">
                                  <p:stCondLst>
                                    <p:cond delay="0"/>
                                  </p:stCondLst>
                                  <p:childTnLst>
                                    <p:set>
                                      <p:cBhvr>
                                        <p:cTn id="77" dur="1" fill="hold">
                                          <p:stCondLst>
                                            <p:cond delay="0"/>
                                          </p:stCondLst>
                                        </p:cTn>
                                        <p:tgtEl>
                                          <p:spTgt spid="444"/>
                                        </p:tgtEl>
                                        <p:attrNameLst>
                                          <p:attrName>style.visibility</p:attrName>
                                        </p:attrNameLst>
                                      </p:cBhvr>
                                      <p:to>
                                        <p:strVal val="visible"/>
                                      </p:to>
                                    </p:set>
                                    <p:animEffect transition="in" filter="fade">
                                      <p:cBhvr>
                                        <p:cTn id="78" dur="1000"/>
                                        <p:tgtEl>
                                          <p:spTgt spid="444"/>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49"/>
                                        </p:tgtEl>
                                        <p:attrNameLst>
                                          <p:attrName>style.visibility</p:attrName>
                                        </p:attrNameLst>
                                      </p:cBhvr>
                                      <p:to>
                                        <p:strVal val="visible"/>
                                      </p:to>
                                    </p:set>
                                    <p:animEffect transition="in" filter="fade">
                                      <p:cBhvr>
                                        <p:cTn id="83" dur="1000"/>
                                        <p:tgtEl>
                                          <p:spTgt spid="449"/>
                                        </p:tgtEl>
                                      </p:cBhvr>
                                    </p:animEffect>
                                  </p:childTnLst>
                                </p:cTn>
                              </p:par>
                              <p:par>
                                <p:cTn id="84" presetID="10" presetClass="entr" presetSubtype="0" fill="hold" nodeType="withEffect">
                                  <p:stCondLst>
                                    <p:cond delay="0"/>
                                  </p:stCondLst>
                                  <p:childTnLst>
                                    <p:set>
                                      <p:cBhvr>
                                        <p:cTn id="85" dur="1" fill="hold">
                                          <p:stCondLst>
                                            <p:cond delay="0"/>
                                          </p:stCondLst>
                                        </p:cTn>
                                        <p:tgtEl>
                                          <p:spTgt spid="451"/>
                                        </p:tgtEl>
                                        <p:attrNameLst>
                                          <p:attrName>style.visibility</p:attrName>
                                        </p:attrNameLst>
                                      </p:cBhvr>
                                      <p:to>
                                        <p:strVal val="visible"/>
                                      </p:to>
                                    </p:set>
                                    <p:animEffect transition="in" filter="fade">
                                      <p:cBhvr>
                                        <p:cTn id="86" dur="1000"/>
                                        <p:tgtEl>
                                          <p:spTgt spid="451"/>
                                        </p:tgtEl>
                                      </p:cBhvr>
                                    </p:animEffect>
                                  </p:childTnLst>
                                </p:cTn>
                              </p:par>
                              <p:par>
                                <p:cTn id="87" presetID="10" presetClass="entr" presetSubtype="0" fill="hold" nodeType="withEffect">
                                  <p:stCondLst>
                                    <p:cond delay="0"/>
                                  </p:stCondLst>
                                  <p:childTnLst>
                                    <p:set>
                                      <p:cBhvr>
                                        <p:cTn id="88" dur="1" fill="hold">
                                          <p:stCondLst>
                                            <p:cond delay="0"/>
                                          </p:stCondLst>
                                        </p:cTn>
                                        <p:tgtEl>
                                          <p:spTgt spid="450"/>
                                        </p:tgtEl>
                                        <p:attrNameLst>
                                          <p:attrName>style.visibility</p:attrName>
                                        </p:attrNameLst>
                                      </p:cBhvr>
                                      <p:to>
                                        <p:strVal val="visible"/>
                                      </p:to>
                                    </p:set>
                                    <p:animEffect transition="in" filter="fade">
                                      <p:cBhvr>
                                        <p:cTn id="89" dur="1000"/>
                                        <p:tgtEl>
                                          <p:spTgt spid="45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461"/>
                                        </p:tgtEl>
                                        <p:attrNameLst>
                                          <p:attrName>style.visibility</p:attrName>
                                        </p:attrNameLst>
                                      </p:cBhvr>
                                      <p:to>
                                        <p:strVal val="visible"/>
                                      </p:to>
                                    </p:set>
                                    <p:animEffect transition="in" filter="fade">
                                      <p:cBhvr>
                                        <p:cTn id="94" dur="1000"/>
                                        <p:tgtEl>
                                          <p:spTgt spid="461"/>
                                        </p:tgtEl>
                                      </p:cBhvr>
                                    </p:animEffect>
                                  </p:childTnLst>
                                </p:cTn>
                              </p:par>
                              <p:par>
                                <p:cTn id="95" presetID="10" presetClass="entr" presetSubtype="0" fill="hold" nodeType="withEffect">
                                  <p:stCondLst>
                                    <p:cond delay="0"/>
                                  </p:stCondLst>
                                  <p:childTnLst>
                                    <p:set>
                                      <p:cBhvr>
                                        <p:cTn id="96" dur="1" fill="hold">
                                          <p:stCondLst>
                                            <p:cond delay="0"/>
                                          </p:stCondLst>
                                        </p:cTn>
                                        <p:tgtEl>
                                          <p:spTgt spid="462"/>
                                        </p:tgtEl>
                                        <p:attrNameLst>
                                          <p:attrName>style.visibility</p:attrName>
                                        </p:attrNameLst>
                                      </p:cBhvr>
                                      <p:to>
                                        <p:strVal val="visible"/>
                                      </p:to>
                                    </p:set>
                                    <p:animEffect transition="in" filter="fade">
                                      <p:cBhvr>
                                        <p:cTn id="97" dur="1000"/>
                                        <p:tgtEl>
                                          <p:spTgt spid="462"/>
                                        </p:tgtEl>
                                      </p:cBhvr>
                                    </p:animEffect>
                                  </p:childTnLst>
                                </p:cTn>
                              </p:par>
                              <p:par>
                                <p:cTn id="98" presetID="10" presetClass="entr" presetSubtype="0" fill="hold" nodeType="withEffect">
                                  <p:stCondLst>
                                    <p:cond delay="0"/>
                                  </p:stCondLst>
                                  <p:childTnLst>
                                    <p:set>
                                      <p:cBhvr>
                                        <p:cTn id="99" dur="1" fill="hold">
                                          <p:stCondLst>
                                            <p:cond delay="0"/>
                                          </p:stCondLst>
                                        </p:cTn>
                                        <p:tgtEl>
                                          <p:spTgt spid="463"/>
                                        </p:tgtEl>
                                        <p:attrNameLst>
                                          <p:attrName>style.visibility</p:attrName>
                                        </p:attrNameLst>
                                      </p:cBhvr>
                                      <p:to>
                                        <p:strVal val="visible"/>
                                      </p:to>
                                    </p:set>
                                    <p:animEffect transition="in" filter="fade">
                                      <p:cBhvr>
                                        <p:cTn id="100" dur="1000"/>
                                        <p:tgtEl>
                                          <p:spTgt spid="463"/>
                                        </p:tgtEl>
                                      </p:cBhvr>
                                    </p:animEffect>
                                  </p:childTnLst>
                                </p:cTn>
                              </p:par>
                              <p:par>
                                <p:cTn id="101" presetID="10" presetClass="entr" presetSubtype="0" fill="hold" nodeType="withEffect">
                                  <p:stCondLst>
                                    <p:cond delay="0"/>
                                  </p:stCondLst>
                                  <p:childTnLst>
                                    <p:set>
                                      <p:cBhvr>
                                        <p:cTn id="102" dur="1" fill="hold">
                                          <p:stCondLst>
                                            <p:cond delay="0"/>
                                          </p:stCondLst>
                                        </p:cTn>
                                        <p:tgtEl>
                                          <p:spTgt spid="464"/>
                                        </p:tgtEl>
                                        <p:attrNameLst>
                                          <p:attrName>style.visibility</p:attrName>
                                        </p:attrNameLst>
                                      </p:cBhvr>
                                      <p:to>
                                        <p:strVal val="visible"/>
                                      </p:to>
                                    </p:set>
                                    <p:animEffect transition="in" filter="fade">
                                      <p:cBhvr>
                                        <p:cTn id="103" dur="1000"/>
                                        <p:tgtEl>
                                          <p:spTgt spid="464"/>
                                        </p:tgtEl>
                                      </p:cBhvr>
                                    </p:animEffect>
                                  </p:childTnLst>
                                </p:cTn>
                              </p:par>
                              <p:par>
                                <p:cTn id="104" presetID="10" presetClass="entr" presetSubtype="0" fill="hold" nodeType="withEffect">
                                  <p:stCondLst>
                                    <p:cond delay="0"/>
                                  </p:stCondLst>
                                  <p:childTnLst>
                                    <p:set>
                                      <p:cBhvr>
                                        <p:cTn id="105" dur="1" fill="hold">
                                          <p:stCondLst>
                                            <p:cond delay="0"/>
                                          </p:stCondLst>
                                        </p:cTn>
                                        <p:tgtEl>
                                          <p:spTgt spid="465"/>
                                        </p:tgtEl>
                                        <p:attrNameLst>
                                          <p:attrName>style.visibility</p:attrName>
                                        </p:attrNameLst>
                                      </p:cBhvr>
                                      <p:to>
                                        <p:strVal val="visible"/>
                                      </p:to>
                                    </p:set>
                                    <p:animEffect transition="in" filter="fade">
                                      <p:cBhvr>
                                        <p:cTn id="106" dur="1000"/>
                                        <p:tgtEl>
                                          <p:spTgt spid="465"/>
                                        </p:tgtEl>
                                      </p:cBhvr>
                                    </p:animEffect>
                                  </p:childTnLst>
                                </p:cTn>
                              </p:par>
                              <p:par>
                                <p:cTn id="107" presetID="10" presetClass="entr" presetSubtype="0" fill="hold" nodeType="withEffect">
                                  <p:stCondLst>
                                    <p:cond delay="0"/>
                                  </p:stCondLst>
                                  <p:childTnLst>
                                    <p:set>
                                      <p:cBhvr>
                                        <p:cTn id="108" dur="1" fill="hold">
                                          <p:stCondLst>
                                            <p:cond delay="0"/>
                                          </p:stCondLst>
                                        </p:cTn>
                                        <p:tgtEl>
                                          <p:spTgt spid="460"/>
                                        </p:tgtEl>
                                        <p:attrNameLst>
                                          <p:attrName>style.visibility</p:attrName>
                                        </p:attrNameLst>
                                      </p:cBhvr>
                                      <p:to>
                                        <p:strVal val="visible"/>
                                      </p:to>
                                    </p:set>
                                    <p:animEffect transition="in" filter="fade">
                                      <p:cBhvr>
                                        <p:cTn id="109" dur="1000"/>
                                        <p:tgtEl>
                                          <p:spTgt spid="460"/>
                                        </p:tgtEl>
                                      </p:cBhvr>
                                    </p:animEffect>
                                  </p:childTnLst>
                                </p:cTn>
                              </p:par>
                            </p:childTnLst>
                          </p:cTn>
                        </p:par>
                      </p:childTnLst>
                    </p:cTn>
                  </p:par>
                  <p:par>
                    <p:cTn id="110" fill="hold">
                      <p:stCondLst>
                        <p:cond delay="indefinite"/>
                      </p:stCondLst>
                      <p:childTnLst>
                        <p:par>
                          <p:cTn id="111" fill="hold">
                            <p:stCondLst>
                              <p:cond delay="0"/>
                            </p:stCondLst>
                            <p:childTnLst>
                              <p:par>
                                <p:cTn id="112" presetID="2" presetClass="entr" presetSubtype="4" fill="hold" grpId="0" nodeType="clickEffect">
                                  <p:stCondLst>
                                    <p:cond delay="0"/>
                                  </p:stCondLst>
                                  <p:childTnLst>
                                    <p:set>
                                      <p:cBhvr>
                                        <p:cTn id="113" dur="1" fill="hold">
                                          <p:stCondLst>
                                            <p:cond delay="0"/>
                                          </p:stCondLst>
                                        </p:cTn>
                                        <p:tgtEl>
                                          <p:spTgt spid="2"/>
                                        </p:tgtEl>
                                        <p:attrNameLst>
                                          <p:attrName>style.visibility</p:attrName>
                                        </p:attrNameLst>
                                      </p:cBhvr>
                                      <p:to>
                                        <p:strVal val="visible"/>
                                      </p:to>
                                    </p:set>
                                    <p:anim calcmode="lin" valueType="num">
                                      <p:cBhvr additive="base">
                                        <p:cTn id="114" dur="500" fill="hold"/>
                                        <p:tgtEl>
                                          <p:spTgt spid="2"/>
                                        </p:tgtEl>
                                        <p:attrNameLst>
                                          <p:attrName>ppt_x</p:attrName>
                                        </p:attrNameLst>
                                      </p:cBhvr>
                                      <p:tavLst>
                                        <p:tav tm="0">
                                          <p:val>
                                            <p:strVal val="#ppt_x"/>
                                          </p:val>
                                        </p:tav>
                                        <p:tav tm="100000">
                                          <p:val>
                                            <p:strVal val="#ppt_x"/>
                                          </p:val>
                                        </p:tav>
                                      </p:tavLst>
                                    </p:anim>
                                    <p:anim calcmode="lin" valueType="num">
                                      <p:cBhvr additive="base">
                                        <p:cTn id="1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pPr marL="50799" indent="0">
              <a:buNone/>
            </a:pPr>
            <a:r>
              <a:rPr lang="en-IN" b="1" dirty="0" smtClean="0"/>
              <a:t>1.Pay-Per-Share </a:t>
            </a:r>
            <a:r>
              <a:rPr lang="en-IN" b="1" dirty="0"/>
              <a:t>(PPS) Model</a:t>
            </a:r>
          </a:p>
          <a:p>
            <a:pPr marL="50799" indent="0">
              <a:buNone/>
            </a:pPr>
            <a:r>
              <a:rPr lang="en-IN" sz="2400" b="1" dirty="0" smtClean="0"/>
              <a:t>Miners </a:t>
            </a:r>
            <a:r>
              <a:rPr lang="en-IN" sz="2400" b="1" dirty="0"/>
              <a:t>receive fixed payments for each share submitted, regardless of whether the pool finds a block or not.</a:t>
            </a:r>
            <a:endParaRPr lang="en-IN" sz="2400" dirty="0"/>
          </a:p>
          <a:p>
            <a:pPr marL="50799" indent="0">
              <a:buNone/>
            </a:pPr>
            <a:r>
              <a:rPr lang="en-IN" sz="2400" b="1" dirty="0"/>
              <a:t>How It Works</a:t>
            </a:r>
          </a:p>
          <a:p>
            <a:r>
              <a:rPr lang="en-IN" sz="2400" dirty="0"/>
              <a:t>The pool calculates the expected block reward based on difficulty.</a:t>
            </a:r>
          </a:p>
          <a:p>
            <a:r>
              <a:rPr lang="en-IN" sz="2400" dirty="0"/>
              <a:t>Miners receive a fixed </a:t>
            </a:r>
            <a:r>
              <a:rPr lang="en-IN" sz="2400" dirty="0" err="1"/>
              <a:t>payout</a:t>
            </a:r>
            <a:r>
              <a:rPr lang="en-IN" sz="2400" dirty="0"/>
              <a:t> for every valid share they submit.</a:t>
            </a:r>
          </a:p>
          <a:p>
            <a:r>
              <a:rPr lang="en-IN" sz="2400" dirty="0"/>
              <a:t>The pool keeps transaction fees and takes on all risk</a:t>
            </a:r>
            <a:r>
              <a:rPr lang="en-IN" sz="2400" dirty="0" smtClean="0"/>
              <a:t>.</a:t>
            </a:r>
          </a:p>
          <a:p>
            <a:pPr marL="50799" indent="0">
              <a:buNone/>
            </a:pPr>
            <a:r>
              <a:rPr lang="en-IN" sz="2400" b="1" dirty="0"/>
              <a:t>Pros:</a:t>
            </a:r>
          </a:p>
          <a:p>
            <a:pPr marL="50799" indent="0">
              <a:buNone/>
            </a:pPr>
            <a:r>
              <a:rPr lang="en-IN" sz="2400" dirty="0"/>
              <a:t>✅ </a:t>
            </a:r>
            <a:r>
              <a:rPr lang="en-IN" sz="2400" b="1" dirty="0"/>
              <a:t>Stable earnings</a:t>
            </a:r>
            <a:r>
              <a:rPr lang="en-IN" sz="2400" dirty="0"/>
              <a:t> – Miners get predictable </a:t>
            </a:r>
            <a:r>
              <a:rPr lang="en-IN" sz="2400" dirty="0" err="1"/>
              <a:t>payouts</a:t>
            </a:r>
            <a:r>
              <a:rPr lang="en-IN" sz="2400" dirty="0"/>
              <a:t>.</a:t>
            </a:r>
            <a:br>
              <a:rPr lang="en-IN" sz="2400" dirty="0"/>
            </a:br>
            <a:r>
              <a:rPr lang="en-IN" sz="2400" dirty="0"/>
              <a:t>✅ </a:t>
            </a:r>
            <a:r>
              <a:rPr lang="en-IN" sz="2400" b="1" dirty="0"/>
              <a:t>No variance risk</a:t>
            </a:r>
            <a:r>
              <a:rPr lang="en-IN" sz="2400" dirty="0"/>
              <a:t> – Earnings don’t depend on luck.</a:t>
            </a:r>
          </a:p>
          <a:p>
            <a:pPr marL="50799" indent="0">
              <a:buNone/>
            </a:pPr>
            <a:r>
              <a:rPr lang="en-IN" sz="2400" b="1" dirty="0"/>
              <a:t>Cons:</a:t>
            </a:r>
          </a:p>
          <a:p>
            <a:pPr marL="50799" indent="0">
              <a:buNone/>
            </a:pPr>
            <a:r>
              <a:rPr lang="en-IN" sz="2400" dirty="0"/>
              <a:t>🚫 </a:t>
            </a:r>
            <a:r>
              <a:rPr lang="en-IN" sz="2400" b="1" dirty="0"/>
              <a:t>Higher pool fees</a:t>
            </a:r>
            <a:r>
              <a:rPr lang="en-IN" sz="2400" dirty="0"/>
              <a:t> – Pools take a percentage to cover </a:t>
            </a:r>
            <a:r>
              <a:rPr lang="en-IN" sz="2400" dirty="0" err="1"/>
              <a:t>payout</a:t>
            </a:r>
            <a:r>
              <a:rPr lang="en-IN" sz="2400" dirty="0"/>
              <a:t> risks.</a:t>
            </a:r>
            <a:br>
              <a:rPr lang="en-IN" sz="2400" dirty="0"/>
            </a:br>
            <a:r>
              <a:rPr lang="en-IN" sz="2400" dirty="0"/>
              <a:t>🚫 </a:t>
            </a:r>
            <a:r>
              <a:rPr lang="en-IN" sz="2400" b="1" dirty="0"/>
              <a:t>Less incentive for miners to optimize work</a:t>
            </a:r>
            <a:r>
              <a:rPr lang="en-IN" sz="2400" dirty="0"/>
              <a:t> – Since rewards are guaranteed, miner efficiency doesn’t impact </a:t>
            </a:r>
            <a:r>
              <a:rPr lang="en-IN" sz="2400" dirty="0" err="1"/>
              <a:t>payouts</a:t>
            </a:r>
            <a:r>
              <a:rPr lang="en-IN" sz="2400" dirty="0"/>
              <a:t>.</a:t>
            </a:r>
          </a:p>
          <a:p>
            <a:pPr>
              <a:buFont typeface="Wingdings" panose="05000000000000000000" pitchFamily="2" charset="2"/>
              <a:buChar char="v"/>
            </a:pPr>
            <a:r>
              <a:rPr lang="en-IN" sz="2400" b="1" dirty="0"/>
              <a:t>Best For:</a:t>
            </a:r>
            <a:r>
              <a:rPr lang="en-IN" sz="2400" dirty="0"/>
              <a:t> Miners who prefer </a:t>
            </a:r>
            <a:r>
              <a:rPr lang="en-IN" sz="2400" b="1" dirty="0"/>
              <a:t>consistent and predictable income</a:t>
            </a:r>
            <a:r>
              <a:rPr lang="en-IN" sz="2400" dirty="0"/>
              <a:t>.</a:t>
            </a:r>
          </a:p>
          <a:p>
            <a:pPr marL="50799" indent="0">
              <a:buNone/>
            </a:pPr>
            <a:endParaRPr lang="en-IN" sz="2400" dirty="0"/>
          </a:p>
          <a:p>
            <a:pPr marL="50799" indent="0">
              <a:buNone/>
            </a:pPr>
            <a:endParaRPr lang="en-IN" dirty="0"/>
          </a:p>
        </p:txBody>
      </p:sp>
    </p:spTree>
    <p:extLst>
      <p:ext uri="{BB962C8B-B14F-4D97-AF65-F5344CB8AC3E}">
        <p14:creationId xmlns:p14="http://schemas.microsoft.com/office/powerpoint/2010/main" val="36624144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pPr marL="50799" indent="0">
              <a:buNone/>
            </a:pPr>
            <a:r>
              <a:rPr lang="en-IN" dirty="0" smtClean="0"/>
              <a:t>2.</a:t>
            </a:r>
            <a:r>
              <a:rPr lang="en-IN" b="1" dirty="0"/>
              <a:t> Proportional Model</a:t>
            </a:r>
          </a:p>
          <a:p>
            <a:pPr marL="50799" indent="0">
              <a:buNone/>
            </a:pPr>
            <a:r>
              <a:rPr lang="en-IN" dirty="0" smtClean="0"/>
              <a:t> </a:t>
            </a:r>
            <a:r>
              <a:rPr lang="en-IN" sz="2400" b="1" dirty="0"/>
              <a:t>Miners are paid based on the number of shares they submit before the pool finds a block.</a:t>
            </a:r>
            <a:endParaRPr lang="en-IN" sz="2400" dirty="0"/>
          </a:p>
          <a:p>
            <a:pPr marL="50799" indent="0">
              <a:buNone/>
            </a:pPr>
            <a:r>
              <a:rPr lang="en-IN" sz="2400" b="1" dirty="0"/>
              <a:t>How It Works</a:t>
            </a:r>
          </a:p>
          <a:p>
            <a:r>
              <a:rPr lang="en-IN" sz="2400" dirty="0"/>
              <a:t>The total rewards from a mined block are divided </a:t>
            </a:r>
            <a:r>
              <a:rPr lang="en-IN" sz="2400" b="1" dirty="0"/>
              <a:t>proportionally</a:t>
            </a:r>
            <a:r>
              <a:rPr lang="en-IN" sz="2400" dirty="0"/>
              <a:t> among all miners based on their contribution.</a:t>
            </a:r>
          </a:p>
          <a:p>
            <a:r>
              <a:rPr lang="en-IN" sz="2400" dirty="0"/>
              <a:t>Unlike PPLNS, </a:t>
            </a:r>
            <a:r>
              <a:rPr lang="en-IN" sz="2400" b="1" dirty="0"/>
              <a:t>all shares count</a:t>
            </a:r>
            <a:r>
              <a:rPr lang="en-IN" sz="2400" dirty="0"/>
              <a:t> (not just the last N shares).</a:t>
            </a:r>
          </a:p>
          <a:p>
            <a:r>
              <a:rPr lang="en-IN" sz="2400" dirty="0"/>
              <a:t>If the pool takes </a:t>
            </a:r>
            <a:r>
              <a:rPr lang="en-IN" sz="2400" b="1" dirty="0"/>
              <a:t>a long time to find a block, earnings decrease</a:t>
            </a:r>
            <a:r>
              <a:rPr lang="en-IN" sz="2400" dirty="0" smtClean="0"/>
              <a:t>.</a:t>
            </a:r>
          </a:p>
          <a:p>
            <a:pPr marL="50799" indent="0">
              <a:buNone/>
            </a:pPr>
            <a:r>
              <a:rPr lang="en-IN" sz="2400" b="1" dirty="0"/>
              <a:t>Pros:</a:t>
            </a:r>
          </a:p>
          <a:p>
            <a:pPr marL="50799" indent="0">
              <a:buNone/>
            </a:pPr>
            <a:r>
              <a:rPr lang="en-IN" sz="2400" dirty="0"/>
              <a:t>✅ </a:t>
            </a:r>
            <a:r>
              <a:rPr lang="en-IN" sz="2400" b="1" dirty="0"/>
              <a:t>Fair distribution</a:t>
            </a:r>
            <a:r>
              <a:rPr lang="en-IN" sz="2400" dirty="0"/>
              <a:t> – Miners are paid fairly based on their work.</a:t>
            </a:r>
            <a:br>
              <a:rPr lang="en-IN" sz="2400" dirty="0"/>
            </a:br>
            <a:r>
              <a:rPr lang="en-IN" sz="2400" dirty="0"/>
              <a:t>✅ </a:t>
            </a:r>
            <a:r>
              <a:rPr lang="en-IN" sz="2400" b="1" dirty="0"/>
              <a:t>Lower variance than PPLNS</a:t>
            </a:r>
            <a:r>
              <a:rPr lang="en-IN" sz="2400" dirty="0"/>
              <a:t> – Because all shares count, not just the last N.</a:t>
            </a:r>
          </a:p>
          <a:p>
            <a:pPr marL="50799" indent="0">
              <a:buNone/>
            </a:pPr>
            <a:r>
              <a:rPr lang="en-IN" sz="2400" b="1" dirty="0"/>
              <a:t>Cons:</a:t>
            </a:r>
          </a:p>
          <a:p>
            <a:pPr marL="50799" indent="0">
              <a:buNone/>
            </a:pPr>
            <a:r>
              <a:rPr lang="en-IN" sz="2400" dirty="0"/>
              <a:t>🚫 </a:t>
            </a:r>
            <a:r>
              <a:rPr lang="en-IN" sz="2400" b="1" dirty="0"/>
              <a:t>Less stable than PPS/FPPS</a:t>
            </a:r>
            <a:r>
              <a:rPr lang="en-IN" sz="2400" dirty="0"/>
              <a:t> – </a:t>
            </a:r>
            <a:r>
              <a:rPr lang="en-IN" sz="2400" dirty="0" err="1"/>
              <a:t>Payouts</a:t>
            </a:r>
            <a:r>
              <a:rPr lang="en-IN" sz="2400" dirty="0"/>
              <a:t> depend on when blocks are found.</a:t>
            </a:r>
            <a:br>
              <a:rPr lang="en-IN" sz="2400" dirty="0"/>
            </a:br>
            <a:r>
              <a:rPr lang="en-IN" sz="2400" dirty="0"/>
              <a:t>🚫 </a:t>
            </a:r>
            <a:r>
              <a:rPr lang="en-IN" sz="2400" b="1" dirty="0"/>
              <a:t>Susceptible to pool hopping</a:t>
            </a:r>
            <a:r>
              <a:rPr lang="en-IN" sz="2400" dirty="0"/>
              <a:t> – Miners might join a pool right before a block is found to maximize profits.</a:t>
            </a:r>
          </a:p>
          <a:p>
            <a:pPr>
              <a:buFont typeface="Wingdings" panose="05000000000000000000" pitchFamily="2" charset="2"/>
              <a:buChar char="v"/>
            </a:pPr>
            <a:r>
              <a:rPr lang="en-IN" sz="2400" b="1" dirty="0"/>
              <a:t>Best For:</a:t>
            </a:r>
            <a:r>
              <a:rPr lang="en-IN" sz="2400" dirty="0"/>
              <a:t> </a:t>
            </a:r>
            <a:r>
              <a:rPr lang="en-IN" sz="2400" b="1" dirty="0"/>
              <a:t>Miners who prefer fair </a:t>
            </a:r>
            <a:r>
              <a:rPr lang="en-IN" sz="2400" b="1" dirty="0" err="1"/>
              <a:t>payouts</a:t>
            </a:r>
            <a:r>
              <a:rPr lang="en-IN" sz="2400" b="1" dirty="0"/>
              <a:t> but can tolerate some variance.</a:t>
            </a:r>
            <a:endParaRPr lang="en-IN" sz="2400" dirty="0"/>
          </a:p>
          <a:p>
            <a:pPr marL="50799" indent="0">
              <a:buNone/>
            </a:pPr>
            <a:endParaRPr lang="en-IN" sz="2400" dirty="0"/>
          </a:p>
          <a:p>
            <a:pPr marL="50799" indent="0">
              <a:buNone/>
            </a:pPr>
            <a:endParaRPr lang="en-IN" dirty="0"/>
          </a:p>
        </p:txBody>
      </p:sp>
    </p:spTree>
    <p:extLst>
      <p:ext uri="{BB962C8B-B14F-4D97-AF65-F5344CB8AC3E}">
        <p14:creationId xmlns:p14="http://schemas.microsoft.com/office/powerpoint/2010/main" val="5335735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228601"/>
            <a:ext cx="10972800" cy="6339176"/>
          </a:xfrm>
        </p:spPr>
        <p:txBody>
          <a:bodyPr/>
          <a:lstStyle/>
          <a:p>
            <a:pPr marL="50799" indent="0">
              <a:buNone/>
            </a:pPr>
            <a:r>
              <a:rPr lang="en-IN" dirty="0" smtClean="0"/>
              <a:t>3.</a:t>
            </a:r>
            <a:r>
              <a:rPr lang="en-IN" b="1" dirty="0"/>
              <a:t> </a:t>
            </a:r>
            <a:r>
              <a:rPr lang="en-IN" b="1" dirty="0" smtClean="0"/>
              <a:t> </a:t>
            </a:r>
            <a:r>
              <a:rPr lang="en-IN" b="1" dirty="0"/>
              <a:t>FPPS (Full Pay-Per-Share) Model</a:t>
            </a:r>
          </a:p>
          <a:p>
            <a:pPr marL="50799" indent="0">
              <a:buNone/>
            </a:pPr>
            <a:r>
              <a:rPr lang="en-IN" sz="2400" b="1" dirty="0" smtClean="0"/>
              <a:t>FPPS </a:t>
            </a:r>
            <a:r>
              <a:rPr lang="en-IN" sz="2400" b="1" dirty="0"/>
              <a:t>is an improved version of PPS where miners also get a share of transaction fees.</a:t>
            </a:r>
            <a:endParaRPr lang="en-IN" sz="2400" dirty="0"/>
          </a:p>
          <a:p>
            <a:pPr marL="50799" indent="0">
              <a:buNone/>
            </a:pPr>
            <a:r>
              <a:rPr lang="en-IN" sz="2400" b="1" dirty="0"/>
              <a:t>How It Works</a:t>
            </a:r>
          </a:p>
          <a:p>
            <a:r>
              <a:rPr lang="en-IN" sz="2400" dirty="0"/>
              <a:t>Works like PPS, but the pool also includes a share of </a:t>
            </a:r>
            <a:r>
              <a:rPr lang="en-IN" sz="2400" b="1" dirty="0"/>
              <a:t>transaction fees</a:t>
            </a:r>
            <a:r>
              <a:rPr lang="en-IN" sz="2400" dirty="0"/>
              <a:t> from mined blocks.</a:t>
            </a:r>
          </a:p>
          <a:p>
            <a:r>
              <a:rPr lang="en-IN" sz="2400" dirty="0"/>
              <a:t>Miners earn </a:t>
            </a:r>
            <a:r>
              <a:rPr lang="en-IN" sz="2400" b="1" dirty="0"/>
              <a:t>higher </a:t>
            </a:r>
            <a:r>
              <a:rPr lang="en-IN" sz="2400" b="1" dirty="0" err="1"/>
              <a:t>payouts</a:t>
            </a:r>
            <a:r>
              <a:rPr lang="en-IN" sz="2400" dirty="0"/>
              <a:t> since they get both </a:t>
            </a:r>
            <a:r>
              <a:rPr lang="en-IN" sz="2400" b="1" dirty="0"/>
              <a:t>block rewards + transaction fees</a:t>
            </a:r>
            <a:r>
              <a:rPr lang="en-IN" sz="2400" dirty="0" smtClean="0"/>
              <a:t>.</a:t>
            </a:r>
          </a:p>
          <a:p>
            <a:pPr marL="50799" indent="0">
              <a:buNone/>
            </a:pPr>
            <a:r>
              <a:rPr lang="en-IN" sz="2400" b="1" dirty="0"/>
              <a:t>Pros:</a:t>
            </a:r>
          </a:p>
          <a:p>
            <a:pPr marL="50799" indent="0">
              <a:buNone/>
            </a:pPr>
            <a:r>
              <a:rPr lang="en-IN" sz="2400" dirty="0"/>
              <a:t>✅ </a:t>
            </a:r>
            <a:r>
              <a:rPr lang="en-IN" sz="2400" b="1" dirty="0"/>
              <a:t>Higher earnings than PPS</a:t>
            </a:r>
            <a:r>
              <a:rPr lang="en-IN" sz="2400" dirty="0"/>
              <a:t> – Includes transaction fees.</a:t>
            </a:r>
            <a:br>
              <a:rPr lang="en-IN" sz="2400" dirty="0"/>
            </a:br>
            <a:r>
              <a:rPr lang="en-IN" sz="2400" dirty="0"/>
              <a:t>✅ </a:t>
            </a:r>
            <a:r>
              <a:rPr lang="en-IN" sz="2400" b="1" dirty="0"/>
              <a:t>Predictable payments</a:t>
            </a:r>
            <a:r>
              <a:rPr lang="en-IN" sz="2400" dirty="0"/>
              <a:t> – No dependency on luck.</a:t>
            </a:r>
          </a:p>
          <a:p>
            <a:pPr marL="50799" indent="0">
              <a:buNone/>
            </a:pPr>
            <a:r>
              <a:rPr lang="en-IN" sz="2400" b="1" dirty="0"/>
              <a:t>Cons:</a:t>
            </a:r>
          </a:p>
          <a:p>
            <a:pPr marL="50799" indent="0">
              <a:buNone/>
            </a:pPr>
            <a:r>
              <a:rPr lang="en-IN" sz="2400" dirty="0"/>
              <a:t>🚫 </a:t>
            </a:r>
            <a:r>
              <a:rPr lang="en-IN" sz="2400" b="1" dirty="0"/>
              <a:t>Even higher pool fees than PPS</a:t>
            </a:r>
            <a:r>
              <a:rPr lang="en-IN" sz="2400" dirty="0"/>
              <a:t> – Because pools pay transaction fees upfront.</a:t>
            </a:r>
          </a:p>
          <a:p>
            <a:pPr>
              <a:buFont typeface="Wingdings" panose="05000000000000000000" pitchFamily="2" charset="2"/>
              <a:buChar char="v"/>
            </a:pPr>
            <a:r>
              <a:rPr lang="en-IN" sz="2400" b="1" dirty="0"/>
              <a:t>Best For:</a:t>
            </a:r>
            <a:r>
              <a:rPr lang="en-IN" sz="2400" dirty="0"/>
              <a:t> Miners who want </a:t>
            </a:r>
            <a:r>
              <a:rPr lang="en-IN" sz="2400" b="1" dirty="0"/>
              <a:t>steady income and transaction fee benefits</a:t>
            </a:r>
            <a:r>
              <a:rPr lang="en-IN" sz="2400" dirty="0"/>
              <a:t>.</a:t>
            </a:r>
          </a:p>
          <a:p>
            <a:pPr marL="50799" indent="0">
              <a:buNone/>
            </a:pPr>
            <a:endParaRPr lang="en-IN" sz="2400" dirty="0"/>
          </a:p>
          <a:p>
            <a:pPr marL="50799" indent="0">
              <a:buNone/>
            </a:pPr>
            <a:endParaRPr lang="en-IN" dirty="0"/>
          </a:p>
        </p:txBody>
      </p:sp>
    </p:spTree>
    <p:extLst>
      <p:ext uri="{BB962C8B-B14F-4D97-AF65-F5344CB8AC3E}">
        <p14:creationId xmlns:p14="http://schemas.microsoft.com/office/powerpoint/2010/main" val="8428479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pPr marL="50799" indent="0">
              <a:buNone/>
            </a:pPr>
            <a:r>
              <a:rPr lang="en-IN" dirty="0" smtClean="0"/>
              <a:t>4. </a:t>
            </a:r>
            <a:r>
              <a:rPr lang="en-IN" b="1" dirty="0" smtClean="0"/>
              <a:t>PPLNS </a:t>
            </a:r>
            <a:r>
              <a:rPr lang="en-IN" b="1" dirty="0"/>
              <a:t>(Pay-Per-Last-N-Shares) Model</a:t>
            </a:r>
          </a:p>
          <a:p>
            <a:pPr marL="50799" indent="0">
              <a:buNone/>
            </a:pPr>
            <a:r>
              <a:rPr lang="en-IN" sz="2300" dirty="0" smtClean="0"/>
              <a:t> </a:t>
            </a:r>
            <a:r>
              <a:rPr lang="en-IN" sz="2300" b="1" dirty="0"/>
              <a:t>Miners get paid based on the last N shares submitted before a block is found.</a:t>
            </a:r>
            <a:endParaRPr lang="en-IN" sz="2300" dirty="0"/>
          </a:p>
          <a:p>
            <a:pPr marL="50799" indent="0">
              <a:buNone/>
            </a:pPr>
            <a:r>
              <a:rPr lang="en-IN" sz="2300" b="1" dirty="0"/>
              <a:t>How It Works</a:t>
            </a:r>
          </a:p>
          <a:p>
            <a:r>
              <a:rPr lang="en-IN" sz="2300" dirty="0"/>
              <a:t>Instead of paying for each share, the pool only pays when a block is successfully mined.</a:t>
            </a:r>
          </a:p>
          <a:p>
            <a:r>
              <a:rPr lang="en-IN" sz="2300" dirty="0"/>
              <a:t>Miners are rewarded based on how much work they contributed in the </a:t>
            </a:r>
            <a:r>
              <a:rPr lang="en-IN" sz="2300" b="1" dirty="0"/>
              <a:t>last N shares</a:t>
            </a:r>
            <a:r>
              <a:rPr lang="en-IN" sz="2300" dirty="0"/>
              <a:t> before a block is </a:t>
            </a:r>
            <a:r>
              <a:rPr lang="en-IN" sz="2300" dirty="0" smtClean="0"/>
              <a:t>found.</a:t>
            </a:r>
          </a:p>
          <a:p>
            <a:r>
              <a:rPr lang="en-IN" sz="2300" b="1" dirty="0" smtClean="0"/>
              <a:t>Pros</a:t>
            </a:r>
            <a:r>
              <a:rPr lang="en-IN" sz="2300" b="1" dirty="0"/>
              <a:t>:</a:t>
            </a:r>
          </a:p>
          <a:p>
            <a:pPr marL="50799" indent="0">
              <a:buNone/>
            </a:pPr>
            <a:r>
              <a:rPr lang="en-IN" sz="2300" dirty="0"/>
              <a:t>✅ </a:t>
            </a:r>
            <a:r>
              <a:rPr lang="en-IN" sz="2300" b="1" dirty="0"/>
              <a:t>Higher rewards when the pool is lucky</a:t>
            </a:r>
            <a:r>
              <a:rPr lang="en-IN" sz="2300" dirty="0"/>
              <a:t> – No fixed </a:t>
            </a:r>
            <a:r>
              <a:rPr lang="en-IN" sz="2300" dirty="0" err="1"/>
              <a:t>payouts</a:t>
            </a:r>
            <a:r>
              <a:rPr lang="en-IN" sz="2300" dirty="0"/>
              <a:t> mean more profit when blocks are found.</a:t>
            </a:r>
            <a:br>
              <a:rPr lang="en-IN" sz="2300" dirty="0"/>
            </a:br>
            <a:r>
              <a:rPr lang="en-IN" sz="2300" dirty="0"/>
              <a:t>✅ </a:t>
            </a:r>
            <a:r>
              <a:rPr lang="en-IN" sz="2300" b="1" dirty="0"/>
              <a:t>Lower pool fees</a:t>
            </a:r>
            <a:r>
              <a:rPr lang="en-IN" sz="2300" dirty="0"/>
              <a:t> – Because the pool only pays when blocks are mined.</a:t>
            </a:r>
          </a:p>
          <a:p>
            <a:pPr marL="50799" indent="0">
              <a:buNone/>
            </a:pPr>
            <a:r>
              <a:rPr lang="en-IN" sz="2300" b="1" dirty="0"/>
              <a:t>Cons:</a:t>
            </a:r>
          </a:p>
          <a:p>
            <a:pPr marL="50799" indent="0">
              <a:buNone/>
            </a:pPr>
            <a:r>
              <a:rPr lang="en-IN" sz="2300" dirty="0"/>
              <a:t>🚫 </a:t>
            </a:r>
            <a:r>
              <a:rPr lang="en-IN" sz="2300" b="1" dirty="0"/>
              <a:t>High variance</a:t>
            </a:r>
            <a:r>
              <a:rPr lang="en-IN" sz="2300" dirty="0"/>
              <a:t> – If the pool goes through a bad luck streak, miners may earn </a:t>
            </a:r>
            <a:r>
              <a:rPr lang="en-IN" sz="2300" b="1" dirty="0"/>
              <a:t>nothing</a:t>
            </a:r>
            <a:r>
              <a:rPr lang="en-IN" sz="2300" dirty="0"/>
              <a:t> for some time.</a:t>
            </a:r>
            <a:br>
              <a:rPr lang="en-IN" sz="2300" dirty="0"/>
            </a:br>
            <a:r>
              <a:rPr lang="en-IN" sz="2300" dirty="0"/>
              <a:t>🚫 </a:t>
            </a:r>
            <a:r>
              <a:rPr lang="en-IN" sz="2300" b="1" dirty="0"/>
              <a:t>Unstable income</a:t>
            </a:r>
            <a:r>
              <a:rPr lang="en-IN" sz="2300" dirty="0"/>
              <a:t> – Payments are inconsistent, depending on the pool’s block-finding success.</a:t>
            </a:r>
          </a:p>
          <a:p>
            <a:pPr>
              <a:buFont typeface="Wingdings" panose="05000000000000000000" pitchFamily="2" charset="2"/>
              <a:buChar char="v"/>
            </a:pPr>
            <a:r>
              <a:rPr lang="en-IN" sz="2300" b="1" dirty="0"/>
              <a:t>Best For:</a:t>
            </a:r>
            <a:r>
              <a:rPr lang="en-IN" sz="2300" dirty="0"/>
              <a:t> </a:t>
            </a:r>
            <a:r>
              <a:rPr lang="en-IN" sz="2300" b="1" dirty="0"/>
              <a:t>Experienced miners</a:t>
            </a:r>
            <a:r>
              <a:rPr lang="en-IN" sz="2300" dirty="0"/>
              <a:t> who can handle </a:t>
            </a:r>
            <a:r>
              <a:rPr lang="en-IN" sz="2300" dirty="0" err="1"/>
              <a:t>payout</a:t>
            </a:r>
            <a:r>
              <a:rPr lang="en-IN" sz="2300" dirty="0"/>
              <a:t> fluctuations.</a:t>
            </a:r>
          </a:p>
          <a:p>
            <a:pPr marL="50799" indent="0">
              <a:buNone/>
            </a:pPr>
            <a:endParaRPr lang="en-IN" sz="2400" dirty="0"/>
          </a:p>
          <a:p>
            <a:pPr marL="50799" indent="0">
              <a:buNone/>
            </a:pPr>
            <a:endParaRPr lang="en-IN" dirty="0"/>
          </a:p>
        </p:txBody>
      </p:sp>
    </p:spTree>
    <p:extLst>
      <p:ext uri="{BB962C8B-B14F-4D97-AF65-F5344CB8AC3E}">
        <p14:creationId xmlns:p14="http://schemas.microsoft.com/office/powerpoint/2010/main" val="8659835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2400" b="1" dirty="0" smtClean="0">
                <a:latin typeface="Arial" panose="020B0604020202020204" pitchFamily="34" charset="0"/>
              </a:rPr>
              <a:t>      PPS </a:t>
            </a:r>
            <a:r>
              <a:rPr lang="en-US" sz="2400" b="1" dirty="0">
                <a:latin typeface="Arial" panose="020B0604020202020204" pitchFamily="34" charset="0"/>
              </a:rPr>
              <a:t>vs. FPPS vs. PPLNS vs. Proportional</a:t>
            </a:r>
            <a:br>
              <a:rPr lang="en-US" sz="2400" b="1" dirty="0">
                <a:latin typeface="Arial" panose="020B0604020202020204" pitchFamily="34" charset="0"/>
              </a:rPr>
            </a:br>
            <a:endParaRPr lang="en-IN" sz="2400" dirty="0"/>
          </a:p>
        </p:txBody>
      </p:sp>
      <p:graphicFrame>
        <p:nvGraphicFramePr>
          <p:cNvPr id="4" name="Table 3"/>
          <p:cNvGraphicFramePr>
            <a:graphicFrameLocks noGrp="1"/>
          </p:cNvGraphicFramePr>
          <p:nvPr>
            <p:extLst/>
          </p:nvPr>
        </p:nvGraphicFramePr>
        <p:xfrm>
          <a:off x="457200" y="1295400"/>
          <a:ext cx="10515600" cy="3632469"/>
        </p:xfrm>
        <a:graphic>
          <a:graphicData uri="http://schemas.openxmlformats.org/drawingml/2006/table">
            <a:tbl>
              <a:tblPr/>
              <a:tblGrid>
                <a:gridCol w="2103120"/>
                <a:gridCol w="2103120"/>
                <a:gridCol w="2103120"/>
                <a:gridCol w="2103120"/>
                <a:gridCol w="2103120"/>
              </a:tblGrid>
              <a:tr h="950633">
                <a:tc>
                  <a:txBody>
                    <a:bodyPr/>
                    <a:lstStyle/>
                    <a:p>
                      <a:r>
                        <a:rPr lang="en-IN" u="sng" dirty="0" smtClean="0"/>
                        <a:t>Feature</a:t>
                      </a:r>
                      <a:endParaRPr lang="en-IN" u="sng" dirty="0"/>
                    </a:p>
                  </a:txBody>
                  <a:tcPr anchor="ctr">
                    <a:lnL>
                      <a:noFill/>
                    </a:lnL>
                    <a:lnR>
                      <a:noFill/>
                    </a:lnR>
                    <a:lnT>
                      <a:noFill/>
                    </a:lnT>
                    <a:lnB>
                      <a:noFill/>
                    </a:lnB>
                  </a:tcPr>
                </a:tc>
                <a:tc>
                  <a:txBody>
                    <a:bodyPr/>
                    <a:lstStyle/>
                    <a:p>
                      <a:r>
                        <a:rPr lang="en-IN" b="1" u="sng" dirty="0"/>
                        <a:t>PPS</a:t>
                      </a:r>
                      <a:r>
                        <a:rPr lang="en-IN" u="sng" dirty="0"/>
                        <a:t> (Pay-Per-Share)</a:t>
                      </a:r>
                    </a:p>
                  </a:txBody>
                  <a:tcPr anchor="ctr">
                    <a:lnL>
                      <a:noFill/>
                    </a:lnL>
                    <a:lnR>
                      <a:noFill/>
                    </a:lnR>
                    <a:lnT>
                      <a:noFill/>
                    </a:lnT>
                    <a:lnB>
                      <a:noFill/>
                    </a:lnB>
                  </a:tcPr>
                </a:tc>
                <a:tc>
                  <a:txBody>
                    <a:bodyPr/>
                    <a:lstStyle/>
                    <a:p>
                      <a:r>
                        <a:rPr lang="en-IN" b="1" u="sng" dirty="0"/>
                        <a:t>FPPS</a:t>
                      </a:r>
                      <a:r>
                        <a:rPr lang="en-IN" u="sng" dirty="0"/>
                        <a:t> (Full Pay-Per-Share)</a:t>
                      </a:r>
                    </a:p>
                  </a:txBody>
                  <a:tcPr anchor="ctr">
                    <a:lnL>
                      <a:noFill/>
                    </a:lnL>
                    <a:lnR>
                      <a:noFill/>
                    </a:lnR>
                    <a:lnT>
                      <a:noFill/>
                    </a:lnT>
                    <a:lnB>
                      <a:noFill/>
                    </a:lnB>
                  </a:tcPr>
                </a:tc>
                <a:tc>
                  <a:txBody>
                    <a:bodyPr/>
                    <a:lstStyle/>
                    <a:p>
                      <a:r>
                        <a:rPr lang="en-IN" b="1" u="sng" dirty="0"/>
                        <a:t>PPLNS</a:t>
                      </a:r>
                      <a:r>
                        <a:rPr lang="en-IN" u="sng" dirty="0"/>
                        <a:t> (Pay-Per-Last-N-Shares)</a:t>
                      </a:r>
                    </a:p>
                  </a:txBody>
                  <a:tcPr anchor="ctr">
                    <a:lnL>
                      <a:noFill/>
                    </a:lnL>
                    <a:lnR>
                      <a:noFill/>
                    </a:lnR>
                    <a:lnT>
                      <a:noFill/>
                    </a:lnT>
                    <a:lnB>
                      <a:noFill/>
                    </a:lnB>
                  </a:tcPr>
                </a:tc>
                <a:tc>
                  <a:txBody>
                    <a:bodyPr/>
                    <a:lstStyle/>
                    <a:p>
                      <a:r>
                        <a:rPr lang="en-IN" b="1" u="sng" dirty="0"/>
                        <a:t>Proportional</a:t>
                      </a:r>
                      <a:endParaRPr lang="en-IN" u="sng" dirty="0"/>
                    </a:p>
                  </a:txBody>
                  <a:tcPr anchor="ctr">
                    <a:lnL>
                      <a:noFill/>
                    </a:lnL>
                    <a:lnR>
                      <a:noFill/>
                    </a:lnR>
                    <a:lnT>
                      <a:noFill/>
                    </a:lnT>
                    <a:lnB>
                      <a:noFill/>
                    </a:lnB>
                  </a:tcPr>
                </a:tc>
              </a:tr>
              <a:tr h="722033">
                <a:tc>
                  <a:txBody>
                    <a:bodyPr/>
                    <a:lstStyle/>
                    <a:p>
                      <a:r>
                        <a:rPr lang="en-IN" b="1"/>
                        <a:t>Payout Frequency</a:t>
                      </a:r>
                      <a:endParaRPr lang="en-IN"/>
                    </a:p>
                  </a:txBody>
                  <a:tcPr anchor="ctr">
                    <a:lnL>
                      <a:noFill/>
                    </a:lnL>
                    <a:lnR>
                      <a:noFill/>
                    </a:lnR>
                    <a:lnT>
                      <a:noFill/>
                    </a:lnT>
                    <a:lnB>
                      <a:noFill/>
                    </a:lnB>
                  </a:tcPr>
                </a:tc>
                <a:tc>
                  <a:txBody>
                    <a:bodyPr/>
                    <a:lstStyle/>
                    <a:p>
                      <a:r>
                        <a:rPr lang="en-IN" dirty="0"/>
                        <a:t>Fixed for each share</a:t>
                      </a:r>
                    </a:p>
                  </a:txBody>
                  <a:tcPr anchor="ctr">
                    <a:lnL>
                      <a:noFill/>
                    </a:lnL>
                    <a:lnR>
                      <a:noFill/>
                    </a:lnR>
                    <a:lnT>
                      <a:noFill/>
                    </a:lnT>
                    <a:lnB>
                      <a:noFill/>
                    </a:lnB>
                  </a:tcPr>
                </a:tc>
                <a:tc>
                  <a:txBody>
                    <a:bodyPr/>
                    <a:lstStyle/>
                    <a:p>
                      <a:r>
                        <a:rPr lang="en-IN"/>
                        <a:t>Fixed + transaction fees</a:t>
                      </a:r>
                    </a:p>
                  </a:txBody>
                  <a:tcPr anchor="ctr">
                    <a:lnL>
                      <a:noFill/>
                    </a:lnL>
                    <a:lnR>
                      <a:noFill/>
                    </a:lnR>
                    <a:lnT>
                      <a:noFill/>
                    </a:lnT>
                    <a:lnB>
                      <a:noFill/>
                    </a:lnB>
                  </a:tcPr>
                </a:tc>
                <a:tc>
                  <a:txBody>
                    <a:bodyPr/>
                    <a:lstStyle/>
                    <a:p>
                      <a:r>
                        <a:rPr lang="en-IN"/>
                        <a:t>Only when a block is mined</a:t>
                      </a:r>
                    </a:p>
                  </a:txBody>
                  <a:tcPr anchor="ctr">
                    <a:lnL>
                      <a:noFill/>
                    </a:lnL>
                    <a:lnR>
                      <a:noFill/>
                    </a:lnR>
                    <a:lnT>
                      <a:noFill/>
                    </a:lnT>
                    <a:lnB>
                      <a:noFill/>
                    </a:lnB>
                  </a:tcPr>
                </a:tc>
                <a:tc>
                  <a:txBody>
                    <a:bodyPr/>
                    <a:lstStyle/>
                    <a:p>
                      <a:r>
                        <a:rPr lang="en-IN"/>
                        <a:t>Only when a block is mined</a:t>
                      </a:r>
                    </a:p>
                  </a:txBody>
                  <a:tcPr anchor="ctr">
                    <a:lnL>
                      <a:noFill/>
                    </a:lnL>
                    <a:lnR>
                      <a:noFill/>
                    </a:lnR>
                    <a:lnT>
                      <a:noFill/>
                    </a:lnT>
                    <a:lnB>
                      <a:noFill/>
                    </a:lnB>
                  </a:tcPr>
                </a:tc>
              </a:tr>
              <a:tr h="722033">
                <a:tc>
                  <a:txBody>
                    <a:bodyPr/>
                    <a:lstStyle/>
                    <a:p>
                      <a:r>
                        <a:rPr lang="en-IN" b="1"/>
                        <a:t>Includes Transaction Fees?</a:t>
                      </a:r>
                      <a:endParaRPr lang="en-IN"/>
                    </a:p>
                  </a:txBody>
                  <a:tcPr anchor="ctr">
                    <a:lnL>
                      <a:noFill/>
                    </a:lnL>
                    <a:lnR>
                      <a:noFill/>
                    </a:lnR>
                    <a:lnT>
                      <a:noFill/>
                    </a:lnT>
                    <a:lnB>
                      <a:noFill/>
                    </a:lnB>
                  </a:tcPr>
                </a:tc>
                <a:tc>
                  <a:txBody>
                    <a:bodyPr/>
                    <a:lstStyle/>
                    <a:p>
                      <a:r>
                        <a:rPr lang="en-IN" dirty="0"/>
                        <a:t>❌ No</a:t>
                      </a:r>
                    </a:p>
                  </a:txBody>
                  <a:tcPr anchor="ctr">
                    <a:lnL>
                      <a:noFill/>
                    </a:lnL>
                    <a:lnR>
                      <a:noFill/>
                    </a:lnR>
                    <a:lnT>
                      <a:noFill/>
                    </a:lnT>
                    <a:lnB>
                      <a:noFill/>
                    </a:lnB>
                  </a:tcPr>
                </a:tc>
                <a:tc>
                  <a:txBody>
                    <a:bodyPr/>
                    <a:lstStyle/>
                    <a:p>
                      <a:r>
                        <a:rPr lang="en-IN"/>
                        <a:t>✅ Yes</a:t>
                      </a:r>
                    </a:p>
                  </a:txBody>
                  <a:tcPr anchor="ctr">
                    <a:lnL>
                      <a:noFill/>
                    </a:lnL>
                    <a:lnR>
                      <a:noFill/>
                    </a:lnR>
                    <a:lnT>
                      <a:noFill/>
                    </a:lnT>
                    <a:lnB>
                      <a:noFill/>
                    </a:lnB>
                  </a:tcPr>
                </a:tc>
                <a:tc>
                  <a:txBody>
                    <a:bodyPr/>
                    <a:lstStyle/>
                    <a:p>
                      <a:r>
                        <a:rPr lang="en-IN"/>
                        <a:t>❌ No (or partial)</a:t>
                      </a:r>
                    </a:p>
                  </a:txBody>
                  <a:tcPr anchor="ctr">
                    <a:lnL>
                      <a:noFill/>
                    </a:lnL>
                    <a:lnR>
                      <a:noFill/>
                    </a:lnR>
                    <a:lnT>
                      <a:noFill/>
                    </a:lnT>
                    <a:lnB>
                      <a:noFill/>
                    </a:lnB>
                  </a:tcPr>
                </a:tc>
                <a:tc>
                  <a:txBody>
                    <a:bodyPr/>
                    <a:lstStyle/>
                    <a:p>
                      <a:r>
                        <a:rPr lang="en-IN"/>
                        <a:t>❌ No</a:t>
                      </a:r>
                    </a:p>
                  </a:txBody>
                  <a:tcPr anchor="ctr">
                    <a:lnL>
                      <a:noFill/>
                    </a:lnL>
                    <a:lnR>
                      <a:noFill/>
                    </a:lnR>
                    <a:lnT>
                      <a:noFill/>
                    </a:lnT>
                    <a:lnB>
                      <a:noFill/>
                    </a:lnB>
                  </a:tcPr>
                </a:tc>
              </a:tr>
              <a:tr h="412590">
                <a:tc>
                  <a:txBody>
                    <a:bodyPr/>
                    <a:lstStyle/>
                    <a:p>
                      <a:r>
                        <a:rPr lang="en-IN" b="1"/>
                        <a:t>Risk Level</a:t>
                      </a:r>
                      <a:endParaRPr lang="en-IN"/>
                    </a:p>
                  </a:txBody>
                  <a:tcPr anchor="ctr">
                    <a:lnL>
                      <a:noFill/>
                    </a:lnL>
                    <a:lnR>
                      <a:noFill/>
                    </a:lnR>
                    <a:lnT>
                      <a:noFill/>
                    </a:lnT>
                    <a:lnB>
                      <a:noFill/>
                    </a:lnB>
                  </a:tcPr>
                </a:tc>
                <a:tc>
                  <a:txBody>
                    <a:bodyPr/>
                    <a:lstStyle/>
                    <a:p>
                      <a:r>
                        <a:rPr lang="en-IN"/>
                        <a:t>✅ Low</a:t>
                      </a:r>
                    </a:p>
                  </a:txBody>
                  <a:tcPr anchor="ctr">
                    <a:lnL>
                      <a:noFill/>
                    </a:lnL>
                    <a:lnR>
                      <a:noFill/>
                    </a:lnR>
                    <a:lnT>
                      <a:noFill/>
                    </a:lnT>
                    <a:lnB>
                      <a:noFill/>
                    </a:lnB>
                  </a:tcPr>
                </a:tc>
                <a:tc>
                  <a:txBody>
                    <a:bodyPr/>
                    <a:lstStyle/>
                    <a:p>
                      <a:r>
                        <a:rPr lang="en-IN"/>
                        <a:t>✅ Low</a:t>
                      </a:r>
                    </a:p>
                  </a:txBody>
                  <a:tcPr anchor="ctr">
                    <a:lnL>
                      <a:noFill/>
                    </a:lnL>
                    <a:lnR>
                      <a:noFill/>
                    </a:lnR>
                    <a:lnT>
                      <a:noFill/>
                    </a:lnT>
                    <a:lnB>
                      <a:noFill/>
                    </a:lnB>
                  </a:tcPr>
                </a:tc>
                <a:tc>
                  <a:txBody>
                    <a:bodyPr/>
                    <a:lstStyle/>
                    <a:p>
                      <a:r>
                        <a:rPr lang="en-IN"/>
                        <a:t>🚫 High</a:t>
                      </a:r>
                    </a:p>
                  </a:txBody>
                  <a:tcPr anchor="ctr">
                    <a:lnL>
                      <a:noFill/>
                    </a:lnL>
                    <a:lnR>
                      <a:noFill/>
                    </a:lnR>
                    <a:lnT>
                      <a:noFill/>
                    </a:lnT>
                    <a:lnB>
                      <a:noFill/>
                    </a:lnB>
                  </a:tcPr>
                </a:tc>
                <a:tc>
                  <a:txBody>
                    <a:bodyPr/>
                    <a:lstStyle/>
                    <a:p>
                      <a:r>
                        <a:rPr lang="en-IN"/>
                        <a:t>🚫 Medium</a:t>
                      </a:r>
                    </a:p>
                  </a:txBody>
                  <a:tcPr anchor="ctr">
                    <a:lnL>
                      <a:noFill/>
                    </a:lnL>
                    <a:lnR>
                      <a:noFill/>
                    </a:lnR>
                    <a:lnT>
                      <a:noFill/>
                    </a:lnT>
                    <a:lnB>
                      <a:noFill/>
                    </a:lnB>
                  </a:tcPr>
                </a:tc>
              </a:tr>
              <a:tr h="412590">
                <a:tc>
                  <a:txBody>
                    <a:bodyPr/>
                    <a:lstStyle/>
                    <a:p>
                      <a:r>
                        <a:rPr lang="en-IN" b="1"/>
                        <a:t>Earnings Stability</a:t>
                      </a:r>
                      <a:endParaRPr lang="en-IN"/>
                    </a:p>
                  </a:txBody>
                  <a:tcPr anchor="ctr">
                    <a:lnL>
                      <a:noFill/>
                    </a:lnL>
                    <a:lnR>
                      <a:noFill/>
                    </a:lnR>
                    <a:lnT>
                      <a:noFill/>
                    </a:lnT>
                    <a:lnB>
                      <a:noFill/>
                    </a:lnB>
                  </a:tcPr>
                </a:tc>
                <a:tc>
                  <a:txBody>
                    <a:bodyPr/>
                    <a:lstStyle/>
                    <a:p>
                      <a:r>
                        <a:rPr lang="en-IN"/>
                        <a:t>✅ Very stable</a:t>
                      </a:r>
                    </a:p>
                  </a:txBody>
                  <a:tcPr anchor="ctr">
                    <a:lnL>
                      <a:noFill/>
                    </a:lnL>
                    <a:lnR>
                      <a:noFill/>
                    </a:lnR>
                    <a:lnT>
                      <a:noFill/>
                    </a:lnT>
                    <a:lnB>
                      <a:noFill/>
                    </a:lnB>
                  </a:tcPr>
                </a:tc>
                <a:tc>
                  <a:txBody>
                    <a:bodyPr/>
                    <a:lstStyle/>
                    <a:p>
                      <a:r>
                        <a:rPr lang="en-IN"/>
                        <a:t>✅ Stable &amp; higher</a:t>
                      </a:r>
                    </a:p>
                  </a:txBody>
                  <a:tcPr anchor="ctr">
                    <a:lnL>
                      <a:noFill/>
                    </a:lnL>
                    <a:lnR>
                      <a:noFill/>
                    </a:lnR>
                    <a:lnT>
                      <a:noFill/>
                    </a:lnT>
                    <a:lnB>
                      <a:noFill/>
                    </a:lnB>
                  </a:tcPr>
                </a:tc>
                <a:tc>
                  <a:txBody>
                    <a:bodyPr/>
                    <a:lstStyle/>
                    <a:p>
                      <a:r>
                        <a:rPr lang="en-IN"/>
                        <a:t>🚫 Unstable</a:t>
                      </a:r>
                    </a:p>
                  </a:txBody>
                  <a:tcPr anchor="ctr">
                    <a:lnL>
                      <a:noFill/>
                    </a:lnL>
                    <a:lnR>
                      <a:noFill/>
                    </a:lnR>
                    <a:lnT>
                      <a:noFill/>
                    </a:lnT>
                    <a:lnB>
                      <a:noFill/>
                    </a:lnB>
                  </a:tcPr>
                </a:tc>
                <a:tc>
                  <a:txBody>
                    <a:bodyPr/>
                    <a:lstStyle/>
                    <a:p>
                      <a:r>
                        <a:rPr lang="en-IN"/>
                        <a:t>🚫 Fluctuates</a:t>
                      </a:r>
                    </a:p>
                  </a:txBody>
                  <a:tcPr anchor="ctr">
                    <a:lnL>
                      <a:noFill/>
                    </a:lnL>
                    <a:lnR>
                      <a:noFill/>
                    </a:lnR>
                    <a:lnT>
                      <a:noFill/>
                    </a:lnT>
                    <a:lnB>
                      <a:noFill/>
                    </a:lnB>
                  </a:tcPr>
                </a:tc>
              </a:tr>
              <a:tr h="412590">
                <a:tc>
                  <a:txBody>
                    <a:bodyPr/>
                    <a:lstStyle/>
                    <a:p>
                      <a:r>
                        <a:rPr lang="en-IN" b="1"/>
                        <a:t>Pool Fees</a:t>
                      </a:r>
                      <a:endParaRPr lang="en-IN"/>
                    </a:p>
                  </a:txBody>
                  <a:tcPr anchor="ctr">
                    <a:lnL>
                      <a:noFill/>
                    </a:lnL>
                    <a:lnR>
                      <a:noFill/>
                    </a:lnR>
                    <a:lnT>
                      <a:noFill/>
                    </a:lnT>
                    <a:lnB>
                      <a:noFill/>
                    </a:lnB>
                  </a:tcPr>
                </a:tc>
                <a:tc>
                  <a:txBody>
                    <a:bodyPr/>
                    <a:lstStyle/>
                    <a:p>
                      <a:r>
                        <a:rPr lang="en-IN"/>
                        <a:t>🚫 High (2-4%)</a:t>
                      </a:r>
                    </a:p>
                  </a:txBody>
                  <a:tcPr anchor="ctr">
                    <a:lnL>
                      <a:noFill/>
                    </a:lnL>
                    <a:lnR>
                      <a:noFill/>
                    </a:lnR>
                    <a:lnT>
                      <a:noFill/>
                    </a:lnT>
                    <a:lnB>
                      <a:noFill/>
                    </a:lnB>
                  </a:tcPr>
                </a:tc>
                <a:tc>
                  <a:txBody>
                    <a:bodyPr/>
                    <a:lstStyle/>
                    <a:p>
                      <a:r>
                        <a:rPr lang="en-IN"/>
                        <a:t>🚫 Very high (3-5%)</a:t>
                      </a:r>
                    </a:p>
                  </a:txBody>
                  <a:tcPr anchor="ctr">
                    <a:lnL>
                      <a:noFill/>
                    </a:lnL>
                    <a:lnR>
                      <a:noFill/>
                    </a:lnR>
                    <a:lnT>
                      <a:noFill/>
                    </a:lnT>
                    <a:lnB>
                      <a:noFill/>
                    </a:lnB>
                  </a:tcPr>
                </a:tc>
                <a:tc>
                  <a:txBody>
                    <a:bodyPr/>
                    <a:lstStyle/>
                    <a:p>
                      <a:r>
                        <a:rPr lang="en-IN"/>
                        <a:t>✅ Low (1-2%)</a:t>
                      </a:r>
                    </a:p>
                  </a:txBody>
                  <a:tcPr anchor="ctr">
                    <a:lnL>
                      <a:noFill/>
                    </a:lnL>
                    <a:lnR>
                      <a:noFill/>
                    </a:lnR>
                    <a:lnT>
                      <a:noFill/>
                    </a:lnT>
                    <a:lnB>
                      <a:noFill/>
                    </a:lnB>
                  </a:tcPr>
                </a:tc>
                <a:tc>
                  <a:txBody>
                    <a:bodyPr/>
                    <a:lstStyle/>
                    <a:p>
                      <a:r>
                        <a:rPr lang="en-IN" dirty="0"/>
                        <a:t>✅ Low (1-2%)</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5040443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a:t>Pool Hopping Attack</a:t>
            </a:r>
          </a:p>
          <a:p>
            <a:r>
              <a:rPr lang="en-IN" sz="2400" dirty="0"/>
              <a:t>Clever miners may </a:t>
            </a:r>
            <a:r>
              <a:rPr lang="en-IN" sz="2400" b="1" dirty="0"/>
              <a:t>switch between pools</a:t>
            </a:r>
            <a:r>
              <a:rPr lang="en-IN" sz="2400" dirty="0"/>
              <a:t> to maximize earnings.</a:t>
            </a:r>
          </a:p>
          <a:p>
            <a:r>
              <a:rPr lang="en-IN" sz="2400" dirty="0"/>
              <a:t>They join </a:t>
            </a:r>
            <a:r>
              <a:rPr lang="en-IN" sz="2400" b="1" dirty="0"/>
              <a:t>proportional pools early</a:t>
            </a:r>
            <a:r>
              <a:rPr lang="en-IN" sz="2400" dirty="0"/>
              <a:t>, then switch to </a:t>
            </a:r>
            <a:r>
              <a:rPr lang="en-IN" sz="2400" b="1" dirty="0"/>
              <a:t>pay-per-share pools</a:t>
            </a:r>
            <a:r>
              <a:rPr lang="en-IN" sz="2400" dirty="0"/>
              <a:t> later.</a:t>
            </a:r>
          </a:p>
          <a:p>
            <a:r>
              <a:rPr lang="en-IN" sz="2400" b="1" dirty="0"/>
              <a:t>More advanced </a:t>
            </a:r>
            <a:r>
              <a:rPr lang="en-IN" sz="2400" b="1" dirty="0" err="1"/>
              <a:t>payout</a:t>
            </a:r>
            <a:r>
              <a:rPr lang="en-IN" sz="2400" b="1" dirty="0"/>
              <a:t> schemes</a:t>
            </a:r>
            <a:r>
              <a:rPr lang="en-IN" sz="2400" dirty="0"/>
              <a:t> like </a:t>
            </a:r>
            <a:r>
              <a:rPr lang="en-IN" sz="2400" b="1" dirty="0"/>
              <a:t>"Pay Per Last N Shares (PPLNS)"</a:t>
            </a:r>
            <a:r>
              <a:rPr lang="en-IN" sz="2400" dirty="0"/>
              <a:t> try to prevent this.</a:t>
            </a:r>
          </a:p>
          <a:p>
            <a:endParaRPr lang="en-IN" dirty="0"/>
          </a:p>
        </p:txBody>
      </p:sp>
    </p:spTree>
    <p:extLst>
      <p:ext uri="{BB962C8B-B14F-4D97-AF65-F5344CB8AC3E}">
        <p14:creationId xmlns:p14="http://schemas.microsoft.com/office/powerpoint/2010/main" val="38296023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pPr marL="50799" indent="0">
              <a:buNone/>
            </a:pPr>
            <a:r>
              <a:rPr lang="en-IN" b="1" dirty="0"/>
              <a:t>Alternative reward </a:t>
            </a:r>
            <a:r>
              <a:rPr lang="en-IN" b="1" dirty="0" smtClean="0"/>
              <a:t>methods:</a:t>
            </a:r>
          </a:p>
          <a:p>
            <a:pPr marL="50799" indent="0">
              <a:buNone/>
            </a:pPr>
            <a:r>
              <a:rPr lang="en-IN" sz="1600" dirty="0" smtClean="0"/>
              <a:t>A </a:t>
            </a:r>
            <a:r>
              <a:rPr lang="en-IN" sz="1600" dirty="0"/>
              <a:t>lot of variations on the model explained above to compute the miners' reward</a:t>
            </a:r>
            <a:endParaRPr lang="en-IN" sz="1600" b="1" dirty="0"/>
          </a:p>
          <a:p>
            <a:pPr>
              <a:buFont typeface="Arial" panose="020B0604020202020204" pitchFamily="34" charset="0"/>
              <a:buChar char="•"/>
            </a:pPr>
            <a:r>
              <a:rPr lang="en-IN" b="1" dirty="0" smtClean="0"/>
              <a:t>Pay-per-share</a:t>
            </a:r>
            <a:r>
              <a:rPr lang="en-IN" b="1" dirty="0"/>
              <a:t>: </a:t>
            </a:r>
            <a:endParaRPr lang="en-IN" b="1" dirty="0" smtClean="0"/>
          </a:p>
          <a:p>
            <a:pPr marL="50799" indent="0" algn="just">
              <a:buNone/>
            </a:pPr>
            <a:r>
              <a:rPr lang="en-IN" sz="2400" dirty="0" smtClean="0"/>
              <a:t>The </a:t>
            </a:r>
            <a:r>
              <a:rPr lang="en-IN" sz="2400" dirty="0"/>
              <a:t>pool manager pays a flat fee for every share above a certain difficulty that the miners find. </a:t>
            </a:r>
          </a:p>
          <a:p>
            <a:pPr marL="50799" indent="0" algn="just">
              <a:buNone/>
            </a:pPr>
            <a:r>
              <a:rPr lang="en-IN" sz="2400" dirty="0" smtClean="0"/>
              <a:t>In </a:t>
            </a:r>
            <a:r>
              <a:rPr lang="en-IN" sz="2400" dirty="0"/>
              <a:t>some ways it's the best for miners because the reward is guaranteed. </a:t>
            </a:r>
            <a:endParaRPr lang="en-IN" sz="2400" dirty="0" smtClean="0"/>
          </a:p>
          <a:p>
            <a:pPr marL="50799" indent="0" algn="just">
              <a:buNone/>
            </a:pPr>
            <a:r>
              <a:rPr lang="en-IN" sz="2400" dirty="0" smtClean="0"/>
              <a:t>The </a:t>
            </a:r>
            <a:r>
              <a:rPr lang="en-IN" sz="2400" dirty="0"/>
              <a:t>pool manager is taking all the risk in this scheme, since he will have to pay even if no valid block was found for the current round. In this case the miners don't have any real motivation to send valid blocks, since they will get the same reward as if they have only found shares.</a:t>
            </a:r>
          </a:p>
          <a:p>
            <a:pPr algn="just">
              <a:buFont typeface="Arial" panose="020B0604020202020204" pitchFamily="34" charset="0"/>
              <a:buChar char="•"/>
            </a:pPr>
            <a:r>
              <a:rPr lang="en-IN" sz="2400" b="1" dirty="0" smtClean="0"/>
              <a:t>Proportional </a:t>
            </a:r>
            <a:r>
              <a:rPr lang="en-IN" sz="2400" b="1" dirty="0"/>
              <a:t>model: </a:t>
            </a:r>
            <a:endParaRPr lang="en-IN" sz="2400" b="1" dirty="0" smtClean="0"/>
          </a:p>
          <a:p>
            <a:pPr marL="50799" indent="0" algn="just">
              <a:buNone/>
            </a:pPr>
            <a:r>
              <a:rPr lang="en-IN" sz="2400" dirty="0" smtClean="0"/>
              <a:t>instead </a:t>
            </a:r>
            <a:r>
              <a:rPr lang="en-IN" sz="2400" dirty="0"/>
              <a:t>of a flat share, the amount of share depends on whether or not the pool actually found a valid block. </a:t>
            </a:r>
            <a:endParaRPr lang="en-IN" sz="2400" dirty="0" smtClean="0"/>
          </a:p>
          <a:p>
            <a:pPr marL="50799" indent="0" algn="just">
              <a:buNone/>
            </a:pPr>
            <a:r>
              <a:rPr lang="en-IN" sz="2400" dirty="0" smtClean="0"/>
              <a:t>In </a:t>
            </a:r>
            <a:r>
              <a:rPr lang="en-IN" sz="2400" dirty="0"/>
              <a:t>this case the miners still have some risk, while it will be lower for the pool manager. In this case, the miners have a higher motivation to send valid blocks</a:t>
            </a:r>
            <a:r>
              <a:rPr lang="en-IN" sz="2400" dirty="0" smtClean="0"/>
              <a:t>.</a:t>
            </a:r>
            <a:endParaRPr lang="en-IN" sz="2400" dirty="0"/>
          </a:p>
        </p:txBody>
      </p:sp>
    </p:spTree>
    <p:extLst>
      <p:ext uri="{BB962C8B-B14F-4D97-AF65-F5344CB8AC3E}">
        <p14:creationId xmlns:p14="http://schemas.microsoft.com/office/powerpoint/2010/main" val="12794983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b="1" dirty="0"/>
              <a:t>Luke-</a:t>
            </a:r>
            <a:r>
              <a:rPr lang="en-IN" b="1" dirty="0" err="1"/>
              <a:t>Jr</a:t>
            </a:r>
            <a:r>
              <a:rPr lang="en-IN" b="1" dirty="0"/>
              <a:t> approach</a:t>
            </a:r>
            <a:r>
              <a:rPr lang="en-IN" dirty="0"/>
              <a:t>: </a:t>
            </a:r>
            <a:endParaRPr lang="en-IN" dirty="0" smtClean="0"/>
          </a:p>
          <a:p>
            <a:pPr marL="50799" indent="0">
              <a:buNone/>
            </a:pPr>
            <a:r>
              <a:rPr lang="en-IN" sz="2400" dirty="0" smtClean="0"/>
              <a:t>The </a:t>
            </a:r>
            <a:r>
              <a:rPr lang="en-IN" sz="2400" dirty="0"/>
              <a:t>pool owner actually collects no fee, but miners can't receive any revenue until their balance is at least one Bitcoin. So it's the best model to be in after the first Bitcoin,</a:t>
            </a:r>
            <a:br>
              <a:rPr lang="en-IN" sz="2400" dirty="0"/>
            </a:br>
            <a:r>
              <a:rPr lang="en-IN" sz="2400" dirty="0" smtClean="0"/>
              <a:t>But </a:t>
            </a:r>
            <a:r>
              <a:rPr lang="en-IN" sz="2400" dirty="0"/>
              <a:t>it's harder to start to earn something. Since it's quite difficult to reach one Bitcoin nowadays, there are few systems that use this model.</a:t>
            </a:r>
          </a:p>
        </p:txBody>
      </p:sp>
    </p:spTree>
    <p:extLst>
      <p:ext uri="{BB962C8B-B14F-4D97-AF65-F5344CB8AC3E}">
        <p14:creationId xmlns:p14="http://schemas.microsoft.com/office/powerpoint/2010/main" val="26833517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56"/>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dirty="0"/>
              <a:t>Mining pool history</a:t>
            </a:r>
            <a:endParaRPr dirty="0"/>
          </a:p>
        </p:txBody>
      </p:sp>
      <p:sp>
        <p:nvSpPr>
          <p:cNvPr id="484" name="Google Shape;484;p56"/>
          <p:cNvSpPr txBox="1">
            <a:spLocks noGrp="1"/>
          </p:cNvSpPr>
          <p:nvPr>
            <p:ph type="body" idx="1"/>
          </p:nvPr>
        </p:nvSpPr>
        <p:spPr>
          <a:xfrm>
            <a:off x="609600" y="1329167"/>
            <a:ext cx="10972800" cy="4914400"/>
          </a:xfrm>
          <a:prstGeom prst="rect">
            <a:avLst/>
          </a:prstGeom>
        </p:spPr>
        <p:txBody>
          <a:bodyPr spcFirstLastPara="1" vert="horz" wrap="square" lIns="121900" tIns="121900" rIns="121900" bIns="121900" numCol="1" anchor="t" anchorCtr="0" compatLnSpc="1">
            <a:prstTxWarp prst="textNoShape">
              <a:avLst/>
            </a:prstTxWarp>
            <a:noAutofit/>
          </a:bodyPr>
          <a:lstStyle/>
          <a:p>
            <a:pPr>
              <a:buClr>
                <a:srgbClr val="000000"/>
              </a:buClr>
            </a:pPr>
            <a:r>
              <a:rPr lang="en" dirty="0">
                <a:solidFill>
                  <a:srgbClr val="000000"/>
                </a:solidFill>
              </a:rPr>
              <a:t>First pools appear in late-2010</a:t>
            </a:r>
            <a:endParaRPr dirty="0">
              <a:solidFill>
                <a:srgbClr val="000000"/>
              </a:solidFill>
            </a:endParaRPr>
          </a:p>
          <a:p>
            <a:pPr lvl="1">
              <a:buClr>
                <a:srgbClr val="000000"/>
              </a:buClr>
            </a:pPr>
            <a:r>
              <a:rPr lang="en" dirty="0">
                <a:solidFill>
                  <a:srgbClr val="000000"/>
                </a:solidFill>
              </a:rPr>
              <a:t>Back in the GPU era!</a:t>
            </a:r>
            <a:endParaRPr dirty="0">
              <a:solidFill>
                <a:srgbClr val="000000"/>
              </a:solidFill>
            </a:endParaRPr>
          </a:p>
          <a:p>
            <a:pPr>
              <a:spcBef>
                <a:spcPts val="0"/>
              </a:spcBef>
              <a:buClr>
                <a:srgbClr val="000000"/>
              </a:buClr>
            </a:pPr>
            <a:r>
              <a:rPr lang="en" dirty="0">
                <a:solidFill>
                  <a:srgbClr val="000000"/>
                </a:solidFill>
              </a:rPr>
              <a:t>By 2014: around 90% of mining pool-based</a:t>
            </a:r>
            <a:endParaRPr dirty="0">
              <a:solidFill>
                <a:srgbClr val="000000"/>
              </a:solidFill>
            </a:endParaRPr>
          </a:p>
          <a:p>
            <a:pPr>
              <a:spcBef>
                <a:spcPts val="0"/>
              </a:spcBef>
              <a:buClr>
                <a:srgbClr val="000000"/>
              </a:buClr>
            </a:pPr>
            <a:r>
              <a:rPr lang="en" dirty="0">
                <a:solidFill>
                  <a:srgbClr val="000000"/>
                </a:solidFill>
              </a:rPr>
              <a:t>June 2014: GHash.io exceeds 50%</a:t>
            </a:r>
            <a:endParaRPr dirty="0">
              <a:solidFill>
                <a:srgbClr val="000000"/>
              </a:solidFill>
            </a:endParaRPr>
          </a:p>
        </p:txBody>
      </p:sp>
    </p:spTree>
    <p:extLst>
      <p:ext uri="{BB962C8B-B14F-4D97-AF65-F5344CB8AC3E}">
        <p14:creationId xmlns:p14="http://schemas.microsoft.com/office/powerpoint/2010/main" val="20742330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dirty="0" smtClean="0"/>
              <a:t>China </a:t>
            </a:r>
            <a:r>
              <a:rPr lang="en-IN" dirty="0"/>
              <a:t>- 81%</a:t>
            </a:r>
          </a:p>
          <a:p>
            <a:pPr marL="50799" indent="0">
              <a:buNone/>
            </a:pPr>
            <a:r>
              <a:rPr lang="en-IN" dirty="0"/>
              <a:t>Czech Republic - 10%</a:t>
            </a:r>
          </a:p>
          <a:p>
            <a:pPr marL="50799" indent="0">
              <a:buNone/>
            </a:pPr>
            <a:r>
              <a:rPr lang="en-IN" dirty="0"/>
              <a:t>Iceland - 2%</a:t>
            </a:r>
          </a:p>
          <a:p>
            <a:pPr marL="50799" indent="0">
              <a:buNone/>
            </a:pPr>
            <a:r>
              <a:rPr lang="en-IN" dirty="0"/>
              <a:t>Japan - 2%</a:t>
            </a:r>
          </a:p>
          <a:p>
            <a:pPr marL="50799" indent="0">
              <a:buNone/>
            </a:pPr>
            <a:r>
              <a:rPr lang="en-IN" dirty="0"/>
              <a:t>Georgia - 2%</a:t>
            </a:r>
          </a:p>
          <a:p>
            <a:pPr marL="50799" indent="0">
              <a:buNone/>
            </a:pPr>
            <a:r>
              <a:rPr lang="en-IN" dirty="0"/>
              <a:t>Russia - 1%</a:t>
            </a:r>
          </a:p>
        </p:txBody>
      </p:sp>
    </p:spTree>
    <p:extLst>
      <p:ext uri="{BB962C8B-B14F-4D97-AF65-F5344CB8AC3E}">
        <p14:creationId xmlns:p14="http://schemas.microsoft.com/office/powerpoint/2010/main" val="220091613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381000"/>
            <a:ext cx="5715000" cy="5943599"/>
          </a:xfrm>
        </p:spPr>
        <p:txBody>
          <a:bodyPr>
            <a:normAutofit/>
          </a:bodyPr>
          <a:lstStyle/>
          <a:p>
            <a:pPr marL="0" indent="0">
              <a:buNone/>
            </a:pPr>
            <a:r>
              <a:rPr lang="en-IN" dirty="0" smtClean="0"/>
              <a:t>                           </a:t>
            </a:r>
            <a:r>
              <a:rPr lang="en-IN" dirty="0" err="1" smtClean="0"/>
              <a:t>Hashrate</a:t>
            </a:r>
            <a:r>
              <a:rPr lang="en-IN" dirty="0" smtClean="0"/>
              <a:t> Distribution</a:t>
            </a:r>
          </a:p>
          <a:p>
            <a:r>
              <a:rPr lang="en-IN" sz="2000" dirty="0" smtClean="0"/>
              <a:t>      An </a:t>
            </a:r>
            <a:r>
              <a:rPr lang="en-IN" sz="2000" dirty="0"/>
              <a:t>estimation of </a:t>
            </a:r>
            <a:r>
              <a:rPr lang="en-IN" sz="2000" dirty="0" err="1"/>
              <a:t>hashrate</a:t>
            </a:r>
            <a:r>
              <a:rPr lang="en-IN" sz="2000" dirty="0"/>
              <a:t> distribution amongst the largest mining pools</a:t>
            </a:r>
            <a:r>
              <a:rPr lang="en-IN" sz="2000" dirty="0" smtClean="0"/>
              <a:t>.</a:t>
            </a:r>
          </a:p>
          <a:p>
            <a:endParaRPr lang="en-IN" sz="2000" dirty="0"/>
          </a:p>
          <a:p>
            <a:endParaRPr lang="en-IN" sz="2000" dirty="0" smtClean="0"/>
          </a:p>
          <a:p>
            <a:endParaRPr lang="en-IN" sz="2000" dirty="0"/>
          </a:p>
          <a:p>
            <a:endParaRPr lang="en-IN" sz="2000" dirty="0" smtClean="0"/>
          </a:p>
          <a:p>
            <a:endParaRPr lang="en-IN" sz="2000" dirty="0"/>
          </a:p>
          <a:p>
            <a:endParaRPr lang="en-IN" sz="2000" dirty="0" smtClean="0"/>
          </a:p>
          <a:p>
            <a:endParaRPr lang="en-IN" sz="2000" dirty="0"/>
          </a:p>
          <a:p>
            <a:endParaRPr lang="en-IN" sz="2000" dirty="0" smtClean="0"/>
          </a:p>
          <a:p>
            <a:endParaRPr lang="en-IN" sz="2000" dirty="0"/>
          </a:p>
          <a:p>
            <a:endParaRPr lang="en-IN" sz="2000" dirty="0" smtClean="0"/>
          </a:p>
          <a:p>
            <a:r>
              <a:rPr lang="en-IN" sz="1600" dirty="0" smtClean="0"/>
              <a:t>https:\\www.blockchain.com/pools</a:t>
            </a:r>
          </a:p>
          <a:p>
            <a:pPr marL="0" indent="0">
              <a:buNone/>
            </a:pPr>
            <a:endParaRPr lang="en-IN" sz="2000" dirty="0"/>
          </a:p>
          <a:p>
            <a:pPr marL="0" indent="0">
              <a:buNone/>
            </a:pPr>
            <a:endParaRPr lang="en-IN" sz="2000" dirty="0" smtClean="0"/>
          </a:p>
          <a:p>
            <a:pPr marL="0" indent="0">
              <a:buNone/>
            </a:pPr>
            <a:endParaRPr lang="en-IN" sz="2000" dirty="0" smtClean="0"/>
          </a:p>
          <a:p>
            <a:pPr marL="0" indent="0">
              <a:buNone/>
            </a:pPr>
            <a:endParaRPr lang="en-IN" sz="2000" dirty="0" smtClean="0"/>
          </a:p>
          <a:p>
            <a:pPr marL="0" indent="0">
              <a:buNone/>
            </a:pPr>
            <a:endParaRPr lang="en-IN" sz="2000" dirty="0"/>
          </a:p>
          <a:p>
            <a:endParaRPr lang="en-IN" sz="2000" dirty="0" smtClean="0"/>
          </a:p>
          <a:p>
            <a:endParaRPr lang="en-IN" sz="2000" dirty="0"/>
          </a:p>
          <a:p>
            <a:endParaRPr lang="en-IN" sz="2000" dirty="0"/>
          </a:p>
        </p:txBody>
      </p:sp>
      <p:pic>
        <p:nvPicPr>
          <p:cNvPr id="4" name="Picture 3"/>
          <p:cNvPicPr>
            <a:picLocks noChangeAspect="1"/>
          </p:cNvPicPr>
          <p:nvPr/>
        </p:nvPicPr>
        <p:blipFill>
          <a:blip r:embed="rId2"/>
          <a:stretch>
            <a:fillRect/>
          </a:stretch>
        </p:blipFill>
        <p:spPr>
          <a:xfrm>
            <a:off x="914400" y="1447800"/>
            <a:ext cx="5715000" cy="4111575"/>
          </a:xfrm>
          <a:prstGeom prst="rect">
            <a:avLst/>
          </a:prstGeom>
        </p:spPr>
      </p:pic>
      <p:pic>
        <p:nvPicPr>
          <p:cNvPr id="5" name="Picture 4"/>
          <p:cNvPicPr>
            <a:picLocks noChangeAspect="1"/>
          </p:cNvPicPr>
          <p:nvPr/>
        </p:nvPicPr>
        <p:blipFill>
          <a:blip r:embed="rId3"/>
          <a:stretch>
            <a:fillRect/>
          </a:stretch>
        </p:blipFill>
        <p:spPr>
          <a:xfrm>
            <a:off x="-762000" y="5334000"/>
            <a:ext cx="6000750" cy="304800"/>
          </a:xfrm>
          <a:prstGeom prst="rect">
            <a:avLst/>
          </a:prstGeom>
        </p:spPr>
      </p:pic>
      <p:sp>
        <p:nvSpPr>
          <p:cNvPr id="8" name="Rectangle 7"/>
          <p:cNvSpPr/>
          <p:nvPr/>
        </p:nvSpPr>
        <p:spPr>
          <a:xfrm>
            <a:off x="6629400" y="566678"/>
            <a:ext cx="4572000" cy="2862322"/>
          </a:xfrm>
          <a:prstGeom prst="rect">
            <a:avLst/>
          </a:prstGeom>
        </p:spPr>
        <p:txBody>
          <a:bodyPr wrap="square">
            <a:spAutoFit/>
          </a:bodyPr>
          <a:lstStyle/>
          <a:p>
            <a:pPr algn="just"/>
            <a:r>
              <a:rPr lang="en-IN" dirty="0"/>
              <a:t>The graph shows the market share of the most popular </a:t>
            </a:r>
            <a:r>
              <a:rPr lang="en-IN" dirty="0" err="1"/>
              <a:t>bitcoin</a:t>
            </a:r>
            <a:r>
              <a:rPr lang="en-IN" dirty="0"/>
              <a:t> mining pools. It should only be used as a rough estimate and for various reasons will not be 100% accurate. A large portion of blocks are grouped into the 'Unknown' category. This does not mean an attack on the network, it simply means we have been unable to determine the origin. The table below shows a detailed breakdown of the most recent blocks mined.</a:t>
            </a:r>
          </a:p>
        </p:txBody>
      </p:sp>
      <p:pic>
        <p:nvPicPr>
          <p:cNvPr id="9" name="Picture 8"/>
          <p:cNvPicPr>
            <a:picLocks noChangeAspect="1"/>
          </p:cNvPicPr>
          <p:nvPr/>
        </p:nvPicPr>
        <p:blipFill>
          <a:blip r:embed="rId4"/>
          <a:stretch>
            <a:fillRect/>
          </a:stretch>
        </p:blipFill>
        <p:spPr>
          <a:xfrm>
            <a:off x="6477000" y="3352800"/>
            <a:ext cx="4724400" cy="2724404"/>
          </a:xfrm>
          <a:prstGeom prst="rect">
            <a:avLst/>
          </a:prstGeom>
        </p:spPr>
      </p:pic>
    </p:spTree>
    <p:extLst>
      <p:ext uri="{BB962C8B-B14F-4D97-AF65-F5344CB8AC3E}">
        <p14:creationId xmlns:p14="http://schemas.microsoft.com/office/powerpoint/2010/main" val="20003462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nvPr>
        </p:nvGraphicFramePr>
        <p:xfrm>
          <a:off x="609600" y="1447800"/>
          <a:ext cx="10491716" cy="3380237"/>
        </p:xfrm>
        <a:graphic>
          <a:graphicData uri="http://schemas.openxmlformats.org/drawingml/2006/table">
            <a:tbl>
              <a:tblPr/>
              <a:tblGrid>
                <a:gridCol w="2622929"/>
                <a:gridCol w="2622929"/>
                <a:gridCol w="2622929"/>
                <a:gridCol w="2622929"/>
              </a:tblGrid>
              <a:tr h="819917">
                <a:tc>
                  <a:txBody>
                    <a:bodyPr/>
                    <a:lstStyle/>
                    <a:p>
                      <a:r>
                        <a:rPr lang="en-IN" dirty="0"/>
                        <a:t>Mining Pool</a:t>
                      </a:r>
                    </a:p>
                  </a:txBody>
                  <a:tcPr anchor="ctr">
                    <a:lnL>
                      <a:noFill/>
                    </a:lnL>
                    <a:lnR>
                      <a:noFill/>
                    </a:lnR>
                    <a:lnT>
                      <a:noFill/>
                    </a:lnT>
                    <a:lnB>
                      <a:noFill/>
                    </a:lnB>
                  </a:tcPr>
                </a:tc>
                <a:tc>
                  <a:txBody>
                    <a:bodyPr/>
                    <a:lstStyle/>
                    <a:p>
                      <a:r>
                        <a:rPr lang="en-IN"/>
                        <a:t>Market Share</a:t>
                      </a:r>
                    </a:p>
                  </a:txBody>
                  <a:tcPr anchor="ctr">
                    <a:lnL>
                      <a:noFill/>
                    </a:lnL>
                    <a:lnR>
                      <a:noFill/>
                    </a:lnR>
                    <a:lnT>
                      <a:noFill/>
                    </a:lnT>
                    <a:lnB>
                      <a:noFill/>
                    </a:lnB>
                  </a:tcPr>
                </a:tc>
                <a:tc>
                  <a:txBody>
                    <a:bodyPr/>
                    <a:lstStyle/>
                    <a:p>
                      <a:r>
                        <a:rPr lang="en-IN"/>
                        <a:t>Hashrate (EH/s)</a:t>
                      </a:r>
                    </a:p>
                  </a:txBody>
                  <a:tcPr anchor="ctr">
                    <a:lnL>
                      <a:noFill/>
                    </a:lnL>
                    <a:lnR>
                      <a:noFill/>
                    </a:lnR>
                    <a:lnT>
                      <a:noFill/>
                    </a:lnT>
                    <a:lnB>
                      <a:noFill/>
                    </a:lnB>
                  </a:tcPr>
                </a:tc>
                <a:tc>
                  <a:txBody>
                    <a:bodyPr/>
                    <a:lstStyle/>
                    <a:p>
                      <a:r>
                        <a:rPr lang="en-IN"/>
                        <a:t>Payment Method</a:t>
                      </a:r>
                    </a:p>
                  </a:txBody>
                  <a:tcPr anchor="ctr">
                    <a:lnL>
                      <a:noFill/>
                    </a:lnL>
                    <a:lnR>
                      <a:noFill/>
                    </a:lnR>
                    <a:lnT>
                      <a:noFill/>
                    </a:lnT>
                    <a:lnB>
                      <a:noFill/>
                    </a:lnB>
                  </a:tcPr>
                </a:tc>
              </a:tr>
              <a:tr h="364408">
                <a:tc>
                  <a:txBody>
                    <a:bodyPr/>
                    <a:lstStyle/>
                    <a:p>
                      <a:r>
                        <a:rPr lang="en-IN" b="1" dirty="0"/>
                        <a:t>Foundry USA Pool</a:t>
                      </a:r>
                      <a:endParaRPr lang="en-IN" dirty="0"/>
                    </a:p>
                  </a:txBody>
                  <a:tcPr anchor="ctr">
                    <a:lnL>
                      <a:noFill/>
                    </a:lnL>
                    <a:lnR>
                      <a:noFill/>
                    </a:lnR>
                    <a:lnT>
                      <a:noFill/>
                    </a:lnT>
                    <a:lnB>
                      <a:noFill/>
                    </a:lnB>
                  </a:tcPr>
                </a:tc>
                <a:tc>
                  <a:txBody>
                    <a:bodyPr/>
                    <a:lstStyle/>
                    <a:p>
                      <a:r>
                        <a:rPr lang="en-IN"/>
                        <a:t>~30%</a:t>
                      </a:r>
                    </a:p>
                  </a:txBody>
                  <a:tcPr anchor="ctr">
                    <a:lnL>
                      <a:noFill/>
                    </a:lnL>
                    <a:lnR>
                      <a:noFill/>
                    </a:lnR>
                    <a:lnT>
                      <a:noFill/>
                    </a:lnT>
                    <a:lnB>
                      <a:noFill/>
                    </a:lnB>
                  </a:tcPr>
                </a:tc>
                <a:tc>
                  <a:txBody>
                    <a:bodyPr/>
                    <a:lstStyle/>
                    <a:p>
                      <a:r>
                        <a:rPr lang="en-IN"/>
                        <a:t>145.8</a:t>
                      </a:r>
                    </a:p>
                  </a:txBody>
                  <a:tcPr anchor="ctr">
                    <a:lnL>
                      <a:noFill/>
                    </a:lnL>
                    <a:lnR>
                      <a:noFill/>
                    </a:lnR>
                    <a:lnT>
                      <a:noFill/>
                    </a:lnT>
                    <a:lnB>
                      <a:noFill/>
                    </a:lnB>
                  </a:tcPr>
                </a:tc>
                <a:tc>
                  <a:txBody>
                    <a:bodyPr/>
                    <a:lstStyle/>
                    <a:p>
                      <a:r>
                        <a:rPr lang="en-IN"/>
                        <a:t>FPPS</a:t>
                      </a:r>
                    </a:p>
                  </a:txBody>
                  <a:tcPr anchor="ctr">
                    <a:lnL>
                      <a:noFill/>
                    </a:lnL>
                    <a:lnR>
                      <a:noFill/>
                    </a:lnR>
                    <a:lnT>
                      <a:noFill/>
                    </a:lnT>
                    <a:lnB>
                      <a:noFill/>
                    </a:lnB>
                  </a:tcPr>
                </a:tc>
              </a:tr>
              <a:tr h="364408">
                <a:tc>
                  <a:txBody>
                    <a:bodyPr/>
                    <a:lstStyle/>
                    <a:p>
                      <a:r>
                        <a:rPr lang="en-IN" b="1" dirty="0" err="1"/>
                        <a:t>AntPool</a:t>
                      </a:r>
                      <a:endParaRPr lang="en-IN" dirty="0"/>
                    </a:p>
                  </a:txBody>
                  <a:tcPr anchor="ctr">
                    <a:lnL>
                      <a:noFill/>
                    </a:lnL>
                    <a:lnR>
                      <a:noFill/>
                    </a:lnR>
                    <a:lnT>
                      <a:noFill/>
                    </a:lnT>
                    <a:lnB>
                      <a:noFill/>
                    </a:lnB>
                  </a:tcPr>
                </a:tc>
                <a:tc>
                  <a:txBody>
                    <a:bodyPr/>
                    <a:lstStyle/>
                    <a:p>
                      <a:r>
                        <a:rPr lang="en-IN"/>
                        <a:t>24.52%</a:t>
                      </a:r>
                    </a:p>
                  </a:txBody>
                  <a:tcPr anchor="ctr">
                    <a:lnL>
                      <a:noFill/>
                    </a:lnL>
                    <a:lnR>
                      <a:noFill/>
                    </a:lnR>
                    <a:lnT>
                      <a:noFill/>
                    </a:lnT>
                    <a:lnB>
                      <a:noFill/>
                    </a:lnB>
                  </a:tcPr>
                </a:tc>
                <a:tc>
                  <a:txBody>
                    <a:bodyPr/>
                    <a:lstStyle/>
                    <a:p>
                      <a:r>
                        <a:rPr lang="en-IN"/>
                        <a:t>145.8</a:t>
                      </a:r>
                    </a:p>
                  </a:txBody>
                  <a:tcPr anchor="ctr">
                    <a:lnL>
                      <a:noFill/>
                    </a:lnL>
                    <a:lnR>
                      <a:noFill/>
                    </a:lnR>
                    <a:lnT>
                      <a:noFill/>
                    </a:lnT>
                    <a:lnB>
                      <a:noFill/>
                    </a:lnB>
                  </a:tcPr>
                </a:tc>
                <a:tc>
                  <a:txBody>
                    <a:bodyPr/>
                    <a:lstStyle/>
                    <a:p>
                      <a:r>
                        <a:rPr lang="en-IN"/>
                        <a:t>FPPS</a:t>
                      </a:r>
                    </a:p>
                  </a:txBody>
                  <a:tcPr anchor="ctr">
                    <a:lnL>
                      <a:noFill/>
                    </a:lnL>
                    <a:lnR>
                      <a:noFill/>
                    </a:lnR>
                    <a:lnT>
                      <a:noFill/>
                    </a:lnT>
                    <a:lnB>
                      <a:noFill/>
                    </a:lnB>
                  </a:tcPr>
                </a:tc>
              </a:tr>
              <a:tr h="364408">
                <a:tc>
                  <a:txBody>
                    <a:bodyPr/>
                    <a:lstStyle/>
                    <a:p>
                      <a:r>
                        <a:rPr lang="en-IN" b="1" dirty="0" err="1"/>
                        <a:t>ViaBTC</a:t>
                      </a:r>
                      <a:endParaRPr lang="en-IN" dirty="0"/>
                    </a:p>
                  </a:txBody>
                  <a:tcPr anchor="ctr">
                    <a:lnL>
                      <a:noFill/>
                    </a:lnL>
                    <a:lnR>
                      <a:noFill/>
                    </a:lnR>
                    <a:lnT>
                      <a:noFill/>
                    </a:lnT>
                    <a:lnB>
                      <a:noFill/>
                    </a:lnB>
                  </a:tcPr>
                </a:tc>
                <a:tc>
                  <a:txBody>
                    <a:bodyPr/>
                    <a:lstStyle/>
                    <a:p>
                      <a:r>
                        <a:rPr lang="en-IN"/>
                        <a:t>12.91%</a:t>
                      </a:r>
                    </a:p>
                  </a:txBody>
                  <a:tcPr anchor="ctr">
                    <a:lnL>
                      <a:noFill/>
                    </a:lnL>
                    <a:lnR>
                      <a:noFill/>
                    </a:lnR>
                    <a:lnT>
                      <a:noFill/>
                    </a:lnT>
                    <a:lnB>
                      <a:noFill/>
                    </a:lnB>
                  </a:tcPr>
                </a:tc>
                <a:tc>
                  <a:txBody>
                    <a:bodyPr/>
                    <a:lstStyle/>
                    <a:p>
                      <a:r>
                        <a:rPr lang="en-IN"/>
                        <a:t>76.8</a:t>
                      </a:r>
                    </a:p>
                  </a:txBody>
                  <a:tcPr anchor="ctr">
                    <a:lnL>
                      <a:noFill/>
                    </a:lnL>
                    <a:lnR>
                      <a:noFill/>
                    </a:lnR>
                    <a:lnT>
                      <a:noFill/>
                    </a:lnT>
                    <a:lnB>
                      <a:noFill/>
                    </a:lnB>
                  </a:tcPr>
                </a:tc>
                <a:tc>
                  <a:txBody>
                    <a:bodyPr/>
                    <a:lstStyle/>
                    <a:p>
                      <a:r>
                        <a:rPr lang="en-IN" dirty="0" smtClean="0"/>
                        <a:t>PPS</a:t>
                      </a:r>
                      <a:endParaRPr lang="en-IN" dirty="0"/>
                    </a:p>
                  </a:txBody>
                  <a:tcPr anchor="ctr">
                    <a:lnL>
                      <a:noFill/>
                    </a:lnL>
                    <a:lnR>
                      <a:noFill/>
                    </a:lnR>
                    <a:lnT>
                      <a:noFill/>
                    </a:lnT>
                    <a:lnB>
                      <a:noFill/>
                    </a:lnB>
                  </a:tcPr>
                </a:tc>
              </a:tr>
              <a:tr h="364408">
                <a:tc>
                  <a:txBody>
                    <a:bodyPr/>
                    <a:lstStyle/>
                    <a:p>
                      <a:r>
                        <a:rPr lang="en-IN" b="1"/>
                        <a:t>F2Pool</a:t>
                      </a:r>
                      <a:endParaRPr lang="en-IN"/>
                    </a:p>
                  </a:txBody>
                  <a:tcPr anchor="ctr">
                    <a:lnL>
                      <a:noFill/>
                    </a:lnL>
                    <a:lnR>
                      <a:noFill/>
                    </a:lnR>
                    <a:lnT>
                      <a:noFill/>
                    </a:lnT>
                    <a:lnB>
                      <a:noFill/>
                    </a:lnB>
                  </a:tcPr>
                </a:tc>
                <a:tc>
                  <a:txBody>
                    <a:bodyPr/>
                    <a:lstStyle/>
                    <a:p>
                      <a:r>
                        <a:rPr lang="en-IN" dirty="0"/>
                        <a:t>12.21%</a:t>
                      </a:r>
                    </a:p>
                  </a:txBody>
                  <a:tcPr anchor="ctr">
                    <a:lnL>
                      <a:noFill/>
                    </a:lnL>
                    <a:lnR>
                      <a:noFill/>
                    </a:lnR>
                    <a:lnT>
                      <a:noFill/>
                    </a:lnT>
                    <a:lnB>
                      <a:noFill/>
                    </a:lnB>
                  </a:tcPr>
                </a:tc>
                <a:tc>
                  <a:txBody>
                    <a:bodyPr/>
                    <a:lstStyle/>
                    <a:p>
                      <a:r>
                        <a:rPr lang="en-IN"/>
                        <a:t>72.6</a:t>
                      </a:r>
                    </a:p>
                  </a:txBody>
                  <a:tcPr anchor="ctr">
                    <a:lnL>
                      <a:noFill/>
                    </a:lnL>
                    <a:lnR>
                      <a:noFill/>
                    </a:lnR>
                    <a:lnT>
                      <a:noFill/>
                    </a:lnT>
                    <a:lnB>
                      <a:noFill/>
                    </a:lnB>
                  </a:tcPr>
                </a:tc>
                <a:tc>
                  <a:txBody>
                    <a:bodyPr/>
                    <a:lstStyle/>
                    <a:p>
                      <a:r>
                        <a:rPr lang="en-IN" dirty="0" smtClean="0"/>
                        <a:t>PPS</a:t>
                      </a:r>
                      <a:endParaRPr lang="en-IN" dirty="0"/>
                    </a:p>
                  </a:txBody>
                  <a:tcPr anchor="ctr">
                    <a:lnL>
                      <a:noFill/>
                    </a:lnL>
                    <a:lnR>
                      <a:noFill/>
                    </a:lnR>
                    <a:lnT>
                      <a:noFill/>
                    </a:lnT>
                    <a:lnB>
                      <a:noFill/>
                    </a:lnB>
                  </a:tcPr>
                </a:tc>
              </a:tr>
              <a:tr h="364408">
                <a:tc>
                  <a:txBody>
                    <a:bodyPr/>
                    <a:lstStyle/>
                    <a:p>
                      <a:r>
                        <a:rPr lang="en-IN" b="1"/>
                        <a:t>Binance Pool</a:t>
                      </a:r>
                      <a:endParaRPr lang="en-IN"/>
                    </a:p>
                  </a:txBody>
                  <a:tcPr anchor="ctr">
                    <a:lnL>
                      <a:noFill/>
                    </a:lnL>
                    <a:lnR>
                      <a:noFill/>
                    </a:lnR>
                    <a:lnT>
                      <a:noFill/>
                    </a:lnT>
                    <a:lnB>
                      <a:noFill/>
                    </a:lnB>
                  </a:tcPr>
                </a:tc>
                <a:tc>
                  <a:txBody>
                    <a:bodyPr/>
                    <a:lstStyle/>
                    <a:p>
                      <a:r>
                        <a:rPr lang="en-IN"/>
                        <a:t>4.9%</a:t>
                      </a:r>
                    </a:p>
                  </a:txBody>
                  <a:tcPr anchor="ctr">
                    <a:lnL>
                      <a:noFill/>
                    </a:lnL>
                    <a:lnR>
                      <a:noFill/>
                    </a:lnR>
                    <a:lnT>
                      <a:noFill/>
                    </a:lnT>
                    <a:lnB>
                      <a:noFill/>
                    </a:lnB>
                  </a:tcPr>
                </a:tc>
                <a:tc>
                  <a:txBody>
                    <a:bodyPr/>
                    <a:lstStyle/>
                    <a:p>
                      <a:r>
                        <a:rPr lang="en-IN"/>
                        <a:t>29.2</a:t>
                      </a:r>
                    </a:p>
                  </a:txBody>
                  <a:tcPr anchor="ctr">
                    <a:lnL>
                      <a:noFill/>
                    </a:lnL>
                    <a:lnR>
                      <a:noFill/>
                    </a:lnR>
                    <a:lnT>
                      <a:noFill/>
                    </a:lnT>
                    <a:lnB>
                      <a:noFill/>
                    </a:lnB>
                  </a:tcPr>
                </a:tc>
                <a:tc>
                  <a:txBody>
                    <a:bodyPr/>
                    <a:lstStyle/>
                    <a:p>
                      <a:r>
                        <a:rPr lang="en-IN"/>
                        <a:t>FPPS</a:t>
                      </a:r>
                    </a:p>
                  </a:txBody>
                  <a:tcPr anchor="ctr">
                    <a:lnL>
                      <a:noFill/>
                    </a:lnL>
                    <a:lnR>
                      <a:noFill/>
                    </a:lnR>
                    <a:lnT>
                      <a:noFill/>
                    </a:lnT>
                    <a:lnB>
                      <a:noFill/>
                    </a:lnB>
                  </a:tcPr>
                </a:tc>
              </a:tr>
              <a:tr h="364408">
                <a:tc>
                  <a:txBody>
                    <a:bodyPr/>
                    <a:lstStyle/>
                    <a:p>
                      <a:r>
                        <a:rPr lang="en-IN" b="1"/>
                        <a:t>MARA Pool</a:t>
                      </a:r>
                      <a:endParaRPr lang="en-IN"/>
                    </a:p>
                  </a:txBody>
                  <a:tcPr anchor="ctr">
                    <a:lnL>
                      <a:noFill/>
                    </a:lnL>
                    <a:lnR>
                      <a:noFill/>
                    </a:lnR>
                    <a:lnT>
                      <a:noFill/>
                    </a:lnT>
                    <a:lnB>
                      <a:noFill/>
                    </a:lnB>
                  </a:tcPr>
                </a:tc>
                <a:tc>
                  <a:txBody>
                    <a:bodyPr/>
                    <a:lstStyle/>
                    <a:p>
                      <a:r>
                        <a:rPr lang="en-IN"/>
                        <a:t>3.7%</a:t>
                      </a:r>
                    </a:p>
                  </a:txBody>
                  <a:tcPr anchor="ctr">
                    <a:lnL>
                      <a:noFill/>
                    </a:lnL>
                    <a:lnR>
                      <a:noFill/>
                    </a:lnR>
                    <a:lnT>
                      <a:noFill/>
                    </a:lnT>
                    <a:lnB>
                      <a:noFill/>
                    </a:lnB>
                  </a:tcPr>
                </a:tc>
                <a:tc>
                  <a:txBody>
                    <a:bodyPr/>
                    <a:lstStyle/>
                    <a:p>
                      <a:r>
                        <a:rPr lang="en-IN"/>
                        <a:t>22</a:t>
                      </a:r>
                    </a:p>
                  </a:txBody>
                  <a:tcPr anchor="ctr">
                    <a:lnL>
                      <a:noFill/>
                    </a:lnL>
                    <a:lnR>
                      <a:noFill/>
                    </a:lnR>
                    <a:lnT>
                      <a:noFill/>
                    </a:lnT>
                    <a:lnB>
                      <a:noFill/>
                    </a:lnB>
                  </a:tcPr>
                </a:tc>
                <a:tc>
                  <a:txBody>
                    <a:bodyPr/>
                    <a:lstStyle/>
                    <a:p>
                      <a:r>
                        <a:rPr lang="en-IN"/>
                        <a:t>PPLNS</a:t>
                      </a:r>
                    </a:p>
                  </a:txBody>
                  <a:tcPr anchor="ctr">
                    <a:lnL>
                      <a:noFill/>
                    </a:lnL>
                    <a:lnR>
                      <a:noFill/>
                    </a:lnR>
                    <a:lnT>
                      <a:noFill/>
                    </a:lnT>
                    <a:lnB>
                      <a:noFill/>
                    </a:lnB>
                  </a:tcPr>
                </a:tc>
              </a:tr>
              <a:tr h="364408">
                <a:tc>
                  <a:txBody>
                    <a:bodyPr/>
                    <a:lstStyle/>
                    <a:p>
                      <a:r>
                        <a:rPr lang="en-IN" b="1"/>
                        <a:t>BraiinsPool</a:t>
                      </a:r>
                      <a:endParaRPr lang="en-IN"/>
                    </a:p>
                  </a:txBody>
                  <a:tcPr anchor="ctr">
                    <a:lnL>
                      <a:noFill/>
                    </a:lnL>
                    <a:lnR>
                      <a:noFill/>
                    </a:lnR>
                    <a:lnT>
                      <a:noFill/>
                    </a:lnT>
                    <a:lnB>
                      <a:noFill/>
                    </a:lnB>
                  </a:tcPr>
                </a:tc>
                <a:tc>
                  <a:txBody>
                    <a:bodyPr/>
                    <a:lstStyle/>
                    <a:p>
                      <a:r>
                        <a:rPr lang="en-IN"/>
                        <a:t>2.5%</a:t>
                      </a:r>
                    </a:p>
                  </a:txBody>
                  <a:tcPr anchor="ctr">
                    <a:lnL>
                      <a:noFill/>
                    </a:lnL>
                    <a:lnR>
                      <a:noFill/>
                    </a:lnR>
                    <a:lnT>
                      <a:noFill/>
                    </a:lnT>
                    <a:lnB>
                      <a:noFill/>
                    </a:lnB>
                  </a:tcPr>
                </a:tc>
                <a:tc>
                  <a:txBody>
                    <a:bodyPr/>
                    <a:lstStyle/>
                    <a:p>
                      <a:r>
                        <a:rPr lang="en-IN"/>
                        <a:t>14.9</a:t>
                      </a:r>
                    </a:p>
                  </a:txBody>
                  <a:tcPr anchor="ctr">
                    <a:lnL>
                      <a:noFill/>
                    </a:lnL>
                    <a:lnR>
                      <a:noFill/>
                    </a:lnR>
                    <a:lnT>
                      <a:noFill/>
                    </a:lnT>
                    <a:lnB>
                      <a:noFill/>
                    </a:lnB>
                  </a:tcPr>
                </a:tc>
                <a:tc>
                  <a:txBody>
                    <a:bodyPr/>
                    <a:lstStyle/>
                    <a:p>
                      <a:r>
                        <a:rPr lang="en-IN" dirty="0"/>
                        <a:t>PPLNS</a:t>
                      </a:r>
                    </a:p>
                  </a:txBody>
                  <a:tcPr anchor="ctr">
                    <a:lnL>
                      <a:noFill/>
                    </a:lnL>
                    <a:lnR>
                      <a:noFill/>
                    </a:lnR>
                    <a:lnT>
                      <a:noFill/>
                    </a:lnT>
                    <a:lnB>
                      <a:noFill/>
                    </a:lnB>
                  </a:tcPr>
                </a:tc>
              </a:tr>
            </a:tbl>
          </a:graphicData>
        </a:graphic>
      </p:graphicFrame>
      <p:sp>
        <p:nvSpPr>
          <p:cNvPr id="5" name="Rectangle 1"/>
          <p:cNvSpPr>
            <a:spLocks noChangeArrowheads="1"/>
          </p:cNvSpPr>
          <p:nvPr/>
        </p:nvSpPr>
        <p:spPr bwMode="auto">
          <a:xfrm>
            <a:off x="685800" y="685800"/>
            <a:ext cx="729238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Arial" panose="020B0604020202020204" pitchFamily="34" charset="0"/>
              </a:rPr>
              <a:t>Current </a:t>
            </a:r>
            <a:r>
              <a:rPr kumimoji="0" lang="en-US" sz="2800" b="1" i="0" u="none" strike="noStrike" cap="none" normalizeH="0" baseline="0" dirty="0" err="1" smtClean="0">
                <a:ln>
                  <a:noFill/>
                </a:ln>
                <a:solidFill>
                  <a:schemeClr val="tx1"/>
                </a:solidFill>
                <a:effectLst/>
                <a:latin typeface="Arial" panose="020B0604020202020204" pitchFamily="34" charset="0"/>
              </a:rPr>
              <a:t>Bitcoin</a:t>
            </a:r>
            <a:r>
              <a:rPr kumimoji="0" lang="en-US" sz="2800" b="1" i="0" u="none" strike="noStrike" cap="none" normalizeH="0" baseline="0" dirty="0" smtClean="0">
                <a:ln>
                  <a:noFill/>
                </a:ln>
                <a:solidFill>
                  <a:schemeClr val="tx1"/>
                </a:solidFill>
                <a:effectLst/>
                <a:latin typeface="Arial" panose="020B0604020202020204" pitchFamily="34" charset="0"/>
              </a:rPr>
              <a:t> Mining Pool Market Share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Arial" panose="020B0604020202020204" pitchFamily="34" charset="0"/>
            </a:endParaRPr>
          </a:p>
        </p:txBody>
      </p:sp>
      <p:graphicFrame>
        <p:nvGraphicFramePr>
          <p:cNvPr id="7" name="Table 6"/>
          <p:cNvGraphicFramePr>
            <a:graphicFrameLocks noGrp="1"/>
          </p:cNvGraphicFramePr>
          <p:nvPr>
            <p:extLst/>
          </p:nvPr>
        </p:nvGraphicFramePr>
        <p:xfrm>
          <a:off x="609600" y="4876800"/>
          <a:ext cx="10290414" cy="365760"/>
        </p:xfrm>
        <a:graphic>
          <a:graphicData uri="http://schemas.openxmlformats.org/drawingml/2006/table">
            <a:tbl>
              <a:tblPr/>
              <a:tblGrid>
                <a:gridCol w="2160201"/>
                <a:gridCol w="2710071"/>
                <a:gridCol w="2710071"/>
                <a:gridCol w="2710071"/>
              </a:tblGrid>
              <a:tr h="337327">
                <a:tc>
                  <a:txBody>
                    <a:bodyPr/>
                    <a:lstStyle/>
                    <a:p>
                      <a:r>
                        <a:rPr lang="en-IN" b="1" dirty="0"/>
                        <a:t>BTC.com</a:t>
                      </a:r>
                      <a:endParaRPr lang="en-IN" dirty="0"/>
                    </a:p>
                  </a:txBody>
                  <a:tcPr anchor="ctr">
                    <a:lnL>
                      <a:noFill/>
                    </a:lnL>
                    <a:lnR>
                      <a:noFill/>
                    </a:lnR>
                    <a:lnT>
                      <a:noFill/>
                    </a:lnT>
                    <a:lnB>
                      <a:noFill/>
                    </a:lnB>
                  </a:tcPr>
                </a:tc>
                <a:tc>
                  <a:txBody>
                    <a:bodyPr/>
                    <a:lstStyle/>
                    <a:p>
                      <a:r>
                        <a:rPr lang="en-IN" dirty="0" smtClean="0"/>
                        <a:t>         1.6</a:t>
                      </a:r>
                      <a:r>
                        <a:rPr lang="en-IN" dirty="0"/>
                        <a:t>%</a:t>
                      </a:r>
                    </a:p>
                  </a:txBody>
                  <a:tcPr anchor="ctr">
                    <a:lnL>
                      <a:noFill/>
                    </a:lnL>
                    <a:lnR>
                      <a:noFill/>
                    </a:lnR>
                    <a:lnT>
                      <a:noFill/>
                    </a:lnT>
                    <a:lnB>
                      <a:noFill/>
                    </a:lnB>
                  </a:tcPr>
                </a:tc>
                <a:tc>
                  <a:txBody>
                    <a:bodyPr/>
                    <a:lstStyle/>
                    <a:p>
                      <a:r>
                        <a:rPr lang="en-IN" baseline="0" dirty="0" smtClean="0"/>
                        <a:t>        </a:t>
                      </a:r>
                      <a:r>
                        <a:rPr lang="en-IN" dirty="0" smtClean="0"/>
                        <a:t>9.5</a:t>
                      </a:r>
                      <a:endParaRPr lang="en-IN" dirty="0"/>
                    </a:p>
                  </a:txBody>
                  <a:tcPr anchor="ctr">
                    <a:lnL>
                      <a:noFill/>
                    </a:lnL>
                    <a:lnR>
                      <a:noFill/>
                    </a:lnR>
                    <a:lnT>
                      <a:noFill/>
                    </a:lnT>
                    <a:lnB>
                      <a:noFill/>
                    </a:lnB>
                  </a:tcPr>
                </a:tc>
                <a:tc>
                  <a:txBody>
                    <a:bodyPr/>
                    <a:lstStyle/>
                    <a:p>
                      <a:r>
                        <a:rPr lang="en-IN" dirty="0" smtClean="0"/>
                        <a:t>     FPPS</a:t>
                      </a:r>
                      <a:endParaRPr lang="en-IN" dirty="0"/>
                    </a:p>
                  </a:txBody>
                  <a:tcPr anchor="ctr">
                    <a:lnL>
                      <a:noFill/>
                    </a:lnL>
                    <a:lnR>
                      <a:noFill/>
                    </a:lnR>
                    <a:lnT>
                      <a:noFill/>
                    </a:lnT>
                    <a:lnB>
                      <a:noFill/>
                    </a:lnB>
                  </a:tcPr>
                </a:tc>
              </a:tr>
            </a:tbl>
          </a:graphicData>
        </a:graphic>
      </p:graphicFrame>
      <p:graphicFrame>
        <p:nvGraphicFramePr>
          <p:cNvPr id="8" name="Table 7"/>
          <p:cNvGraphicFramePr>
            <a:graphicFrameLocks noGrp="1"/>
          </p:cNvGraphicFramePr>
          <p:nvPr>
            <p:extLst/>
          </p:nvPr>
        </p:nvGraphicFramePr>
        <p:xfrm>
          <a:off x="609600" y="5334000"/>
          <a:ext cx="10515600" cy="365760"/>
        </p:xfrm>
        <a:graphic>
          <a:graphicData uri="http://schemas.openxmlformats.org/drawingml/2006/table">
            <a:tbl>
              <a:tblPr/>
              <a:tblGrid>
                <a:gridCol w="2628900"/>
                <a:gridCol w="2628900"/>
                <a:gridCol w="2628900"/>
                <a:gridCol w="2628900"/>
              </a:tblGrid>
              <a:tr h="0">
                <a:tc>
                  <a:txBody>
                    <a:bodyPr/>
                    <a:lstStyle/>
                    <a:p>
                      <a:r>
                        <a:rPr lang="en-IN" b="1" dirty="0"/>
                        <a:t>Luxor</a:t>
                      </a:r>
                      <a:endParaRPr lang="en-IN" dirty="0"/>
                    </a:p>
                  </a:txBody>
                  <a:tcPr anchor="ctr">
                    <a:lnL>
                      <a:noFill/>
                    </a:lnL>
                    <a:lnR>
                      <a:noFill/>
                    </a:lnR>
                    <a:lnT>
                      <a:noFill/>
                    </a:lnT>
                    <a:lnB>
                      <a:noFill/>
                    </a:lnB>
                  </a:tcPr>
                </a:tc>
                <a:tc>
                  <a:txBody>
                    <a:bodyPr/>
                    <a:lstStyle/>
                    <a:p>
                      <a:r>
                        <a:rPr lang="en-IN" dirty="0" smtClean="0"/>
                        <a:t> 1.5%</a:t>
                      </a:r>
                      <a:endParaRPr lang="en-IN" dirty="0"/>
                    </a:p>
                  </a:txBody>
                  <a:tcPr anchor="ctr">
                    <a:lnL>
                      <a:noFill/>
                    </a:lnL>
                    <a:lnR>
                      <a:noFill/>
                    </a:lnR>
                    <a:lnT>
                      <a:noFill/>
                    </a:lnT>
                    <a:lnB>
                      <a:noFill/>
                    </a:lnB>
                  </a:tcPr>
                </a:tc>
                <a:tc>
                  <a:txBody>
                    <a:bodyPr/>
                    <a:lstStyle/>
                    <a:p>
                      <a:r>
                        <a:rPr lang="en-IN" dirty="0"/>
                        <a:t>8.9</a:t>
                      </a:r>
                    </a:p>
                  </a:txBody>
                  <a:tcPr anchor="ctr">
                    <a:lnL>
                      <a:noFill/>
                    </a:lnL>
                    <a:lnR>
                      <a:noFill/>
                    </a:lnR>
                    <a:lnT>
                      <a:noFill/>
                    </a:lnT>
                    <a:lnB>
                      <a:noFill/>
                    </a:lnB>
                  </a:tcPr>
                </a:tc>
                <a:tc>
                  <a:txBody>
                    <a:bodyPr/>
                    <a:lstStyle/>
                    <a:p>
                      <a:r>
                        <a:rPr lang="en-IN" dirty="0" smtClean="0"/>
                        <a:t>FPPS</a:t>
                      </a:r>
                      <a:endParaRPr lang="en-IN" dirty="0"/>
                    </a:p>
                  </a:txBody>
                  <a:tcPr anchor="ctr">
                    <a:lnL>
                      <a:noFill/>
                    </a:lnL>
                    <a:lnR>
                      <a:noFill/>
                    </a:lnR>
                    <a:lnT>
                      <a:noFill/>
                    </a:lnT>
                    <a:lnB>
                      <a:noFill/>
                    </a:lnB>
                  </a:tcPr>
                </a:tc>
              </a:tr>
            </a:tbl>
          </a:graphicData>
        </a:graphic>
      </p:graphicFrame>
      <p:graphicFrame>
        <p:nvGraphicFramePr>
          <p:cNvPr id="9" name="Table 8"/>
          <p:cNvGraphicFramePr>
            <a:graphicFrameLocks noGrp="1"/>
          </p:cNvGraphicFramePr>
          <p:nvPr>
            <p:extLst/>
          </p:nvPr>
        </p:nvGraphicFramePr>
        <p:xfrm>
          <a:off x="533400" y="5791200"/>
          <a:ext cx="10515600" cy="365760"/>
        </p:xfrm>
        <a:graphic>
          <a:graphicData uri="http://schemas.openxmlformats.org/drawingml/2006/table">
            <a:tbl>
              <a:tblPr/>
              <a:tblGrid>
                <a:gridCol w="2628900"/>
                <a:gridCol w="2628900"/>
                <a:gridCol w="2628900"/>
                <a:gridCol w="2628900"/>
              </a:tblGrid>
              <a:tr h="213360">
                <a:tc>
                  <a:txBody>
                    <a:bodyPr/>
                    <a:lstStyle/>
                    <a:p>
                      <a:r>
                        <a:rPr lang="en-IN" b="1" dirty="0"/>
                        <a:t>SBI Crypto</a:t>
                      </a:r>
                      <a:endParaRPr lang="en-IN" dirty="0"/>
                    </a:p>
                  </a:txBody>
                  <a:tcPr anchor="ctr">
                    <a:lnL>
                      <a:noFill/>
                    </a:lnL>
                    <a:lnR>
                      <a:noFill/>
                    </a:lnR>
                    <a:lnT>
                      <a:noFill/>
                    </a:lnT>
                    <a:lnB>
                      <a:noFill/>
                    </a:lnB>
                  </a:tcPr>
                </a:tc>
                <a:tc>
                  <a:txBody>
                    <a:bodyPr/>
                    <a:lstStyle/>
                    <a:p>
                      <a:r>
                        <a:rPr lang="en-IN"/>
                        <a:t>1.4%</a:t>
                      </a:r>
                    </a:p>
                  </a:txBody>
                  <a:tcPr anchor="ctr">
                    <a:lnL>
                      <a:noFill/>
                    </a:lnL>
                    <a:lnR>
                      <a:noFill/>
                    </a:lnR>
                    <a:lnT>
                      <a:noFill/>
                    </a:lnT>
                    <a:lnB>
                      <a:noFill/>
                    </a:lnB>
                  </a:tcPr>
                </a:tc>
                <a:tc>
                  <a:txBody>
                    <a:bodyPr/>
                    <a:lstStyle/>
                    <a:p>
                      <a:r>
                        <a:rPr lang="en-IN" dirty="0" smtClean="0"/>
                        <a:t>   8.3</a:t>
                      </a:r>
                      <a:endParaRPr lang="en-IN" dirty="0"/>
                    </a:p>
                  </a:txBody>
                  <a:tcPr anchor="ctr">
                    <a:lnL>
                      <a:noFill/>
                    </a:lnL>
                    <a:lnR>
                      <a:noFill/>
                    </a:lnR>
                    <a:lnT>
                      <a:noFill/>
                    </a:lnT>
                    <a:lnB>
                      <a:noFill/>
                    </a:lnB>
                  </a:tcPr>
                </a:tc>
                <a:tc>
                  <a:txBody>
                    <a:bodyPr/>
                    <a:lstStyle/>
                    <a:p>
                      <a:r>
                        <a:rPr lang="en-IN" dirty="0"/>
                        <a:t>FPPS</a:t>
                      </a:r>
                    </a:p>
                  </a:txBody>
                  <a:tcPr anchor="ctr">
                    <a:lnL>
                      <a:noFill/>
                    </a:lnL>
                    <a:lnR>
                      <a:noFill/>
                    </a:lnR>
                    <a:lnT>
                      <a:noFill/>
                    </a:lnT>
                    <a:lnB>
                      <a:noFill/>
                    </a:lnB>
                  </a:tcPr>
                </a:tc>
              </a:tr>
            </a:tbl>
          </a:graphicData>
        </a:graphic>
      </p:graphicFrame>
      <p:sp>
        <p:nvSpPr>
          <p:cNvPr id="12" name="Rectangle 11"/>
          <p:cNvSpPr/>
          <p:nvPr/>
        </p:nvSpPr>
        <p:spPr>
          <a:xfrm>
            <a:off x="838200" y="6324600"/>
            <a:ext cx="5049267" cy="369332"/>
          </a:xfrm>
          <a:prstGeom prst="rect">
            <a:avLst/>
          </a:prstGeom>
        </p:spPr>
        <p:txBody>
          <a:bodyPr wrap="none">
            <a:spAutoFit/>
          </a:bodyPr>
          <a:lstStyle/>
          <a:p>
            <a:r>
              <a:rPr lang="en-IN" b="1" i="1" dirty="0"/>
              <a:t>Data sourced from </a:t>
            </a:r>
            <a:r>
              <a:rPr lang="en-IN" b="1" i="1" dirty="0" err="1"/>
              <a:t>Hashrate</a:t>
            </a:r>
            <a:r>
              <a:rPr lang="en-IN" b="1" i="1" dirty="0"/>
              <a:t> Index and </a:t>
            </a:r>
            <a:r>
              <a:rPr lang="en-IN" b="1" i="1" dirty="0" err="1"/>
              <a:t>CoinBureau</a:t>
            </a:r>
            <a:endParaRPr lang="en-IN" b="1" i="1" dirty="0"/>
          </a:p>
        </p:txBody>
      </p:sp>
    </p:spTree>
    <p:extLst>
      <p:ext uri="{BB962C8B-B14F-4D97-AF65-F5344CB8AC3E}">
        <p14:creationId xmlns:p14="http://schemas.microsoft.com/office/powerpoint/2010/main" val="17991657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pPr marL="50799" indent="0">
              <a:buNone/>
            </a:pPr>
            <a:r>
              <a:rPr lang="en-IN" b="1" dirty="0" smtClean="0"/>
              <a:t>51</a:t>
            </a:r>
            <a:r>
              <a:rPr lang="en-IN" b="1" dirty="0"/>
              <a:t>% Mining Pools &amp; Network Centralization</a:t>
            </a:r>
          </a:p>
          <a:p>
            <a:r>
              <a:rPr lang="en-IN" dirty="0"/>
              <a:t>By </a:t>
            </a:r>
            <a:r>
              <a:rPr lang="en-IN" b="1" dirty="0"/>
              <a:t>2014</a:t>
            </a:r>
            <a:r>
              <a:rPr lang="en-IN" dirty="0"/>
              <a:t>, </a:t>
            </a:r>
            <a:r>
              <a:rPr lang="en-IN" b="1" dirty="0"/>
              <a:t>GHash.io</a:t>
            </a:r>
            <a:r>
              <a:rPr lang="en-IN" dirty="0"/>
              <a:t> controlled </a:t>
            </a:r>
            <a:r>
              <a:rPr lang="en-IN" b="1" dirty="0"/>
              <a:t>over 50% of the </a:t>
            </a:r>
            <a:r>
              <a:rPr lang="en-IN" b="1" dirty="0" err="1"/>
              <a:t>Bitcoin</a:t>
            </a:r>
            <a:r>
              <a:rPr lang="en-IN" b="1" dirty="0"/>
              <a:t> network hash power</a:t>
            </a:r>
            <a:r>
              <a:rPr lang="en-IN" dirty="0"/>
              <a:t>, causing centralization concerns.</a:t>
            </a:r>
          </a:p>
          <a:p>
            <a:r>
              <a:rPr lang="en-IN" dirty="0"/>
              <a:t>The </a:t>
            </a:r>
            <a:r>
              <a:rPr lang="en-IN" b="1" dirty="0"/>
              <a:t>community pressured GHash.io</a:t>
            </a:r>
            <a:r>
              <a:rPr lang="en-IN" dirty="0"/>
              <a:t> to limit its size.</a:t>
            </a:r>
          </a:p>
          <a:p>
            <a:r>
              <a:rPr lang="en-IN" b="1" dirty="0"/>
              <a:t>"Laundering hashes"</a:t>
            </a:r>
            <a:r>
              <a:rPr lang="en-IN" dirty="0"/>
              <a:t>: Some large miners </a:t>
            </a:r>
            <a:r>
              <a:rPr lang="en-IN" b="1" dirty="0"/>
              <a:t>spread their power across multiple pools</a:t>
            </a:r>
            <a:r>
              <a:rPr lang="en-IN" dirty="0"/>
              <a:t> to hide their true size</a:t>
            </a:r>
            <a:r>
              <a:rPr lang="en-IN" dirty="0" smtClean="0"/>
              <a:t>.</a:t>
            </a:r>
          </a:p>
          <a:p>
            <a:pPr marL="50799" indent="0">
              <a:buNone/>
            </a:pPr>
            <a:r>
              <a:rPr lang="en-IN" b="1" dirty="0"/>
              <a:t>Mining Pools </a:t>
            </a:r>
            <a:r>
              <a:rPr lang="en-IN" b="1" dirty="0" err="1"/>
              <a:t>vs</a:t>
            </a:r>
            <a:r>
              <a:rPr lang="en-IN" b="1" dirty="0"/>
              <a:t> Cloud Mining</a:t>
            </a:r>
          </a:p>
          <a:p>
            <a:r>
              <a:rPr lang="en-IN" dirty="0"/>
              <a:t>Mining pools are for people who have mining hardware to split profits.</a:t>
            </a:r>
          </a:p>
          <a:p>
            <a:r>
              <a:rPr lang="en-IN" dirty="0"/>
              <a:t>Many people get mining pools </a:t>
            </a:r>
            <a:r>
              <a:rPr lang="en-IN" u="sng" dirty="0">
                <a:hlinkClick r:id="rId2"/>
              </a:rPr>
              <a:t>confused with cloud mining</a:t>
            </a:r>
            <a:r>
              <a:rPr lang="en-IN" u="sng" dirty="0"/>
              <a:t>. </a:t>
            </a:r>
            <a:r>
              <a:rPr lang="en-IN" dirty="0"/>
              <a:t>Cloud mining is where you pay a service provider to miner for you and you get the rewards.</a:t>
            </a:r>
          </a:p>
          <a:p>
            <a:pPr marL="50799" indent="0">
              <a:buNone/>
            </a:pPr>
            <a:endParaRPr lang="en-IN" dirty="0"/>
          </a:p>
          <a:p>
            <a:pPr marL="50799" indent="0">
              <a:buNone/>
            </a:pPr>
            <a:endParaRPr lang="en-IN" dirty="0"/>
          </a:p>
          <a:p>
            <a:pPr marL="50799" indent="0">
              <a:buNone/>
            </a:pPr>
            <a:endParaRPr lang="en-IN" dirty="0"/>
          </a:p>
        </p:txBody>
      </p:sp>
    </p:spTree>
    <p:extLst>
      <p:ext uri="{BB962C8B-B14F-4D97-AF65-F5344CB8AC3E}">
        <p14:creationId xmlns:p14="http://schemas.microsoft.com/office/powerpoint/2010/main" val="7198333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58"/>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endParaRPr dirty="0"/>
          </a:p>
        </p:txBody>
      </p:sp>
      <p:sp>
        <p:nvSpPr>
          <p:cNvPr id="496" name="Google Shape;496;p58"/>
          <p:cNvSpPr txBox="1">
            <a:spLocks noGrp="1"/>
          </p:cNvSpPr>
          <p:nvPr>
            <p:ph type="body" idx="1"/>
          </p:nvPr>
        </p:nvSpPr>
        <p:spPr>
          <a:xfrm>
            <a:off x="609600" y="1329167"/>
            <a:ext cx="10972800" cy="4914400"/>
          </a:xfrm>
          <a:prstGeom prst="rect">
            <a:avLst/>
          </a:prstGeom>
        </p:spPr>
        <p:txBody>
          <a:bodyPr spcFirstLastPara="1" vert="horz" wrap="square" lIns="121900" tIns="121900" rIns="121900" bIns="121900" numCol="1" anchor="t" anchorCtr="0" compatLnSpc="1">
            <a:prstTxWarp prst="textNoShape">
              <a:avLst/>
            </a:prstTxWarp>
            <a:noAutofit/>
          </a:bodyPr>
          <a:lstStyle/>
          <a:p>
            <a:pPr>
              <a:buClr>
                <a:srgbClr val="000000"/>
              </a:buClr>
              <a:buFont typeface="Trebuchet MS"/>
              <a:buChar char="●"/>
            </a:pPr>
            <a:r>
              <a:rPr lang="en" dirty="0">
                <a:solidFill>
                  <a:srgbClr val="000000"/>
                </a:solidFill>
              </a:rPr>
              <a:t>Pros</a:t>
            </a:r>
            <a:endParaRPr dirty="0">
              <a:solidFill>
                <a:srgbClr val="000000"/>
              </a:solidFill>
            </a:endParaRPr>
          </a:p>
          <a:p>
            <a:pPr lvl="1">
              <a:buClr>
                <a:srgbClr val="000000"/>
              </a:buClr>
            </a:pPr>
            <a:r>
              <a:rPr lang="en" dirty="0">
                <a:solidFill>
                  <a:srgbClr val="000000"/>
                </a:solidFill>
              </a:rPr>
              <a:t>Make mining more </a:t>
            </a:r>
            <a:r>
              <a:rPr lang="en" dirty="0" smtClean="0">
                <a:solidFill>
                  <a:srgbClr val="000000"/>
                </a:solidFill>
              </a:rPr>
              <a:t>predictable(</a:t>
            </a:r>
            <a:r>
              <a:rPr lang="en-IN" dirty="0"/>
              <a:t>Reduces variance for miners</a:t>
            </a:r>
            <a:r>
              <a:rPr lang="en-IN" dirty="0" smtClean="0"/>
              <a:t>.)</a:t>
            </a:r>
            <a:endParaRPr dirty="0">
              <a:solidFill>
                <a:srgbClr val="000000"/>
              </a:solidFill>
            </a:endParaRPr>
          </a:p>
          <a:p>
            <a:pPr lvl="1">
              <a:buClr>
                <a:srgbClr val="000000"/>
              </a:buClr>
            </a:pPr>
            <a:r>
              <a:rPr lang="en" dirty="0">
                <a:solidFill>
                  <a:srgbClr val="000000"/>
                </a:solidFill>
              </a:rPr>
              <a:t>Allow small miners to participate</a:t>
            </a:r>
            <a:endParaRPr dirty="0">
              <a:solidFill>
                <a:srgbClr val="000000"/>
              </a:solidFill>
            </a:endParaRPr>
          </a:p>
          <a:p>
            <a:pPr lvl="1">
              <a:buClr>
                <a:srgbClr val="000000"/>
              </a:buClr>
            </a:pPr>
            <a:r>
              <a:rPr lang="en" dirty="0">
                <a:solidFill>
                  <a:srgbClr val="000000"/>
                </a:solidFill>
              </a:rPr>
              <a:t>More miners using updated validation </a:t>
            </a:r>
            <a:r>
              <a:rPr lang="en" dirty="0" smtClean="0">
                <a:solidFill>
                  <a:srgbClr val="000000"/>
                </a:solidFill>
              </a:rPr>
              <a:t>software(</a:t>
            </a:r>
            <a:r>
              <a:rPr lang="en-IN" dirty="0"/>
              <a:t>Simplifies </a:t>
            </a:r>
            <a:r>
              <a:rPr lang="en-IN" b="1" dirty="0"/>
              <a:t>network upgrades</a:t>
            </a:r>
            <a:r>
              <a:rPr lang="en-IN" dirty="0"/>
              <a:t> since pools control many </a:t>
            </a:r>
            <a:r>
              <a:rPr lang="en-IN" dirty="0" smtClean="0"/>
              <a:t>miners)</a:t>
            </a:r>
            <a:endParaRPr dirty="0">
              <a:solidFill>
                <a:srgbClr val="000000"/>
              </a:solidFill>
            </a:endParaRPr>
          </a:p>
          <a:p>
            <a:pPr>
              <a:spcBef>
                <a:spcPts val="0"/>
              </a:spcBef>
              <a:buClr>
                <a:srgbClr val="000000"/>
              </a:buClr>
            </a:pPr>
            <a:r>
              <a:rPr lang="en" dirty="0">
                <a:solidFill>
                  <a:srgbClr val="000000"/>
                </a:solidFill>
              </a:rPr>
              <a:t>Cons</a:t>
            </a:r>
            <a:endParaRPr dirty="0">
              <a:solidFill>
                <a:srgbClr val="000000"/>
              </a:solidFill>
            </a:endParaRPr>
          </a:p>
          <a:p>
            <a:pPr lvl="1">
              <a:buClr>
                <a:srgbClr val="000000"/>
              </a:buClr>
            </a:pPr>
            <a:r>
              <a:rPr lang="en" dirty="0">
                <a:solidFill>
                  <a:srgbClr val="000000"/>
                </a:solidFill>
              </a:rPr>
              <a:t>Lead to </a:t>
            </a:r>
            <a:r>
              <a:rPr lang="en" dirty="0" smtClean="0">
                <a:solidFill>
                  <a:srgbClr val="000000"/>
                </a:solidFill>
              </a:rPr>
              <a:t>centralization</a:t>
            </a:r>
            <a:r>
              <a:rPr lang="en-IN" dirty="0"/>
              <a:t>(few pools control most hash power).</a:t>
            </a:r>
            <a:endParaRPr dirty="0">
              <a:solidFill>
                <a:srgbClr val="000000"/>
              </a:solidFill>
            </a:endParaRPr>
          </a:p>
          <a:p>
            <a:pPr lvl="1">
              <a:buClr>
                <a:srgbClr val="000000"/>
              </a:buClr>
            </a:pPr>
            <a:r>
              <a:rPr lang="en" dirty="0">
                <a:solidFill>
                  <a:srgbClr val="000000"/>
                </a:solidFill>
              </a:rPr>
              <a:t>Discourage miners from running full </a:t>
            </a:r>
            <a:r>
              <a:rPr lang="en" dirty="0" smtClean="0">
                <a:solidFill>
                  <a:srgbClr val="000000"/>
                </a:solidFill>
              </a:rPr>
              <a:t>nodes</a:t>
            </a:r>
          </a:p>
          <a:p>
            <a:pPr marL="711183" lvl="1" indent="0">
              <a:buClr>
                <a:srgbClr val="000000"/>
              </a:buClr>
              <a:buNone/>
            </a:pPr>
            <a:r>
              <a:rPr lang="en" dirty="0" smtClean="0">
                <a:solidFill>
                  <a:srgbClr val="000000"/>
                </a:solidFill>
              </a:rPr>
              <a:t>       </a:t>
            </a:r>
            <a:r>
              <a:rPr lang="en-IN" dirty="0" smtClean="0"/>
              <a:t>mining </a:t>
            </a:r>
            <a:r>
              <a:rPr lang="en-IN" dirty="0"/>
              <a:t>pools </a:t>
            </a:r>
            <a:r>
              <a:rPr lang="en-IN" dirty="0" err="1"/>
              <a:t>existance</a:t>
            </a:r>
            <a:r>
              <a:rPr lang="en-IN" dirty="0"/>
              <a:t> lowers the population of people actually running a fully validated Bitcoin node. Before mining pools, all small miners had to store the whole </a:t>
            </a:r>
            <a:r>
              <a:rPr lang="en-IN" dirty="0" err="1"/>
              <a:t>blockchain</a:t>
            </a:r>
            <a:r>
              <a:rPr lang="en-IN" dirty="0"/>
              <a:t> and validate transactions. Now, most miners offload that task to their pool </a:t>
            </a:r>
            <a:r>
              <a:rPr lang="en-IN" dirty="0" smtClean="0"/>
              <a:t>manage</a:t>
            </a:r>
            <a:endParaRPr dirty="0">
              <a:solidFill>
                <a:srgbClr val="000000"/>
              </a:solidFill>
            </a:endParaRPr>
          </a:p>
        </p:txBody>
      </p:sp>
    </p:spTree>
    <p:extLst>
      <p:ext uri="{BB962C8B-B14F-4D97-AF65-F5344CB8AC3E}">
        <p14:creationId xmlns:p14="http://schemas.microsoft.com/office/powerpoint/2010/main" val="39780474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dirty="0">
                <a:hlinkClick r:id="rId2"/>
              </a:rPr>
              <a:t>https://www.buybitcoinworldwide.com/mining/pools</a:t>
            </a:r>
            <a:r>
              <a:rPr lang="en-IN" dirty="0" smtClean="0">
                <a:hlinkClick r:id="rId2"/>
              </a:rPr>
              <a:t>/</a:t>
            </a:r>
            <a:endParaRPr lang="en-IN" dirty="0" smtClean="0"/>
          </a:p>
          <a:p>
            <a:endParaRPr lang="en-IN" dirty="0"/>
          </a:p>
        </p:txBody>
      </p:sp>
    </p:spTree>
    <p:extLst>
      <p:ext uri="{BB962C8B-B14F-4D97-AF65-F5344CB8AC3E}">
        <p14:creationId xmlns:p14="http://schemas.microsoft.com/office/powerpoint/2010/main" val="25223134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1205</Words>
  <Application>Microsoft Office PowerPoint</Application>
  <PresentationFormat>Widescreen</PresentationFormat>
  <Paragraphs>214</Paragraphs>
  <Slides>19</Slides>
  <Notes>6</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Courier New</vt:lpstr>
      <vt:lpstr>Trebuchet MS</vt:lpstr>
      <vt:lpstr>Wingdings</vt:lpstr>
      <vt:lpstr>Office Theme</vt:lpstr>
      <vt:lpstr>PowerPoint Presentation</vt:lpstr>
      <vt:lpstr>Economics of being a small miner</vt:lpstr>
      <vt:lpstr>PowerPoint Presentation</vt:lpstr>
      <vt:lpstr>Mining pools</vt:lpstr>
      <vt:lpstr>PowerPoint Presentation</vt:lpstr>
      <vt:lpstr>PowerPoint Presentation</vt:lpstr>
      <vt:lpstr>PowerPoint Presentation</vt:lpstr>
      <vt:lpstr>PowerPoint Presentation</vt:lpstr>
      <vt:lpstr>      PPS vs. FPPS vs. PPLNS vs. Proportional </vt:lpstr>
      <vt:lpstr>PowerPoint Presentation</vt:lpstr>
      <vt:lpstr>PowerPoint Presentation</vt:lpstr>
      <vt:lpstr>PowerPoint Presentation</vt:lpstr>
      <vt:lpstr>Mining pool history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cp:revision>
  <dcterms:created xsi:type="dcterms:W3CDTF">2025-03-01T03:17:05Z</dcterms:created>
  <dcterms:modified xsi:type="dcterms:W3CDTF">2025-03-01T03:17:17Z</dcterms:modified>
</cp:coreProperties>
</file>