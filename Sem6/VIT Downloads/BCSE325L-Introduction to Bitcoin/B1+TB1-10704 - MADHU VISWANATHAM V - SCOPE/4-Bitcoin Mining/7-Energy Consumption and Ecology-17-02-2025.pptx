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8" r:id="rId2"/>
    <p:sldId id="259" r:id="rId3"/>
    <p:sldId id="260" r:id="rId4"/>
    <p:sldId id="261" r:id="rId5"/>
    <p:sldId id="262" r:id="rId6"/>
    <p:sldId id="263" r:id="rId7"/>
    <p:sldId id="266" r:id="rId8"/>
    <p:sldId id="267" r:id="rId9"/>
    <p:sldId id="268" r:id="rId10"/>
    <p:sldId id="269" r:id="rId11"/>
    <p:sldId id="270" r:id="rId12"/>
    <p:sldId id="271" r:id="rId13"/>
    <p:sldId id="272" r:id="rId14"/>
    <p:sldId id="273" r:id="rId15"/>
    <p:sldId id="274" r:id="rId16"/>
    <p:sldId id="275" r:id="rId17"/>
    <p:sldId id="278" r:id="rId18"/>
    <p:sldId id="279" r:id="rId19"/>
    <p:sldId id="280" r:id="rId20"/>
    <p:sldId id="281" r:id="rId21"/>
    <p:sldId id="282" r:id="rId22"/>
    <p:sldId id="284" r:id="rId23"/>
    <p:sldId id="2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55D6AB-9687-41EF-8F27-CDCEA94FF4F2}" type="datetimeFigureOut">
              <a:rPr lang="en-IN" smtClean="0"/>
              <a:t>01-03-2025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D2211D-C531-4CDD-8F1E-8F19BBA38415}" type="slidenum">
              <a:rPr lang="en-IN" smtClean="0"/>
              <a:t>‹#›</a:t>
            </a:fld>
            <a:endParaRPr lang="en-IN"/>
          </a:p>
        </p:txBody>
      </p:sp>
    </p:spTree>
    <p:extLst>
      <p:ext uri="{BB962C8B-B14F-4D97-AF65-F5344CB8AC3E}">
        <p14:creationId xmlns:p14="http://schemas.microsoft.com/office/powerpoint/2010/main" val="48024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BD5A08BA-9E8B-442F-ACF3-C10B3F1A2B83}" type="slidenum">
              <a:rPr lang="en-IN" smtClean="0"/>
              <a:t>4</a:t>
            </a:fld>
            <a:endParaRPr lang="en-IN"/>
          </a:p>
        </p:txBody>
      </p:sp>
    </p:spTree>
    <p:extLst>
      <p:ext uri="{BB962C8B-B14F-4D97-AF65-F5344CB8AC3E}">
        <p14:creationId xmlns:p14="http://schemas.microsoft.com/office/powerpoint/2010/main" val="310451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6f4a98fd_2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6f4a98fd_2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15913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6f3c03d4_02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36f3c03d4_0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4183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6f4a98fd_23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6f4a98fd_23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879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6f4a98fd_23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6f4a98fd_2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0396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6f4a98fd_23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6f4a98fd_23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52467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6f3c03d4_0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6f3c03d4_0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402121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7782F57-6E77-4B15-BA03-E9FCF81D7CEA}"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774047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782F57-6E77-4B15-BA03-E9FCF81D7CEA}"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2643341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7782F57-6E77-4B15-BA03-E9FCF81D7CEA}"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188663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7782F57-6E77-4B15-BA03-E9FCF81D7CEA}"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3647086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7782F57-6E77-4B15-BA03-E9FCF81D7CEA}" type="datetimeFigureOut">
              <a:rPr lang="en-IN" smtClean="0"/>
              <a:t>01-03-2025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4256432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7782F57-6E77-4B15-BA03-E9FCF81D7CEA}" type="datetimeFigureOut">
              <a:rPr lang="en-IN" smtClean="0"/>
              <a:t>01-03-2025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2028559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782F57-6E77-4B15-BA03-E9FCF81D7CEA}" type="datetimeFigureOut">
              <a:rPr lang="en-IN" smtClean="0"/>
              <a:t>01-03-2025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2722060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782F57-6E77-4B15-BA03-E9FCF81D7CEA}"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1139770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7782F57-6E77-4B15-BA03-E9FCF81D7CEA}" type="datetimeFigureOut">
              <a:rPr lang="en-IN" smtClean="0"/>
              <a:t>01-03-2025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1748102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782F57-6E77-4B15-BA03-E9FCF81D7CEA}"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2731952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7782F57-6E77-4B15-BA03-E9FCF81D7CEA}" type="datetimeFigureOut">
              <a:rPr lang="en-IN" smtClean="0"/>
              <a:t>01-03-2025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F49B0F-A524-434A-9D16-398499B6945F}" type="slidenum">
              <a:rPr lang="en-IN" smtClean="0"/>
              <a:t>‹#›</a:t>
            </a:fld>
            <a:endParaRPr lang="en-IN"/>
          </a:p>
        </p:txBody>
      </p:sp>
    </p:spTree>
    <p:extLst>
      <p:ext uri="{BB962C8B-B14F-4D97-AF65-F5344CB8AC3E}">
        <p14:creationId xmlns:p14="http://schemas.microsoft.com/office/powerpoint/2010/main" val="128703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363361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782F57-6E77-4B15-BA03-E9FCF81D7CEA}" type="datetimeFigureOut">
              <a:rPr lang="en-IN" smtClean="0"/>
              <a:t>01-03-2025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F49B0F-A524-434A-9D16-398499B6945F}" type="slidenum">
              <a:rPr lang="en-IN" smtClean="0"/>
              <a:t>‹#›</a:t>
            </a:fld>
            <a:endParaRPr lang="en-IN"/>
          </a:p>
        </p:txBody>
      </p:sp>
    </p:spTree>
    <p:extLst>
      <p:ext uri="{BB962C8B-B14F-4D97-AF65-F5344CB8AC3E}">
        <p14:creationId xmlns:p14="http://schemas.microsoft.com/office/powerpoint/2010/main" val="2725222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blockchain.com/charts/difficulty" TargetMode="Externa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ycharts.com/indicators/bitcoin_network_hash_rate?utm_source=chatgpt.com" TargetMode="External"/><Relationship Id="rId2" Type="http://schemas.openxmlformats.org/officeDocument/2006/relationships/hyperlink" Target="https://bitinfocharts.com/comparison/bitcoin-confirmationtime.html?utm_source=chatgpt.com#3y" TargetMode="External"/><Relationship Id="rId1" Type="http://schemas.openxmlformats.org/officeDocument/2006/relationships/slideLayout" Target="../slideLayouts/slideLayout2.xml"/><Relationship Id="rId6" Type="http://schemas.openxmlformats.org/officeDocument/2006/relationships/hyperlink" Target="https://www.blockchain.com/explorer/charts/difficulty" TargetMode="External"/><Relationship Id="rId5" Type="http://schemas.openxmlformats.org/officeDocument/2006/relationships/hyperlink" Target="https://www.blockchain.com/explorer/charts/hash-rate?utm_source=chatgpt.com" TargetMode="External"/><Relationship Id="rId4" Type="http://schemas.openxmlformats.org/officeDocument/2006/relationships/hyperlink" Target="https://ycharts.com/indicators/bitcoin_average_confirmation_time?utm_source=chatgpt.com"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Proof-of-work (POW) :</a:t>
            </a:r>
            <a:br>
              <a:rPr lang="en-IN" b="1" dirty="0"/>
            </a:br>
            <a:endParaRPr lang="en-IN" dirty="0"/>
          </a:p>
        </p:txBody>
      </p:sp>
      <p:sp>
        <p:nvSpPr>
          <p:cNvPr id="3" name="Content Placeholder 2"/>
          <p:cNvSpPr>
            <a:spLocks noGrp="1"/>
          </p:cNvSpPr>
          <p:nvPr>
            <p:ph idx="1"/>
          </p:nvPr>
        </p:nvSpPr>
        <p:spPr/>
        <p:txBody>
          <a:bodyPr/>
          <a:lstStyle/>
          <a:p>
            <a:r>
              <a:rPr lang="en-IN" b="1"/>
              <a:t>Proof-of-Work Properties</a:t>
            </a:r>
          </a:p>
          <a:p>
            <a:pPr marL="0" indent="0">
              <a:buNone/>
            </a:pPr>
            <a:r>
              <a:rPr lang="en-IN"/>
              <a:t>The proof-of-work function of an hash puzzle must be:</a:t>
            </a:r>
          </a:p>
          <a:p>
            <a:pPr marL="0" indent="0">
              <a:buNone/>
            </a:pPr>
            <a:r>
              <a:rPr lang="en-IN" smtClean="0"/>
              <a:t>       1.Difficult </a:t>
            </a:r>
            <a:r>
              <a:rPr lang="en-IN"/>
              <a:t>to </a:t>
            </a:r>
            <a:r>
              <a:rPr lang="en-IN" smtClean="0"/>
              <a:t>compute</a:t>
            </a:r>
          </a:p>
          <a:p>
            <a:pPr marL="0" indent="0">
              <a:buNone/>
            </a:pPr>
            <a:r>
              <a:rPr lang="en-IN" smtClean="0"/>
              <a:t>      2</a:t>
            </a:r>
            <a:r>
              <a:rPr lang="en-IN"/>
              <a:t>. </a:t>
            </a:r>
            <a:r>
              <a:rPr lang="en-IN" smtClean="0"/>
              <a:t>The </a:t>
            </a:r>
            <a:r>
              <a:rPr lang="en-IN"/>
              <a:t>difficulty is </a:t>
            </a:r>
            <a:r>
              <a:rPr lang="en-IN" smtClean="0"/>
              <a:t>parameterizable</a:t>
            </a:r>
          </a:p>
          <a:p>
            <a:pPr marL="0" indent="0">
              <a:buNone/>
            </a:pPr>
            <a:r>
              <a:rPr lang="en-IN" smtClean="0"/>
              <a:t>      3</a:t>
            </a:r>
            <a:r>
              <a:rPr lang="en-IN"/>
              <a:t>. </a:t>
            </a:r>
            <a:r>
              <a:rPr lang="en-IN" smtClean="0"/>
              <a:t>It’s </a:t>
            </a:r>
            <a:r>
              <a:rPr lang="en-IN"/>
              <a:t>trivial to verify the new node has computed proof-of-work correctly</a:t>
            </a:r>
          </a:p>
        </p:txBody>
      </p:sp>
    </p:spTree>
    <p:extLst>
      <p:ext uri="{BB962C8B-B14F-4D97-AF65-F5344CB8AC3E}">
        <p14:creationId xmlns:p14="http://schemas.microsoft.com/office/powerpoint/2010/main" val="171812206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Proof-of-work </a:t>
            </a:r>
            <a:r>
              <a:rPr lang="en-IN" b="1" dirty="0" smtClean="0"/>
              <a:t>(POW) :</a:t>
            </a:r>
            <a:r>
              <a:rPr lang="en-IN" b="1" dirty="0"/>
              <a:t/>
            </a:r>
            <a:br>
              <a:rPr lang="en-IN" b="1" dirty="0"/>
            </a:br>
            <a:endParaRPr lang="en-IN" dirty="0"/>
          </a:p>
        </p:txBody>
      </p:sp>
      <p:pic>
        <p:nvPicPr>
          <p:cNvPr id="4" name="Content Placeholder 3"/>
          <p:cNvPicPr>
            <a:picLocks noGrp="1" noChangeAspect="1"/>
          </p:cNvPicPr>
          <p:nvPr>
            <p:ph idx="1"/>
          </p:nvPr>
        </p:nvPicPr>
        <p:blipFill>
          <a:blip r:embed="rId2"/>
          <a:stretch>
            <a:fillRect/>
          </a:stretch>
        </p:blipFill>
        <p:spPr>
          <a:xfrm>
            <a:off x="762000" y="2438400"/>
            <a:ext cx="9944100" cy="30861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9915" y="76200"/>
            <a:ext cx="4790476" cy="2571448"/>
          </a:xfrm>
          <a:prstGeom prst="rect">
            <a:avLst/>
          </a:prstGeom>
        </p:spPr>
      </p:pic>
    </p:spTree>
    <p:extLst>
      <p:ext uri="{BB962C8B-B14F-4D97-AF65-F5344CB8AC3E}">
        <p14:creationId xmlns:p14="http://schemas.microsoft.com/office/powerpoint/2010/main" val="41232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457200"/>
            <a:ext cx="10515600" cy="5719763"/>
          </a:xfrm>
        </p:spPr>
        <p:txBody>
          <a:bodyPr>
            <a:normAutofit fontScale="85000" lnSpcReduction="20000"/>
          </a:bodyPr>
          <a:lstStyle/>
          <a:p>
            <a:pPr marL="0" indent="0">
              <a:buNone/>
            </a:pPr>
            <a:r>
              <a:rPr lang="en-IN" b="1" dirty="0"/>
              <a:t>Proof-of-work </a:t>
            </a:r>
            <a:r>
              <a:rPr lang="en-IN" b="1" dirty="0" smtClean="0"/>
              <a:t>:</a:t>
            </a:r>
          </a:p>
          <a:p>
            <a:pPr marL="0" indent="0">
              <a:buNone/>
            </a:pPr>
            <a:r>
              <a:rPr lang="en-IN" b="1" dirty="0" smtClean="0"/>
              <a:t>POW works as follows:</a:t>
            </a:r>
          </a:p>
          <a:p>
            <a:r>
              <a:rPr lang="en-IN" dirty="0" smtClean="0"/>
              <a:t>POW makes use of hash puzzles</a:t>
            </a:r>
          </a:p>
          <a:p>
            <a:r>
              <a:rPr lang="en-IN" dirty="0" smtClean="0"/>
              <a:t>A node proposes a block has to find a nonce such that H(</a:t>
            </a:r>
            <a:r>
              <a:rPr lang="en-IN" b="1" dirty="0"/>
              <a:t>H(version </a:t>
            </a:r>
            <a:r>
              <a:rPr lang="en-IN" b="1" dirty="0" smtClean="0"/>
              <a:t>||</a:t>
            </a:r>
            <a:r>
              <a:rPr lang="en-IN" b="1" dirty="0"/>
              <a:t> previous Block hash </a:t>
            </a:r>
            <a:r>
              <a:rPr lang="en-IN" b="1" dirty="0" smtClean="0"/>
              <a:t>|| </a:t>
            </a:r>
            <a:r>
              <a:rPr lang="en-IN" b="1" dirty="0" err="1" smtClean="0"/>
              <a:t>MerkleRoot</a:t>
            </a:r>
            <a:r>
              <a:rPr lang="en-IN" b="1" dirty="0" smtClean="0"/>
              <a:t>||Timestamp|| Difficulty target||nonce) &lt;  Difficulty Target value</a:t>
            </a:r>
          </a:p>
          <a:p>
            <a:pPr marL="0" indent="0">
              <a:buNone/>
            </a:pPr>
            <a:r>
              <a:rPr lang="en-IN" b="1" dirty="0" smtClean="0"/>
              <a:t>The process can be summarized as:</a:t>
            </a:r>
          </a:p>
          <a:p>
            <a:r>
              <a:rPr lang="en-IN" dirty="0" smtClean="0"/>
              <a:t>New transactions are broadcast to all nodes on the network</a:t>
            </a:r>
          </a:p>
          <a:p>
            <a:r>
              <a:rPr lang="en-IN" dirty="0" smtClean="0"/>
              <a:t>Each node collects the transactions into a candidate block</a:t>
            </a:r>
          </a:p>
          <a:p>
            <a:r>
              <a:rPr lang="en-IN" dirty="0" smtClean="0"/>
              <a:t>Miners propose new blocks</a:t>
            </a:r>
          </a:p>
          <a:p>
            <a:r>
              <a:rPr lang="en-IN" dirty="0" smtClean="0"/>
              <a:t>Miners concatenate and hash with the header of the previous block</a:t>
            </a:r>
          </a:p>
          <a:p>
            <a:r>
              <a:rPr lang="en-IN" dirty="0" smtClean="0"/>
              <a:t>The resultant has is checked against  the target value (network difficulty target value)</a:t>
            </a:r>
          </a:p>
          <a:p>
            <a:r>
              <a:rPr lang="en-IN" dirty="0" smtClean="0"/>
              <a:t>If the resultant hash is less than the target value then POW is solved. Otherwise  the nonce is incremented and the node tries again. This process continues until  a resultant hash is found that is less than target value.</a:t>
            </a:r>
          </a:p>
          <a:p>
            <a:pPr marL="0" indent="0">
              <a:buNone/>
            </a:pPr>
            <a:endParaRPr lang="en-IN" b="1" dirty="0" smtClean="0"/>
          </a:p>
          <a:p>
            <a:pPr marL="0" indent="0">
              <a:buNone/>
            </a:pPr>
            <a:endParaRPr lang="en-IN" b="1" dirty="0" smtClean="0"/>
          </a:p>
          <a:p>
            <a:pPr marL="0" indent="0">
              <a:buNone/>
            </a:pPr>
            <a:endParaRPr lang="en-IN" b="1" dirty="0"/>
          </a:p>
          <a:p>
            <a:pPr marL="0" indent="0">
              <a:buNone/>
            </a:pPr>
            <a:endParaRPr lang="en-IN" dirty="0"/>
          </a:p>
        </p:txBody>
      </p:sp>
    </p:spTree>
    <p:extLst>
      <p:ext uri="{BB962C8B-B14F-4D97-AF65-F5344CB8AC3E}">
        <p14:creationId xmlns:p14="http://schemas.microsoft.com/office/powerpoint/2010/main" val="3742913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additive="base">
                                        <p:cTn id="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 calcmode="lin" valueType="num">
                                      <p:cBhvr additive="base">
                                        <p:cTn id="1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 calcmode="lin" valueType="num">
                                      <p:cBhvr additive="base">
                                        <p:cTn id="2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3"/>
          <a:stretch>
            <a:fillRect/>
          </a:stretch>
        </p:blipFill>
        <p:spPr>
          <a:xfrm>
            <a:off x="-304800" y="-152400"/>
            <a:ext cx="8534400" cy="6324600"/>
          </a:xfrm>
          <a:prstGeom prst="rect">
            <a:avLst/>
          </a:prstGeom>
        </p:spPr>
      </p:pic>
      <p:sp>
        <p:nvSpPr>
          <p:cNvPr id="3" name="Rectangle 2"/>
          <p:cNvSpPr/>
          <p:nvPr/>
        </p:nvSpPr>
        <p:spPr>
          <a:xfrm>
            <a:off x="7924800" y="609600"/>
            <a:ext cx="3886200" cy="3139321"/>
          </a:xfrm>
          <a:prstGeom prst="rect">
            <a:avLst/>
          </a:prstGeom>
        </p:spPr>
        <p:txBody>
          <a:bodyPr wrap="square">
            <a:spAutoFit/>
          </a:bodyPr>
          <a:lstStyle/>
          <a:p>
            <a:r>
              <a:rPr lang="en-IN" b="1" dirty="0"/>
              <a:t>What do the zeros in </a:t>
            </a:r>
            <a:r>
              <a:rPr lang="en-IN" b="1" dirty="0" err="1"/>
              <a:t>cryptocurrency</a:t>
            </a:r>
            <a:r>
              <a:rPr lang="en-IN" b="1" dirty="0"/>
              <a:t> mean?</a:t>
            </a:r>
          </a:p>
          <a:p>
            <a:pPr algn="just"/>
            <a:r>
              <a:rPr lang="en-IN" b="1" dirty="0"/>
              <a:t>The number of zeros in hash is not fixed. As more miners join the pool, chances of finding the number quickly increases. So Bitcoin can choose to increase the number of zero, which increases the difficulty. The difficulty is maintained in such a way that the average time to add a new block is 10 </a:t>
            </a:r>
            <a:r>
              <a:rPr lang="en-IN" b="1" dirty="0" err="1"/>
              <a:t>mins</a:t>
            </a:r>
            <a:r>
              <a:rPr lang="en-IN" b="1" dirty="0"/>
              <a:t>.</a:t>
            </a:r>
          </a:p>
        </p:txBody>
      </p:sp>
      <p:sp>
        <p:nvSpPr>
          <p:cNvPr id="5" name="Rectangle 4"/>
          <p:cNvSpPr/>
          <p:nvPr/>
        </p:nvSpPr>
        <p:spPr>
          <a:xfrm>
            <a:off x="7391400" y="3810000"/>
            <a:ext cx="4495800" cy="2031325"/>
          </a:xfrm>
          <a:prstGeom prst="rect">
            <a:avLst/>
          </a:prstGeom>
        </p:spPr>
        <p:txBody>
          <a:bodyPr wrap="square">
            <a:spAutoFit/>
          </a:bodyPr>
          <a:lstStyle/>
          <a:p>
            <a:r>
              <a:rPr lang="en-IN" b="1" dirty="0"/>
              <a:t>Example </a:t>
            </a:r>
            <a:r>
              <a:rPr lang="en-IN" b="1" dirty="0" smtClean="0"/>
              <a:t>Calculation</a:t>
            </a:r>
          </a:p>
          <a:p>
            <a:r>
              <a:rPr lang="en-IN" b="1" dirty="0" smtClean="0"/>
              <a:t>Suppose </a:t>
            </a:r>
            <a:r>
              <a:rPr lang="en-IN" b="1" dirty="0" err="1"/>
              <a:t>Bitcoin's</a:t>
            </a:r>
            <a:r>
              <a:rPr lang="en-IN" b="1" dirty="0"/>
              <a:t> difficulty is set such that valid hashes must be less </a:t>
            </a:r>
            <a:r>
              <a:rPr lang="en-IN" b="1" dirty="0" smtClean="0"/>
              <a:t>than:00000000FFFFFFFFFFFFFFFFFFFFFFFFFFFFFFFFFFFFFFFFFFFFFFFFFFFFFFFF</a:t>
            </a:r>
          </a:p>
          <a:p>
            <a:r>
              <a:rPr lang="en-IN" b="1" dirty="0" smtClean="0"/>
              <a:t>Any </a:t>
            </a:r>
            <a:r>
              <a:rPr lang="en-IN" b="1" dirty="0"/>
              <a:t>hash value below this target must start with at least 8 leading zeros.</a:t>
            </a:r>
          </a:p>
        </p:txBody>
      </p:sp>
      <p:sp>
        <p:nvSpPr>
          <p:cNvPr id="6" name="Rectangle 5"/>
          <p:cNvSpPr/>
          <p:nvPr/>
        </p:nvSpPr>
        <p:spPr>
          <a:xfrm>
            <a:off x="4343400" y="6218493"/>
            <a:ext cx="7620000" cy="646331"/>
          </a:xfrm>
          <a:prstGeom prst="rect">
            <a:avLst/>
          </a:prstGeom>
        </p:spPr>
        <p:txBody>
          <a:bodyPr wrap="square">
            <a:spAutoFit/>
          </a:bodyPr>
          <a:lstStyle/>
          <a:p>
            <a:r>
              <a:rPr lang="en-IN" b="1" dirty="0"/>
              <a:t>More leading zeros mean higher difficulty and more computational </a:t>
            </a:r>
            <a:r>
              <a:rPr lang="en-IN" b="1" dirty="0" smtClean="0"/>
              <a:t>effort</a:t>
            </a:r>
          </a:p>
          <a:p>
            <a:r>
              <a:rPr lang="en-IN" b="1" dirty="0"/>
              <a:t>Higher Difficulty → Smaller Target → More Leading Zeros Required</a:t>
            </a:r>
          </a:p>
        </p:txBody>
      </p:sp>
    </p:spTree>
    <p:extLst>
      <p:ext uri="{BB962C8B-B14F-4D97-AF65-F5344CB8AC3E}">
        <p14:creationId xmlns:p14="http://schemas.microsoft.com/office/powerpoint/2010/main" val="243467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 calcmode="lin" valueType="num">
                                      <p:cBhvr additive="base">
                                        <p:cTn id="2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81000"/>
            <a:ext cx="10515600" cy="5795963"/>
          </a:xfrm>
        </p:spPr>
        <p:txBody>
          <a:bodyPr>
            <a:normAutofit/>
          </a:bodyPr>
          <a:lstStyle/>
          <a:p>
            <a:pPr marL="0" indent="0">
              <a:buNone/>
            </a:pPr>
            <a:r>
              <a:rPr lang="en-IN" sz="2400" dirty="0"/>
              <a:t>Suppose the difficulty target </a:t>
            </a:r>
            <a:r>
              <a:rPr lang="en-IN" sz="2400" dirty="0" smtClean="0"/>
              <a:t>is:</a:t>
            </a:r>
          </a:p>
          <a:p>
            <a:pPr marL="0" indent="0">
              <a:buNone/>
            </a:pPr>
            <a:r>
              <a:rPr lang="en-IN" sz="2400" dirty="0" smtClean="0"/>
              <a:t>00000000FFFFFFFFFFFFFFFFFFFFFFFFFFFFFFFFFFFFFFFFFFFFFFFFFFFFFFFF</a:t>
            </a:r>
          </a:p>
          <a:p>
            <a:pPr marL="0" indent="0">
              <a:buNone/>
            </a:pPr>
            <a:r>
              <a:rPr lang="en-IN" sz="2400" dirty="0" smtClean="0"/>
              <a:t>A </a:t>
            </a:r>
            <a:r>
              <a:rPr lang="en-IN" sz="2400" dirty="0"/>
              <a:t>valid hash must be smaller than </a:t>
            </a:r>
            <a:r>
              <a:rPr lang="en-IN" sz="2400" dirty="0" err="1"/>
              <a:t>this.Hashes</a:t>
            </a:r>
            <a:r>
              <a:rPr lang="en-IN" sz="2400" dirty="0"/>
              <a:t> that start with more 0s are smaller in value.</a:t>
            </a:r>
            <a:endParaRPr lang="en-IN" sz="2400" dirty="0" smtClean="0"/>
          </a:p>
          <a:p>
            <a:pPr marL="0" indent="0">
              <a:buNone/>
            </a:pPr>
            <a:endParaRPr lang="en-IN" sz="2400" dirty="0"/>
          </a:p>
          <a:p>
            <a:pPr marL="0" indent="0">
              <a:buNone/>
            </a:pPr>
            <a:r>
              <a:rPr lang="en-IN" sz="2400" dirty="0" smtClean="0"/>
              <a:t>If </a:t>
            </a:r>
            <a:r>
              <a:rPr lang="en-IN" sz="2400" dirty="0"/>
              <a:t>difficulty is low, a hash </a:t>
            </a:r>
            <a:r>
              <a:rPr lang="en-IN" sz="2400" dirty="0" smtClean="0"/>
              <a:t>like:</a:t>
            </a:r>
          </a:p>
          <a:p>
            <a:pPr marL="0" indent="0">
              <a:buNone/>
            </a:pPr>
            <a:r>
              <a:rPr lang="en-IN" sz="2400" dirty="0" smtClean="0"/>
              <a:t>00A98CDE4567ABCDEF1234567890ABCDE1234567890ABCDEF1234567890ABCDEFmight </a:t>
            </a:r>
            <a:r>
              <a:rPr lang="en-IN" sz="2400" dirty="0"/>
              <a:t>be valid</a:t>
            </a:r>
            <a:r>
              <a:rPr lang="en-IN" sz="2400" dirty="0" smtClean="0"/>
              <a:t>.</a:t>
            </a:r>
          </a:p>
          <a:p>
            <a:pPr marL="0" indent="0">
              <a:buNone/>
            </a:pPr>
            <a:r>
              <a:rPr lang="en-IN" sz="2400" dirty="0" smtClean="0"/>
              <a:t>If </a:t>
            </a:r>
            <a:r>
              <a:rPr lang="en-IN" sz="2400" dirty="0"/>
              <a:t>difficulty is high, only a hash </a:t>
            </a:r>
            <a:r>
              <a:rPr lang="en-IN" sz="2400" dirty="0" smtClean="0"/>
              <a:t>like:</a:t>
            </a:r>
          </a:p>
          <a:p>
            <a:pPr marL="0" indent="0">
              <a:buNone/>
            </a:pPr>
            <a:r>
              <a:rPr lang="en-IN" sz="2400" dirty="0" smtClean="0"/>
              <a:t>000000000B98CDE4567ABCDEF1234567890ABCDE1234567890ABCDEF1234567890</a:t>
            </a:r>
          </a:p>
          <a:p>
            <a:pPr marL="0" indent="0">
              <a:buNone/>
            </a:pPr>
            <a:r>
              <a:rPr lang="en-IN" sz="2400" dirty="0"/>
              <a:t>will be accepted.</a:t>
            </a:r>
          </a:p>
        </p:txBody>
      </p:sp>
    </p:spTree>
    <p:extLst>
      <p:ext uri="{BB962C8B-B14F-4D97-AF65-F5344CB8AC3E}">
        <p14:creationId xmlns:p14="http://schemas.microsoft.com/office/powerpoint/2010/main" val="30229117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t>Example </a:t>
            </a:r>
            <a:endParaRPr lang="en-IN" dirty="0" smtClean="0"/>
          </a:p>
          <a:p>
            <a:pPr marL="0" indent="0">
              <a:buNone/>
            </a:pPr>
            <a:r>
              <a:rPr lang="en-IN" dirty="0" smtClean="0"/>
              <a:t>Hashes </a:t>
            </a:r>
            <a:r>
              <a:rPr lang="en-IN" dirty="0"/>
              <a:t>While Mining The miner changes the nonce and recalculates the hash until it meets the difficulty target</a:t>
            </a:r>
            <a:r>
              <a:rPr lang="en-IN" dirty="0" smtClean="0"/>
              <a:t>.</a:t>
            </a:r>
          </a:p>
          <a:p>
            <a:pPr marL="0" indent="0">
              <a:buNone/>
            </a:pPr>
            <a:r>
              <a:rPr lang="en-IN" sz="2400" dirty="0" smtClean="0"/>
              <a:t>Nonce</a:t>
            </a:r>
            <a:r>
              <a:rPr lang="en-IN" sz="2400" dirty="0"/>
              <a:t>	</a:t>
            </a:r>
            <a:r>
              <a:rPr lang="en-IN" sz="2400" dirty="0" smtClean="0"/>
              <a:t>                      Computed Hash</a:t>
            </a:r>
          </a:p>
          <a:p>
            <a:pPr marL="0" indent="0">
              <a:buNone/>
            </a:pPr>
            <a:r>
              <a:rPr lang="en-IN" sz="2400" dirty="0"/>
              <a:t>0	</a:t>
            </a:r>
            <a:r>
              <a:rPr lang="en-IN" sz="2400" dirty="0" smtClean="0"/>
              <a:t>3f8a4b6c4d92ffcd9ab1e3549e7e654b12345678abcd1234</a:t>
            </a:r>
          </a:p>
          <a:p>
            <a:pPr marL="457200" indent="-457200">
              <a:buAutoNum type="arabicPlain"/>
            </a:pPr>
            <a:r>
              <a:rPr lang="en-IN" sz="2400" dirty="0" smtClean="0"/>
              <a:t>       9ac1b765a2f3d99cb0d9823edcba98765432abcd12345678</a:t>
            </a:r>
          </a:p>
          <a:p>
            <a:pPr marL="457200" indent="-457200">
              <a:buAutoNum type="arabicPlain"/>
            </a:pPr>
            <a:r>
              <a:rPr lang="en-IN" sz="2400" dirty="0" smtClean="0"/>
              <a:t>       0058a9b7c234cd92ffcd9ab1e3549e7e654b12345678abcd </a:t>
            </a:r>
            <a:r>
              <a:rPr lang="en-IN" sz="2400" dirty="0"/>
              <a:t>✅ (Valid)</a:t>
            </a:r>
          </a:p>
        </p:txBody>
      </p:sp>
    </p:spTree>
    <p:extLst>
      <p:ext uri="{BB962C8B-B14F-4D97-AF65-F5344CB8AC3E}">
        <p14:creationId xmlns:p14="http://schemas.microsoft.com/office/powerpoint/2010/main" val="30862148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9"/>
        <p:cNvGrpSpPr/>
        <p:nvPr/>
      </p:nvGrpSpPr>
      <p:grpSpPr>
        <a:xfrm>
          <a:off x="0" y="0"/>
          <a:ext cx="0" cy="0"/>
          <a:chOff x="0" y="0"/>
          <a:chExt cx="0" cy="0"/>
        </a:xfrm>
      </p:grpSpPr>
      <p:sp>
        <p:nvSpPr>
          <p:cNvPr id="130" name="Google Shape;130;p15"/>
          <p:cNvSpPr txBox="1">
            <a:spLocks noGrp="1"/>
          </p:cNvSpPr>
          <p:nvPr>
            <p:ph type="title"/>
          </p:nvPr>
        </p:nvSpPr>
        <p:spPr>
          <a:xfrm>
            <a:off x="609600" y="264467"/>
            <a:ext cx="114760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Setting the mining difficulty</a:t>
            </a:r>
            <a:endParaRPr/>
          </a:p>
        </p:txBody>
      </p:sp>
      <p:sp>
        <p:nvSpPr>
          <p:cNvPr id="131" name="Google Shape;131;p15"/>
          <p:cNvSpPr txBox="1">
            <a:spLocks noGrp="1"/>
          </p:cNvSpPr>
          <p:nvPr>
            <p:ph type="body" idx="1"/>
          </p:nvPr>
        </p:nvSpPr>
        <p:spPr>
          <a:xfrm>
            <a:off x="100600" y="2627233"/>
            <a:ext cx="12091600" cy="47424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sz="2667" b="1" smtClean="0">
                <a:latin typeface="Courier New"/>
                <a:ea typeface="Courier New"/>
                <a:cs typeface="Courier New"/>
                <a:sym typeface="Courier New"/>
              </a:rPr>
              <a:t>New_difficulty</a:t>
            </a:r>
            <a:r>
              <a:rPr lang="en" sz="2667" b="1" dirty="0">
                <a:latin typeface="Courier New"/>
                <a:ea typeface="Courier New"/>
                <a:cs typeface="Courier New"/>
                <a:sym typeface="Courier New"/>
              </a:rPr>
              <a:t>= previous_difficulty </a:t>
            </a:r>
            <a:r>
              <a:rPr lang="en" sz="2667" b="1">
                <a:latin typeface="Courier New"/>
                <a:ea typeface="Courier New"/>
                <a:cs typeface="Courier New"/>
                <a:sym typeface="Courier New"/>
              </a:rPr>
              <a:t>* </a:t>
            </a:r>
            <a:r>
              <a:rPr lang="en" sz="2667" b="1" smtClean="0">
                <a:latin typeface="Courier New"/>
                <a:ea typeface="Courier New"/>
                <a:cs typeface="Courier New"/>
                <a:sym typeface="Courier New"/>
              </a:rPr>
              <a:t>(t/2 weeks)</a:t>
            </a:r>
          </a:p>
          <a:p>
            <a:pPr marL="0" indent="0">
              <a:buNone/>
            </a:pPr>
            <a:r>
              <a:rPr lang="en" sz="2667" b="1" smtClean="0">
                <a:latin typeface="Courier New"/>
                <a:ea typeface="Courier New"/>
                <a:cs typeface="Courier New"/>
                <a:sym typeface="Courier New"/>
              </a:rPr>
              <a:t>New_difficulty</a:t>
            </a:r>
            <a:r>
              <a:rPr lang="en" sz="2667" b="1">
                <a:latin typeface="Courier New"/>
                <a:ea typeface="Courier New"/>
                <a:cs typeface="Courier New"/>
                <a:sym typeface="Courier New"/>
              </a:rPr>
              <a:t>= previous_difficulty *</a:t>
            </a:r>
            <a:r>
              <a:rPr lang="en" sz="2667" b="1" smtClean="0">
                <a:latin typeface="Courier New"/>
                <a:ea typeface="Courier New"/>
                <a:cs typeface="Courier New"/>
                <a:sym typeface="Courier New"/>
              </a:rPr>
              <a:t>(</a:t>
            </a:r>
            <a:r>
              <a:rPr lang="en" sz="2667" b="1" dirty="0">
                <a:latin typeface="Courier New"/>
                <a:ea typeface="Courier New"/>
                <a:cs typeface="Courier New"/>
                <a:sym typeface="Courier New"/>
              </a:rPr>
              <a:t>time to </a:t>
            </a:r>
            <a:r>
              <a:rPr lang="en" sz="2667" b="1">
                <a:latin typeface="Courier New"/>
                <a:ea typeface="Courier New"/>
                <a:cs typeface="Courier New"/>
                <a:sym typeface="Courier New"/>
              </a:rPr>
              <a:t>mine </a:t>
            </a:r>
            <a:r>
              <a:rPr lang="en" sz="2667" b="1" smtClean="0">
                <a:latin typeface="Courier New"/>
                <a:ea typeface="Courier New"/>
                <a:cs typeface="Courier New"/>
                <a:sym typeface="Courier New"/>
              </a:rPr>
              <a:t>last</a:t>
            </a:r>
          </a:p>
          <a:p>
            <a:pPr marL="0" indent="0">
              <a:buNone/>
            </a:pPr>
            <a:r>
              <a:rPr lang="en" sz="2667" b="1">
                <a:latin typeface="Courier New"/>
                <a:ea typeface="Courier New"/>
                <a:cs typeface="Courier New"/>
                <a:sym typeface="Courier New"/>
              </a:rPr>
              <a:t> </a:t>
            </a:r>
            <a:r>
              <a:rPr lang="en" sz="2667" b="1" smtClean="0">
                <a:latin typeface="Courier New"/>
                <a:ea typeface="Courier New"/>
                <a:cs typeface="Courier New"/>
                <a:sym typeface="Courier New"/>
              </a:rPr>
              <a:t>               2016 blocks/12,09,600 seconds)</a:t>
            </a:r>
            <a:endParaRPr sz="2667" b="1" dirty="0">
              <a:latin typeface="Courier New"/>
              <a:ea typeface="Courier New"/>
              <a:cs typeface="Courier New"/>
              <a:sym typeface="Courier New"/>
            </a:endParaRPr>
          </a:p>
          <a:p>
            <a:pPr marL="0" indent="0">
              <a:buNone/>
            </a:pPr>
            <a:r>
              <a:rPr lang="en" dirty="0"/>
              <a:t> </a:t>
            </a:r>
            <a:endParaRPr dirty="0"/>
          </a:p>
        </p:txBody>
      </p:sp>
      <p:sp>
        <p:nvSpPr>
          <p:cNvPr id="132" name="Google Shape;132;p15"/>
          <p:cNvSpPr txBox="1"/>
          <p:nvPr/>
        </p:nvSpPr>
        <p:spPr>
          <a:xfrm>
            <a:off x="4194233" y="4873600"/>
            <a:ext cx="6990000" cy="596000"/>
          </a:xfrm>
          <a:prstGeom prst="rect">
            <a:avLst/>
          </a:prstGeom>
          <a:solidFill>
            <a:srgbClr val="B6D7A8"/>
          </a:solidFill>
          <a:ln>
            <a:noFill/>
          </a:ln>
        </p:spPr>
        <p:txBody>
          <a:bodyPr spcFirstLastPara="1" wrap="square" lIns="121900" tIns="121900" rIns="121900" bIns="121900" anchor="t" anchorCtr="0">
            <a:noAutofit/>
          </a:bodyPr>
          <a:lstStyle/>
          <a:p>
            <a:r>
              <a:rPr lang="en" sz="2400">
                <a:latin typeface="Trebuchet MS"/>
                <a:ea typeface="Trebuchet MS"/>
                <a:cs typeface="Trebuchet MS"/>
                <a:sym typeface="Trebuchet MS"/>
              </a:rPr>
              <a:t>Expected number of blocks in 2 weeks at 10 minutes/block</a:t>
            </a:r>
            <a:endParaRPr sz="2400">
              <a:latin typeface="Trebuchet MS"/>
              <a:ea typeface="Trebuchet MS"/>
              <a:cs typeface="Trebuchet MS"/>
              <a:sym typeface="Trebuchet MS"/>
            </a:endParaRPr>
          </a:p>
        </p:txBody>
      </p:sp>
      <p:cxnSp>
        <p:nvCxnSpPr>
          <p:cNvPr id="133" name="Google Shape;133;p15"/>
          <p:cNvCxnSpPr/>
          <p:nvPr/>
        </p:nvCxnSpPr>
        <p:spPr>
          <a:xfrm rot="10800000" flipH="1">
            <a:off x="8865800" y="3913767"/>
            <a:ext cx="1240800" cy="762800"/>
          </a:xfrm>
          <a:prstGeom prst="straightConnector1">
            <a:avLst/>
          </a:prstGeom>
          <a:noFill/>
          <a:ln w="19050" cap="flat" cmpd="sng">
            <a:solidFill>
              <a:srgbClr val="38761D"/>
            </a:solidFill>
            <a:prstDash val="solid"/>
            <a:round/>
            <a:headEnd type="none" w="med" len="med"/>
            <a:tailEnd type="triangle" w="med" len="med"/>
          </a:ln>
        </p:spPr>
      </p:cxnSp>
      <p:sp>
        <p:nvSpPr>
          <p:cNvPr id="134" name="Google Shape;134;p15"/>
          <p:cNvSpPr txBox="1">
            <a:spLocks noGrp="1"/>
          </p:cNvSpPr>
          <p:nvPr>
            <p:ph type="body" idx="1"/>
          </p:nvPr>
        </p:nvSpPr>
        <p:spPr>
          <a:xfrm>
            <a:off x="276500" y="1569533"/>
            <a:ext cx="11959200" cy="8780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b="1"/>
              <a:t>Every two weeks, compute:</a:t>
            </a:r>
            <a:r>
              <a:rPr lang="en"/>
              <a:t> </a:t>
            </a:r>
            <a:endParaRPr/>
          </a:p>
        </p:txBody>
      </p:sp>
    </p:spTree>
    <p:extLst>
      <p:ext uri="{BB962C8B-B14F-4D97-AF65-F5344CB8AC3E}">
        <p14:creationId xmlns:p14="http://schemas.microsoft.com/office/powerpoint/2010/main" val="23413482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1000"/>
                                        <p:tgtEl>
                                          <p:spTgt spid="132"/>
                                        </p:tgtEl>
                                      </p:cBhvr>
                                    </p:animEffect>
                                  </p:childTnLst>
                                </p:cTn>
                              </p:par>
                              <p:par>
                                <p:cTn id="8" presetID="10" presetClass="entr" presetSubtype="0" fill="hold" nodeType="withEffect">
                                  <p:stCondLst>
                                    <p:cond delay="0"/>
                                  </p:stCondLst>
                                  <p:childTnLst>
                                    <p:set>
                                      <p:cBhvr>
                                        <p:cTn id="9" dur="1" fill="hold">
                                          <p:stCondLst>
                                            <p:cond delay="0"/>
                                          </p:stCondLst>
                                        </p:cTn>
                                        <p:tgtEl>
                                          <p:spTgt spid="133"/>
                                        </p:tgtEl>
                                        <p:attrNameLst>
                                          <p:attrName>style.visibility</p:attrName>
                                        </p:attrNameLst>
                                      </p:cBhvr>
                                      <p:to>
                                        <p:strVal val="visible"/>
                                      </p:to>
                                    </p:set>
                                    <p:animEffect transition="in" filter="fade">
                                      <p:cBhvr>
                                        <p:cTn id="10" dur="10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a:xfrm>
            <a:off x="609600" y="1676400"/>
            <a:ext cx="10972800" cy="4967575"/>
          </a:xfrm>
        </p:spPr>
        <p:txBody>
          <a:bodyPr/>
          <a:lstStyle/>
          <a:p>
            <a:pPr marL="50799" indent="0">
              <a:buNone/>
            </a:pPr>
            <a:r>
              <a:rPr lang="en" sz="3200" dirty="0"/>
              <a:t>Mining difficulty over </a:t>
            </a:r>
            <a:r>
              <a:rPr lang="en" sz="3200" dirty="0" smtClean="0"/>
              <a:t>time</a:t>
            </a:r>
          </a:p>
          <a:p>
            <a:pPr marL="50799" indent="0">
              <a:buNone/>
            </a:pPr>
            <a:endParaRPr lang="en" sz="3200" dirty="0"/>
          </a:p>
          <a:p>
            <a:pPr marL="50799" indent="0">
              <a:buNone/>
            </a:pPr>
            <a:endParaRPr lang="en" sz="3200" dirty="0" smtClean="0"/>
          </a:p>
          <a:p>
            <a:pPr marL="50799" indent="0">
              <a:buNone/>
            </a:pPr>
            <a:endParaRPr lang="en" sz="3200" dirty="0"/>
          </a:p>
          <a:p>
            <a:pPr marL="50799" indent="0">
              <a:buNone/>
            </a:pPr>
            <a:endParaRPr lang="en" sz="3200" dirty="0" smtClean="0"/>
          </a:p>
          <a:p>
            <a:pPr marL="50799" indent="0">
              <a:buNone/>
            </a:pPr>
            <a:endParaRPr lang="en" sz="3200" dirty="0"/>
          </a:p>
          <a:p>
            <a:pPr marL="50799" indent="0">
              <a:buNone/>
            </a:pPr>
            <a:endParaRPr lang="en" sz="3200" dirty="0" smtClean="0"/>
          </a:p>
          <a:p>
            <a:pPr marL="50799" indent="0">
              <a:buNone/>
            </a:pPr>
            <a:endParaRPr lang="en" sz="3200" dirty="0"/>
          </a:p>
          <a:p>
            <a:pPr marL="50799" indent="0">
              <a:buNone/>
            </a:pPr>
            <a:r>
              <a:rPr lang="en" sz="3200" dirty="0" smtClean="0">
                <a:hlinkClick r:id="rId2"/>
              </a:rPr>
              <a:t>https://www.blockchain.com/charts/difficulty</a:t>
            </a:r>
            <a:endParaRPr lang="en" sz="3200" dirty="0" smtClean="0"/>
          </a:p>
          <a:p>
            <a:pPr marL="50799" indent="0">
              <a:buNone/>
            </a:pPr>
            <a:endParaRPr lang="en-IN" sz="3200" dirty="0"/>
          </a:p>
        </p:txBody>
      </p:sp>
      <p:pic>
        <p:nvPicPr>
          <p:cNvPr id="4" name="Picture 3"/>
          <p:cNvPicPr>
            <a:picLocks noChangeAspect="1"/>
          </p:cNvPicPr>
          <p:nvPr/>
        </p:nvPicPr>
        <p:blipFill>
          <a:blip r:embed="rId3"/>
          <a:stretch>
            <a:fillRect/>
          </a:stretch>
        </p:blipFill>
        <p:spPr>
          <a:xfrm>
            <a:off x="1524001" y="2333625"/>
            <a:ext cx="7772400" cy="3000375"/>
          </a:xfrm>
          <a:prstGeom prst="rect">
            <a:avLst/>
          </a:prstGeom>
        </p:spPr>
      </p:pic>
    </p:spTree>
    <p:extLst>
      <p:ext uri="{BB962C8B-B14F-4D97-AF65-F5344CB8AC3E}">
        <p14:creationId xmlns:p14="http://schemas.microsoft.com/office/powerpoint/2010/main" val="22735841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81000"/>
            <a:ext cx="10515600" cy="5570538"/>
          </a:xfrm>
        </p:spPr>
        <p:txBody>
          <a:bodyPr>
            <a:normAutofit/>
          </a:bodyPr>
          <a:lstStyle/>
          <a:p>
            <a:r>
              <a:rPr lang="en" sz="2400" dirty="0"/>
              <a:t>Time to find a </a:t>
            </a:r>
            <a:r>
              <a:rPr lang="en" sz="2400" dirty="0" smtClean="0"/>
              <a:t>block</a:t>
            </a:r>
          </a:p>
          <a:p>
            <a:pPr marL="0" indent="0">
              <a:buNone/>
            </a:pPr>
            <a:r>
              <a:rPr lang="en" sz="2400" dirty="0"/>
              <a:t> </a:t>
            </a:r>
            <a:r>
              <a:rPr lang="en" sz="2400" dirty="0" smtClean="0"/>
              <a:t>  </a:t>
            </a:r>
            <a:r>
              <a:rPr lang="en-IN" sz="2400" dirty="0">
                <a:hlinkClick r:id="rId2"/>
              </a:rPr>
              <a:t>https://</a:t>
            </a:r>
            <a:r>
              <a:rPr lang="en-IN" sz="2400" dirty="0" smtClean="0">
                <a:hlinkClick r:id="rId2"/>
              </a:rPr>
              <a:t>bitinfocharts.com/comparison/bitcoin-confirmationtime.html?utm_source=chatgpt.com#3y</a:t>
            </a:r>
            <a:endParaRPr lang="en-IN" sz="2400" dirty="0" smtClean="0"/>
          </a:p>
          <a:p>
            <a:r>
              <a:rPr lang="en-IN" sz="2400" dirty="0" smtClean="0"/>
              <a:t>To find Bitcoin </a:t>
            </a:r>
            <a:r>
              <a:rPr lang="en-IN" sz="2400" dirty="0" err="1" smtClean="0"/>
              <a:t>Netwrok</a:t>
            </a:r>
            <a:r>
              <a:rPr lang="en-IN" sz="2400" dirty="0" smtClean="0"/>
              <a:t> </a:t>
            </a:r>
            <a:r>
              <a:rPr lang="en-IN" sz="2400" dirty="0" err="1" smtClean="0"/>
              <a:t>hashrate</a:t>
            </a:r>
            <a:r>
              <a:rPr lang="en-IN" sz="2400" dirty="0"/>
              <a:t> </a:t>
            </a:r>
            <a:br>
              <a:rPr lang="en-IN" sz="2400" dirty="0"/>
            </a:br>
            <a:r>
              <a:rPr lang="en-IN" sz="2400" dirty="0">
                <a:hlinkClick r:id="rId3"/>
              </a:rPr>
              <a:t>https://</a:t>
            </a:r>
            <a:r>
              <a:rPr lang="en-IN" sz="2400" dirty="0" smtClean="0">
                <a:hlinkClick r:id="rId3"/>
              </a:rPr>
              <a:t>ycharts.com/indicators/bitcoin_network_hash_rate?utm_source=chatgpt.com</a:t>
            </a:r>
            <a:endParaRPr lang="en-IN" sz="2400" dirty="0" smtClean="0"/>
          </a:p>
          <a:p>
            <a:r>
              <a:rPr lang="en-IN" sz="2400" dirty="0" smtClean="0"/>
              <a:t>Bitcoin </a:t>
            </a:r>
            <a:r>
              <a:rPr lang="en-IN" sz="2400" dirty="0"/>
              <a:t>Average Confirmation Time </a:t>
            </a:r>
            <a:endParaRPr lang="en-IN" sz="2400" dirty="0" smtClean="0"/>
          </a:p>
          <a:p>
            <a:pPr marL="0" indent="0">
              <a:buNone/>
            </a:pPr>
            <a:r>
              <a:rPr lang="en-IN" sz="2400" b="1" dirty="0">
                <a:hlinkClick r:id="rId4"/>
              </a:rPr>
              <a:t>https://</a:t>
            </a:r>
            <a:r>
              <a:rPr lang="en-IN" sz="2400" b="1" dirty="0" smtClean="0">
                <a:hlinkClick r:id="rId4"/>
              </a:rPr>
              <a:t>ycharts.com/indicators/bitcoin_average_confirmation_time?utm_source=chatgpt.com</a:t>
            </a:r>
            <a:endParaRPr lang="en-IN" sz="2400" b="1" dirty="0" smtClean="0"/>
          </a:p>
          <a:p>
            <a:r>
              <a:rPr lang="en-IN" sz="2400" dirty="0" smtClean="0"/>
              <a:t>T</a:t>
            </a:r>
            <a:r>
              <a:rPr lang="en" sz="2400" dirty="0" smtClean="0"/>
              <a:t>o find Hash rate:</a:t>
            </a:r>
          </a:p>
          <a:p>
            <a:pPr marL="0" indent="0">
              <a:buNone/>
            </a:pPr>
            <a:r>
              <a:rPr lang="en-IN" sz="2400" dirty="0">
                <a:hlinkClick r:id="rId5"/>
              </a:rPr>
              <a:t>https://</a:t>
            </a:r>
            <a:r>
              <a:rPr lang="en-IN" sz="2400" dirty="0" smtClean="0">
                <a:hlinkClick r:id="rId5"/>
              </a:rPr>
              <a:t>www.blockchain.com/explorer/charts/hash-rate?utm_source=chatgpt.com</a:t>
            </a:r>
            <a:endParaRPr lang="en-IN" sz="2400" dirty="0" smtClean="0"/>
          </a:p>
          <a:p>
            <a:pPr marL="0" indent="0">
              <a:buNone/>
            </a:pPr>
            <a:r>
              <a:rPr lang="en-IN" sz="2400" dirty="0" smtClean="0"/>
              <a:t>To find difficult</a:t>
            </a:r>
          </a:p>
          <a:p>
            <a:pPr marL="0" indent="0">
              <a:buNone/>
            </a:pPr>
            <a:r>
              <a:rPr lang="en-IN" sz="2400" dirty="0">
                <a:hlinkClick r:id="rId6"/>
              </a:rPr>
              <a:t>https://</a:t>
            </a:r>
            <a:r>
              <a:rPr lang="en-IN" sz="2400" dirty="0" smtClean="0">
                <a:hlinkClick r:id="rId6"/>
              </a:rPr>
              <a:t>www.blockchain.com/explorer/charts/difficulty</a:t>
            </a:r>
            <a:endParaRPr lang="en-IN" sz="2400" dirty="0" smtClean="0"/>
          </a:p>
          <a:p>
            <a:pPr marL="0" indent="0">
              <a:buNone/>
            </a:pPr>
            <a:endParaRPr lang="en-IN" sz="2400" dirty="0" smtClean="0"/>
          </a:p>
          <a:p>
            <a:pPr marL="0" indent="0">
              <a:buNone/>
            </a:pPr>
            <a:endParaRPr lang="en-IN" sz="2400" dirty="0" smtClean="0"/>
          </a:p>
          <a:p>
            <a:pPr marL="0" indent="0">
              <a:buNone/>
            </a:pPr>
            <a:endParaRPr lang="en-IN" dirty="0" smtClean="0"/>
          </a:p>
          <a:p>
            <a:pPr marL="0" indent="0">
              <a:buNone/>
            </a:pPr>
            <a:endParaRPr lang="en" dirty="0" smtClean="0"/>
          </a:p>
          <a:p>
            <a:pPr marL="0" indent="0">
              <a:buNone/>
            </a:pPr>
            <a:endParaRPr lang="en" dirty="0" smtClean="0"/>
          </a:p>
          <a:p>
            <a:pPr marL="0" indent="0">
              <a:buNone/>
            </a:pPr>
            <a:endParaRPr lang="en-IN" dirty="0"/>
          </a:p>
        </p:txBody>
      </p:sp>
    </p:spTree>
    <p:extLst>
      <p:ext uri="{BB962C8B-B14F-4D97-AF65-F5344CB8AC3E}">
        <p14:creationId xmlns:p14="http://schemas.microsoft.com/office/powerpoint/2010/main" val="1372171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457200"/>
            <a:ext cx="10515600" cy="5719763"/>
          </a:xfrm>
        </p:spPr>
        <p:txBody>
          <a:bodyPr>
            <a:normAutofit lnSpcReduction="10000"/>
          </a:bodyPr>
          <a:lstStyle/>
          <a:p>
            <a:pPr marL="0" indent="0">
              <a:buNone/>
            </a:pPr>
            <a:r>
              <a:rPr lang="en-IN" dirty="0" smtClean="0"/>
              <a:t>Hash </a:t>
            </a:r>
            <a:r>
              <a:rPr lang="en-IN" dirty="0"/>
              <a:t>Rate = (Blocks Found / Blocks Expected) * </a:t>
            </a:r>
            <a:r>
              <a:rPr lang="en-IN" dirty="0" smtClean="0"/>
              <a:t>(current Difficulty </a:t>
            </a:r>
            <a:r>
              <a:rPr lang="en-IN" dirty="0"/>
              <a:t>* 2^32) / </a:t>
            </a:r>
            <a:r>
              <a:rPr lang="en-IN" dirty="0" smtClean="0"/>
              <a:t>600</a:t>
            </a:r>
          </a:p>
          <a:p>
            <a:pPr marL="0" indent="0">
              <a:buNone/>
            </a:pPr>
            <a:r>
              <a:rPr lang="en-IN" i="1" dirty="0" err="1" smtClean="0"/>
              <a:t>Let’us</a:t>
            </a:r>
            <a:r>
              <a:rPr lang="en-IN" i="1" dirty="0" smtClean="0"/>
              <a:t>  </a:t>
            </a:r>
            <a:r>
              <a:rPr lang="en-IN" i="1" dirty="0" err="1" smtClean="0"/>
              <a:t>takean</a:t>
            </a:r>
            <a:r>
              <a:rPr lang="en-IN" i="1" dirty="0" smtClean="0"/>
              <a:t> </a:t>
            </a:r>
            <a:r>
              <a:rPr lang="en-IN" i="1" dirty="0"/>
              <a:t>example over a 12-hour period</a:t>
            </a:r>
            <a:r>
              <a:rPr lang="en-IN" dirty="0"/>
              <a:t>. </a:t>
            </a:r>
            <a:endParaRPr lang="en-IN" dirty="0" smtClean="0"/>
          </a:p>
          <a:p>
            <a:pPr marL="0" indent="0">
              <a:buNone/>
            </a:pPr>
            <a:r>
              <a:rPr lang="en-IN" dirty="0" smtClean="0"/>
              <a:t>In </a:t>
            </a:r>
            <a:r>
              <a:rPr lang="en-IN" dirty="0"/>
              <a:t>12 hours we would expect 72 blocks to be found at a rate of one every ten minutes, but only 65 are found. And, the current difficulty is </a:t>
            </a:r>
            <a:r>
              <a:rPr lang="en-IN" dirty="0" smtClean="0"/>
              <a:t>24,272,331,996,979</a:t>
            </a:r>
            <a:r>
              <a:rPr lang="en-IN" dirty="0"/>
              <a:t>. So, </a:t>
            </a:r>
            <a:endParaRPr lang="en-IN" dirty="0" smtClean="0"/>
          </a:p>
          <a:p>
            <a:pPr marL="0" indent="0">
              <a:buNone/>
            </a:pPr>
            <a:r>
              <a:rPr lang="en-IN" dirty="0"/>
              <a:t>Hash Rate = (65/72) * (24,272,331,996,979 * 2^32) / 600 = </a:t>
            </a:r>
          </a:p>
          <a:p>
            <a:pPr marL="0" indent="0">
              <a:buNone/>
            </a:pPr>
            <a:endParaRPr lang="en-IN" dirty="0"/>
          </a:p>
          <a:p>
            <a:pPr marL="0" indent="0">
              <a:buNone/>
            </a:pPr>
            <a:r>
              <a:rPr lang="en-IN" dirty="0"/>
              <a:t>0.90 * </a:t>
            </a:r>
            <a:r>
              <a:rPr lang="en-IN" dirty="0" smtClean="0"/>
              <a:t>104,248,870,000,000,000,000,000 </a:t>
            </a:r>
            <a:r>
              <a:rPr lang="en-IN" dirty="0"/>
              <a:t>/ 600 = </a:t>
            </a:r>
            <a:r>
              <a:rPr lang="en-IN" b="1" dirty="0" smtClean="0"/>
              <a:t>1.5685594e+20 H/s</a:t>
            </a:r>
          </a:p>
          <a:p>
            <a:pPr marL="0" indent="0">
              <a:buNone/>
            </a:pPr>
            <a:r>
              <a:rPr lang="en-IN" dirty="0"/>
              <a:t>And we convert units, </a:t>
            </a:r>
          </a:p>
          <a:p>
            <a:pPr marL="0" indent="0">
              <a:buNone/>
            </a:pPr>
            <a:r>
              <a:rPr lang="en-IN" dirty="0"/>
              <a:t>156,855,940,000,000,000,000 H/s / 1,000,000,000,000,000,000 H/s = </a:t>
            </a:r>
          </a:p>
          <a:p>
            <a:pPr marL="0" indent="0">
              <a:buNone/>
            </a:pPr>
            <a:endParaRPr lang="en-IN" dirty="0"/>
          </a:p>
          <a:p>
            <a:pPr marL="0" indent="0">
              <a:buNone/>
            </a:pPr>
            <a:r>
              <a:rPr lang="en-IN" dirty="0"/>
              <a:t>12h Hash Rate = </a:t>
            </a:r>
            <a:r>
              <a:rPr lang="en-IN" b="1" dirty="0"/>
              <a:t>157 EH/s</a:t>
            </a:r>
          </a:p>
        </p:txBody>
      </p:sp>
    </p:spTree>
    <p:extLst>
      <p:ext uri="{BB962C8B-B14F-4D97-AF65-F5344CB8AC3E}">
        <p14:creationId xmlns:p14="http://schemas.microsoft.com/office/powerpoint/2010/main" val="922450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anim calcmode="lin" valueType="num">
                                      <p:cBhvr additive="base">
                                        <p:cTn id="3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i="1" dirty="0" smtClean="0"/>
              <a:t>Summary:</a:t>
            </a:r>
            <a:endParaRPr lang="en-IN" sz="2800" b="1" i="1" dirty="0"/>
          </a:p>
        </p:txBody>
      </p:sp>
      <p:sp>
        <p:nvSpPr>
          <p:cNvPr id="3" name="Content Placeholder 2"/>
          <p:cNvSpPr>
            <a:spLocks noGrp="1"/>
          </p:cNvSpPr>
          <p:nvPr>
            <p:ph idx="1"/>
          </p:nvPr>
        </p:nvSpPr>
        <p:spPr>
          <a:xfrm>
            <a:off x="838200" y="1219200"/>
            <a:ext cx="10515600" cy="4957763"/>
          </a:xfrm>
        </p:spPr>
        <p:txBody>
          <a:bodyPr>
            <a:normAutofit lnSpcReduction="10000"/>
          </a:bodyPr>
          <a:lstStyle/>
          <a:p>
            <a:pPr marL="0" indent="0">
              <a:buNone/>
            </a:pPr>
            <a:r>
              <a:rPr lang="en-IN" b="1" dirty="0"/>
              <a:t>What is the difficulty?</a:t>
            </a:r>
          </a:p>
          <a:p>
            <a:pPr marL="0" indent="0">
              <a:buNone/>
            </a:pPr>
            <a:r>
              <a:rPr lang="en-IN" dirty="0" smtClean="0"/>
              <a:t>The </a:t>
            </a:r>
            <a:r>
              <a:rPr lang="en-IN" dirty="0"/>
              <a:t>difficulty is a number that regulates how long it takes for miners to add new </a:t>
            </a:r>
            <a:r>
              <a:rPr lang="en-IN" dirty="0" smtClean="0"/>
              <a:t>blocks </a:t>
            </a:r>
            <a:r>
              <a:rPr lang="en-IN" dirty="0"/>
              <a:t>of transactions to the </a:t>
            </a:r>
            <a:r>
              <a:rPr lang="en-IN" dirty="0" err="1" smtClean="0"/>
              <a:t>blockchain</a:t>
            </a:r>
            <a:endParaRPr lang="en-IN" dirty="0" smtClean="0"/>
          </a:p>
          <a:p>
            <a:pPr marL="0" indent="0">
              <a:buNone/>
            </a:pPr>
            <a:r>
              <a:rPr lang="en-IN" b="1" dirty="0"/>
              <a:t>Why is the difficulty important?</a:t>
            </a:r>
          </a:p>
          <a:p>
            <a:pPr algn="just"/>
            <a:r>
              <a:rPr lang="en-IN" dirty="0"/>
              <a:t>Because it ensures that blocks of transactions are added to the </a:t>
            </a:r>
            <a:r>
              <a:rPr lang="en-IN" dirty="0" err="1"/>
              <a:t>blockchain</a:t>
            </a:r>
            <a:r>
              <a:rPr lang="en-IN" dirty="0"/>
              <a:t> at regular intervals, even as more miners join the network. </a:t>
            </a:r>
          </a:p>
          <a:p>
            <a:pPr algn="just"/>
            <a:r>
              <a:rPr lang="en-IN" dirty="0"/>
              <a:t>If the difficulty remained the same, it would take less time between adding new blocks to the </a:t>
            </a:r>
            <a:r>
              <a:rPr lang="en-IN" dirty="0" err="1"/>
              <a:t>blockchain</a:t>
            </a:r>
            <a:r>
              <a:rPr lang="en-IN" dirty="0"/>
              <a:t> as new miners join the network.</a:t>
            </a:r>
          </a:p>
          <a:p>
            <a:pPr marL="0" indent="0">
              <a:buNone/>
            </a:pPr>
            <a:r>
              <a:rPr lang="en-IN" b="1" dirty="0"/>
              <a:t>When does the difficulty change?</a:t>
            </a:r>
          </a:p>
          <a:p>
            <a:r>
              <a:rPr lang="en-IN" dirty="0"/>
              <a:t>The difficulty adjusts every 2016 blocks (roughly every 2 </a:t>
            </a:r>
            <a:r>
              <a:rPr lang="en-IN" dirty="0" smtClean="0"/>
              <a:t>weeks)</a:t>
            </a:r>
          </a:p>
          <a:p>
            <a:r>
              <a:rPr lang="en-IN" b="1" i="1" dirty="0" smtClean="0"/>
              <a:t>Network’s </a:t>
            </a:r>
            <a:r>
              <a:rPr lang="en-IN" b="1" i="1" dirty="0"/>
              <a:t>hash rate is not accurate at any given instance</a:t>
            </a:r>
            <a:endParaRPr lang="en-IN" dirty="0"/>
          </a:p>
          <a:p>
            <a:pPr marL="0" indent="0">
              <a:buNone/>
            </a:pPr>
            <a:endParaRPr lang="en-IN" dirty="0"/>
          </a:p>
        </p:txBody>
      </p:sp>
    </p:spTree>
    <p:extLst>
      <p:ext uri="{BB962C8B-B14F-4D97-AF65-F5344CB8AC3E}">
        <p14:creationId xmlns:p14="http://schemas.microsoft.com/office/powerpoint/2010/main" val="16381093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81000"/>
            <a:ext cx="10515600" cy="5795963"/>
          </a:xfrm>
        </p:spPr>
        <p:txBody>
          <a:bodyPr/>
          <a:lstStyle/>
          <a:p>
            <a:pPr marL="0" indent="0">
              <a:buNone/>
            </a:pPr>
            <a:r>
              <a:rPr lang="en-IN" dirty="0" smtClean="0"/>
              <a:t>How </a:t>
            </a:r>
            <a:r>
              <a:rPr lang="en-IN" dirty="0" err="1" smtClean="0"/>
              <a:t>PoS</a:t>
            </a:r>
            <a:r>
              <a:rPr lang="en-IN" dirty="0" smtClean="0"/>
              <a:t>(Proof of Stake) works?</a:t>
            </a:r>
          </a:p>
          <a:p>
            <a:pPr marL="0" indent="0">
              <a:buNone/>
            </a:pPr>
            <a:endParaRPr lang="en-IN" dirty="0" smtClean="0"/>
          </a:p>
          <a:p>
            <a:pPr marL="0" indent="0">
              <a:buNone/>
            </a:pPr>
            <a:endParaRPr lang="en-IN" dirty="0"/>
          </a:p>
        </p:txBody>
      </p:sp>
      <p:pic>
        <p:nvPicPr>
          <p:cNvPr id="4" name="Picture 3"/>
          <p:cNvPicPr>
            <a:picLocks noChangeAspect="1"/>
          </p:cNvPicPr>
          <p:nvPr/>
        </p:nvPicPr>
        <p:blipFill>
          <a:blip r:embed="rId2"/>
          <a:stretch>
            <a:fillRect/>
          </a:stretch>
        </p:blipFill>
        <p:spPr>
          <a:xfrm>
            <a:off x="838200" y="1295400"/>
            <a:ext cx="8915400" cy="3962400"/>
          </a:xfrm>
          <a:prstGeom prst="rect">
            <a:avLst/>
          </a:prstGeom>
        </p:spPr>
      </p:pic>
    </p:spTree>
    <p:extLst>
      <p:ext uri="{BB962C8B-B14F-4D97-AF65-F5344CB8AC3E}">
        <p14:creationId xmlns:p14="http://schemas.microsoft.com/office/powerpoint/2010/main" val="30231204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lvl="0" indent="0">
              <a:buNone/>
            </a:pPr>
            <a:endParaRPr lang="en-IN" dirty="0" smtClean="0"/>
          </a:p>
          <a:p>
            <a:pPr marL="50799" lvl="0" indent="0">
              <a:buNone/>
            </a:pPr>
            <a:endParaRPr lang="en-IN" dirty="0" smtClean="0"/>
          </a:p>
          <a:p>
            <a:pPr marL="50799" lvl="0" indent="0">
              <a:buNone/>
            </a:pPr>
            <a:endParaRPr lang="en-IN" dirty="0" smtClean="0"/>
          </a:p>
          <a:p>
            <a:pPr marL="50799" lvl="0" indent="0" algn="ctr">
              <a:buNone/>
            </a:pPr>
            <a:r>
              <a:rPr lang="en-IN" b="1" dirty="0" smtClean="0"/>
              <a:t>Energy </a:t>
            </a:r>
            <a:r>
              <a:rPr lang="en-IN" b="1" dirty="0"/>
              <a:t>consumption &amp; ecology</a:t>
            </a:r>
          </a:p>
          <a:p>
            <a:pPr marL="50799" indent="0">
              <a:buNone/>
            </a:pPr>
            <a:endParaRPr lang="en-IN" dirty="0"/>
          </a:p>
        </p:txBody>
      </p:sp>
    </p:spTree>
    <p:extLst>
      <p:ext uri="{BB962C8B-B14F-4D97-AF65-F5344CB8AC3E}">
        <p14:creationId xmlns:p14="http://schemas.microsoft.com/office/powerpoint/2010/main" val="342854368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9"/>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a:t>Thermodynamic limits</a:t>
            </a:r>
            <a:endParaRPr/>
          </a:p>
        </p:txBody>
      </p:sp>
      <p:sp>
        <p:nvSpPr>
          <p:cNvPr id="331" name="Google Shape;331;p39"/>
          <p:cNvSpPr txBox="1">
            <a:spLocks noGrp="1"/>
          </p:cNvSpPr>
          <p:nvPr>
            <p:ph type="body" idx="1"/>
          </p:nvPr>
        </p:nvSpPr>
        <p:spPr>
          <a:xfrm>
            <a:off x="2693567" y="4076600"/>
            <a:ext cx="6162000" cy="992000"/>
          </a:xfrm>
          <a:prstGeom prst="rect">
            <a:avLst/>
          </a:prstGeom>
        </p:spPr>
        <p:txBody>
          <a:bodyPr spcFirstLastPara="1" vert="horz" wrap="square" lIns="121900" tIns="121900" rIns="121900" bIns="121900" numCol="1" anchor="t" anchorCtr="0" compatLnSpc="1">
            <a:prstTxWarp prst="textNoShape">
              <a:avLst/>
            </a:prstTxWarp>
            <a:noAutofit/>
          </a:bodyPr>
          <a:lstStyle/>
          <a:p>
            <a:pPr marL="0" indent="0">
              <a:buNone/>
            </a:pPr>
            <a:r>
              <a:rPr lang="en"/>
              <a:t>SHA-256 is not reversible</a:t>
            </a:r>
            <a:endParaRPr/>
          </a:p>
        </p:txBody>
      </p:sp>
      <p:sp>
        <p:nvSpPr>
          <p:cNvPr id="332" name="Google Shape;332;p39"/>
          <p:cNvSpPr/>
          <p:nvPr/>
        </p:nvSpPr>
        <p:spPr>
          <a:xfrm>
            <a:off x="771700" y="1676867"/>
            <a:ext cx="10890400" cy="2023600"/>
          </a:xfrm>
          <a:prstGeom prst="roundRect">
            <a:avLst>
              <a:gd name="adj" fmla="val 16667"/>
            </a:avLst>
          </a:prstGeom>
          <a:solidFill>
            <a:srgbClr val="93C47D"/>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r>
              <a:rPr lang="en" sz="3200" b="1"/>
              <a:t>Landauer’s principle:</a:t>
            </a:r>
            <a:r>
              <a:rPr lang="en" sz="3200"/>
              <a:t> Any non-reversible computation must consume a minimum amount of energy. </a:t>
            </a:r>
            <a:endParaRPr sz="3200"/>
          </a:p>
          <a:p>
            <a:endParaRPr sz="3200"/>
          </a:p>
          <a:p>
            <a:r>
              <a:rPr lang="en" sz="3200"/>
              <a:t>Specifically, each bit changed requires (</a:t>
            </a:r>
            <a:r>
              <a:rPr lang="en" sz="3200" i="1"/>
              <a:t>kT </a:t>
            </a:r>
            <a:r>
              <a:rPr lang="en" sz="3200"/>
              <a:t>ln 2) joules</a:t>
            </a:r>
            <a:endParaRPr sz="3200"/>
          </a:p>
        </p:txBody>
      </p:sp>
      <p:sp>
        <p:nvSpPr>
          <p:cNvPr id="333" name="Google Shape;333;p39"/>
          <p:cNvSpPr/>
          <p:nvPr/>
        </p:nvSpPr>
        <p:spPr>
          <a:xfrm>
            <a:off x="1967400" y="5502300"/>
            <a:ext cx="8257200" cy="992000"/>
          </a:xfrm>
          <a:prstGeom prst="roundRect">
            <a:avLst>
              <a:gd name="adj" fmla="val 16667"/>
            </a:avLst>
          </a:prstGeom>
          <a:solidFill>
            <a:srgbClr val="EA9999"/>
          </a:solidFill>
          <a:ln w="19050"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en" sz="3200" b="1"/>
              <a:t>Energy consumption is inevitable</a:t>
            </a:r>
            <a:endParaRPr sz="3200"/>
          </a:p>
        </p:txBody>
      </p:sp>
    </p:spTree>
    <p:extLst>
      <p:ext uri="{BB962C8B-B14F-4D97-AF65-F5344CB8AC3E}">
        <p14:creationId xmlns:p14="http://schemas.microsoft.com/office/powerpoint/2010/main" val="20283950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Effect transition="in" filter="fade">
                                      <p:cBhvr>
                                        <p:cTn id="7" dur="1000"/>
                                        <p:tgtEl>
                                          <p:spTgt spid="3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3"/>
                                        </p:tgtEl>
                                        <p:attrNameLst>
                                          <p:attrName>style.visibility</p:attrName>
                                        </p:attrNameLst>
                                      </p:cBhvr>
                                      <p:to>
                                        <p:strVal val="visible"/>
                                      </p:to>
                                    </p:set>
                                    <p:animEffect transition="in" filter="fade">
                                      <p:cBhvr>
                                        <p:cTn id="12" dur="1000"/>
                                        <p:tgtEl>
                                          <p:spTgt spid="3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40"/>
          <p:cNvSpPr txBox="1">
            <a:spLocks noGrp="1"/>
          </p:cNvSpPr>
          <p:nvPr>
            <p:ph type="title"/>
          </p:nvPr>
        </p:nvSpPr>
        <p:spPr>
          <a:xfrm>
            <a:off x="609600" y="274637"/>
            <a:ext cx="10972800" cy="1143200"/>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IN" sz="4000" dirty="0"/>
              <a:t>Why does Bitcoin mining require energy?</a:t>
            </a:r>
            <a:br>
              <a:rPr lang="en-IN" sz="4000" dirty="0"/>
            </a:br>
            <a:r>
              <a:rPr lang="en" sz="4000" dirty="0" smtClean="0"/>
              <a:t>Energy </a:t>
            </a:r>
            <a:r>
              <a:rPr lang="en" sz="4000" dirty="0"/>
              <a:t>aspects of Bitcoin mining</a:t>
            </a:r>
            <a:endParaRPr sz="4000" dirty="0"/>
          </a:p>
        </p:txBody>
      </p:sp>
      <p:sp>
        <p:nvSpPr>
          <p:cNvPr id="339" name="Google Shape;339;p40"/>
          <p:cNvSpPr txBox="1">
            <a:spLocks noGrp="1"/>
          </p:cNvSpPr>
          <p:nvPr>
            <p:ph type="body" idx="1"/>
          </p:nvPr>
        </p:nvSpPr>
        <p:spPr>
          <a:xfrm>
            <a:off x="609600" y="1471500"/>
            <a:ext cx="10972800" cy="5315600"/>
          </a:xfrm>
          <a:prstGeom prst="rect">
            <a:avLst/>
          </a:prstGeom>
        </p:spPr>
        <p:txBody>
          <a:bodyPr spcFirstLastPara="1" vert="horz" wrap="square" lIns="121900" tIns="121900" rIns="121900" bIns="121900" numCol="1" anchor="t" anchorCtr="0" compatLnSpc="1">
            <a:prstTxWarp prst="textNoShape">
              <a:avLst/>
            </a:prstTxWarp>
            <a:noAutofit/>
          </a:bodyPr>
          <a:lstStyle/>
          <a:p>
            <a:pPr>
              <a:buClr>
                <a:srgbClr val="000000"/>
              </a:buClr>
            </a:pPr>
            <a:r>
              <a:rPr lang="en" b="1">
                <a:solidFill>
                  <a:srgbClr val="000000"/>
                </a:solidFill>
              </a:rPr>
              <a:t>Embodied energy: </a:t>
            </a:r>
            <a:r>
              <a:rPr lang="en">
                <a:solidFill>
                  <a:srgbClr val="000000"/>
                </a:solidFill>
              </a:rPr>
              <a:t>used to manufacture mining chips &amp; other equipment</a:t>
            </a:r>
            <a:endParaRPr>
              <a:solidFill>
                <a:srgbClr val="000000"/>
              </a:solidFill>
            </a:endParaRPr>
          </a:p>
          <a:p>
            <a:pPr lvl="1">
              <a:buClr>
                <a:srgbClr val="000000"/>
              </a:buClr>
            </a:pPr>
            <a:r>
              <a:rPr lang="en">
                <a:solidFill>
                  <a:srgbClr val="000000"/>
                </a:solidFill>
              </a:rPr>
              <a:t>should decrease over time</a:t>
            </a:r>
            <a:endParaRPr>
              <a:solidFill>
                <a:srgbClr val="000000"/>
              </a:solidFill>
            </a:endParaRPr>
          </a:p>
          <a:p>
            <a:pPr lvl="1">
              <a:buClr>
                <a:srgbClr val="000000"/>
              </a:buClr>
            </a:pPr>
            <a:r>
              <a:rPr lang="en">
                <a:solidFill>
                  <a:srgbClr val="000000"/>
                </a:solidFill>
              </a:rPr>
              <a:t>returns to scale</a:t>
            </a:r>
            <a:endParaRPr>
              <a:solidFill>
                <a:srgbClr val="000000"/>
              </a:solidFill>
            </a:endParaRPr>
          </a:p>
          <a:p>
            <a:pPr>
              <a:spcBef>
                <a:spcPts val="0"/>
              </a:spcBef>
              <a:buClr>
                <a:srgbClr val="000000"/>
              </a:buClr>
            </a:pPr>
            <a:r>
              <a:rPr lang="en" b="1">
                <a:solidFill>
                  <a:srgbClr val="000000"/>
                </a:solidFill>
              </a:rPr>
              <a:t>Electricity: </a:t>
            </a:r>
            <a:r>
              <a:rPr lang="en">
                <a:solidFill>
                  <a:srgbClr val="000000"/>
                </a:solidFill>
              </a:rPr>
              <a:t>used to perform computation</a:t>
            </a:r>
            <a:endParaRPr>
              <a:solidFill>
                <a:srgbClr val="000000"/>
              </a:solidFill>
            </a:endParaRPr>
          </a:p>
          <a:p>
            <a:pPr lvl="1">
              <a:buClr>
                <a:srgbClr val="000000"/>
              </a:buClr>
            </a:pPr>
            <a:r>
              <a:rPr lang="en">
                <a:solidFill>
                  <a:srgbClr val="000000"/>
                </a:solidFill>
              </a:rPr>
              <a:t>should increase over time</a:t>
            </a:r>
            <a:endParaRPr>
              <a:solidFill>
                <a:srgbClr val="000000"/>
              </a:solidFill>
            </a:endParaRPr>
          </a:p>
          <a:p>
            <a:pPr lvl="1">
              <a:buClr>
                <a:srgbClr val="000000"/>
              </a:buClr>
            </a:pPr>
            <a:r>
              <a:rPr lang="en">
                <a:solidFill>
                  <a:srgbClr val="000000"/>
                </a:solidFill>
              </a:rPr>
              <a:t>returns to scale</a:t>
            </a:r>
            <a:endParaRPr>
              <a:solidFill>
                <a:srgbClr val="000000"/>
              </a:solidFill>
            </a:endParaRPr>
          </a:p>
          <a:p>
            <a:pPr>
              <a:spcBef>
                <a:spcPts val="0"/>
              </a:spcBef>
              <a:buClr>
                <a:srgbClr val="000000"/>
              </a:buClr>
            </a:pPr>
            <a:r>
              <a:rPr lang="en" b="1"/>
              <a:t>Cooling: </a:t>
            </a:r>
            <a:r>
              <a:rPr lang="en"/>
              <a:t>required to protect equipment</a:t>
            </a:r>
            <a:endParaRPr/>
          </a:p>
          <a:p>
            <a:pPr lvl="1"/>
            <a:r>
              <a:rPr lang="en"/>
              <a:t>costs more with increased scale!</a:t>
            </a:r>
            <a:endParaRPr b="1">
              <a:solidFill>
                <a:srgbClr val="000000"/>
              </a:solidFill>
            </a:endParaRPr>
          </a:p>
        </p:txBody>
      </p:sp>
    </p:spTree>
    <p:extLst>
      <p:ext uri="{BB962C8B-B14F-4D97-AF65-F5344CB8AC3E}">
        <p14:creationId xmlns:p14="http://schemas.microsoft.com/office/powerpoint/2010/main" val="2159474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r>
              <a:rPr lang="en-IN" dirty="0"/>
              <a:t>Energy consumption estimation</a:t>
            </a:r>
            <a:r>
              <a:rPr lang="en-IN" dirty="0" smtClean="0"/>
              <a:t>:</a:t>
            </a:r>
          </a:p>
          <a:p>
            <a:pPr marL="50799" indent="0">
              <a:buNone/>
            </a:pPr>
            <a:r>
              <a:rPr lang="en-IN" dirty="0" smtClean="0"/>
              <a:t>Strategy with Upper bound and Lower </a:t>
            </a:r>
            <a:r>
              <a:rPr lang="en-IN" dirty="0" err="1" smtClean="0"/>
              <a:t>bouns</a:t>
            </a:r>
            <a:r>
              <a:rPr lang="en" dirty="0"/>
              <a:t/>
            </a:r>
            <a:br>
              <a:rPr lang="en" dirty="0"/>
            </a:br>
            <a:endParaRPr lang="en-IN" dirty="0"/>
          </a:p>
        </p:txBody>
      </p:sp>
    </p:spTree>
    <p:extLst>
      <p:ext uri="{BB962C8B-B14F-4D97-AF65-F5344CB8AC3E}">
        <p14:creationId xmlns:p14="http://schemas.microsoft.com/office/powerpoint/2010/main" val="9407851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3"/>
          <p:cNvSpPr txBox="1">
            <a:spLocks noGrp="1"/>
          </p:cNvSpPr>
          <p:nvPr>
            <p:ph type="title"/>
          </p:nvPr>
        </p:nvSpPr>
        <p:spPr>
          <a:xfrm>
            <a:off x="609600" y="274637"/>
            <a:ext cx="10972800" cy="563563"/>
          </a:xfrm>
          <a:prstGeom prst="rect">
            <a:avLst/>
          </a:prstGeom>
        </p:spPr>
        <p:txBody>
          <a:bodyPr spcFirstLastPara="1" vert="horz" wrap="square" lIns="121900" tIns="121900" rIns="121900" bIns="121900" numCol="1" anchor="b" anchorCtr="0" compatLnSpc="1">
            <a:prstTxWarp prst="textNoShape">
              <a:avLst/>
            </a:prstTxWarp>
            <a:noAutofit/>
          </a:bodyPr>
          <a:lstStyle/>
          <a:p>
            <a:pPr algn="l"/>
            <a:endParaRPr dirty="0"/>
          </a:p>
        </p:txBody>
      </p:sp>
      <p:sp>
        <p:nvSpPr>
          <p:cNvPr id="359" name="Google Shape;359;p43"/>
          <p:cNvSpPr txBox="1"/>
          <p:nvPr/>
        </p:nvSpPr>
        <p:spPr>
          <a:xfrm>
            <a:off x="6172200" y="1143000"/>
            <a:ext cx="5633200" cy="914400"/>
          </a:xfrm>
          <a:prstGeom prst="rect">
            <a:avLst/>
          </a:prstGeom>
          <a:noFill/>
          <a:ln>
            <a:noFill/>
          </a:ln>
        </p:spPr>
        <p:txBody>
          <a:bodyPr spcFirstLastPara="1" wrap="square" lIns="121900" tIns="121900" rIns="121900" bIns="121900" anchor="t" anchorCtr="0">
            <a:noAutofit/>
          </a:bodyPr>
          <a:lstStyle/>
          <a:p>
            <a:r>
              <a:rPr lang="en" sz="2400" dirty="0">
                <a:latin typeface="Trebuchet MS"/>
                <a:ea typeface="Trebuchet MS"/>
                <a:cs typeface="Trebuchet MS"/>
                <a:sym typeface="Trebuchet MS"/>
              </a:rPr>
              <a:t>Three Gorges Dam = 10,000 MW</a:t>
            </a:r>
            <a:endParaRPr sz="2400" dirty="0">
              <a:latin typeface="Trebuchet MS"/>
              <a:ea typeface="Trebuchet MS"/>
              <a:cs typeface="Trebuchet MS"/>
              <a:sym typeface="Trebuchet MS"/>
            </a:endParaRPr>
          </a:p>
          <a:p>
            <a:r>
              <a:rPr lang="en" sz="2400" dirty="0">
                <a:latin typeface="Trebuchet MS"/>
                <a:ea typeface="Trebuchet MS"/>
                <a:cs typeface="Trebuchet MS"/>
                <a:sym typeface="Trebuchet MS"/>
              </a:rPr>
              <a:t>  typical hydro plant ≈ 1,000 MW</a:t>
            </a:r>
            <a:endParaRPr sz="2400" dirty="0">
              <a:latin typeface="Trebuchet MS"/>
              <a:ea typeface="Trebuchet MS"/>
              <a:cs typeface="Trebuchet MS"/>
              <a:sym typeface="Trebuchet MS"/>
            </a:endParaRPr>
          </a:p>
        </p:txBody>
      </p:sp>
      <p:pic>
        <p:nvPicPr>
          <p:cNvPr id="360" name="Google Shape;360;p43"/>
          <p:cNvPicPr preferRelativeResize="0"/>
          <p:nvPr/>
        </p:nvPicPr>
        <p:blipFill>
          <a:blip r:embed="rId3">
            <a:alphaModFix/>
          </a:blip>
          <a:stretch>
            <a:fillRect/>
          </a:stretch>
        </p:blipFill>
        <p:spPr>
          <a:xfrm>
            <a:off x="34344" y="990600"/>
            <a:ext cx="5999400" cy="1799800"/>
          </a:xfrm>
          <a:prstGeom prst="rect">
            <a:avLst/>
          </a:prstGeom>
          <a:noFill/>
          <a:ln>
            <a:noFill/>
          </a:ln>
        </p:spPr>
      </p:pic>
      <p:pic>
        <p:nvPicPr>
          <p:cNvPr id="361" name="Google Shape;361;p43" descr="Screenshot from 2014-08-07 22:29:29.png"/>
          <p:cNvPicPr preferRelativeResize="0"/>
          <p:nvPr/>
        </p:nvPicPr>
        <p:blipFill>
          <a:blip r:embed="rId4">
            <a:alphaModFix/>
          </a:blip>
          <a:stretch>
            <a:fillRect/>
          </a:stretch>
        </p:blipFill>
        <p:spPr>
          <a:xfrm>
            <a:off x="5410200" y="2971800"/>
            <a:ext cx="5737035" cy="1984771"/>
          </a:xfrm>
          <a:prstGeom prst="rect">
            <a:avLst/>
          </a:prstGeom>
          <a:noFill/>
          <a:ln>
            <a:noFill/>
          </a:ln>
        </p:spPr>
      </p:pic>
      <p:sp>
        <p:nvSpPr>
          <p:cNvPr id="362" name="Google Shape;362;p43"/>
          <p:cNvSpPr txBox="1"/>
          <p:nvPr/>
        </p:nvSpPr>
        <p:spPr>
          <a:xfrm>
            <a:off x="152400" y="3124200"/>
            <a:ext cx="5267200" cy="1143000"/>
          </a:xfrm>
          <a:prstGeom prst="rect">
            <a:avLst/>
          </a:prstGeom>
          <a:noFill/>
          <a:ln>
            <a:noFill/>
          </a:ln>
        </p:spPr>
        <p:txBody>
          <a:bodyPr spcFirstLastPara="1" wrap="square" lIns="121900" tIns="121900" rIns="121900" bIns="121900" anchor="t" anchorCtr="0">
            <a:noAutofit/>
          </a:bodyPr>
          <a:lstStyle/>
          <a:p>
            <a:r>
              <a:rPr lang="en" sz="2400" dirty="0">
                <a:latin typeface="Trebuchet MS"/>
                <a:ea typeface="Trebuchet MS"/>
                <a:cs typeface="Trebuchet MS"/>
                <a:sym typeface="Trebuchet MS"/>
              </a:rPr>
              <a:t>Kashiwazaki-Kariwa </a:t>
            </a:r>
            <a:endParaRPr sz="2400" dirty="0">
              <a:latin typeface="Trebuchet MS"/>
              <a:ea typeface="Trebuchet MS"/>
              <a:cs typeface="Trebuchet MS"/>
              <a:sym typeface="Trebuchet MS"/>
            </a:endParaRPr>
          </a:p>
          <a:p>
            <a:r>
              <a:rPr lang="en" sz="2400" dirty="0">
                <a:latin typeface="Trebuchet MS"/>
                <a:ea typeface="Trebuchet MS"/>
                <a:cs typeface="Trebuchet MS"/>
                <a:sym typeface="Trebuchet MS"/>
              </a:rPr>
              <a:t>nuclear power plant = 7,000 MW</a:t>
            </a:r>
            <a:endParaRPr sz="2400" dirty="0">
              <a:latin typeface="Trebuchet MS"/>
              <a:ea typeface="Trebuchet MS"/>
              <a:cs typeface="Trebuchet MS"/>
              <a:sym typeface="Trebuchet MS"/>
            </a:endParaRPr>
          </a:p>
          <a:p>
            <a:r>
              <a:rPr lang="en" sz="2400" dirty="0">
                <a:latin typeface="Trebuchet MS"/>
                <a:ea typeface="Trebuchet MS"/>
                <a:cs typeface="Trebuchet MS"/>
                <a:sym typeface="Trebuchet MS"/>
              </a:rPr>
              <a:t>typical nuclear plant ≈ 4,000 MW</a:t>
            </a:r>
            <a:endParaRPr sz="2400" dirty="0">
              <a:latin typeface="Trebuchet MS"/>
              <a:ea typeface="Trebuchet MS"/>
              <a:cs typeface="Trebuchet MS"/>
              <a:sym typeface="Trebuchet MS"/>
            </a:endParaRPr>
          </a:p>
        </p:txBody>
      </p:sp>
      <p:pic>
        <p:nvPicPr>
          <p:cNvPr id="363" name="Google Shape;363;p43" descr="Screenshot from 2014-08-07 22:44:11.png"/>
          <p:cNvPicPr preferRelativeResize="0"/>
          <p:nvPr/>
        </p:nvPicPr>
        <p:blipFill>
          <a:blip r:embed="rId5">
            <a:alphaModFix/>
          </a:blip>
          <a:stretch>
            <a:fillRect/>
          </a:stretch>
        </p:blipFill>
        <p:spPr>
          <a:xfrm>
            <a:off x="228600" y="5029200"/>
            <a:ext cx="5489867" cy="1641400"/>
          </a:xfrm>
          <a:prstGeom prst="rect">
            <a:avLst/>
          </a:prstGeom>
          <a:noFill/>
          <a:ln>
            <a:noFill/>
          </a:ln>
        </p:spPr>
      </p:pic>
      <p:sp>
        <p:nvSpPr>
          <p:cNvPr id="364" name="Google Shape;364;p43"/>
          <p:cNvSpPr txBox="1"/>
          <p:nvPr/>
        </p:nvSpPr>
        <p:spPr>
          <a:xfrm>
            <a:off x="5867400" y="5181600"/>
            <a:ext cx="5043600" cy="586400"/>
          </a:xfrm>
          <a:prstGeom prst="rect">
            <a:avLst/>
          </a:prstGeom>
          <a:noFill/>
          <a:ln>
            <a:noFill/>
          </a:ln>
        </p:spPr>
        <p:txBody>
          <a:bodyPr spcFirstLastPara="1" wrap="square" lIns="121900" tIns="121900" rIns="121900" bIns="121900" anchor="t" anchorCtr="0">
            <a:noAutofit/>
          </a:bodyPr>
          <a:lstStyle/>
          <a:p>
            <a:r>
              <a:rPr lang="en" sz="2400" dirty="0">
                <a:latin typeface="Trebuchet MS" panose="020B0603020202020204" pitchFamily="34" charset="0"/>
              </a:rPr>
              <a:t>major coal-fired plant ≈ 2,000 MW</a:t>
            </a:r>
            <a:endParaRPr sz="2400" dirty="0">
              <a:latin typeface="Trebuchet MS" panose="020B0603020202020204" pitchFamily="34" charset="0"/>
            </a:endParaRPr>
          </a:p>
        </p:txBody>
      </p:sp>
      <p:sp>
        <p:nvSpPr>
          <p:cNvPr id="2" name="Rectangle 1"/>
          <p:cNvSpPr/>
          <p:nvPr/>
        </p:nvSpPr>
        <p:spPr>
          <a:xfrm>
            <a:off x="5943600" y="5791200"/>
            <a:ext cx="6096000" cy="923330"/>
          </a:xfrm>
          <a:prstGeom prst="rect">
            <a:avLst/>
          </a:prstGeom>
        </p:spPr>
        <p:txBody>
          <a:bodyPr>
            <a:spAutoFit/>
          </a:bodyPr>
          <a:lstStyle/>
          <a:p>
            <a:pPr algn="just"/>
            <a:r>
              <a:rPr lang="en-IN" i="1" dirty="0"/>
              <a:t>The whole Bitcoin network, even considering the upper bound </a:t>
            </a:r>
            <a:r>
              <a:rPr lang="en-IN" i="1" dirty="0" err="1"/>
              <a:t>counsumes</a:t>
            </a:r>
            <a:r>
              <a:rPr lang="en-IN" i="1" dirty="0"/>
              <a:t> less than 1000MW. So, we need to run a big electricity power plant purely to power Bitcoin</a:t>
            </a:r>
            <a:r>
              <a:rPr lang="en-IN" dirty="0"/>
              <a:t>.</a:t>
            </a:r>
          </a:p>
        </p:txBody>
      </p:sp>
    </p:spTree>
    <p:extLst>
      <p:ext uri="{BB962C8B-B14F-4D97-AF65-F5344CB8AC3E}">
        <p14:creationId xmlns:p14="http://schemas.microsoft.com/office/powerpoint/2010/main" val="39913214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368"/>
        <p:cNvGrpSpPr/>
        <p:nvPr/>
      </p:nvGrpSpPr>
      <p:grpSpPr>
        <a:xfrm>
          <a:off x="0" y="0"/>
          <a:ext cx="0" cy="0"/>
          <a:chOff x="0" y="0"/>
          <a:chExt cx="0" cy="0"/>
        </a:xfrm>
      </p:grpSpPr>
      <p:sp>
        <p:nvSpPr>
          <p:cNvPr id="369" name="Google Shape;369;p44"/>
          <p:cNvSpPr txBox="1">
            <a:spLocks noGrp="1"/>
          </p:cNvSpPr>
          <p:nvPr>
            <p:ph type="title"/>
          </p:nvPr>
        </p:nvSpPr>
        <p:spPr>
          <a:xfrm>
            <a:off x="609600" y="274637"/>
            <a:ext cx="10972800" cy="45719"/>
          </a:xfrm>
          <a:prstGeom prst="rect">
            <a:avLst/>
          </a:prstGeom>
        </p:spPr>
        <p:txBody>
          <a:bodyPr spcFirstLastPara="1" vert="horz" wrap="square" lIns="121900" tIns="121900" rIns="121900" bIns="121900" numCol="1" anchor="b" anchorCtr="0" compatLnSpc="1">
            <a:prstTxWarp prst="textNoShape">
              <a:avLst/>
            </a:prstTxWarp>
            <a:noAutofit/>
          </a:bodyPr>
          <a:lstStyle/>
          <a:p>
            <a:pPr algn="l"/>
            <a:endParaRPr dirty="0"/>
          </a:p>
        </p:txBody>
      </p:sp>
      <p:pic>
        <p:nvPicPr>
          <p:cNvPr id="370" name="Google Shape;370;p44"/>
          <p:cNvPicPr preferRelativeResize="0"/>
          <p:nvPr/>
        </p:nvPicPr>
        <p:blipFill>
          <a:blip r:embed="rId3">
            <a:alphaModFix/>
          </a:blip>
          <a:stretch>
            <a:fillRect/>
          </a:stretch>
        </p:blipFill>
        <p:spPr>
          <a:xfrm>
            <a:off x="457200" y="3733800"/>
            <a:ext cx="4281267" cy="1999733"/>
          </a:xfrm>
          <a:prstGeom prst="rect">
            <a:avLst/>
          </a:prstGeom>
          <a:noFill/>
          <a:ln>
            <a:noFill/>
          </a:ln>
        </p:spPr>
      </p:pic>
      <p:pic>
        <p:nvPicPr>
          <p:cNvPr id="371" name="Google Shape;371;p44"/>
          <p:cNvPicPr preferRelativeResize="0"/>
          <p:nvPr/>
        </p:nvPicPr>
        <p:blipFill>
          <a:blip r:embed="rId4">
            <a:alphaModFix/>
          </a:blip>
          <a:stretch>
            <a:fillRect/>
          </a:stretch>
        </p:blipFill>
        <p:spPr>
          <a:xfrm>
            <a:off x="7049734" y="3886200"/>
            <a:ext cx="4185153" cy="1618736"/>
          </a:xfrm>
          <a:prstGeom prst="rect">
            <a:avLst/>
          </a:prstGeom>
          <a:noFill/>
          <a:ln>
            <a:noFill/>
          </a:ln>
        </p:spPr>
      </p:pic>
      <p:pic>
        <p:nvPicPr>
          <p:cNvPr id="372" name="Google Shape;372;p44"/>
          <p:cNvPicPr preferRelativeResize="0"/>
          <p:nvPr/>
        </p:nvPicPr>
        <p:blipFill>
          <a:blip r:embed="rId5">
            <a:alphaModFix/>
          </a:blip>
          <a:stretch>
            <a:fillRect/>
          </a:stretch>
        </p:blipFill>
        <p:spPr>
          <a:xfrm>
            <a:off x="4961901" y="4038600"/>
            <a:ext cx="1804900" cy="1466333"/>
          </a:xfrm>
          <a:prstGeom prst="rect">
            <a:avLst/>
          </a:prstGeom>
          <a:noFill/>
          <a:ln>
            <a:noFill/>
          </a:ln>
        </p:spPr>
      </p:pic>
      <p:sp>
        <p:nvSpPr>
          <p:cNvPr id="3" name="Rectangle 2"/>
          <p:cNvSpPr/>
          <p:nvPr/>
        </p:nvSpPr>
        <p:spPr>
          <a:xfrm>
            <a:off x="228600" y="457200"/>
            <a:ext cx="5915915" cy="461665"/>
          </a:xfrm>
          <a:prstGeom prst="rect">
            <a:avLst/>
          </a:prstGeom>
        </p:spPr>
        <p:txBody>
          <a:bodyPr wrap="none">
            <a:spAutoFit/>
          </a:bodyPr>
          <a:lstStyle/>
          <a:p>
            <a:r>
              <a:rPr lang="en-IN" sz="2400" b="1" dirty="0"/>
              <a:t>Comparison with other kind of </a:t>
            </a:r>
            <a:r>
              <a:rPr lang="en-IN" sz="2400" b="1" dirty="0" smtClean="0"/>
              <a:t>consumption:</a:t>
            </a:r>
            <a:endParaRPr lang="en-IN" sz="2400" b="1" dirty="0"/>
          </a:p>
        </p:txBody>
      </p:sp>
      <p:sp>
        <p:nvSpPr>
          <p:cNvPr id="4" name="Rectangle 3"/>
          <p:cNvSpPr/>
          <p:nvPr/>
        </p:nvSpPr>
        <p:spPr>
          <a:xfrm>
            <a:off x="228600" y="914400"/>
            <a:ext cx="10896600" cy="2308324"/>
          </a:xfrm>
          <a:prstGeom prst="rect">
            <a:avLst/>
          </a:prstGeom>
        </p:spPr>
        <p:txBody>
          <a:bodyPr wrap="square">
            <a:spAutoFit/>
          </a:bodyPr>
          <a:lstStyle/>
          <a:p>
            <a:r>
              <a:rPr lang="en-IN" b="1" dirty="0" smtClean="0"/>
              <a:t>To </a:t>
            </a:r>
            <a:r>
              <a:rPr lang="en-IN" b="1" dirty="0"/>
              <a:t>understand where it's a big amount or not we need to compare it to other things in the world. For example, any payment system is going to require energy and electricity. So we can look at traditional currency. Energy is consumed to:</a:t>
            </a:r>
          </a:p>
          <a:p>
            <a:endParaRPr lang="en-IN" dirty="0"/>
          </a:p>
          <a:p>
            <a:pPr marL="285750" indent="-285750">
              <a:buFont typeface="Arial" panose="020B0604020202020204" pitchFamily="34" charset="0"/>
              <a:buChar char="•"/>
            </a:pPr>
            <a:r>
              <a:rPr lang="en-IN" dirty="0"/>
              <a:t>    producing the money</a:t>
            </a:r>
          </a:p>
          <a:p>
            <a:pPr marL="285750" indent="-285750">
              <a:buFont typeface="Arial" panose="020B0604020202020204" pitchFamily="34" charset="0"/>
              <a:buChar char="•"/>
            </a:pPr>
            <a:r>
              <a:rPr lang="en-IN" dirty="0"/>
              <a:t>    transporting the money </a:t>
            </a:r>
            <a:r>
              <a:rPr lang="en-IN" dirty="0" err="1"/>
              <a:t>aroundin</a:t>
            </a:r>
            <a:r>
              <a:rPr lang="en-IN" dirty="0"/>
              <a:t> </a:t>
            </a:r>
            <a:r>
              <a:rPr lang="en-IN" dirty="0" err="1"/>
              <a:t>armored</a:t>
            </a:r>
            <a:r>
              <a:rPr lang="en-IN" dirty="0"/>
              <a:t> cars</a:t>
            </a:r>
          </a:p>
          <a:p>
            <a:pPr marL="285750" indent="-285750">
              <a:buFont typeface="Arial" panose="020B0604020202020204" pitchFamily="34" charset="0"/>
              <a:buChar char="•"/>
            </a:pPr>
            <a:r>
              <a:rPr lang="en-IN" dirty="0"/>
              <a:t>    guarding money</a:t>
            </a:r>
          </a:p>
          <a:p>
            <a:pPr marL="285750" indent="-285750">
              <a:buFont typeface="Arial" panose="020B0604020202020204" pitchFamily="34" charset="0"/>
              <a:buChar char="•"/>
            </a:pPr>
            <a:r>
              <a:rPr lang="en-IN" dirty="0"/>
              <a:t>    running the ATM machines and cash registers</a:t>
            </a:r>
          </a:p>
        </p:txBody>
      </p:sp>
      <p:pic>
        <p:nvPicPr>
          <p:cNvPr id="5" name="Picture 4"/>
          <p:cNvPicPr>
            <a:picLocks noChangeAspect="1"/>
          </p:cNvPicPr>
          <p:nvPr/>
        </p:nvPicPr>
        <p:blipFill>
          <a:blip r:embed="rId6"/>
          <a:stretch>
            <a:fillRect/>
          </a:stretch>
        </p:blipFill>
        <p:spPr>
          <a:xfrm>
            <a:off x="4294476" y="3182090"/>
            <a:ext cx="3603048" cy="493819"/>
          </a:xfrm>
          <a:prstGeom prst="rect">
            <a:avLst/>
          </a:prstGeom>
        </p:spPr>
      </p:pic>
      <p:sp>
        <p:nvSpPr>
          <p:cNvPr id="6" name="Rectangle 5"/>
          <p:cNvSpPr/>
          <p:nvPr/>
        </p:nvSpPr>
        <p:spPr>
          <a:xfrm>
            <a:off x="914400" y="5867400"/>
            <a:ext cx="9829800" cy="923330"/>
          </a:xfrm>
          <a:prstGeom prst="rect">
            <a:avLst/>
          </a:prstGeom>
        </p:spPr>
        <p:txBody>
          <a:bodyPr wrap="square">
            <a:spAutoFit/>
          </a:bodyPr>
          <a:lstStyle/>
          <a:p>
            <a:pPr algn="just"/>
            <a:r>
              <a:rPr lang="en-IN" i="1" dirty="0"/>
              <a:t>Even all this energy, doesn't serve any other purpose besides maintaining the currency system. So that's a really important disclaimer, just because Bitcoin uses electricity, it's not necessarily wasted. If Bitcoin is a useful currency system then the electricity is essentially being used for that purpose.</a:t>
            </a:r>
          </a:p>
        </p:txBody>
      </p:sp>
    </p:spTree>
    <p:extLst>
      <p:ext uri="{BB962C8B-B14F-4D97-AF65-F5344CB8AC3E}">
        <p14:creationId xmlns:p14="http://schemas.microsoft.com/office/powerpoint/2010/main" val="9675000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solidFill>
                  <a:srgbClr val="FF0000"/>
                </a:solidFill>
              </a:rPr>
              <a:t>Challenges in </a:t>
            </a:r>
            <a:r>
              <a:rPr lang="en-IN" b="1" dirty="0" err="1">
                <a:solidFill>
                  <a:srgbClr val="FF0000"/>
                </a:solidFill>
              </a:rPr>
              <a:t>Bitcoin</a:t>
            </a:r>
            <a:r>
              <a:rPr lang="en-IN" b="1" dirty="0">
                <a:solidFill>
                  <a:srgbClr val="FF0000"/>
                </a:solidFill>
              </a:rPr>
              <a:t> Mining</a:t>
            </a:r>
          </a:p>
          <a:p>
            <a:pPr>
              <a:buFont typeface="Arial" panose="020B0604020202020204" pitchFamily="34" charset="0"/>
              <a:buChar char="•"/>
            </a:pPr>
            <a:r>
              <a:rPr lang="en-IN" sz="2400" b="1" dirty="0" smtClean="0"/>
              <a:t>     Electricity </a:t>
            </a:r>
            <a:r>
              <a:rPr lang="en-IN" sz="2400" b="1" dirty="0"/>
              <a:t>Theft in </a:t>
            </a:r>
            <a:r>
              <a:rPr lang="en-IN" sz="2400" b="1" dirty="0" smtClean="0"/>
              <a:t>Mining</a:t>
            </a:r>
          </a:p>
          <a:p>
            <a:pPr>
              <a:buFont typeface="Arial" panose="020B0604020202020204" pitchFamily="34" charset="0"/>
              <a:buChar char="•"/>
            </a:pPr>
            <a:r>
              <a:rPr lang="en-IN" sz="2400" b="1" dirty="0" smtClean="0"/>
              <a:t>     The </a:t>
            </a:r>
            <a:r>
              <a:rPr lang="en-IN" sz="2400" b="1" dirty="0"/>
              <a:t>Economics of Individual Mining</a:t>
            </a:r>
          </a:p>
          <a:p>
            <a:pPr marL="50799" indent="0">
              <a:buNone/>
            </a:pPr>
            <a:endParaRPr lang="en-IN" sz="2400" b="1" dirty="0"/>
          </a:p>
          <a:p>
            <a:pPr marL="50799" indent="0">
              <a:buNone/>
            </a:pPr>
            <a:endParaRPr lang="en-IN" dirty="0"/>
          </a:p>
        </p:txBody>
      </p:sp>
    </p:spTree>
    <p:extLst>
      <p:ext uri="{BB962C8B-B14F-4D97-AF65-F5344CB8AC3E}">
        <p14:creationId xmlns:p14="http://schemas.microsoft.com/office/powerpoint/2010/main" val="21365103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376"/>
        <p:cNvGrpSpPr/>
        <p:nvPr/>
      </p:nvGrpSpPr>
      <p:grpSpPr>
        <a:xfrm>
          <a:off x="0" y="0"/>
          <a:ext cx="0" cy="0"/>
          <a:chOff x="0" y="0"/>
          <a:chExt cx="0" cy="0"/>
        </a:xfrm>
      </p:grpSpPr>
      <p:sp>
        <p:nvSpPr>
          <p:cNvPr id="377" name="Google Shape;377;p45"/>
          <p:cNvSpPr txBox="1">
            <a:spLocks noGrp="1"/>
          </p:cNvSpPr>
          <p:nvPr>
            <p:ph type="title"/>
          </p:nvPr>
        </p:nvSpPr>
        <p:spPr>
          <a:xfrm>
            <a:off x="609600" y="274637"/>
            <a:ext cx="10972800" cy="563563"/>
          </a:xfrm>
          <a:prstGeom prst="rect">
            <a:avLst/>
          </a:prstGeom>
        </p:spPr>
        <p:txBody>
          <a:bodyPr spcFirstLastPara="1" vert="horz" wrap="square" lIns="121900" tIns="121900" rIns="121900" bIns="121900" numCol="1" anchor="b" anchorCtr="0" compatLnSpc="1">
            <a:prstTxWarp prst="textNoShape">
              <a:avLst/>
            </a:prstTxWarp>
            <a:noAutofit/>
          </a:bodyPr>
          <a:lstStyle/>
          <a:p>
            <a:pPr algn="l"/>
            <a:r>
              <a:rPr lang="en" dirty="0"/>
              <a:t>Data furnaces</a:t>
            </a:r>
            <a:endParaRPr dirty="0"/>
          </a:p>
        </p:txBody>
      </p:sp>
      <p:sp>
        <p:nvSpPr>
          <p:cNvPr id="378" name="Google Shape;378;p45"/>
          <p:cNvSpPr txBox="1">
            <a:spLocks noGrp="1"/>
          </p:cNvSpPr>
          <p:nvPr>
            <p:ph type="body" idx="1"/>
          </p:nvPr>
        </p:nvSpPr>
        <p:spPr>
          <a:xfrm>
            <a:off x="609600" y="609600"/>
            <a:ext cx="10972800" cy="5776300"/>
          </a:xfrm>
          <a:prstGeom prst="rect">
            <a:avLst/>
          </a:prstGeom>
        </p:spPr>
        <p:txBody>
          <a:bodyPr spcFirstLastPara="1" vert="horz" wrap="square" lIns="121900" tIns="121900" rIns="121900" bIns="121900" numCol="1" anchor="t" anchorCtr="0" compatLnSpc="1">
            <a:prstTxWarp prst="textNoShape">
              <a:avLst/>
            </a:prstTxWarp>
            <a:noAutofit/>
          </a:bodyPr>
          <a:lstStyle/>
          <a:p>
            <a:pPr>
              <a:buClr>
                <a:srgbClr val="000000"/>
              </a:buClr>
            </a:pPr>
            <a:r>
              <a:rPr lang="en" b="1" dirty="0">
                <a:solidFill>
                  <a:srgbClr val="000000"/>
                </a:solidFill>
              </a:rPr>
              <a:t>Observation: </a:t>
            </a:r>
            <a:r>
              <a:rPr lang="en" dirty="0">
                <a:solidFill>
                  <a:srgbClr val="000000"/>
                </a:solidFill>
              </a:rPr>
              <a:t>in the limit, computing devices produce heat almost as well as electric heaters!</a:t>
            </a:r>
            <a:endParaRPr dirty="0">
              <a:solidFill>
                <a:srgbClr val="000000"/>
              </a:solidFill>
            </a:endParaRPr>
          </a:p>
          <a:p>
            <a:pPr>
              <a:spcBef>
                <a:spcPts val="0"/>
              </a:spcBef>
              <a:buClr>
                <a:srgbClr val="000000"/>
              </a:buClr>
            </a:pPr>
            <a:r>
              <a:rPr lang="en" dirty="0">
                <a:solidFill>
                  <a:srgbClr val="000000"/>
                </a:solidFill>
              </a:rPr>
              <a:t>Why not install mining rigs as home heaters?</a:t>
            </a:r>
            <a:endParaRPr dirty="0">
              <a:solidFill>
                <a:srgbClr val="000000"/>
              </a:solidFill>
            </a:endParaRPr>
          </a:p>
          <a:p>
            <a:pPr>
              <a:spcBef>
                <a:spcPts val="0"/>
              </a:spcBef>
              <a:buClr>
                <a:srgbClr val="000000"/>
              </a:buClr>
            </a:pPr>
            <a:r>
              <a:rPr lang="en-IN" dirty="0">
                <a:solidFill>
                  <a:srgbClr val="000000"/>
                </a:solidFill>
              </a:rPr>
              <a:t>There are still some challenges to be cleared:</a:t>
            </a:r>
          </a:p>
          <a:p>
            <a:pPr>
              <a:spcBef>
                <a:spcPts val="0"/>
              </a:spcBef>
              <a:buClr>
                <a:srgbClr val="000000"/>
              </a:buClr>
              <a:buFont typeface="Wingdings" panose="05000000000000000000" pitchFamily="2" charset="2"/>
              <a:buChar char="ü"/>
            </a:pPr>
            <a:r>
              <a:rPr lang="en-IN" sz="2400" dirty="0" smtClean="0">
                <a:solidFill>
                  <a:srgbClr val="000000"/>
                </a:solidFill>
              </a:rPr>
              <a:t> Electric </a:t>
            </a:r>
            <a:r>
              <a:rPr lang="en-IN" sz="2400" dirty="0">
                <a:solidFill>
                  <a:srgbClr val="000000"/>
                </a:solidFill>
              </a:rPr>
              <a:t>heaters are still less efficient than gas heaters. So in very cold places, they won't be enough.</a:t>
            </a:r>
          </a:p>
          <a:p>
            <a:pPr>
              <a:spcBef>
                <a:spcPts val="0"/>
              </a:spcBef>
              <a:buClr>
                <a:srgbClr val="000000"/>
              </a:buClr>
              <a:buFont typeface="Wingdings" panose="05000000000000000000" pitchFamily="2" charset="2"/>
              <a:buChar char="ü"/>
            </a:pPr>
            <a:r>
              <a:rPr lang="en-IN" sz="2400" dirty="0" smtClean="0">
                <a:solidFill>
                  <a:srgbClr val="000000"/>
                </a:solidFill>
              </a:rPr>
              <a:t>the </a:t>
            </a:r>
            <a:r>
              <a:rPr lang="en-IN" sz="2400" dirty="0">
                <a:solidFill>
                  <a:srgbClr val="000000"/>
                </a:solidFill>
              </a:rPr>
              <a:t>ownership of mined </a:t>
            </a:r>
            <a:r>
              <a:rPr lang="en-IN" sz="2400" dirty="0" err="1">
                <a:solidFill>
                  <a:srgbClr val="000000"/>
                </a:solidFill>
              </a:rPr>
              <a:t>Bitcoins</a:t>
            </a:r>
            <a:r>
              <a:rPr lang="en-IN" sz="2400" dirty="0">
                <a:solidFill>
                  <a:srgbClr val="000000"/>
                </a:solidFill>
              </a:rPr>
              <a:t>. Will the </a:t>
            </a:r>
            <a:r>
              <a:rPr lang="en-IN" sz="2400" dirty="0" err="1">
                <a:solidFill>
                  <a:srgbClr val="000000"/>
                </a:solidFill>
              </a:rPr>
              <a:t>Bicoins</a:t>
            </a:r>
            <a:r>
              <a:rPr lang="en-IN" sz="2400" dirty="0">
                <a:solidFill>
                  <a:srgbClr val="000000"/>
                </a:solidFill>
              </a:rPr>
              <a:t> be property of the people who buy the appliance or of the company who sells them? Many people would have no interest in mining </a:t>
            </a:r>
            <a:r>
              <a:rPr lang="en-IN" sz="2400" dirty="0" err="1">
                <a:solidFill>
                  <a:srgbClr val="000000"/>
                </a:solidFill>
              </a:rPr>
              <a:t>Bitcoins</a:t>
            </a:r>
            <a:r>
              <a:rPr lang="en-IN" sz="2400" dirty="0">
                <a:solidFill>
                  <a:srgbClr val="000000"/>
                </a:solidFill>
              </a:rPr>
              <a:t>. So for them it would be better to buy the appliance at a lower cost and </a:t>
            </a:r>
            <a:r>
              <a:rPr lang="en-IN" sz="2400" dirty="0" smtClean="0">
                <a:solidFill>
                  <a:srgbClr val="000000"/>
                </a:solidFill>
              </a:rPr>
              <a:t>give the rewards to the company who sells them</a:t>
            </a:r>
          </a:p>
          <a:p>
            <a:pPr marL="50799" indent="0">
              <a:spcBef>
                <a:spcPts val="0"/>
              </a:spcBef>
              <a:buClr>
                <a:srgbClr val="000000"/>
              </a:buClr>
              <a:buNone/>
            </a:pPr>
            <a:r>
              <a:rPr lang="en-IN" sz="2400" b="1" i="1" dirty="0" smtClean="0">
                <a:solidFill>
                  <a:srgbClr val="000000"/>
                </a:solidFill>
              </a:rPr>
              <a:t>This </a:t>
            </a:r>
            <a:r>
              <a:rPr lang="en-IN" sz="2400" b="1" i="1" dirty="0">
                <a:solidFill>
                  <a:srgbClr val="000000"/>
                </a:solidFill>
              </a:rPr>
              <a:t>could have effect on Bitcoin production and network maintenance, since the production could lower in summer and in warmer </a:t>
            </a:r>
            <a:r>
              <a:rPr lang="en-IN" sz="2400" b="1" i="1" dirty="0" err="1">
                <a:solidFill>
                  <a:srgbClr val="000000"/>
                </a:solidFill>
              </a:rPr>
              <a:t>days.e</a:t>
            </a:r>
            <a:r>
              <a:rPr lang="en-IN" sz="2400" b="1" i="1" dirty="0">
                <a:solidFill>
                  <a:srgbClr val="000000"/>
                </a:solidFill>
              </a:rPr>
              <a:t> the rewards to the company who sells them.</a:t>
            </a:r>
          </a:p>
        </p:txBody>
      </p:sp>
    </p:spTree>
    <p:extLst>
      <p:ext uri="{BB962C8B-B14F-4D97-AF65-F5344CB8AC3E}">
        <p14:creationId xmlns:p14="http://schemas.microsoft.com/office/powerpoint/2010/main" val="14090373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
                                            <p:txEl>
                                              <p:pRg st="2" end="2"/>
                                            </p:txEl>
                                          </p:spTgt>
                                        </p:tgtEl>
                                        <p:attrNameLst>
                                          <p:attrName>style.visibility</p:attrName>
                                        </p:attrNameLst>
                                      </p:cBhvr>
                                      <p:to>
                                        <p:strVal val="visible"/>
                                      </p:to>
                                    </p:set>
                                    <p:anim calcmode="lin" valueType="num">
                                      <p:cBhvr additive="base">
                                        <p:cTn id="7" dur="500" fill="hold"/>
                                        <p:tgtEl>
                                          <p:spTgt spid="37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8">
                                            <p:txEl>
                                              <p:pRg st="3" end="3"/>
                                            </p:txEl>
                                          </p:spTgt>
                                        </p:tgtEl>
                                        <p:attrNameLst>
                                          <p:attrName>style.visibility</p:attrName>
                                        </p:attrNameLst>
                                      </p:cBhvr>
                                      <p:to>
                                        <p:strVal val="visible"/>
                                      </p:to>
                                    </p:set>
                                    <p:anim calcmode="lin" valueType="num">
                                      <p:cBhvr additive="base">
                                        <p:cTn id="11" dur="500" fill="hold"/>
                                        <p:tgtEl>
                                          <p:spTgt spid="378">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8">
                                            <p:txEl>
                                              <p:pRg st="4" end="4"/>
                                            </p:txEl>
                                          </p:spTgt>
                                        </p:tgtEl>
                                        <p:attrNameLst>
                                          <p:attrName>style.visibility</p:attrName>
                                        </p:attrNameLst>
                                      </p:cBhvr>
                                      <p:to>
                                        <p:strVal val="visible"/>
                                      </p:to>
                                    </p:set>
                                    <p:anim calcmode="lin" valueType="num">
                                      <p:cBhvr additive="base">
                                        <p:cTn id="15" dur="500" fill="hold"/>
                                        <p:tgtEl>
                                          <p:spTgt spid="378">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78">
                                            <p:txEl>
                                              <p:pRg st="5" end="5"/>
                                            </p:txEl>
                                          </p:spTgt>
                                        </p:tgtEl>
                                        <p:attrNameLst>
                                          <p:attrName>style.visibility</p:attrName>
                                        </p:attrNameLst>
                                      </p:cBhvr>
                                      <p:to>
                                        <p:strVal val="visible"/>
                                      </p:to>
                                    </p:set>
                                    <p:anim calcmode="lin" valueType="num">
                                      <p:cBhvr additive="base">
                                        <p:cTn id="21" dur="500" fill="hold"/>
                                        <p:tgtEl>
                                          <p:spTgt spid="378">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7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Text Placeholder 2"/>
          <p:cNvSpPr>
            <a:spLocks noGrp="1"/>
          </p:cNvSpPr>
          <p:nvPr>
            <p:ph type="body" idx="1"/>
          </p:nvPr>
        </p:nvSpPr>
        <p:spPr/>
        <p:txBody>
          <a:bodyPr/>
          <a:lstStyle/>
          <a:p>
            <a:pPr marL="50799" indent="0">
              <a:buNone/>
            </a:pPr>
            <a:r>
              <a:rPr lang="en-IN" b="1" dirty="0"/>
              <a:t>Open </a:t>
            </a:r>
            <a:r>
              <a:rPr lang="en-IN" b="1" dirty="0" smtClean="0"/>
              <a:t>??</a:t>
            </a:r>
          </a:p>
          <a:p>
            <a:pPr marL="50799" indent="0">
              <a:buNone/>
            </a:pPr>
            <a:r>
              <a:rPr lang="en-IN" sz="2000" dirty="0"/>
              <a:t>think about the questions that remain open for the future:</a:t>
            </a:r>
            <a:endParaRPr lang="en-IN" sz="2000" b="1" dirty="0"/>
          </a:p>
          <a:p>
            <a:pPr>
              <a:buFont typeface="Arial" panose="020B0604020202020204" pitchFamily="34" charset="0"/>
              <a:buChar char="•"/>
            </a:pPr>
            <a:r>
              <a:rPr lang="en-IN" dirty="0"/>
              <a:t>Will Bitcoin drive out electricity subsidies</a:t>
            </a:r>
            <a:r>
              <a:rPr lang="en-IN" dirty="0" smtClean="0"/>
              <a:t>?</a:t>
            </a:r>
          </a:p>
          <a:p>
            <a:pPr>
              <a:buFont typeface="Arial" panose="020B0604020202020204" pitchFamily="34" charset="0"/>
              <a:buChar char="•"/>
            </a:pPr>
            <a:r>
              <a:rPr lang="en-IN" dirty="0"/>
              <a:t>Will Bitcoin require guarding power outlets? </a:t>
            </a:r>
            <a:endParaRPr lang="en-IN" dirty="0" smtClean="0"/>
          </a:p>
          <a:p>
            <a:pPr marL="50799" indent="0">
              <a:buNone/>
            </a:pPr>
            <a:r>
              <a:rPr lang="en-IN" dirty="0"/>
              <a:t>              </a:t>
            </a:r>
            <a:r>
              <a:rPr lang="en-IN" sz="2400" dirty="0"/>
              <a:t>Especially around universities and corporations, large buildings with a lot of power outlets, will they need security cameras to make sure that employees or students aren't trying to mine </a:t>
            </a:r>
            <a:r>
              <a:rPr lang="en-IN" sz="2400" dirty="0" err="1"/>
              <a:t>Bitcoins</a:t>
            </a:r>
            <a:r>
              <a:rPr lang="en-IN" sz="2400" dirty="0"/>
              <a:t> by plugging into power outlets and just letting them run?</a:t>
            </a:r>
            <a:endParaRPr lang="en-IN" sz="2400" dirty="0" smtClean="0"/>
          </a:p>
          <a:p>
            <a:pPr>
              <a:buFont typeface="Arial" panose="020B0604020202020204" pitchFamily="34" charset="0"/>
              <a:buChar char="•"/>
            </a:pPr>
            <a:r>
              <a:rPr lang="en-IN" dirty="0" smtClean="0"/>
              <a:t>Is </a:t>
            </a:r>
            <a:r>
              <a:rPr lang="en-IN" dirty="0"/>
              <a:t>it possible to create a currency with no proof-of-work? </a:t>
            </a:r>
          </a:p>
        </p:txBody>
      </p:sp>
    </p:spTree>
    <p:extLst>
      <p:ext uri="{BB962C8B-B14F-4D97-AF65-F5344CB8AC3E}">
        <p14:creationId xmlns:p14="http://schemas.microsoft.com/office/powerpoint/2010/main" val="31646947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a:xfrm>
            <a:off x="609600" y="228600"/>
            <a:ext cx="10972800" cy="6339177"/>
          </a:xfrm>
        </p:spPr>
        <p:txBody>
          <a:bodyPr/>
          <a:lstStyle/>
          <a:p>
            <a:pPr marL="50799" indent="0">
              <a:buNone/>
            </a:pPr>
            <a:r>
              <a:rPr lang="en-IN" sz="2000" b="1" dirty="0"/>
              <a:t>Mining Variance </a:t>
            </a:r>
            <a:r>
              <a:rPr lang="en-IN" sz="2000" b="1" dirty="0" smtClean="0"/>
              <a:t>(</a:t>
            </a:r>
            <a:r>
              <a:rPr lang="en-IN" sz="2000" b="1" dirty="0"/>
              <a:t>Poisson Distribution</a:t>
            </a:r>
            <a:r>
              <a:rPr lang="en-IN" sz="2000" b="1" dirty="0" smtClean="0"/>
              <a:t>)</a:t>
            </a:r>
          </a:p>
          <a:p>
            <a:pPr marL="50799" indent="0">
              <a:buNone/>
            </a:pPr>
            <a:r>
              <a:rPr lang="en-IN" sz="2400" dirty="0" smtClean="0"/>
              <a:t>Variance </a:t>
            </a:r>
            <a:r>
              <a:rPr lang="en-IN" sz="2400" dirty="0"/>
              <a:t>is high, making small-scale mining unsustainable.</a:t>
            </a:r>
          </a:p>
        </p:txBody>
      </p:sp>
      <p:pic>
        <p:nvPicPr>
          <p:cNvPr id="5" name="Picture 4"/>
          <p:cNvPicPr>
            <a:picLocks noChangeAspect="1"/>
          </p:cNvPicPr>
          <p:nvPr/>
        </p:nvPicPr>
        <p:blipFill>
          <a:blip r:embed="rId2"/>
          <a:stretch>
            <a:fillRect/>
          </a:stretch>
        </p:blipFill>
        <p:spPr>
          <a:xfrm>
            <a:off x="3733800" y="1828800"/>
            <a:ext cx="5705475" cy="3952875"/>
          </a:xfrm>
          <a:prstGeom prst="rect">
            <a:avLst/>
          </a:prstGeom>
        </p:spPr>
      </p:pic>
    </p:spTree>
    <p:extLst>
      <p:ext uri="{BB962C8B-B14F-4D97-AF65-F5344CB8AC3E}">
        <p14:creationId xmlns:p14="http://schemas.microsoft.com/office/powerpoint/2010/main" val="15650051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Text Placeholder 2"/>
          <p:cNvSpPr>
            <a:spLocks noGrp="1"/>
          </p:cNvSpPr>
          <p:nvPr>
            <p:ph type="body" idx="1"/>
          </p:nvPr>
        </p:nvSpPr>
        <p:spPr>
          <a:xfrm>
            <a:off x="609600" y="228600"/>
            <a:ext cx="10972800" cy="6339177"/>
          </a:xfrm>
        </p:spPr>
        <p:txBody>
          <a:bodyPr/>
          <a:lstStyle/>
          <a:p>
            <a:pPr marL="50799" indent="0">
              <a:buNone/>
            </a:pPr>
            <a:r>
              <a:rPr lang="en-IN" sz="2000" b="1" dirty="0"/>
              <a:t>Mining Variance </a:t>
            </a:r>
            <a:r>
              <a:rPr lang="en-IN" sz="2000" b="1" dirty="0" smtClean="0"/>
              <a:t>(</a:t>
            </a:r>
            <a:r>
              <a:rPr lang="en-IN" sz="2000" b="1" dirty="0"/>
              <a:t>Poisson Distribution</a:t>
            </a:r>
            <a:r>
              <a:rPr lang="en-IN" sz="2000" b="1" dirty="0" smtClean="0"/>
              <a:t>)</a:t>
            </a:r>
          </a:p>
          <a:p>
            <a:pPr marL="50799" indent="0">
              <a:buNone/>
            </a:pPr>
            <a:r>
              <a:rPr lang="en-IN" sz="2400" dirty="0" smtClean="0"/>
              <a:t>Finding </a:t>
            </a:r>
            <a:r>
              <a:rPr lang="en-IN" sz="2400" dirty="0"/>
              <a:t>a block is random, and follows a Poisson distribution, meaning</a:t>
            </a:r>
            <a:r>
              <a:rPr lang="en-IN" sz="2400" dirty="0" smtClean="0"/>
              <a:t>:</a:t>
            </a:r>
          </a:p>
          <a:p>
            <a:pPr marL="50799" indent="0">
              <a:buNone/>
            </a:pPr>
            <a:r>
              <a:rPr lang="en-IN" sz="2400" dirty="0" smtClean="0"/>
              <a:t>   - 40</a:t>
            </a:r>
            <a:r>
              <a:rPr lang="en-IN" sz="2400" dirty="0"/>
              <a:t>% chance of not finding any block in a year</a:t>
            </a:r>
            <a:r>
              <a:rPr lang="en-IN" sz="2400" dirty="0" smtClean="0"/>
              <a:t>.</a:t>
            </a:r>
          </a:p>
          <a:p>
            <a:pPr marL="50799" indent="0">
              <a:buNone/>
            </a:pPr>
            <a:r>
              <a:rPr lang="en-IN" sz="2400" dirty="0"/>
              <a:t> </a:t>
            </a:r>
            <a:r>
              <a:rPr lang="en-IN" sz="2400" dirty="0" smtClean="0"/>
              <a:t>  -36</a:t>
            </a:r>
            <a:r>
              <a:rPr lang="en-IN" sz="2400" dirty="0"/>
              <a:t>% chance of finding one block, barely covering costs</a:t>
            </a:r>
            <a:r>
              <a:rPr lang="en-IN" sz="2400" dirty="0" smtClean="0"/>
              <a:t>.</a:t>
            </a:r>
          </a:p>
          <a:p>
            <a:pPr marL="50799" indent="0">
              <a:buNone/>
            </a:pPr>
            <a:r>
              <a:rPr lang="en-IN" sz="2400" dirty="0" smtClean="0"/>
              <a:t>   -Small </a:t>
            </a:r>
            <a:r>
              <a:rPr lang="en-IN" sz="2400" dirty="0"/>
              <a:t>chance of finding 2+ blocks, leading to profit</a:t>
            </a:r>
            <a:r>
              <a:rPr lang="en-IN" sz="2400" dirty="0" smtClean="0"/>
              <a:t>.</a:t>
            </a:r>
          </a:p>
          <a:p>
            <a:pPr marL="50799" indent="0">
              <a:buNone/>
            </a:pPr>
            <a:r>
              <a:rPr lang="en-IN" sz="2400" dirty="0" smtClean="0"/>
              <a:t>Variance </a:t>
            </a:r>
            <a:r>
              <a:rPr lang="en-IN" sz="2400" dirty="0"/>
              <a:t>is high, making small-scale mining unsustainable.</a:t>
            </a:r>
          </a:p>
        </p:txBody>
      </p:sp>
      <p:pic>
        <p:nvPicPr>
          <p:cNvPr id="5" name="Picture 4"/>
          <p:cNvPicPr>
            <a:picLocks noChangeAspect="1"/>
          </p:cNvPicPr>
          <p:nvPr/>
        </p:nvPicPr>
        <p:blipFill>
          <a:blip r:embed="rId2"/>
          <a:stretch>
            <a:fillRect/>
          </a:stretch>
        </p:blipFill>
        <p:spPr>
          <a:xfrm>
            <a:off x="5410200" y="2908537"/>
            <a:ext cx="5705475" cy="3952875"/>
          </a:xfrm>
          <a:prstGeom prst="rect">
            <a:avLst/>
          </a:prstGeom>
        </p:spPr>
      </p:pic>
    </p:spTree>
    <p:extLst>
      <p:ext uri="{BB962C8B-B14F-4D97-AF65-F5344CB8AC3E}">
        <p14:creationId xmlns:p14="http://schemas.microsoft.com/office/powerpoint/2010/main" val="19139146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1202</Words>
  <Application>Microsoft Office PowerPoint</Application>
  <PresentationFormat>Widescreen</PresentationFormat>
  <Paragraphs>152</Paragraphs>
  <Slides>23</Slides>
  <Notes>7</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Courier New</vt:lpstr>
      <vt:lpstr>Trebuchet MS</vt:lpstr>
      <vt:lpstr>Wingdings</vt:lpstr>
      <vt:lpstr>Office Theme</vt:lpstr>
      <vt:lpstr>Proof-of-work (POW) : </vt:lpstr>
      <vt:lpstr>Proof-of-work (POW) : </vt:lpstr>
      <vt:lpstr>PowerPoint Presentation</vt:lpstr>
      <vt:lpstr>PowerPoint Presentation</vt:lpstr>
      <vt:lpstr>PowerPoint Presentation</vt:lpstr>
      <vt:lpstr>PowerPoint Presentation</vt:lpstr>
      <vt:lpstr>Setting the mining difficulty</vt:lpstr>
      <vt:lpstr>PowerPoint Presentation</vt:lpstr>
      <vt:lpstr>PowerPoint Presentation</vt:lpstr>
      <vt:lpstr>PowerPoint Presentation</vt:lpstr>
      <vt:lpstr>Summary:</vt:lpstr>
      <vt:lpstr>PowerPoint Presentation</vt:lpstr>
      <vt:lpstr>PowerPoint Presentation</vt:lpstr>
      <vt:lpstr>Thermodynamic limits</vt:lpstr>
      <vt:lpstr>Why does Bitcoin mining require energy? Energy aspects of Bitcoin mining</vt:lpstr>
      <vt:lpstr>PowerPoint Presentation</vt:lpstr>
      <vt:lpstr>PowerPoint Presentation</vt:lpstr>
      <vt:lpstr>PowerPoint Presentation</vt:lpstr>
      <vt:lpstr>PowerPoint Presentation</vt:lpstr>
      <vt:lpstr>Data furnaces</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Proof-of-work (POW) :</dc:title>
  <dc:creator>Admin</dc:creator>
  <cp:lastModifiedBy>Admin</cp:lastModifiedBy>
  <cp:revision>2</cp:revision>
  <dcterms:created xsi:type="dcterms:W3CDTF">2025-03-01T03:11:48Z</dcterms:created>
  <dcterms:modified xsi:type="dcterms:W3CDTF">2025-03-01T03:13:01Z</dcterms:modified>
</cp:coreProperties>
</file>