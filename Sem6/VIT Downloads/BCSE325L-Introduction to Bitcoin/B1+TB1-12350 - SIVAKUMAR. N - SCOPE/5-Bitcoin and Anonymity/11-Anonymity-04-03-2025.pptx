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3"/>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 id="288" r:id="rId33"/>
    <p:sldId id="289" r:id="rId34"/>
    <p:sldId id="290" r:id="rId35"/>
    <p:sldId id="291" r:id="rId36"/>
    <p:sldId id="292" r:id="rId37"/>
    <p:sldId id="293" r:id="rId38"/>
    <p:sldId id="294" r:id="rId39"/>
    <p:sldId id="295" r:id="rId40"/>
    <p:sldId id="296" r:id="rId41"/>
    <p:sldId id="297" r:id="rId4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howGuides="1">
      <p:cViewPr varScale="1">
        <p:scale>
          <a:sx n="42" d="100"/>
          <a:sy n="42" d="100"/>
        </p:scale>
        <p:origin x="78" y="426"/>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A08E17B-5C0F-48B6-A9E7-A276FB7E3C3A}" type="datetimeFigureOut">
              <a:rPr lang="en-IN" smtClean="0"/>
              <a:t>16-12-2024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C0A242B-83A0-4483-97EE-CD05DF668348}" type="slidenum">
              <a:rPr lang="en-IN" smtClean="0"/>
              <a:t>‹#›</a:t>
            </a:fld>
            <a:endParaRPr lang="en-IN"/>
          </a:p>
        </p:txBody>
      </p:sp>
    </p:spTree>
    <p:extLst>
      <p:ext uri="{BB962C8B-B14F-4D97-AF65-F5344CB8AC3E}">
        <p14:creationId xmlns:p14="http://schemas.microsoft.com/office/powerpoint/2010/main" val="4304275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
        <p:cNvGrpSpPr/>
        <p:nvPr/>
      </p:nvGrpSpPr>
      <p:grpSpPr>
        <a:xfrm>
          <a:off x="0" y="0"/>
          <a:ext cx="0" cy="0"/>
          <a:chOff x="0" y="0"/>
          <a:chExt cx="0" cy="0"/>
        </a:xfrm>
      </p:grpSpPr>
      <p:sp>
        <p:nvSpPr>
          <p:cNvPr id="30" name="Google Shape;30;p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 name="Google Shape;31;p4: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95768407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
        <p:cNvGrpSpPr/>
        <p:nvPr/>
      </p:nvGrpSpPr>
      <p:grpSpPr>
        <a:xfrm>
          <a:off x="0" y="0"/>
          <a:ext cx="0" cy="0"/>
          <a:chOff x="0" y="0"/>
          <a:chExt cx="0" cy="0"/>
        </a:xfrm>
      </p:grpSpPr>
      <p:sp>
        <p:nvSpPr>
          <p:cNvPr id="36" name="Google Shape;36;p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 name="Google Shape;37;p6: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332131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
        <p:cNvGrpSpPr/>
        <p:nvPr/>
      </p:nvGrpSpPr>
      <p:grpSpPr>
        <a:xfrm>
          <a:off x="0" y="0"/>
          <a:ext cx="0" cy="0"/>
          <a:chOff x="0" y="0"/>
          <a:chExt cx="0" cy="0"/>
        </a:xfrm>
      </p:grpSpPr>
      <p:sp>
        <p:nvSpPr>
          <p:cNvPr id="41" name="Google Shape;4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 name="Google Shape;42;p9: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60707704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
        <p:cNvGrpSpPr/>
        <p:nvPr/>
      </p:nvGrpSpPr>
      <p:grpSpPr>
        <a:xfrm>
          <a:off x="0" y="0"/>
          <a:ext cx="0" cy="0"/>
          <a:chOff x="0" y="0"/>
          <a:chExt cx="0" cy="0"/>
        </a:xfrm>
      </p:grpSpPr>
      <p:sp>
        <p:nvSpPr>
          <p:cNvPr id="47" name="Google Shape;47;p11: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 name="Google Shape;48;p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0520936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
        <p:cNvGrpSpPr/>
        <p:nvPr/>
      </p:nvGrpSpPr>
      <p:grpSpPr>
        <a:xfrm>
          <a:off x="0" y="0"/>
          <a:ext cx="0" cy="0"/>
          <a:chOff x="0" y="0"/>
          <a:chExt cx="0" cy="0"/>
        </a:xfrm>
      </p:grpSpPr>
      <p:sp>
        <p:nvSpPr>
          <p:cNvPr id="53" name="Google Shape;53;p12: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54" name="Google Shape;54;p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08566421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
        <p:cNvGrpSpPr/>
        <p:nvPr/>
      </p:nvGrpSpPr>
      <p:grpSpPr>
        <a:xfrm>
          <a:off x="0" y="0"/>
          <a:ext cx="0" cy="0"/>
          <a:chOff x="0" y="0"/>
          <a:chExt cx="0" cy="0"/>
        </a:xfrm>
      </p:grpSpPr>
      <p:sp>
        <p:nvSpPr>
          <p:cNvPr id="59" name="Google Shape;59;p1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60" name="Google Shape;60;p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23337622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
        <p:cNvGrpSpPr/>
        <p:nvPr/>
      </p:nvGrpSpPr>
      <p:grpSpPr>
        <a:xfrm>
          <a:off x="0" y="0"/>
          <a:ext cx="0" cy="0"/>
          <a:chOff x="0" y="0"/>
          <a:chExt cx="0" cy="0"/>
        </a:xfrm>
      </p:grpSpPr>
      <p:sp>
        <p:nvSpPr>
          <p:cNvPr id="73" name="Google Shape;73;p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4" name="Google Shape;74;p1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If linked at any point, all tx’s identified – past, present and future</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KYC principle</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side channel example: transaction timing correlates with twitter postings</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5220287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
        <p:cNvGrpSpPr/>
        <p:nvPr/>
      </p:nvGrpSpPr>
      <p:grpSpPr>
        <a:xfrm>
          <a:off x="0" y="0"/>
          <a:ext cx="0" cy="0"/>
          <a:chOff x="0" y="0"/>
          <a:chExt cx="0" cy="0"/>
        </a:xfrm>
      </p:grpSpPr>
      <p:sp>
        <p:nvSpPr>
          <p:cNvPr id="79" name="Google Shape;79;p17: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80" name="Google Shape;80;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678354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
        <p:cNvGrpSpPr/>
        <p:nvPr/>
      </p:nvGrpSpPr>
      <p:grpSpPr>
        <a:xfrm>
          <a:off x="0" y="0"/>
          <a:ext cx="0" cy="0"/>
          <a:chOff x="0" y="0"/>
          <a:chExt cx="0" cy="0"/>
        </a:xfrm>
      </p:grpSpPr>
      <p:sp>
        <p:nvSpPr>
          <p:cNvPr id="85" name="Google Shape;85;p1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6" name="Google Shape;86;p18: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In particular, techniques like “taint” aren’t very good</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4357433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p20: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92" name="Google Shape;92;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28848187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2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8" name="Google Shape;98;p21: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Researchers should work with AML. Pointer to next lecture</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Even for traditional money laundering, difficulty is not technical but rather criminal penalties</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Efforts to improve Bitcoin anonymity don’t solve the cashing out problem, so nothing to worry about there</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87841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25: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0" name="Google Shape;110;p2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5074493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p26: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18" name="Google Shape;118;p2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72295098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3"/>
        <p:cNvGrpSpPr/>
        <p:nvPr/>
      </p:nvGrpSpPr>
      <p:grpSpPr>
        <a:xfrm>
          <a:off x="0" y="0"/>
          <a:ext cx="0" cy="0"/>
          <a:chOff x="0" y="0"/>
          <a:chExt cx="0" cy="0"/>
        </a:xfrm>
      </p:grpSpPr>
      <p:sp>
        <p:nvSpPr>
          <p:cNvPr id="154" name="Google Shape;154;p29: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55" name="Google Shape;155;p2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12925605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61" name="Google Shape;161;p30: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105109449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5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8" name="Google Shape;288;p50: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Clr>
                <a:schemeClr val="dk1"/>
              </a:buClr>
              <a:buFont typeface="Arial"/>
              <a:buNone/>
            </a:pP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24917006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1"/>
        <p:cNvGrpSpPr/>
        <p:nvPr/>
      </p:nvGrpSpPr>
      <p:grpSpPr>
        <a:xfrm>
          <a:off x="0" y="0"/>
          <a:ext cx="0" cy="0"/>
          <a:chOff x="0" y="0"/>
          <a:chExt cx="0" cy="0"/>
        </a:xfrm>
      </p:grpSpPr>
      <p:sp>
        <p:nvSpPr>
          <p:cNvPr id="292" name="Google Shape;292;p52: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93" name="Google Shape;293;p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337975524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9"/>
        <p:cNvGrpSpPr/>
        <p:nvPr/>
      </p:nvGrpSpPr>
      <p:grpSpPr>
        <a:xfrm>
          <a:off x="0" y="0"/>
          <a:ext cx="0" cy="0"/>
          <a:chOff x="0" y="0"/>
          <a:chExt cx="0" cy="0"/>
        </a:xfrm>
      </p:grpSpPr>
      <p:sp>
        <p:nvSpPr>
          <p:cNvPr id="440" name="Google Shape;440;p72: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1" name="Google Shape;441;p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36423566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5"/>
        <p:cNvGrpSpPr/>
        <p:nvPr/>
      </p:nvGrpSpPr>
      <p:grpSpPr>
        <a:xfrm>
          <a:off x="0" y="0"/>
          <a:ext cx="0" cy="0"/>
          <a:chOff x="0" y="0"/>
          <a:chExt cx="0" cy="0"/>
        </a:xfrm>
      </p:grpSpPr>
      <p:sp>
        <p:nvSpPr>
          <p:cNvPr id="446" name="Google Shape;446;p73: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47" name="Google Shape;447;p7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76850738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2"/>
        <p:cNvGrpSpPr/>
        <p:nvPr/>
      </p:nvGrpSpPr>
      <p:grpSpPr>
        <a:xfrm>
          <a:off x="0" y="0"/>
          <a:ext cx="0" cy="0"/>
          <a:chOff x="0" y="0"/>
          <a:chExt cx="0" cy="0"/>
        </a:xfrm>
      </p:grpSpPr>
      <p:sp>
        <p:nvSpPr>
          <p:cNvPr id="473" name="Google Shape;473;p74: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74" name="Google Shape;474;p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453992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p75: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481" name="Google Shape;481;p7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048412253"/>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8"/>
        <p:cNvGrpSpPr/>
        <p:nvPr/>
      </p:nvGrpSpPr>
      <p:grpSpPr>
        <a:xfrm>
          <a:off x="0" y="0"/>
          <a:ext cx="0" cy="0"/>
          <a:chOff x="0" y="0"/>
          <a:chExt cx="0" cy="0"/>
        </a:xfrm>
      </p:grpSpPr>
      <p:sp>
        <p:nvSpPr>
          <p:cNvPr id="369" name="Google Shape;369;p6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70" name="Google Shape;370;p61: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Generate a fresh address</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Same principle behind Tor</a:t>
            </a:r>
            <a:endParaRPr/>
          </a:p>
          <a:p>
            <a:pPr marL="0" marR="0" lvl="0" indent="0" algn="l" rtl="0">
              <a:spcBef>
                <a:spcPts val="0"/>
              </a:spcBef>
              <a:spcAft>
                <a:spcPts val="0"/>
              </a:spcAft>
              <a:buNone/>
            </a:pPr>
            <a:endParaRPr sz="1100" b="0" i="0" u="none" strike="noStrike" cap="none">
              <a:solidFill>
                <a:schemeClr val="dk1"/>
              </a:solidFill>
              <a:latin typeface="Arial"/>
              <a:ea typeface="Arial"/>
              <a:cs typeface="Arial"/>
              <a:sym typeface="Arial"/>
            </a:endParaRPr>
          </a:p>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Ideally we want all transactions to look identical, which motivates…</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270279657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1"/>
        <p:cNvGrpSpPr/>
        <p:nvPr/>
      </p:nvGrpSpPr>
      <p:grpSpPr>
        <a:xfrm>
          <a:off x="0" y="0"/>
          <a:ext cx="0" cy="0"/>
          <a:chOff x="0" y="0"/>
          <a:chExt cx="0" cy="0"/>
        </a:xfrm>
      </p:grpSpPr>
      <p:sp>
        <p:nvSpPr>
          <p:cNvPr id="362" name="Google Shape;362;p60:notes"/>
          <p:cNvSpPr txBox="1">
            <a:spLocks noGrp="1"/>
          </p:cNvSpPr>
          <p:nvPr>
            <p:ph type="body" idx="1"/>
          </p:nvPr>
        </p:nvSpPr>
        <p:spPr>
          <a:xfrm>
            <a:off x="685800" y="4343400"/>
            <a:ext cx="5486399"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63" name="Google Shape;363;p6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97832726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10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49" name="Google Shape;649;p102: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noAutofit/>
          </a:bodyPr>
          <a:lstStyle/>
          <a:p>
            <a:pPr marL="0" marR="0" lvl="0" indent="0" algn="l" rtl="0">
              <a:spcBef>
                <a:spcPts val="0"/>
              </a:spcBef>
              <a:spcAft>
                <a:spcPts val="0"/>
              </a:spcAft>
              <a:buNone/>
            </a:pPr>
            <a:r>
              <a:rPr lang="en" sz="1100" b="0" i="0" u="none" strike="noStrike" cap="none">
                <a:solidFill>
                  <a:schemeClr val="dk1"/>
                </a:solidFill>
                <a:latin typeface="Arial"/>
                <a:ea typeface="Arial"/>
                <a:cs typeface="Arial"/>
                <a:sym typeface="Arial"/>
              </a:rPr>
              <a:t>Engineering complexity, believability</a:t>
            </a:r>
            <a:endParaRPr sz="1100"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9004226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IN"/>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C6DE0B52-637F-4FEE-9367-9D9210EACB9C}"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114087964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DE0B52-637F-4FEE-9367-9D9210EACB9C}"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36774530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IN"/>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6DE0B52-637F-4FEE-9367-9D9210EACB9C}"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228162645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838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6172200" y="1825625"/>
            <a:ext cx="5181600" cy="435133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C6DE0B52-637F-4FEE-9367-9D9210EACB9C}"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347746207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IN"/>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C6DE0B52-637F-4FEE-9367-9D9210EACB9C}" type="datetimeFigureOut">
              <a:rPr lang="en-IN" smtClean="0"/>
              <a:t>16-12-2024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422397375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C6DE0B52-637F-4FEE-9367-9D9210EACB9C}" type="datetimeFigureOut">
              <a:rPr lang="en-IN" smtClean="0"/>
              <a:t>16-12-2024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28405890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6DE0B52-637F-4FEE-9367-9D9210EACB9C}" type="datetimeFigureOut">
              <a:rPr lang="en-IN" smtClean="0"/>
              <a:t>16-12-2024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2477875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DE0B52-637F-4FEE-9367-9D9210EACB9C}"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146186823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IN"/>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C6DE0B52-637F-4FEE-9367-9D9210EACB9C}" type="datetimeFigureOut">
              <a:rPr lang="en-IN" smtClean="0"/>
              <a:t>16-12-2024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42235805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DE0B52-637F-4FEE-9367-9D9210EACB9C}"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24187383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C6DE0B52-637F-4FEE-9367-9D9210EACB9C}" type="datetimeFigureOut">
              <a:rPr lang="en-IN" smtClean="0"/>
              <a:t>16-12-2024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CA13E409-0B09-4112-9814-1F3E18FC4284}" type="slidenum">
              <a:rPr lang="en-IN" smtClean="0"/>
              <a:t>‹#›</a:t>
            </a:fld>
            <a:endParaRPr lang="en-IN"/>
          </a:p>
        </p:txBody>
      </p:sp>
    </p:spTree>
    <p:extLst>
      <p:ext uri="{BB962C8B-B14F-4D97-AF65-F5344CB8AC3E}">
        <p14:creationId xmlns:p14="http://schemas.microsoft.com/office/powerpoint/2010/main" val="17410013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609600" y="274637"/>
            <a:ext cx="10972800" cy="1143000"/>
          </a:xfrm>
          <a:prstGeom prst="rect">
            <a:avLst/>
          </a:prstGeom>
        </p:spPr>
        <p:txBody>
          <a:bodyPr spcFirstLastPara="1" wrap="square" lIns="91425" tIns="91425" rIns="91425" bIns="91425" anchor="b" anchorCtr="0">
            <a:noAutofit/>
          </a:bodyPr>
          <a:lstStyle>
            <a:lvl1pPr lvl="0">
              <a:spcBef>
                <a:spcPts val="0"/>
              </a:spcBef>
              <a:spcAft>
                <a:spcPts val="0"/>
              </a:spcAft>
              <a:buSzPts val="3600"/>
              <a:buNone/>
              <a:defRPr/>
            </a:lvl1pPr>
            <a:lvl2pPr lvl="1">
              <a:spcBef>
                <a:spcPts val="0"/>
              </a:spcBef>
              <a:spcAft>
                <a:spcPts val="0"/>
              </a:spcAft>
              <a:buSzPts val="3600"/>
              <a:buNone/>
              <a:defRPr/>
            </a:lvl2pPr>
            <a:lvl3pPr lvl="2">
              <a:spcBef>
                <a:spcPts val="0"/>
              </a:spcBef>
              <a:spcAft>
                <a:spcPts val="0"/>
              </a:spcAft>
              <a:buSzPts val="3600"/>
              <a:buNone/>
              <a:defRPr/>
            </a:lvl3pPr>
            <a:lvl4pPr lvl="3">
              <a:spcBef>
                <a:spcPts val="0"/>
              </a:spcBef>
              <a:spcAft>
                <a:spcPts val="0"/>
              </a:spcAft>
              <a:buSzPts val="3600"/>
              <a:buNone/>
              <a:defRPr/>
            </a:lvl4pPr>
            <a:lvl5pPr lvl="4">
              <a:spcBef>
                <a:spcPts val="0"/>
              </a:spcBef>
              <a:spcAft>
                <a:spcPts val="0"/>
              </a:spcAft>
              <a:buSzPts val="3600"/>
              <a:buNone/>
              <a:defRPr/>
            </a:lvl5pPr>
            <a:lvl6pPr lvl="5">
              <a:spcBef>
                <a:spcPts val="0"/>
              </a:spcBef>
              <a:spcAft>
                <a:spcPts val="0"/>
              </a:spcAft>
              <a:buSzPts val="3600"/>
              <a:buNone/>
              <a:defRPr/>
            </a:lvl6pPr>
            <a:lvl7pPr lvl="6">
              <a:spcBef>
                <a:spcPts val="0"/>
              </a:spcBef>
              <a:spcAft>
                <a:spcPts val="0"/>
              </a:spcAft>
              <a:buSzPts val="3600"/>
              <a:buNone/>
              <a:defRPr/>
            </a:lvl7pPr>
            <a:lvl8pPr lvl="7">
              <a:spcBef>
                <a:spcPts val="0"/>
              </a:spcBef>
              <a:spcAft>
                <a:spcPts val="0"/>
              </a:spcAft>
              <a:buSzPts val="3600"/>
              <a:buNone/>
              <a:defRPr/>
            </a:lvl8pPr>
            <a:lvl9pPr lvl="8">
              <a:spcBef>
                <a:spcPts val="0"/>
              </a:spcBef>
              <a:spcAft>
                <a:spcPts val="0"/>
              </a:spcAft>
              <a:buSzPts val="3600"/>
              <a:buNone/>
              <a:defRPr/>
            </a:lvl9pPr>
          </a:lstStyle>
          <a:p>
            <a:endParaRPr/>
          </a:p>
        </p:txBody>
      </p:sp>
      <p:sp>
        <p:nvSpPr>
          <p:cNvPr id="15" name="Google Shape;15;p3"/>
          <p:cNvSpPr txBox="1">
            <a:spLocks noGrp="1"/>
          </p:cNvSpPr>
          <p:nvPr>
            <p:ph type="body" idx="1"/>
          </p:nvPr>
        </p:nvSpPr>
        <p:spPr>
          <a:xfrm>
            <a:off x="609600" y="1600201"/>
            <a:ext cx="10972800" cy="4967575"/>
          </a:xfrm>
          <a:prstGeom prst="rect">
            <a:avLst/>
          </a:prstGeom>
        </p:spPr>
        <p:txBody>
          <a:bodyPr spcFirstLastPara="1" wrap="square" lIns="91425" tIns="91425" rIns="91425" bIns="91425" anchor="t" anchorCtr="0">
            <a:noAutofit/>
          </a:bodyPr>
          <a:lstStyle>
            <a:lvl1pPr marL="609585" lvl="0" indent="-558786">
              <a:spcBef>
                <a:spcPts val="800"/>
              </a:spcBef>
              <a:spcAft>
                <a:spcPts val="0"/>
              </a:spcAft>
              <a:buSzPts val="3000"/>
              <a:buChar char="●"/>
              <a:defRPr/>
            </a:lvl1pPr>
            <a:lvl2pPr marL="1219170" lvl="1" indent="-507987">
              <a:spcBef>
                <a:spcPts val="0"/>
              </a:spcBef>
              <a:spcAft>
                <a:spcPts val="0"/>
              </a:spcAft>
              <a:buSzPts val="2400"/>
              <a:buChar char="○"/>
              <a:defRPr/>
            </a:lvl2pPr>
            <a:lvl3pPr marL="1828754" lvl="2" indent="-507987">
              <a:spcBef>
                <a:spcPts val="0"/>
              </a:spcBef>
              <a:spcAft>
                <a:spcPts val="0"/>
              </a:spcAft>
              <a:buSzPts val="2400"/>
              <a:buChar char="■"/>
              <a:defRPr/>
            </a:lvl3pPr>
            <a:lvl4pPr marL="2438339" lvl="3" indent="-457189">
              <a:spcBef>
                <a:spcPts val="0"/>
              </a:spcBef>
              <a:spcAft>
                <a:spcPts val="0"/>
              </a:spcAft>
              <a:buSzPts val="1800"/>
              <a:buChar char="●"/>
              <a:defRPr/>
            </a:lvl4pPr>
            <a:lvl5pPr marL="3047924" lvl="4" indent="-457189">
              <a:spcBef>
                <a:spcPts val="0"/>
              </a:spcBef>
              <a:spcAft>
                <a:spcPts val="0"/>
              </a:spcAft>
              <a:buSzPts val="1800"/>
              <a:buChar char="○"/>
              <a:defRPr/>
            </a:lvl5pPr>
            <a:lvl6pPr marL="3657509" lvl="5" indent="-457189">
              <a:spcBef>
                <a:spcPts val="0"/>
              </a:spcBef>
              <a:spcAft>
                <a:spcPts val="0"/>
              </a:spcAft>
              <a:buSzPts val="1800"/>
              <a:buChar char="■"/>
              <a:defRPr/>
            </a:lvl6pPr>
            <a:lvl7pPr marL="4267093" lvl="6" indent="-457189">
              <a:spcBef>
                <a:spcPts val="0"/>
              </a:spcBef>
              <a:spcAft>
                <a:spcPts val="0"/>
              </a:spcAft>
              <a:buSzPts val="1800"/>
              <a:buChar char="●"/>
              <a:defRPr/>
            </a:lvl7pPr>
            <a:lvl8pPr marL="4876678" lvl="7" indent="-457189">
              <a:spcBef>
                <a:spcPts val="0"/>
              </a:spcBef>
              <a:spcAft>
                <a:spcPts val="0"/>
              </a:spcAft>
              <a:buSzPts val="1800"/>
              <a:buChar char="○"/>
              <a:defRPr/>
            </a:lvl8pPr>
            <a:lvl9pPr marL="5486263" lvl="8" indent="-457189">
              <a:spcBef>
                <a:spcPts val="0"/>
              </a:spcBef>
              <a:spcAft>
                <a:spcPts val="0"/>
              </a:spcAft>
              <a:buSzPts val="1800"/>
              <a:buChar char="■"/>
              <a:defRPr/>
            </a:lvl9pPr>
          </a:lstStyle>
          <a:p>
            <a:endParaRPr/>
          </a:p>
        </p:txBody>
      </p:sp>
    </p:spTree>
    <p:extLst>
      <p:ext uri="{BB962C8B-B14F-4D97-AF65-F5344CB8AC3E}">
        <p14:creationId xmlns:p14="http://schemas.microsoft.com/office/powerpoint/2010/main" val="2283049088"/>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wo Columns" type="twoColTx">
  <p:cSld name="Title and Two Columns">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609600" y="274637"/>
            <a:ext cx="10972800" cy="1143000"/>
          </a:xfrm>
          <a:prstGeom prst="rect">
            <a:avLst/>
          </a:prstGeom>
          <a:noFill/>
          <a:ln>
            <a:noFill/>
          </a:ln>
        </p:spPr>
        <p:txBody>
          <a:bodyPr spcFirstLastPara="1" wrap="square" lIns="91425" tIns="91425" rIns="91425" bIns="91425" anchor="b" anchorCtr="0">
            <a:noAutofit/>
          </a:bodyPr>
          <a:lstStyle>
            <a:lvl1pPr lvl="0" rtl="0">
              <a:spcBef>
                <a:spcPts val="0"/>
              </a:spcBef>
              <a:spcAft>
                <a:spcPts val="0"/>
              </a:spcAft>
              <a:buSzPts val="14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8" name="Google Shape;18;p4"/>
          <p:cNvSpPr txBox="1">
            <a:spLocks noGrp="1"/>
          </p:cNvSpPr>
          <p:nvPr>
            <p:ph type="body" idx="1"/>
          </p:nvPr>
        </p:nvSpPr>
        <p:spPr>
          <a:xfrm>
            <a:off x="609601" y="1600200"/>
            <a:ext cx="5326033" cy="4967573"/>
          </a:xfrm>
          <a:prstGeom prst="rect">
            <a:avLst/>
          </a:prstGeom>
          <a:noFill/>
          <a:ln>
            <a:noFill/>
          </a:ln>
        </p:spPr>
        <p:txBody>
          <a:bodyPr spcFirstLastPara="1" wrap="square" lIns="91425" tIns="91425" rIns="91425" bIns="91425" anchor="t" anchorCtr="0">
            <a:noAutofit/>
          </a:bodyPr>
          <a:lstStyle>
            <a:lvl1pPr marL="609585" lvl="0" indent="-304792" rtl="0">
              <a:spcBef>
                <a:spcPts val="0"/>
              </a:spcBef>
              <a:spcAft>
                <a:spcPts val="0"/>
              </a:spcAft>
              <a:buSzPts val="1400"/>
              <a:buNone/>
              <a:defRPr/>
            </a:lvl1pPr>
            <a:lvl2pPr marL="1219170" lvl="1" indent="-304792" rtl="0">
              <a:spcBef>
                <a:spcPts val="0"/>
              </a:spcBef>
              <a:spcAft>
                <a:spcPts val="0"/>
              </a:spcAft>
              <a:buSzPts val="1400"/>
              <a:buNone/>
              <a:defRPr/>
            </a:lvl2pPr>
            <a:lvl3pPr marL="1828754" lvl="2" indent="-304792" rtl="0">
              <a:spcBef>
                <a:spcPts val="0"/>
              </a:spcBef>
              <a:spcAft>
                <a:spcPts val="0"/>
              </a:spcAft>
              <a:buSzPts val="1400"/>
              <a:buNone/>
              <a:defRPr/>
            </a:lvl3pPr>
            <a:lvl4pPr marL="2438339" lvl="3" indent="-304792" rtl="0">
              <a:spcBef>
                <a:spcPts val="0"/>
              </a:spcBef>
              <a:spcAft>
                <a:spcPts val="0"/>
              </a:spcAft>
              <a:buSzPts val="1400"/>
              <a:buNone/>
              <a:defRPr/>
            </a:lvl4pPr>
            <a:lvl5pPr marL="3047924" lvl="4" indent="-304792" rtl="0">
              <a:spcBef>
                <a:spcPts val="0"/>
              </a:spcBef>
              <a:spcAft>
                <a:spcPts val="0"/>
              </a:spcAft>
              <a:buSzPts val="1400"/>
              <a:buNone/>
              <a:defRPr/>
            </a:lvl5pPr>
            <a:lvl6pPr marL="3657509" lvl="5" indent="-304792" rtl="0">
              <a:spcBef>
                <a:spcPts val="0"/>
              </a:spcBef>
              <a:spcAft>
                <a:spcPts val="0"/>
              </a:spcAft>
              <a:buSzPts val="1400"/>
              <a:buNone/>
              <a:defRPr/>
            </a:lvl6pPr>
            <a:lvl7pPr marL="4267093" lvl="6" indent="-304792" rtl="0">
              <a:spcBef>
                <a:spcPts val="0"/>
              </a:spcBef>
              <a:spcAft>
                <a:spcPts val="0"/>
              </a:spcAft>
              <a:buSzPts val="1400"/>
              <a:buNone/>
              <a:defRPr/>
            </a:lvl7pPr>
            <a:lvl8pPr marL="4876678" lvl="7" indent="-304792" rtl="0">
              <a:spcBef>
                <a:spcPts val="0"/>
              </a:spcBef>
              <a:spcAft>
                <a:spcPts val="0"/>
              </a:spcAft>
              <a:buSzPts val="1400"/>
              <a:buNone/>
              <a:defRPr/>
            </a:lvl8pPr>
            <a:lvl9pPr marL="5486263" lvl="8" indent="-304792" rtl="0">
              <a:spcBef>
                <a:spcPts val="0"/>
              </a:spcBef>
              <a:spcAft>
                <a:spcPts val="0"/>
              </a:spcAft>
              <a:buSzPts val="1400"/>
              <a:buNone/>
              <a:defRPr/>
            </a:lvl9pPr>
          </a:lstStyle>
          <a:p>
            <a:endParaRPr/>
          </a:p>
        </p:txBody>
      </p:sp>
      <p:sp>
        <p:nvSpPr>
          <p:cNvPr id="19" name="Google Shape;19;p4"/>
          <p:cNvSpPr txBox="1">
            <a:spLocks noGrp="1"/>
          </p:cNvSpPr>
          <p:nvPr>
            <p:ph type="body" idx="2"/>
          </p:nvPr>
        </p:nvSpPr>
        <p:spPr>
          <a:xfrm>
            <a:off x="6256365" y="1600200"/>
            <a:ext cx="5326033" cy="4967573"/>
          </a:xfrm>
          <a:prstGeom prst="rect">
            <a:avLst/>
          </a:prstGeom>
          <a:noFill/>
          <a:ln>
            <a:noFill/>
          </a:ln>
        </p:spPr>
        <p:txBody>
          <a:bodyPr spcFirstLastPara="1" wrap="square" lIns="91425" tIns="91425" rIns="91425" bIns="91425" anchor="t" anchorCtr="0">
            <a:noAutofit/>
          </a:bodyPr>
          <a:lstStyle>
            <a:lvl1pPr marL="609585" lvl="0" indent="-304792" rtl="0">
              <a:spcBef>
                <a:spcPts val="0"/>
              </a:spcBef>
              <a:spcAft>
                <a:spcPts val="0"/>
              </a:spcAft>
              <a:buSzPts val="1400"/>
              <a:buNone/>
              <a:defRPr/>
            </a:lvl1pPr>
            <a:lvl2pPr marL="1219170" lvl="1" indent="-304792" rtl="0">
              <a:spcBef>
                <a:spcPts val="0"/>
              </a:spcBef>
              <a:spcAft>
                <a:spcPts val="0"/>
              </a:spcAft>
              <a:buSzPts val="1400"/>
              <a:buNone/>
              <a:defRPr/>
            </a:lvl2pPr>
            <a:lvl3pPr marL="1828754" lvl="2" indent="-304792" rtl="0">
              <a:spcBef>
                <a:spcPts val="0"/>
              </a:spcBef>
              <a:spcAft>
                <a:spcPts val="0"/>
              </a:spcAft>
              <a:buSzPts val="1400"/>
              <a:buNone/>
              <a:defRPr/>
            </a:lvl3pPr>
            <a:lvl4pPr marL="2438339" lvl="3" indent="-304792" rtl="0">
              <a:spcBef>
                <a:spcPts val="0"/>
              </a:spcBef>
              <a:spcAft>
                <a:spcPts val="0"/>
              </a:spcAft>
              <a:buSzPts val="1400"/>
              <a:buNone/>
              <a:defRPr/>
            </a:lvl4pPr>
            <a:lvl5pPr marL="3047924" lvl="4" indent="-304792" rtl="0">
              <a:spcBef>
                <a:spcPts val="0"/>
              </a:spcBef>
              <a:spcAft>
                <a:spcPts val="0"/>
              </a:spcAft>
              <a:buSzPts val="1400"/>
              <a:buNone/>
              <a:defRPr/>
            </a:lvl5pPr>
            <a:lvl6pPr marL="3657509" lvl="5" indent="-304792" rtl="0">
              <a:spcBef>
                <a:spcPts val="0"/>
              </a:spcBef>
              <a:spcAft>
                <a:spcPts val="0"/>
              </a:spcAft>
              <a:buSzPts val="1400"/>
              <a:buNone/>
              <a:defRPr/>
            </a:lvl6pPr>
            <a:lvl7pPr marL="4267093" lvl="6" indent="-304792" rtl="0">
              <a:spcBef>
                <a:spcPts val="0"/>
              </a:spcBef>
              <a:spcAft>
                <a:spcPts val="0"/>
              </a:spcAft>
              <a:buSzPts val="1400"/>
              <a:buNone/>
              <a:defRPr/>
            </a:lvl7pPr>
            <a:lvl8pPr marL="4876678" lvl="7" indent="-304792" rtl="0">
              <a:spcBef>
                <a:spcPts val="0"/>
              </a:spcBef>
              <a:spcAft>
                <a:spcPts val="0"/>
              </a:spcAft>
              <a:buSzPts val="1400"/>
              <a:buNone/>
              <a:defRPr/>
            </a:lvl8pPr>
            <a:lvl9pPr marL="5486263" lvl="8" indent="-304792" rtl="0">
              <a:spcBef>
                <a:spcPts val="0"/>
              </a:spcBef>
              <a:spcAft>
                <a:spcPts val="0"/>
              </a:spcAft>
              <a:buSzPts val="1400"/>
              <a:buNone/>
              <a:defRPr/>
            </a:lvl9pPr>
          </a:lstStyle>
          <a:p>
            <a:endParaRPr/>
          </a:p>
        </p:txBody>
      </p:sp>
    </p:spTree>
    <p:extLst>
      <p:ext uri="{BB962C8B-B14F-4D97-AF65-F5344CB8AC3E}">
        <p14:creationId xmlns:p14="http://schemas.microsoft.com/office/powerpoint/2010/main" val="32969963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6DE0B52-637F-4FEE-9367-9D9210EACB9C}" type="datetimeFigureOut">
              <a:rPr lang="en-IN" smtClean="0"/>
              <a:t>16-12-2024</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A13E409-0B09-4112-9814-1F3E18FC4284}" type="slidenum">
              <a:rPr lang="en-IN" smtClean="0"/>
              <a:t>‹#›</a:t>
            </a:fld>
            <a:endParaRPr lang="en-IN"/>
          </a:p>
        </p:txBody>
      </p:sp>
    </p:spTree>
    <p:extLst>
      <p:ext uri="{BB962C8B-B14F-4D97-AF65-F5344CB8AC3E}">
        <p14:creationId xmlns:p14="http://schemas.microsoft.com/office/powerpoint/2010/main" val="2392208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hyperlink" Target="1107.4524(2).pdf" TargetMode="Externa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hyperlink" Target="imc13.pdf" TargetMode="Externa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7.xml"/><Relationship Id="rId1" Type="http://schemas.openxmlformats.org/officeDocument/2006/relationships/slideLayout" Target="../slideLayouts/slideLayout1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9.xml"/><Relationship Id="rId1" Type="http://schemas.openxmlformats.org/officeDocument/2006/relationships/slideLayout" Target="../slideLayouts/slideLayout12.xml"/><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2.xml"/><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3.xml"/><Relationship Id="rId1" Type="http://schemas.openxmlformats.org/officeDocument/2006/relationships/slideLayout" Target="../slideLayouts/slideLayout13.xml"/></Relationships>
</file>

<file path=ppt/slides/_rels/slide30.xml.rels><?xml version="1.0" encoding="UTF-8" standalone="yes"?>
<Relationships xmlns="http://schemas.openxmlformats.org/package/2006/relationships"><Relationship Id="rId3" Type="http://schemas.openxmlformats.org/officeDocument/2006/relationships/hyperlink" Target="TmbleBit.pdf" TargetMode="External"/><Relationship Id="rId2" Type="http://schemas.openxmlformats.org/officeDocument/2006/relationships/hyperlink" Target="https://bitcointalk.org/index.php?topic=321228" TargetMode="External"/><Relationship Id="rId1" Type="http://schemas.openxmlformats.org/officeDocument/2006/relationships/slideLayout" Target="../slideLayouts/slideLayout12.xml"/><Relationship Id="rId4" Type="http://schemas.openxmlformats.org/officeDocument/2006/relationships/hyperlink" Target="https://eprint.iacr.org/2016/575.pdf" TargetMode="Externa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1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2"/>
        <p:cNvGrpSpPr/>
        <p:nvPr/>
      </p:nvGrpSpPr>
      <p:grpSpPr>
        <a:xfrm>
          <a:off x="0" y="0"/>
          <a:ext cx="0" cy="0"/>
          <a:chOff x="0" y="0"/>
          <a:chExt cx="0" cy="0"/>
        </a:xfrm>
      </p:grpSpPr>
      <p:sp>
        <p:nvSpPr>
          <p:cNvPr id="34" name="Google Shape;34;p8"/>
          <p:cNvSpPr txBox="1">
            <a:spLocks noGrp="1"/>
          </p:cNvSpPr>
          <p:nvPr>
            <p:ph type="subTitle" idx="1"/>
          </p:nvPr>
        </p:nvSpPr>
        <p:spPr>
          <a:xfrm>
            <a:off x="914400" y="3786738"/>
            <a:ext cx="10363200" cy="1046316"/>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r>
              <a:rPr lang="en" sz="4000" dirty="0" smtClean="0">
                <a:solidFill>
                  <a:schemeClr val="tx1"/>
                </a:solidFill>
                <a:latin typeface="Trebuchet MS"/>
                <a:ea typeface="Trebuchet MS"/>
                <a:cs typeface="Trebuchet MS"/>
                <a:sym typeface="Trebuchet MS"/>
              </a:rPr>
              <a:t>Bitcoin and anonymity</a:t>
            </a:r>
            <a:endParaRPr sz="4000" dirty="0">
              <a:solidFill>
                <a:schemeClr val="tx1"/>
              </a:solidFill>
              <a:latin typeface="Trebuchet MS"/>
              <a:ea typeface="Trebuchet MS"/>
              <a:cs typeface="Trebuchet MS"/>
              <a:sym typeface="Trebuchet MS"/>
            </a:endParaRPr>
          </a:p>
        </p:txBody>
      </p:sp>
    </p:spTree>
    <p:extLst>
      <p:ext uri="{BB962C8B-B14F-4D97-AF65-F5344CB8AC3E}">
        <p14:creationId xmlns:p14="http://schemas.microsoft.com/office/powerpoint/2010/main" val="405883969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8"/>
        <p:cNvGrpSpPr/>
        <p:nvPr/>
      </p:nvGrpSpPr>
      <p:grpSpPr>
        <a:xfrm>
          <a:off x="0" y="0"/>
          <a:ext cx="0" cy="0"/>
          <a:chOff x="0" y="0"/>
          <a:chExt cx="0" cy="0"/>
        </a:xfrm>
      </p:grpSpPr>
      <p:sp>
        <p:nvSpPr>
          <p:cNvPr id="39" name="Google Shape;39;p9"/>
          <p:cNvSpPr txBox="1">
            <a:spLocks noGrp="1"/>
          </p:cNvSpPr>
          <p:nvPr>
            <p:ph type="subTitle" idx="1"/>
          </p:nvPr>
        </p:nvSpPr>
        <p:spPr>
          <a:xfrm>
            <a:off x="914400" y="2253971"/>
            <a:ext cx="10363200" cy="10463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sz="4000" dirty="0">
                <a:solidFill>
                  <a:schemeClr val="tx1"/>
                </a:solidFill>
                <a:latin typeface="Trebuchet MS"/>
                <a:ea typeface="Trebuchet MS"/>
                <a:cs typeface="Trebuchet MS"/>
                <a:sym typeface="Trebuchet MS"/>
              </a:rPr>
              <a:t>Anonymity basics</a:t>
            </a:r>
            <a:endParaRPr sz="4000" dirty="0">
              <a:solidFill>
                <a:schemeClr val="tx1"/>
              </a:solidFill>
              <a:latin typeface="Trebuchet MS"/>
              <a:ea typeface="Trebuchet MS"/>
              <a:cs typeface="Trebuchet MS"/>
              <a:sym typeface="Trebuchet MS"/>
            </a:endParaRPr>
          </a:p>
        </p:txBody>
      </p:sp>
    </p:spTree>
    <p:extLst>
      <p:ext uri="{BB962C8B-B14F-4D97-AF65-F5344CB8AC3E}">
        <p14:creationId xmlns:p14="http://schemas.microsoft.com/office/powerpoint/2010/main" val="85737442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0"/>
          <p:cNvSpPr txBox="1">
            <a:spLocks noGrp="1"/>
          </p:cNvSpPr>
          <p:nvPr>
            <p:ph type="title"/>
          </p:nvPr>
        </p:nvSpPr>
        <p:spPr>
          <a:xfrm>
            <a:off x="609600" y="274637"/>
            <a:ext cx="10972800" cy="11432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Some say Bitcoin provides anonymity</a:t>
            </a:r>
            <a:endParaRPr sz="4800" b="1">
              <a:solidFill>
                <a:schemeClr val="dk1"/>
              </a:solidFill>
              <a:latin typeface="Trebuchet MS"/>
              <a:ea typeface="Trebuchet MS"/>
              <a:cs typeface="Trebuchet MS"/>
              <a:sym typeface="Trebuchet MS"/>
            </a:endParaRPr>
          </a:p>
        </p:txBody>
      </p:sp>
      <p:sp>
        <p:nvSpPr>
          <p:cNvPr id="45" name="Google Shape;45;p10"/>
          <p:cNvSpPr txBox="1">
            <a:spLocks noGrp="1"/>
          </p:cNvSpPr>
          <p:nvPr>
            <p:ph type="body" idx="1"/>
          </p:nvPr>
        </p:nvSpPr>
        <p:spPr>
          <a:xfrm>
            <a:off x="609600" y="1600201"/>
            <a:ext cx="10972800" cy="49675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Bitcoin is a secure and anonymous digital </a:t>
            </a:r>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currency ”</a:t>
            </a:r>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 WikiLeaks donations page</a:t>
            </a:r>
            <a:endParaRPr sz="400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99564405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49"/>
        <p:cNvGrpSpPr/>
        <p:nvPr/>
      </p:nvGrpSpPr>
      <p:grpSpPr>
        <a:xfrm>
          <a:off x="0" y="0"/>
          <a:ext cx="0" cy="0"/>
          <a:chOff x="0" y="0"/>
          <a:chExt cx="0" cy="0"/>
        </a:xfrm>
      </p:grpSpPr>
      <p:sp>
        <p:nvSpPr>
          <p:cNvPr id="50" name="Google Shape;50;p11"/>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Others say it doesn’t</a:t>
            </a:r>
            <a:endParaRPr sz="4800" b="1">
              <a:solidFill>
                <a:schemeClr val="dk1"/>
              </a:solidFill>
              <a:latin typeface="Trebuchet MS"/>
              <a:ea typeface="Trebuchet MS"/>
              <a:cs typeface="Trebuchet MS"/>
              <a:sym typeface="Trebuchet MS"/>
            </a:endParaRPr>
          </a:p>
        </p:txBody>
      </p:sp>
      <p:sp>
        <p:nvSpPr>
          <p:cNvPr id="51" name="Google Shape;51;p11"/>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Bitcoin won't hide you from the NSA's prying </a:t>
            </a: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eyes”</a:t>
            </a:r>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	— Wired UK</a:t>
            </a:r>
            <a:endParaRPr sz="4000">
              <a:solidFill>
                <a:schemeClr val="dk1"/>
              </a:solidFill>
              <a:latin typeface="Trebuchet MS"/>
              <a:ea typeface="Trebuchet MS"/>
              <a:cs typeface="Trebuchet MS"/>
              <a:sym typeface="Trebuchet MS"/>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229142772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55"/>
        <p:cNvGrpSpPr/>
        <p:nvPr/>
      </p:nvGrpSpPr>
      <p:grpSpPr>
        <a:xfrm>
          <a:off x="0" y="0"/>
          <a:ext cx="0" cy="0"/>
          <a:chOff x="0" y="0"/>
          <a:chExt cx="0" cy="0"/>
        </a:xfrm>
      </p:grpSpPr>
      <p:sp>
        <p:nvSpPr>
          <p:cNvPr id="56" name="Google Shape;56;p12"/>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What do we mean by anonymity?</a:t>
            </a:r>
            <a:endParaRPr sz="4800" b="1">
              <a:solidFill>
                <a:schemeClr val="dk1"/>
              </a:solidFill>
              <a:latin typeface="Trebuchet MS"/>
              <a:ea typeface="Trebuchet MS"/>
              <a:cs typeface="Trebuchet MS"/>
              <a:sym typeface="Trebuchet MS"/>
            </a:endParaRPr>
          </a:p>
        </p:txBody>
      </p:sp>
      <p:sp>
        <p:nvSpPr>
          <p:cNvPr id="57" name="Google Shape;57;p12"/>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 sz="4000">
                <a:solidFill>
                  <a:schemeClr val="dk1"/>
                </a:solidFill>
                <a:latin typeface="Trebuchet MS"/>
                <a:ea typeface="Trebuchet MS"/>
                <a:cs typeface="Trebuchet MS"/>
                <a:sym typeface="Trebuchet MS"/>
              </a:rPr>
              <a:t>Literally: anonymous = without a name</a:t>
            </a:r>
            <a:endParaRPr sz="4000">
              <a:solidFill>
                <a:schemeClr val="dk1"/>
              </a:solidFill>
              <a:latin typeface="Trebuchet MS"/>
              <a:ea typeface="Trebuchet MS"/>
              <a:cs typeface="Trebuchet MS"/>
              <a:sym typeface="Trebuchet MS"/>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Bitcoin addresses are public key hashes rather than real identities</a:t>
            </a:r>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Computer scientists call this </a:t>
            </a:r>
            <a:r>
              <a:rPr lang="en" sz="4000" u="sng">
                <a:solidFill>
                  <a:schemeClr val="dk1"/>
                </a:solidFill>
                <a:latin typeface="Trebuchet MS"/>
                <a:ea typeface="Trebuchet MS"/>
                <a:cs typeface="Trebuchet MS"/>
                <a:sym typeface="Trebuchet MS"/>
              </a:rPr>
              <a:t>pseudonymity</a:t>
            </a:r>
            <a:endParaRPr sz="4000" u="sng">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121147931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61"/>
        <p:cNvGrpSpPr/>
        <p:nvPr/>
      </p:nvGrpSpPr>
      <p:grpSpPr>
        <a:xfrm>
          <a:off x="0" y="0"/>
          <a:ext cx="0" cy="0"/>
          <a:chOff x="0" y="0"/>
          <a:chExt cx="0" cy="0"/>
        </a:xfrm>
      </p:grpSpPr>
      <p:sp>
        <p:nvSpPr>
          <p:cNvPr id="62" name="Google Shape;62;p13"/>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Anonymity in computer science</a:t>
            </a:r>
            <a:endParaRPr sz="4800" b="1">
              <a:solidFill>
                <a:schemeClr val="dk1"/>
              </a:solidFill>
              <a:latin typeface="Trebuchet MS"/>
              <a:ea typeface="Trebuchet MS"/>
              <a:cs typeface="Trebuchet MS"/>
              <a:sym typeface="Trebuchet MS"/>
            </a:endParaRPr>
          </a:p>
        </p:txBody>
      </p:sp>
      <p:sp>
        <p:nvSpPr>
          <p:cNvPr id="63" name="Google Shape;63;p13"/>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endParaRPr sz="4000">
              <a:solidFill>
                <a:schemeClr val="dk1"/>
              </a:solidFill>
              <a:latin typeface="Trebuchet MS"/>
              <a:ea typeface="Trebuchet MS"/>
              <a:cs typeface="Trebuchet MS"/>
              <a:sym typeface="Trebuchet MS"/>
            </a:endParaRPr>
          </a:p>
          <a:p>
            <a:pPr marL="0" indent="0">
              <a:spcBef>
                <a:spcPts val="0"/>
              </a:spcBef>
              <a:buClr>
                <a:schemeClr val="dk1"/>
              </a:buClr>
              <a:buNone/>
            </a:pPr>
            <a:r>
              <a:rPr lang="en" sz="4000">
                <a:solidFill>
                  <a:schemeClr val="dk1"/>
                </a:solidFill>
                <a:latin typeface="Trebuchet MS"/>
                <a:ea typeface="Trebuchet MS"/>
                <a:cs typeface="Trebuchet MS"/>
                <a:sym typeface="Trebuchet MS"/>
              </a:rPr>
              <a:t>Different interactions of the same user with the system should not be linkable to each other</a:t>
            </a:r>
            <a:endParaRPr sz="4000">
              <a:solidFill>
                <a:schemeClr val="dk1"/>
              </a:solidFill>
              <a:latin typeface="Trebuchet MS"/>
              <a:ea typeface="Trebuchet MS"/>
              <a:cs typeface="Trebuchet MS"/>
              <a:sym typeface="Trebuchet MS"/>
            </a:endParaRPr>
          </a:p>
        </p:txBody>
      </p:sp>
      <p:sp>
        <p:nvSpPr>
          <p:cNvPr id="64" name="Google Shape;64;p13"/>
          <p:cNvSpPr/>
          <p:nvPr/>
        </p:nvSpPr>
        <p:spPr>
          <a:xfrm>
            <a:off x="1016001" y="2487136"/>
            <a:ext cx="9840729" cy="738664"/>
          </a:xfrm>
          <a:prstGeom prst="rect">
            <a:avLst/>
          </a:prstGeom>
          <a:solidFill>
            <a:srgbClr val="EFD7AE"/>
          </a:solidFill>
          <a:ln w="19050" cap="flat" cmpd="sng">
            <a:solidFill>
              <a:srgbClr val="E7C586"/>
            </a:solidFill>
            <a:prstDash val="solid"/>
            <a:round/>
            <a:headEnd type="none" w="sm" len="sm"/>
            <a:tailEnd type="none" w="sm" len="sm"/>
          </a:ln>
        </p:spPr>
        <p:txBody>
          <a:bodyPr spcFirstLastPara="1" wrap="square" lIns="121900" tIns="60933" rIns="121900" bIns="60933" anchor="t" anchorCtr="0">
            <a:noAutofit/>
          </a:bodyPr>
          <a:lstStyle/>
          <a:p>
            <a:pPr algn="ctr">
              <a:buClr>
                <a:srgbClr val="000000"/>
              </a:buClr>
            </a:pPr>
            <a:r>
              <a:rPr lang="en" sz="4000">
                <a:solidFill>
                  <a:srgbClr val="000000"/>
                </a:solidFill>
                <a:latin typeface="Trebuchet MS"/>
                <a:ea typeface="Trebuchet MS"/>
                <a:cs typeface="Trebuchet MS"/>
                <a:sym typeface="Trebuchet MS"/>
              </a:rPr>
              <a:t>Anonymity = pseudonymity + unlinkability</a:t>
            </a:r>
            <a:endParaRPr sz="2400"/>
          </a:p>
        </p:txBody>
      </p:sp>
      <p:sp>
        <p:nvSpPr>
          <p:cNvPr id="65" name="Google Shape;65;p13"/>
          <p:cNvSpPr/>
          <p:nvPr/>
        </p:nvSpPr>
        <p:spPr>
          <a:xfrm>
            <a:off x="9144000" y="3225800"/>
            <a:ext cx="406400" cy="914400"/>
          </a:xfrm>
          <a:prstGeom prst="downArrow">
            <a:avLst>
              <a:gd name="adj1" fmla="val 50000"/>
              <a:gd name="adj2" fmla="val 50000"/>
            </a:avLst>
          </a:prstGeom>
          <a:solidFill>
            <a:srgbClr val="EFD7AE"/>
          </a:solidFill>
          <a:ln w="25400" cap="flat" cmpd="sng">
            <a:solidFill>
              <a:srgbClr val="E7C586"/>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Tree>
    <p:extLst>
      <p:ext uri="{BB962C8B-B14F-4D97-AF65-F5344CB8AC3E}">
        <p14:creationId xmlns:p14="http://schemas.microsoft.com/office/powerpoint/2010/main" val="31095120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64"/>
                                        </p:tgtEl>
                                        <p:attrNameLst>
                                          <p:attrName>style.visibility</p:attrName>
                                        </p:attrNameLst>
                                      </p:cBhvr>
                                      <p:to>
                                        <p:strVal val="visible"/>
                                      </p:to>
                                    </p:set>
                                    <p:animEffect transition="in" filter="fade">
                                      <p:cBhvr>
                                        <p:cTn id="7" dur="1"/>
                                        <p:tgtEl>
                                          <p:spTgt spid="6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15"/>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Why is unlinkability needed?</a:t>
            </a:r>
            <a:endParaRPr sz="4800" b="1">
              <a:solidFill>
                <a:schemeClr val="dk1"/>
              </a:solidFill>
              <a:latin typeface="Trebuchet MS"/>
              <a:ea typeface="Trebuchet MS"/>
              <a:cs typeface="Trebuchet MS"/>
              <a:sym typeface="Trebuchet MS"/>
            </a:endParaRPr>
          </a:p>
        </p:txBody>
      </p:sp>
      <p:sp>
        <p:nvSpPr>
          <p:cNvPr id="77" name="Google Shape;77;p15"/>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685783" indent="-431789">
              <a:spcBef>
                <a:spcPts val="0"/>
              </a:spcBef>
              <a:buClr>
                <a:schemeClr val="dk1"/>
              </a:buClr>
              <a:buNone/>
            </a:pPr>
            <a:endParaRPr sz="4000" dirty="0">
              <a:solidFill>
                <a:schemeClr val="dk1"/>
              </a:solidFill>
              <a:latin typeface="Trebuchet MS"/>
              <a:ea typeface="Trebuchet MS"/>
              <a:cs typeface="Trebuchet MS"/>
              <a:sym typeface="Trebuchet MS"/>
            </a:endParaRPr>
          </a:p>
          <a:p>
            <a:pPr marL="685783" indent="-685783">
              <a:spcBef>
                <a:spcPts val="0"/>
              </a:spcBef>
              <a:buClr>
                <a:schemeClr val="dk1"/>
              </a:buClr>
              <a:buFont typeface="Trebuchet MS"/>
              <a:buAutoNum type="arabicPeriod"/>
            </a:pPr>
            <a:r>
              <a:rPr lang="en" sz="4000" dirty="0">
                <a:solidFill>
                  <a:schemeClr val="dk1"/>
                </a:solidFill>
                <a:latin typeface="Trebuchet MS"/>
                <a:ea typeface="Trebuchet MS"/>
                <a:cs typeface="Trebuchet MS"/>
                <a:sym typeface="Trebuchet MS"/>
              </a:rPr>
              <a:t>Many Bitcoin services require real identity</a:t>
            </a:r>
            <a:endParaRPr dirty="0"/>
          </a:p>
          <a:p>
            <a:pPr marL="685783" indent="-431789">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4000" dirty="0" smtClean="0">
                <a:solidFill>
                  <a:schemeClr val="dk1"/>
                </a:solidFill>
                <a:latin typeface="Trebuchet MS"/>
                <a:ea typeface="Trebuchet MS"/>
                <a:cs typeface="Trebuchet MS"/>
                <a:sym typeface="Trebuchet MS"/>
              </a:rPr>
              <a:t>2. Linked </a:t>
            </a:r>
            <a:r>
              <a:rPr lang="en" sz="4000" dirty="0">
                <a:solidFill>
                  <a:schemeClr val="dk1"/>
                </a:solidFill>
                <a:latin typeface="Trebuchet MS"/>
                <a:ea typeface="Trebuchet MS"/>
                <a:cs typeface="Trebuchet MS"/>
                <a:sym typeface="Trebuchet MS"/>
              </a:rPr>
              <a:t>profiles can be deanonymized by a variety of side channels</a:t>
            </a:r>
            <a:endParaRPr sz="40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3259797759"/>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81"/>
        <p:cNvGrpSpPr/>
        <p:nvPr/>
      </p:nvGrpSpPr>
      <p:grpSpPr>
        <a:xfrm>
          <a:off x="0" y="0"/>
          <a:ext cx="0" cy="0"/>
          <a:chOff x="0" y="0"/>
          <a:chExt cx="0" cy="0"/>
        </a:xfrm>
      </p:grpSpPr>
      <p:sp>
        <p:nvSpPr>
          <p:cNvPr id="82" name="Google Shape;82;p16"/>
          <p:cNvSpPr txBox="1">
            <a:spLocks noGrp="1"/>
          </p:cNvSpPr>
          <p:nvPr>
            <p:ph type="title"/>
          </p:nvPr>
        </p:nvSpPr>
        <p:spPr>
          <a:xfrm>
            <a:off x="609600" y="0"/>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dirty="0">
                <a:solidFill>
                  <a:schemeClr val="dk1"/>
                </a:solidFill>
                <a:latin typeface="Trebuchet MS"/>
                <a:ea typeface="Trebuchet MS"/>
                <a:cs typeface="Trebuchet MS"/>
                <a:sym typeface="Trebuchet MS"/>
              </a:rPr>
              <a:t>Defining unlinkability in Bitcoin</a:t>
            </a:r>
            <a:endParaRPr sz="4800" b="1" dirty="0">
              <a:solidFill>
                <a:schemeClr val="dk1"/>
              </a:solidFill>
              <a:latin typeface="Trebuchet MS"/>
              <a:ea typeface="Trebuchet MS"/>
              <a:cs typeface="Trebuchet MS"/>
              <a:sym typeface="Trebuchet MS"/>
            </a:endParaRPr>
          </a:p>
        </p:txBody>
      </p:sp>
      <p:sp>
        <p:nvSpPr>
          <p:cNvPr id="83" name="Google Shape;83;p16"/>
          <p:cNvSpPr txBox="1">
            <a:spLocks noGrp="1"/>
          </p:cNvSpPr>
          <p:nvPr>
            <p:ph type="body" idx="1"/>
          </p:nvPr>
        </p:nvSpPr>
        <p:spPr>
          <a:xfrm>
            <a:off x="609600" y="1371600"/>
            <a:ext cx="10972800" cy="51961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IN" sz="2400" b="1" dirty="0" err="1"/>
              <a:t>Unlinkability</a:t>
            </a:r>
            <a:r>
              <a:rPr lang="en-IN" sz="2400" b="1" dirty="0"/>
              <a:t> in Bitcoin </a:t>
            </a:r>
            <a:r>
              <a:rPr lang="en-IN" sz="2400" b="1" dirty="0" smtClean="0"/>
              <a:t>context:</a:t>
            </a:r>
          </a:p>
          <a:p>
            <a:pPr marL="0" indent="0">
              <a:spcBef>
                <a:spcPts val="0"/>
              </a:spcBef>
              <a:buClr>
                <a:schemeClr val="dk1"/>
              </a:buClr>
              <a:buNone/>
            </a:pPr>
            <a:r>
              <a:rPr lang="en-IN" sz="2400" b="1" dirty="0" err="1"/>
              <a:t>Unlinkability</a:t>
            </a:r>
            <a:r>
              <a:rPr lang="en-IN" sz="2400" b="1" dirty="0"/>
              <a:t> </a:t>
            </a:r>
            <a:r>
              <a:rPr lang="en-IN" sz="2400" dirty="0"/>
              <a:t>in Bitcoin context could have different meanings. It should be</a:t>
            </a:r>
            <a:endParaRPr lang="en-IN" sz="2400" b="1" dirty="0"/>
          </a:p>
          <a:p>
            <a:pPr marL="0" indent="0">
              <a:spcBef>
                <a:spcPts val="0"/>
              </a:spcBef>
              <a:buClr>
                <a:schemeClr val="dk1"/>
              </a:buClr>
              <a:buNone/>
            </a:pPr>
            <a:endParaRPr lang="en" sz="2400" dirty="0" smtClean="0">
              <a:solidFill>
                <a:schemeClr val="dk1"/>
              </a:solidFill>
              <a:latin typeface="Trebuchet MS"/>
              <a:ea typeface="Trebuchet MS"/>
              <a:cs typeface="Trebuchet MS"/>
              <a:sym typeface="Trebuchet MS"/>
            </a:endParaRPr>
          </a:p>
          <a:p>
            <a:pPr marL="571500" indent="-571500">
              <a:spcBef>
                <a:spcPts val="0"/>
              </a:spcBef>
              <a:buClr>
                <a:schemeClr val="dk1"/>
              </a:buClr>
              <a:buFont typeface="Arial" panose="020B0604020202020204" pitchFamily="34" charset="0"/>
              <a:buChar char="•"/>
            </a:pPr>
            <a:r>
              <a:rPr lang="en" sz="2400" dirty="0" smtClean="0">
                <a:solidFill>
                  <a:schemeClr val="dk1"/>
                </a:solidFill>
                <a:latin typeface="Trebuchet MS"/>
                <a:ea typeface="Trebuchet MS"/>
                <a:cs typeface="Trebuchet MS"/>
                <a:sym typeface="Trebuchet MS"/>
              </a:rPr>
              <a:t>Hard </a:t>
            </a:r>
            <a:r>
              <a:rPr lang="en" sz="2400" dirty="0">
                <a:solidFill>
                  <a:schemeClr val="dk1"/>
                </a:solidFill>
                <a:latin typeface="Trebuchet MS"/>
                <a:ea typeface="Trebuchet MS"/>
                <a:cs typeface="Trebuchet MS"/>
                <a:sym typeface="Trebuchet MS"/>
              </a:rPr>
              <a:t>to link different addresses of the same user</a:t>
            </a:r>
            <a:endParaRPr sz="2400" dirty="0"/>
          </a:p>
          <a:p>
            <a:pPr marL="571500" indent="-571500">
              <a:spcBef>
                <a:spcPts val="0"/>
              </a:spcBef>
              <a:buClr>
                <a:schemeClr val="dk1"/>
              </a:buClr>
              <a:buFont typeface="Arial" panose="020B0604020202020204" pitchFamily="34" charset="0"/>
              <a:buChar char="•"/>
            </a:pPr>
            <a:endParaRPr sz="2400" dirty="0">
              <a:solidFill>
                <a:schemeClr val="dk1"/>
              </a:solidFill>
              <a:latin typeface="Trebuchet MS"/>
              <a:ea typeface="Trebuchet MS"/>
              <a:cs typeface="Trebuchet MS"/>
              <a:sym typeface="Trebuchet MS"/>
            </a:endParaRPr>
          </a:p>
          <a:p>
            <a:pPr marL="571500" indent="-571500">
              <a:spcBef>
                <a:spcPts val="0"/>
              </a:spcBef>
              <a:buClr>
                <a:schemeClr val="dk1"/>
              </a:buClr>
              <a:buFont typeface="Arial" panose="020B0604020202020204" pitchFamily="34" charset="0"/>
              <a:buChar char="•"/>
            </a:pPr>
            <a:r>
              <a:rPr lang="en" sz="2400" dirty="0">
                <a:solidFill>
                  <a:schemeClr val="dk1"/>
                </a:solidFill>
                <a:latin typeface="Trebuchet MS"/>
                <a:ea typeface="Trebuchet MS"/>
                <a:cs typeface="Trebuchet MS"/>
                <a:sym typeface="Trebuchet MS"/>
              </a:rPr>
              <a:t>Hard to link different transactions of the same user</a:t>
            </a:r>
            <a:endParaRPr sz="2400" dirty="0"/>
          </a:p>
          <a:p>
            <a:pPr marL="571500" indent="-571500">
              <a:spcBef>
                <a:spcPts val="0"/>
              </a:spcBef>
              <a:buClr>
                <a:schemeClr val="dk1"/>
              </a:buClr>
              <a:buFont typeface="Arial" panose="020B0604020202020204" pitchFamily="34" charset="0"/>
              <a:buChar char="•"/>
            </a:pPr>
            <a:endParaRPr sz="2400" dirty="0">
              <a:solidFill>
                <a:schemeClr val="dk1"/>
              </a:solidFill>
              <a:latin typeface="Trebuchet MS"/>
              <a:ea typeface="Trebuchet MS"/>
              <a:cs typeface="Trebuchet MS"/>
              <a:sym typeface="Trebuchet MS"/>
            </a:endParaRPr>
          </a:p>
          <a:p>
            <a:pPr marL="571500" indent="-571500">
              <a:spcBef>
                <a:spcPts val="0"/>
              </a:spcBef>
              <a:buClr>
                <a:schemeClr val="dk1"/>
              </a:buClr>
              <a:buFont typeface="Arial" panose="020B0604020202020204" pitchFamily="34" charset="0"/>
              <a:buChar char="•"/>
            </a:pPr>
            <a:r>
              <a:rPr lang="en" sz="2400" dirty="0">
                <a:solidFill>
                  <a:schemeClr val="dk1"/>
                </a:solidFill>
                <a:latin typeface="Trebuchet MS"/>
                <a:ea typeface="Trebuchet MS"/>
                <a:cs typeface="Trebuchet MS"/>
                <a:sym typeface="Trebuchet MS"/>
              </a:rPr>
              <a:t>Hard to link sender of a payment to its </a:t>
            </a:r>
            <a:r>
              <a:rPr lang="en" sz="2400" dirty="0" smtClean="0">
                <a:solidFill>
                  <a:schemeClr val="dk1"/>
                </a:solidFill>
                <a:latin typeface="Trebuchet MS"/>
                <a:ea typeface="Trebuchet MS"/>
                <a:cs typeface="Trebuchet MS"/>
                <a:sym typeface="Trebuchet MS"/>
              </a:rPr>
              <a:t>recipient</a:t>
            </a:r>
          </a:p>
          <a:p>
            <a:pPr marL="0" indent="0">
              <a:spcBef>
                <a:spcPts val="0"/>
              </a:spcBef>
              <a:buClr>
                <a:schemeClr val="dk1"/>
              </a:buClr>
              <a:buNone/>
            </a:pPr>
            <a:endParaRPr lang="e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IN" sz="2400" i="1" dirty="0"/>
              <a:t>Even in this way, deductions might still be possible, for example, if numerous transactions for the same amount are made quickly and continuously forwarded from one address to another before they come to a stop</a:t>
            </a:r>
            <a:r>
              <a:rPr lang="en-IN" sz="2400" i="1" dirty="0" smtClean="0"/>
              <a:t>.</a:t>
            </a:r>
          </a:p>
          <a:p>
            <a:pPr marL="0" indent="0">
              <a:spcBef>
                <a:spcPts val="0"/>
              </a:spcBef>
              <a:buClr>
                <a:schemeClr val="dk1"/>
              </a:buClr>
              <a:buNone/>
            </a:pPr>
            <a:endParaRPr lang="e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i="1" dirty="0" smtClean="0">
                <a:solidFill>
                  <a:schemeClr val="dk1"/>
                </a:solidFill>
                <a:latin typeface="Trebuchet MS"/>
                <a:ea typeface="Trebuchet MS"/>
                <a:cs typeface="Trebuchet MS"/>
                <a:sym typeface="Trebuchet MS"/>
              </a:rPr>
              <a:t>What we want to ensure is that it is not feasible to link the sender and the ultimate recipient of the payment by looking at the block chain.</a:t>
            </a:r>
            <a:endParaRPr sz="2400" i="1"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1114292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3">
                                            <p:txEl>
                                              <p:pRg st="11" end="11"/>
                                            </p:txEl>
                                          </p:spTgt>
                                        </p:tgtEl>
                                        <p:attrNameLst>
                                          <p:attrName>style.visibility</p:attrName>
                                        </p:attrNameLst>
                                      </p:cBhvr>
                                      <p:to>
                                        <p:strVal val="visible"/>
                                      </p:to>
                                    </p:set>
                                    <p:anim calcmode="lin" valueType="num">
                                      <p:cBhvr additive="base">
                                        <p:cTn id="7" dur="500" fill="hold"/>
                                        <p:tgtEl>
                                          <p:spTgt spid="83">
                                            <p:txEl>
                                              <p:pRg st="11" end="1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3">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87"/>
        <p:cNvGrpSpPr/>
        <p:nvPr/>
      </p:nvGrpSpPr>
      <p:grpSpPr>
        <a:xfrm>
          <a:off x="0" y="0"/>
          <a:ext cx="0" cy="0"/>
          <a:chOff x="0" y="0"/>
          <a:chExt cx="0" cy="0"/>
        </a:xfrm>
      </p:grpSpPr>
      <p:sp>
        <p:nvSpPr>
          <p:cNvPr id="88" name="Google Shape;88;p17"/>
          <p:cNvSpPr txBox="1">
            <a:spLocks noGrp="1"/>
          </p:cNvSpPr>
          <p:nvPr>
            <p:ph type="title"/>
          </p:nvPr>
        </p:nvSpPr>
        <p:spPr>
          <a:xfrm>
            <a:off x="609600" y="274637"/>
            <a:ext cx="10972800" cy="8683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dirty="0">
                <a:solidFill>
                  <a:schemeClr val="dk1"/>
                </a:solidFill>
                <a:latin typeface="Trebuchet MS"/>
                <a:ea typeface="Trebuchet MS"/>
                <a:cs typeface="Trebuchet MS"/>
                <a:sym typeface="Trebuchet MS"/>
              </a:rPr>
              <a:t>Quantifying anonymity</a:t>
            </a:r>
            <a:endParaRPr sz="4800" b="1" dirty="0">
              <a:solidFill>
                <a:schemeClr val="dk1"/>
              </a:solidFill>
              <a:latin typeface="Trebuchet MS"/>
              <a:ea typeface="Trebuchet MS"/>
              <a:cs typeface="Trebuchet MS"/>
              <a:sym typeface="Trebuchet MS"/>
            </a:endParaRPr>
          </a:p>
        </p:txBody>
      </p:sp>
      <p:sp>
        <p:nvSpPr>
          <p:cNvPr id="89" name="Google Shape;89;p17"/>
          <p:cNvSpPr txBox="1">
            <a:spLocks noGrp="1"/>
          </p:cNvSpPr>
          <p:nvPr>
            <p:ph type="body" idx="1"/>
          </p:nvPr>
        </p:nvSpPr>
        <p:spPr>
          <a:xfrm>
            <a:off x="609600" y="990600"/>
            <a:ext cx="10972800" cy="55771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rgbClr val="A3A3A3"/>
              </a:buClr>
              <a:buNone/>
            </a:pPr>
            <a:r>
              <a:rPr lang="en" u="sng" dirty="0" smtClean="0">
                <a:solidFill>
                  <a:schemeClr val="dk1"/>
                </a:solidFill>
                <a:latin typeface="Trebuchet MS"/>
                <a:ea typeface="Trebuchet MS"/>
                <a:cs typeface="Trebuchet MS"/>
                <a:sym typeface="Trebuchet MS"/>
              </a:rPr>
              <a:t>Anonymity </a:t>
            </a:r>
            <a:r>
              <a:rPr lang="en" u="sng" dirty="0">
                <a:solidFill>
                  <a:schemeClr val="dk1"/>
                </a:solidFill>
                <a:latin typeface="Trebuchet MS"/>
                <a:ea typeface="Trebuchet MS"/>
                <a:cs typeface="Trebuchet MS"/>
                <a:sym typeface="Trebuchet MS"/>
              </a:rPr>
              <a:t>set</a:t>
            </a:r>
            <a:r>
              <a:rPr lang="en" dirty="0">
                <a:solidFill>
                  <a:schemeClr val="dk1"/>
                </a:solidFill>
                <a:latin typeface="Trebuchet MS"/>
                <a:ea typeface="Trebuchet MS"/>
                <a:cs typeface="Trebuchet MS"/>
                <a:sym typeface="Trebuchet MS"/>
              </a:rPr>
              <a:t>: </a:t>
            </a:r>
            <a:r>
              <a:rPr lang="en-IN" dirty="0"/>
              <a:t>is the size of the crowd of other addresses or transactions that </a:t>
            </a:r>
            <a:r>
              <a:rPr lang="en-IN" dirty="0" smtClean="0"/>
              <a:t>we are </a:t>
            </a:r>
            <a:r>
              <a:rPr lang="en-IN" dirty="0"/>
              <a:t>trying to hide in. </a:t>
            </a:r>
            <a:endParaRPr lang="en-IN" dirty="0" smtClean="0"/>
          </a:p>
          <a:p>
            <a:pPr marL="0" indent="0">
              <a:spcBef>
                <a:spcPts val="0"/>
              </a:spcBef>
              <a:buClr>
                <a:srgbClr val="A3A3A3"/>
              </a:buClr>
              <a:buNone/>
            </a:pPr>
            <a:endParaRPr lang="en-IN" dirty="0" smtClean="0"/>
          </a:p>
          <a:p>
            <a:pPr marL="0" indent="0">
              <a:spcBef>
                <a:spcPts val="0"/>
              </a:spcBef>
              <a:buClr>
                <a:srgbClr val="A3A3A3"/>
              </a:buClr>
              <a:buNone/>
            </a:pPr>
            <a:r>
              <a:rPr lang="en-IN" sz="2800" dirty="0" smtClean="0"/>
              <a:t>with </a:t>
            </a:r>
            <a:r>
              <a:rPr lang="en-IN" sz="2800" dirty="0"/>
              <a:t>respect to some adversary, there are </a:t>
            </a:r>
            <a:r>
              <a:rPr lang="en-IN" sz="2800" dirty="0" smtClean="0"/>
              <a:t>thousand </a:t>
            </a:r>
            <a:r>
              <a:rPr lang="en-IN" sz="2800" dirty="0"/>
              <a:t>other transactions that look just like yours, the adversary can't tell which one was really yours.</a:t>
            </a:r>
            <a:endParaRPr lang="en-IN" sz="2800" dirty="0" smtClean="0">
              <a:solidFill>
                <a:schemeClr val="dk1"/>
              </a:solidFill>
              <a:latin typeface="Trebuchet MS"/>
              <a:ea typeface="Trebuchet MS"/>
              <a:cs typeface="Trebuchet MS"/>
              <a:sym typeface="Trebuchet MS"/>
            </a:endParaRPr>
          </a:p>
          <a:p>
            <a:pPr marL="0" indent="0">
              <a:spcBef>
                <a:spcPts val="0"/>
              </a:spcBef>
              <a:buClr>
                <a:srgbClr val="A3A3A3"/>
              </a:buClr>
              <a:buNone/>
            </a:pPr>
            <a:r>
              <a:rPr lang="en" dirty="0" smtClean="0">
                <a:solidFill>
                  <a:schemeClr val="dk1"/>
                </a:solidFill>
                <a:latin typeface="Trebuchet MS"/>
                <a:ea typeface="Trebuchet MS"/>
                <a:cs typeface="Trebuchet MS"/>
                <a:sym typeface="Trebuchet MS"/>
              </a:rPr>
              <a:t>To </a:t>
            </a:r>
            <a:r>
              <a:rPr lang="en" dirty="0">
                <a:solidFill>
                  <a:schemeClr val="dk1"/>
                </a:solidFill>
                <a:latin typeface="Trebuchet MS"/>
                <a:ea typeface="Trebuchet MS"/>
                <a:cs typeface="Trebuchet MS"/>
                <a:sym typeface="Trebuchet MS"/>
              </a:rPr>
              <a:t>calculate anonymity set:</a:t>
            </a:r>
            <a:endParaRPr dirty="0"/>
          </a:p>
          <a:p>
            <a:pPr indent="-609585">
              <a:spcBef>
                <a:spcPts val="0"/>
              </a:spcBef>
              <a:buClr>
                <a:srgbClr val="A3A3A3"/>
              </a:buClr>
              <a:buSzPts val="2400"/>
              <a:buFont typeface="Arial"/>
              <a:buChar char="•"/>
            </a:pPr>
            <a:r>
              <a:rPr lang="en" dirty="0">
                <a:solidFill>
                  <a:schemeClr val="dk1"/>
                </a:solidFill>
                <a:latin typeface="Trebuchet MS"/>
                <a:ea typeface="Trebuchet MS"/>
                <a:cs typeface="Trebuchet MS"/>
                <a:sym typeface="Trebuchet MS"/>
              </a:rPr>
              <a:t>define adversary model</a:t>
            </a:r>
            <a:endParaRPr dirty="0"/>
          </a:p>
          <a:p>
            <a:pPr indent="-609585">
              <a:spcBef>
                <a:spcPts val="0"/>
              </a:spcBef>
              <a:buClr>
                <a:srgbClr val="A3A3A3"/>
              </a:buClr>
              <a:buSzPts val="2400"/>
              <a:buFont typeface="Arial"/>
              <a:buChar char="•"/>
            </a:pPr>
            <a:r>
              <a:rPr lang="en" dirty="0">
                <a:solidFill>
                  <a:schemeClr val="dk1"/>
                </a:solidFill>
                <a:latin typeface="Trebuchet MS"/>
                <a:ea typeface="Trebuchet MS"/>
                <a:cs typeface="Trebuchet MS"/>
                <a:sym typeface="Trebuchet MS"/>
              </a:rPr>
              <a:t>reason carefully about: what the adversary knows, does not know, and </a:t>
            </a:r>
            <a:r>
              <a:rPr lang="en" u="sng" dirty="0">
                <a:solidFill>
                  <a:schemeClr val="dk1"/>
                </a:solidFill>
                <a:latin typeface="Trebuchet MS"/>
                <a:ea typeface="Trebuchet MS"/>
                <a:cs typeface="Trebuchet MS"/>
                <a:sym typeface="Trebuchet MS"/>
              </a:rPr>
              <a:t>cannot</a:t>
            </a:r>
            <a:r>
              <a:rPr lang="en" dirty="0">
                <a:solidFill>
                  <a:schemeClr val="dk1"/>
                </a:solidFill>
                <a:latin typeface="Trebuchet MS"/>
                <a:ea typeface="Trebuchet MS"/>
                <a:cs typeface="Trebuchet MS"/>
                <a:sym typeface="Trebuchet MS"/>
              </a:rPr>
              <a:t> </a:t>
            </a:r>
            <a:r>
              <a:rPr lang="en" dirty="0" smtClean="0">
                <a:solidFill>
                  <a:schemeClr val="dk1"/>
                </a:solidFill>
                <a:latin typeface="Trebuchet MS"/>
                <a:ea typeface="Trebuchet MS"/>
                <a:cs typeface="Trebuchet MS"/>
                <a:sym typeface="Trebuchet MS"/>
              </a:rPr>
              <a:t>know</a:t>
            </a:r>
          </a:p>
          <a:p>
            <a:pPr marL="0" indent="0">
              <a:spcBef>
                <a:spcPts val="0"/>
              </a:spcBef>
              <a:buClr>
                <a:srgbClr val="A3A3A3"/>
              </a:buClr>
              <a:buSzPts val="2400"/>
              <a:buNone/>
            </a:pPr>
            <a:r>
              <a:rPr lang="en-IN" i="1" dirty="0"/>
              <a:t>In addition, you can suppose how clever is the adversary, but it won't be an accurate information. So, in some cases, </a:t>
            </a:r>
            <a:r>
              <a:rPr lang="en-IN" b="1" i="1" dirty="0"/>
              <a:t>it would also be necessary to apply probability distributions on top of the anonymity set.</a:t>
            </a:r>
            <a:endParaRPr b="1" i="1"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25836405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9">
                                            <p:txEl>
                                              <p:pRg st="6" end="6"/>
                                            </p:txEl>
                                          </p:spTgt>
                                        </p:tgtEl>
                                        <p:attrNameLst>
                                          <p:attrName>style.visibility</p:attrName>
                                        </p:attrNameLst>
                                      </p:cBhvr>
                                      <p:to>
                                        <p:strVal val="visible"/>
                                      </p:to>
                                    </p:set>
                                    <p:anim calcmode="lin" valueType="num">
                                      <p:cBhvr additive="base">
                                        <p:cTn id="7" dur="500" fill="hold"/>
                                        <p:tgtEl>
                                          <p:spTgt spid="89">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8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sp>
        <p:nvSpPr>
          <p:cNvPr id="94" name="Google Shape;94;p18"/>
          <p:cNvSpPr txBox="1">
            <a:spLocks noGrp="1"/>
          </p:cNvSpPr>
          <p:nvPr>
            <p:ph type="title"/>
          </p:nvPr>
        </p:nvSpPr>
        <p:spPr>
          <a:xfrm>
            <a:off x="609600" y="274636"/>
            <a:ext cx="10972800" cy="14779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IN" sz="4800" b="1" dirty="0"/>
              <a:t/>
            </a:r>
            <a:br>
              <a:rPr lang="en-IN" sz="4800" b="1" dirty="0"/>
            </a:br>
            <a:r>
              <a:rPr lang="en-IN" sz="4800" b="1" dirty="0"/>
              <a:t>Ethics of </a:t>
            </a:r>
            <a:r>
              <a:rPr lang="en-IN" sz="4800" b="1" dirty="0" smtClean="0"/>
              <a:t>anonymity:</a:t>
            </a:r>
            <a:r>
              <a:rPr lang="en" sz="4800" b="1" dirty="0" smtClean="0">
                <a:solidFill>
                  <a:schemeClr val="dk1"/>
                </a:solidFill>
                <a:latin typeface="Trebuchet MS"/>
                <a:ea typeface="Trebuchet MS"/>
                <a:cs typeface="Trebuchet MS"/>
                <a:sym typeface="Trebuchet MS"/>
              </a:rPr>
              <a:t/>
            </a:r>
            <a:br>
              <a:rPr lang="en" sz="4800" b="1" dirty="0" smtClean="0">
                <a:solidFill>
                  <a:schemeClr val="dk1"/>
                </a:solidFill>
                <a:latin typeface="Trebuchet MS"/>
                <a:ea typeface="Trebuchet MS"/>
                <a:cs typeface="Trebuchet MS"/>
                <a:sym typeface="Trebuchet MS"/>
              </a:rPr>
            </a:br>
            <a:r>
              <a:rPr lang="en" sz="4800" b="1" dirty="0" smtClean="0">
                <a:solidFill>
                  <a:schemeClr val="dk1"/>
                </a:solidFill>
                <a:latin typeface="Trebuchet MS"/>
                <a:ea typeface="Trebuchet MS"/>
                <a:cs typeface="Trebuchet MS"/>
                <a:sym typeface="Trebuchet MS"/>
              </a:rPr>
              <a:t>Why </a:t>
            </a:r>
            <a:r>
              <a:rPr lang="en" sz="4800" b="1" dirty="0">
                <a:solidFill>
                  <a:schemeClr val="dk1"/>
                </a:solidFill>
                <a:latin typeface="Trebuchet MS"/>
                <a:ea typeface="Trebuchet MS"/>
                <a:cs typeface="Trebuchet MS"/>
                <a:sym typeface="Trebuchet MS"/>
              </a:rPr>
              <a:t>anonymous cryptocurrencies?</a:t>
            </a:r>
            <a:endParaRPr sz="4800" b="1" dirty="0">
              <a:solidFill>
                <a:schemeClr val="dk1"/>
              </a:solidFill>
              <a:latin typeface="Trebuchet MS"/>
              <a:ea typeface="Trebuchet MS"/>
              <a:cs typeface="Trebuchet MS"/>
              <a:sym typeface="Trebuchet MS"/>
            </a:endParaRPr>
          </a:p>
        </p:txBody>
      </p:sp>
      <p:sp>
        <p:nvSpPr>
          <p:cNvPr id="95" name="Google Shape;95;p18"/>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a:solidFill>
                  <a:schemeClr val="dk1"/>
                </a:solidFill>
                <a:latin typeface="Trebuchet MS"/>
                <a:ea typeface="Trebuchet MS"/>
                <a:cs typeface="Trebuchet MS"/>
                <a:sym typeface="Trebuchet MS"/>
              </a:rPr>
              <a:t>Block chain based currencies are totally, publicly, and permanently traceable</a:t>
            </a:r>
            <a:endParaRPr sz="2400" dirty="0"/>
          </a:p>
          <a:p>
            <a:pPr marL="0" indent="0">
              <a:spcBef>
                <a:spcPts val="0"/>
              </a:spcBef>
              <a:buClr>
                <a:schemeClr val="dk1"/>
              </a:buClr>
              <a:buNone/>
            </a:pPr>
            <a:endParaRPr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a:solidFill>
                  <a:schemeClr val="dk1"/>
                </a:solidFill>
                <a:latin typeface="Trebuchet MS"/>
                <a:ea typeface="Trebuchet MS"/>
                <a:cs typeface="Trebuchet MS"/>
                <a:sym typeface="Trebuchet MS"/>
              </a:rPr>
              <a:t>Without anonymity, privacy is </a:t>
            </a:r>
            <a:r>
              <a:rPr lang="en" sz="2400" u="sng" dirty="0">
                <a:solidFill>
                  <a:schemeClr val="dk1"/>
                </a:solidFill>
                <a:latin typeface="Trebuchet MS"/>
                <a:ea typeface="Trebuchet MS"/>
                <a:cs typeface="Trebuchet MS"/>
                <a:sym typeface="Trebuchet MS"/>
              </a:rPr>
              <a:t>much worse</a:t>
            </a:r>
            <a:r>
              <a:rPr lang="en" sz="2400" dirty="0">
                <a:solidFill>
                  <a:schemeClr val="dk1"/>
                </a:solidFill>
                <a:latin typeface="Trebuchet MS"/>
                <a:ea typeface="Trebuchet MS"/>
                <a:cs typeface="Trebuchet MS"/>
                <a:sym typeface="Trebuchet MS"/>
              </a:rPr>
              <a:t> than traditional banking</a:t>
            </a:r>
            <a:r>
              <a:rPr lang="en" sz="2400" dirty="0" smtClean="0">
                <a:solidFill>
                  <a:schemeClr val="dk1"/>
                </a:solidFill>
                <a:latin typeface="Trebuchet MS"/>
                <a:ea typeface="Trebuchet MS"/>
                <a:cs typeface="Trebuchet MS"/>
                <a:sym typeface="Trebuchet MS"/>
              </a:rPr>
              <a:t>!</a:t>
            </a:r>
          </a:p>
          <a:p>
            <a:pPr marL="0" indent="0">
              <a:spcBef>
                <a:spcPts val="0"/>
              </a:spcBef>
              <a:buClr>
                <a:schemeClr val="dk1"/>
              </a:buClr>
              <a:buNone/>
            </a:pPr>
            <a:endParaRPr lang="en-IN" sz="2400" smtClean="0"/>
          </a:p>
          <a:p>
            <a:pPr marL="0" indent="0">
              <a:spcBef>
                <a:spcPts val="0"/>
              </a:spcBef>
              <a:buClr>
                <a:schemeClr val="dk1"/>
              </a:buClr>
              <a:buNone/>
            </a:pPr>
            <a:r>
              <a:rPr lang="en-IN" sz="2400" smtClean="0"/>
              <a:t>in </a:t>
            </a:r>
            <a:r>
              <a:rPr lang="en-IN" sz="2400" dirty="0"/>
              <a:t>fact, anyone could retrieve all your transactions, not only some company or government.</a:t>
            </a:r>
            <a:br>
              <a:rPr lang="en-IN" sz="2400" dirty="0"/>
            </a:br>
            <a:r>
              <a:rPr lang="en-IN" sz="2400" dirty="0"/>
              <a:t>So, we want anonymity to at least obtain the same level of privacy between </a:t>
            </a:r>
            <a:r>
              <a:rPr lang="en-IN" sz="2400" dirty="0" err="1"/>
              <a:t>cryptocurrencies</a:t>
            </a:r>
            <a:r>
              <a:rPr lang="en-IN" sz="2400" dirty="0"/>
              <a:t> and traditional systems. Of course people hope that it can give us a higher level of privacy.</a:t>
            </a:r>
            <a:endParaRPr sz="24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32015918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5">
                                            <p:txEl>
                                              <p:pRg st="1" end="1"/>
                                            </p:txEl>
                                          </p:spTgt>
                                        </p:tgtEl>
                                        <p:attrNameLst>
                                          <p:attrName>style.visibility</p:attrName>
                                        </p:attrNameLst>
                                      </p:cBhvr>
                                      <p:to>
                                        <p:strVal val="visible"/>
                                      </p:to>
                                    </p:set>
                                    <p:anim calcmode="lin" valueType="num">
                                      <p:cBhvr additive="base">
                                        <p:cTn id="7" dur="500" fill="hold"/>
                                        <p:tgtEl>
                                          <p:spTgt spid="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5">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95">
                                            <p:txEl>
                                              <p:pRg st="3" end="3"/>
                                            </p:txEl>
                                          </p:spTgt>
                                        </p:tgtEl>
                                        <p:attrNameLst>
                                          <p:attrName>style.visibility</p:attrName>
                                        </p:attrNameLst>
                                      </p:cBhvr>
                                      <p:to>
                                        <p:strVal val="visible"/>
                                      </p:to>
                                    </p:set>
                                    <p:anim calcmode="lin" valueType="num">
                                      <p:cBhvr additive="base">
                                        <p:cTn id="13" dur="500" fill="hold"/>
                                        <p:tgtEl>
                                          <p:spTgt spid="95">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95">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95">
                                            <p:txEl>
                                              <p:pRg st="5" end="5"/>
                                            </p:txEl>
                                          </p:spTgt>
                                        </p:tgtEl>
                                        <p:attrNameLst>
                                          <p:attrName>style.visibility</p:attrName>
                                        </p:attrNameLst>
                                      </p:cBhvr>
                                      <p:to>
                                        <p:strVal val="visible"/>
                                      </p:to>
                                    </p:set>
                                    <p:anim calcmode="lin" valueType="num">
                                      <p:cBhvr additive="base">
                                        <p:cTn id="19" dur="500" fill="hold"/>
                                        <p:tgtEl>
                                          <p:spTgt spid="95">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95">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9"/>
          <p:cNvSpPr txBox="1">
            <a:spLocks noGrp="1"/>
          </p:cNvSpPr>
          <p:nvPr>
            <p:ph type="title"/>
          </p:nvPr>
        </p:nvSpPr>
        <p:spPr>
          <a:xfrm>
            <a:off x="609600" y="152400"/>
            <a:ext cx="10972800" cy="16002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IN" sz="4800" b="1" dirty="0">
                <a:solidFill>
                  <a:schemeClr val="dk1"/>
                </a:solidFill>
                <a:latin typeface="Trebuchet MS"/>
                <a:ea typeface="Trebuchet MS"/>
                <a:cs typeface="Trebuchet MS"/>
                <a:sym typeface="Trebuchet MS"/>
              </a:rPr>
              <a:t>Risk of money laundering</a:t>
            </a:r>
            <a:r>
              <a:rPr lang="en" sz="4800" b="1" dirty="0" smtClean="0">
                <a:solidFill>
                  <a:schemeClr val="dk1"/>
                </a:solidFill>
                <a:latin typeface="Trebuchet MS"/>
                <a:ea typeface="Trebuchet MS"/>
                <a:cs typeface="Trebuchet MS"/>
                <a:sym typeface="Trebuchet MS"/>
              </a:rPr>
              <a:t/>
            </a:r>
            <a:br>
              <a:rPr lang="en" sz="4800" b="1" dirty="0" smtClean="0">
                <a:solidFill>
                  <a:schemeClr val="dk1"/>
                </a:solidFill>
                <a:latin typeface="Trebuchet MS"/>
                <a:ea typeface="Trebuchet MS"/>
                <a:cs typeface="Trebuchet MS"/>
                <a:sym typeface="Trebuchet MS"/>
              </a:rPr>
            </a:br>
            <a:r>
              <a:rPr lang="en" sz="4800" b="1" dirty="0" smtClean="0">
                <a:solidFill>
                  <a:schemeClr val="dk1"/>
                </a:solidFill>
                <a:latin typeface="Trebuchet MS"/>
                <a:ea typeface="Trebuchet MS"/>
                <a:cs typeface="Trebuchet MS"/>
                <a:sym typeface="Trebuchet MS"/>
              </a:rPr>
              <a:t>What about money laundering?</a:t>
            </a:r>
            <a:endParaRPr sz="4800" b="1" dirty="0">
              <a:solidFill>
                <a:schemeClr val="dk1"/>
              </a:solidFill>
              <a:latin typeface="Trebuchet MS"/>
              <a:ea typeface="Trebuchet MS"/>
              <a:cs typeface="Trebuchet MS"/>
              <a:sym typeface="Trebuchet MS"/>
            </a:endParaRPr>
          </a:p>
        </p:txBody>
      </p:sp>
      <p:sp>
        <p:nvSpPr>
          <p:cNvPr id="101" name="Google Shape;101;p19"/>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endParaRPr sz="40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a:solidFill>
                  <a:schemeClr val="dk1"/>
                </a:solidFill>
                <a:latin typeface="Trebuchet MS"/>
                <a:ea typeface="Trebuchet MS"/>
                <a:cs typeface="Trebuchet MS"/>
                <a:sym typeface="Trebuchet MS"/>
              </a:rPr>
              <a:t>Legitimate worry</a:t>
            </a:r>
            <a:endParaRPr sz="2400" dirty="0"/>
          </a:p>
          <a:p>
            <a:pPr marL="0" indent="0">
              <a:spcBef>
                <a:spcPts val="0"/>
              </a:spcBef>
              <a:buClr>
                <a:schemeClr val="dk1"/>
              </a:buClr>
              <a:buNone/>
            </a:pPr>
            <a:endParaRPr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2400" dirty="0" smtClean="0">
                <a:solidFill>
                  <a:schemeClr val="dk1"/>
                </a:solidFill>
                <a:latin typeface="Trebuchet MS"/>
                <a:ea typeface="Trebuchet MS"/>
                <a:cs typeface="Trebuchet MS"/>
                <a:sym typeface="Trebuchet MS"/>
              </a:rPr>
              <a:t>Bottleneck</a:t>
            </a:r>
            <a:r>
              <a:rPr lang="en" sz="2400" dirty="0">
                <a:solidFill>
                  <a:schemeClr val="dk1"/>
                </a:solidFill>
                <a:latin typeface="Trebuchet MS"/>
                <a:ea typeface="Trebuchet MS"/>
                <a:cs typeface="Trebuchet MS"/>
                <a:sym typeface="Trebuchet MS"/>
              </a:rPr>
              <a:t>: moving large flows into and out of Bitcoin (“cashing out</a:t>
            </a:r>
            <a:r>
              <a:rPr lang="en" sz="2400" dirty="0" smtClean="0">
                <a:solidFill>
                  <a:schemeClr val="dk1"/>
                </a:solidFill>
                <a:latin typeface="Trebuchet MS"/>
                <a:ea typeface="Trebuchet MS"/>
                <a:cs typeface="Trebuchet MS"/>
                <a:sym typeface="Trebuchet MS"/>
              </a:rPr>
              <a:t>”)</a:t>
            </a:r>
          </a:p>
          <a:p>
            <a:pPr marL="0" indent="0">
              <a:spcBef>
                <a:spcPts val="0"/>
              </a:spcBef>
              <a:buClr>
                <a:schemeClr val="dk1"/>
              </a:buClr>
              <a:buNone/>
            </a:pPr>
            <a:endParaRPr lang="e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IN" sz="2400" dirty="0">
                <a:solidFill>
                  <a:schemeClr val="dk1"/>
                </a:solidFill>
                <a:latin typeface="Trebuchet MS"/>
                <a:ea typeface="Trebuchet MS"/>
                <a:cs typeface="Trebuchet MS"/>
                <a:sym typeface="Trebuchet MS"/>
              </a:rPr>
              <a:t>Common problem in computer security and privacy.</a:t>
            </a:r>
            <a:endParaRPr lang="en-IN" sz="2400" dirty="0"/>
          </a:p>
          <a:p>
            <a:pPr marL="0" indent="0">
              <a:spcBef>
                <a:spcPts val="0"/>
              </a:spcBef>
              <a:buClr>
                <a:schemeClr val="dk1"/>
              </a:buClr>
              <a:buNone/>
            </a:pPr>
            <a:endParaRPr lang="en-IN" sz="2400" dirty="0">
              <a:solidFill>
                <a:schemeClr val="dk1"/>
              </a:solidFill>
              <a:latin typeface="Trebuchet MS"/>
              <a:ea typeface="Trebuchet MS"/>
              <a:cs typeface="Trebuchet MS"/>
              <a:sym typeface="Trebuchet MS"/>
            </a:endParaRPr>
          </a:p>
          <a:p>
            <a:pPr marL="0" indent="0">
              <a:spcBef>
                <a:spcPts val="0"/>
              </a:spcBef>
              <a:buClr>
                <a:schemeClr val="dk1"/>
              </a:buClr>
              <a:buNone/>
            </a:pPr>
            <a:r>
              <a:rPr lang="en-IN" sz="2400" dirty="0"/>
              <a:t>Because from a technological </a:t>
            </a:r>
            <a:r>
              <a:rPr lang="en-IN" sz="2400" dirty="0" smtClean="0"/>
              <a:t>point</a:t>
            </a:r>
            <a:r>
              <a:rPr lang="en-IN" sz="2400" dirty="0"/>
              <a:t>, those uses that we consider to be very different morally are essentially the same. </a:t>
            </a:r>
            <a:endParaRPr sz="24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279337754"/>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sp>
        <p:nvSpPr>
          <p:cNvPr id="112" name="Google Shape;112;p21"/>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dirty="0" smtClean="0">
                <a:solidFill>
                  <a:schemeClr val="dk1"/>
                </a:solidFill>
                <a:latin typeface="Trebuchet MS"/>
                <a:ea typeface="Trebuchet MS"/>
                <a:cs typeface="Trebuchet MS"/>
                <a:sym typeface="Trebuchet MS"/>
              </a:rPr>
              <a:t>Tor</a:t>
            </a:r>
            <a:endParaRPr dirty="0"/>
          </a:p>
        </p:txBody>
      </p:sp>
      <p:sp>
        <p:nvSpPr>
          <p:cNvPr id="113" name="Google Shape;113;p21"/>
          <p:cNvSpPr txBox="1">
            <a:spLocks noGrp="1"/>
          </p:cNvSpPr>
          <p:nvPr>
            <p:ph type="body" idx="1"/>
          </p:nvPr>
        </p:nvSpPr>
        <p:spPr>
          <a:xfrm>
            <a:off x="609601" y="1600200"/>
            <a:ext cx="5326033"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chemeClr val="dk1"/>
              </a:buClr>
            </a:pPr>
            <a:r>
              <a:rPr lang="en" sz="2000" dirty="0">
                <a:solidFill>
                  <a:schemeClr val="dk1"/>
                </a:solidFill>
                <a:latin typeface="Trebuchet MS"/>
                <a:ea typeface="Trebuchet MS"/>
                <a:cs typeface="Trebuchet MS"/>
                <a:sym typeface="Trebuchet MS"/>
              </a:rPr>
              <a:t>Anonymous communication network</a:t>
            </a:r>
            <a:endParaRPr sz="2000" dirty="0"/>
          </a:p>
          <a:p>
            <a:pPr marL="0" indent="0">
              <a:buClr>
                <a:schemeClr val="dk1"/>
              </a:buClr>
            </a:pPr>
            <a:endParaRPr lang="en-IN" sz="1800" dirty="0" smtClean="0">
              <a:solidFill>
                <a:schemeClr val="dk1"/>
              </a:solidFill>
              <a:latin typeface="Trebuchet MS"/>
              <a:ea typeface="Trebuchet MS"/>
              <a:cs typeface="Trebuchet MS"/>
              <a:sym typeface="Trebuchet MS"/>
            </a:endParaRPr>
          </a:p>
          <a:p>
            <a:pPr marL="0" indent="0">
              <a:buClr>
                <a:schemeClr val="dk1"/>
              </a:buClr>
            </a:pPr>
            <a:r>
              <a:rPr lang="en-IN" sz="1800" dirty="0" smtClean="0">
                <a:solidFill>
                  <a:schemeClr val="dk1"/>
                </a:solidFill>
                <a:latin typeface="Trebuchet MS"/>
                <a:ea typeface="Trebuchet MS"/>
                <a:cs typeface="Trebuchet MS"/>
                <a:sym typeface="Trebuchet MS"/>
              </a:rPr>
              <a:t>Anonymous </a:t>
            </a:r>
            <a:r>
              <a:rPr lang="en-IN" sz="1800" dirty="0">
                <a:solidFill>
                  <a:schemeClr val="dk1"/>
                </a:solidFill>
                <a:latin typeface="Trebuchet MS"/>
                <a:ea typeface="Trebuchet MS"/>
                <a:cs typeface="Trebuchet MS"/>
                <a:sym typeface="Trebuchet MS"/>
              </a:rPr>
              <a:t>communication enables bad actions at least as much as anonymous cash flows do.</a:t>
            </a:r>
            <a:endParaRPr sz="1800" dirty="0">
              <a:solidFill>
                <a:schemeClr val="dk1"/>
              </a:solidFill>
              <a:latin typeface="Trebuchet MS"/>
              <a:ea typeface="Trebuchet MS"/>
              <a:cs typeface="Trebuchet MS"/>
              <a:sym typeface="Trebuchet MS"/>
            </a:endParaRPr>
          </a:p>
          <a:p>
            <a:pPr marL="0" indent="0">
              <a:buClr>
                <a:schemeClr val="dk1"/>
              </a:buClr>
            </a:pPr>
            <a:endParaRPr lang="en" sz="1800" dirty="0" smtClean="0">
              <a:solidFill>
                <a:schemeClr val="dk1"/>
              </a:solidFill>
              <a:latin typeface="Trebuchet MS"/>
              <a:ea typeface="Trebuchet MS"/>
              <a:cs typeface="Trebuchet MS"/>
              <a:sym typeface="Trebuchet MS"/>
            </a:endParaRPr>
          </a:p>
          <a:p>
            <a:pPr marL="0" indent="0">
              <a:buClr>
                <a:schemeClr val="dk1"/>
              </a:buClr>
            </a:pPr>
            <a:r>
              <a:rPr lang="en" sz="1800" dirty="0" smtClean="0">
                <a:solidFill>
                  <a:schemeClr val="dk1"/>
                </a:solidFill>
                <a:latin typeface="Trebuchet MS"/>
                <a:ea typeface="Trebuchet MS"/>
                <a:cs typeface="Trebuchet MS"/>
                <a:sym typeface="Trebuchet MS"/>
              </a:rPr>
              <a:t>Sender </a:t>
            </a:r>
            <a:r>
              <a:rPr lang="en" sz="1800" dirty="0">
                <a:solidFill>
                  <a:schemeClr val="dk1"/>
                </a:solidFill>
                <a:latin typeface="Trebuchet MS"/>
                <a:ea typeface="Trebuchet MS"/>
                <a:cs typeface="Trebuchet MS"/>
                <a:sym typeface="Trebuchet MS"/>
              </a:rPr>
              <a:t>and receiver of message </a:t>
            </a:r>
            <a:r>
              <a:rPr lang="en" sz="1800" u="sng" dirty="0">
                <a:solidFill>
                  <a:schemeClr val="dk1"/>
                </a:solidFill>
                <a:latin typeface="Trebuchet MS"/>
                <a:ea typeface="Trebuchet MS"/>
                <a:cs typeface="Trebuchet MS"/>
                <a:sym typeface="Trebuchet MS"/>
              </a:rPr>
              <a:t>unlinkable</a:t>
            </a:r>
            <a:endParaRPr sz="1800" u="sng" dirty="0">
              <a:solidFill>
                <a:schemeClr val="dk1"/>
              </a:solidFill>
              <a:latin typeface="Trebuchet MS"/>
              <a:ea typeface="Trebuchet MS"/>
              <a:cs typeface="Trebuchet MS"/>
              <a:sym typeface="Trebuchet MS"/>
            </a:endParaRPr>
          </a:p>
        </p:txBody>
      </p:sp>
      <p:sp>
        <p:nvSpPr>
          <p:cNvPr id="114" name="Google Shape;114;p21"/>
          <p:cNvSpPr txBox="1">
            <a:spLocks noGrp="1"/>
          </p:cNvSpPr>
          <p:nvPr>
            <p:ph type="body" idx="2"/>
          </p:nvPr>
        </p:nvSpPr>
        <p:spPr>
          <a:xfrm>
            <a:off x="6256365" y="914400"/>
            <a:ext cx="5326033" cy="56533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rgbClr val="A3A3A3"/>
              </a:buClr>
            </a:pPr>
            <a:r>
              <a:rPr lang="en-IN" sz="1800" dirty="0" smtClean="0"/>
              <a:t>Some </a:t>
            </a:r>
            <a:r>
              <a:rPr lang="en-IN" sz="1800" dirty="0"/>
              <a:t>activities, good and bad, that can happen on the Tor network</a:t>
            </a:r>
            <a:r>
              <a:rPr lang="en-IN" sz="1800" dirty="0" smtClean="0"/>
              <a:t>. Good used by:</a:t>
            </a:r>
          </a:p>
          <a:p>
            <a:pPr marL="342900" indent="-342900">
              <a:buClr>
                <a:srgbClr val="A3A3A3"/>
              </a:buClr>
              <a:buFont typeface="Arial" panose="020B0604020202020204" pitchFamily="34" charset="0"/>
              <a:buChar char="•"/>
            </a:pPr>
            <a:r>
              <a:rPr lang="en" sz="2000" dirty="0" smtClean="0">
                <a:solidFill>
                  <a:schemeClr val="dk1"/>
                </a:solidFill>
                <a:latin typeface="Trebuchet MS"/>
                <a:ea typeface="Trebuchet MS"/>
                <a:cs typeface="Trebuchet MS"/>
                <a:sym typeface="Trebuchet MS"/>
              </a:rPr>
              <a:t>Normal people wh</a:t>
            </a:r>
            <a:r>
              <a:rPr lang="en-IN" sz="2000" dirty="0" smtClean="0"/>
              <a:t>o </a:t>
            </a:r>
            <a:r>
              <a:rPr lang="en-IN" sz="2000" dirty="0"/>
              <a:t>want to protect themselves from being trapped online by marketers </a:t>
            </a:r>
            <a:r>
              <a:rPr lang="en-IN" sz="2000" dirty="0" smtClean="0"/>
              <a:t>or various </a:t>
            </a:r>
            <a:r>
              <a:rPr lang="en-IN" sz="2000" dirty="0"/>
              <a:t>other privacy properties online, when they're browsing websites</a:t>
            </a:r>
            <a:endParaRPr sz="2000" dirty="0"/>
          </a:p>
          <a:p>
            <a:pPr indent="-609585">
              <a:buClr>
                <a:srgbClr val="A3A3A3"/>
              </a:buClr>
              <a:buSzPts val="2400"/>
              <a:buFont typeface="Arial"/>
              <a:buChar char="•"/>
            </a:pPr>
            <a:r>
              <a:rPr lang="en" sz="2000" dirty="0" smtClean="0">
                <a:solidFill>
                  <a:schemeClr val="dk1"/>
                </a:solidFill>
                <a:latin typeface="Trebuchet MS"/>
                <a:ea typeface="Trebuchet MS"/>
                <a:cs typeface="Trebuchet MS"/>
                <a:sym typeface="Trebuchet MS"/>
              </a:rPr>
              <a:t>Journalists, </a:t>
            </a:r>
            <a:r>
              <a:rPr lang="en-IN" sz="2000" dirty="0">
                <a:latin typeface="Trebuchet MS" panose="020B0603020202020204" pitchFamily="34" charset="0"/>
              </a:rPr>
              <a:t>activists and dissidents </a:t>
            </a:r>
            <a:r>
              <a:rPr lang="en-IN" sz="2000" dirty="0"/>
              <a:t>to not be recognised </a:t>
            </a:r>
            <a:endParaRPr lang="en-IN" sz="2000" dirty="0" smtClean="0"/>
          </a:p>
          <a:p>
            <a:pPr indent="-609585">
              <a:buClr>
                <a:srgbClr val="A3A3A3"/>
              </a:buClr>
              <a:buSzPts val="2400"/>
              <a:buFont typeface="Arial"/>
              <a:buChar char="•"/>
            </a:pPr>
            <a:r>
              <a:rPr lang="en" sz="2000" dirty="0" smtClean="0">
                <a:solidFill>
                  <a:schemeClr val="dk1"/>
                </a:solidFill>
                <a:latin typeface="Trebuchet MS"/>
                <a:ea typeface="Trebuchet MS"/>
                <a:cs typeface="Trebuchet MS"/>
                <a:sym typeface="Trebuchet MS"/>
              </a:rPr>
              <a:t>Law enforcement </a:t>
            </a:r>
            <a:r>
              <a:rPr lang="en-IN" sz="2000" dirty="0"/>
              <a:t>since they want to be able to visit websites not revealing that their IP address is coming from a law enforcement </a:t>
            </a:r>
            <a:r>
              <a:rPr lang="en-IN" sz="2000" dirty="0" smtClean="0"/>
              <a:t>block</a:t>
            </a:r>
          </a:p>
          <a:p>
            <a:pPr marL="0" indent="0">
              <a:buClr>
                <a:srgbClr val="A3A3A3"/>
              </a:buClr>
              <a:buSzPts val="2400"/>
            </a:pPr>
            <a:r>
              <a:rPr lang="en-IN" sz="2000" dirty="0" smtClean="0"/>
              <a:t>       </a:t>
            </a:r>
          </a:p>
          <a:p>
            <a:pPr marL="0" indent="0">
              <a:buClr>
                <a:srgbClr val="A3A3A3"/>
              </a:buClr>
              <a:buSzPts val="2400"/>
            </a:pPr>
            <a:r>
              <a:rPr lang="en-IN" sz="2000" dirty="0" smtClean="0"/>
              <a:t>Bad  used </a:t>
            </a:r>
            <a:r>
              <a:rPr lang="en-IN" sz="2000" dirty="0"/>
              <a:t>by:</a:t>
            </a:r>
          </a:p>
          <a:p>
            <a:pPr indent="-609585">
              <a:buClr>
                <a:srgbClr val="A3A3A3"/>
              </a:buClr>
              <a:buSzPts val="2400"/>
              <a:buFont typeface="Arial"/>
              <a:buChar char="•"/>
            </a:pPr>
            <a:r>
              <a:rPr lang="en-IN" sz="2000" dirty="0" smtClean="0"/>
              <a:t>botnets </a:t>
            </a:r>
            <a:r>
              <a:rPr lang="en-IN" sz="2000" dirty="0"/>
              <a:t>to spread </a:t>
            </a:r>
            <a:r>
              <a:rPr lang="en-IN" sz="2000" dirty="0" smtClean="0">
                <a:latin typeface="Trebuchet MS" panose="020B0603020202020204" pitchFamily="34" charset="0"/>
              </a:rPr>
              <a:t>malwares</a:t>
            </a:r>
            <a:r>
              <a:rPr lang="en-IN" sz="2000" dirty="0" smtClean="0"/>
              <a:t> </a:t>
            </a:r>
            <a:r>
              <a:rPr lang="en-IN" sz="2000" dirty="0"/>
              <a:t>between nodes in the network </a:t>
            </a:r>
            <a:endParaRPr lang="en-IN" sz="2000" dirty="0" smtClean="0"/>
          </a:p>
          <a:p>
            <a:pPr indent="-609585">
              <a:buClr>
                <a:srgbClr val="A3A3A3"/>
              </a:buClr>
              <a:buSzPts val="2400"/>
              <a:buFont typeface="Arial"/>
              <a:buChar char="•"/>
            </a:pPr>
            <a:r>
              <a:rPr lang="en" sz="2000" dirty="0" smtClean="0">
                <a:solidFill>
                  <a:schemeClr val="dk1"/>
                </a:solidFill>
                <a:latin typeface="Trebuchet MS"/>
                <a:ea typeface="Trebuchet MS"/>
                <a:cs typeface="Trebuchet MS"/>
                <a:sym typeface="Trebuchet MS"/>
              </a:rPr>
              <a:t>Child </a:t>
            </a:r>
            <a:r>
              <a:rPr lang="en" sz="2000" dirty="0">
                <a:solidFill>
                  <a:schemeClr val="dk1"/>
                </a:solidFill>
                <a:latin typeface="Trebuchet MS"/>
                <a:ea typeface="Trebuchet MS"/>
                <a:cs typeface="Trebuchet MS"/>
                <a:sym typeface="Trebuchet MS"/>
              </a:rPr>
              <a:t>pornographers</a:t>
            </a:r>
            <a:endParaRPr sz="2000" dirty="0"/>
          </a:p>
          <a:p>
            <a:pPr indent="-406390">
              <a:buClr>
                <a:srgbClr val="A3A3A3"/>
              </a:buClr>
              <a:buSzPts val="2400"/>
            </a:pPr>
            <a:endParaRPr sz="2000" dirty="0">
              <a:solidFill>
                <a:schemeClr val="dk1"/>
              </a:solidFill>
              <a:latin typeface="Trebuchet MS"/>
              <a:ea typeface="Trebuchet MS"/>
              <a:cs typeface="Trebuchet MS"/>
              <a:sym typeface="Trebuchet MS"/>
            </a:endParaRPr>
          </a:p>
          <a:p>
            <a:pPr marL="0" indent="0">
              <a:buClr>
                <a:srgbClr val="A3A3A3"/>
              </a:buClr>
            </a:pPr>
            <a:r>
              <a:rPr lang="en" sz="2000" dirty="0">
                <a:solidFill>
                  <a:schemeClr val="dk1"/>
                </a:solidFill>
                <a:latin typeface="Trebuchet MS"/>
                <a:ea typeface="Trebuchet MS"/>
                <a:cs typeface="Trebuchet MS"/>
                <a:sym typeface="Trebuchet MS"/>
              </a:rPr>
              <a:t>Funded by (among others):</a:t>
            </a:r>
            <a:endParaRPr sz="2000" dirty="0"/>
          </a:p>
          <a:p>
            <a:pPr marL="0" indent="0">
              <a:buClr>
                <a:srgbClr val="A3A3A3"/>
              </a:buClr>
            </a:pPr>
            <a:r>
              <a:rPr lang="en" sz="2000" dirty="0">
                <a:solidFill>
                  <a:schemeClr val="dk1"/>
                </a:solidFill>
                <a:latin typeface="Trebuchet MS"/>
                <a:ea typeface="Trebuchet MS"/>
                <a:cs typeface="Trebuchet MS"/>
                <a:sym typeface="Trebuchet MS"/>
              </a:rPr>
              <a:t>U.S. State Department</a:t>
            </a:r>
            <a:endParaRPr sz="2000" dirty="0">
              <a:solidFill>
                <a:schemeClr val="dk1"/>
              </a:solidFill>
              <a:latin typeface="Trebuchet MS"/>
              <a:ea typeface="Trebuchet MS"/>
              <a:cs typeface="Trebuchet MS"/>
              <a:sym typeface="Trebuchet MS"/>
            </a:endParaRPr>
          </a:p>
        </p:txBody>
      </p:sp>
      <p:pic>
        <p:nvPicPr>
          <p:cNvPr id="115" name="Google Shape;115;p21" descr="http://doi.ieeecomputersociety.org/cms/Computer.org/dl/trans/td/2009/05/figures/ttd20090506951.gif"/>
          <p:cNvPicPr preferRelativeResize="0"/>
          <p:nvPr/>
        </p:nvPicPr>
        <p:blipFill/>
        <p:spPr>
          <a:xfrm>
            <a:off x="508000" y="4451469"/>
            <a:ext cx="4953000" cy="2210027"/>
          </a:xfrm>
          <a:prstGeom prst="rect">
            <a:avLst/>
          </a:prstGeom>
          <a:noFill/>
          <a:ln>
            <a:noFill/>
          </a:ln>
        </p:spPr>
      </p:pic>
      <p:pic>
        <p:nvPicPr>
          <p:cNvPr id="2" name="Picture 1"/>
          <p:cNvPicPr>
            <a:picLocks noChangeAspect="1"/>
          </p:cNvPicPr>
          <p:nvPr/>
        </p:nvPicPr>
        <p:blipFill>
          <a:blip r:embed="rId3"/>
          <a:stretch>
            <a:fillRect/>
          </a:stretch>
        </p:blipFill>
        <p:spPr>
          <a:xfrm>
            <a:off x="533400" y="4419600"/>
            <a:ext cx="4495800" cy="2143125"/>
          </a:xfrm>
          <a:prstGeom prst="rect">
            <a:avLst/>
          </a:prstGeom>
        </p:spPr>
      </p:pic>
    </p:spTree>
    <p:extLst>
      <p:ext uri="{BB962C8B-B14F-4D97-AF65-F5344CB8AC3E}">
        <p14:creationId xmlns:p14="http://schemas.microsoft.com/office/powerpoint/2010/main" val="20790763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19"/>
        <p:cNvGrpSpPr/>
        <p:nvPr/>
      </p:nvGrpSpPr>
      <p:grpSpPr>
        <a:xfrm>
          <a:off x="0" y="0"/>
          <a:ext cx="0" cy="0"/>
          <a:chOff x="0" y="0"/>
          <a:chExt cx="0" cy="0"/>
        </a:xfrm>
      </p:grpSpPr>
      <p:sp>
        <p:nvSpPr>
          <p:cNvPr id="120" name="Google Shape;120;p22"/>
          <p:cNvSpPr txBox="1">
            <a:spLocks noGrp="1"/>
          </p:cNvSpPr>
          <p:nvPr>
            <p:ph type="title"/>
          </p:nvPr>
        </p:nvSpPr>
        <p:spPr>
          <a:xfrm>
            <a:off x="609600" y="274637"/>
            <a:ext cx="10972800" cy="2587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2800" b="1" dirty="0">
                <a:solidFill>
                  <a:schemeClr val="dk1"/>
                </a:solidFill>
                <a:latin typeface="Trebuchet MS"/>
                <a:ea typeface="Trebuchet MS"/>
                <a:cs typeface="Trebuchet MS"/>
                <a:sym typeface="Trebuchet MS"/>
              </a:rPr>
              <a:t>Anonymous </a:t>
            </a:r>
            <a:r>
              <a:rPr lang="en" sz="2800" b="1" dirty="0" smtClean="0">
                <a:solidFill>
                  <a:schemeClr val="dk1"/>
                </a:solidFill>
                <a:latin typeface="Trebuchet MS"/>
                <a:ea typeface="Trebuchet MS"/>
                <a:cs typeface="Trebuchet MS"/>
                <a:sym typeface="Trebuchet MS"/>
              </a:rPr>
              <a:t>e-cash</a:t>
            </a:r>
            <a:endParaRPr sz="2800" b="1" dirty="0">
              <a:solidFill>
                <a:schemeClr val="dk1"/>
              </a:solidFill>
              <a:latin typeface="Trebuchet MS"/>
              <a:ea typeface="Trebuchet MS"/>
              <a:cs typeface="Trebuchet MS"/>
              <a:sym typeface="Trebuchet MS"/>
            </a:endParaRPr>
          </a:p>
        </p:txBody>
      </p:sp>
      <p:sp>
        <p:nvSpPr>
          <p:cNvPr id="121" name="Google Shape;121;p22"/>
          <p:cNvSpPr txBox="1">
            <a:spLocks noGrp="1"/>
          </p:cNvSpPr>
          <p:nvPr>
            <p:ph type="body" idx="1"/>
          </p:nvPr>
        </p:nvSpPr>
        <p:spPr>
          <a:xfrm>
            <a:off x="609600" y="381000"/>
            <a:ext cx="10972800" cy="66294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 sz="1800" dirty="0" smtClean="0">
                <a:solidFill>
                  <a:schemeClr val="dk1"/>
                </a:solidFill>
                <a:latin typeface="Trebuchet MS"/>
                <a:ea typeface="Trebuchet MS"/>
                <a:cs typeface="Trebuchet MS"/>
                <a:sym typeface="Trebuchet MS"/>
              </a:rPr>
              <a:t>David </a:t>
            </a:r>
            <a:r>
              <a:rPr lang="en" sz="1800" dirty="0">
                <a:solidFill>
                  <a:schemeClr val="dk1"/>
                </a:solidFill>
                <a:latin typeface="Trebuchet MS"/>
                <a:ea typeface="Trebuchet MS"/>
                <a:cs typeface="Trebuchet MS"/>
                <a:sym typeface="Trebuchet MS"/>
              </a:rPr>
              <a:t>Chaum, 1982</a:t>
            </a:r>
            <a:endParaRPr sz="1800" dirty="0"/>
          </a:p>
          <a:p>
            <a:pPr marL="0" indent="0">
              <a:spcBef>
                <a:spcPts val="0"/>
              </a:spcBef>
              <a:buClr>
                <a:schemeClr val="dk1"/>
              </a:buClr>
              <a:buNone/>
            </a:pPr>
            <a:endParaRPr sz="1800" dirty="0">
              <a:solidFill>
                <a:schemeClr val="dk1"/>
              </a:solidFill>
              <a:latin typeface="Trebuchet MS"/>
              <a:ea typeface="Trebuchet MS"/>
              <a:cs typeface="Trebuchet MS"/>
              <a:sym typeface="Trebuchet MS"/>
            </a:endParaRPr>
          </a:p>
          <a:p>
            <a:pPr marL="0" indent="0">
              <a:spcBef>
                <a:spcPts val="0"/>
              </a:spcBef>
              <a:buClr>
                <a:schemeClr val="dk1"/>
              </a:buClr>
              <a:buNone/>
            </a:pPr>
            <a:r>
              <a:rPr lang="en" sz="1800" u="sng" dirty="0">
                <a:solidFill>
                  <a:schemeClr val="dk1"/>
                </a:solidFill>
                <a:latin typeface="Trebuchet MS"/>
                <a:ea typeface="Trebuchet MS"/>
                <a:cs typeface="Trebuchet MS"/>
                <a:sym typeface="Trebuchet MS"/>
              </a:rPr>
              <a:t>Blind signature</a:t>
            </a:r>
            <a:r>
              <a:rPr lang="en" sz="1800" dirty="0">
                <a:solidFill>
                  <a:schemeClr val="dk1"/>
                </a:solidFill>
                <a:latin typeface="Trebuchet MS"/>
                <a:ea typeface="Trebuchet MS"/>
                <a:cs typeface="Trebuchet MS"/>
                <a:sym typeface="Trebuchet MS"/>
              </a:rPr>
              <a:t>: </a:t>
            </a:r>
            <a:r>
              <a:rPr lang="en" sz="1800" dirty="0" smtClean="0">
                <a:solidFill>
                  <a:schemeClr val="dk1"/>
                </a:solidFill>
                <a:latin typeface="Trebuchet MS"/>
                <a:ea typeface="Trebuchet MS"/>
                <a:cs typeface="Trebuchet MS"/>
                <a:sym typeface="Trebuchet MS"/>
              </a:rPr>
              <a:t>two-party protocol</a:t>
            </a:r>
            <a:endParaRPr lang="en" sz="1800" dirty="0">
              <a:solidFill>
                <a:schemeClr val="dk1"/>
              </a:solidFill>
              <a:latin typeface="Trebuchet MS"/>
              <a:ea typeface="Trebuchet MS"/>
              <a:cs typeface="Trebuchet MS"/>
              <a:sym typeface="Trebuchet MS"/>
            </a:endParaRPr>
          </a:p>
        </p:txBody>
      </p:sp>
      <p:pic>
        <p:nvPicPr>
          <p:cNvPr id="2" name="Picture 1"/>
          <p:cNvPicPr>
            <a:picLocks noChangeAspect="1"/>
          </p:cNvPicPr>
          <p:nvPr/>
        </p:nvPicPr>
        <p:blipFill>
          <a:blip r:embed="rId3"/>
          <a:stretch>
            <a:fillRect/>
          </a:stretch>
        </p:blipFill>
        <p:spPr>
          <a:xfrm>
            <a:off x="152400" y="1371600"/>
            <a:ext cx="7772400" cy="3429479"/>
          </a:xfrm>
          <a:prstGeom prst="rect">
            <a:avLst/>
          </a:prstGeom>
        </p:spPr>
      </p:pic>
      <p:sp>
        <p:nvSpPr>
          <p:cNvPr id="3" name="Rectangle 2"/>
          <p:cNvSpPr/>
          <p:nvPr/>
        </p:nvSpPr>
        <p:spPr>
          <a:xfrm>
            <a:off x="7848600" y="914400"/>
            <a:ext cx="3048000" cy="2923877"/>
          </a:xfrm>
          <a:prstGeom prst="rect">
            <a:avLst/>
          </a:prstGeom>
        </p:spPr>
        <p:txBody>
          <a:bodyPr wrap="square">
            <a:spAutoFit/>
          </a:bodyPr>
          <a:lstStyle/>
          <a:p>
            <a:pPr algn="just"/>
            <a:r>
              <a:rPr lang="en-IN" sz="2400" b="1" dirty="0"/>
              <a:t>Key Point:</a:t>
            </a:r>
          </a:p>
          <a:p>
            <a:pPr algn="just"/>
            <a:r>
              <a:rPr lang="en-IN" sz="2000" b="1" dirty="0"/>
              <a:t>User Identity is Known During the Request</a:t>
            </a:r>
            <a:r>
              <a:rPr lang="en-IN" sz="2000" dirty="0"/>
              <a:t>: The bank knows the user requesting e-cash, but only to ensure they have enough funds. This doesn't affect the anonymity of later transactions.</a:t>
            </a:r>
          </a:p>
        </p:txBody>
      </p:sp>
      <p:sp>
        <p:nvSpPr>
          <p:cNvPr id="4" name="Rectangle 3"/>
          <p:cNvSpPr/>
          <p:nvPr/>
        </p:nvSpPr>
        <p:spPr>
          <a:xfrm>
            <a:off x="381000" y="4835774"/>
            <a:ext cx="9067800" cy="1938992"/>
          </a:xfrm>
          <a:prstGeom prst="rect">
            <a:avLst/>
          </a:prstGeom>
        </p:spPr>
        <p:txBody>
          <a:bodyPr wrap="square">
            <a:spAutoFit/>
          </a:bodyPr>
          <a:lstStyle/>
          <a:p>
            <a:pPr algn="just"/>
            <a:r>
              <a:rPr lang="en-IN" sz="2000" dirty="0" smtClean="0"/>
              <a:t>-Before </a:t>
            </a:r>
            <a:r>
              <a:rPr lang="en-IN" sz="2000" dirty="0"/>
              <a:t>receiving the </a:t>
            </a:r>
            <a:r>
              <a:rPr lang="en-IN" sz="2000" dirty="0" smtClean="0"/>
              <a:t>100, </a:t>
            </a:r>
            <a:r>
              <a:rPr lang="en-IN" sz="2000" dirty="0"/>
              <a:t>you create a blinded version of the e-cash token. Think of this as putting the </a:t>
            </a:r>
            <a:r>
              <a:rPr lang="en-IN" sz="2000" dirty="0" smtClean="0"/>
              <a:t>100 in </a:t>
            </a:r>
            <a:r>
              <a:rPr lang="en-IN" sz="2000" dirty="0"/>
              <a:t>a sealed envelope, hiding its details.</a:t>
            </a:r>
          </a:p>
          <a:p>
            <a:pPr algn="just"/>
            <a:r>
              <a:rPr lang="en-IN" sz="2000" dirty="0" smtClean="0"/>
              <a:t>-The </a:t>
            </a:r>
            <a:r>
              <a:rPr lang="en-IN" sz="2000" dirty="0"/>
              <a:t>bank signs this blinded token, confirming it's worth $10, but they never see the actual token.</a:t>
            </a:r>
          </a:p>
          <a:p>
            <a:pPr algn="just"/>
            <a:r>
              <a:rPr lang="en-IN" sz="2000" dirty="0" smtClean="0"/>
              <a:t>-The </a:t>
            </a:r>
            <a:r>
              <a:rPr lang="en-IN" sz="2000" dirty="0"/>
              <a:t>bank only knows it signed a $10 token, but it doesn't know the specific token you’ll use.</a:t>
            </a:r>
          </a:p>
        </p:txBody>
      </p:sp>
    </p:spTree>
    <p:extLst>
      <p:ext uri="{BB962C8B-B14F-4D97-AF65-F5344CB8AC3E}">
        <p14:creationId xmlns:p14="http://schemas.microsoft.com/office/powerpoint/2010/main" val="661718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4"/>
                                        </p:tgtEl>
                                        <p:attrNameLst>
                                          <p:attrName>style.visibility</p:attrName>
                                        </p:attrNameLst>
                                      </p:cBhvr>
                                      <p:to>
                                        <p:strVal val="visible"/>
                                      </p:to>
                                    </p:set>
                                    <p:anim calcmode="lin" valueType="num">
                                      <p:cBhvr additive="base">
                                        <p:cTn id="13" dur="500" fill="hold"/>
                                        <p:tgtEl>
                                          <p:spTgt spid="4"/>
                                        </p:tgtEl>
                                        <p:attrNameLst>
                                          <p:attrName>ppt_x</p:attrName>
                                        </p:attrNameLst>
                                      </p:cBhvr>
                                      <p:tavLst>
                                        <p:tav tm="0">
                                          <p:val>
                                            <p:strVal val="#ppt_x"/>
                                          </p:val>
                                        </p:tav>
                                        <p:tav tm="100000">
                                          <p:val>
                                            <p:strVal val="#ppt_x"/>
                                          </p:val>
                                        </p:tav>
                                      </p:tavLst>
                                    </p:anim>
                                    <p:anim calcmode="lin" valueType="num">
                                      <p:cBhvr additive="base">
                                        <p:cTn id="14"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50799" indent="0">
              <a:buNone/>
            </a:pPr>
            <a:r>
              <a:rPr lang="en-IN" b="1" dirty="0"/>
              <a:t>Summary:</a:t>
            </a:r>
          </a:p>
          <a:p>
            <a:r>
              <a:rPr lang="en-IN" dirty="0"/>
              <a:t>In a regular transaction, your identity and purchase details are easily traceable.</a:t>
            </a:r>
          </a:p>
          <a:p>
            <a:r>
              <a:rPr lang="en-IN" dirty="0"/>
              <a:t>In an anonymous e-cash system:</a:t>
            </a:r>
          </a:p>
          <a:p>
            <a:pPr lvl="1"/>
            <a:r>
              <a:rPr lang="en-IN" dirty="0"/>
              <a:t>The bank knows who requested the e-cash but doesn’t know which specific token you’ll use.</a:t>
            </a:r>
          </a:p>
          <a:p>
            <a:pPr lvl="1"/>
            <a:r>
              <a:rPr lang="en-IN" dirty="0"/>
              <a:t>When you spend the </a:t>
            </a:r>
            <a:r>
              <a:rPr lang="en-IN"/>
              <a:t>token </a:t>
            </a:r>
            <a:r>
              <a:rPr lang="en-IN" smtClean="0"/>
              <a:t>, </a:t>
            </a:r>
            <a:r>
              <a:rPr lang="en-IN" dirty="0"/>
              <a:t>the transaction is </a:t>
            </a:r>
            <a:r>
              <a:rPr lang="en-IN" b="1" dirty="0"/>
              <a:t>anonymous</a:t>
            </a:r>
            <a:r>
              <a:rPr lang="en-IN" dirty="0"/>
              <a:t>—your identity is not linked to the purchase.</a:t>
            </a:r>
          </a:p>
          <a:p>
            <a:pPr marL="50799" indent="0">
              <a:buNone/>
            </a:pPr>
            <a:endParaRPr lang="en-IN" dirty="0"/>
          </a:p>
        </p:txBody>
      </p:sp>
    </p:spTree>
    <p:extLst>
      <p:ext uri="{BB962C8B-B14F-4D97-AF65-F5344CB8AC3E}">
        <p14:creationId xmlns:p14="http://schemas.microsoft.com/office/powerpoint/2010/main" val="173424461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156"/>
        <p:cNvGrpSpPr/>
        <p:nvPr/>
      </p:nvGrpSpPr>
      <p:grpSpPr>
        <a:xfrm>
          <a:off x="0" y="0"/>
          <a:ext cx="0" cy="0"/>
          <a:chOff x="0" y="0"/>
          <a:chExt cx="0" cy="0"/>
        </a:xfrm>
      </p:grpSpPr>
      <p:sp>
        <p:nvSpPr>
          <p:cNvPr id="157" name="Google Shape;157;p24"/>
          <p:cNvSpPr txBox="1">
            <a:spLocks noGrp="1"/>
          </p:cNvSpPr>
          <p:nvPr>
            <p:ph type="title"/>
          </p:nvPr>
        </p:nvSpPr>
        <p:spPr>
          <a:xfrm>
            <a:off x="609600" y="274637"/>
            <a:ext cx="11176000" cy="868363"/>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267" b="1" dirty="0">
                <a:solidFill>
                  <a:schemeClr val="dk1"/>
                </a:solidFill>
                <a:latin typeface="Trebuchet MS"/>
                <a:ea typeface="Trebuchet MS"/>
                <a:cs typeface="Trebuchet MS"/>
                <a:sym typeface="Trebuchet MS"/>
              </a:rPr>
              <a:t>Anonymity &amp; decentralization: in conflict</a:t>
            </a:r>
            <a:endParaRPr sz="4267" b="1" dirty="0">
              <a:solidFill>
                <a:schemeClr val="dk1"/>
              </a:solidFill>
              <a:latin typeface="Trebuchet MS"/>
              <a:ea typeface="Trebuchet MS"/>
              <a:cs typeface="Trebuchet MS"/>
              <a:sym typeface="Trebuchet MS"/>
            </a:endParaRPr>
          </a:p>
        </p:txBody>
      </p:sp>
      <p:sp>
        <p:nvSpPr>
          <p:cNvPr id="158" name="Google Shape;158;p24"/>
          <p:cNvSpPr txBox="1">
            <a:spLocks noGrp="1"/>
          </p:cNvSpPr>
          <p:nvPr>
            <p:ph type="body" idx="1"/>
          </p:nvPr>
        </p:nvSpPr>
        <p:spPr>
          <a:xfrm>
            <a:off x="609600" y="1143000"/>
            <a:ext cx="10972800" cy="54247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indent="-355591">
              <a:spcBef>
                <a:spcPts val="0"/>
              </a:spcBef>
              <a:buClr>
                <a:srgbClr val="666666"/>
              </a:buClr>
              <a:buNone/>
            </a:pPr>
            <a:r>
              <a:rPr lang="en-IN" sz="2400" dirty="0"/>
              <a:t>There are </a:t>
            </a:r>
            <a:r>
              <a:rPr lang="en-IN" sz="2400" dirty="0" smtClean="0"/>
              <a:t>two reasons </a:t>
            </a:r>
            <a:r>
              <a:rPr lang="en-IN" sz="2400" dirty="0"/>
              <a:t>for this:</a:t>
            </a:r>
            <a:endParaRPr sz="2400" dirty="0">
              <a:solidFill>
                <a:schemeClr val="dk1"/>
              </a:solidFill>
              <a:latin typeface="Trebuchet MS"/>
              <a:ea typeface="Trebuchet MS"/>
              <a:cs typeface="Trebuchet MS"/>
              <a:sym typeface="Trebuchet MS"/>
            </a:endParaRPr>
          </a:p>
          <a:p>
            <a:pPr indent="-609585">
              <a:spcBef>
                <a:spcPts val="0"/>
              </a:spcBef>
              <a:buClr>
                <a:srgbClr val="666666"/>
              </a:buClr>
              <a:buFont typeface="Arial"/>
              <a:buChar char="•"/>
            </a:pPr>
            <a:r>
              <a:rPr lang="en" sz="2400" b="1" dirty="0">
                <a:solidFill>
                  <a:schemeClr val="dk1"/>
                </a:solidFill>
                <a:latin typeface="Trebuchet MS"/>
                <a:ea typeface="Trebuchet MS"/>
                <a:cs typeface="Trebuchet MS"/>
                <a:sym typeface="Trebuchet MS"/>
              </a:rPr>
              <a:t>Interactive protocols with bank are hard to </a:t>
            </a:r>
            <a:r>
              <a:rPr lang="en" sz="2400" b="1" dirty="0" smtClean="0">
                <a:solidFill>
                  <a:schemeClr val="dk1"/>
                </a:solidFill>
                <a:latin typeface="Trebuchet MS"/>
                <a:ea typeface="Trebuchet MS"/>
                <a:cs typeface="Trebuchet MS"/>
                <a:sym typeface="Trebuchet MS"/>
              </a:rPr>
              <a:t>decentralize</a:t>
            </a:r>
          </a:p>
          <a:p>
            <a:pPr marL="0" indent="0" algn="just">
              <a:spcBef>
                <a:spcPts val="0"/>
              </a:spcBef>
              <a:buClr>
                <a:srgbClr val="666666"/>
              </a:buClr>
              <a:buNone/>
            </a:pPr>
            <a:r>
              <a:rPr lang="en-IN" sz="2400" dirty="0"/>
              <a:t>often for anonymity it is necessary to rely on certain interactive protocols with the bank in order to do some blinding (i.e. blind signatures). It’s not clear if something like that could be possible without a central authority</a:t>
            </a:r>
            <a:endParaRPr sz="2400" dirty="0"/>
          </a:p>
          <a:p>
            <a:pPr indent="-355591">
              <a:spcBef>
                <a:spcPts val="0"/>
              </a:spcBef>
              <a:buClr>
                <a:srgbClr val="666666"/>
              </a:buClr>
              <a:buNone/>
            </a:pPr>
            <a:endParaRPr sz="4000" dirty="0">
              <a:solidFill>
                <a:schemeClr val="dk1"/>
              </a:solidFill>
              <a:latin typeface="Trebuchet MS"/>
              <a:ea typeface="Trebuchet MS"/>
              <a:cs typeface="Trebuchet MS"/>
              <a:sym typeface="Trebuchet MS"/>
            </a:endParaRPr>
          </a:p>
          <a:p>
            <a:pPr indent="-609585">
              <a:spcBef>
                <a:spcPts val="0"/>
              </a:spcBef>
              <a:buClr>
                <a:srgbClr val="666666"/>
              </a:buClr>
              <a:buFont typeface="Arial"/>
              <a:buChar char="•"/>
            </a:pPr>
            <a:r>
              <a:rPr lang="en" sz="2400" b="1" dirty="0">
                <a:solidFill>
                  <a:schemeClr val="dk1"/>
                </a:solidFill>
                <a:latin typeface="Trebuchet MS"/>
                <a:ea typeface="Trebuchet MS"/>
                <a:cs typeface="Trebuchet MS"/>
                <a:sym typeface="Trebuchet MS"/>
              </a:rPr>
              <a:t>Decentralization often achieved via public traceability to enforce security </a:t>
            </a:r>
            <a:endParaRPr sz="2400" b="1" dirty="0"/>
          </a:p>
          <a:p>
            <a:pPr indent="-355591" algn="just">
              <a:spcBef>
                <a:spcPts val="0"/>
              </a:spcBef>
              <a:buClr>
                <a:srgbClr val="666666"/>
              </a:buClr>
              <a:buNone/>
            </a:pPr>
            <a:r>
              <a:rPr lang="en-IN" sz="2400" dirty="0"/>
              <a:t>even it was possible to obtain blinding in a decentralized system, there’s still the problem that in order to decentralize and still get security properties like resistance to double spending, often the way to go is to record and trace everything in a public ledger. So this compromises further the anonymity and privacy </a:t>
            </a:r>
            <a:r>
              <a:rPr lang="en-IN" sz="2400" dirty="0" smtClean="0"/>
              <a:t>properties</a:t>
            </a:r>
            <a:endParaRPr sz="24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6464280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58">
                                            <p:txEl>
                                              <p:pRg st="2" end="2"/>
                                            </p:txEl>
                                          </p:spTgt>
                                        </p:tgtEl>
                                        <p:attrNameLst>
                                          <p:attrName>style.visibility</p:attrName>
                                        </p:attrNameLst>
                                      </p:cBhvr>
                                      <p:to>
                                        <p:strVal val="visible"/>
                                      </p:to>
                                    </p:set>
                                    <p:anim calcmode="lin" valueType="num">
                                      <p:cBhvr additive="base">
                                        <p:cTn id="7" dur="500" fill="hold"/>
                                        <p:tgtEl>
                                          <p:spTgt spid="158">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58">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58">
                                            <p:txEl>
                                              <p:pRg st="5" end="5"/>
                                            </p:txEl>
                                          </p:spTgt>
                                        </p:tgtEl>
                                        <p:attrNameLst>
                                          <p:attrName>style.visibility</p:attrName>
                                        </p:attrNameLst>
                                      </p:cBhvr>
                                      <p:to>
                                        <p:strVal val="visible"/>
                                      </p:to>
                                    </p:set>
                                    <p:anim calcmode="lin" valueType="num">
                                      <p:cBhvr additive="base">
                                        <p:cTn id="13" dur="500" fill="hold"/>
                                        <p:tgtEl>
                                          <p:spTgt spid="158">
                                            <p:txEl>
                                              <p:pRg st="5" end="5"/>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58">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162"/>
        <p:cNvGrpSpPr/>
        <p:nvPr/>
      </p:nvGrpSpPr>
      <p:grpSpPr>
        <a:xfrm>
          <a:off x="0" y="0"/>
          <a:ext cx="0" cy="0"/>
          <a:chOff x="0" y="0"/>
          <a:chExt cx="0" cy="0"/>
        </a:xfrm>
      </p:grpSpPr>
      <p:sp>
        <p:nvSpPr>
          <p:cNvPr id="163" name="Google Shape;163;p25"/>
          <p:cNvSpPr txBox="1">
            <a:spLocks noGrp="1"/>
          </p:cNvSpPr>
          <p:nvPr>
            <p:ph type="subTitle" idx="1"/>
          </p:nvPr>
        </p:nvSpPr>
        <p:spPr>
          <a:xfrm>
            <a:off x="914400" y="2253971"/>
            <a:ext cx="10363200" cy="10463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sz="4000" dirty="0">
                <a:solidFill>
                  <a:schemeClr val="dk2"/>
                </a:solidFill>
                <a:latin typeface="Trebuchet MS"/>
                <a:ea typeface="Trebuchet MS"/>
                <a:cs typeface="Trebuchet MS"/>
                <a:sym typeface="Trebuchet MS"/>
              </a:rPr>
              <a:t>How to de-anonymize Bitcoin</a:t>
            </a:r>
            <a:endParaRPr sz="4000" dirty="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183066336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81000"/>
            <a:ext cx="10515600" cy="5795963"/>
          </a:xfrm>
        </p:spPr>
        <p:txBody>
          <a:bodyPr/>
          <a:lstStyle/>
          <a:p>
            <a:pPr marL="0" indent="0">
              <a:buNone/>
            </a:pPr>
            <a:r>
              <a:rPr lang="en-IN" b="1" dirty="0"/>
              <a:t>How to link different Bitcoin receiving addresses?</a:t>
            </a:r>
          </a:p>
          <a:p>
            <a:pPr marL="0" indent="0">
              <a:buNone/>
            </a:pPr>
            <a:endParaRPr lang="en-IN" dirty="0"/>
          </a:p>
        </p:txBody>
      </p:sp>
      <p:pic>
        <p:nvPicPr>
          <p:cNvPr id="4" name="Picture 3"/>
          <p:cNvPicPr>
            <a:picLocks noChangeAspect="1"/>
          </p:cNvPicPr>
          <p:nvPr/>
        </p:nvPicPr>
        <p:blipFill>
          <a:blip r:embed="rId2"/>
          <a:stretch>
            <a:fillRect/>
          </a:stretch>
        </p:blipFill>
        <p:spPr>
          <a:xfrm>
            <a:off x="685800" y="1676400"/>
            <a:ext cx="6096000" cy="4419600"/>
          </a:xfrm>
          <a:prstGeom prst="rect">
            <a:avLst/>
          </a:prstGeom>
        </p:spPr>
      </p:pic>
      <p:sp>
        <p:nvSpPr>
          <p:cNvPr id="5" name="Rectangle 4"/>
          <p:cNvSpPr/>
          <p:nvPr/>
        </p:nvSpPr>
        <p:spPr>
          <a:xfrm>
            <a:off x="6781800" y="1981200"/>
            <a:ext cx="4419600" cy="923330"/>
          </a:xfrm>
          <a:prstGeom prst="rect">
            <a:avLst/>
          </a:prstGeom>
        </p:spPr>
        <p:txBody>
          <a:bodyPr wrap="square">
            <a:spAutoFit/>
          </a:bodyPr>
          <a:lstStyle/>
          <a:p>
            <a:r>
              <a:rPr lang="en-IN" b="1" dirty="0"/>
              <a:t>shared spending </a:t>
            </a:r>
            <a:r>
              <a:rPr lang="en-IN" dirty="0"/>
              <a:t>is evidence of </a:t>
            </a:r>
            <a:r>
              <a:rPr lang="en-IN" b="1" dirty="0"/>
              <a:t>joint control of two different addresses</a:t>
            </a:r>
            <a:r>
              <a:rPr lang="en-IN" dirty="0"/>
              <a:t>, and not only. The addresses can be </a:t>
            </a:r>
            <a:r>
              <a:rPr lang="en-IN" b="1" dirty="0"/>
              <a:t>linked transitively</a:t>
            </a:r>
          </a:p>
        </p:txBody>
      </p:sp>
    </p:spTree>
    <p:extLst>
      <p:ext uri="{BB962C8B-B14F-4D97-AF65-F5344CB8AC3E}">
        <p14:creationId xmlns:p14="http://schemas.microsoft.com/office/powerpoint/2010/main" val="29609778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anim calcmode="lin" valueType="num">
                                      <p:cBhvr additive="base">
                                        <p:cTn id="7" dur="500" fill="hold"/>
                                        <p:tgtEl>
                                          <p:spTgt spid="5"/>
                                        </p:tgtEl>
                                        <p:attrNameLst>
                                          <p:attrName>ppt_x</p:attrName>
                                        </p:attrNameLst>
                                      </p:cBhvr>
                                      <p:tavLst>
                                        <p:tav tm="0">
                                          <p:val>
                                            <p:strVal val="#ppt_x"/>
                                          </p:val>
                                        </p:tav>
                                        <p:tav tm="100000">
                                          <p:val>
                                            <p:strVal val="#ppt_x"/>
                                          </p:val>
                                        </p:tav>
                                      </p:tavLst>
                                    </p:anim>
                                    <p:anim calcmode="lin" valueType="num">
                                      <p:cBhvr additive="base">
                                        <p:cTn id="8"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304800"/>
            <a:ext cx="10515600" cy="5872163"/>
          </a:xfrm>
        </p:spPr>
        <p:txBody>
          <a:bodyPr/>
          <a:lstStyle/>
          <a:p>
            <a:r>
              <a:rPr lang="en-IN" b="1" dirty="0"/>
              <a:t>An Analysis of Anonymity in the Bitcoin </a:t>
            </a:r>
            <a:r>
              <a:rPr lang="en-IN" b="1" dirty="0" smtClean="0"/>
              <a:t>System-</a:t>
            </a:r>
            <a:r>
              <a:rPr lang="en" b="1" dirty="0">
                <a:solidFill>
                  <a:schemeClr val="dk1"/>
                </a:solidFill>
                <a:latin typeface="Trebuchet MS"/>
                <a:ea typeface="Trebuchet MS"/>
                <a:cs typeface="Trebuchet MS"/>
                <a:sym typeface="Trebuchet MS"/>
              </a:rPr>
              <a:t>Clustering of </a:t>
            </a:r>
            <a:r>
              <a:rPr lang="en" b="1" dirty="0" smtClean="0">
                <a:solidFill>
                  <a:schemeClr val="dk1"/>
                </a:solidFill>
                <a:latin typeface="Trebuchet MS"/>
                <a:ea typeface="Trebuchet MS"/>
                <a:cs typeface="Trebuchet MS"/>
                <a:sym typeface="Trebuchet MS"/>
              </a:rPr>
              <a:t>addresses</a:t>
            </a:r>
          </a:p>
          <a:p>
            <a:endParaRPr lang="en" b="1" dirty="0">
              <a:solidFill>
                <a:schemeClr val="dk1"/>
              </a:solidFill>
              <a:latin typeface="Trebuchet MS"/>
              <a:sym typeface="Trebuchet MS"/>
            </a:endParaRPr>
          </a:p>
          <a:p>
            <a:pPr marL="0" indent="0">
              <a:spcBef>
                <a:spcPts val="0"/>
              </a:spcBef>
              <a:buClr>
                <a:schemeClr val="dk1"/>
              </a:buClr>
              <a:buNone/>
            </a:pPr>
            <a:r>
              <a:rPr lang="en-IN" i="1" dirty="0" smtClean="0">
                <a:solidFill>
                  <a:schemeClr val="dk1"/>
                </a:solidFill>
                <a:latin typeface="Trebuchet MS"/>
                <a:ea typeface="Trebuchet MS"/>
                <a:cs typeface="Trebuchet MS"/>
                <a:sym typeface="Trebuchet MS"/>
              </a:rPr>
              <a:t>“</a:t>
            </a:r>
            <a:r>
              <a:rPr lang="en-IN" i="1" dirty="0" smtClean="0">
                <a:solidFill>
                  <a:schemeClr val="dk1"/>
                </a:solidFill>
                <a:latin typeface="Trebuchet MS"/>
                <a:ea typeface="Trebuchet MS"/>
                <a:cs typeface="Trebuchet MS"/>
                <a:sym typeface="Trebuchet MS"/>
                <a:hlinkClick r:id="rId2" action="ppaction://hlinkfile"/>
              </a:rPr>
              <a:t>An </a:t>
            </a:r>
            <a:r>
              <a:rPr lang="en-IN" i="1" dirty="0">
                <a:solidFill>
                  <a:schemeClr val="dk1"/>
                </a:solidFill>
                <a:latin typeface="Trebuchet MS"/>
                <a:ea typeface="Trebuchet MS"/>
                <a:cs typeface="Trebuchet MS"/>
                <a:sym typeface="Trebuchet MS"/>
                <a:hlinkClick r:id="rId2" action="ppaction://hlinkfile"/>
              </a:rPr>
              <a:t>Analysis of Anonymity in the Bitcoin </a:t>
            </a:r>
            <a:r>
              <a:rPr lang="en-IN" i="1" dirty="0" smtClean="0">
                <a:solidFill>
                  <a:schemeClr val="dk1"/>
                </a:solidFill>
                <a:latin typeface="Trebuchet MS"/>
                <a:ea typeface="Trebuchet MS"/>
                <a:cs typeface="Trebuchet MS"/>
                <a:sym typeface="Trebuchet MS"/>
                <a:hlinkClick r:id="rId2" action="ppaction://hlinkfile"/>
              </a:rPr>
              <a:t>System”</a:t>
            </a:r>
            <a:r>
              <a:rPr lang="en-IN" dirty="0" smtClean="0">
                <a:sym typeface="Trebuchet MS"/>
                <a:hlinkClick r:id="rId2" action="ppaction://hlinkfile"/>
              </a:rPr>
              <a:t>  </a:t>
            </a:r>
            <a:r>
              <a:rPr lang="en-IN" dirty="0" smtClean="0">
                <a:sym typeface="Trebuchet MS"/>
              </a:rPr>
              <a:t>-</a:t>
            </a:r>
            <a:r>
              <a:rPr lang="en-IN" dirty="0" smtClean="0">
                <a:solidFill>
                  <a:schemeClr val="dk1"/>
                </a:solidFill>
                <a:latin typeface="Trebuchet MS"/>
                <a:ea typeface="Trebuchet MS"/>
                <a:cs typeface="Trebuchet MS"/>
                <a:sym typeface="Trebuchet MS"/>
              </a:rPr>
              <a:t>F</a:t>
            </a:r>
            <a:r>
              <a:rPr lang="en-IN" dirty="0">
                <a:solidFill>
                  <a:schemeClr val="dk1"/>
                </a:solidFill>
                <a:latin typeface="Trebuchet MS"/>
                <a:ea typeface="Trebuchet MS"/>
                <a:cs typeface="Trebuchet MS"/>
                <a:sym typeface="Trebuchet MS"/>
              </a:rPr>
              <a:t>. Reid and M. </a:t>
            </a:r>
            <a:r>
              <a:rPr lang="en-IN" dirty="0" err="1" smtClean="0">
                <a:solidFill>
                  <a:schemeClr val="dk1"/>
                </a:solidFill>
                <a:latin typeface="Trebuchet MS"/>
                <a:ea typeface="Trebuchet MS"/>
                <a:cs typeface="Trebuchet MS"/>
                <a:sym typeface="Trebuchet MS"/>
              </a:rPr>
              <a:t>Harrigan</a:t>
            </a:r>
            <a:r>
              <a:rPr lang="en-IN" dirty="0" smtClean="0">
                <a:solidFill>
                  <a:schemeClr val="dk1"/>
                </a:solidFill>
                <a:latin typeface="Trebuchet MS"/>
                <a:ea typeface="Trebuchet MS"/>
                <a:cs typeface="Trebuchet MS"/>
                <a:sym typeface="Trebuchet MS"/>
              </a:rPr>
              <a:t>  PASSAT </a:t>
            </a:r>
            <a:r>
              <a:rPr lang="en-IN" dirty="0">
                <a:solidFill>
                  <a:schemeClr val="dk1"/>
                </a:solidFill>
                <a:latin typeface="Trebuchet MS"/>
                <a:ea typeface="Trebuchet MS"/>
                <a:cs typeface="Trebuchet MS"/>
                <a:sym typeface="Trebuchet MS"/>
              </a:rPr>
              <a:t>2011</a:t>
            </a:r>
            <a:endParaRPr lang="en-IN" dirty="0"/>
          </a:p>
          <a:p>
            <a:pPr marL="0" indent="0">
              <a:buNone/>
            </a:pPr>
            <a:r>
              <a:rPr lang="en-IN" dirty="0" smtClean="0"/>
              <a:t> </a:t>
            </a:r>
            <a:r>
              <a:rPr lang="en-IN" b="1" dirty="0"/>
              <a:t>Research </a:t>
            </a:r>
            <a:r>
              <a:rPr lang="en-IN" b="1" dirty="0" smtClean="0"/>
              <a:t>results in the said paper:</a:t>
            </a:r>
            <a:endParaRPr lang="en-IN" b="1" dirty="0"/>
          </a:p>
          <a:p>
            <a:pPr marL="0" indent="0">
              <a:buNone/>
            </a:pPr>
            <a:endParaRPr lang="en-IN" dirty="0"/>
          </a:p>
        </p:txBody>
      </p:sp>
      <p:pic>
        <p:nvPicPr>
          <p:cNvPr id="4" name="Picture 3"/>
          <p:cNvPicPr>
            <a:picLocks noChangeAspect="1"/>
          </p:cNvPicPr>
          <p:nvPr/>
        </p:nvPicPr>
        <p:blipFill>
          <a:blip r:embed="rId3"/>
          <a:stretch>
            <a:fillRect/>
          </a:stretch>
        </p:blipFill>
        <p:spPr>
          <a:xfrm>
            <a:off x="4876800" y="3048001"/>
            <a:ext cx="6248400" cy="3810000"/>
          </a:xfrm>
          <a:prstGeom prst="rect">
            <a:avLst/>
          </a:prstGeom>
        </p:spPr>
      </p:pic>
    </p:spTree>
    <p:extLst>
      <p:ext uri="{BB962C8B-B14F-4D97-AF65-F5344CB8AC3E}">
        <p14:creationId xmlns:p14="http://schemas.microsoft.com/office/powerpoint/2010/main" val="640710275"/>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685800"/>
            <a:ext cx="10515600" cy="5491163"/>
          </a:xfrm>
        </p:spPr>
        <p:txBody>
          <a:bodyPr/>
          <a:lstStyle/>
          <a:p>
            <a:pPr marL="0" indent="0">
              <a:buNone/>
            </a:pPr>
            <a:r>
              <a:rPr lang="en-IN" dirty="0"/>
              <a:t>Based on the situation at the moment of the research, we can make some hypothesis, for example:</a:t>
            </a:r>
          </a:p>
          <a:p>
            <a:pPr marL="0" indent="0">
              <a:buNone/>
            </a:pPr>
            <a:endParaRPr lang="en-IN" dirty="0"/>
          </a:p>
          <a:p>
            <a:r>
              <a:rPr lang="en-IN" sz="2000" dirty="0"/>
              <a:t>    The biggest dot in violet could correspond to </a:t>
            </a:r>
            <a:r>
              <a:rPr lang="en-IN" sz="2000" dirty="0" err="1"/>
              <a:t>Mt.Gox</a:t>
            </a:r>
            <a:r>
              <a:rPr lang="en-IN" sz="2000" dirty="0"/>
              <a:t>, since it was the major exchange at the moment</a:t>
            </a:r>
          </a:p>
          <a:p>
            <a:r>
              <a:rPr lang="en-IN" sz="2000" dirty="0"/>
              <a:t>    While the small dot with many transactions could belong to Satoshi Dice gambling service. In fact, it received a lot of micro payments for gambling, so many transactions but without a lot of value.</a:t>
            </a:r>
          </a:p>
          <a:p>
            <a:pPr marL="0" indent="0">
              <a:buNone/>
            </a:pPr>
            <a:endParaRPr lang="en-IN" dirty="0"/>
          </a:p>
        </p:txBody>
      </p:sp>
      <p:pic>
        <p:nvPicPr>
          <p:cNvPr id="4" name="Picture 3"/>
          <p:cNvPicPr>
            <a:picLocks noChangeAspect="1"/>
          </p:cNvPicPr>
          <p:nvPr/>
        </p:nvPicPr>
        <p:blipFill>
          <a:blip r:embed="rId2"/>
          <a:stretch>
            <a:fillRect/>
          </a:stretch>
        </p:blipFill>
        <p:spPr>
          <a:xfrm>
            <a:off x="2133600" y="3464859"/>
            <a:ext cx="5181600" cy="3295650"/>
          </a:xfrm>
          <a:prstGeom prst="rect">
            <a:avLst/>
          </a:prstGeom>
        </p:spPr>
      </p:pic>
    </p:spTree>
    <p:extLst>
      <p:ext uri="{BB962C8B-B14F-4D97-AF65-F5344CB8AC3E}">
        <p14:creationId xmlns:p14="http://schemas.microsoft.com/office/powerpoint/2010/main" val="294698555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457200"/>
            <a:ext cx="10515600" cy="5719763"/>
          </a:xfrm>
        </p:spPr>
        <p:txBody>
          <a:bodyPr>
            <a:normAutofit/>
          </a:bodyPr>
          <a:lstStyle/>
          <a:p>
            <a:r>
              <a:rPr lang="en-IN" b="1" dirty="0"/>
              <a:t>Anonimity for </a:t>
            </a:r>
            <a:r>
              <a:rPr lang="en-IN" b="1" dirty="0" smtClean="0"/>
              <a:t>individuals:</a:t>
            </a:r>
            <a:endParaRPr lang="en-IN" b="1" dirty="0"/>
          </a:p>
          <a:p>
            <a:pPr marL="0" indent="0">
              <a:buNone/>
            </a:pPr>
            <a:endParaRPr lang="en-IN" dirty="0"/>
          </a:p>
          <a:p>
            <a:pPr algn="just"/>
            <a:r>
              <a:rPr lang="en-IN" dirty="0" smtClean="0"/>
              <a:t>    </a:t>
            </a:r>
            <a:r>
              <a:rPr lang="en-IN" sz="2000" dirty="0"/>
              <a:t>Bitcoin used to make transactions interacting directly with the merchant. So it is possible to link an address to the individual and start from there to identify the cluster.</a:t>
            </a:r>
          </a:p>
          <a:p>
            <a:pPr algn="just"/>
            <a:r>
              <a:rPr lang="en-IN" sz="2000" dirty="0"/>
              <a:t>    Most users interact with big service providers who know their real identities. It is enough to find a single transaction with these big providers to potentially go back to the real identity. Of course, this is only possible with enough </a:t>
            </a:r>
            <a:r>
              <a:rPr lang="en-IN" sz="2000" dirty="0" err="1"/>
              <a:t>autority</a:t>
            </a:r>
            <a:r>
              <a:rPr lang="en-IN" sz="2000" dirty="0"/>
              <a:t> power or with hacking techniques.</a:t>
            </a:r>
          </a:p>
          <a:p>
            <a:pPr algn="just"/>
            <a:r>
              <a:rPr lang="en-IN" sz="2000" dirty="0"/>
              <a:t>    Often users publish online some of their addresses for donation purposes or similar. With this single address it is possible to reconstruct the cluster.</a:t>
            </a:r>
          </a:p>
          <a:p>
            <a:pPr marL="0" indent="0">
              <a:buNone/>
            </a:pPr>
            <a:endParaRPr lang="en-IN" dirty="0" smtClean="0"/>
          </a:p>
          <a:p>
            <a:pPr marL="0" indent="0">
              <a:spcBef>
                <a:spcPts val="0"/>
              </a:spcBef>
              <a:buClr>
                <a:schemeClr val="dk1"/>
              </a:buClr>
              <a:buNone/>
            </a:pPr>
            <a:r>
              <a:rPr lang="en-IN" i="1" dirty="0" smtClean="0">
                <a:solidFill>
                  <a:schemeClr val="dk1"/>
                </a:solidFill>
                <a:latin typeface="Trebuchet MS"/>
                <a:ea typeface="Trebuchet MS"/>
                <a:cs typeface="Trebuchet MS"/>
                <a:sym typeface="Trebuchet MS"/>
              </a:rPr>
              <a:t>“</a:t>
            </a:r>
            <a:r>
              <a:rPr lang="en-IN" i="1" dirty="0" smtClean="0">
                <a:solidFill>
                  <a:schemeClr val="dk1"/>
                </a:solidFill>
                <a:latin typeface="Trebuchet MS"/>
                <a:ea typeface="Trebuchet MS"/>
                <a:cs typeface="Trebuchet MS"/>
                <a:sym typeface="Trebuchet MS"/>
                <a:hlinkClick r:id="rId2" action="ppaction://hlinkfile"/>
              </a:rPr>
              <a:t>A </a:t>
            </a:r>
            <a:r>
              <a:rPr lang="en-IN" i="1" dirty="0">
                <a:solidFill>
                  <a:schemeClr val="dk1"/>
                </a:solidFill>
                <a:latin typeface="Trebuchet MS"/>
                <a:ea typeface="Trebuchet MS"/>
                <a:cs typeface="Trebuchet MS"/>
                <a:sym typeface="Trebuchet MS"/>
                <a:hlinkClick r:id="rId2" action="ppaction://hlinkfile"/>
              </a:rPr>
              <a:t>Fistful of </a:t>
            </a:r>
            <a:r>
              <a:rPr lang="en-IN" i="1" dirty="0" err="1">
                <a:solidFill>
                  <a:schemeClr val="dk1"/>
                </a:solidFill>
                <a:latin typeface="Trebuchet MS"/>
                <a:ea typeface="Trebuchet MS"/>
                <a:cs typeface="Trebuchet MS"/>
                <a:sym typeface="Trebuchet MS"/>
                <a:hlinkClick r:id="rId2" action="ppaction://hlinkfile"/>
              </a:rPr>
              <a:t>Bitcoins</a:t>
            </a:r>
            <a:r>
              <a:rPr lang="en-IN" i="1" dirty="0">
                <a:solidFill>
                  <a:schemeClr val="dk1"/>
                </a:solidFill>
                <a:latin typeface="Trebuchet MS"/>
                <a:ea typeface="Trebuchet MS"/>
                <a:cs typeface="Trebuchet MS"/>
                <a:sym typeface="Trebuchet MS"/>
                <a:hlinkClick r:id="rId2" action="ppaction://hlinkfile"/>
              </a:rPr>
              <a:t>: Characterizing Payments Among Men with No </a:t>
            </a:r>
            <a:r>
              <a:rPr lang="en-IN" i="1" dirty="0" smtClean="0">
                <a:solidFill>
                  <a:schemeClr val="dk1"/>
                </a:solidFill>
                <a:latin typeface="Trebuchet MS"/>
                <a:ea typeface="Trebuchet MS"/>
                <a:cs typeface="Trebuchet MS"/>
                <a:sym typeface="Trebuchet MS"/>
                <a:hlinkClick r:id="rId2" action="ppaction://hlinkfile"/>
              </a:rPr>
              <a:t>Names”</a:t>
            </a:r>
            <a:r>
              <a:rPr lang="en-IN" dirty="0" smtClean="0">
                <a:sym typeface="Trebuchet MS"/>
                <a:hlinkClick r:id="rId2" action="ppaction://hlinkfile"/>
              </a:rPr>
              <a:t>    </a:t>
            </a:r>
            <a:r>
              <a:rPr lang="en-IN" dirty="0" smtClean="0">
                <a:solidFill>
                  <a:schemeClr val="dk1"/>
                </a:solidFill>
                <a:latin typeface="Trebuchet MS"/>
                <a:ea typeface="Trebuchet MS"/>
                <a:cs typeface="Trebuchet MS"/>
                <a:sym typeface="Trebuchet MS"/>
                <a:hlinkClick r:id="rId2" action="ppaction://hlinkfile"/>
              </a:rPr>
              <a:t>S</a:t>
            </a:r>
            <a:r>
              <a:rPr lang="en-IN" dirty="0">
                <a:solidFill>
                  <a:schemeClr val="dk1"/>
                </a:solidFill>
                <a:latin typeface="Trebuchet MS"/>
                <a:ea typeface="Trebuchet MS"/>
                <a:cs typeface="Trebuchet MS"/>
                <a:sym typeface="Trebuchet MS"/>
                <a:hlinkClick r:id="rId2" action="ppaction://hlinkfile"/>
              </a:rPr>
              <a:t>. </a:t>
            </a:r>
            <a:r>
              <a:rPr lang="en-IN" dirty="0" err="1">
                <a:solidFill>
                  <a:schemeClr val="dk1"/>
                </a:solidFill>
                <a:latin typeface="Trebuchet MS"/>
                <a:ea typeface="Trebuchet MS"/>
                <a:cs typeface="Trebuchet MS"/>
                <a:sym typeface="Trebuchet MS"/>
                <a:hlinkClick r:id="rId2" action="ppaction://hlinkfile"/>
              </a:rPr>
              <a:t>Meiklejohn</a:t>
            </a:r>
            <a:r>
              <a:rPr lang="en-IN" dirty="0">
                <a:solidFill>
                  <a:schemeClr val="dk1"/>
                </a:solidFill>
                <a:latin typeface="Trebuchet MS"/>
                <a:ea typeface="Trebuchet MS"/>
                <a:cs typeface="Trebuchet MS"/>
                <a:sym typeface="Trebuchet MS"/>
                <a:hlinkClick r:id="rId2" action="ppaction://hlinkfile"/>
              </a:rPr>
              <a:t> et </a:t>
            </a:r>
            <a:r>
              <a:rPr lang="en-IN" dirty="0" smtClean="0">
                <a:solidFill>
                  <a:schemeClr val="dk1"/>
                </a:solidFill>
                <a:latin typeface="Trebuchet MS"/>
                <a:ea typeface="Trebuchet MS"/>
                <a:cs typeface="Trebuchet MS"/>
                <a:sym typeface="Trebuchet MS"/>
                <a:hlinkClick r:id="rId2" action="ppaction://hlinkfile"/>
              </a:rPr>
              <a:t>al. IMC </a:t>
            </a:r>
            <a:r>
              <a:rPr lang="en-IN" dirty="0">
                <a:solidFill>
                  <a:schemeClr val="dk1"/>
                </a:solidFill>
                <a:latin typeface="Trebuchet MS"/>
                <a:ea typeface="Trebuchet MS"/>
                <a:cs typeface="Trebuchet MS"/>
                <a:sym typeface="Trebuchet MS"/>
                <a:hlinkClick r:id="rId2" action="ppaction://hlinkfile"/>
              </a:rPr>
              <a:t>2013</a:t>
            </a:r>
            <a:endParaRPr lang="en-IN" dirty="0"/>
          </a:p>
          <a:p>
            <a:pPr marL="0" indent="0">
              <a:buNone/>
            </a:pPr>
            <a:endParaRPr lang="en-IN" dirty="0"/>
          </a:p>
        </p:txBody>
      </p:sp>
    </p:spTree>
    <p:extLst>
      <p:ext uri="{BB962C8B-B14F-4D97-AF65-F5344CB8AC3E}">
        <p14:creationId xmlns:p14="http://schemas.microsoft.com/office/powerpoint/2010/main" val="214526845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40"/>
          <p:cNvSpPr txBox="1">
            <a:spLocks noGrp="1"/>
          </p:cNvSpPr>
          <p:nvPr>
            <p:ph type="subTitle" idx="1"/>
          </p:nvPr>
        </p:nvSpPr>
        <p:spPr>
          <a:xfrm>
            <a:off x="914400" y="2253971"/>
            <a:ext cx="10363200" cy="1046399"/>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a:spcBef>
                <a:spcPts val="0"/>
              </a:spcBef>
              <a:spcAft>
                <a:spcPts val="0"/>
              </a:spcAft>
              <a:buClr>
                <a:schemeClr val="dk2"/>
              </a:buClr>
            </a:pPr>
            <a:endParaRPr sz="4000" dirty="0">
              <a:solidFill>
                <a:schemeClr val="dk2"/>
              </a:solidFill>
              <a:latin typeface="Trebuchet MS"/>
              <a:ea typeface="Trebuchet MS"/>
              <a:cs typeface="Trebuchet MS"/>
              <a:sym typeface="Trebuchet MS"/>
            </a:endParaRPr>
          </a:p>
          <a:p>
            <a:pPr>
              <a:spcBef>
                <a:spcPts val="0"/>
              </a:spcBef>
              <a:spcAft>
                <a:spcPts val="0"/>
              </a:spcAft>
              <a:buClr>
                <a:schemeClr val="dk2"/>
              </a:buClr>
            </a:pPr>
            <a:r>
              <a:rPr lang="en" sz="4000" dirty="0">
                <a:solidFill>
                  <a:schemeClr val="dk2"/>
                </a:solidFill>
                <a:latin typeface="Trebuchet MS"/>
                <a:ea typeface="Trebuchet MS"/>
                <a:cs typeface="Trebuchet MS"/>
                <a:sym typeface="Trebuchet MS"/>
              </a:rPr>
              <a:t>Mixing</a:t>
            </a:r>
            <a:endParaRPr sz="4000" dirty="0">
              <a:solidFill>
                <a:schemeClr val="dk2"/>
              </a:solidFill>
              <a:latin typeface="Trebuchet MS"/>
              <a:ea typeface="Trebuchet MS"/>
              <a:cs typeface="Trebuchet MS"/>
              <a:sym typeface="Trebuchet MS"/>
            </a:endParaRPr>
          </a:p>
        </p:txBody>
      </p:sp>
    </p:spTree>
    <p:extLst>
      <p:ext uri="{BB962C8B-B14F-4D97-AF65-F5344CB8AC3E}">
        <p14:creationId xmlns:p14="http://schemas.microsoft.com/office/powerpoint/2010/main" val="147948764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94"/>
        <p:cNvGrpSpPr/>
        <p:nvPr/>
      </p:nvGrpSpPr>
      <p:grpSpPr>
        <a:xfrm>
          <a:off x="0" y="0"/>
          <a:ext cx="0" cy="0"/>
          <a:chOff x="0" y="0"/>
          <a:chExt cx="0" cy="0"/>
        </a:xfrm>
      </p:grpSpPr>
      <p:sp>
        <p:nvSpPr>
          <p:cNvPr id="295" name="Google Shape;295;p41"/>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000" b="1">
                <a:solidFill>
                  <a:schemeClr val="dk1"/>
                </a:solidFill>
                <a:latin typeface="Trebuchet MS"/>
                <a:ea typeface="Trebuchet MS"/>
                <a:cs typeface="Trebuchet MS"/>
                <a:sym typeface="Trebuchet MS"/>
              </a:rPr>
              <a:t>To protect anonymity, use an intermediary</a:t>
            </a:r>
            <a:endParaRPr sz="4000" b="1">
              <a:solidFill>
                <a:schemeClr val="dk1"/>
              </a:solidFill>
              <a:latin typeface="Trebuchet MS"/>
              <a:ea typeface="Trebuchet MS"/>
              <a:cs typeface="Trebuchet MS"/>
              <a:sym typeface="Trebuchet MS"/>
            </a:endParaRPr>
          </a:p>
        </p:txBody>
      </p:sp>
      <p:sp>
        <p:nvSpPr>
          <p:cNvPr id="296" name="Google Shape;296;p41"/>
          <p:cNvSpPr/>
          <p:nvPr/>
        </p:nvSpPr>
        <p:spPr>
          <a:xfrm>
            <a:off x="4495800" y="2209800"/>
            <a:ext cx="26670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297" name="Google Shape;297;p41"/>
          <p:cNvSpPr/>
          <p:nvPr/>
        </p:nvSpPr>
        <p:spPr>
          <a:xfrm>
            <a:off x="5863264" y="2921000"/>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298" name="Google Shape;298;p41"/>
          <p:cNvSpPr/>
          <p:nvPr/>
        </p:nvSpPr>
        <p:spPr>
          <a:xfrm>
            <a:off x="3733800" y="2971800"/>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299" name="Google Shape;299;p41" descr="User 1 by cyberscooty - "/>
          <p:cNvPicPr preferRelativeResize="0"/>
          <p:nvPr/>
        </p:nvPicPr>
        <p:blipFill rotWithShape="1">
          <a:blip r:embed="rId3">
            <a:alphaModFix/>
          </a:blip>
          <a:srcRect/>
          <a:stretch/>
        </p:blipFill>
        <p:spPr>
          <a:xfrm>
            <a:off x="2590800" y="2482046"/>
            <a:ext cx="763213" cy="948091"/>
          </a:xfrm>
          <a:prstGeom prst="rect">
            <a:avLst/>
          </a:prstGeom>
          <a:noFill/>
          <a:ln>
            <a:noFill/>
          </a:ln>
        </p:spPr>
      </p:pic>
      <p:pic>
        <p:nvPicPr>
          <p:cNvPr id="300" name="Google Shape;300;p41" descr="User 2 by cyberscooty - "/>
          <p:cNvPicPr preferRelativeResize="0"/>
          <p:nvPr/>
        </p:nvPicPr>
        <p:blipFill rotWithShape="1">
          <a:blip r:embed="rId4">
            <a:alphaModFix/>
          </a:blip>
          <a:srcRect/>
          <a:stretch/>
        </p:blipFill>
        <p:spPr>
          <a:xfrm>
            <a:off x="2641928" y="4986955"/>
            <a:ext cx="763213" cy="948091"/>
          </a:xfrm>
          <a:prstGeom prst="rect">
            <a:avLst/>
          </a:prstGeom>
          <a:noFill/>
          <a:ln>
            <a:noFill/>
          </a:ln>
        </p:spPr>
      </p:pic>
      <p:pic>
        <p:nvPicPr>
          <p:cNvPr id="301" name="Google Shape;301;p41" descr="User 3 by cyberscooty - User #3 - special remix for a demand"/>
          <p:cNvPicPr preferRelativeResize="0"/>
          <p:nvPr/>
        </p:nvPicPr>
        <p:blipFill rotWithShape="1">
          <a:blip r:embed="rId5">
            <a:alphaModFix/>
          </a:blip>
          <a:srcRect/>
          <a:stretch/>
        </p:blipFill>
        <p:spPr>
          <a:xfrm>
            <a:off x="2641739" y="3775669"/>
            <a:ext cx="749520" cy="931081"/>
          </a:xfrm>
          <a:prstGeom prst="rect">
            <a:avLst/>
          </a:prstGeom>
          <a:noFill/>
          <a:ln>
            <a:noFill/>
          </a:ln>
        </p:spPr>
      </p:pic>
      <p:cxnSp>
        <p:nvCxnSpPr>
          <p:cNvPr id="302" name="Google Shape;302;p41"/>
          <p:cNvCxnSpPr>
            <a:stCxn id="298" idx="6"/>
            <a:endCxn id="297" idx="2"/>
          </p:cNvCxnSpPr>
          <p:nvPr/>
        </p:nvCxnSpPr>
        <p:spPr>
          <a:xfrm flipV="1">
            <a:off x="3835400" y="2971800"/>
            <a:ext cx="2027864" cy="50800"/>
          </a:xfrm>
          <a:prstGeom prst="straightConnector1">
            <a:avLst/>
          </a:prstGeom>
          <a:noFill/>
          <a:ln w="19050" cap="flat" cmpd="sng">
            <a:solidFill>
              <a:srgbClr val="A3A3A3"/>
            </a:solidFill>
            <a:prstDash val="solid"/>
            <a:round/>
            <a:headEnd type="none" w="sm" len="sm"/>
            <a:tailEnd type="none" w="sm" len="sm"/>
          </a:ln>
        </p:spPr>
      </p:cxnSp>
      <p:sp>
        <p:nvSpPr>
          <p:cNvPr id="303" name="Google Shape;303;p41"/>
          <p:cNvSpPr/>
          <p:nvPr/>
        </p:nvSpPr>
        <p:spPr>
          <a:xfrm>
            <a:off x="5864445" y="4190409"/>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04" name="Google Shape;304;p41"/>
          <p:cNvSpPr/>
          <p:nvPr/>
        </p:nvSpPr>
        <p:spPr>
          <a:xfrm>
            <a:off x="3702491" y="4190409"/>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305" name="Google Shape;305;p41"/>
          <p:cNvCxnSpPr>
            <a:stCxn id="304" idx="6"/>
            <a:endCxn id="303" idx="2"/>
          </p:cNvCxnSpPr>
          <p:nvPr/>
        </p:nvCxnSpPr>
        <p:spPr>
          <a:xfrm>
            <a:off x="3804091" y="4241209"/>
            <a:ext cx="2060400" cy="0"/>
          </a:xfrm>
          <a:prstGeom prst="straightConnector1">
            <a:avLst/>
          </a:prstGeom>
          <a:noFill/>
          <a:ln w="19050" cap="flat" cmpd="sng">
            <a:solidFill>
              <a:srgbClr val="A3A3A3"/>
            </a:solidFill>
            <a:prstDash val="solid"/>
            <a:round/>
            <a:headEnd type="none" w="sm" len="sm"/>
            <a:tailEnd type="none" w="sm" len="sm"/>
          </a:ln>
        </p:spPr>
      </p:cxnSp>
      <p:sp>
        <p:nvSpPr>
          <p:cNvPr id="306" name="Google Shape;306;p41"/>
          <p:cNvSpPr/>
          <p:nvPr/>
        </p:nvSpPr>
        <p:spPr>
          <a:xfrm>
            <a:off x="5864445" y="54102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07" name="Google Shape;307;p41"/>
          <p:cNvSpPr/>
          <p:nvPr/>
        </p:nvSpPr>
        <p:spPr>
          <a:xfrm>
            <a:off x="3702491" y="54102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308" name="Google Shape;308;p41"/>
          <p:cNvCxnSpPr>
            <a:stCxn id="307" idx="6"/>
            <a:endCxn id="306" idx="2"/>
          </p:cNvCxnSpPr>
          <p:nvPr/>
        </p:nvCxnSpPr>
        <p:spPr>
          <a:xfrm>
            <a:off x="3804091" y="5461000"/>
            <a:ext cx="2060400" cy="0"/>
          </a:xfrm>
          <a:prstGeom prst="straightConnector1">
            <a:avLst/>
          </a:prstGeom>
          <a:noFill/>
          <a:ln w="19050" cap="flat" cmpd="sng">
            <a:solidFill>
              <a:srgbClr val="A3A3A3"/>
            </a:solidFill>
            <a:prstDash val="solid"/>
            <a:round/>
            <a:headEnd type="none" w="sm" len="sm"/>
            <a:tailEnd type="none" w="sm" len="sm"/>
          </a:ln>
        </p:spPr>
      </p:cxnSp>
      <p:pic>
        <p:nvPicPr>
          <p:cNvPr id="16" name="Google Shape;299;p41" descr="User 1 by cyberscooty - "/>
          <p:cNvPicPr preferRelativeResize="0"/>
          <p:nvPr/>
        </p:nvPicPr>
        <p:blipFill rotWithShape="1">
          <a:blip r:embed="rId3">
            <a:alphaModFix/>
          </a:blip>
          <a:srcRect/>
          <a:stretch/>
        </p:blipFill>
        <p:spPr>
          <a:xfrm>
            <a:off x="7696200" y="3581400"/>
            <a:ext cx="763213" cy="1024291"/>
          </a:xfrm>
          <a:prstGeom prst="rect">
            <a:avLst/>
          </a:prstGeom>
          <a:noFill/>
          <a:ln>
            <a:noFill/>
          </a:ln>
        </p:spPr>
      </p:pic>
      <p:pic>
        <p:nvPicPr>
          <p:cNvPr id="17" name="Google Shape;301;p41" descr="User 3 by cyberscooty - User #3 - special remix for a demand"/>
          <p:cNvPicPr preferRelativeResize="0"/>
          <p:nvPr/>
        </p:nvPicPr>
        <p:blipFill rotWithShape="1">
          <a:blip r:embed="rId5">
            <a:alphaModFix/>
          </a:blip>
          <a:srcRect/>
          <a:stretch/>
        </p:blipFill>
        <p:spPr>
          <a:xfrm>
            <a:off x="7620000" y="4876800"/>
            <a:ext cx="749520" cy="931081"/>
          </a:xfrm>
          <a:prstGeom prst="rect">
            <a:avLst/>
          </a:prstGeom>
          <a:noFill/>
          <a:ln>
            <a:noFill/>
          </a:ln>
        </p:spPr>
      </p:pic>
      <p:pic>
        <p:nvPicPr>
          <p:cNvPr id="18" name="Google Shape;300;p41" descr="User 2 by cyberscooty - "/>
          <p:cNvPicPr preferRelativeResize="0"/>
          <p:nvPr/>
        </p:nvPicPr>
        <p:blipFill rotWithShape="1">
          <a:blip r:embed="rId4">
            <a:alphaModFix/>
          </a:blip>
          <a:srcRect/>
          <a:stretch/>
        </p:blipFill>
        <p:spPr>
          <a:xfrm>
            <a:off x="7543800" y="2209800"/>
            <a:ext cx="763213" cy="948091"/>
          </a:xfrm>
          <a:prstGeom prst="rect">
            <a:avLst/>
          </a:prstGeom>
          <a:noFill/>
          <a:ln>
            <a:noFill/>
          </a:ln>
        </p:spPr>
      </p:pic>
      <p:pic>
        <p:nvPicPr>
          <p:cNvPr id="4" name="Picture 3"/>
          <p:cNvPicPr>
            <a:picLocks noChangeAspect="1"/>
          </p:cNvPicPr>
          <p:nvPr/>
        </p:nvPicPr>
        <p:blipFill>
          <a:blip r:embed="rId6"/>
          <a:stretch>
            <a:fillRect/>
          </a:stretch>
        </p:blipFill>
        <p:spPr>
          <a:xfrm>
            <a:off x="6019800" y="2971800"/>
            <a:ext cx="1560711" cy="18290"/>
          </a:xfrm>
          <a:prstGeom prst="rect">
            <a:avLst/>
          </a:prstGeom>
        </p:spPr>
      </p:pic>
      <p:pic>
        <p:nvPicPr>
          <p:cNvPr id="5" name="Picture 4"/>
          <p:cNvPicPr>
            <a:picLocks noChangeAspect="1"/>
          </p:cNvPicPr>
          <p:nvPr/>
        </p:nvPicPr>
        <p:blipFill>
          <a:blip r:embed="rId6"/>
          <a:stretch>
            <a:fillRect/>
          </a:stretch>
        </p:blipFill>
        <p:spPr>
          <a:xfrm>
            <a:off x="5943600" y="4191000"/>
            <a:ext cx="1560711" cy="18290"/>
          </a:xfrm>
          <a:prstGeom prst="rect">
            <a:avLst/>
          </a:prstGeom>
        </p:spPr>
      </p:pic>
      <p:pic>
        <p:nvPicPr>
          <p:cNvPr id="6" name="Picture 5"/>
          <p:cNvPicPr>
            <a:picLocks noChangeAspect="1"/>
          </p:cNvPicPr>
          <p:nvPr/>
        </p:nvPicPr>
        <p:blipFill>
          <a:blip r:embed="rId6"/>
          <a:stretch>
            <a:fillRect/>
          </a:stretch>
        </p:blipFill>
        <p:spPr>
          <a:xfrm>
            <a:off x="6096000" y="5486400"/>
            <a:ext cx="1560711" cy="18290"/>
          </a:xfrm>
          <a:prstGeom prst="rect">
            <a:avLst/>
          </a:prstGeom>
        </p:spPr>
      </p:pic>
      <p:sp>
        <p:nvSpPr>
          <p:cNvPr id="2" name="Rectangle 1"/>
          <p:cNvSpPr/>
          <p:nvPr/>
        </p:nvSpPr>
        <p:spPr>
          <a:xfrm>
            <a:off x="1752600" y="6172200"/>
            <a:ext cx="8839200" cy="646331"/>
          </a:xfrm>
          <a:prstGeom prst="rect">
            <a:avLst/>
          </a:prstGeom>
        </p:spPr>
        <p:txBody>
          <a:bodyPr wrap="square">
            <a:spAutoFit/>
          </a:bodyPr>
          <a:lstStyle/>
          <a:p>
            <a:r>
              <a:rPr lang="en-IN" b="1" dirty="0"/>
              <a:t>You Get Untraceable </a:t>
            </a:r>
            <a:r>
              <a:rPr lang="en-IN" b="1" dirty="0" err="1"/>
              <a:t>Bitcoin</a:t>
            </a:r>
            <a:endParaRPr lang="en-IN" b="1" dirty="0"/>
          </a:p>
          <a:p>
            <a:r>
              <a:rPr lang="en-IN" b="1" dirty="0" smtClean="0"/>
              <a:t>The </a:t>
            </a:r>
            <a:r>
              <a:rPr lang="en-IN" b="1" dirty="0" err="1"/>
              <a:t>Bitcoin</a:t>
            </a:r>
            <a:r>
              <a:rPr lang="en-IN" b="1" dirty="0"/>
              <a:t> you receive is </a:t>
            </a:r>
            <a:r>
              <a:rPr lang="en-IN" b="1" dirty="0" err="1"/>
              <a:t>anonymized</a:t>
            </a:r>
            <a:r>
              <a:rPr lang="en-IN" b="1" dirty="0"/>
              <a:t>, making it hard for anyone to trace it back to you.</a:t>
            </a:r>
          </a:p>
        </p:txBody>
      </p:sp>
    </p:spTree>
    <p:extLst>
      <p:ext uri="{BB962C8B-B14F-4D97-AF65-F5344CB8AC3E}">
        <p14:creationId xmlns:p14="http://schemas.microsoft.com/office/powerpoint/2010/main" val="27216797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nodeType="clickEffect">
                                  <p:stCondLst>
                                    <p:cond delay="0"/>
                                  </p:stCondLst>
                                  <p:childTnLst>
                                    <p:animEffect transition="out" filter="fade">
                                      <p:cBhvr>
                                        <p:cTn id="6" dur="500"/>
                                        <p:tgtEl>
                                          <p:spTgt spid="300"/>
                                        </p:tgtEl>
                                      </p:cBhvr>
                                    </p:animEffect>
                                    <p:set>
                                      <p:cBhvr>
                                        <p:cTn id="7" dur="1" fill="hold">
                                          <p:stCondLst>
                                            <p:cond delay="500"/>
                                          </p:stCondLst>
                                        </p:cTn>
                                        <p:tgtEl>
                                          <p:spTgt spid="300"/>
                                        </p:tgtEl>
                                        <p:attrNameLst>
                                          <p:attrName>style.visibility</p:attrName>
                                        </p:attrNameLst>
                                      </p:cBhvr>
                                      <p:to>
                                        <p:strVal val="hidden"/>
                                      </p:to>
                                    </p:set>
                                  </p:childTnLst>
                                </p:cTn>
                              </p:par>
                              <p:par>
                                <p:cTn id="8" presetID="10" presetClass="exit" presetSubtype="0" fill="hold" nodeType="withEffect">
                                  <p:stCondLst>
                                    <p:cond delay="0"/>
                                  </p:stCondLst>
                                  <p:childTnLst>
                                    <p:animEffect transition="out" filter="fade">
                                      <p:cBhvr>
                                        <p:cTn id="9" dur="500"/>
                                        <p:tgtEl>
                                          <p:spTgt spid="301"/>
                                        </p:tgtEl>
                                      </p:cBhvr>
                                    </p:animEffect>
                                    <p:set>
                                      <p:cBhvr>
                                        <p:cTn id="10" dur="1" fill="hold">
                                          <p:stCondLst>
                                            <p:cond delay="500"/>
                                          </p:stCondLst>
                                        </p:cTn>
                                        <p:tgtEl>
                                          <p:spTgt spid="301"/>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299"/>
                                        </p:tgtEl>
                                      </p:cBhvr>
                                    </p:animEffect>
                                    <p:set>
                                      <p:cBhvr>
                                        <p:cTn id="13" dur="1" fill="hold">
                                          <p:stCondLst>
                                            <p:cond delay="500"/>
                                          </p:stCondLst>
                                        </p:cTn>
                                        <p:tgtEl>
                                          <p:spTgt spid="299"/>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298"/>
                                        </p:tgtEl>
                                      </p:cBhvr>
                                    </p:animEffect>
                                    <p:set>
                                      <p:cBhvr>
                                        <p:cTn id="16" dur="1" fill="hold">
                                          <p:stCondLst>
                                            <p:cond delay="500"/>
                                          </p:stCondLst>
                                        </p:cTn>
                                        <p:tgtEl>
                                          <p:spTgt spid="298"/>
                                        </p:tgtEl>
                                        <p:attrNameLst>
                                          <p:attrName>style.visibility</p:attrName>
                                        </p:attrNameLst>
                                      </p:cBhvr>
                                      <p:to>
                                        <p:strVal val="hidden"/>
                                      </p:to>
                                    </p:set>
                                  </p:childTnLst>
                                </p:cTn>
                              </p:par>
                              <p:par>
                                <p:cTn id="17" presetID="10" presetClass="exit" presetSubtype="0" fill="hold" nodeType="withEffect">
                                  <p:stCondLst>
                                    <p:cond delay="0"/>
                                  </p:stCondLst>
                                  <p:childTnLst>
                                    <p:animEffect transition="out" filter="fade">
                                      <p:cBhvr>
                                        <p:cTn id="18" dur="500"/>
                                        <p:tgtEl>
                                          <p:spTgt spid="304"/>
                                        </p:tgtEl>
                                      </p:cBhvr>
                                    </p:animEffect>
                                    <p:set>
                                      <p:cBhvr>
                                        <p:cTn id="19" dur="1" fill="hold">
                                          <p:stCondLst>
                                            <p:cond delay="500"/>
                                          </p:stCondLst>
                                        </p:cTn>
                                        <p:tgtEl>
                                          <p:spTgt spid="304"/>
                                        </p:tgtEl>
                                        <p:attrNameLst>
                                          <p:attrName>style.visibility</p:attrName>
                                        </p:attrNameLst>
                                      </p:cBhvr>
                                      <p:to>
                                        <p:strVal val="hidden"/>
                                      </p:to>
                                    </p:set>
                                  </p:childTnLst>
                                </p:cTn>
                              </p:par>
                              <p:par>
                                <p:cTn id="20" presetID="10" presetClass="exit" presetSubtype="0" fill="hold" nodeType="withEffect">
                                  <p:stCondLst>
                                    <p:cond delay="0"/>
                                  </p:stCondLst>
                                  <p:childTnLst>
                                    <p:animEffect transition="out" filter="fade">
                                      <p:cBhvr>
                                        <p:cTn id="21" dur="500"/>
                                        <p:tgtEl>
                                          <p:spTgt spid="307"/>
                                        </p:tgtEl>
                                      </p:cBhvr>
                                    </p:animEffect>
                                    <p:set>
                                      <p:cBhvr>
                                        <p:cTn id="22" dur="1" fill="hold">
                                          <p:stCondLst>
                                            <p:cond delay="500"/>
                                          </p:stCondLst>
                                        </p:cTn>
                                        <p:tgtEl>
                                          <p:spTgt spid="307"/>
                                        </p:tgtEl>
                                        <p:attrNameLst>
                                          <p:attrName>style.visibility</p:attrName>
                                        </p:attrNameLst>
                                      </p:cBhvr>
                                      <p:to>
                                        <p:strVal val="hidden"/>
                                      </p:to>
                                    </p:set>
                                  </p:childTnLst>
                                </p:cTn>
                              </p:par>
                              <p:par>
                                <p:cTn id="23" presetID="10" presetClass="exit" presetSubtype="0" fill="hold" nodeType="withEffect">
                                  <p:stCondLst>
                                    <p:cond delay="0"/>
                                  </p:stCondLst>
                                  <p:childTnLst>
                                    <p:animEffect transition="out" filter="fade">
                                      <p:cBhvr>
                                        <p:cTn id="24" dur="500"/>
                                        <p:tgtEl>
                                          <p:spTgt spid="308"/>
                                        </p:tgtEl>
                                      </p:cBhvr>
                                    </p:animEffect>
                                    <p:set>
                                      <p:cBhvr>
                                        <p:cTn id="25" dur="1" fill="hold">
                                          <p:stCondLst>
                                            <p:cond delay="500"/>
                                          </p:stCondLst>
                                        </p:cTn>
                                        <p:tgtEl>
                                          <p:spTgt spid="308"/>
                                        </p:tgtEl>
                                        <p:attrNameLst>
                                          <p:attrName>style.visibility</p:attrName>
                                        </p:attrNameLst>
                                      </p:cBhvr>
                                      <p:to>
                                        <p:strVal val="hidden"/>
                                      </p:to>
                                    </p:set>
                                  </p:childTnLst>
                                </p:cTn>
                              </p:par>
                              <p:par>
                                <p:cTn id="26" presetID="10" presetClass="exit" presetSubtype="0" fill="hold" nodeType="withEffect">
                                  <p:stCondLst>
                                    <p:cond delay="0"/>
                                  </p:stCondLst>
                                  <p:childTnLst>
                                    <p:animEffect transition="out" filter="fade">
                                      <p:cBhvr>
                                        <p:cTn id="27" dur="500"/>
                                        <p:tgtEl>
                                          <p:spTgt spid="305"/>
                                        </p:tgtEl>
                                      </p:cBhvr>
                                    </p:animEffect>
                                    <p:set>
                                      <p:cBhvr>
                                        <p:cTn id="28" dur="1" fill="hold">
                                          <p:stCondLst>
                                            <p:cond delay="500"/>
                                          </p:stCondLst>
                                        </p:cTn>
                                        <p:tgtEl>
                                          <p:spTgt spid="305"/>
                                        </p:tgtEl>
                                        <p:attrNameLst>
                                          <p:attrName>style.visibility</p:attrName>
                                        </p:attrNameLst>
                                      </p:cBhvr>
                                      <p:to>
                                        <p:strVal val="hidden"/>
                                      </p:to>
                                    </p:set>
                                  </p:childTnLst>
                                </p:cTn>
                              </p:par>
                              <p:par>
                                <p:cTn id="29" presetID="10" presetClass="exit" presetSubtype="0" fill="hold" nodeType="withEffect">
                                  <p:stCondLst>
                                    <p:cond delay="0"/>
                                  </p:stCondLst>
                                  <p:childTnLst>
                                    <p:animEffect transition="out" filter="fade">
                                      <p:cBhvr>
                                        <p:cTn id="30" dur="500"/>
                                        <p:tgtEl>
                                          <p:spTgt spid="302"/>
                                        </p:tgtEl>
                                      </p:cBhvr>
                                    </p:animEffect>
                                    <p:set>
                                      <p:cBhvr>
                                        <p:cTn id="31" dur="1" fill="hold">
                                          <p:stCondLst>
                                            <p:cond delay="500"/>
                                          </p:stCondLst>
                                        </p:cTn>
                                        <p:tgtEl>
                                          <p:spTgt spid="302"/>
                                        </p:tgtEl>
                                        <p:attrNameLst>
                                          <p:attrName>style.visibility</p:attrName>
                                        </p:attrNameLst>
                                      </p:cBhvr>
                                      <p:to>
                                        <p:strVal val="hidden"/>
                                      </p:to>
                                    </p:set>
                                  </p:childTnLst>
                                </p:cTn>
                              </p:par>
                              <p:par>
                                <p:cTn id="32" presetID="10" presetClass="exit" presetSubtype="0" fill="hold" nodeType="withEffect">
                                  <p:stCondLst>
                                    <p:cond delay="0"/>
                                  </p:stCondLst>
                                  <p:childTnLst>
                                    <p:animEffect transition="out" filter="fade">
                                      <p:cBhvr>
                                        <p:cTn id="33" dur="500"/>
                                        <p:tgtEl>
                                          <p:spTgt spid="16"/>
                                        </p:tgtEl>
                                      </p:cBhvr>
                                    </p:animEffect>
                                    <p:set>
                                      <p:cBhvr>
                                        <p:cTn id="34" dur="1" fill="hold">
                                          <p:stCondLst>
                                            <p:cond delay="500"/>
                                          </p:stCondLst>
                                        </p:cTn>
                                        <p:tgtEl>
                                          <p:spTgt spid="16"/>
                                        </p:tgtEl>
                                        <p:attrNameLst>
                                          <p:attrName>style.visibility</p:attrName>
                                        </p:attrNameLst>
                                      </p:cBhvr>
                                      <p:to>
                                        <p:strVal val="hidden"/>
                                      </p:to>
                                    </p:set>
                                  </p:childTnLst>
                                </p:cTn>
                              </p:par>
                              <p:par>
                                <p:cTn id="35" presetID="10" presetClass="exit" presetSubtype="0" fill="hold" nodeType="withEffect">
                                  <p:stCondLst>
                                    <p:cond delay="0"/>
                                  </p:stCondLst>
                                  <p:childTnLst>
                                    <p:animEffect transition="out" filter="fade">
                                      <p:cBhvr>
                                        <p:cTn id="36" dur="500"/>
                                        <p:tgtEl>
                                          <p:spTgt spid="17"/>
                                        </p:tgtEl>
                                      </p:cBhvr>
                                    </p:animEffect>
                                    <p:set>
                                      <p:cBhvr>
                                        <p:cTn id="37" dur="1" fill="hold">
                                          <p:stCondLst>
                                            <p:cond delay="500"/>
                                          </p:stCondLst>
                                        </p:cTn>
                                        <p:tgtEl>
                                          <p:spTgt spid="17"/>
                                        </p:tgtEl>
                                        <p:attrNameLst>
                                          <p:attrName>style.visibility</p:attrName>
                                        </p:attrNameLst>
                                      </p:cBhvr>
                                      <p:to>
                                        <p:strVal val="hidden"/>
                                      </p:to>
                                    </p:set>
                                  </p:childTnLst>
                                </p:cTn>
                              </p:par>
                            </p:childTnLst>
                          </p:cTn>
                        </p:par>
                      </p:childTnLst>
                    </p:cTn>
                  </p:par>
                  <p:par>
                    <p:cTn id="38" fill="hold">
                      <p:stCondLst>
                        <p:cond delay="indefinite"/>
                      </p:stCondLst>
                      <p:childTnLst>
                        <p:par>
                          <p:cTn id="39" fill="hold">
                            <p:stCondLst>
                              <p:cond delay="0"/>
                            </p:stCondLst>
                            <p:childTnLst>
                              <p:par>
                                <p:cTn id="40" presetID="10" presetClass="exit" presetSubtype="0" fill="hold" nodeType="clickEffect">
                                  <p:stCondLst>
                                    <p:cond delay="0"/>
                                  </p:stCondLst>
                                  <p:childTnLst>
                                    <p:animEffect transition="out" filter="fade">
                                      <p:cBhvr>
                                        <p:cTn id="41" dur="500"/>
                                        <p:tgtEl>
                                          <p:spTgt spid="18"/>
                                        </p:tgtEl>
                                      </p:cBhvr>
                                    </p:animEffect>
                                    <p:set>
                                      <p:cBhvr>
                                        <p:cTn id="42" dur="1" fill="hold">
                                          <p:stCondLst>
                                            <p:cond delay="500"/>
                                          </p:stCondLst>
                                        </p:cTn>
                                        <p:tgtEl>
                                          <p:spTgt spid="18"/>
                                        </p:tgtEl>
                                        <p:attrNameLst>
                                          <p:attrName>style.visibility</p:attrName>
                                        </p:attrNameLst>
                                      </p:cBhvr>
                                      <p:to>
                                        <p:strVal val="hidden"/>
                                      </p:to>
                                    </p:set>
                                  </p:childTnLst>
                                </p:cTn>
                              </p:par>
                            </p:childTnLst>
                          </p:cTn>
                        </p:par>
                      </p:childTnLst>
                    </p:cTn>
                  </p:par>
                  <p:par>
                    <p:cTn id="43" fill="hold">
                      <p:stCondLst>
                        <p:cond delay="indefinite"/>
                      </p:stCondLst>
                      <p:childTnLst>
                        <p:par>
                          <p:cTn id="44" fill="hold">
                            <p:stCondLst>
                              <p:cond delay="0"/>
                            </p:stCondLst>
                            <p:childTnLst>
                              <p:par>
                                <p:cTn id="45" presetID="2" presetClass="entr" presetSubtype="4" fill="hold" grpId="0" nodeType="clickEffect">
                                  <p:stCondLst>
                                    <p:cond delay="0"/>
                                  </p:stCondLst>
                                  <p:childTnLst>
                                    <p:set>
                                      <p:cBhvr>
                                        <p:cTn id="46" dur="1" fill="hold">
                                          <p:stCondLst>
                                            <p:cond delay="0"/>
                                          </p:stCondLst>
                                        </p:cTn>
                                        <p:tgtEl>
                                          <p:spTgt spid="2"/>
                                        </p:tgtEl>
                                        <p:attrNameLst>
                                          <p:attrName>style.visibility</p:attrName>
                                        </p:attrNameLst>
                                      </p:cBhvr>
                                      <p:to>
                                        <p:strVal val="visible"/>
                                      </p:to>
                                    </p:set>
                                    <p:anim calcmode="lin" valueType="num">
                                      <p:cBhvr additive="base">
                                        <p:cTn id="47" dur="500" fill="hold"/>
                                        <p:tgtEl>
                                          <p:spTgt spid="2"/>
                                        </p:tgtEl>
                                        <p:attrNameLst>
                                          <p:attrName>ppt_x</p:attrName>
                                        </p:attrNameLst>
                                      </p:cBhvr>
                                      <p:tavLst>
                                        <p:tav tm="0">
                                          <p:val>
                                            <p:strVal val="#ppt_x"/>
                                          </p:val>
                                        </p:tav>
                                        <p:tav tm="100000">
                                          <p:val>
                                            <p:strVal val="#ppt_x"/>
                                          </p:val>
                                        </p:tav>
                                      </p:tavLst>
                                    </p:anim>
                                    <p:anim calcmode="lin" valueType="num">
                                      <p:cBhvr additive="base">
                                        <p:cTn id="4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50799" indent="0">
              <a:buNone/>
            </a:pPr>
            <a:r>
              <a:rPr lang="en-IN" b="1" dirty="0" smtClean="0">
                <a:solidFill>
                  <a:schemeClr val="dk2"/>
                </a:solidFill>
                <a:latin typeface="Trebuchet MS"/>
                <a:ea typeface="Trebuchet MS"/>
                <a:cs typeface="Trebuchet MS"/>
                <a:sym typeface="Trebuchet MS"/>
              </a:rPr>
              <a:t>Mixing protocols:</a:t>
            </a:r>
          </a:p>
          <a:p>
            <a:pPr marL="50799" indent="0">
              <a:buNone/>
            </a:pPr>
            <a:endParaRPr lang="en-IN" dirty="0">
              <a:solidFill>
                <a:schemeClr val="dk2"/>
              </a:solidFill>
              <a:latin typeface="Trebuchet MS"/>
              <a:ea typeface="Trebuchet MS"/>
              <a:cs typeface="Trebuchet MS"/>
              <a:sym typeface="Trebuchet MS"/>
            </a:endParaRPr>
          </a:p>
          <a:p>
            <a:pPr marL="50799" indent="0">
              <a:buNone/>
            </a:pPr>
            <a:r>
              <a:rPr lang="en-IN" dirty="0" smtClean="0"/>
              <a:t> </a:t>
            </a:r>
            <a:endParaRPr lang="en-IN" dirty="0"/>
          </a:p>
        </p:txBody>
      </p:sp>
      <p:pic>
        <p:nvPicPr>
          <p:cNvPr id="4" name="Picture 3"/>
          <p:cNvPicPr>
            <a:picLocks noChangeAspect="1"/>
          </p:cNvPicPr>
          <p:nvPr/>
        </p:nvPicPr>
        <p:blipFill>
          <a:blip r:embed="rId2"/>
          <a:stretch>
            <a:fillRect/>
          </a:stretch>
        </p:blipFill>
        <p:spPr>
          <a:xfrm>
            <a:off x="2057400" y="2438400"/>
            <a:ext cx="6581775" cy="3124200"/>
          </a:xfrm>
          <a:prstGeom prst="rect">
            <a:avLst/>
          </a:prstGeom>
        </p:spPr>
      </p:pic>
      <p:pic>
        <p:nvPicPr>
          <p:cNvPr id="5" name="Picture 4"/>
          <p:cNvPicPr>
            <a:picLocks noChangeAspect="1"/>
          </p:cNvPicPr>
          <p:nvPr/>
        </p:nvPicPr>
        <p:blipFill>
          <a:blip r:embed="rId3"/>
          <a:stretch>
            <a:fillRect/>
          </a:stretch>
        </p:blipFill>
        <p:spPr>
          <a:xfrm>
            <a:off x="1676400" y="5832789"/>
            <a:ext cx="8001000" cy="415611"/>
          </a:xfrm>
          <a:prstGeom prst="rect">
            <a:avLst/>
          </a:prstGeom>
        </p:spPr>
      </p:pic>
    </p:spTree>
    <p:extLst>
      <p:ext uri="{BB962C8B-B14F-4D97-AF65-F5344CB8AC3E}">
        <p14:creationId xmlns:p14="http://schemas.microsoft.com/office/powerpoint/2010/main" val="2754984045"/>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42"/>
        <p:cNvGrpSpPr/>
        <p:nvPr/>
      </p:nvGrpSpPr>
      <p:grpSpPr>
        <a:xfrm>
          <a:off x="0" y="0"/>
          <a:ext cx="0" cy="0"/>
          <a:chOff x="0" y="0"/>
          <a:chExt cx="0" cy="0"/>
        </a:xfrm>
      </p:grpSpPr>
      <p:sp>
        <p:nvSpPr>
          <p:cNvPr id="443" name="Google Shape;443;p57"/>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Why decentralized mixing?</a:t>
            </a:r>
            <a:endParaRPr sz="4800" b="1">
              <a:solidFill>
                <a:schemeClr val="dk1"/>
              </a:solidFill>
              <a:latin typeface="Trebuchet MS"/>
              <a:ea typeface="Trebuchet MS"/>
              <a:cs typeface="Trebuchet MS"/>
              <a:sym typeface="Trebuchet MS"/>
            </a:endParaRPr>
          </a:p>
        </p:txBody>
      </p:sp>
      <p:sp>
        <p:nvSpPr>
          <p:cNvPr id="444" name="Google Shape;444;p57"/>
          <p:cNvSpPr txBox="1">
            <a:spLocks noGrp="1"/>
          </p:cNvSpPr>
          <p:nvPr>
            <p:ph type="body" idx="1"/>
          </p:nvPr>
        </p:nvSpPr>
        <p:spPr>
          <a:xfrm>
            <a:off x="609600" y="1600200"/>
            <a:ext cx="10972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685783" indent="-685783">
              <a:spcBef>
                <a:spcPts val="0"/>
              </a:spcBef>
              <a:buClr>
                <a:srgbClr val="A3A3A3"/>
              </a:buClr>
              <a:buFont typeface="Arial"/>
              <a:buChar char="•"/>
            </a:pPr>
            <a:r>
              <a:rPr lang="en" sz="4000" dirty="0">
                <a:solidFill>
                  <a:schemeClr val="dk1"/>
                </a:solidFill>
                <a:latin typeface="Trebuchet MS"/>
                <a:ea typeface="Trebuchet MS"/>
                <a:cs typeface="Trebuchet MS"/>
                <a:sym typeface="Trebuchet MS"/>
              </a:rPr>
              <a:t>No bootstrapping problem</a:t>
            </a:r>
            <a:endParaRPr dirty="0"/>
          </a:p>
          <a:p>
            <a:pPr marL="685783" indent="-685783">
              <a:spcBef>
                <a:spcPts val="0"/>
              </a:spcBef>
              <a:buClr>
                <a:srgbClr val="A3A3A3"/>
              </a:buClr>
              <a:buFont typeface="Arial"/>
              <a:buChar char="•"/>
            </a:pPr>
            <a:r>
              <a:rPr lang="en" sz="4000" dirty="0" smtClean="0">
                <a:solidFill>
                  <a:schemeClr val="dk1"/>
                </a:solidFill>
                <a:latin typeface="Trebuchet MS"/>
                <a:ea typeface="Trebuchet MS"/>
                <a:cs typeface="Trebuchet MS"/>
                <a:sym typeface="Trebuchet MS"/>
              </a:rPr>
              <a:t>Theft </a:t>
            </a:r>
            <a:r>
              <a:rPr lang="en" sz="4000" dirty="0">
                <a:solidFill>
                  <a:schemeClr val="dk1"/>
                </a:solidFill>
                <a:latin typeface="Trebuchet MS"/>
                <a:ea typeface="Trebuchet MS"/>
                <a:cs typeface="Trebuchet MS"/>
                <a:sym typeface="Trebuchet MS"/>
              </a:rPr>
              <a:t>impossible</a:t>
            </a:r>
            <a:endParaRPr dirty="0"/>
          </a:p>
          <a:p>
            <a:pPr marL="685783" indent="-685783">
              <a:spcBef>
                <a:spcPts val="0"/>
              </a:spcBef>
              <a:buClr>
                <a:srgbClr val="A3A3A3"/>
              </a:buClr>
              <a:buFont typeface="Arial"/>
              <a:buChar char="•"/>
            </a:pPr>
            <a:r>
              <a:rPr lang="en" sz="4000" dirty="0" smtClean="0">
                <a:solidFill>
                  <a:schemeClr val="dk1"/>
                </a:solidFill>
                <a:latin typeface="Trebuchet MS"/>
                <a:ea typeface="Trebuchet MS"/>
                <a:cs typeface="Trebuchet MS"/>
                <a:sym typeface="Trebuchet MS"/>
              </a:rPr>
              <a:t>More </a:t>
            </a:r>
            <a:r>
              <a:rPr lang="en" sz="4000" dirty="0">
                <a:solidFill>
                  <a:schemeClr val="dk1"/>
                </a:solidFill>
                <a:latin typeface="Trebuchet MS"/>
                <a:ea typeface="Trebuchet MS"/>
                <a:cs typeface="Trebuchet MS"/>
                <a:sym typeface="Trebuchet MS"/>
              </a:rPr>
              <a:t>philosophically aligned with </a:t>
            </a:r>
            <a:r>
              <a:rPr lang="en" sz="4000" dirty="0" smtClean="0">
                <a:solidFill>
                  <a:schemeClr val="dk1"/>
                </a:solidFill>
                <a:latin typeface="Trebuchet MS"/>
                <a:ea typeface="Trebuchet MS"/>
                <a:cs typeface="Trebuchet MS"/>
                <a:sym typeface="Trebuchet MS"/>
              </a:rPr>
              <a:t>Bitcoin.</a:t>
            </a:r>
            <a:r>
              <a:rPr lang="en-IN" sz="4000" dirty="0"/>
              <a:t> </a:t>
            </a:r>
            <a:endParaRPr lang="en-IN" sz="4000" dirty="0" smtClean="0"/>
          </a:p>
          <a:p>
            <a:pPr marL="0" indent="0">
              <a:spcBef>
                <a:spcPts val="0"/>
              </a:spcBef>
              <a:buClr>
                <a:srgbClr val="A3A3A3"/>
              </a:buClr>
              <a:buNone/>
            </a:pPr>
            <a:r>
              <a:rPr lang="en-IN" sz="4000" dirty="0" smtClean="0"/>
              <a:t>it </a:t>
            </a:r>
            <a:r>
              <a:rPr lang="en-IN" sz="4000" dirty="0"/>
              <a:t>makes possible to get rid of the need centralized service. Then, there are a lot of Bitcoin users who find that appealing</a:t>
            </a:r>
            <a:r>
              <a:rPr lang="en-IN" sz="4000" dirty="0" smtClean="0"/>
              <a:t>.</a:t>
            </a:r>
          </a:p>
          <a:p>
            <a:pPr marL="571500" indent="-571500">
              <a:spcBef>
                <a:spcPts val="0"/>
              </a:spcBef>
              <a:buClr>
                <a:srgbClr val="A3A3A3"/>
              </a:buClr>
              <a:buFont typeface="Arial" panose="020B0604020202020204" pitchFamily="34" charset="0"/>
              <a:buChar char="•"/>
            </a:pPr>
            <a:r>
              <a:rPr lang="en-IN" sz="4000" dirty="0" smtClean="0">
                <a:solidFill>
                  <a:schemeClr val="dk1"/>
                </a:solidFill>
                <a:latin typeface="Trebuchet MS"/>
                <a:ea typeface="Trebuchet MS"/>
                <a:cs typeface="Trebuchet MS"/>
                <a:sym typeface="Trebuchet MS"/>
              </a:rPr>
              <a:t>Possibly </a:t>
            </a:r>
            <a:r>
              <a:rPr lang="en-IN" sz="4000" dirty="0">
                <a:solidFill>
                  <a:schemeClr val="dk1"/>
                </a:solidFill>
                <a:latin typeface="Trebuchet MS"/>
                <a:ea typeface="Trebuchet MS"/>
                <a:cs typeface="Trebuchet MS"/>
                <a:sym typeface="Trebuchet MS"/>
              </a:rPr>
              <a:t>better anonymity</a:t>
            </a:r>
            <a:endParaRPr lang="en-IN" sz="4000" dirty="0"/>
          </a:p>
          <a:p>
            <a:pPr marL="0" indent="0">
              <a:spcBef>
                <a:spcPts val="0"/>
              </a:spcBef>
              <a:buClr>
                <a:srgbClr val="A3A3A3"/>
              </a:buClr>
              <a:buNone/>
            </a:pPr>
            <a:endParaRPr lang="en-IN" sz="4000" dirty="0"/>
          </a:p>
          <a:p>
            <a:pPr marL="685783" indent="-685783">
              <a:spcBef>
                <a:spcPts val="0"/>
              </a:spcBef>
              <a:buClr>
                <a:srgbClr val="A3A3A3"/>
              </a:buClr>
              <a:buFont typeface="Arial"/>
              <a:buChar char="•"/>
            </a:pPr>
            <a:endParaRPr sz="4000" dirty="0">
              <a:solidFill>
                <a:schemeClr val="dk1"/>
              </a:solidFill>
              <a:latin typeface="Trebuchet MS"/>
              <a:ea typeface="Trebuchet MS"/>
              <a:cs typeface="Trebuchet MS"/>
              <a:sym typeface="Trebuchet MS"/>
            </a:endParaRPr>
          </a:p>
        </p:txBody>
      </p:sp>
    </p:spTree>
    <p:extLst>
      <p:ext uri="{BB962C8B-B14F-4D97-AF65-F5344CB8AC3E}">
        <p14:creationId xmlns:p14="http://schemas.microsoft.com/office/powerpoint/2010/main" val="23411743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44">
                                            <p:txEl>
                                              <p:pRg st="3" end="3"/>
                                            </p:txEl>
                                          </p:spTgt>
                                        </p:tgtEl>
                                        <p:attrNameLst>
                                          <p:attrName>style.visibility</p:attrName>
                                        </p:attrNameLst>
                                      </p:cBhvr>
                                      <p:to>
                                        <p:strVal val="visible"/>
                                      </p:to>
                                    </p:set>
                                    <p:anim calcmode="lin" valueType="num">
                                      <p:cBhvr additive="base">
                                        <p:cTn id="7" dur="500" fill="hold"/>
                                        <p:tgtEl>
                                          <p:spTgt spid="444">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44">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448"/>
        <p:cNvGrpSpPr/>
        <p:nvPr/>
      </p:nvGrpSpPr>
      <p:grpSpPr>
        <a:xfrm>
          <a:off x="0" y="0"/>
          <a:ext cx="0" cy="0"/>
          <a:chOff x="0" y="0"/>
          <a:chExt cx="0" cy="0"/>
        </a:xfrm>
      </p:grpSpPr>
      <p:sp>
        <p:nvSpPr>
          <p:cNvPr id="449" name="Google Shape;449;p58"/>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Coinjoin</a:t>
            </a:r>
            <a:endParaRPr sz="4800" b="1">
              <a:solidFill>
                <a:schemeClr val="dk1"/>
              </a:solidFill>
              <a:latin typeface="Trebuchet MS"/>
              <a:ea typeface="Trebuchet MS"/>
              <a:cs typeface="Trebuchet MS"/>
              <a:sym typeface="Trebuchet MS"/>
            </a:endParaRPr>
          </a:p>
        </p:txBody>
      </p:sp>
      <p:sp>
        <p:nvSpPr>
          <p:cNvPr id="450" name="Google Shape;450;p58"/>
          <p:cNvSpPr txBox="1">
            <a:spLocks noGrp="1"/>
          </p:cNvSpPr>
          <p:nvPr>
            <p:ph type="body" idx="1"/>
          </p:nvPr>
        </p:nvSpPr>
        <p:spPr>
          <a:xfrm>
            <a:off x="7213600" y="1600200"/>
            <a:ext cx="4368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spcBef>
                <a:spcPts val="0"/>
              </a:spcBef>
              <a:buClr>
                <a:schemeClr val="dk1"/>
              </a:buClr>
              <a:buNone/>
            </a:pPr>
            <a:r>
              <a:rPr lang="en">
                <a:solidFill>
                  <a:schemeClr val="dk1"/>
                </a:solidFill>
                <a:latin typeface="Trebuchet MS"/>
                <a:ea typeface="Trebuchet MS"/>
                <a:cs typeface="Trebuchet MS"/>
                <a:sym typeface="Trebuchet MS"/>
              </a:rPr>
              <a:t>Each signature is entirely separate</a:t>
            </a:r>
            <a:endParaRPr/>
          </a:p>
          <a:p>
            <a:pPr marL="0" indent="0">
              <a:spcBef>
                <a:spcPts val="0"/>
              </a:spcBef>
              <a:buClr>
                <a:schemeClr val="dk1"/>
              </a:buClr>
              <a:buNone/>
            </a:pPr>
            <a:endParaRPr>
              <a:solidFill>
                <a:schemeClr val="dk1"/>
              </a:solidFill>
              <a:latin typeface="Trebuchet MS"/>
              <a:ea typeface="Trebuchet MS"/>
              <a:cs typeface="Trebuchet MS"/>
              <a:sym typeface="Trebuchet MS"/>
            </a:endParaRPr>
          </a:p>
          <a:p>
            <a:pPr marL="0" indent="0">
              <a:spcBef>
                <a:spcPts val="0"/>
              </a:spcBef>
              <a:buClr>
                <a:schemeClr val="dk1"/>
              </a:buClr>
              <a:buNone/>
            </a:pPr>
            <a:r>
              <a:rPr lang="en">
                <a:solidFill>
                  <a:schemeClr val="dk1"/>
                </a:solidFill>
                <a:latin typeface="Trebuchet MS"/>
                <a:ea typeface="Trebuchet MS"/>
                <a:cs typeface="Trebuchet MS"/>
                <a:sym typeface="Trebuchet MS"/>
              </a:rPr>
              <a:t>This is 1 mixing round </a:t>
            </a:r>
            <a:endParaRPr/>
          </a:p>
          <a:p>
            <a:pPr marL="0" indent="0">
              <a:spcBef>
                <a:spcPts val="0"/>
              </a:spcBef>
              <a:buClr>
                <a:schemeClr val="dk1"/>
              </a:buClr>
              <a:buNone/>
            </a:pPr>
            <a:endParaRPr>
              <a:solidFill>
                <a:schemeClr val="dk1"/>
              </a:solidFill>
              <a:latin typeface="Trebuchet MS"/>
              <a:ea typeface="Trebuchet MS"/>
              <a:cs typeface="Trebuchet MS"/>
              <a:sym typeface="Trebuchet MS"/>
            </a:endParaRPr>
          </a:p>
          <a:p>
            <a:pPr marL="0" indent="0">
              <a:spcBef>
                <a:spcPts val="0"/>
              </a:spcBef>
              <a:buClr>
                <a:schemeClr val="dk1"/>
              </a:buClr>
              <a:buNone/>
            </a:pPr>
            <a:r>
              <a:rPr lang="en">
                <a:solidFill>
                  <a:schemeClr val="dk1"/>
                </a:solidFill>
                <a:latin typeface="Trebuchet MS"/>
                <a:ea typeface="Trebuchet MS"/>
                <a:cs typeface="Trebuchet MS"/>
                <a:sym typeface="Trebuchet MS"/>
              </a:rPr>
              <a:t>Mixing principles from before apply on top of basic protocol</a:t>
            </a:r>
            <a:endParaRPr>
              <a:solidFill>
                <a:schemeClr val="dk1"/>
              </a:solidFill>
              <a:latin typeface="Trebuchet MS"/>
              <a:ea typeface="Trebuchet MS"/>
              <a:cs typeface="Trebuchet MS"/>
              <a:sym typeface="Trebuchet MS"/>
            </a:endParaRPr>
          </a:p>
        </p:txBody>
      </p:sp>
      <p:sp>
        <p:nvSpPr>
          <p:cNvPr id="451" name="Google Shape;451;p58"/>
          <p:cNvSpPr/>
          <p:nvPr/>
        </p:nvSpPr>
        <p:spPr>
          <a:xfrm>
            <a:off x="1770771" y="2311400"/>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452" name="Google Shape;452;p58" descr="User 1 by cyberscooty - "/>
          <p:cNvPicPr preferRelativeResize="0"/>
          <p:nvPr/>
        </p:nvPicPr>
        <p:blipFill rotWithShape="1">
          <a:blip r:embed="rId3">
            <a:alphaModFix/>
          </a:blip>
          <a:srcRect/>
          <a:stretch/>
        </p:blipFill>
        <p:spPr>
          <a:xfrm>
            <a:off x="711200" y="1888155"/>
            <a:ext cx="763213" cy="948091"/>
          </a:xfrm>
          <a:prstGeom prst="rect">
            <a:avLst/>
          </a:prstGeom>
          <a:noFill/>
          <a:ln>
            <a:noFill/>
          </a:ln>
        </p:spPr>
      </p:pic>
      <p:pic>
        <p:nvPicPr>
          <p:cNvPr id="453" name="Google Shape;453;p58" descr="User 2 by cyberscooty - "/>
          <p:cNvPicPr preferRelativeResize="0"/>
          <p:nvPr/>
        </p:nvPicPr>
        <p:blipFill rotWithShape="1">
          <a:blip r:embed="rId4">
            <a:alphaModFix/>
          </a:blip>
          <a:srcRect/>
          <a:stretch/>
        </p:blipFill>
        <p:spPr>
          <a:xfrm>
            <a:off x="711390" y="4377355"/>
            <a:ext cx="763213" cy="948091"/>
          </a:xfrm>
          <a:prstGeom prst="rect">
            <a:avLst/>
          </a:prstGeom>
          <a:noFill/>
          <a:ln>
            <a:noFill/>
          </a:ln>
        </p:spPr>
      </p:pic>
      <p:pic>
        <p:nvPicPr>
          <p:cNvPr id="454" name="Google Shape;454;p58" descr="User 3 by cyberscooty - User #3 - special remix for a demand"/>
          <p:cNvPicPr preferRelativeResize="0"/>
          <p:nvPr/>
        </p:nvPicPr>
        <p:blipFill rotWithShape="1">
          <a:blip r:embed="rId5">
            <a:alphaModFix/>
          </a:blip>
          <a:srcRect/>
          <a:stretch/>
        </p:blipFill>
        <p:spPr>
          <a:xfrm>
            <a:off x="711200" y="3166069"/>
            <a:ext cx="749520" cy="931081"/>
          </a:xfrm>
          <a:prstGeom prst="rect">
            <a:avLst/>
          </a:prstGeom>
          <a:noFill/>
          <a:ln>
            <a:noFill/>
          </a:ln>
        </p:spPr>
      </p:pic>
      <p:cxnSp>
        <p:nvCxnSpPr>
          <p:cNvPr id="455" name="Google Shape;455;p58"/>
          <p:cNvCxnSpPr>
            <a:stCxn id="451" idx="6"/>
          </p:cNvCxnSpPr>
          <p:nvPr/>
        </p:nvCxnSpPr>
        <p:spPr>
          <a:xfrm>
            <a:off x="1872371" y="2362200"/>
            <a:ext cx="1030000" cy="0"/>
          </a:xfrm>
          <a:prstGeom prst="straightConnector1">
            <a:avLst/>
          </a:prstGeom>
          <a:noFill/>
          <a:ln w="19050" cap="flat" cmpd="sng">
            <a:solidFill>
              <a:srgbClr val="A3A3A3"/>
            </a:solidFill>
            <a:prstDash val="solid"/>
            <a:round/>
            <a:headEnd type="none" w="sm" len="sm"/>
            <a:tailEnd type="none" w="sm" len="sm"/>
          </a:ln>
        </p:spPr>
      </p:cxnSp>
      <p:sp>
        <p:nvSpPr>
          <p:cNvPr id="456" name="Google Shape;456;p58"/>
          <p:cNvSpPr/>
          <p:nvPr/>
        </p:nvSpPr>
        <p:spPr>
          <a:xfrm>
            <a:off x="1771952" y="3580809"/>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457" name="Google Shape;457;p58"/>
          <p:cNvCxnSpPr>
            <a:stCxn id="456" idx="6"/>
          </p:cNvCxnSpPr>
          <p:nvPr/>
        </p:nvCxnSpPr>
        <p:spPr>
          <a:xfrm>
            <a:off x="1873552" y="3631609"/>
            <a:ext cx="1030000" cy="0"/>
          </a:xfrm>
          <a:prstGeom prst="straightConnector1">
            <a:avLst/>
          </a:prstGeom>
          <a:noFill/>
          <a:ln w="19050" cap="flat" cmpd="sng">
            <a:solidFill>
              <a:srgbClr val="A3A3A3"/>
            </a:solidFill>
            <a:prstDash val="solid"/>
            <a:round/>
            <a:headEnd type="none" w="sm" len="sm"/>
            <a:tailEnd type="none" w="sm" len="sm"/>
          </a:ln>
        </p:spPr>
      </p:cxnSp>
      <p:sp>
        <p:nvSpPr>
          <p:cNvPr id="458" name="Google Shape;458;p58"/>
          <p:cNvSpPr/>
          <p:nvPr/>
        </p:nvSpPr>
        <p:spPr>
          <a:xfrm>
            <a:off x="1771952" y="48006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459" name="Google Shape;459;p58"/>
          <p:cNvCxnSpPr>
            <a:stCxn id="458" idx="6"/>
          </p:cNvCxnSpPr>
          <p:nvPr/>
        </p:nvCxnSpPr>
        <p:spPr>
          <a:xfrm>
            <a:off x="1873552" y="4851400"/>
            <a:ext cx="1028800" cy="0"/>
          </a:xfrm>
          <a:prstGeom prst="straightConnector1">
            <a:avLst/>
          </a:prstGeom>
          <a:noFill/>
          <a:ln w="19050" cap="flat" cmpd="sng">
            <a:solidFill>
              <a:srgbClr val="A3A3A3"/>
            </a:solidFill>
            <a:prstDash val="solid"/>
            <a:round/>
            <a:headEnd type="none" w="sm" len="sm"/>
            <a:tailEnd type="none" w="sm" len="sm"/>
          </a:ln>
        </p:spPr>
      </p:cxnSp>
      <p:sp>
        <p:nvSpPr>
          <p:cNvPr id="460" name="Google Shape;460;p58"/>
          <p:cNvSpPr/>
          <p:nvPr/>
        </p:nvSpPr>
        <p:spPr>
          <a:xfrm>
            <a:off x="2540000" y="1701800"/>
            <a:ext cx="2438400" cy="3860800"/>
          </a:xfrm>
          <a:prstGeom prst="rect">
            <a:avLst/>
          </a:prstGeom>
          <a:no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461" name="Google Shape;461;p58"/>
          <p:cNvSpPr/>
          <p:nvPr/>
        </p:nvSpPr>
        <p:spPr>
          <a:xfrm>
            <a:off x="5615177" y="3583176"/>
            <a:ext cx="101600" cy="101600"/>
          </a:xfrm>
          <a:prstGeom prst="ellipse">
            <a:avLst/>
          </a:prstGeom>
          <a:solidFill>
            <a:schemeClr val="accent1"/>
          </a:solidFill>
          <a:ln w="25400" cap="flat" cmpd="sng">
            <a:solidFill>
              <a:srgbClr val="2A5E88"/>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462" name="Google Shape;462;p58" descr="User 1 by cyberscooty - "/>
          <p:cNvPicPr preferRelativeResize="0"/>
          <p:nvPr/>
        </p:nvPicPr>
        <p:blipFill rotWithShape="1">
          <a:blip r:embed="rId3">
            <a:alphaModFix/>
          </a:blip>
          <a:srcRect/>
          <a:stretch/>
        </p:blipFill>
        <p:spPr>
          <a:xfrm>
            <a:off x="5936514" y="3159931"/>
            <a:ext cx="763213" cy="948091"/>
          </a:xfrm>
          <a:prstGeom prst="rect">
            <a:avLst/>
          </a:prstGeom>
          <a:noFill/>
          <a:ln>
            <a:noFill/>
          </a:ln>
        </p:spPr>
      </p:pic>
      <p:pic>
        <p:nvPicPr>
          <p:cNvPr id="463" name="Google Shape;463;p58" descr="User 2 by cyberscooty - "/>
          <p:cNvPicPr preferRelativeResize="0"/>
          <p:nvPr/>
        </p:nvPicPr>
        <p:blipFill rotWithShape="1">
          <a:blip r:embed="rId4">
            <a:alphaModFix/>
          </a:blip>
          <a:srcRect/>
          <a:stretch/>
        </p:blipFill>
        <p:spPr>
          <a:xfrm>
            <a:off x="5936703" y="1888464"/>
            <a:ext cx="763213" cy="948091"/>
          </a:xfrm>
          <a:prstGeom prst="rect">
            <a:avLst/>
          </a:prstGeom>
          <a:noFill/>
          <a:ln>
            <a:noFill/>
          </a:ln>
        </p:spPr>
      </p:pic>
      <p:pic>
        <p:nvPicPr>
          <p:cNvPr id="464" name="Google Shape;464;p58" descr="User 3 by cyberscooty - User #3 - special remix for a demand"/>
          <p:cNvPicPr preferRelativeResize="0"/>
          <p:nvPr/>
        </p:nvPicPr>
        <p:blipFill rotWithShape="1">
          <a:blip r:embed="rId5">
            <a:alphaModFix/>
          </a:blip>
          <a:srcRect/>
          <a:stretch/>
        </p:blipFill>
        <p:spPr>
          <a:xfrm>
            <a:off x="5936513" y="4381136"/>
            <a:ext cx="749520" cy="931081"/>
          </a:xfrm>
          <a:prstGeom prst="rect">
            <a:avLst/>
          </a:prstGeom>
          <a:noFill/>
          <a:ln>
            <a:noFill/>
          </a:ln>
        </p:spPr>
      </p:pic>
      <p:sp>
        <p:nvSpPr>
          <p:cNvPr id="465" name="Google Shape;465;p58"/>
          <p:cNvSpPr/>
          <p:nvPr/>
        </p:nvSpPr>
        <p:spPr>
          <a:xfrm>
            <a:off x="5616359" y="4795876"/>
            <a:ext cx="101600" cy="101600"/>
          </a:xfrm>
          <a:prstGeom prst="ellipse">
            <a:avLst/>
          </a:prstGeom>
          <a:solidFill>
            <a:srgbClr val="FF0000"/>
          </a:solidFill>
          <a:ln w="25400" cap="flat" cmpd="sng">
            <a:solidFill>
              <a:srgbClr val="990000"/>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466" name="Google Shape;466;p58"/>
          <p:cNvSpPr/>
          <p:nvPr/>
        </p:nvSpPr>
        <p:spPr>
          <a:xfrm>
            <a:off x="5616359" y="23114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467" name="Google Shape;467;p58"/>
          <p:cNvCxnSpPr/>
          <p:nvPr/>
        </p:nvCxnSpPr>
        <p:spPr>
          <a:xfrm>
            <a:off x="4573182" y="3638109"/>
            <a:ext cx="1028996" cy="0"/>
          </a:xfrm>
          <a:prstGeom prst="straightConnector1">
            <a:avLst/>
          </a:prstGeom>
          <a:noFill/>
          <a:ln w="19050" cap="flat" cmpd="sng">
            <a:solidFill>
              <a:srgbClr val="A3A3A3"/>
            </a:solidFill>
            <a:prstDash val="solid"/>
            <a:round/>
            <a:headEnd type="none" w="sm" len="sm"/>
            <a:tailEnd type="none" w="sm" len="sm"/>
          </a:ln>
        </p:spPr>
      </p:cxnSp>
      <p:cxnSp>
        <p:nvCxnSpPr>
          <p:cNvPr id="468" name="Google Shape;468;p58"/>
          <p:cNvCxnSpPr/>
          <p:nvPr/>
        </p:nvCxnSpPr>
        <p:spPr>
          <a:xfrm>
            <a:off x="4572001" y="4846675"/>
            <a:ext cx="1031359" cy="4135"/>
          </a:xfrm>
          <a:prstGeom prst="straightConnector1">
            <a:avLst/>
          </a:prstGeom>
          <a:noFill/>
          <a:ln w="19050" cap="flat" cmpd="sng">
            <a:solidFill>
              <a:srgbClr val="A3A3A3"/>
            </a:solidFill>
            <a:prstDash val="solid"/>
            <a:round/>
            <a:headEnd type="none" w="sm" len="sm"/>
            <a:tailEnd type="none" w="sm" len="sm"/>
          </a:ln>
        </p:spPr>
      </p:cxnSp>
      <p:cxnSp>
        <p:nvCxnSpPr>
          <p:cNvPr id="469" name="Google Shape;469;p58"/>
          <p:cNvCxnSpPr/>
          <p:nvPr/>
        </p:nvCxnSpPr>
        <p:spPr>
          <a:xfrm>
            <a:off x="4572001" y="2369001"/>
            <a:ext cx="1031359" cy="0"/>
          </a:xfrm>
          <a:prstGeom prst="straightConnector1">
            <a:avLst/>
          </a:prstGeom>
          <a:noFill/>
          <a:ln w="19050" cap="flat" cmpd="sng">
            <a:solidFill>
              <a:srgbClr val="A3A3A3"/>
            </a:solidFill>
            <a:prstDash val="solid"/>
            <a:round/>
            <a:headEnd type="none" w="sm" len="sm"/>
            <a:tailEnd type="none" w="sm" len="sm"/>
          </a:ln>
        </p:spPr>
      </p:cxnSp>
      <p:sp>
        <p:nvSpPr>
          <p:cNvPr id="470" name="Google Shape;470;p58"/>
          <p:cNvSpPr txBox="1"/>
          <p:nvPr/>
        </p:nvSpPr>
        <p:spPr>
          <a:xfrm>
            <a:off x="2844800" y="3225801"/>
            <a:ext cx="1800067" cy="861775"/>
          </a:xfrm>
          <a:prstGeom prst="rect">
            <a:avLst/>
          </a:prstGeom>
          <a:noFill/>
          <a:ln>
            <a:noFill/>
          </a:ln>
        </p:spPr>
        <p:txBody>
          <a:bodyPr spcFirstLastPara="1" wrap="square" lIns="121900" tIns="60933" rIns="121900" bIns="60933" anchor="t" anchorCtr="0">
            <a:noAutofit/>
          </a:bodyPr>
          <a:lstStyle/>
          <a:p>
            <a:pPr algn="ctr">
              <a:buClr>
                <a:srgbClr val="000000"/>
              </a:buClr>
            </a:pPr>
            <a:r>
              <a:rPr lang="en" sz="2400">
                <a:solidFill>
                  <a:srgbClr val="000000"/>
                </a:solidFill>
                <a:latin typeface="Trebuchet MS"/>
                <a:ea typeface="Trebuchet MS"/>
                <a:cs typeface="Trebuchet MS"/>
                <a:sym typeface="Trebuchet MS"/>
              </a:rPr>
              <a:t>Single</a:t>
            </a:r>
            <a:endParaRPr sz="2400"/>
          </a:p>
          <a:p>
            <a:pPr algn="ctr">
              <a:buClr>
                <a:srgbClr val="000000"/>
              </a:buClr>
            </a:pPr>
            <a:r>
              <a:rPr lang="en" sz="2400">
                <a:solidFill>
                  <a:srgbClr val="000000"/>
                </a:solidFill>
                <a:latin typeface="Trebuchet MS"/>
                <a:ea typeface="Trebuchet MS"/>
                <a:cs typeface="Trebuchet MS"/>
                <a:sym typeface="Trebuchet MS"/>
              </a:rPr>
              <a:t>transaction</a:t>
            </a:r>
            <a:endParaRPr sz="2400">
              <a:solidFill>
                <a:srgbClr val="000000"/>
              </a:solidFill>
              <a:latin typeface="Trebuchet MS"/>
              <a:ea typeface="Trebuchet MS"/>
              <a:cs typeface="Trebuchet MS"/>
              <a:sym typeface="Trebuchet MS"/>
            </a:endParaRPr>
          </a:p>
        </p:txBody>
      </p:sp>
      <p:sp>
        <p:nvSpPr>
          <p:cNvPr id="471" name="Google Shape;471;p58"/>
          <p:cNvSpPr/>
          <p:nvPr/>
        </p:nvSpPr>
        <p:spPr>
          <a:xfrm>
            <a:off x="609600" y="5867401"/>
            <a:ext cx="9524403" cy="615553"/>
          </a:xfrm>
          <a:prstGeom prst="rect">
            <a:avLst/>
          </a:prstGeom>
          <a:noFill/>
          <a:ln>
            <a:noFill/>
          </a:ln>
        </p:spPr>
        <p:txBody>
          <a:bodyPr spcFirstLastPara="1" wrap="square" lIns="121900" tIns="60933" rIns="121900" bIns="60933" anchor="t" anchorCtr="0">
            <a:noAutofit/>
          </a:bodyPr>
          <a:lstStyle/>
          <a:p>
            <a:pPr>
              <a:buClr>
                <a:srgbClr val="000000"/>
              </a:buClr>
            </a:pPr>
            <a:r>
              <a:rPr lang="en" sz="3200">
                <a:solidFill>
                  <a:srgbClr val="000000"/>
                </a:solidFill>
                <a:latin typeface="Trebuchet MS"/>
                <a:ea typeface="Trebuchet MS"/>
                <a:cs typeface="Trebuchet MS"/>
                <a:sym typeface="Trebuchet MS"/>
              </a:rPr>
              <a:t>Proposed by Greg Maxwell, Bitcoin core developer</a:t>
            </a:r>
            <a:endParaRPr sz="3200">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21355039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61"/>
                                        </p:tgtEl>
                                        <p:attrNameLst>
                                          <p:attrName>style.visibility</p:attrName>
                                        </p:attrNameLst>
                                      </p:cBhvr>
                                      <p:to>
                                        <p:strVal val="visible"/>
                                      </p:to>
                                    </p:set>
                                    <p:animEffect transition="in" filter="fade">
                                      <p:cBhvr>
                                        <p:cTn id="7" dur="500"/>
                                        <p:tgtEl>
                                          <p:spTgt spid="461"/>
                                        </p:tgtEl>
                                      </p:cBhvr>
                                    </p:animEffect>
                                  </p:childTnLst>
                                </p:cTn>
                              </p:par>
                              <p:par>
                                <p:cTn id="8" presetID="10" presetClass="entr" presetSubtype="0" fill="hold" nodeType="withEffect">
                                  <p:stCondLst>
                                    <p:cond delay="0"/>
                                  </p:stCondLst>
                                  <p:childTnLst>
                                    <p:set>
                                      <p:cBhvr>
                                        <p:cTn id="9" dur="1" fill="hold">
                                          <p:stCondLst>
                                            <p:cond delay="0"/>
                                          </p:stCondLst>
                                        </p:cTn>
                                        <p:tgtEl>
                                          <p:spTgt spid="462"/>
                                        </p:tgtEl>
                                        <p:attrNameLst>
                                          <p:attrName>style.visibility</p:attrName>
                                        </p:attrNameLst>
                                      </p:cBhvr>
                                      <p:to>
                                        <p:strVal val="visible"/>
                                      </p:to>
                                    </p:set>
                                    <p:animEffect transition="in" filter="fade">
                                      <p:cBhvr>
                                        <p:cTn id="10" dur="500"/>
                                        <p:tgtEl>
                                          <p:spTgt spid="462"/>
                                        </p:tgtEl>
                                      </p:cBhvr>
                                    </p:animEffect>
                                  </p:childTnLst>
                                </p:cTn>
                              </p:par>
                              <p:par>
                                <p:cTn id="11" presetID="10" presetClass="entr" presetSubtype="0" fill="hold" nodeType="withEffect">
                                  <p:stCondLst>
                                    <p:cond delay="0"/>
                                  </p:stCondLst>
                                  <p:childTnLst>
                                    <p:set>
                                      <p:cBhvr>
                                        <p:cTn id="12" dur="1" fill="hold">
                                          <p:stCondLst>
                                            <p:cond delay="0"/>
                                          </p:stCondLst>
                                        </p:cTn>
                                        <p:tgtEl>
                                          <p:spTgt spid="463"/>
                                        </p:tgtEl>
                                        <p:attrNameLst>
                                          <p:attrName>style.visibility</p:attrName>
                                        </p:attrNameLst>
                                      </p:cBhvr>
                                      <p:to>
                                        <p:strVal val="visible"/>
                                      </p:to>
                                    </p:set>
                                    <p:animEffect transition="in" filter="fade">
                                      <p:cBhvr>
                                        <p:cTn id="13" dur="500"/>
                                        <p:tgtEl>
                                          <p:spTgt spid="463"/>
                                        </p:tgtEl>
                                      </p:cBhvr>
                                    </p:animEffect>
                                  </p:childTnLst>
                                </p:cTn>
                              </p:par>
                              <p:par>
                                <p:cTn id="14" presetID="10" presetClass="entr" presetSubtype="0" fill="hold" nodeType="withEffect">
                                  <p:stCondLst>
                                    <p:cond delay="0"/>
                                  </p:stCondLst>
                                  <p:childTnLst>
                                    <p:set>
                                      <p:cBhvr>
                                        <p:cTn id="15" dur="1" fill="hold">
                                          <p:stCondLst>
                                            <p:cond delay="0"/>
                                          </p:stCondLst>
                                        </p:cTn>
                                        <p:tgtEl>
                                          <p:spTgt spid="464"/>
                                        </p:tgtEl>
                                        <p:attrNameLst>
                                          <p:attrName>style.visibility</p:attrName>
                                        </p:attrNameLst>
                                      </p:cBhvr>
                                      <p:to>
                                        <p:strVal val="visible"/>
                                      </p:to>
                                    </p:set>
                                    <p:animEffect transition="in" filter="fade">
                                      <p:cBhvr>
                                        <p:cTn id="16" dur="500"/>
                                        <p:tgtEl>
                                          <p:spTgt spid="464"/>
                                        </p:tgtEl>
                                      </p:cBhvr>
                                    </p:animEffect>
                                  </p:childTnLst>
                                </p:cTn>
                              </p:par>
                              <p:par>
                                <p:cTn id="17" presetID="10" presetClass="entr" presetSubtype="0" fill="hold" nodeType="withEffect">
                                  <p:stCondLst>
                                    <p:cond delay="0"/>
                                  </p:stCondLst>
                                  <p:childTnLst>
                                    <p:set>
                                      <p:cBhvr>
                                        <p:cTn id="18" dur="1" fill="hold">
                                          <p:stCondLst>
                                            <p:cond delay="0"/>
                                          </p:stCondLst>
                                        </p:cTn>
                                        <p:tgtEl>
                                          <p:spTgt spid="465"/>
                                        </p:tgtEl>
                                        <p:attrNameLst>
                                          <p:attrName>style.visibility</p:attrName>
                                        </p:attrNameLst>
                                      </p:cBhvr>
                                      <p:to>
                                        <p:strVal val="visible"/>
                                      </p:to>
                                    </p:set>
                                    <p:animEffect transition="in" filter="fade">
                                      <p:cBhvr>
                                        <p:cTn id="19" dur="500"/>
                                        <p:tgtEl>
                                          <p:spTgt spid="465"/>
                                        </p:tgtEl>
                                      </p:cBhvr>
                                    </p:animEffect>
                                  </p:childTnLst>
                                </p:cTn>
                              </p:par>
                              <p:par>
                                <p:cTn id="20" presetID="10" presetClass="entr" presetSubtype="0" fill="hold" nodeType="withEffect">
                                  <p:stCondLst>
                                    <p:cond delay="0"/>
                                  </p:stCondLst>
                                  <p:childTnLst>
                                    <p:set>
                                      <p:cBhvr>
                                        <p:cTn id="21" dur="1" fill="hold">
                                          <p:stCondLst>
                                            <p:cond delay="0"/>
                                          </p:stCondLst>
                                        </p:cTn>
                                        <p:tgtEl>
                                          <p:spTgt spid="466"/>
                                        </p:tgtEl>
                                        <p:attrNameLst>
                                          <p:attrName>style.visibility</p:attrName>
                                        </p:attrNameLst>
                                      </p:cBhvr>
                                      <p:to>
                                        <p:strVal val="visible"/>
                                      </p:to>
                                    </p:set>
                                    <p:animEffect transition="in" filter="fade">
                                      <p:cBhvr>
                                        <p:cTn id="22" dur="500"/>
                                        <p:tgtEl>
                                          <p:spTgt spid="466"/>
                                        </p:tgtEl>
                                      </p:cBhvr>
                                    </p:animEffect>
                                  </p:childTnLst>
                                </p:cTn>
                              </p:par>
                              <p:par>
                                <p:cTn id="23" presetID="10" presetClass="entr" presetSubtype="0" fill="hold" nodeType="withEffect">
                                  <p:stCondLst>
                                    <p:cond delay="0"/>
                                  </p:stCondLst>
                                  <p:childTnLst>
                                    <p:set>
                                      <p:cBhvr>
                                        <p:cTn id="24" dur="1" fill="hold">
                                          <p:stCondLst>
                                            <p:cond delay="0"/>
                                          </p:stCondLst>
                                        </p:cTn>
                                        <p:tgtEl>
                                          <p:spTgt spid="467"/>
                                        </p:tgtEl>
                                        <p:attrNameLst>
                                          <p:attrName>style.visibility</p:attrName>
                                        </p:attrNameLst>
                                      </p:cBhvr>
                                      <p:to>
                                        <p:strVal val="visible"/>
                                      </p:to>
                                    </p:set>
                                    <p:animEffect transition="in" filter="fade">
                                      <p:cBhvr>
                                        <p:cTn id="25" dur="500"/>
                                        <p:tgtEl>
                                          <p:spTgt spid="467"/>
                                        </p:tgtEl>
                                      </p:cBhvr>
                                    </p:animEffect>
                                  </p:childTnLst>
                                </p:cTn>
                              </p:par>
                              <p:par>
                                <p:cTn id="26" presetID="10" presetClass="entr" presetSubtype="0" fill="hold" nodeType="withEffect">
                                  <p:stCondLst>
                                    <p:cond delay="0"/>
                                  </p:stCondLst>
                                  <p:childTnLst>
                                    <p:set>
                                      <p:cBhvr>
                                        <p:cTn id="27" dur="1" fill="hold">
                                          <p:stCondLst>
                                            <p:cond delay="0"/>
                                          </p:stCondLst>
                                        </p:cTn>
                                        <p:tgtEl>
                                          <p:spTgt spid="468"/>
                                        </p:tgtEl>
                                        <p:attrNameLst>
                                          <p:attrName>style.visibility</p:attrName>
                                        </p:attrNameLst>
                                      </p:cBhvr>
                                      <p:to>
                                        <p:strVal val="visible"/>
                                      </p:to>
                                    </p:set>
                                    <p:animEffect transition="in" filter="fade">
                                      <p:cBhvr>
                                        <p:cTn id="28" dur="500"/>
                                        <p:tgtEl>
                                          <p:spTgt spid="468"/>
                                        </p:tgtEl>
                                      </p:cBhvr>
                                    </p:animEffect>
                                  </p:childTnLst>
                                </p:cTn>
                              </p:par>
                              <p:par>
                                <p:cTn id="29" presetID="10" presetClass="entr" presetSubtype="0" fill="hold" nodeType="withEffect">
                                  <p:stCondLst>
                                    <p:cond delay="0"/>
                                  </p:stCondLst>
                                  <p:childTnLst>
                                    <p:set>
                                      <p:cBhvr>
                                        <p:cTn id="30" dur="1" fill="hold">
                                          <p:stCondLst>
                                            <p:cond delay="0"/>
                                          </p:stCondLst>
                                        </p:cTn>
                                        <p:tgtEl>
                                          <p:spTgt spid="469"/>
                                        </p:tgtEl>
                                        <p:attrNameLst>
                                          <p:attrName>style.visibility</p:attrName>
                                        </p:attrNameLst>
                                      </p:cBhvr>
                                      <p:to>
                                        <p:strVal val="visible"/>
                                      </p:to>
                                    </p:set>
                                    <p:animEffect transition="in" filter="fade">
                                      <p:cBhvr>
                                        <p:cTn id="31" dur="500"/>
                                        <p:tgtEl>
                                          <p:spTgt spid="4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475"/>
        <p:cNvGrpSpPr/>
        <p:nvPr/>
      </p:nvGrpSpPr>
      <p:grpSpPr>
        <a:xfrm>
          <a:off x="0" y="0"/>
          <a:ext cx="0" cy="0"/>
          <a:chOff x="0" y="0"/>
          <a:chExt cx="0" cy="0"/>
        </a:xfrm>
      </p:grpSpPr>
      <p:sp>
        <p:nvSpPr>
          <p:cNvPr id="476" name="Google Shape;476;p59"/>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Coinjoin algorithm</a:t>
            </a:r>
            <a:endParaRPr sz="4800" b="1">
              <a:solidFill>
                <a:schemeClr val="dk1"/>
              </a:solidFill>
              <a:latin typeface="Trebuchet MS"/>
              <a:ea typeface="Trebuchet MS"/>
              <a:cs typeface="Trebuchet MS"/>
              <a:sym typeface="Trebuchet MS"/>
            </a:endParaRPr>
          </a:p>
        </p:txBody>
      </p:sp>
      <p:sp>
        <p:nvSpPr>
          <p:cNvPr id="477" name="Google Shape;477;p59"/>
          <p:cNvSpPr txBox="1">
            <a:spLocks noGrp="1"/>
          </p:cNvSpPr>
          <p:nvPr>
            <p:ph type="body" idx="1"/>
          </p:nvPr>
        </p:nvSpPr>
        <p:spPr>
          <a:xfrm>
            <a:off x="609600" y="1600200"/>
            <a:ext cx="71120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685783" indent="-685783">
              <a:spcBef>
                <a:spcPts val="0"/>
              </a:spcBef>
              <a:buClr>
                <a:schemeClr val="dk1"/>
              </a:buClr>
              <a:buSzPts val="2400"/>
              <a:buFont typeface="Arial"/>
              <a:buAutoNum type="arabicPeriod"/>
            </a:pPr>
            <a:r>
              <a:rPr lang="en" dirty="0">
                <a:solidFill>
                  <a:schemeClr val="dk1"/>
                </a:solidFill>
                <a:latin typeface="Trebuchet MS"/>
                <a:ea typeface="Trebuchet MS"/>
                <a:cs typeface="Trebuchet MS"/>
                <a:sym typeface="Trebuchet MS"/>
              </a:rPr>
              <a:t>Find peers who want to mix</a:t>
            </a:r>
            <a:endParaRPr dirty="0"/>
          </a:p>
          <a:p>
            <a:pPr marL="685783" indent="-685783">
              <a:spcBef>
                <a:spcPts val="0"/>
              </a:spcBef>
              <a:buClr>
                <a:schemeClr val="dk1"/>
              </a:buClr>
              <a:buSzPts val="2400"/>
              <a:buFont typeface="Arial"/>
              <a:buAutoNum type="arabicPeriod"/>
            </a:pPr>
            <a:r>
              <a:rPr lang="en" dirty="0">
                <a:solidFill>
                  <a:schemeClr val="dk1"/>
                </a:solidFill>
                <a:latin typeface="Trebuchet MS"/>
                <a:ea typeface="Trebuchet MS"/>
                <a:cs typeface="Trebuchet MS"/>
                <a:sym typeface="Trebuchet MS"/>
              </a:rPr>
              <a:t>Exchange input/output addresses</a:t>
            </a:r>
            <a:endParaRPr dirty="0"/>
          </a:p>
          <a:p>
            <a:pPr marL="685783" indent="-685783">
              <a:spcBef>
                <a:spcPts val="0"/>
              </a:spcBef>
              <a:buClr>
                <a:schemeClr val="dk1"/>
              </a:buClr>
              <a:buSzPts val="2400"/>
              <a:buFont typeface="Arial"/>
              <a:buAutoNum type="arabicPeriod"/>
            </a:pPr>
            <a:r>
              <a:rPr lang="en" dirty="0">
                <a:solidFill>
                  <a:schemeClr val="dk1"/>
                </a:solidFill>
                <a:latin typeface="Trebuchet MS"/>
                <a:ea typeface="Trebuchet MS"/>
                <a:cs typeface="Trebuchet MS"/>
                <a:sym typeface="Trebuchet MS"/>
              </a:rPr>
              <a:t>Construct transaction</a:t>
            </a:r>
            <a:endParaRPr dirty="0"/>
          </a:p>
          <a:p>
            <a:pPr marL="685783" indent="-685783">
              <a:spcBef>
                <a:spcPts val="0"/>
              </a:spcBef>
              <a:buClr>
                <a:schemeClr val="dk1"/>
              </a:buClr>
              <a:buSzPts val="2400"/>
              <a:buFont typeface="Arial"/>
              <a:buAutoNum type="arabicPeriod"/>
            </a:pPr>
            <a:r>
              <a:rPr lang="en" dirty="0">
                <a:solidFill>
                  <a:schemeClr val="dk1"/>
                </a:solidFill>
                <a:latin typeface="Trebuchet MS"/>
                <a:ea typeface="Trebuchet MS"/>
                <a:cs typeface="Trebuchet MS"/>
                <a:sym typeface="Trebuchet MS"/>
              </a:rPr>
              <a:t>Send </a:t>
            </a:r>
            <a:r>
              <a:rPr lang="en" dirty="0" smtClean="0">
                <a:solidFill>
                  <a:schemeClr val="dk1"/>
                </a:solidFill>
                <a:latin typeface="Trebuchet MS"/>
                <a:ea typeface="Trebuchet MS"/>
                <a:cs typeface="Trebuchet MS"/>
                <a:sym typeface="Trebuchet MS"/>
              </a:rPr>
              <a:t>the transaction around.Each peer signs after verifying their output is present</a:t>
            </a:r>
            <a:endParaRPr dirty="0"/>
          </a:p>
          <a:p>
            <a:pPr marL="685783" indent="-685783">
              <a:spcBef>
                <a:spcPts val="0"/>
              </a:spcBef>
              <a:buClr>
                <a:schemeClr val="dk1"/>
              </a:buClr>
              <a:buSzPts val="2400"/>
              <a:buFont typeface="Arial"/>
              <a:buAutoNum type="arabicPeriod"/>
            </a:pPr>
            <a:r>
              <a:rPr lang="en" dirty="0">
                <a:solidFill>
                  <a:schemeClr val="dk1"/>
                </a:solidFill>
                <a:latin typeface="Trebuchet MS"/>
                <a:ea typeface="Trebuchet MS"/>
                <a:cs typeface="Trebuchet MS"/>
                <a:sym typeface="Trebuchet MS"/>
              </a:rPr>
              <a:t>Broadcast the transaction</a:t>
            </a:r>
            <a:endParaRPr dirty="0">
              <a:solidFill>
                <a:schemeClr val="dk1"/>
              </a:solidFill>
              <a:latin typeface="Trebuchet MS"/>
              <a:ea typeface="Trebuchet MS"/>
              <a:cs typeface="Trebuchet MS"/>
              <a:sym typeface="Trebuchet MS"/>
            </a:endParaRPr>
          </a:p>
        </p:txBody>
      </p:sp>
      <p:pic>
        <p:nvPicPr>
          <p:cNvPr id="478" name="Google Shape;478;p59"/>
          <p:cNvPicPr preferRelativeResize="0"/>
          <p:nvPr/>
        </p:nvPicPr>
        <p:blipFill rotWithShape="1">
          <a:blip r:embed="rId3">
            <a:alphaModFix/>
          </a:blip>
          <a:srcRect/>
          <a:stretch/>
        </p:blipFill>
        <p:spPr>
          <a:xfrm>
            <a:off x="7721601" y="1615855"/>
            <a:ext cx="3852577" cy="2552700"/>
          </a:xfrm>
          <a:prstGeom prst="rect">
            <a:avLst/>
          </a:prstGeom>
          <a:noFill/>
          <a:ln>
            <a:noFill/>
          </a:ln>
        </p:spPr>
      </p:pic>
    </p:spTree>
    <p:extLst>
      <p:ext uri="{BB962C8B-B14F-4D97-AF65-F5344CB8AC3E}">
        <p14:creationId xmlns:p14="http://schemas.microsoft.com/office/powerpoint/2010/main" val="2458741070"/>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p60"/>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Coinjoin: remaining problems</a:t>
            </a:r>
            <a:endParaRPr sz="4800" b="1">
              <a:solidFill>
                <a:schemeClr val="dk1"/>
              </a:solidFill>
              <a:latin typeface="Trebuchet MS"/>
              <a:ea typeface="Trebuchet MS"/>
              <a:cs typeface="Trebuchet MS"/>
              <a:sym typeface="Trebuchet MS"/>
            </a:endParaRPr>
          </a:p>
        </p:txBody>
      </p:sp>
      <p:sp>
        <p:nvSpPr>
          <p:cNvPr id="484" name="Google Shape;484;p60"/>
          <p:cNvSpPr txBox="1">
            <a:spLocks noGrp="1"/>
          </p:cNvSpPr>
          <p:nvPr>
            <p:ph type="body" idx="1"/>
          </p:nvPr>
        </p:nvSpPr>
        <p:spPr>
          <a:xfrm>
            <a:off x="609600" y="1600200"/>
            <a:ext cx="6908800"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685783" indent="-685783">
              <a:spcBef>
                <a:spcPts val="0"/>
              </a:spcBef>
              <a:buClr>
                <a:srgbClr val="A3A3A3"/>
              </a:buClr>
              <a:buSzPts val="2800"/>
              <a:buFont typeface="Arial"/>
              <a:buChar char="•"/>
            </a:pPr>
            <a:r>
              <a:rPr lang="en" sz="3733" dirty="0">
                <a:solidFill>
                  <a:schemeClr val="dk1"/>
                </a:solidFill>
                <a:latin typeface="Trebuchet MS"/>
                <a:ea typeface="Trebuchet MS"/>
                <a:cs typeface="Trebuchet MS"/>
                <a:sym typeface="Trebuchet MS"/>
              </a:rPr>
              <a:t>How to find peers</a:t>
            </a:r>
            <a:endParaRPr dirty="0"/>
          </a:p>
          <a:p>
            <a:pPr marL="685783" indent="-685783">
              <a:spcBef>
                <a:spcPts val="0"/>
              </a:spcBef>
              <a:buClr>
                <a:srgbClr val="A3A3A3"/>
              </a:buClr>
              <a:buSzPts val="2800"/>
              <a:buFont typeface="Arial"/>
              <a:buChar char="•"/>
            </a:pPr>
            <a:r>
              <a:rPr lang="en" sz="3733" dirty="0">
                <a:solidFill>
                  <a:schemeClr val="dk1"/>
                </a:solidFill>
                <a:latin typeface="Trebuchet MS"/>
                <a:ea typeface="Trebuchet MS"/>
                <a:cs typeface="Trebuchet MS"/>
                <a:sym typeface="Trebuchet MS"/>
              </a:rPr>
              <a:t>Peers know your input-output mapping</a:t>
            </a:r>
            <a:br>
              <a:rPr lang="en" sz="3733" dirty="0">
                <a:solidFill>
                  <a:schemeClr val="dk1"/>
                </a:solidFill>
                <a:latin typeface="Trebuchet MS"/>
                <a:ea typeface="Trebuchet MS"/>
                <a:cs typeface="Trebuchet MS"/>
                <a:sym typeface="Trebuchet MS"/>
              </a:rPr>
            </a:br>
            <a:r>
              <a:rPr lang="en" sz="3733" dirty="0" smtClean="0">
                <a:solidFill>
                  <a:schemeClr val="dk1"/>
                </a:solidFill>
                <a:latin typeface="Trebuchet MS"/>
                <a:ea typeface="Trebuchet MS"/>
                <a:cs typeface="Trebuchet MS"/>
                <a:sym typeface="Trebuchet MS"/>
              </a:rPr>
              <a:t>(This is a worse problem than for centralized mixes)</a:t>
            </a:r>
            <a:endParaRPr dirty="0" smtClean="0"/>
          </a:p>
          <a:p>
            <a:pPr marL="685783" indent="-685783">
              <a:spcBef>
                <a:spcPts val="0"/>
              </a:spcBef>
              <a:buClr>
                <a:srgbClr val="A3A3A3"/>
              </a:buClr>
              <a:buSzPts val="2800"/>
              <a:buFont typeface="Arial"/>
              <a:buChar char="•"/>
            </a:pPr>
            <a:r>
              <a:rPr lang="en" sz="3733" dirty="0" smtClean="0">
                <a:solidFill>
                  <a:schemeClr val="dk1"/>
                </a:solidFill>
                <a:latin typeface="Trebuchet MS"/>
                <a:ea typeface="Trebuchet MS"/>
                <a:cs typeface="Trebuchet MS"/>
                <a:sym typeface="Trebuchet MS"/>
              </a:rPr>
              <a:t>Denial of service</a:t>
            </a:r>
            <a:endParaRPr dirty="0" smtClean="0"/>
          </a:p>
          <a:p>
            <a:pPr indent="-372524">
              <a:spcBef>
                <a:spcPts val="0"/>
              </a:spcBef>
              <a:buClr>
                <a:srgbClr val="A3A3A3"/>
              </a:buClr>
              <a:buSzPts val="2800"/>
              <a:buNone/>
            </a:pPr>
            <a:endParaRPr sz="3733" dirty="0">
              <a:solidFill>
                <a:schemeClr val="dk1"/>
              </a:solidFill>
              <a:latin typeface="Trebuchet MS"/>
              <a:ea typeface="Trebuchet MS"/>
              <a:cs typeface="Trebuchet MS"/>
              <a:sym typeface="Trebuchet MS"/>
            </a:endParaRPr>
          </a:p>
        </p:txBody>
      </p:sp>
      <p:pic>
        <p:nvPicPr>
          <p:cNvPr id="485" name="Google Shape;485;p60"/>
          <p:cNvPicPr preferRelativeResize="0"/>
          <p:nvPr/>
        </p:nvPicPr>
        <p:blipFill rotWithShape="1">
          <a:blip r:embed="rId3">
            <a:alphaModFix/>
          </a:blip>
          <a:srcRect/>
          <a:stretch/>
        </p:blipFill>
        <p:spPr>
          <a:xfrm>
            <a:off x="7721601" y="1615855"/>
            <a:ext cx="3852577" cy="2552700"/>
          </a:xfrm>
          <a:prstGeom prst="rect">
            <a:avLst/>
          </a:prstGeom>
          <a:noFill/>
          <a:ln>
            <a:noFill/>
          </a:ln>
        </p:spPr>
      </p:pic>
    </p:spTree>
    <p:extLst>
      <p:ext uri="{BB962C8B-B14F-4D97-AF65-F5344CB8AC3E}">
        <p14:creationId xmlns:p14="http://schemas.microsoft.com/office/powerpoint/2010/main" val="886779540"/>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71"/>
        <p:cNvGrpSpPr/>
        <p:nvPr/>
      </p:nvGrpSpPr>
      <p:grpSpPr>
        <a:xfrm>
          <a:off x="0" y="0"/>
          <a:ext cx="0" cy="0"/>
          <a:chOff x="0" y="0"/>
          <a:chExt cx="0" cy="0"/>
        </a:xfrm>
      </p:grpSpPr>
      <p:sp>
        <p:nvSpPr>
          <p:cNvPr id="372" name="Google Shape;372;p50"/>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Series of mixes</a:t>
            </a:r>
            <a:endParaRPr sz="4800" b="1">
              <a:solidFill>
                <a:schemeClr val="dk1"/>
              </a:solidFill>
              <a:latin typeface="Trebuchet MS"/>
              <a:ea typeface="Trebuchet MS"/>
              <a:cs typeface="Trebuchet MS"/>
              <a:sym typeface="Trebuchet MS"/>
            </a:endParaRPr>
          </a:p>
        </p:txBody>
      </p:sp>
      <p:sp>
        <p:nvSpPr>
          <p:cNvPr id="373" name="Google Shape;373;p50"/>
          <p:cNvSpPr/>
          <p:nvPr/>
        </p:nvSpPr>
        <p:spPr>
          <a:xfrm>
            <a:off x="7924800" y="2108200"/>
            <a:ext cx="22352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374" name="Google Shape;374;p50"/>
          <p:cNvSpPr/>
          <p:nvPr/>
        </p:nvSpPr>
        <p:spPr>
          <a:xfrm>
            <a:off x="8991600" y="29210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75" name="Google Shape;375;p50"/>
          <p:cNvSpPr/>
          <p:nvPr/>
        </p:nvSpPr>
        <p:spPr>
          <a:xfrm>
            <a:off x="8991600" y="4190409"/>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76" name="Google Shape;376;p50"/>
          <p:cNvSpPr/>
          <p:nvPr/>
        </p:nvSpPr>
        <p:spPr>
          <a:xfrm>
            <a:off x="8991600" y="54102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377" name="Google Shape;377;p50" descr="User 2 by cyberscooty - "/>
          <p:cNvPicPr preferRelativeResize="0"/>
          <p:nvPr/>
        </p:nvPicPr>
        <p:blipFill rotWithShape="1">
          <a:blip r:embed="rId3">
            <a:alphaModFix/>
          </a:blip>
          <a:srcRect/>
          <a:stretch/>
        </p:blipFill>
        <p:spPr>
          <a:xfrm>
            <a:off x="10615987" y="3801709"/>
            <a:ext cx="763213" cy="948091"/>
          </a:xfrm>
          <a:prstGeom prst="rect">
            <a:avLst/>
          </a:prstGeom>
          <a:noFill/>
          <a:ln>
            <a:noFill/>
          </a:ln>
        </p:spPr>
      </p:pic>
      <p:sp>
        <p:nvSpPr>
          <p:cNvPr id="378" name="Google Shape;378;p50"/>
          <p:cNvSpPr/>
          <p:nvPr/>
        </p:nvSpPr>
        <p:spPr>
          <a:xfrm>
            <a:off x="5080000" y="2108200"/>
            <a:ext cx="22352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379" name="Google Shape;379;p50"/>
          <p:cNvSpPr/>
          <p:nvPr/>
        </p:nvSpPr>
        <p:spPr>
          <a:xfrm>
            <a:off x="6146800" y="29210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0" name="Google Shape;380;p50"/>
          <p:cNvSpPr/>
          <p:nvPr/>
        </p:nvSpPr>
        <p:spPr>
          <a:xfrm>
            <a:off x="6146800" y="4190409"/>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1" name="Google Shape;381;p50"/>
          <p:cNvSpPr/>
          <p:nvPr/>
        </p:nvSpPr>
        <p:spPr>
          <a:xfrm>
            <a:off x="6146800" y="54102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2" name="Google Shape;382;p50"/>
          <p:cNvSpPr/>
          <p:nvPr/>
        </p:nvSpPr>
        <p:spPr>
          <a:xfrm>
            <a:off x="2235200" y="2108200"/>
            <a:ext cx="2235200" cy="4165600"/>
          </a:xfrm>
          <a:prstGeom prst="ellipse">
            <a:avLst/>
          </a:prstGeom>
          <a:solidFill>
            <a:schemeClr val="lt1"/>
          </a:solidFill>
          <a:ln w="25400" cap="flat" cmpd="sng">
            <a:solidFill>
              <a:srgbClr val="A3A3A3"/>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dk1"/>
              </a:solidFill>
              <a:latin typeface="Arial"/>
              <a:ea typeface="Arial"/>
              <a:cs typeface="Arial"/>
              <a:sym typeface="Arial"/>
            </a:endParaRPr>
          </a:p>
        </p:txBody>
      </p:sp>
      <p:sp>
        <p:nvSpPr>
          <p:cNvPr id="383" name="Google Shape;383;p50"/>
          <p:cNvSpPr/>
          <p:nvPr/>
        </p:nvSpPr>
        <p:spPr>
          <a:xfrm>
            <a:off x="3302000" y="29210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4" name="Google Shape;384;p50"/>
          <p:cNvSpPr/>
          <p:nvPr/>
        </p:nvSpPr>
        <p:spPr>
          <a:xfrm>
            <a:off x="3302000" y="4190409"/>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5" name="Google Shape;385;p50"/>
          <p:cNvSpPr/>
          <p:nvPr/>
        </p:nvSpPr>
        <p:spPr>
          <a:xfrm>
            <a:off x="3302000" y="5410200"/>
            <a:ext cx="101600" cy="101600"/>
          </a:xfrm>
          <a:prstGeom prst="ellipse">
            <a:avLst/>
          </a:prstGeom>
          <a:solidFill>
            <a:srgbClr val="A3A3A3"/>
          </a:solidFill>
          <a:ln w="25400" cap="flat" cmpd="sng">
            <a:solidFill>
              <a:srgbClr val="4C4C4C"/>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pic>
        <p:nvPicPr>
          <p:cNvPr id="386" name="Google Shape;386;p50" descr="User 2 by cyberscooty - "/>
          <p:cNvPicPr preferRelativeResize="0"/>
          <p:nvPr/>
        </p:nvPicPr>
        <p:blipFill rotWithShape="1">
          <a:blip r:embed="rId3">
            <a:alphaModFix/>
          </a:blip>
          <a:srcRect/>
          <a:stretch/>
        </p:blipFill>
        <p:spPr>
          <a:xfrm>
            <a:off x="1117600" y="2497755"/>
            <a:ext cx="763213" cy="948091"/>
          </a:xfrm>
          <a:prstGeom prst="rect">
            <a:avLst/>
          </a:prstGeom>
          <a:noFill/>
          <a:ln>
            <a:noFill/>
          </a:ln>
        </p:spPr>
      </p:pic>
      <p:sp>
        <p:nvSpPr>
          <p:cNvPr id="387" name="Google Shape;387;p50"/>
          <p:cNvSpPr/>
          <p:nvPr/>
        </p:nvSpPr>
        <p:spPr>
          <a:xfrm>
            <a:off x="2133600" y="29210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8" name="Google Shape;388;p50"/>
          <p:cNvSpPr/>
          <p:nvPr/>
        </p:nvSpPr>
        <p:spPr>
          <a:xfrm>
            <a:off x="4718491" y="5418468"/>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89" name="Google Shape;389;p50"/>
          <p:cNvSpPr/>
          <p:nvPr/>
        </p:nvSpPr>
        <p:spPr>
          <a:xfrm>
            <a:off x="7546755" y="2921000"/>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sp>
        <p:nvSpPr>
          <p:cNvPr id="390" name="Google Shape;390;p50"/>
          <p:cNvSpPr/>
          <p:nvPr/>
        </p:nvSpPr>
        <p:spPr>
          <a:xfrm>
            <a:off x="10412787" y="4196909"/>
            <a:ext cx="101600" cy="101600"/>
          </a:xfrm>
          <a:prstGeom prst="ellipse">
            <a:avLst/>
          </a:prstGeom>
          <a:solidFill>
            <a:srgbClr val="00B050"/>
          </a:solidFill>
          <a:ln w="25400" cap="flat" cmpd="sng">
            <a:solidFill>
              <a:srgbClr val="007434"/>
            </a:solidFill>
            <a:prstDash val="solid"/>
            <a:round/>
            <a:headEnd type="none" w="sm" len="sm"/>
            <a:tailEnd type="none" w="sm" len="sm"/>
          </a:ln>
        </p:spPr>
        <p:txBody>
          <a:bodyPr spcFirstLastPara="1" wrap="square" lIns="121900" tIns="60933" rIns="121900" bIns="60933" anchor="ctr" anchorCtr="0">
            <a:noAutofit/>
          </a:bodyPr>
          <a:lstStyle/>
          <a:p>
            <a:pPr algn="ctr">
              <a:buClr>
                <a:srgbClr val="000000"/>
              </a:buClr>
            </a:pPr>
            <a:endParaRPr sz="1867">
              <a:solidFill>
                <a:schemeClr val="lt1"/>
              </a:solidFill>
              <a:latin typeface="Arial"/>
              <a:ea typeface="Arial"/>
              <a:cs typeface="Arial"/>
              <a:sym typeface="Arial"/>
            </a:endParaRPr>
          </a:p>
        </p:txBody>
      </p:sp>
      <p:cxnSp>
        <p:nvCxnSpPr>
          <p:cNvPr id="391" name="Google Shape;391;p50"/>
          <p:cNvCxnSpPr>
            <a:endCxn id="388" idx="2"/>
          </p:cNvCxnSpPr>
          <p:nvPr/>
        </p:nvCxnSpPr>
        <p:spPr>
          <a:xfrm>
            <a:off x="3403691" y="5454468"/>
            <a:ext cx="1314800" cy="14800"/>
          </a:xfrm>
          <a:prstGeom prst="straightConnector1">
            <a:avLst/>
          </a:prstGeom>
          <a:noFill/>
          <a:ln w="19050" cap="flat" cmpd="sng">
            <a:solidFill>
              <a:srgbClr val="A3A3A3"/>
            </a:solidFill>
            <a:prstDash val="solid"/>
            <a:round/>
            <a:headEnd type="none" w="sm" len="sm"/>
            <a:tailEnd type="none" w="sm" len="sm"/>
          </a:ln>
        </p:spPr>
      </p:cxnSp>
      <p:cxnSp>
        <p:nvCxnSpPr>
          <p:cNvPr id="392" name="Google Shape;392;p50"/>
          <p:cNvCxnSpPr>
            <a:endCxn id="383" idx="2"/>
          </p:cNvCxnSpPr>
          <p:nvPr/>
        </p:nvCxnSpPr>
        <p:spPr>
          <a:xfrm>
            <a:off x="2218000" y="2964600"/>
            <a:ext cx="1084000" cy="7200"/>
          </a:xfrm>
          <a:prstGeom prst="straightConnector1">
            <a:avLst/>
          </a:prstGeom>
          <a:noFill/>
          <a:ln w="19050" cap="flat" cmpd="sng">
            <a:solidFill>
              <a:srgbClr val="A3A3A3"/>
            </a:solidFill>
            <a:prstDash val="solid"/>
            <a:round/>
            <a:headEnd type="none" w="sm" len="sm"/>
            <a:tailEnd type="none" w="sm" len="sm"/>
          </a:ln>
        </p:spPr>
      </p:cxnSp>
      <p:cxnSp>
        <p:nvCxnSpPr>
          <p:cNvPr id="393" name="Google Shape;393;p50"/>
          <p:cNvCxnSpPr>
            <a:stCxn id="379" idx="6"/>
            <a:endCxn id="389" idx="2"/>
          </p:cNvCxnSpPr>
          <p:nvPr/>
        </p:nvCxnSpPr>
        <p:spPr>
          <a:xfrm>
            <a:off x="6248400" y="2971800"/>
            <a:ext cx="1298400" cy="0"/>
          </a:xfrm>
          <a:prstGeom prst="straightConnector1">
            <a:avLst/>
          </a:prstGeom>
          <a:noFill/>
          <a:ln w="19050" cap="flat" cmpd="sng">
            <a:solidFill>
              <a:srgbClr val="A3A3A3"/>
            </a:solidFill>
            <a:prstDash val="solid"/>
            <a:round/>
            <a:headEnd type="none" w="sm" len="sm"/>
            <a:tailEnd type="none" w="sm" len="sm"/>
          </a:ln>
        </p:spPr>
      </p:cxnSp>
      <p:cxnSp>
        <p:nvCxnSpPr>
          <p:cNvPr id="394" name="Google Shape;394;p50"/>
          <p:cNvCxnSpPr/>
          <p:nvPr/>
        </p:nvCxnSpPr>
        <p:spPr>
          <a:xfrm>
            <a:off x="9093200" y="4255388"/>
            <a:ext cx="1298355" cy="0"/>
          </a:xfrm>
          <a:prstGeom prst="straightConnector1">
            <a:avLst/>
          </a:prstGeom>
          <a:noFill/>
          <a:ln w="19050" cap="flat" cmpd="sng">
            <a:solidFill>
              <a:srgbClr val="A3A3A3"/>
            </a:solidFill>
            <a:prstDash val="solid"/>
            <a:round/>
            <a:headEnd type="none" w="sm" len="sm"/>
            <a:tailEnd type="none" w="sm" len="sm"/>
          </a:ln>
        </p:spPr>
      </p:cxnSp>
      <p:cxnSp>
        <p:nvCxnSpPr>
          <p:cNvPr id="395" name="Google Shape;395;p50"/>
          <p:cNvCxnSpPr/>
          <p:nvPr/>
        </p:nvCxnSpPr>
        <p:spPr>
          <a:xfrm>
            <a:off x="7648355" y="2964417"/>
            <a:ext cx="1298355" cy="0"/>
          </a:xfrm>
          <a:prstGeom prst="straightConnector1">
            <a:avLst/>
          </a:prstGeom>
          <a:noFill/>
          <a:ln w="19050" cap="flat" cmpd="sng">
            <a:solidFill>
              <a:srgbClr val="A3A3A3"/>
            </a:solidFill>
            <a:prstDash val="solid"/>
            <a:round/>
            <a:headEnd type="none" w="sm" len="sm"/>
            <a:tailEnd type="none" w="sm" len="sm"/>
          </a:ln>
        </p:spPr>
      </p:cxnSp>
      <p:cxnSp>
        <p:nvCxnSpPr>
          <p:cNvPr id="396" name="Google Shape;396;p50"/>
          <p:cNvCxnSpPr>
            <a:stCxn id="388" idx="6"/>
          </p:cNvCxnSpPr>
          <p:nvPr/>
        </p:nvCxnSpPr>
        <p:spPr>
          <a:xfrm rot="10800000" flipH="1">
            <a:off x="4820091" y="5460868"/>
            <a:ext cx="1326800" cy="8400"/>
          </a:xfrm>
          <a:prstGeom prst="straightConnector1">
            <a:avLst/>
          </a:prstGeom>
          <a:noFill/>
          <a:ln w="19050" cap="flat" cmpd="sng">
            <a:solidFill>
              <a:srgbClr val="A3A3A3"/>
            </a:solidFill>
            <a:prstDash val="solid"/>
            <a:round/>
            <a:headEnd type="none" w="sm" len="sm"/>
            <a:tailEnd type="none" w="sm" len="sm"/>
          </a:ln>
        </p:spPr>
      </p:cxnSp>
      <p:sp>
        <p:nvSpPr>
          <p:cNvPr id="397" name="Google Shape;397;p50"/>
          <p:cNvSpPr txBox="1"/>
          <p:nvPr/>
        </p:nvSpPr>
        <p:spPr>
          <a:xfrm>
            <a:off x="3657601" y="1803400"/>
            <a:ext cx="1041311" cy="533480"/>
          </a:xfrm>
          <a:prstGeom prst="rect">
            <a:avLst/>
          </a:prstGeom>
          <a:noFill/>
          <a:ln>
            <a:noFill/>
          </a:ln>
        </p:spPr>
        <p:txBody>
          <a:bodyPr spcFirstLastPara="1" wrap="square" lIns="121900" tIns="60933" rIns="121900" bIns="60933" anchor="t" anchorCtr="0">
            <a:noAutofit/>
          </a:bodyPr>
          <a:lstStyle/>
          <a:p>
            <a:pPr>
              <a:buClr>
                <a:srgbClr val="000000"/>
              </a:buClr>
            </a:pPr>
            <a:r>
              <a:rPr lang="en" sz="2667">
                <a:solidFill>
                  <a:srgbClr val="000000"/>
                </a:solidFill>
                <a:latin typeface="Trebuchet MS"/>
                <a:ea typeface="Trebuchet MS"/>
                <a:cs typeface="Trebuchet MS"/>
                <a:sym typeface="Trebuchet MS"/>
              </a:rPr>
              <a:t>Mix 1</a:t>
            </a:r>
            <a:endParaRPr sz="2667">
              <a:solidFill>
                <a:srgbClr val="000000"/>
              </a:solidFill>
              <a:latin typeface="Trebuchet MS"/>
              <a:ea typeface="Trebuchet MS"/>
              <a:cs typeface="Trebuchet MS"/>
              <a:sym typeface="Trebuchet MS"/>
            </a:endParaRPr>
          </a:p>
        </p:txBody>
      </p:sp>
      <p:sp>
        <p:nvSpPr>
          <p:cNvPr id="398" name="Google Shape;398;p50"/>
          <p:cNvSpPr txBox="1"/>
          <p:nvPr/>
        </p:nvSpPr>
        <p:spPr>
          <a:xfrm>
            <a:off x="6532026" y="1803400"/>
            <a:ext cx="1041311" cy="533480"/>
          </a:xfrm>
          <a:prstGeom prst="rect">
            <a:avLst/>
          </a:prstGeom>
          <a:noFill/>
          <a:ln>
            <a:noFill/>
          </a:ln>
        </p:spPr>
        <p:txBody>
          <a:bodyPr spcFirstLastPara="1" wrap="square" lIns="121900" tIns="60933" rIns="121900" bIns="60933" anchor="t" anchorCtr="0">
            <a:noAutofit/>
          </a:bodyPr>
          <a:lstStyle/>
          <a:p>
            <a:pPr>
              <a:buClr>
                <a:srgbClr val="000000"/>
              </a:buClr>
            </a:pPr>
            <a:r>
              <a:rPr lang="en" sz="2667">
                <a:solidFill>
                  <a:srgbClr val="000000"/>
                </a:solidFill>
                <a:latin typeface="Trebuchet MS"/>
                <a:ea typeface="Trebuchet MS"/>
                <a:cs typeface="Trebuchet MS"/>
                <a:sym typeface="Trebuchet MS"/>
              </a:rPr>
              <a:t>Mix 2</a:t>
            </a:r>
            <a:endParaRPr sz="2667">
              <a:solidFill>
                <a:srgbClr val="000000"/>
              </a:solidFill>
              <a:latin typeface="Trebuchet MS"/>
              <a:ea typeface="Trebuchet MS"/>
              <a:cs typeface="Trebuchet MS"/>
              <a:sym typeface="Trebuchet MS"/>
            </a:endParaRPr>
          </a:p>
        </p:txBody>
      </p:sp>
      <p:sp>
        <p:nvSpPr>
          <p:cNvPr id="399" name="Google Shape;399;p50"/>
          <p:cNvSpPr txBox="1"/>
          <p:nvPr/>
        </p:nvSpPr>
        <p:spPr>
          <a:xfrm>
            <a:off x="9373782" y="1803400"/>
            <a:ext cx="1041311" cy="533480"/>
          </a:xfrm>
          <a:prstGeom prst="rect">
            <a:avLst/>
          </a:prstGeom>
          <a:noFill/>
          <a:ln>
            <a:noFill/>
          </a:ln>
        </p:spPr>
        <p:txBody>
          <a:bodyPr spcFirstLastPara="1" wrap="square" lIns="121900" tIns="60933" rIns="121900" bIns="60933" anchor="t" anchorCtr="0">
            <a:noAutofit/>
          </a:bodyPr>
          <a:lstStyle/>
          <a:p>
            <a:pPr>
              <a:buClr>
                <a:srgbClr val="000000"/>
              </a:buClr>
            </a:pPr>
            <a:r>
              <a:rPr lang="en" sz="2667">
                <a:solidFill>
                  <a:srgbClr val="000000"/>
                </a:solidFill>
                <a:latin typeface="Trebuchet MS"/>
                <a:ea typeface="Trebuchet MS"/>
                <a:cs typeface="Trebuchet MS"/>
                <a:sym typeface="Trebuchet MS"/>
              </a:rPr>
              <a:t>Mix 3</a:t>
            </a:r>
            <a:endParaRPr sz="2667">
              <a:solidFill>
                <a:srgbClr val="000000"/>
              </a:solidFill>
              <a:latin typeface="Trebuchet MS"/>
              <a:ea typeface="Trebuchet MS"/>
              <a:cs typeface="Trebuchet MS"/>
              <a:sym typeface="Trebuchet MS"/>
            </a:endParaRPr>
          </a:p>
        </p:txBody>
      </p:sp>
    </p:spTree>
    <p:extLst>
      <p:ext uri="{BB962C8B-B14F-4D97-AF65-F5344CB8AC3E}">
        <p14:creationId xmlns:p14="http://schemas.microsoft.com/office/powerpoint/2010/main" val="3570670467"/>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64"/>
        <p:cNvGrpSpPr/>
        <p:nvPr/>
      </p:nvGrpSpPr>
      <p:grpSpPr>
        <a:xfrm>
          <a:off x="0" y="0"/>
          <a:ext cx="0" cy="0"/>
          <a:chOff x="0" y="0"/>
          <a:chExt cx="0" cy="0"/>
        </a:xfrm>
      </p:grpSpPr>
      <p:sp>
        <p:nvSpPr>
          <p:cNvPr id="365" name="Google Shape;365;p49"/>
          <p:cNvSpPr txBox="1">
            <a:spLocks noGrp="1"/>
          </p:cNvSpPr>
          <p:nvPr>
            <p:ph type="title"/>
          </p:nvPr>
        </p:nvSpPr>
        <p:spPr>
          <a:xfrm>
            <a:off x="609600" y="274637"/>
            <a:ext cx="10972800" cy="1143000"/>
          </a:xfrm>
          <a:prstGeom prst="rect">
            <a:avLst/>
          </a:prstGeom>
          <a:noFill/>
          <a:ln>
            <a:noFill/>
          </a:ln>
        </p:spPr>
        <p:txBody>
          <a:bodyPr spcFirstLastPara="1" vert="horz" wrap="square" lIns="121900" tIns="121900" rIns="121900" bIns="121900" numCol="1" anchor="b" anchorCtr="0" compatLnSpc="1">
            <a:prstTxWarp prst="textNoShape">
              <a:avLst/>
            </a:prstTxWarp>
            <a:noAutofit/>
          </a:bodyPr>
          <a:lstStyle/>
          <a:p>
            <a:pPr algn="l">
              <a:buClr>
                <a:schemeClr val="dk1"/>
              </a:buClr>
            </a:pPr>
            <a:r>
              <a:rPr lang="en" sz="4800" b="1">
                <a:solidFill>
                  <a:schemeClr val="dk1"/>
                </a:solidFill>
                <a:latin typeface="Trebuchet MS"/>
                <a:ea typeface="Trebuchet MS"/>
                <a:cs typeface="Trebuchet MS"/>
                <a:sym typeface="Trebuchet MS"/>
              </a:rPr>
              <a:t>Principles for mixing services</a:t>
            </a:r>
            <a:endParaRPr sz="4800" b="1">
              <a:solidFill>
                <a:schemeClr val="dk1"/>
              </a:solidFill>
              <a:latin typeface="Trebuchet MS"/>
              <a:ea typeface="Trebuchet MS"/>
              <a:cs typeface="Trebuchet MS"/>
              <a:sym typeface="Trebuchet MS"/>
            </a:endParaRPr>
          </a:p>
        </p:txBody>
      </p:sp>
      <p:sp>
        <p:nvSpPr>
          <p:cNvPr id="366" name="Google Shape;366;p49"/>
          <p:cNvSpPr txBox="1">
            <a:spLocks noGrp="1"/>
          </p:cNvSpPr>
          <p:nvPr>
            <p:ph type="body" idx="1"/>
          </p:nvPr>
        </p:nvSpPr>
        <p:spPr>
          <a:xfrm>
            <a:off x="609600" y="1600200"/>
            <a:ext cx="5994400" cy="5562600"/>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chemeClr val="dk1"/>
              </a:buClr>
            </a:pPr>
            <a:r>
              <a:rPr lang="en" dirty="0">
                <a:solidFill>
                  <a:schemeClr val="dk1"/>
                </a:solidFill>
                <a:latin typeface="Trebuchet MS"/>
                <a:ea typeface="Trebuchet MS"/>
                <a:cs typeface="Trebuchet MS"/>
                <a:sym typeface="Trebuchet MS"/>
              </a:rPr>
              <a:t>1. </a:t>
            </a:r>
            <a:r>
              <a:rPr lang="en" sz="2000" dirty="0">
                <a:solidFill>
                  <a:schemeClr val="dk1"/>
                </a:solidFill>
                <a:latin typeface="Trebuchet MS"/>
                <a:ea typeface="Trebuchet MS"/>
                <a:cs typeface="Trebuchet MS"/>
                <a:sym typeface="Trebuchet MS"/>
              </a:rPr>
              <a:t>Use a series of mixes</a:t>
            </a:r>
            <a:endParaRPr sz="2000" dirty="0"/>
          </a:p>
          <a:p>
            <a:pPr marL="685783" indent="-482588">
              <a:buClr>
                <a:schemeClr val="dk1"/>
              </a:buClr>
              <a:buSzPts val="2400"/>
            </a:pPr>
            <a:endParaRPr sz="2000" dirty="0">
              <a:solidFill>
                <a:schemeClr val="dk1"/>
              </a:solidFill>
              <a:latin typeface="Trebuchet MS"/>
              <a:ea typeface="Trebuchet MS"/>
              <a:cs typeface="Trebuchet MS"/>
              <a:sym typeface="Trebuchet MS"/>
            </a:endParaRPr>
          </a:p>
          <a:p>
            <a:pPr marL="0" indent="0">
              <a:buClr>
                <a:schemeClr val="dk1"/>
              </a:buClr>
            </a:pPr>
            <a:r>
              <a:rPr lang="en" sz="2000" dirty="0">
                <a:solidFill>
                  <a:schemeClr val="dk1"/>
                </a:solidFill>
                <a:latin typeface="Trebuchet MS"/>
                <a:ea typeface="Trebuchet MS"/>
                <a:cs typeface="Trebuchet MS"/>
                <a:sym typeface="Trebuchet MS"/>
              </a:rPr>
              <a:t>    Mixes should implement a </a:t>
            </a:r>
            <a:r>
              <a:rPr lang="en" sz="2000" dirty="0" smtClean="0">
                <a:solidFill>
                  <a:schemeClr val="dk1"/>
                </a:solidFill>
                <a:latin typeface="Trebuchet MS"/>
                <a:ea typeface="Trebuchet MS"/>
                <a:cs typeface="Trebuchet MS"/>
                <a:sym typeface="Trebuchet MS"/>
              </a:rPr>
              <a:t>standard </a:t>
            </a:r>
            <a:r>
              <a:rPr lang="en" sz="2000" dirty="0">
                <a:solidFill>
                  <a:schemeClr val="dk1"/>
                </a:solidFill>
                <a:latin typeface="Trebuchet MS"/>
                <a:ea typeface="Trebuchet MS"/>
                <a:cs typeface="Trebuchet MS"/>
                <a:sym typeface="Trebuchet MS"/>
              </a:rPr>
              <a:t>API to make this </a:t>
            </a:r>
            <a:r>
              <a:rPr lang="en" sz="2000" dirty="0" smtClean="0">
                <a:solidFill>
                  <a:schemeClr val="dk1"/>
                </a:solidFill>
                <a:latin typeface="Trebuchet MS"/>
                <a:ea typeface="Trebuchet MS"/>
                <a:cs typeface="Trebuchet MS"/>
                <a:sym typeface="Trebuchet MS"/>
              </a:rPr>
              <a:t> easy</a:t>
            </a:r>
          </a:p>
          <a:p>
            <a:pPr marL="0" indent="0">
              <a:buClr>
                <a:schemeClr val="dk1"/>
              </a:buClr>
            </a:pPr>
            <a:r>
              <a:rPr lang="en" sz="2000" dirty="0" smtClean="0">
                <a:solidFill>
                  <a:schemeClr val="dk1"/>
                </a:solidFill>
                <a:latin typeface="Trebuchet MS"/>
                <a:ea typeface="Trebuchet MS"/>
                <a:cs typeface="Trebuchet MS"/>
                <a:sym typeface="Trebuchet MS"/>
              </a:rPr>
              <a:t>2.</a:t>
            </a:r>
            <a:r>
              <a:rPr lang="en-IN" sz="2000" dirty="0">
                <a:solidFill>
                  <a:schemeClr val="dk1"/>
                </a:solidFill>
                <a:latin typeface="Trebuchet MS"/>
                <a:ea typeface="Trebuchet MS"/>
                <a:cs typeface="Trebuchet MS"/>
                <a:sym typeface="Trebuchet MS"/>
              </a:rPr>
              <a:t> Uniform transactions</a:t>
            </a:r>
            <a:endParaRPr lang="en-IN" sz="2000" dirty="0"/>
          </a:p>
          <a:p>
            <a:pPr marL="0" indent="0">
              <a:buClr>
                <a:schemeClr val="dk1"/>
              </a:buClr>
            </a:pPr>
            <a:r>
              <a:rPr lang="en-IN" sz="2000" dirty="0" smtClean="0">
                <a:solidFill>
                  <a:schemeClr val="dk1"/>
                </a:solidFill>
                <a:latin typeface="Trebuchet MS"/>
                <a:ea typeface="Trebuchet MS"/>
                <a:cs typeface="Trebuchet MS"/>
                <a:sym typeface="Trebuchet MS"/>
              </a:rPr>
              <a:t>   </a:t>
            </a:r>
            <a:r>
              <a:rPr lang="en-IN" sz="2000" dirty="0">
                <a:solidFill>
                  <a:schemeClr val="dk1"/>
                </a:solidFill>
                <a:latin typeface="Trebuchet MS"/>
                <a:ea typeface="Trebuchet MS"/>
                <a:cs typeface="Trebuchet MS"/>
                <a:sym typeface="Trebuchet MS"/>
              </a:rPr>
              <a:t>In particular: all </a:t>
            </a:r>
            <a:r>
              <a:rPr lang="en-IN" sz="2000" dirty="0" smtClean="0">
                <a:solidFill>
                  <a:schemeClr val="dk1"/>
                </a:solidFill>
                <a:latin typeface="Trebuchet MS"/>
                <a:ea typeface="Trebuchet MS"/>
                <a:cs typeface="Trebuchet MS"/>
                <a:sym typeface="Trebuchet MS"/>
              </a:rPr>
              <a:t>mix</a:t>
            </a:r>
            <a:r>
              <a:rPr lang="en-IN" sz="2000" dirty="0" smtClean="0">
                <a:sym typeface="Trebuchet MS"/>
              </a:rPr>
              <a:t> </a:t>
            </a:r>
            <a:r>
              <a:rPr lang="en-IN" sz="2000" dirty="0" smtClean="0">
                <a:solidFill>
                  <a:schemeClr val="dk1"/>
                </a:solidFill>
                <a:latin typeface="Trebuchet MS"/>
                <a:ea typeface="Trebuchet MS"/>
                <a:cs typeface="Trebuchet MS"/>
                <a:sym typeface="Trebuchet MS"/>
              </a:rPr>
              <a:t>transactions </a:t>
            </a:r>
            <a:r>
              <a:rPr lang="en-IN" sz="2000" dirty="0">
                <a:solidFill>
                  <a:schemeClr val="dk1"/>
                </a:solidFill>
                <a:latin typeface="Trebuchet MS"/>
                <a:ea typeface="Trebuchet MS"/>
                <a:cs typeface="Trebuchet MS"/>
                <a:sym typeface="Trebuchet MS"/>
              </a:rPr>
              <a:t>must have the  </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same value!</a:t>
            </a:r>
            <a:endParaRPr lang="en-IN" sz="2000" dirty="0"/>
          </a:p>
          <a:p>
            <a:pPr marL="0" indent="0">
              <a:buClr>
                <a:schemeClr val="dk1"/>
              </a:buClr>
            </a:pPr>
            <a:r>
              <a:rPr lang="en-IN" sz="2000" dirty="0" smtClean="0">
                <a:solidFill>
                  <a:schemeClr val="dk1"/>
                </a:solidFill>
                <a:latin typeface="Trebuchet MS"/>
                <a:ea typeface="Trebuchet MS"/>
                <a:cs typeface="Trebuchet MS"/>
                <a:sym typeface="Trebuchet MS"/>
              </a:rPr>
              <a:t>    </a:t>
            </a:r>
            <a:r>
              <a:rPr lang="en-IN" sz="2000" dirty="0">
                <a:solidFill>
                  <a:schemeClr val="dk1"/>
                </a:solidFill>
                <a:latin typeface="Trebuchet MS"/>
                <a:ea typeface="Trebuchet MS"/>
                <a:cs typeface="Trebuchet MS"/>
                <a:sym typeface="Trebuchet MS"/>
              </a:rPr>
              <a:t>“</a:t>
            </a:r>
            <a:r>
              <a:rPr lang="en-IN" sz="2000" i="1" dirty="0">
                <a:solidFill>
                  <a:schemeClr val="dk1"/>
                </a:solidFill>
                <a:latin typeface="Trebuchet MS"/>
                <a:ea typeface="Trebuchet MS"/>
                <a:cs typeface="Trebuchet MS"/>
                <a:sym typeface="Trebuchet MS"/>
              </a:rPr>
              <a:t>Chunk size</a:t>
            </a:r>
            <a:r>
              <a:rPr lang="en-IN" sz="2000" i="1" dirty="0" smtClean="0">
                <a:solidFill>
                  <a:schemeClr val="dk1"/>
                </a:solidFill>
                <a:latin typeface="Trebuchet MS"/>
                <a:ea typeface="Trebuchet MS"/>
                <a:cs typeface="Trebuchet MS"/>
                <a:sym typeface="Trebuchet MS"/>
              </a:rPr>
              <a:t>”</a:t>
            </a:r>
          </a:p>
          <a:p>
            <a:pPr marL="0" indent="0">
              <a:buClr>
                <a:schemeClr val="dk1"/>
              </a:buClr>
            </a:pPr>
            <a:r>
              <a:rPr lang="en-IN" sz="2000" i="1" dirty="0" smtClean="0">
                <a:solidFill>
                  <a:schemeClr val="dk1"/>
                </a:solidFill>
                <a:latin typeface="Trebuchet MS"/>
                <a:ea typeface="Trebuchet MS"/>
                <a:cs typeface="Trebuchet MS"/>
                <a:sym typeface="Trebuchet MS"/>
              </a:rPr>
              <a:t>3.</a:t>
            </a:r>
            <a:r>
              <a:rPr lang="en-IN" sz="2000" dirty="0">
                <a:solidFill>
                  <a:schemeClr val="dk1"/>
                </a:solidFill>
                <a:latin typeface="Trebuchet MS"/>
                <a:ea typeface="Trebuchet MS"/>
                <a:cs typeface="Trebuchet MS"/>
                <a:sym typeface="Trebuchet MS"/>
              </a:rPr>
              <a:t> Client side must be </a:t>
            </a:r>
            <a:r>
              <a:rPr lang="en-IN" sz="2000" dirty="0" smtClean="0">
                <a:solidFill>
                  <a:schemeClr val="dk1"/>
                </a:solidFill>
                <a:latin typeface="Trebuchet MS"/>
                <a:ea typeface="Trebuchet MS"/>
                <a:cs typeface="Trebuchet MS"/>
                <a:sym typeface="Trebuchet MS"/>
              </a:rPr>
              <a:t>automated</a:t>
            </a:r>
            <a:endParaRPr lang="en-IN" sz="2000" dirty="0"/>
          </a:p>
          <a:p>
            <a:pPr marL="685783" indent="-482588">
              <a:buClr>
                <a:schemeClr val="dk1"/>
              </a:buClr>
              <a:buSzPts val="2400"/>
            </a:pPr>
            <a:endParaRPr lang="en-IN" sz="2000" dirty="0">
              <a:solidFill>
                <a:schemeClr val="dk1"/>
              </a:solidFill>
              <a:latin typeface="Trebuchet MS"/>
              <a:ea typeface="Trebuchet MS"/>
              <a:cs typeface="Trebuchet MS"/>
              <a:sym typeface="Trebuchet MS"/>
            </a:endParaRPr>
          </a:p>
          <a:p>
            <a:pPr marL="0" indent="0">
              <a:buClr>
                <a:schemeClr val="dk1"/>
              </a:buClr>
            </a:pPr>
            <a:r>
              <a:rPr lang="en-IN" sz="2000" dirty="0">
                <a:solidFill>
                  <a:schemeClr val="dk1"/>
                </a:solidFill>
                <a:latin typeface="Trebuchet MS"/>
                <a:ea typeface="Trebuchet MS"/>
                <a:cs typeface="Trebuchet MS"/>
                <a:sym typeface="Trebuchet MS"/>
              </a:rPr>
              <a:t>    Desktop wallet </a:t>
            </a:r>
            <a:r>
              <a:rPr lang="en-IN" sz="2000" dirty="0" smtClean="0">
                <a:solidFill>
                  <a:schemeClr val="dk1"/>
                </a:solidFill>
                <a:latin typeface="Trebuchet MS"/>
                <a:ea typeface="Trebuchet MS"/>
                <a:cs typeface="Trebuchet MS"/>
                <a:sym typeface="Trebuchet MS"/>
              </a:rPr>
              <a:t>software</a:t>
            </a:r>
          </a:p>
          <a:p>
            <a:pPr marL="0" indent="0">
              <a:buClr>
                <a:schemeClr val="dk1"/>
              </a:buClr>
            </a:pPr>
            <a:r>
              <a:rPr lang="en-IN" sz="2000" i="1" dirty="0" smtClean="0">
                <a:solidFill>
                  <a:schemeClr val="dk1"/>
                </a:solidFill>
                <a:latin typeface="Trebuchet MS"/>
                <a:ea typeface="Trebuchet MS"/>
                <a:cs typeface="Trebuchet MS"/>
                <a:sym typeface="Trebuchet MS"/>
              </a:rPr>
              <a:t>4. </a:t>
            </a:r>
            <a:r>
              <a:rPr lang="en-IN" sz="2000" dirty="0">
                <a:solidFill>
                  <a:schemeClr val="dk1"/>
                </a:solidFill>
                <a:latin typeface="Trebuchet MS"/>
                <a:ea typeface="Trebuchet MS"/>
                <a:cs typeface="Trebuchet MS"/>
                <a:sym typeface="Trebuchet MS"/>
              </a:rPr>
              <a:t>Fees must be all-or-nothing</a:t>
            </a:r>
            <a:endParaRPr lang="en-IN" sz="2000" dirty="0"/>
          </a:p>
          <a:p>
            <a:pPr marL="0" indent="0">
              <a:buClr>
                <a:schemeClr val="dk1"/>
              </a:buClr>
            </a:pPr>
            <a:endParaRPr lang="en-IN" sz="2000" i="1" dirty="0">
              <a:solidFill>
                <a:schemeClr val="dk1"/>
              </a:solidFill>
              <a:latin typeface="Trebuchet MS"/>
              <a:ea typeface="Trebuchet MS"/>
              <a:cs typeface="Trebuchet MS"/>
              <a:sym typeface="Trebuchet MS"/>
            </a:endParaRPr>
          </a:p>
          <a:p>
            <a:pPr marL="0" indent="0">
              <a:buClr>
                <a:schemeClr val="dk1"/>
              </a:buClr>
            </a:pPr>
            <a:r>
              <a:rPr lang="en-IN" sz="2000" dirty="0">
                <a:solidFill>
                  <a:schemeClr val="dk1"/>
                </a:solidFill>
                <a:latin typeface="Trebuchet MS"/>
                <a:ea typeface="Trebuchet MS"/>
                <a:cs typeface="Trebuchet MS"/>
                <a:sym typeface="Trebuchet MS"/>
              </a:rPr>
              <a:t>    Probabilistic fees: </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0.1% mixing fee = </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mix will swallow chunk</a:t>
            </a:r>
            <a:endParaRPr lang="en-IN" sz="2000" dirty="0"/>
          </a:p>
          <a:p>
            <a:pPr marL="0" indent="0">
              <a:buClr>
                <a:schemeClr val="dk1"/>
              </a:buClr>
            </a:pPr>
            <a:r>
              <a:rPr lang="en-IN" sz="2000" dirty="0">
                <a:solidFill>
                  <a:schemeClr val="dk1"/>
                </a:solidFill>
                <a:latin typeface="Trebuchet MS"/>
                <a:ea typeface="Trebuchet MS"/>
                <a:cs typeface="Trebuchet MS"/>
                <a:sym typeface="Trebuchet MS"/>
              </a:rPr>
              <a:t>    	with 0.1% chance</a:t>
            </a:r>
            <a:endParaRPr lang="en-IN" sz="2000" i="1" dirty="0">
              <a:solidFill>
                <a:schemeClr val="dk1"/>
              </a:solidFill>
              <a:latin typeface="Trebuchet MS"/>
              <a:ea typeface="Trebuchet MS"/>
              <a:cs typeface="Trebuchet MS"/>
              <a:sym typeface="Trebuchet MS"/>
            </a:endParaRPr>
          </a:p>
          <a:p>
            <a:pPr marL="0" indent="0">
              <a:buClr>
                <a:schemeClr val="dk1"/>
              </a:buClr>
            </a:pPr>
            <a:endParaRPr lang="en-IN" sz="2000" i="1" dirty="0">
              <a:solidFill>
                <a:schemeClr val="dk1"/>
              </a:solidFill>
              <a:latin typeface="Trebuchet MS"/>
              <a:ea typeface="Trebuchet MS"/>
              <a:cs typeface="Trebuchet MS"/>
              <a:sym typeface="Trebuchet MS"/>
            </a:endParaRPr>
          </a:p>
          <a:p>
            <a:pPr marL="0" indent="0">
              <a:buClr>
                <a:schemeClr val="dk1"/>
              </a:buClr>
            </a:pPr>
            <a:endParaRPr lang="en-IN" sz="2000" i="1" dirty="0">
              <a:solidFill>
                <a:schemeClr val="dk1"/>
              </a:solidFill>
              <a:latin typeface="Trebuchet MS"/>
              <a:ea typeface="Trebuchet MS"/>
              <a:cs typeface="Trebuchet MS"/>
              <a:sym typeface="Trebuchet MS"/>
            </a:endParaRPr>
          </a:p>
          <a:p>
            <a:pPr marL="0" indent="0">
              <a:buClr>
                <a:schemeClr val="dk1"/>
              </a:buClr>
            </a:pPr>
            <a:endParaRPr dirty="0">
              <a:solidFill>
                <a:schemeClr val="dk1"/>
              </a:solidFill>
              <a:latin typeface="Trebuchet MS"/>
              <a:ea typeface="Trebuchet MS"/>
              <a:cs typeface="Trebuchet MS"/>
              <a:sym typeface="Trebuchet MS"/>
            </a:endParaRPr>
          </a:p>
        </p:txBody>
      </p:sp>
      <p:sp>
        <p:nvSpPr>
          <p:cNvPr id="367" name="Google Shape;367;p49"/>
          <p:cNvSpPr txBox="1">
            <a:spLocks noGrp="1"/>
          </p:cNvSpPr>
          <p:nvPr>
            <p:ph type="body" idx="2"/>
          </p:nvPr>
        </p:nvSpPr>
        <p:spPr>
          <a:xfrm>
            <a:off x="6705600" y="1600200"/>
            <a:ext cx="4876797" cy="4967573"/>
          </a:xfrm>
          <a:prstGeom prst="rect">
            <a:avLst/>
          </a:prstGeom>
          <a:noFill/>
          <a:ln>
            <a:noFill/>
          </a:ln>
        </p:spPr>
        <p:txBody>
          <a:bodyPr spcFirstLastPara="1" vert="horz" wrap="square" lIns="121900" tIns="121900" rIns="121900" bIns="121900" numCol="1" anchor="t" anchorCtr="0" compatLnSpc="1">
            <a:prstTxWarp prst="textNoShape">
              <a:avLst/>
            </a:prstTxWarp>
            <a:noAutofit/>
          </a:bodyPr>
          <a:lstStyle/>
          <a:p>
            <a:pPr marL="0" indent="0">
              <a:buClr>
                <a:schemeClr val="dk1"/>
              </a:buClr>
            </a:pPr>
            <a:r>
              <a:rPr lang="en" i="1" dirty="0">
                <a:solidFill>
                  <a:schemeClr val="dk1"/>
                </a:solidFill>
                <a:latin typeface="Trebuchet MS"/>
                <a:ea typeface="Trebuchet MS"/>
                <a:cs typeface="Trebuchet MS"/>
                <a:sym typeface="Trebuchet MS"/>
              </a:rPr>
              <a:t>Mixcoin: Anonymity for Bitcoin with accountable mixes </a:t>
            </a:r>
            <a:endParaRPr i="1" dirty="0">
              <a:solidFill>
                <a:schemeClr val="dk1"/>
              </a:solidFill>
              <a:latin typeface="Trebuchet MS"/>
              <a:ea typeface="Trebuchet MS"/>
              <a:cs typeface="Trebuchet MS"/>
              <a:sym typeface="Trebuchet MS"/>
            </a:endParaRPr>
          </a:p>
          <a:p>
            <a:pPr marL="0" indent="0">
              <a:buClr>
                <a:schemeClr val="dk1"/>
              </a:buClr>
            </a:pPr>
            <a:endParaRPr dirty="0">
              <a:solidFill>
                <a:schemeClr val="dk1"/>
              </a:solidFill>
              <a:latin typeface="Trebuchet MS"/>
              <a:ea typeface="Trebuchet MS"/>
              <a:cs typeface="Trebuchet MS"/>
              <a:sym typeface="Trebuchet MS"/>
            </a:endParaRPr>
          </a:p>
          <a:p>
            <a:pPr marL="0" indent="0">
              <a:buClr>
                <a:schemeClr val="dk1"/>
              </a:buClr>
            </a:pPr>
            <a:r>
              <a:rPr lang="en" dirty="0">
                <a:solidFill>
                  <a:schemeClr val="dk1"/>
                </a:solidFill>
                <a:latin typeface="Trebuchet MS"/>
                <a:ea typeface="Trebuchet MS"/>
                <a:cs typeface="Trebuchet MS"/>
                <a:sym typeface="Trebuchet MS"/>
              </a:rPr>
              <a:t>J. Bonneau et al.</a:t>
            </a:r>
            <a:endParaRPr dirty="0">
              <a:solidFill>
                <a:schemeClr val="dk1"/>
              </a:solidFill>
              <a:latin typeface="Trebuchet MS"/>
              <a:ea typeface="Trebuchet MS"/>
              <a:cs typeface="Trebuchet MS"/>
              <a:sym typeface="Trebuchet MS"/>
            </a:endParaRPr>
          </a:p>
          <a:p>
            <a:r>
              <a:rPr lang="en" dirty="0" smtClean="0">
                <a:solidFill>
                  <a:schemeClr val="dk1"/>
                </a:solidFill>
                <a:latin typeface="Trebuchet MS"/>
                <a:ea typeface="Trebuchet MS"/>
                <a:cs typeface="Trebuchet MS"/>
                <a:sym typeface="Trebuchet MS"/>
              </a:rPr>
              <a:t>Fina</a:t>
            </a:r>
            <a:r>
              <a:rPr lang="en-IN" dirty="0" err="1">
                <a:solidFill>
                  <a:schemeClr val="dk1"/>
                </a:solidFill>
                <a:latin typeface="Trebuchet MS"/>
                <a:ea typeface="Trebuchet MS"/>
                <a:cs typeface="Trebuchet MS"/>
                <a:sym typeface="Trebuchet MS"/>
              </a:rPr>
              <a:t>ncial</a:t>
            </a:r>
            <a:r>
              <a:rPr lang="en-IN" dirty="0">
                <a:solidFill>
                  <a:schemeClr val="dk1"/>
                </a:solidFill>
                <a:latin typeface="Trebuchet MS"/>
                <a:ea typeface="Trebuchet MS"/>
                <a:cs typeface="Trebuchet MS"/>
                <a:sym typeface="Trebuchet MS"/>
              </a:rPr>
              <a:t> Cryptography 2014 </a:t>
            </a:r>
            <a:endParaRPr lang="en-IN" dirty="0"/>
          </a:p>
          <a:p>
            <a:endParaRPr lang="en" dirty="0" smtClean="0">
              <a:solidFill>
                <a:schemeClr val="dk1"/>
              </a:solidFill>
              <a:latin typeface="Trebuchet MS"/>
              <a:ea typeface="Trebuchet MS"/>
              <a:cs typeface="Trebuchet MS"/>
              <a:sym typeface="Trebuchet MS"/>
            </a:endParaRPr>
          </a:p>
          <a:p>
            <a:pPr algn="just"/>
            <a:r>
              <a:rPr lang="en-IN" sz="1800" b="1" dirty="0" smtClean="0"/>
              <a:t>Example:</a:t>
            </a:r>
          </a:p>
          <a:p>
            <a:pPr algn="just"/>
            <a:r>
              <a:rPr lang="en-IN" sz="1800" dirty="0" smtClean="0"/>
              <a:t>If you send 1 </a:t>
            </a:r>
            <a:r>
              <a:rPr lang="en-IN" sz="1800" dirty="0" err="1" smtClean="0"/>
              <a:t>Bitcoin</a:t>
            </a:r>
            <a:r>
              <a:rPr lang="en-IN" sz="1800" dirty="0" smtClean="0"/>
              <a:t> to the mixing service, there’s a </a:t>
            </a:r>
            <a:r>
              <a:rPr lang="en-IN" sz="1800" b="1" dirty="0" smtClean="0"/>
              <a:t>0.1% chance</a:t>
            </a:r>
            <a:r>
              <a:rPr lang="en-IN" sz="1800" dirty="0" smtClean="0"/>
              <a:t> that a small portion of it (say, 0.001 BTC) will be taken as a fee.</a:t>
            </a:r>
          </a:p>
          <a:p>
            <a:pPr algn="just"/>
            <a:r>
              <a:rPr lang="en-IN" sz="1800" dirty="0" smtClean="0"/>
              <a:t>In 99.9% of cases, no </a:t>
            </a:r>
            <a:r>
              <a:rPr lang="en-IN" sz="1800" dirty="0" err="1" smtClean="0"/>
              <a:t>Bitcoin</a:t>
            </a:r>
            <a:r>
              <a:rPr lang="en-IN" sz="1800" dirty="0" smtClean="0"/>
              <a:t> is taken as a fee, but in the rare cases (0.1%), the service will keep that portion.</a:t>
            </a:r>
            <a:endParaRPr lang="en-IN" sz="1800" dirty="0"/>
          </a:p>
        </p:txBody>
      </p:sp>
      <p:pic>
        <p:nvPicPr>
          <p:cNvPr id="2" name="Picture 1"/>
          <p:cNvPicPr>
            <a:picLocks noChangeAspect="1"/>
          </p:cNvPicPr>
          <p:nvPr/>
        </p:nvPicPr>
        <p:blipFill>
          <a:blip r:embed="rId3"/>
          <a:stretch>
            <a:fillRect/>
          </a:stretch>
        </p:blipFill>
        <p:spPr>
          <a:xfrm>
            <a:off x="2362200" y="1219200"/>
            <a:ext cx="4419600" cy="685799"/>
          </a:xfrm>
          <a:prstGeom prst="rect">
            <a:avLst/>
          </a:prstGeom>
        </p:spPr>
      </p:pic>
    </p:spTree>
    <p:extLst>
      <p:ext uri="{BB962C8B-B14F-4D97-AF65-F5344CB8AC3E}">
        <p14:creationId xmlns:p14="http://schemas.microsoft.com/office/powerpoint/2010/main" val="22430797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IN" b="1" dirty="0" smtClean="0"/>
              <a:t>Third –party mixing protocols</a:t>
            </a:r>
          </a:p>
          <a:p>
            <a:pPr marL="50799" indent="0">
              <a:buNone/>
            </a:pPr>
            <a:r>
              <a:rPr lang="en-IN" dirty="0" smtClean="0"/>
              <a:t>have been proposed for </a:t>
            </a:r>
            <a:r>
              <a:rPr lang="en-IN" dirty="0" err="1" smtClean="0"/>
              <a:t>Bitcoin</a:t>
            </a:r>
            <a:r>
              <a:rPr lang="en-IN" dirty="0" smtClean="0"/>
              <a:t> privacy include:</a:t>
            </a:r>
          </a:p>
          <a:p>
            <a:pPr marL="50799" indent="0">
              <a:buNone/>
            </a:pPr>
            <a:r>
              <a:rPr lang="en-IN" dirty="0"/>
              <a:t> </a:t>
            </a:r>
            <a:r>
              <a:rPr lang="en-IN" dirty="0" smtClean="0"/>
              <a:t>              </a:t>
            </a:r>
            <a:r>
              <a:rPr lang="en-IN" dirty="0"/>
              <a:t>-- CoinSwap             </a:t>
            </a:r>
            <a:endParaRPr lang="en-IN" dirty="0" smtClean="0"/>
          </a:p>
          <a:p>
            <a:pPr marL="50799" indent="0">
              <a:buNone/>
            </a:pPr>
            <a:r>
              <a:rPr lang="en-IN" dirty="0" smtClean="0"/>
              <a:t>               --TumbleBit</a:t>
            </a:r>
          </a:p>
          <a:p>
            <a:pPr marL="50799" indent="0">
              <a:buNone/>
            </a:pPr>
            <a:r>
              <a:rPr lang="en-IN" dirty="0"/>
              <a:t> </a:t>
            </a:r>
            <a:r>
              <a:rPr lang="en-IN" dirty="0" smtClean="0"/>
              <a:t>              -- Dandelion</a:t>
            </a:r>
          </a:p>
          <a:p>
            <a:pPr marL="50799" indent="0">
              <a:buNone/>
            </a:pPr>
            <a:endParaRPr lang="en-IN" dirty="0"/>
          </a:p>
          <a:p>
            <a:pPr marL="50799" indent="0">
              <a:buNone/>
            </a:pPr>
            <a:r>
              <a:rPr lang="en-IN" dirty="0" smtClean="0"/>
              <a:t> </a:t>
            </a:r>
            <a:r>
              <a:rPr lang="en-IN" dirty="0">
                <a:hlinkClick r:id="rId2"/>
              </a:rPr>
              <a:t>https://</a:t>
            </a:r>
            <a:r>
              <a:rPr lang="en-IN" dirty="0" smtClean="0">
                <a:hlinkClick r:id="rId2"/>
              </a:rPr>
              <a:t>bitcointalk.org/index.php?topic=321228</a:t>
            </a:r>
            <a:r>
              <a:rPr lang="en-IN" dirty="0" smtClean="0"/>
              <a:t>   about </a:t>
            </a:r>
            <a:r>
              <a:rPr lang="en-IN" dirty="0" err="1" smtClean="0"/>
              <a:t>CoinSwap</a:t>
            </a:r>
            <a:endParaRPr lang="en-IN" dirty="0" smtClean="0"/>
          </a:p>
          <a:p>
            <a:pPr marL="50799" indent="0">
              <a:buNone/>
            </a:pPr>
            <a:r>
              <a:rPr lang="en-IN" dirty="0">
                <a:hlinkClick r:id="rId3" action="ppaction://hlinkfile"/>
              </a:rPr>
              <a:t> </a:t>
            </a:r>
            <a:r>
              <a:rPr lang="en-IN" dirty="0">
                <a:hlinkClick r:id="rId4"/>
              </a:rPr>
              <a:t>https://</a:t>
            </a:r>
            <a:r>
              <a:rPr lang="en-IN" dirty="0" smtClean="0">
                <a:hlinkClick r:id="rId4"/>
              </a:rPr>
              <a:t>eprint.iacr.org/2016/575.pdf</a:t>
            </a:r>
            <a:r>
              <a:rPr lang="en-IN" dirty="0" smtClean="0"/>
              <a:t>  about </a:t>
            </a:r>
            <a:r>
              <a:rPr lang="en-IN" dirty="0" err="1"/>
              <a:t>TumbleBit</a:t>
            </a:r>
            <a:endParaRPr lang="en-IN" dirty="0"/>
          </a:p>
          <a:p>
            <a:pPr marL="50799" indent="0">
              <a:buNone/>
            </a:pPr>
            <a:endParaRPr lang="en-IN" dirty="0"/>
          </a:p>
        </p:txBody>
      </p:sp>
    </p:spTree>
    <p:extLst>
      <p:ext uri="{BB962C8B-B14F-4D97-AF65-F5344CB8AC3E}">
        <p14:creationId xmlns:p14="http://schemas.microsoft.com/office/powerpoint/2010/main" val="41636475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6" end="6"/>
                                            </p:txEl>
                                          </p:spTgt>
                                        </p:tgtEl>
                                        <p:attrNameLst>
                                          <p:attrName>style.visibility</p:attrName>
                                        </p:attrNameLst>
                                      </p:cBhvr>
                                      <p:to>
                                        <p:strVal val="visible"/>
                                      </p:to>
                                    </p:set>
                                    <p:anim calcmode="lin" valueType="num">
                                      <p:cBhvr additive="base">
                                        <p:cTn id="7"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7" end="7"/>
                                            </p:txEl>
                                          </p:spTgt>
                                        </p:tgtEl>
                                        <p:attrNameLst>
                                          <p:attrName>style.visibility</p:attrName>
                                        </p:attrNameLst>
                                      </p:cBhvr>
                                      <p:to>
                                        <p:strVal val="visible"/>
                                      </p:to>
                                    </p:set>
                                    <p:anim calcmode="lin" valueType="num">
                                      <p:cBhvr additive="base">
                                        <p:cTn id="13"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0" indent="0">
              <a:buNone/>
            </a:pPr>
            <a:r>
              <a:rPr lang="en-IN" b="1" dirty="0"/>
              <a:t>Conclusion:</a:t>
            </a:r>
          </a:p>
          <a:p>
            <a:pPr algn="just"/>
            <a:r>
              <a:rPr lang="en-IN" dirty="0" err="1"/>
              <a:t>Bitcoin</a:t>
            </a:r>
            <a:r>
              <a:rPr lang="en-IN" dirty="0"/>
              <a:t> mixing services provide anonymity by breaking the direct link between a user and their </a:t>
            </a:r>
            <a:r>
              <a:rPr lang="en-IN" dirty="0" err="1"/>
              <a:t>Bitcoin's</a:t>
            </a:r>
            <a:r>
              <a:rPr lang="en-IN" dirty="0"/>
              <a:t> transaction history. </a:t>
            </a:r>
            <a:endParaRPr lang="en-IN" dirty="0" smtClean="0"/>
          </a:p>
          <a:p>
            <a:pPr algn="just"/>
            <a:r>
              <a:rPr lang="en-IN" dirty="0" smtClean="0"/>
              <a:t>While </a:t>
            </a:r>
            <a:r>
              <a:rPr lang="en-IN" dirty="0"/>
              <a:t>effective for privacy, the use of such services is often scrutinized by law enforcement, as they can be misused for illegal activities like money laundering.</a:t>
            </a:r>
          </a:p>
          <a:p>
            <a:pPr marL="0" indent="0" algn="just">
              <a:buNone/>
            </a:pPr>
            <a:endParaRPr lang="en-IN" dirty="0"/>
          </a:p>
        </p:txBody>
      </p:sp>
    </p:spTree>
    <p:extLst>
      <p:ext uri="{BB962C8B-B14F-4D97-AF65-F5344CB8AC3E}">
        <p14:creationId xmlns:p14="http://schemas.microsoft.com/office/powerpoint/2010/main" val="2088478184"/>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t>Zero coin and Zero cash</a:t>
            </a:r>
          </a:p>
        </p:txBody>
      </p:sp>
      <p:sp>
        <p:nvSpPr>
          <p:cNvPr id="3" name="Text Placeholder 2"/>
          <p:cNvSpPr>
            <a:spLocks noGrp="1"/>
          </p:cNvSpPr>
          <p:nvPr>
            <p:ph type="body" idx="1"/>
          </p:nvPr>
        </p:nvSpPr>
        <p:spPr/>
        <p:txBody>
          <a:bodyPr/>
          <a:lstStyle/>
          <a:p>
            <a:r>
              <a:rPr lang="en-IN" b="1" dirty="0" err="1"/>
              <a:t>ZeroCoin</a:t>
            </a:r>
            <a:r>
              <a:rPr lang="en-IN" dirty="0"/>
              <a:t> was initially proposed as a </a:t>
            </a:r>
            <a:r>
              <a:rPr lang="en-IN" b="1" dirty="0"/>
              <a:t>privacy extension</a:t>
            </a:r>
            <a:r>
              <a:rPr lang="en-IN" dirty="0"/>
              <a:t> to </a:t>
            </a:r>
            <a:r>
              <a:rPr lang="en-IN" dirty="0" err="1"/>
              <a:t>Bitcoin</a:t>
            </a:r>
            <a:r>
              <a:rPr lang="en-IN" dirty="0"/>
              <a:t>. It aimed to add anonymity to </a:t>
            </a:r>
            <a:r>
              <a:rPr lang="en-IN" dirty="0" err="1"/>
              <a:t>Bitcoin</a:t>
            </a:r>
            <a:r>
              <a:rPr lang="en-IN" dirty="0"/>
              <a:t> transactions</a:t>
            </a:r>
            <a:r>
              <a:rPr lang="en-IN" dirty="0" smtClean="0"/>
              <a:t>.</a:t>
            </a:r>
          </a:p>
          <a:p>
            <a:pPr lvl="0"/>
            <a:r>
              <a:rPr lang="en-IN" dirty="0"/>
              <a:t>The concept of </a:t>
            </a:r>
            <a:r>
              <a:rPr lang="en-IN" dirty="0" err="1"/>
              <a:t>ZeroCoin</a:t>
            </a:r>
            <a:r>
              <a:rPr lang="en-IN" dirty="0"/>
              <a:t> eventually evolved into </a:t>
            </a:r>
            <a:r>
              <a:rPr lang="en-IN" b="1" dirty="0" err="1"/>
              <a:t>Zcoin</a:t>
            </a:r>
            <a:r>
              <a:rPr lang="en-IN" dirty="0"/>
              <a:t>, which is now known as </a:t>
            </a:r>
            <a:r>
              <a:rPr lang="en-IN" b="1" dirty="0" err="1"/>
              <a:t>Firo</a:t>
            </a:r>
            <a:r>
              <a:rPr lang="en-IN" dirty="0"/>
              <a:t> (a privacy-focused </a:t>
            </a:r>
            <a:r>
              <a:rPr lang="en-IN" dirty="0" err="1"/>
              <a:t>cryptocurrency</a:t>
            </a:r>
            <a:r>
              <a:rPr lang="en-IN" dirty="0" smtClean="0"/>
              <a:t>).</a:t>
            </a:r>
          </a:p>
          <a:p>
            <a:pPr lvl="0"/>
            <a:r>
              <a:rPr lang="en-IN" b="1" dirty="0" err="1"/>
              <a:t>ZeroCash</a:t>
            </a:r>
            <a:r>
              <a:rPr lang="en-IN" dirty="0"/>
              <a:t> was developed as an evolution of </a:t>
            </a:r>
            <a:r>
              <a:rPr lang="en-IN" dirty="0" err="1"/>
              <a:t>ZeroCoin</a:t>
            </a:r>
            <a:r>
              <a:rPr lang="en-IN" dirty="0"/>
              <a:t>, offering more efficient and secure privacy</a:t>
            </a:r>
            <a:r>
              <a:rPr lang="en-IN" dirty="0" smtClean="0"/>
              <a:t>.</a:t>
            </a:r>
          </a:p>
          <a:p>
            <a:pPr lvl="0"/>
            <a:r>
              <a:rPr lang="en-IN" dirty="0"/>
              <a:t>It formed the basis of the </a:t>
            </a:r>
            <a:r>
              <a:rPr lang="en-IN" dirty="0" err="1"/>
              <a:t>cryptocurrency</a:t>
            </a:r>
            <a:r>
              <a:rPr lang="en-IN" dirty="0"/>
              <a:t> </a:t>
            </a:r>
            <a:r>
              <a:rPr lang="en-IN" dirty="0" err="1"/>
              <a:t>Zcash</a:t>
            </a:r>
            <a:r>
              <a:rPr lang="en-IN" dirty="0"/>
              <a:t>, which is a well-known privacy-centric </a:t>
            </a:r>
            <a:r>
              <a:rPr lang="en-IN" dirty="0" err="1"/>
              <a:t>cryptocurrency</a:t>
            </a:r>
            <a:r>
              <a:rPr lang="en-IN" dirty="0" smtClean="0"/>
              <a:t>.</a:t>
            </a:r>
          </a:p>
          <a:p>
            <a:pPr lvl="0"/>
            <a:r>
              <a:rPr lang="en-IN" dirty="0"/>
              <a:t>With </a:t>
            </a:r>
            <a:r>
              <a:rPr lang="en-IN" dirty="0" err="1"/>
              <a:t>Zcash</a:t>
            </a:r>
            <a:r>
              <a:rPr lang="en-IN" dirty="0"/>
              <a:t>, users can choose between transparent and shielded transactions, providing flexibility in how much privacy they want.</a:t>
            </a:r>
          </a:p>
          <a:p>
            <a:pPr marL="50799" indent="0">
              <a:buNone/>
            </a:pPr>
            <a:endParaRPr lang="en-IN" dirty="0"/>
          </a:p>
        </p:txBody>
      </p:sp>
    </p:spTree>
    <p:extLst>
      <p:ext uri="{BB962C8B-B14F-4D97-AF65-F5344CB8AC3E}">
        <p14:creationId xmlns:p14="http://schemas.microsoft.com/office/powerpoint/2010/main" val="1461110510"/>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r>
              <a:rPr lang="en-US" b="1" dirty="0"/>
              <a:t>Zero-knowledge </a:t>
            </a:r>
            <a:r>
              <a:rPr lang="en-US" b="1" dirty="0" smtClean="0"/>
              <a:t>proofs</a:t>
            </a:r>
          </a:p>
          <a:p>
            <a:pPr marL="50799" indent="0">
              <a:buNone/>
            </a:pPr>
            <a:r>
              <a:rPr lang="en-US" dirty="0" smtClean="0"/>
              <a:t>             introduced </a:t>
            </a:r>
            <a:r>
              <a:rPr lang="en-US" dirty="0"/>
              <a:t>by </a:t>
            </a:r>
            <a:r>
              <a:rPr lang="en-US" dirty="0" err="1"/>
              <a:t>Goldwasser</a:t>
            </a:r>
            <a:r>
              <a:rPr lang="en-US" dirty="0"/>
              <a:t>, </a:t>
            </a:r>
            <a:r>
              <a:rPr lang="en-US" dirty="0" err="1"/>
              <a:t>Micali</a:t>
            </a:r>
            <a:r>
              <a:rPr lang="en-US" dirty="0"/>
              <a:t>, and </a:t>
            </a:r>
            <a:r>
              <a:rPr lang="en-US" dirty="0" err="1"/>
              <a:t>Rackoff</a:t>
            </a:r>
            <a:r>
              <a:rPr lang="en-US" dirty="0"/>
              <a:t> in </a:t>
            </a:r>
            <a:r>
              <a:rPr lang="en-US" dirty="0" smtClean="0"/>
              <a:t>1985</a:t>
            </a:r>
          </a:p>
          <a:p>
            <a:pPr marL="50799" indent="0">
              <a:buNone/>
            </a:pPr>
            <a:r>
              <a:rPr lang="en-US" dirty="0"/>
              <a:t> </a:t>
            </a:r>
            <a:r>
              <a:rPr lang="en-US" dirty="0" smtClean="0"/>
              <a:t>         Three </a:t>
            </a:r>
            <a:r>
              <a:rPr lang="en-US" dirty="0"/>
              <a:t>properties of ZKPs that are required:</a:t>
            </a:r>
            <a:endParaRPr lang="en-US" dirty="0" smtClean="0"/>
          </a:p>
          <a:p>
            <a:pPr marL="50799" indent="0">
              <a:buNone/>
            </a:pPr>
            <a:endParaRPr lang="en-IN" b="1" dirty="0"/>
          </a:p>
          <a:p>
            <a:pPr marL="50799" indent="0">
              <a:buNone/>
            </a:pPr>
            <a:r>
              <a:rPr lang="en-US" b="1" dirty="0" smtClean="0"/>
              <a:t>            -- </a:t>
            </a:r>
            <a:r>
              <a:rPr lang="en-US" dirty="0" smtClean="0"/>
              <a:t>Completeness </a:t>
            </a:r>
          </a:p>
          <a:p>
            <a:pPr marL="50799" indent="0">
              <a:buNone/>
            </a:pPr>
            <a:r>
              <a:rPr lang="en-US" dirty="0"/>
              <a:t> </a:t>
            </a:r>
            <a:r>
              <a:rPr lang="en-US" dirty="0" smtClean="0"/>
              <a:t>           -- soundness.</a:t>
            </a:r>
            <a:endParaRPr lang="en-IN" dirty="0"/>
          </a:p>
          <a:p>
            <a:pPr marL="50799" indent="0">
              <a:buNone/>
            </a:pPr>
            <a:r>
              <a:rPr lang="en-US" dirty="0" smtClean="0"/>
              <a:t>            -- zero-knowledge </a:t>
            </a:r>
            <a:r>
              <a:rPr lang="en-US" dirty="0"/>
              <a:t>property</a:t>
            </a:r>
            <a:endParaRPr lang="en-IN" dirty="0"/>
          </a:p>
        </p:txBody>
      </p:sp>
    </p:spTree>
    <p:extLst>
      <p:ext uri="{BB962C8B-B14F-4D97-AF65-F5344CB8AC3E}">
        <p14:creationId xmlns:p14="http://schemas.microsoft.com/office/powerpoint/2010/main" val="2272787093"/>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838200" y="762000"/>
            <a:ext cx="5410200" cy="4191000"/>
          </a:xfrm>
          <a:prstGeom prst="rect">
            <a:avLst/>
          </a:prstGeom>
        </p:spPr>
      </p:pic>
      <p:sp>
        <p:nvSpPr>
          <p:cNvPr id="3" name="Text Placeholder 2"/>
          <p:cNvSpPr>
            <a:spLocks noGrp="1"/>
          </p:cNvSpPr>
          <p:nvPr>
            <p:ph type="body" idx="1"/>
          </p:nvPr>
        </p:nvSpPr>
        <p:spPr>
          <a:xfrm>
            <a:off x="6705600" y="609600"/>
            <a:ext cx="4876800" cy="3102917"/>
          </a:xfrm>
        </p:spPr>
        <p:txBody>
          <a:bodyPr/>
          <a:lstStyle/>
          <a:p>
            <a:pPr marL="50799" indent="0" algn="just">
              <a:buNone/>
            </a:pPr>
            <a:r>
              <a:rPr lang="en-IN" sz="2000" dirty="0" smtClean="0"/>
              <a:t>The steps </a:t>
            </a:r>
            <a:r>
              <a:rPr lang="en-IN" sz="2000" dirty="0"/>
              <a:t>that are taken by both Peggy and Victor to reach a conclusion regarding whether Peggy knows the secret or not:</a:t>
            </a:r>
          </a:p>
          <a:p>
            <a:pPr marL="50799" indent="0" algn="just">
              <a:buNone/>
            </a:pPr>
            <a:r>
              <a:rPr lang="en-IN" sz="2000" dirty="0" smtClean="0"/>
              <a:t>1.First</a:t>
            </a:r>
            <a:r>
              <a:rPr lang="en-IN" sz="2000" dirty="0"/>
              <a:t>, Victor waits outside the main cave entrance and Peggy goes in the cave.</a:t>
            </a:r>
          </a:p>
          <a:p>
            <a:pPr marL="50799" indent="0" algn="just">
              <a:buNone/>
            </a:pPr>
            <a:r>
              <a:rPr lang="en-IN" sz="2000" dirty="0" smtClean="0"/>
              <a:t>2.Peggy </a:t>
            </a:r>
            <a:r>
              <a:rPr lang="en-IN" sz="2000" dirty="0"/>
              <a:t>randomly chooses either the A or B entrance to the cave.</a:t>
            </a:r>
          </a:p>
          <a:p>
            <a:pPr marL="50799" indent="0" algn="just">
              <a:buNone/>
            </a:pPr>
            <a:r>
              <a:rPr lang="en-IN" sz="2000" dirty="0" smtClean="0"/>
              <a:t>3.Now</a:t>
            </a:r>
            <a:r>
              <a:rPr lang="en-IN" sz="2000" dirty="0"/>
              <a:t>, Victor enters the cave and shouts either A or B randomly, asking Peggy to come out of the exit he named.</a:t>
            </a:r>
          </a:p>
          <a:p>
            <a:pPr marL="50799" indent="0" algn="just">
              <a:buNone/>
            </a:pPr>
            <a:r>
              <a:rPr lang="en-IN" sz="2000" dirty="0" smtClean="0"/>
              <a:t>4.Victor </a:t>
            </a:r>
            <a:r>
              <a:rPr lang="en-IN" sz="2000" dirty="0"/>
              <a:t>records which exit Peggy comes out from</a:t>
            </a:r>
            <a:r>
              <a:rPr lang="en-IN" dirty="0"/>
              <a:t>.</a:t>
            </a:r>
          </a:p>
          <a:p>
            <a:pPr marL="50799" indent="0">
              <a:buNone/>
            </a:pPr>
            <a:r>
              <a:rPr lang="en-IN" dirty="0"/>
              <a:t> </a:t>
            </a:r>
          </a:p>
          <a:p>
            <a:pPr marL="50799" indent="0">
              <a:buNone/>
            </a:pPr>
            <a:endParaRPr lang="en-IN" dirty="0"/>
          </a:p>
        </p:txBody>
      </p:sp>
      <p:sp>
        <p:nvSpPr>
          <p:cNvPr id="5" name="Rectangle 4"/>
          <p:cNvSpPr/>
          <p:nvPr/>
        </p:nvSpPr>
        <p:spPr>
          <a:xfrm>
            <a:off x="1600200" y="5257800"/>
            <a:ext cx="4772460" cy="369332"/>
          </a:xfrm>
          <a:prstGeom prst="rect">
            <a:avLst/>
          </a:prstGeom>
        </p:spPr>
        <p:txBody>
          <a:bodyPr wrap="none">
            <a:spAutoFit/>
          </a:bodyPr>
          <a:lstStyle/>
          <a:p>
            <a:r>
              <a:rPr lang="en-US" b="1" dirty="0">
                <a:latin typeface="Palatino Linotype" panose="02040502050505030304" pitchFamily="18" charset="0"/>
                <a:ea typeface="Palatino Linotype" panose="02040502050505030304" pitchFamily="18" charset="0"/>
                <a:cs typeface="Palatino Linotype" panose="02040502050505030304" pitchFamily="18" charset="0"/>
              </a:rPr>
              <a:t>Analogy</a:t>
            </a:r>
            <a:r>
              <a:rPr lang="en-US" b="1" spc="-5" dirty="0">
                <a:latin typeface="Palatino Linotype" panose="02040502050505030304" pitchFamily="18" charset="0"/>
                <a:ea typeface="Palatino Linotype" panose="02040502050505030304" pitchFamily="18" charset="0"/>
                <a:cs typeface="Palatino Linotype" panose="02040502050505030304" pitchFamily="18" charset="0"/>
              </a:rPr>
              <a:t> </a:t>
            </a:r>
            <a:r>
              <a:rPr lang="en-US" b="1" dirty="0">
                <a:latin typeface="Palatino Linotype" panose="02040502050505030304" pitchFamily="18" charset="0"/>
                <a:ea typeface="Palatino Linotype" panose="02040502050505030304" pitchFamily="18" charset="0"/>
                <a:cs typeface="Palatino Linotype" panose="02040502050505030304" pitchFamily="18" charset="0"/>
              </a:rPr>
              <a:t>of</a:t>
            </a:r>
            <a:r>
              <a:rPr lang="en-US" b="1" spc="-5" dirty="0">
                <a:latin typeface="Palatino Linotype" panose="02040502050505030304" pitchFamily="18" charset="0"/>
                <a:ea typeface="Palatino Linotype" panose="02040502050505030304" pitchFamily="18" charset="0"/>
                <a:cs typeface="Palatino Linotype" panose="02040502050505030304" pitchFamily="18" charset="0"/>
              </a:rPr>
              <a:t> </a:t>
            </a:r>
            <a:r>
              <a:rPr lang="en-US" b="1" dirty="0">
                <a:latin typeface="Palatino Linotype" panose="02040502050505030304" pitchFamily="18" charset="0"/>
                <a:ea typeface="Palatino Linotype" panose="02040502050505030304" pitchFamily="18" charset="0"/>
                <a:cs typeface="Palatino Linotype" panose="02040502050505030304" pitchFamily="18" charset="0"/>
              </a:rPr>
              <a:t>the</a:t>
            </a:r>
            <a:r>
              <a:rPr lang="en-US" b="1" spc="-10" dirty="0">
                <a:latin typeface="Palatino Linotype" panose="02040502050505030304" pitchFamily="18" charset="0"/>
                <a:ea typeface="Palatino Linotype" panose="02040502050505030304" pitchFamily="18" charset="0"/>
                <a:cs typeface="Palatino Linotype" panose="02040502050505030304" pitchFamily="18" charset="0"/>
              </a:rPr>
              <a:t> </a:t>
            </a:r>
            <a:r>
              <a:rPr lang="en-US" b="1" dirty="0">
                <a:latin typeface="Palatino Linotype" panose="02040502050505030304" pitchFamily="18" charset="0"/>
                <a:ea typeface="Palatino Linotype" panose="02040502050505030304" pitchFamily="18" charset="0"/>
                <a:cs typeface="Palatino Linotype" panose="02040502050505030304" pitchFamily="18" charset="0"/>
              </a:rPr>
              <a:t>zero-knowledge</a:t>
            </a:r>
            <a:r>
              <a:rPr lang="en-US" b="1" spc="-5" dirty="0">
                <a:latin typeface="Palatino Linotype" panose="02040502050505030304" pitchFamily="18" charset="0"/>
                <a:ea typeface="Palatino Linotype" panose="02040502050505030304" pitchFamily="18" charset="0"/>
                <a:cs typeface="Palatino Linotype" panose="02040502050505030304" pitchFamily="18" charset="0"/>
              </a:rPr>
              <a:t> </a:t>
            </a:r>
            <a:r>
              <a:rPr lang="en-US" b="1" dirty="0">
                <a:latin typeface="Palatino Linotype" panose="02040502050505030304" pitchFamily="18" charset="0"/>
                <a:ea typeface="Palatino Linotype" panose="02040502050505030304" pitchFamily="18" charset="0"/>
                <a:cs typeface="Palatino Linotype" panose="02040502050505030304" pitchFamily="18" charset="0"/>
              </a:rPr>
              <a:t>mechanism</a:t>
            </a:r>
            <a:endParaRPr lang="en-IN" b="1" dirty="0"/>
          </a:p>
        </p:txBody>
      </p:sp>
    </p:spTree>
    <p:extLst>
      <p:ext uri="{BB962C8B-B14F-4D97-AF65-F5344CB8AC3E}">
        <p14:creationId xmlns:p14="http://schemas.microsoft.com/office/powerpoint/2010/main" val="11174448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algn="just"/>
            <a:r>
              <a:rPr lang="en-IN" dirty="0" smtClean="0"/>
              <a:t>Peggy and Victor repeatedly performing this routine proves knowledge of the secret with high probability.as probability of guessing or getting lucky reduces to the point of being negligible after n number of rounds. </a:t>
            </a:r>
            <a:endParaRPr lang="en-IN" dirty="0"/>
          </a:p>
        </p:txBody>
      </p:sp>
    </p:spTree>
    <p:extLst>
      <p:ext uri="{BB962C8B-B14F-4D97-AF65-F5344CB8AC3E}">
        <p14:creationId xmlns:p14="http://schemas.microsoft.com/office/powerpoint/2010/main" val="1684685466"/>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0" y="457200"/>
            <a:ext cx="5715000" cy="5181599"/>
          </a:xfrm>
        </p:spPr>
        <p:txBody>
          <a:bodyPr/>
          <a:lstStyle/>
          <a:p>
            <a:pPr marL="50799" indent="0" algn="just">
              <a:buNone/>
            </a:pPr>
            <a:r>
              <a:rPr lang="en-IN" sz="2400" dirty="0"/>
              <a:t>A ZKP comprises the following phases:</a:t>
            </a:r>
          </a:p>
          <a:p>
            <a:pPr marL="50799" indent="0" algn="just">
              <a:buNone/>
            </a:pPr>
            <a:r>
              <a:rPr lang="en-IN" sz="2400" dirty="0" smtClean="0"/>
              <a:t>1.Witness </a:t>
            </a:r>
            <a:r>
              <a:rPr lang="en-IN" sz="2400" dirty="0"/>
              <a:t>phase: In this phase, the </a:t>
            </a:r>
            <a:r>
              <a:rPr lang="en-IN" sz="2400" dirty="0" err="1"/>
              <a:t>prover</a:t>
            </a:r>
            <a:r>
              <a:rPr lang="en-IN" sz="2400" dirty="0"/>
              <a:t> sends proof of the statement and sends it to </a:t>
            </a:r>
            <a:r>
              <a:rPr lang="en-IN" sz="2400" dirty="0" smtClean="0"/>
              <a:t>the verifier</a:t>
            </a:r>
            <a:r>
              <a:rPr lang="en-IN" sz="2400" dirty="0"/>
              <a:t>.</a:t>
            </a:r>
          </a:p>
          <a:p>
            <a:pPr marL="50799" indent="0" algn="just">
              <a:buNone/>
            </a:pPr>
            <a:r>
              <a:rPr lang="en-IN" sz="2400" dirty="0" smtClean="0"/>
              <a:t>2.Challenge </a:t>
            </a:r>
            <a:r>
              <a:rPr lang="en-IN" sz="2400" dirty="0"/>
              <a:t>phase: In this phase, the verifier chooses a question (challenge) and sends </a:t>
            </a:r>
            <a:r>
              <a:rPr lang="en-IN" sz="2400" dirty="0" smtClean="0"/>
              <a:t>it to </a:t>
            </a:r>
            <a:r>
              <a:rPr lang="en-IN" sz="2400" dirty="0"/>
              <a:t>the </a:t>
            </a:r>
            <a:r>
              <a:rPr lang="en-IN" sz="2400" dirty="0" err="1"/>
              <a:t>prover</a:t>
            </a:r>
            <a:r>
              <a:rPr lang="en-IN" sz="2400" dirty="0"/>
              <a:t>.</a:t>
            </a:r>
          </a:p>
          <a:p>
            <a:pPr marL="50799" indent="0" algn="just">
              <a:buNone/>
            </a:pPr>
            <a:r>
              <a:rPr lang="en-IN" sz="2400" dirty="0" smtClean="0"/>
              <a:t>3.Response </a:t>
            </a:r>
            <a:r>
              <a:rPr lang="en-IN" sz="2400" dirty="0"/>
              <a:t>phase: In this phase, the </a:t>
            </a:r>
            <a:r>
              <a:rPr lang="en-IN" sz="2400" dirty="0" err="1"/>
              <a:t>prover</a:t>
            </a:r>
            <a:r>
              <a:rPr lang="en-IN" sz="2400" dirty="0"/>
              <a:t> generates an answer and sends it as a response to the verifier. The verifier then checks the answer to ascertain whether the </a:t>
            </a:r>
            <a:r>
              <a:rPr lang="en-IN" sz="2400" dirty="0" err="1"/>
              <a:t>prover</a:t>
            </a:r>
            <a:r>
              <a:rPr lang="en-IN" sz="2400" dirty="0"/>
              <a:t> really knows the statement.</a:t>
            </a:r>
          </a:p>
          <a:p>
            <a:pPr marL="50799" indent="0">
              <a:buNone/>
            </a:pPr>
            <a:endParaRPr lang="en-IN" dirty="0"/>
          </a:p>
        </p:txBody>
      </p:sp>
      <p:pic>
        <p:nvPicPr>
          <p:cNvPr id="4" name="Picture 3"/>
          <p:cNvPicPr>
            <a:picLocks noChangeAspect="1"/>
          </p:cNvPicPr>
          <p:nvPr/>
        </p:nvPicPr>
        <p:blipFill>
          <a:blip r:embed="rId2"/>
          <a:stretch>
            <a:fillRect/>
          </a:stretch>
        </p:blipFill>
        <p:spPr>
          <a:xfrm>
            <a:off x="377232" y="1371600"/>
            <a:ext cx="5714286" cy="4267200"/>
          </a:xfrm>
          <a:prstGeom prst="rect">
            <a:avLst/>
          </a:prstGeom>
        </p:spPr>
      </p:pic>
      <p:sp>
        <p:nvSpPr>
          <p:cNvPr id="5" name="Rectangle 4"/>
          <p:cNvSpPr/>
          <p:nvPr/>
        </p:nvSpPr>
        <p:spPr>
          <a:xfrm>
            <a:off x="1524000" y="5715000"/>
            <a:ext cx="3255956" cy="369332"/>
          </a:xfrm>
          <a:prstGeom prst="rect">
            <a:avLst/>
          </a:prstGeom>
        </p:spPr>
        <p:txBody>
          <a:bodyPr wrap="none">
            <a:spAutoFit/>
          </a:bodyPr>
          <a:lstStyle/>
          <a:p>
            <a:r>
              <a:rPr lang="en-IN" b="1" dirty="0"/>
              <a:t>A zero-knowledge proof scheme</a:t>
            </a:r>
          </a:p>
        </p:txBody>
      </p:sp>
    </p:spTree>
    <p:extLst>
      <p:ext uri="{BB962C8B-B14F-4D97-AF65-F5344CB8AC3E}">
        <p14:creationId xmlns:p14="http://schemas.microsoft.com/office/powerpoint/2010/main" val="972876664"/>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381001"/>
            <a:ext cx="10972800" cy="6186776"/>
          </a:xfrm>
        </p:spPr>
        <p:txBody>
          <a:bodyPr/>
          <a:lstStyle/>
          <a:p>
            <a:r>
              <a:rPr lang="en-US" dirty="0"/>
              <a:t>Applications of ZKP </a:t>
            </a:r>
            <a:r>
              <a:rPr lang="en-US" dirty="0" smtClean="0"/>
              <a:t>:</a:t>
            </a:r>
          </a:p>
          <a:p>
            <a:pPr marL="50799" indent="0">
              <a:buNone/>
            </a:pPr>
            <a:r>
              <a:rPr lang="en-US" dirty="0"/>
              <a:t> </a:t>
            </a:r>
            <a:r>
              <a:rPr lang="en-US" dirty="0" smtClean="0"/>
              <a:t>          --</a:t>
            </a:r>
            <a:r>
              <a:rPr lang="en-US" dirty="0"/>
              <a:t>proof of </a:t>
            </a:r>
            <a:r>
              <a:rPr lang="en-US" dirty="0" smtClean="0"/>
              <a:t>ownership</a:t>
            </a:r>
          </a:p>
          <a:p>
            <a:pPr marL="50799" indent="0">
              <a:buNone/>
            </a:pPr>
            <a:r>
              <a:rPr lang="en-US" dirty="0"/>
              <a:t> </a:t>
            </a:r>
            <a:r>
              <a:rPr lang="en-US" dirty="0" smtClean="0"/>
              <a:t>                       </a:t>
            </a:r>
            <a:r>
              <a:rPr lang="en-US" sz="2000" b="1" dirty="0"/>
              <a:t>that is, proof that the </a:t>
            </a:r>
            <a:r>
              <a:rPr lang="en-US" sz="2000" b="1" dirty="0" err="1"/>
              <a:t>prover</a:t>
            </a:r>
            <a:r>
              <a:rPr lang="en-US" sz="2000" b="1" dirty="0"/>
              <a:t> is the owner of some secret or a private key without revealing the nature of it</a:t>
            </a:r>
            <a:endParaRPr lang="en-US" sz="2000" b="1" dirty="0" smtClean="0"/>
          </a:p>
          <a:p>
            <a:pPr marL="50799" indent="0">
              <a:buNone/>
            </a:pPr>
            <a:r>
              <a:rPr lang="en-US" dirty="0"/>
              <a:t> </a:t>
            </a:r>
            <a:r>
              <a:rPr lang="en-US" dirty="0" smtClean="0"/>
              <a:t>          --proof </a:t>
            </a:r>
            <a:r>
              <a:rPr lang="en-US" dirty="0"/>
              <a:t>of </a:t>
            </a:r>
            <a:r>
              <a:rPr lang="en-US" dirty="0" smtClean="0"/>
              <a:t>age</a:t>
            </a:r>
          </a:p>
          <a:p>
            <a:pPr marL="50799" indent="0">
              <a:buNone/>
            </a:pPr>
            <a:r>
              <a:rPr lang="en-US" dirty="0" smtClean="0"/>
              <a:t>                     </a:t>
            </a:r>
            <a:r>
              <a:rPr lang="en-US" sz="2000" b="1" dirty="0"/>
              <a:t>where the </a:t>
            </a:r>
            <a:r>
              <a:rPr lang="en-US" sz="2000" b="1" dirty="0" err="1"/>
              <a:t>prover</a:t>
            </a:r>
            <a:r>
              <a:rPr lang="en-US" sz="2000" b="1" dirty="0"/>
              <a:t> proves that they are, for example, older than 25 years, but do not want to reveal their exact age</a:t>
            </a:r>
            <a:endParaRPr lang="en-US" sz="2000" b="1" dirty="0" smtClean="0"/>
          </a:p>
          <a:p>
            <a:pPr marL="50799" indent="0">
              <a:buNone/>
            </a:pPr>
            <a:r>
              <a:rPr lang="en-US" dirty="0" smtClean="0"/>
              <a:t>          --</a:t>
            </a:r>
            <a:r>
              <a:rPr lang="en-US" dirty="0"/>
              <a:t>Another application could be where citizens can pay taxes </a:t>
            </a:r>
            <a:r>
              <a:rPr lang="en-US" dirty="0" smtClean="0"/>
              <a:t>without   	               revealing </a:t>
            </a:r>
            <a:r>
              <a:rPr lang="en-US" dirty="0"/>
              <a:t>their income</a:t>
            </a:r>
            <a:r>
              <a:rPr lang="en-US" dirty="0" smtClean="0"/>
              <a:t>.</a:t>
            </a:r>
          </a:p>
          <a:p>
            <a:r>
              <a:rPr lang="en-US" b="1" dirty="0" err="1"/>
              <a:t>zk</a:t>
            </a:r>
            <a:r>
              <a:rPr lang="en-US" b="1" dirty="0"/>
              <a:t>-SNARKs</a:t>
            </a:r>
            <a:endParaRPr lang="en-IN" b="1" dirty="0"/>
          </a:p>
          <a:p>
            <a:pPr marL="50799" indent="0">
              <a:buNone/>
            </a:pPr>
            <a:r>
              <a:rPr lang="en-US" dirty="0" smtClean="0"/>
              <a:t>       The </a:t>
            </a:r>
            <a:r>
              <a:rPr lang="en-US" b="1" dirty="0" err="1"/>
              <a:t>zk</a:t>
            </a:r>
            <a:r>
              <a:rPr lang="en-US" b="1" dirty="0"/>
              <a:t>-SNARK </a:t>
            </a:r>
            <a:r>
              <a:rPr lang="en-US" dirty="0"/>
              <a:t>is a variant of ZKPs that is more efficient and simpler to use and implement.</a:t>
            </a:r>
            <a:endParaRPr lang="en-IN" dirty="0"/>
          </a:p>
          <a:p>
            <a:pPr marL="50799" indent="0">
              <a:buNone/>
            </a:pPr>
            <a:endParaRPr lang="en-IN" dirty="0"/>
          </a:p>
          <a:p>
            <a:pPr marL="50799" indent="0">
              <a:buNone/>
            </a:pPr>
            <a:endParaRPr lang="en-IN" dirty="0"/>
          </a:p>
        </p:txBody>
      </p:sp>
    </p:spTree>
    <p:extLst>
      <p:ext uri="{BB962C8B-B14F-4D97-AF65-F5344CB8AC3E}">
        <p14:creationId xmlns:p14="http://schemas.microsoft.com/office/powerpoint/2010/main" val="13713453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3" end="3"/>
                                            </p:txEl>
                                          </p:spTgt>
                                        </p:tgtEl>
                                        <p:attrNameLst>
                                          <p:attrName>style.visibility</p:attrName>
                                        </p:attrNameLst>
                                      </p:cBhvr>
                                      <p:to>
                                        <p:strVal val="visible"/>
                                      </p:to>
                                    </p:set>
                                    <p:anim calcmode="lin" valueType="num">
                                      <p:cBhvr additive="base">
                                        <p:cTn id="13"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3">
                                            <p:txEl>
                                              <p:pRg st="5" end="5"/>
                                            </p:txEl>
                                          </p:spTgt>
                                        </p:tgtEl>
                                        <p:attrNameLst>
                                          <p:attrName>style.visibility</p:attrName>
                                        </p:attrNameLst>
                                      </p:cBhvr>
                                      <p:to>
                                        <p:strVal val="visible"/>
                                      </p:to>
                                    </p:set>
                                    <p:anim calcmode="lin" valueType="num">
                                      <p:cBhvr additive="base">
                                        <p:cTn id="25"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 calcmode="lin" valueType="num">
                                      <p:cBhvr additive="base">
                                        <p:cTn id="31" dur="500" fill="hold"/>
                                        <p:tgtEl>
                                          <p:spTgt spid="3">
                                            <p:txEl>
                                              <p:pRg st="6" end="6"/>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6" end="6"/>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
                                            <p:txEl>
                                              <p:pRg st="7" end="7"/>
                                            </p:txEl>
                                          </p:spTgt>
                                        </p:tgtEl>
                                        <p:attrNameLst>
                                          <p:attrName>style.visibility</p:attrName>
                                        </p:attrNameLst>
                                      </p:cBhvr>
                                      <p:to>
                                        <p:strVal val="visible"/>
                                      </p:to>
                                    </p:set>
                                    <p:anim calcmode="lin" valueType="num">
                                      <p:cBhvr additive="base">
                                        <p:cTn id="35" dur="500" fill="hold"/>
                                        <p:tgtEl>
                                          <p:spTgt spid="3">
                                            <p:txEl>
                                              <p:pRg st="7" end="7"/>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609600" y="304801"/>
            <a:ext cx="10972800" cy="6262976"/>
          </a:xfrm>
        </p:spPr>
        <p:txBody>
          <a:bodyPr/>
          <a:lstStyle/>
          <a:p>
            <a:pPr marL="50799" indent="0">
              <a:buNone/>
            </a:pPr>
            <a:r>
              <a:rPr lang="en-US" dirty="0" err="1"/>
              <a:t>Zk</a:t>
            </a:r>
            <a:r>
              <a:rPr lang="en-US" dirty="0"/>
              <a:t>-SNARKs </a:t>
            </a:r>
            <a:r>
              <a:rPr lang="en-IN" dirty="0" smtClean="0"/>
              <a:t>Properties:</a:t>
            </a:r>
          </a:p>
          <a:p>
            <a:pPr lvl="0"/>
            <a:r>
              <a:rPr lang="en-US" b="1" dirty="0" smtClean="0"/>
              <a:t>Zero </a:t>
            </a:r>
            <a:r>
              <a:rPr lang="en-US" b="1" dirty="0"/>
              <a:t>knowledge (zk)</a:t>
            </a:r>
            <a:r>
              <a:rPr lang="en-US" dirty="0"/>
              <a:t>: This property allows a </a:t>
            </a:r>
            <a:r>
              <a:rPr lang="en-US" dirty="0" err="1"/>
              <a:t>prover</a:t>
            </a:r>
            <a:r>
              <a:rPr lang="en-US" dirty="0"/>
              <a:t> to convince a verifier that </a:t>
            </a:r>
            <a:r>
              <a:rPr lang="en-US" dirty="0" smtClean="0"/>
              <a:t>an</a:t>
            </a:r>
            <a:r>
              <a:rPr lang="en-IN" dirty="0"/>
              <a:t> </a:t>
            </a:r>
            <a:r>
              <a:rPr lang="en-US" dirty="0" smtClean="0"/>
              <a:t>assertion </a:t>
            </a:r>
            <a:r>
              <a:rPr lang="en-US" dirty="0"/>
              <a:t>(statement) is true without revealing any information about </a:t>
            </a:r>
            <a:r>
              <a:rPr lang="en-US" dirty="0" smtClean="0"/>
              <a:t>it</a:t>
            </a:r>
          </a:p>
          <a:p>
            <a:r>
              <a:rPr lang="en-US" b="1" dirty="0"/>
              <a:t>Succinct (S)</a:t>
            </a:r>
            <a:r>
              <a:rPr lang="en-US" dirty="0"/>
              <a:t>: This property allows for a small proof that is very quick to verify and is succinct.</a:t>
            </a:r>
            <a:endParaRPr lang="en-IN" dirty="0"/>
          </a:p>
          <a:p>
            <a:pPr lvl="0"/>
            <a:r>
              <a:rPr lang="en-US" b="1" dirty="0"/>
              <a:t>Non-interactive (N)</a:t>
            </a:r>
            <a:r>
              <a:rPr lang="en-US" dirty="0"/>
              <a:t>: This property allows the </a:t>
            </a:r>
            <a:r>
              <a:rPr lang="en-US" dirty="0" err="1"/>
              <a:t>prover</a:t>
            </a:r>
            <a:r>
              <a:rPr lang="en-US" dirty="0"/>
              <a:t> to prove a statement without </a:t>
            </a:r>
            <a:r>
              <a:rPr lang="en-US" dirty="0" smtClean="0"/>
              <a:t>any</a:t>
            </a:r>
            <a:r>
              <a:rPr lang="en-IN" dirty="0"/>
              <a:t> </a:t>
            </a:r>
            <a:r>
              <a:rPr lang="en-US" dirty="0" smtClean="0"/>
              <a:t>interaction </a:t>
            </a:r>
            <a:r>
              <a:rPr lang="en-US" dirty="0"/>
              <a:t>with the verifier</a:t>
            </a:r>
            <a:r>
              <a:rPr lang="en-US" dirty="0" smtClean="0"/>
              <a:t>.</a:t>
            </a:r>
          </a:p>
          <a:p>
            <a:r>
              <a:rPr lang="en-US" b="1" dirty="0" err="1"/>
              <a:t>ARguments</a:t>
            </a:r>
            <a:r>
              <a:rPr lang="en-US" b="1" dirty="0"/>
              <a:t> of Knowledge (ARKs)</a:t>
            </a:r>
            <a:r>
              <a:rPr lang="en-US" dirty="0"/>
              <a:t>: These are the arguments to convince the verifier that the </a:t>
            </a:r>
            <a:r>
              <a:rPr lang="en-US" dirty="0" err="1"/>
              <a:t>prover's</a:t>
            </a:r>
            <a:r>
              <a:rPr lang="en-US" dirty="0"/>
              <a:t> assertion is true. </a:t>
            </a:r>
            <a:endParaRPr lang="en-US" dirty="0" smtClean="0"/>
          </a:p>
          <a:p>
            <a:pPr marL="50799" indent="0" algn="just">
              <a:buNone/>
            </a:pPr>
            <a:r>
              <a:rPr lang="en-US" dirty="0" smtClean="0"/>
              <a:t>Remember </a:t>
            </a:r>
            <a:r>
              <a:rPr lang="en-US" dirty="0"/>
              <a:t>that we discussed soundness and completeness earlier. In the case of ARKs, the </a:t>
            </a:r>
            <a:r>
              <a:rPr lang="en-US" dirty="0" err="1"/>
              <a:t>prover</a:t>
            </a:r>
            <a:r>
              <a:rPr lang="en-US" dirty="0"/>
              <a:t> has a computational soundness property, meaning that the </a:t>
            </a:r>
            <a:r>
              <a:rPr lang="en-US" dirty="0" err="1"/>
              <a:t>prover</a:t>
            </a:r>
            <a:r>
              <a:rPr lang="en-US" dirty="0"/>
              <a:t> is computationally bounded, and it is computationally infeasible for it to cheat the verifier.</a:t>
            </a:r>
            <a:endParaRPr lang="en-IN" dirty="0"/>
          </a:p>
          <a:p>
            <a:pPr lvl="0"/>
            <a:endParaRPr lang="en-IN" dirty="0"/>
          </a:p>
          <a:p>
            <a:pPr lvl="0"/>
            <a:endParaRPr lang="en-IN" dirty="0" smtClean="0"/>
          </a:p>
          <a:p>
            <a:pPr marL="50799" indent="0">
              <a:buNone/>
            </a:pPr>
            <a:endParaRPr lang="en-IN" dirty="0"/>
          </a:p>
        </p:txBody>
      </p:sp>
    </p:spTree>
    <p:extLst>
      <p:ext uri="{BB962C8B-B14F-4D97-AF65-F5344CB8AC3E}">
        <p14:creationId xmlns:p14="http://schemas.microsoft.com/office/powerpoint/2010/main" val="924816104"/>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50799" indent="0">
              <a:buNone/>
            </a:pPr>
            <a:r>
              <a:rPr lang="en-US" dirty="0"/>
              <a:t>The biggest criticism of </a:t>
            </a:r>
            <a:r>
              <a:rPr lang="en-US" b="1" dirty="0" err="1"/>
              <a:t>zk</a:t>
            </a:r>
            <a:r>
              <a:rPr lang="en-US" b="1" dirty="0"/>
              <a:t>-SNARKs</a:t>
            </a:r>
            <a:r>
              <a:rPr lang="en-US" dirty="0"/>
              <a:t> is the initial trusted </a:t>
            </a:r>
            <a:r>
              <a:rPr lang="en-US" dirty="0" smtClean="0"/>
              <a:t>setup</a:t>
            </a:r>
          </a:p>
          <a:p>
            <a:pPr>
              <a:buFont typeface="Arial" panose="020B0604020202020204" pitchFamily="34" charset="0"/>
              <a:buChar char="•"/>
            </a:pPr>
            <a:r>
              <a:rPr lang="en-US" b="1" dirty="0" smtClean="0"/>
              <a:t>zk-STARKs</a:t>
            </a:r>
            <a:endParaRPr lang="en-IN" b="1" dirty="0"/>
          </a:p>
          <a:p>
            <a:pPr marL="50799" indent="0">
              <a:buNone/>
            </a:pPr>
            <a:r>
              <a:rPr lang="en-US" b="1" dirty="0"/>
              <a:t>Zero-knowledge Scalable Transparent </a:t>
            </a:r>
            <a:r>
              <a:rPr lang="en-US" b="1" dirty="0" err="1"/>
              <a:t>ARguments</a:t>
            </a:r>
            <a:r>
              <a:rPr lang="en-US" b="1" dirty="0"/>
              <a:t> of Knowledge </a:t>
            </a:r>
            <a:r>
              <a:rPr lang="en-US" dirty="0"/>
              <a:t>(</a:t>
            </a:r>
            <a:r>
              <a:rPr lang="en-US" b="1" dirty="0"/>
              <a:t>zk-STARKs</a:t>
            </a:r>
            <a:r>
              <a:rPr lang="en-US" dirty="0"/>
              <a:t>) are a new type of ZKP that has addressed </a:t>
            </a:r>
            <a:r>
              <a:rPr lang="en-US" dirty="0" smtClean="0"/>
              <a:t>limitations </a:t>
            </a:r>
            <a:r>
              <a:rPr lang="en-US" dirty="0"/>
              <a:t>in zk-SNARKs.</a:t>
            </a:r>
            <a:endParaRPr lang="en-IN" dirty="0"/>
          </a:p>
          <a:p>
            <a:pPr marL="50799" indent="0">
              <a:buNone/>
            </a:pPr>
            <a:endParaRPr lang="en-IN" dirty="0"/>
          </a:p>
        </p:txBody>
      </p:sp>
    </p:spTree>
    <p:extLst>
      <p:ext uri="{BB962C8B-B14F-4D97-AF65-F5344CB8AC3E}">
        <p14:creationId xmlns:p14="http://schemas.microsoft.com/office/powerpoint/2010/main" val="2560189424"/>
      </p:ext>
    </p:extLst>
  </p:cSld>
  <p:clrMapOvr>
    <a:masterClrMapping/>
  </p:clrMapOvr>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idx="1"/>
          </p:nvPr>
        </p:nvSpPr>
        <p:spPr/>
        <p:txBody>
          <a:bodyPr/>
          <a:lstStyle/>
          <a:p>
            <a:pPr marL="50799" indent="0">
              <a:buNone/>
            </a:pPr>
            <a:r>
              <a:rPr lang="en-US" dirty="0"/>
              <a:t>The key differences between the zk-STARK and zk-SNARK </a:t>
            </a:r>
            <a:r>
              <a:rPr lang="en-US" dirty="0" smtClean="0"/>
              <a:t>:</a:t>
            </a:r>
          </a:p>
          <a:p>
            <a:pPr marL="50799" indent="0">
              <a:buNone/>
            </a:pPr>
            <a:r>
              <a:rPr lang="en-US" dirty="0"/>
              <a:t> </a:t>
            </a:r>
            <a:endParaRPr lang="en-IN" dirty="0"/>
          </a:p>
        </p:txBody>
      </p:sp>
      <p:pic>
        <p:nvPicPr>
          <p:cNvPr id="5" name="Picture 4"/>
          <p:cNvPicPr>
            <a:picLocks noChangeAspect="1"/>
          </p:cNvPicPr>
          <p:nvPr/>
        </p:nvPicPr>
        <p:blipFill>
          <a:blip r:embed="rId2"/>
          <a:stretch>
            <a:fillRect/>
          </a:stretch>
        </p:blipFill>
        <p:spPr>
          <a:xfrm>
            <a:off x="1143000" y="2347912"/>
            <a:ext cx="8934450" cy="2376488"/>
          </a:xfrm>
          <a:prstGeom prst="rect">
            <a:avLst/>
          </a:prstGeom>
        </p:spPr>
      </p:pic>
      <p:pic>
        <p:nvPicPr>
          <p:cNvPr id="6" name="Picture 5"/>
          <p:cNvPicPr>
            <a:picLocks noChangeAspect="1"/>
          </p:cNvPicPr>
          <p:nvPr/>
        </p:nvPicPr>
        <p:blipFill>
          <a:blip r:embed="rId3"/>
          <a:stretch>
            <a:fillRect/>
          </a:stretch>
        </p:blipFill>
        <p:spPr>
          <a:xfrm>
            <a:off x="1219200" y="4495800"/>
            <a:ext cx="8972550" cy="990600"/>
          </a:xfrm>
          <a:prstGeom prst="rect">
            <a:avLst/>
          </a:prstGeom>
        </p:spPr>
      </p:pic>
    </p:spTree>
    <p:extLst>
      <p:ext uri="{BB962C8B-B14F-4D97-AF65-F5344CB8AC3E}">
        <p14:creationId xmlns:p14="http://schemas.microsoft.com/office/powerpoint/2010/main" val="780842109"/>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81"/>
          <p:cNvSpPr txBox="1">
            <a:spLocks noGrp="1"/>
          </p:cNvSpPr>
          <p:nvPr>
            <p:ph type="title"/>
          </p:nvPr>
        </p:nvSpPr>
        <p:spPr>
          <a:xfrm>
            <a:off x="609600" y="274637"/>
            <a:ext cx="10972800" cy="1143000"/>
          </a:xfrm>
          <a:prstGeom prst="rect">
            <a:avLst/>
          </a:prstGeom>
          <a:noFill/>
          <a:ln>
            <a:noFill/>
          </a:ln>
        </p:spPr>
        <p:txBody>
          <a:bodyPr spcFirstLastPara="1" wrap="square" lIns="121900" tIns="121900" rIns="121900" bIns="121900" anchor="b" anchorCtr="0">
            <a:noAutofit/>
          </a:bodyPr>
          <a:lstStyle/>
          <a:p>
            <a:r>
              <a:rPr lang="en" sz="4800" b="1">
                <a:solidFill>
                  <a:schemeClr val="dk1"/>
                </a:solidFill>
                <a:latin typeface="Trebuchet MS"/>
                <a:ea typeface="Trebuchet MS"/>
                <a:cs typeface="Trebuchet MS"/>
                <a:sym typeface="Trebuchet MS"/>
              </a:rPr>
              <a:t>5 levels of anonymity</a:t>
            </a:r>
            <a:endParaRPr sz="4800" b="1">
              <a:solidFill>
                <a:schemeClr val="dk1"/>
              </a:solidFill>
              <a:latin typeface="Trebuchet MS"/>
              <a:ea typeface="Trebuchet MS"/>
              <a:cs typeface="Trebuchet MS"/>
              <a:sym typeface="Trebuchet MS"/>
            </a:endParaRPr>
          </a:p>
        </p:txBody>
      </p:sp>
      <p:graphicFrame>
        <p:nvGraphicFramePr>
          <p:cNvPr id="652" name="Google Shape;652;p81"/>
          <p:cNvGraphicFramePr/>
          <p:nvPr/>
        </p:nvGraphicFramePr>
        <p:xfrm>
          <a:off x="812799" y="2108201"/>
          <a:ext cx="11074400" cy="3283102"/>
        </p:xfrm>
        <a:graphic>
          <a:graphicData uri="http://schemas.openxmlformats.org/drawingml/2006/table">
            <a:tbl>
              <a:tblPr firstRow="1" bandRow="1">
                <a:noFill/>
              </a:tblPr>
              <a:tblGrid>
                <a:gridCol w="1524000"/>
                <a:gridCol w="2540000"/>
                <a:gridCol w="4267200"/>
                <a:gridCol w="2743200"/>
              </a:tblGrid>
              <a:tr h="539967">
                <a:tc>
                  <a:txBody>
                    <a:bodyPr/>
                    <a:lstStyle/>
                    <a:p>
                      <a:pPr marL="0" marR="0" lvl="0" indent="0" algn="l" rtl="0">
                        <a:lnSpc>
                          <a:spcPct val="100000"/>
                        </a:lnSpc>
                        <a:spcBef>
                          <a:spcPts val="0"/>
                        </a:spcBef>
                        <a:spcAft>
                          <a:spcPts val="0"/>
                        </a:spcAft>
                        <a:buClr>
                          <a:schemeClr val="dk1"/>
                        </a:buClr>
                        <a:buFont typeface="Trebuchet MS"/>
                        <a:buNone/>
                      </a:pPr>
                      <a:r>
                        <a:rPr lang="en" sz="2100" u="none" strike="noStrike" cap="none" dirty="0">
                          <a:solidFill>
                            <a:schemeClr val="dk1"/>
                          </a:solidFill>
                          <a:latin typeface="Trebuchet MS"/>
                          <a:ea typeface="Trebuchet MS"/>
                          <a:cs typeface="Trebuchet MS"/>
                          <a:sym typeface="Trebuchet MS"/>
                        </a:rPr>
                        <a:t>System</a:t>
                      </a:r>
                      <a:endParaRPr sz="2100" u="none" strike="noStrike" cap="none" dirty="0">
                        <a:solidFill>
                          <a:schemeClr val="dk1"/>
                        </a:solidFill>
                        <a:latin typeface="Trebuchet MS"/>
                        <a:ea typeface="Trebuchet MS"/>
                        <a:cs typeface="Trebuchet MS"/>
                        <a:sym typeface="Trebuchet MS"/>
                      </a:endParaRPr>
                    </a:p>
                  </a:txBody>
                  <a:tcPr marL="121933" marR="121933" marT="60967" marB="60967" anchor="ctr">
                    <a:solidFill>
                      <a:srgbClr val="ADCCE5"/>
                    </a:solidFill>
                  </a:tcPr>
                </a:tc>
                <a:tc>
                  <a:txBody>
                    <a:bodyPr/>
                    <a:lstStyle/>
                    <a:p>
                      <a:pPr marL="0" marR="0" lvl="0" indent="0" algn="l" rtl="0">
                        <a:lnSpc>
                          <a:spcPct val="100000"/>
                        </a:lnSpc>
                        <a:spcBef>
                          <a:spcPts val="0"/>
                        </a:spcBef>
                        <a:spcAft>
                          <a:spcPts val="0"/>
                        </a:spcAft>
                        <a:buClr>
                          <a:schemeClr val="dk1"/>
                        </a:buClr>
                        <a:buFont typeface="Trebuchet MS"/>
                        <a:buNone/>
                      </a:pPr>
                      <a:r>
                        <a:rPr lang="en" sz="2100" u="none" strike="noStrike" cap="none">
                          <a:solidFill>
                            <a:schemeClr val="dk1"/>
                          </a:solidFill>
                          <a:latin typeface="Trebuchet MS"/>
                          <a:ea typeface="Trebuchet MS"/>
                          <a:cs typeface="Trebuchet MS"/>
                          <a:sym typeface="Trebuchet MS"/>
                        </a:rPr>
                        <a:t>Type</a:t>
                      </a:r>
                      <a:endParaRPr sz="2100" u="none" strike="noStrike" cap="none">
                        <a:solidFill>
                          <a:schemeClr val="dk1"/>
                        </a:solidFill>
                        <a:latin typeface="Trebuchet MS"/>
                        <a:ea typeface="Trebuchet MS"/>
                        <a:cs typeface="Trebuchet MS"/>
                        <a:sym typeface="Trebuchet MS"/>
                      </a:endParaRPr>
                    </a:p>
                  </a:txBody>
                  <a:tcPr marL="121933" marR="121933" marT="60967" marB="60967" anchor="ctr">
                    <a:solidFill>
                      <a:srgbClr val="ADCCE5"/>
                    </a:solidFill>
                  </a:tcPr>
                </a:tc>
                <a:tc>
                  <a:txBody>
                    <a:bodyPr/>
                    <a:lstStyle/>
                    <a:p>
                      <a:pPr marL="0" marR="0" lvl="0" indent="0" algn="l" rtl="0">
                        <a:lnSpc>
                          <a:spcPct val="100000"/>
                        </a:lnSpc>
                        <a:spcBef>
                          <a:spcPts val="0"/>
                        </a:spcBef>
                        <a:spcAft>
                          <a:spcPts val="0"/>
                        </a:spcAft>
                        <a:buClr>
                          <a:schemeClr val="dk1"/>
                        </a:buClr>
                        <a:buFont typeface="Trebuchet MS"/>
                        <a:buNone/>
                      </a:pPr>
                      <a:r>
                        <a:rPr lang="en" sz="2100" u="none" strike="noStrike" cap="none">
                          <a:solidFill>
                            <a:schemeClr val="dk1"/>
                          </a:solidFill>
                          <a:latin typeface="Trebuchet MS"/>
                          <a:ea typeface="Trebuchet MS"/>
                          <a:cs typeface="Trebuchet MS"/>
                          <a:sym typeface="Trebuchet MS"/>
                        </a:rPr>
                        <a:t>Anonymity attacks</a:t>
                      </a:r>
                      <a:endParaRPr sz="2100" u="none" strike="noStrike" cap="none">
                        <a:solidFill>
                          <a:schemeClr val="dk1"/>
                        </a:solidFill>
                        <a:latin typeface="Trebuchet MS"/>
                        <a:ea typeface="Trebuchet MS"/>
                        <a:cs typeface="Trebuchet MS"/>
                        <a:sym typeface="Trebuchet MS"/>
                      </a:endParaRPr>
                    </a:p>
                  </a:txBody>
                  <a:tcPr marL="121933" marR="121933" marT="60967" marB="60967" anchor="ctr">
                    <a:solidFill>
                      <a:srgbClr val="ADCCE5"/>
                    </a:solidFill>
                  </a:tcPr>
                </a:tc>
                <a:tc>
                  <a:txBody>
                    <a:bodyPr/>
                    <a:lstStyle/>
                    <a:p>
                      <a:pPr marL="0" marR="0" lvl="0" indent="0" algn="l" rtl="0">
                        <a:lnSpc>
                          <a:spcPct val="100000"/>
                        </a:lnSpc>
                        <a:spcBef>
                          <a:spcPts val="0"/>
                        </a:spcBef>
                        <a:spcAft>
                          <a:spcPts val="0"/>
                        </a:spcAft>
                        <a:buClr>
                          <a:schemeClr val="dk1"/>
                        </a:buClr>
                        <a:buFont typeface="Trebuchet MS"/>
                        <a:buNone/>
                      </a:pPr>
                      <a:r>
                        <a:rPr lang="en" sz="2100" u="none" strike="noStrike" cap="none">
                          <a:solidFill>
                            <a:schemeClr val="dk1"/>
                          </a:solidFill>
                          <a:latin typeface="Trebuchet MS"/>
                          <a:ea typeface="Trebuchet MS"/>
                          <a:cs typeface="Trebuchet MS"/>
                          <a:sym typeface="Trebuchet MS"/>
                        </a:rPr>
                        <a:t>Deployability</a:t>
                      </a:r>
                      <a:endParaRPr sz="2100" u="none" strike="noStrike" cap="none">
                        <a:solidFill>
                          <a:schemeClr val="dk1"/>
                        </a:solidFill>
                        <a:latin typeface="Trebuchet MS"/>
                        <a:ea typeface="Trebuchet MS"/>
                        <a:cs typeface="Trebuchet MS"/>
                        <a:sym typeface="Trebuchet MS"/>
                      </a:endParaRPr>
                    </a:p>
                  </a:txBody>
                  <a:tcPr marL="121933" marR="121933" marT="60967" marB="60967" anchor="ctr">
                    <a:solidFill>
                      <a:srgbClr val="ADCCE5"/>
                    </a:solidFill>
                  </a:tcPr>
                </a:tc>
              </a:tr>
              <a:tr h="539967">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Bitcoin</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Pseudonymous</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Tx graph analysis</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Default</a:t>
                      </a:r>
                      <a:endParaRPr sz="2100" u="none" strike="noStrike" cap="none">
                        <a:latin typeface="Trebuchet MS"/>
                        <a:ea typeface="Trebuchet MS"/>
                        <a:cs typeface="Trebuchet MS"/>
                        <a:sym typeface="Trebuchet MS"/>
                      </a:endParaRPr>
                    </a:p>
                  </a:txBody>
                  <a:tcPr marL="121933" marR="121933" marT="60967" marB="60967" anchor="ctr"/>
                </a:tc>
              </a:tr>
              <a:tr h="539967">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Single mix</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Mix</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Tx graph analysis, bad mix</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Usable today</a:t>
                      </a:r>
                      <a:endParaRPr sz="2100" u="none" strike="noStrike" cap="none">
                        <a:latin typeface="Trebuchet MS"/>
                        <a:ea typeface="Trebuchet MS"/>
                        <a:cs typeface="Trebuchet MS"/>
                        <a:sym typeface="Trebuchet MS"/>
                      </a:endParaRPr>
                    </a:p>
                  </a:txBody>
                  <a:tcPr marL="121933" marR="121933" marT="60967" marB="60967" anchor="ctr"/>
                </a:tc>
              </a:tr>
              <a:tr h="539967">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Mix chain</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Mix</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Side channels, bad mixes/peers</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Bitcoin-compatible</a:t>
                      </a:r>
                      <a:endParaRPr sz="2100" u="none" strike="noStrike" cap="none">
                        <a:latin typeface="Trebuchet MS"/>
                        <a:ea typeface="Trebuchet MS"/>
                        <a:cs typeface="Trebuchet MS"/>
                        <a:sym typeface="Trebuchet MS"/>
                      </a:endParaRPr>
                    </a:p>
                  </a:txBody>
                  <a:tcPr marL="121933" marR="121933" marT="60967" marB="60967" anchor="ctr"/>
                </a:tc>
              </a:tr>
              <a:tr h="583267">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Zerocoin</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Cryptographic mix</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Side channels (possibly)</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Altcoin</a:t>
                      </a:r>
                      <a:endParaRPr sz="2100" u="none" strike="noStrike" cap="none">
                        <a:latin typeface="Trebuchet MS"/>
                        <a:ea typeface="Trebuchet MS"/>
                        <a:cs typeface="Trebuchet MS"/>
                        <a:sym typeface="Trebuchet MS"/>
                      </a:endParaRPr>
                    </a:p>
                  </a:txBody>
                  <a:tcPr marL="121933" marR="121933" marT="60967" marB="60967" anchor="ctr"/>
                </a:tc>
              </a:tr>
              <a:tr h="539967">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Zerocash</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Untraceable</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a:latin typeface="Trebuchet MS"/>
                          <a:ea typeface="Trebuchet MS"/>
                          <a:cs typeface="Trebuchet MS"/>
                          <a:sym typeface="Trebuchet MS"/>
                        </a:rPr>
                        <a:t>None</a:t>
                      </a:r>
                      <a:endParaRPr sz="2100" u="none" strike="noStrike" cap="none">
                        <a:latin typeface="Trebuchet MS"/>
                        <a:ea typeface="Trebuchet MS"/>
                        <a:cs typeface="Trebuchet MS"/>
                        <a:sym typeface="Trebuchet MS"/>
                      </a:endParaRPr>
                    </a:p>
                  </a:txBody>
                  <a:tcPr marL="121933" marR="121933" marT="60967" marB="60967" anchor="ctr"/>
                </a:tc>
                <a:tc>
                  <a:txBody>
                    <a:bodyPr/>
                    <a:lstStyle/>
                    <a:p>
                      <a:pPr marL="0" marR="0" lvl="0" indent="0" algn="l" rtl="0">
                        <a:lnSpc>
                          <a:spcPct val="100000"/>
                        </a:lnSpc>
                        <a:spcBef>
                          <a:spcPts val="0"/>
                        </a:spcBef>
                        <a:spcAft>
                          <a:spcPts val="0"/>
                        </a:spcAft>
                        <a:buClr>
                          <a:srgbClr val="000000"/>
                        </a:buClr>
                        <a:buFont typeface="Trebuchet MS"/>
                        <a:buNone/>
                      </a:pPr>
                      <a:r>
                        <a:rPr lang="en" sz="2100" u="none" strike="noStrike" cap="none" dirty="0">
                          <a:latin typeface="Trebuchet MS"/>
                          <a:ea typeface="Trebuchet MS"/>
                          <a:cs typeface="Trebuchet MS"/>
                          <a:sym typeface="Trebuchet MS"/>
                        </a:rPr>
                        <a:t>Altcoin, tricky setup</a:t>
                      </a:r>
                      <a:endParaRPr sz="2100" u="none" strike="noStrike" cap="none" dirty="0">
                        <a:latin typeface="Trebuchet MS"/>
                        <a:ea typeface="Trebuchet MS"/>
                        <a:cs typeface="Trebuchet MS"/>
                        <a:sym typeface="Trebuchet MS"/>
                      </a:endParaRPr>
                    </a:p>
                  </a:txBody>
                  <a:tcPr marL="121933" marR="121933" marT="60967" marB="60967" anchor="ctr"/>
                </a:tc>
              </a:tr>
            </a:tbl>
          </a:graphicData>
        </a:graphic>
      </p:graphicFrame>
    </p:spTree>
    <p:extLst>
      <p:ext uri="{BB962C8B-B14F-4D97-AF65-F5344CB8AC3E}">
        <p14:creationId xmlns:p14="http://schemas.microsoft.com/office/powerpoint/2010/main" val="1861491266"/>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2278</Words>
  <Application>Microsoft Office PowerPoint</Application>
  <PresentationFormat>Widescreen</PresentationFormat>
  <Paragraphs>289</Paragraphs>
  <Slides>41</Slides>
  <Notes>24</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41</vt:i4>
      </vt:variant>
    </vt:vector>
  </HeadingPairs>
  <TitlesOfParts>
    <vt:vector size="47" baseType="lpstr">
      <vt:lpstr>Arial</vt:lpstr>
      <vt:lpstr>Calibri</vt:lpstr>
      <vt:lpstr>Calibri Light</vt:lpstr>
      <vt:lpstr>Palatino Linotype</vt:lpstr>
      <vt:lpstr>Trebuchet MS</vt:lpstr>
      <vt:lpstr>Office Theme</vt:lpstr>
      <vt:lpstr>PowerPoint Presentation</vt:lpstr>
      <vt:lpstr>PowerPoint Presentation</vt:lpstr>
      <vt:lpstr>Some say Bitcoin provides anonymity</vt:lpstr>
      <vt:lpstr>Others say it doesn’t</vt:lpstr>
      <vt:lpstr>What do we mean by anonymity?</vt:lpstr>
      <vt:lpstr>Anonymity in computer science</vt:lpstr>
      <vt:lpstr>Why is unlinkability needed?</vt:lpstr>
      <vt:lpstr>Defining unlinkability in Bitcoin</vt:lpstr>
      <vt:lpstr>Quantifying anonymity</vt:lpstr>
      <vt:lpstr> Ethics of anonymity: Why anonymous cryptocurrencies?</vt:lpstr>
      <vt:lpstr>Risk of money laundering What about money laundering?</vt:lpstr>
      <vt:lpstr>Tor</vt:lpstr>
      <vt:lpstr>Anonymous e-cash</vt:lpstr>
      <vt:lpstr>PowerPoint Presentation</vt:lpstr>
      <vt:lpstr>Anonymity &amp; decentralization: in conflict</vt:lpstr>
      <vt:lpstr>PowerPoint Presentation</vt:lpstr>
      <vt:lpstr>PowerPoint Presentation</vt:lpstr>
      <vt:lpstr>PowerPoint Presentation</vt:lpstr>
      <vt:lpstr>PowerPoint Presentation</vt:lpstr>
      <vt:lpstr>PowerPoint Presentation</vt:lpstr>
      <vt:lpstr>PowerPoint Presentation</vt:lpstr>
      <vt:lpstr>To protect anonymity, use an intermediary</vt:lpstr>
      <vt:lpstr>PowerPoint Presentation</vt:lpstr>
      <vt:lpstr>Why decentralized mixing?</vt:lpstr>
      <vt:lpstr>Coinjoin</vt:lpstr>
      <vt:lpstr>Coinjoin algorithm</vt:lpstr>
      <vt:lpstr>Coinjoin: remaining problems</vt:lpstr>
      <vt:lpstr>Series of mixes</vt:lpstr>
      <vt:lpstr>Principles for mixing services</vt:lpstr>
      <vt:lpstr>PowerPoint Presentation</vt:lpstr>
      <vt:lpstr>PowerPoint Presentation</vt:lpstr>
      <vt:lpstr>Zero coin and Zero cash</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5 levels of anonymity</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dc:creator>
  <cp:lastModifiedBy>Admin</cp:lastModifiedBy>
  <cp:revision>2</cp:revision>
  <dcterms:created xsi:type="dcterms:W3CDTF">2024-09-27T08:02:49Z</dcterms:created>
  <dcterms:modified xsi:type="dcterms:W3CDTF">2024-12-16T03:56:26Z</dcterms:modified>
</cp:coreProperties>
</file>