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9"/>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7" autoAdjust="0"/>
    <p:restoredTop sz="94660"/>
  </p:normalViewPr>
  <p:slideViewPr>
    <p:cSldViewPr showGuides="1">
      <p:cViewPr varScale="1">
        <p:scale>
          <a:sx n="91" d="100"/>
          <a:sy n="91" d="100"/>
        </p:scale>
        <p:origin x="390" y="8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B66B66-A259-4EEA-B107-404E44C0D383}" type="datetimeFigureOut">
              <a:rPr lang="en-IN" smtClean="0"/>
              <a:t>16-12-2024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782201-F04C-49B0-B341-58315A69C122}" type="slidenum">
              <a:rPr lang="en-IN" smtClean="0"/>
              <a:t>‹#›</a:t>
            </a:fld>
            <a:endParaRPr lang="en-IN"/>
          </a:p>
        </p:txBody>
      </p:sp>
    </p:spTree>
    <p:extLst>
      <p:ext uri="{BB962C8B-B14F-4D97-AF65-F5344CB8AC3E}">
        <p14:creationId xmlns:p14="http://schemas.microsoft.com/office/powerpoint/2010/main" val="41412919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2F782201-F04C-49B0-B341-58315A69C122}" type="slidenum">
              <a:rPr lang="en-IN" smtClean="0"/>
              <a:t>1</a:t>
            </a:fld>
            <a:endParaRPr lang="en-IN"/>
          </a:p>
        </p:txBody>
      </p:sp>
    </p:spTree>
    <p:extLst>
      <p:ext uri="{BB962C8B-B14F-4D97-AF65-F5344CB8AC3E}">
        <p14:creationId xmlns:p14="http://schemas.microsoft.com/office/powerpoint/2010/main" val="15584187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B63B54C-2FD5-49A0-94D2-32370C253A47}" type="slidenum">
              <a:rPr lang="en-IN" smtClean="0"/>
              <a:t>2</a:t>
            </a:fld>
            <a:endParaRPr lang="en-IN"/>
          </a:p>
        </p:txBody>
      </p:sp>
    </p:spTree>
    <p:extLst>
      <p:ext uri="{BB962C8B-B14F-4D97-AF65-F5344CB8AC3E}">
        <p14:creationId xmlns:p14="http://schemas.microsoft.com/office/powerpoint/2010/main" val="22021052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D5A08BA-9E8B-442F-ACF3-C10B3F1A2B83}" type="slidenum">
              <a:rPr lang="en-IN" smtClean="0"/>
              <a:t>11</a:t>
            </a:fld>
            <a:endParaRPr lang="en-IN"/>
          </a:p>
        </p:txBody>
      </p:sp>
    </p:spTree>
    <p:extLst>
      <p:ext uri="{BB962C8B-B14F-4D97-AF65-F5344CB8AC3E}">
        <p14:creationId xmlns:p14="http://schemas.microsoft.com/office/powerpoint/2010/main" val="38774692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D5A08BA-9E8B-442F-ACF3-C10B3F1A2B83}" type="slidenum">
              <a:rPr lang="en-IN" smtClean="0"/>
              <a:t>17</a:t>
            </a:fld>
            <a:endParaRPr lang="en-IN"/>
          </a:p>
        </p:txBody>
      </p:sp>
    </p:spTree>
    <p:extLst>
      <p:ext uri="{BB962C8B-B14F-4D97-AF65-F5344CB8AC3E}">
        <p14:creationId xmlns:p14="http://schemas.microsoft.com/office/powerpoint/2010/main" val="18846549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D5A08BA-9E8B-442F-ACF3-C10B3F1A2B83}" type="slidenum">
              <a:rPr lang="en-IN" smtClean="0"/>
              <a:t>24</a:t>
            </a:fld>
            <a:endParaRPr lang="en-IN"/>
          </a:p>
        </p:txBody>
      </p:sp>
    </p:spTree>
    <p:extLst>
      <p:ext uri="{BB962C8B-B14F-4D97-AF65-F5344CB8AC3E}">
        <p14:creationId xmlns:p14="http://schemas.microsoft.com/office/powerpoint/2010/main" val="10681188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BD5A08BA-9E8B-442F-ACF3-C10B3F1A2B83}" type="slidenum">
              <a:rPr lang="en-IN" smtClean="0"/>
              <a:t>45</a:t>
            </a:fld>
            <a:endParaRPr lang="en-IN"/>
          </a:p>
        </p:txBody>
      </p:sp>
    </p:spTree>
    <p:extLst>
      <p:ext uri="{BB962C8B-B14F-4D97-AF65-F5344CB8AC3E}">
        <p14:creationId xmlns:p14="http://schemas.microsoft.com/office/powerpoint/2010/main" val="6943175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6107474A-0A87-4F45-8C5E-72080532F1C5}" type="datetime8">
              <a:rPr lang="en-US" smtClean="0"/>
              <a:t>12/16/2024 9:11 AM</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4ECFAD1-5943-482C-BA4F-72A573AAED08}" type="slidenum">
              <a:rPr lang="en-IN" smtClean="0"/>
              <a:t>‹#›</a:t>
            </a:fld>
            <a:endParaRPr lang="en-IN"/>
          </a:p>
        </p:txBody>
      </p:sp>
    </p:spTree>
    <p:extLst>
      <p:ext uri="{BB962C8B-B14F-4D97-AF65-F5344CB8AC3E}">
        <p14:creationId xmlns:p14="http://schemas.microsoft.com/office/powerpoint/2010/main" val="11039051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FF53F1C-61AA-430D-A6EF-E33DD28AA8D3}" type="datetime8">
              <a:rPr lang="en-US" smtClean="0"/>
              <a:t>12/16/2024 9:11 AM</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4ECFAD1-5943-482C-BA4F-72A573AAED08}" type="slidenum">
              <a:rPr lang="en-IN" smtClean="0"/>
              <a:t>‹#›</a:t>
            </a:fld>
            <a:endParaRPr lang="en-IN"/>
          </a:p>
        </p:txBody>
      </p:sp>
    </p:spTree>
    <p:extLst>
      <p:ext uri="{BB962C8B-B14F-4D97-AF65-F5344CB8AC3E}">
        <p14:creationId xmlns:p14="http://schemas.microsoft.com/office/powerpoint/2010/main" val="12372317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CFD7BE8-408E-4077-B33C-0CD049B10BB1}" type="datetime8">
              <a:rPr lang="en-US" smtClean="0"/>
              <a:t>12/16/2024 9:11 AM</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4ECFAD1-5943-482C-BA4F-72A573AAED08}" type="slidenum">
              <a:rPr lang="en-IN" smtClean="0"/>
              <a:t>‹#›</a:t>
            </a:fld>
            <a:endParaRPr lang="en-IN"/>
          </a:p>
        </p:txBody>
      </p:sp>
    </p:spTree>
    <p:extLst>
      <p:ext uri="{BB962C8B-B14F-4D97-AF65-F5344CB8AC3E}">
        <p14:creationId xmlns:p14="http://schemas.microsoft.com/office/powerpoint/2010/main" val="40429005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5AD54F69-93DA-48DA-94F7-EA4A0452C481}" type="datetime8">
              <a:rPr lang="en-US" smtClean="0"/>
              <a:t>12/16/2024 9:11 AM</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4ECFAD1-5943-482C-BA4F-72A573AAED08}" type="slidenum">
              <a:rPr lang="en-IN" smtClean="0"/>
              <a:t>‹#›</a:t>
            </a:fld>
            <a:endParaRPr lang="en-IN"/>
          </a:p>
        </p:txBody>
      </p:sp>
    </p:spTree>
    <p:extLst>
      <p:ext uri="{BB962C8B-B14F-4D97-AF65-F5344CB8AC3E}">
        <p14:creationId xmlns:p14="http://schemas.microsoft.com/office/powerpoint/2010/main" val="26894473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DCC41A04-103C-4A4C-A0D7-26D4664DD96A}" type="datetime8">
              <a:rPr lang="en-US" smtClean="0"/>
              <a:t>12/16/2024 9:11 AM</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4ECFAD1-5943-482C-BA4F-72A573AAED08}" type="slidenum">
              <a:rPr lang="en-IN" smtClean="0"/>
              <a:t>‹#›</a:t>
            </a:fld>
            <a:endParaRPr lang="en-IN"/>
          </a:p>
        </p:txBody>
      </p:sp>
    </p:spTree>
    <p:extLst>
      <p:ext uri="{BB962C8B-B14F-4D97-AF65-F5344CB8AC3E}">
        <p14:creationId xmlns:p14="http://schemas.microsoft.com/office/powerpoint/2010/main" val="22948574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D8AB389-F12B-4257-9A8D-93C91B53B092}" type="datetime8">
              <a:rPr lang="en-US" smtClean="0"/>
              <a:t>12/16/2024 9:11 AM</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4ECFAD1-5943-482C-BA4F-72A573AAED08}" type="slidenum">
              <a:rPr lang="en-IN" smtClean="0"/>
              <a:t>‹#›</a:t>
            </a:fld>
            <a:endParaRPr lang="en-IN"/>
          </a:p>
        </p:txBody>
      </p:sp>
    </p:spTree>
    <p:extLst>
      <p:ext uri="{BB962C8B-B14F-4D97-AF65-F5344CB8AC3E}">
        <p14:creationId xmlns:p14="http://schemas.microsoft.com/office/powerpoint/2010/main" val="14644464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E01E120-A318-479E-B538-A5685EF01BAD}" type="datetime8">
              <a:rPr lang="en-US" smtClean="0"/>
              <a:t>12/16/2024 9:11 AM</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4ECFAD1-5943-482C-BA4F-72A573AAED08}" type="slidenum">
              <a:rPr lang="en-IN" smtClean="0"/>
              <a:t>‹#›</a:t>
            </a:fld>
            <a:endParaRPr lang="en-IN"/>
          </a:p>
        </p:txBody>
      </p:sp>
    </p:spTree>
    <p:extLst>
      <p:ext uri="{BB962C8B-B14F-4D97-AF65-F5344CB8AC3E}">
        <p14:creationId xmlns:p14="http://schemas.microsoft.com/office/powerpoint/2010/main" val="3126268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CD4BB17-A3BC-40E0-ADC5-F1CDFEF00091}" type="datetime8">
              <a:rPr lang="en-US" smtClean="0"/>
              <a:t>12/16/2024 9:11 AM</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4ECFAD1-5943-482C-BA4F-72A573AAED08}" type="slidenum">
              <a:rPr lang="en-IN" smtClean="0"/>
              <a:t>‹#›</a:t>
            </a:fld>
            <a:endParaRPr lang="en-IN"/>
          </a:p>
        </p:txBody>
      </p:sp>
    </p:spTree>
    <p:extLst>
      <p:ext uri="{BB962C8B-B14F-4D97-AF65-F5344CB8AC3E}">
        <p14:creationId xmlns:p14="http://schemas.microsoft.com/office/powerpoint/2010/main" val="13894224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03889ED-4981-4244-97C3-DAFC724C5437}" type="datetime8">
              <a:rPr lang="en-US" smtClean="0"/>
              <a:t>12/16/2024 9:11 AM</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4ECFAD1-5943-482C-BA4F-72A573AAED08}" type="slidenum">
              <a:rPr lang="en-IN" smtClean="0"/>
              <a:t>‹#›</a:t>
            </a:fld>
            <a:endParaRPr lang="en-IN"/>
          </a:p>
        </p:txBody>
      </p:sp>
    </p:spTree>
    <p:extLst>
      <p:ext uri="{BB962C8B-B14F-4D97-AF65-F5344CB8AC3E}">
        <p14:creationId xmlns:p14="http://schemas.microsoft.com/office/powerpoint/2010/main" val="37422117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2D81C45D-96CB-4825-B721-ADC66102F55D}" type="datetime8">
              <a:rPr lang="en-US" smtClean="0"/>
              <a:t>12/16/2024 9:11 AM</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4ECFAD1-5943-482C-BA4F-72A573AAED08}" type="slidenum">
              <a:rPr lang="en-IN" smtClean="0"/>
              <a:t>‹#›</a:t>
            </a:fld>
            <a:endParaRPr lang="en-IN"/>
          </a:p>
        </p:txBody>
      </p:sp>
    </p:spTree>
    <p:extLst>
      <p:ext uri="{BB962C8B-B14F-4D97-AF65-F5344CB8AC3E}">
        <p14:creationId xmlns:p14="http://schemas.microsoft.com/office/powerpoint/2010/main" val="42062050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838C19F1-D46A-4F0F-9AEB-BECD578855C6}" type="datetime8">
              <a:rPr lang="en-US" smtClean="0"/>
              <a:t>12/16/2024 9:11 AM</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4ECFAD1-5943-482C-BA4F-72A573AAED08}" type="slidenum">
              <a:rPr lang="en-IN" smtClean="0"/>
              <a:t>‹#›</a:t>
            </a:fld>
            <a:endParaRPr lang="en-IN"/>
          </a:p>
        </p:txBody>
      </p:sp>
    </p:spTree>
    <p:extLst>
      <p:ext uri="{BB962C8B-B14F-4D97-AF65-F5344CB8AC3E}">
        <p14:creationId xmlns:p14="http://schemas.microsoft.com/office/powerpoint/2010/main" val="36807674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A1ABA8-B33B-4880-8A0B-C92595D9D6E7}" type="datetime8">
              <a:rPr lang="en-US" smtClean="0"/>
              <a:t>12/16/2024 9:11 AM</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4ECFAD1-5943-482C-BA4F-72A573AAED08}" type="slidenum">
              <a:rPr lang="en-IN" smtClean="0"/>
              <a:t>‹#›</a:t>
            </a:fld>
            <a:endParaRPr lang="en-IN"/>
          </a:p>
        </p:txBody>
      </p:sp>
    </p:spTree>
    <p:extLst>
      <p:ext uri="{BB962C8B-B14F-4D97-AF65-F5344CB8AC3E}">
        <p14:creationId xmlns:p14="http://schemas.microsoft.com/office/powerpoint/2010/main" val="41260570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2.png"/><Relationship Id="rId5" Type="http://schemas.openxmlformats.org/officeDocument/2006/relationships/image" Target="../media/image1.wmf"/><Relationship Id="rId4" Type="http://schemas.openxmlformats.org/officeDocument/2006/relationships/oleObject" Target="../embeddings/oleObject1.bin"/></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4.w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IN" sz="3600" b="1" dirty="0" smtClean="0"/>
              <a:t>Introduction to </a:t>
            </a:r>
            <a:r>
              <a:rPr lang="en-IN" sz="3600" b="1" dirty="0" err="1" smtClean="0"/>
              <a:t>Bitcoin</a:t>
            </a:r>
            <a:endParaRPr lang="en-IN" sz="3600" b="1" dirty="0"/>
          </a:p>
        </p:txBody>
      </p:sp>
      <p:sp>
        <p:nvSpPr>
          <p:cNvPr id="4" name="Slide Number Placeholder 3"/>
          <p:cNvSpPr>
            <a:spLocks noGrp="1"/>
          </p:cNvSpPr>
          <p:nvPr>
            <p:ph type="sldNum" sz="quarter" idx="12"/>
          </p:nvPr>
        </p:nvSpPr>
        <p:spPr/>
        <p:txBody>
          <a:bodyPr/>
          <a:lstStyle/>
          <a:p>
            <a:fld id="{44ECFAD1-5943-482C-BA4F-72A573AAED08}" type="slidenum">
              <a:rPr lang="en-IN" smtClean="0"/>
              <a:t>1</a:t>
            </a:fld>
            <a:endParaRPr lang="en-IN"/>
          </a:p>
        </p:txBody>
      </p:sp>
    </p:spTree>
    <p:extLst>
      <p:ext uri="{BB962C8B-B14F-4D97-AF65-F5344CB8AC3E}">
        <p14:creationId xmlns:p14="http://schemas.microsoft.com/office/powerpoint/2010/main" val="295019605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b="1" dirty="0" smtClean="0"/>
              <a:t>Fundamentals </a:t>
            </a:r>
            <a:r>
              <a:rPr lang="en-US" sz="3200" b="1" smtClean="0"/>
              <a:t>of Cryptography</a:t>
            </a:r>
            <a:endParaRPr lang="en-IN" sz="3200" dirty="0"/>
          </a:p>
        </p:txBody>
      </p:sp>
      <p:sp>
        <p:nvSpPr>
          <p:cNvPr id="3" name="Content Placeholder 2"/>
          <p:cNvSpPr>
            <a:spLocks noGrp="1"/>
          </p:cNvSpPr>
          <p:nvPr>
            <p:ph idx="1"/>
          </p:nvPr>
        </p:nvSpPr>
        <p:spPr/>
        <p:txBody>
          <a:bodyPr/>
          <a:lstStyle/>
          <a:p>
            <a:r>
              <a:rPr lang="en-US" b="1" dirty="0" smtClean="0"/>
              <a:t>Cryptographic Hash Functions                        </a:t>
            </a:r>
          </a:p>
          <a:p>
            <a:pPr marL="0" indent="0">
              <a:buNone/>
            </a:pPr>
            <a:r>
              <a:rPr lang="en-IN" b="1" dirty="0" smtClean="0"/>
              <a:t>       </a:t>
            </a:r>
            <a:endParaRPr lang="en-IN" dirty="0"/>
          </a:p>
        </p:txBody>
      </p:sp>
      <p:sp>
        <p:nvSpPr>
          <p:cNvPr id="6" name="Slide Number Placeholder 5"/>
          <p:cNvSpPr>
            <a:spLocks noGrp="1"/>
          </p:cNvSpPr>
          <p:nvPr>
            <p:ph type="sldNum" sz="quarter" idx="12"/>
          </p:nvPr>
        </p:nvSpPr>
        <p:spPr/>
        <p:txBody>
          <a:bodyPr/>
          <a:lstStyle/>
          <a:p>
            <a:fld id="{8FCB6737-CEFF-4229-B596-48DD87CE84AD}" type="slidenum">
              <a:rPr lang="en-IN" smtClean="0"/>
              <a:t>2</a:t>
            </a:fld>
            <a:endParaRPr lang="en-IN" dirty="0"/>
          </a:p>
        </p:txBody>
      </p:sp>
      <p:sp>
        <p:nvSpPr>
          <p:cNvPr id="7" name="Rectangle 6"/>
          <p:cNvSpPr/>
          <p:nvPr/>
        </p:nvSpPr>
        <p:spPr>
          <a:xfrm>
            <a:off x="7620000" y="1828800"/>
            <a:ext cx="25146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r>
              <a:rPr lang="en-US" dirty="0">
                <a:solidFill>
                  <a:prstClr val="white"/>
                </a:solidFill>
              </a:rPr>
              <a:t>Input message(</a:t>
            </a:r>
            <a:r>
              <a:rPr lang="en-US" dirty="0" err="1">
                <a:solidFill>
                  <a:prstClr val="white"/>
                </a:solidFill>
              </a:rPr>
              <a:t>Varaible</a:t>
            </a:r>
            <a:r>
              <a:rPr lang="en-US" dirty="0">
                <a:solidFill>
                  <a:prstClr val="white"/>
                </a:solidFill>
              </a:rPr>
              <a:t> size)</a:t>
            </a:r>
          </a:p>
        </p:txBody>
      </p:sp>
      <p:graphicFrame>
        <p:nvGraphicFramePr>
          <p:cNvPr id="8" name="Object 2"/>
          <p:cNvGraphicFramePr>
            <a:graphicFrameLocks/>
          </p:cNvGraphicFramePr>
          <p:nvPr>
            <p:extLst/>
          </p:nvPr>
        </p:nvGraphicFramePr>
        <p:xfrm>
          <a:off x="8153400" y="2286000"/>
          <a:ext cx="1447800" cy="1676400"/>
        </p:xfrm>
        <a:graphic>
          <a:graphicData uri="http://schemas.openxmlformats.org/presentationml/2006/ole">
            <mc:AlternateContent xmlns:mc="http://schemas.openxmlformats.org/markup-compatibility/2006">
              <mc:Choice xmlns:v="urn:schemas-microsoft-com:vml" Requires="v">
                <p:oleObj spid="_x0000_s1030" name="ClipArt" r:id="rId4" imgW="2511706" imgH="3661072" progId="MS_ClipArt_Gallery.2">
                  <p:embed/>
                </p:oleObj>
              </mc:Choice>
              <mc:Fallback>
                <p:oleObj name="ClipArt" r:id="rId4" imgW="2511706" imgH="3661072" progId="MS_ClipArt_Gallery.2">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53400" y="2286000"/>
                        <a:ext cx="1447800" cy="1676400"/>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 name="Rectangle 8"/>
          <p:cNvSpPr/>
          <p:nvPr/>
        </p:nvSpPr>
        <p:spPr>
          <a:xfrm>
            <a:off x="7467600" y="3962400"/>
            <a:ext cx="2971800" cy="457200"/>
          </a:xfrm>
          <a:prstGeom prst="rect">
            <a:avLst/>
          </a:prstGeom>
          <a:solidFill>
            <a:srgbClr val="4F81BD"/>
          </a:solidFill>
          <a:ln w="25400" cap="flat" cmpd="sng" algn="ctr">
            <a:solidFill>
              <a:srgbClr val="4F81BD">
                <a:shade val="50000"/>
              </a:srgbClr>
            </a:solidFill>
            <a:prstDash val="solid"/>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libri"/>
              </a:rPr>
              <a:t>Output </a:t>
            </a:r>
            <a:r>
              <a:rPr kumimoji="0" lang="en-US" sz="1800" b="0" i="0" u="none" strike="noStrike" kern="0" cap="none" spc="0" normalizeH="0" baseline="0" noProof="0" dirty="0" smtClean="0">
                <a:ln>
                  <a:noFill/>
                </a:ln>
                <a:solidFill>
                  <a:prstClr val="white"/>
                </a:solidFill>
                <a:effectLst/>
                <a:uLnTx/>
                <a:uFillTx/>
                <a:latin typeface="Calibri"/>
              </a:rPr>
              <a:t>bits(Fixed</a:t>
            </a:r>
            <a:r>
              <a:rPr kumimoji="0" lang="en-US" sz="1800" b="0" i="0" u="none" strike="noStrike" kern="0" cap="none" spc="0" normalizeH="0" baseline="0" noProof="0" dirty="0">
                <a:ln>
                  <a:noFill/>
                </a:ln>
                <a:solidFill>
                  <a:prstClr val="white"/>
                </a:solidFill>
                <a:effectLst/>
                <a:uLnTx/>
                <a:uFillTx/>
                <a:latin typeface="Calibri"/>
              </a:rPr>
              <a:t>)</a:t>
            </a:r>
          </a:p>
        </p:txBody>
      </p:sp>
      <p:pic>
        <p:nvPicPr>
          <p:cNvPr id="10" name="Picture 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66800" y="3200400"/>
            <a:ext cx="4114800" cy="2743200"/>
          </a:xfrm>
          <a:prstGeom prst="rect">
            <a:avLst/>
          </a:prstGeom>
        </p:spPr>
      </p:pic>
    </p:spTree>
    <p:extLst>
      <p:ext uri="{BB962C8B-B14F-4D97-AF65-F5344CB8AC3E}">
        <p14:creationId xmlns:p14="http://schemas.microsoft.com/office/powerpoint/2010/main" val="353080132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IN" b="1" dirty="0"/>
              <a:t>Hash property 1: </a:t>
            </a:r>
            <a:r>
              <a:rPr lang="en-IN" b="1" dirty="0" smtClean="0"/>
              <a:t>Collision-free</a:t>
            </a:r>
            <a:endParaRPr lang="en-IN" dirty="0"/>
          </a:p>
          <a:p>
            <a:r>
              <a:rPr lang="en-IN" dirty="0"/>
              <a:t>Nobody can find x and y such </a:t>
            </a:r>
            <a:r>
              <a:rPr lang="en-IN" dirty="0" smtClean="0"/>
              <a:t>that x </a:t>
            </a:r>
            <a:r>
              <a:rPr lang="en-IN" dirty="0"/>
              <a:t>!= y and H(x)=H(y</a:t>
            </a:r>
            <a:r>
              <a:rPr lang="en-IN" dirty="0" smtClean="0"/>
              <a:t>)</a:t>
            </a:r>
          </a:p>
          <a:p>
            <a:pPr marL="0" indent="0">
              <a:buNone/>
            </a:pPr>
            <a:endParaRPr lang="en-IN" dirty="0" smtClean="0"/>
          </a:p>
          <a:p>
            <a:pPr marL="0" indent="0">
              <a:buNone/>
            </a:pPr>
            <a:endParaRPr lang="en-IN" dirty="0"/>
          </a:p>
          <a:p>
            <a:pPr marL="0" indent="0">
              <a:buNone/>
            </a:pPr>
            <a:r>
              <a:rPr lang="en-IN" dirty="0"/>
              <a:t>  </a:t>
            </a:r>
            <a:r>
              <a:rPr lang="en-IN" b="1" dirty="0"/>
              <a:t>Application: </a:t>
            </a:r>
            <a:r>
              <a:rPr lang="en-IN" dirty="0"/>
              <a:t>Hash as message digest</a:t>
            </a:r>
          </a:p>
          <a:p>
            <a:pPr marL="0" indent="0">
              <a:buNone/>
            </a:pPr>
            <a:endParaRPr lang="en-IN" dirty="0"/>
          </a:p>
          <a:p>
            <a:pPr marL="0" indent="0">
              <a:buNone/>
            </a:pPr>
            <a:endParaRPr lang="en-IN" dirty="0"/>
          </a:p>
        </p:txBody>
      </p:sp>
      <p:sp>
        <p:nvSpPr>
          <p:cNvPr id="6" name="Slide Number Placeholder 5"/>
          <p:cNvSpPr>
            <a:spLocks noGrp="1"/>
          </p:cNvSpPr>
          <p:nvPr>
            <p:ph type="sldNum" sz="quarter" idx="12"/>
          </p:nvPr>
        </p:nvSpPr>
        <p:spPr/>
        <p:txBody>
          <a:bodyPr/>
          <a:lstStyle/>
          <a:p>
            <a:pPr>
              <a:defRPr/>
            </a:pPr>
            <a:fld id="{37109F07-F13A-4551-BD1A-AFA4DB786849}" type="slidenum">
              <a:rPr lang="en-US" smtClean="0"/>
              <a:pPr>
                <a:defRPr/>
              </a:pPr>
              <a:t>3</a:t>
            </a:fld>
            <a:endParaRPr lang="en-US"/>
          </a:p>
        </p:txBody>
      </p:sp>
    </p:spTree>
    <p:extLst>
      <p:ext uri="{BB962C8B-B14F-4D97-AF65-F5344CB8AC3E}">
        <p14:creationId xmlns:p14="http://schemas.microsoft.com/office/powerpoint/2010/main" val="351991917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762001"/>
            <a:ext cx="10972800" cy="5364164"/>
          </a:xfrm>
        </p:spPr>
        <p:txBody>
          <a:bodyPr/>
          <a:lstStyle/>
          <a:p>
            <a:pPr marL="0" indent="0">
              <a:buNone/>
            </a:pPr>
            <a:r>
              <a:rPr lang="en-IN" b="1" i="1" dirty="0" smtClean="0"/>
              <a:t>Hash</a:t>
            </a:r>
            <a:r>
              <a:rPr lang="en-IN" b="1" dirty="0" smtClean="0"/>
              <a:t> </a:t>
            </a:r>
            <a:r>
              <a:rPr lang="en-IN" b="1" i="1" dirty="0"/>
              <a:t>property 2: </a:t>
            </a:r>
            <a:r>
              <a:rPr lang="en-IN" b="1" i="1" dirty="0" smtClean="0"/>
              <a:t>Hiding</a:t>
            </a:r>
          </a:p>
          <a:p>
            <a:pPr marL="0" indent="0">
              <a:buNone/>
            </a:pPr>
            <a:r>
              <a:rPr lang="en-IN" dirty="0" smtClean="0"/>
              <a:t>         We </a:t>
            </a:r>
            <a:r>
              <a:rPr lang="en-IN" dirty="0"/>
              <a:t>want something like this:</a:t>
            </a:r>
          </a:p>
          <a:p>
            <a:pPr marL="0" indent="0">
              <a:buNone/>
            </a:pPr>
            <a:r>
              <a:rPr lang="en-IN" dirty="0" smtClean="0"/>
              <a:t>                  Given </a:t>
            </a:r>
            <a:r>
              <a:rPr lang="en-IN" dirty="0"/>
              <a:t>H(x), it is infeasible to find x</a:t>
            </a:r>
            <a:r>
              <a:rPr lang="en-IN" dirty="0" smtClean="0"/>
              <a:t>.</a:t>
            </a:r>
          </a:p>
          <a:p>
            <a:pPr marL="0" indent="0">
              <a:buNone/>
            </a:pPr>
            <a:r>
              <a:rPr lang="en-IN" sz="2400" u="sng" dirty="0"/>
              <a:t>Hiding property</a:t>
            </a:r>
            <a:r>
              <a:rPr lang="en-IN" sz="2400" dirty="0"/>
              <a:t>:</a:t>
            </a:r>
          </a:p>
          <a:p>
            <a:pPr marL="0" indent="0">
              <a:buNone/>
            </a:pPr>
            <a:r>
              <a:rPr lang="en-IN" sz="2400" dirty="0" smtClean="0"/>
              <a:t>A hash function H is </a:t>
            </a:r>
            <a:r>
              <a:rPr lang="en-IN" sz="2400" dirty="0" err="1" smtClean="0"/>
              <a:t>hiding,If</a:t>
            </a:r>
            <a:r>
              <a:rPr lang="en-IN" sz="2400" dirty="0" smtClean="0"/>
              <a:t> </a:t>
            </a:r>
            <a:r>
              <a:rPr lang="en-IN" sz="2400" dirty="0"/>
              <a:t>r is chosen from a probability distribution that has </a:t>
            </a:r>
            <a:r>
              <a:rPr lang="en-IN" sz="2400" i="1" dirty="0"/>
              <a:t>high min-entropy</a:t>
            </a:r>
            <a:r>
              <a:rPr lang="en-IN" sz="2400" dirty="0"/>
              <a:t>, then given H(r | x), it is infeasible to find x</a:t>
            </a:r>
            <a:r>
              <a:rPr lang="en-IN" sz="2400" dirty="0" smtClean="0"/>
              <a:t>.</a:t>
            </a:r>
          </a:p>
          <a:p>
            <a:pPr marL="0" indent="0">
              <a:buNone/>
            </a:pPr>
            <a:endParaRPr lang="en-IN" dirty="0"/>
          </a:p>
          <a:p>
            <a:pPr marL="0" indent="0">
              <a:buNone/>
            </a:pPr>
            <a:endParaRPr lang="en-IN" dirty="0"/>
          </a:p>
        </p:txBody>
      </p:sp>
      <p:sp>
        <p:nvSpPr>
          <p:cNvPr id="6" name="Slide Number Placeholder 5"/>
          <p:cNvSpPr>
            <a:spLocks noGrp="1"/>
          </p:cNvSpPr>
          <p:nvPr>
            <p:ph type="sldNum" sz="quarter" idx="12"/>
          </p:nvPr>
        </p:nvSpPr>
        <p:spPr/>
        <p:txBody>
          <a:bodyPr/>
          <a:lstStyle/>
          <a:p>
            <a:pPr>
              <a:defRPr/>
            </a:pPr>
            <a:fld id="{37109F07-F13A-4551-BD1A-AFA4DB786849}" type="slidenum">
              <a:rPr lang="en-US" smtClean="0"/>
              <a:pPr>
                <a:defRPr/>
              </a:pPr>
              <a:t>4</a:t>
            </a:fld>
            <a:endParaRPr lang="en-US"/>
          </a:p>
        </p:txBody>
      </p:sp>
    </p:spTree>
    <p:extLst>
      <p:ext uri="{BB962C8B-B14F-4D97-AF65-F5344CB8AC3E}">
        <p14:creationId xmlns:p14="http://schemas.microsoft.com/office/powerpoint/2010/main" val="368228748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IN" b="1" dirty="0"/>
              <a:t>Application: Commitment</a:t>
            </a:r>
            <a:endParaRPr lang="en-IN" dirty="0"/>
          </a:p>
          <a:p>
            <a:pPr marL="0" indent="0">
              <a:buNone/>
            </a:pPr>
            <a:r>
              <a:rPr lang="en-IN" dirty="0" smtClean="0"/>
              <a:t>        Want </a:t>
            </a:r>
            <a:r>
              <a:rPr lang="en-IN" dirty="0"/>
              <a:t>to “seal a value in an envelope”, and</a:t>
            </a:r>
          </a:p>
          <a:p>
            <a:pPr marL="0" indent="0">
              <a:buNone/>
            </a:pPr>
            <a:r>
              <a:rPr lang="en-IN" dirty="0"/>
              <a:t> </a:t>
            </a:r>
            <a:r>
              <a:rPr lang="en-IN" dirty="0" smtClean="0"/>
              <a:t>          </a:t>
            </a:r>
            <a:r>
              <a:rPr lang="en-IN" dirty="0"/>
              <a:t>  “open the envelope” later.</a:t>
            </a:r>
          </a:p>
          <a:p>
            <a:pPr marL="0" indent="0">
              <a:buNone/>
            </a:pPr>
            <a:r>
              <a:rPr lang="en-IN" dirty="0"/>
              <a:t/>
            </a:r>
            <a:br>
              <a:rPr lang="en-IN" dirty="0"/>
            </a:br>
            <a:r>
              <a:rPr lang="en-IN" dirty="0" smtClean="0"/>
              <a:t>            Commit </a:t>
            </a:r>
            <a:r>
              <a:rPr lang="en-IN" dirty="0"/>
              <a:t>to a value, reveal it later.</a:t>
            </a:r>
          </a:p>
          <a:p>
            <a:pPr marL="0" indent="0">
              <a:buNone/>
            </a:pPr>
            <a:endParaRPr lang="en-IN" dirty="0"/>
          </a:p>
        </p:txBody>
      </p:sp>
      <p:sp>
        <p:nvSpPr>
          <p:cNvPr id="6" name="Slide Number Placeholder 5"/>
          <p:cNvSpPr>
            <a:spLocks noGrp="1"/>
          </p:cNvSpPr>
          <p:nvPr>
            <p:ph type="sldNum" sz="quarter" idx="12"/>
          </p:nvPr>
        </p:nvSpPr>
        <p:spPr/>
        <p:txBody>
          <a:bodyPr/>
          <a:lstStyle/>
          <a:p>
            <a:pPr>
              <a:defRPr/>
            </a:pPr>
            <a:fld id="{37109F07-F13A-4551-BD1A-AFA4DB786849}" type="slidenum">
              <a:rPr lang="en-US" smtClean="0"/>
              <a:pPr>
                <a:defRPr/>
              </a:pPr>
              <a:t>5</a:t>
            </a:fld>
            <a:endParaRPr lang="en-US"/>
          </a:p>
        </p:txBody>
      </p:sp>
    </p:spTree>
    <p:extLst>
      <p:ext uri="{BB962C8B-B14F-4D97-AF65-F5344CB8AC3E}">
        <p14:creationId xmlns:p14="http://schemas.microsoft.com/office/powerpoint/2010/main" val="215887712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37109F07-F13A-4551-BD1A-AFA4DB786849}" type="slidenum">
              <a:rPr lang="en-US" smtClean="0"/>
              <a:pPr>
                <a:defRPr/>
              </a:pPr>
              <a:t>6</a:t>
            </a:fld>
            <a:endParaRPr lang="en-US"/>
          </a:p>
        </p:txBody>
      </p:sp>
      <p:pic>
        <p:nvPicPr>
          <p:cNvPr id="7" name="Picture 6"/>
          <p:cNvPicPr>
            <a:picLocks noChangeAspect="1"/>
          </p:cNvPicPr>
          <p:nvPr/>
        </p:nvPicPr>
        <p:blipFill>
          <a:blip r:embed="rId2"/>
          <a:stretch>
            <a:fillRect/>
          </a:stretch>
        </p:blipFill>
        <p:spPr>
          <a:xfrm>
            <a:off x="533400" y="457200"/>
            <a:ext cx="9703225" cy="3520413"/>
          </a:xfrm>
          <a:prstGeom prst="rect">
            <a:avLst/>
          </a:prstGeom>
        </p:spPr>
      </p:pic>
      <p:sp>
        <p:nvSpPr>
          <p:cNvPr id="8" name="Rectangle 7"/>
          <p:cNvSpPr/>
          <p:nvPr/>
        </p:nvSpPr>
        <p:spPr>
          <a:xfrm>
            <a:off x="838200" y="4953000"/>
            <a:ext cx="10287000" cy="369332"/>
          </a:xfrm>
          <a:prstGeom prst="rect">
            <a:avLst/>
          </a:prstGeom>
        </p:spPr>
        <p:txBody>
          <a:bodyPr wrap="square">
            <a:spAutoFit/>
          </a:bodyPr>
          <a:lstStyle/>
          <a:p>
            <a:endParaRPr lang="en-IN" dirty="0"/>
          </a:p>
        </p:txBody>
      </p:sp>
      <p:sp>
        <p:nvSpPr>
          <p:cNvPr id="9" name="Rectangle 8"/>
          <p:cNvSpPr/>
          <p:nvPr/>
        </p:nvSpPr>
        <p:spPr>
          <a:xfrm>
            <a:off x="609600" y="4191000"/>
            <a:ext cx="9220200" cy="1477328"/>
          </a:xfrm>
          <a:prstGeom prst="rect">
            <a:avLst/>
          </a:prstGeom>
        </p:spPr>
        <p:txBody>
          <a:bodyPr wrap="square">
            <a:spAutoFit/>
          </a:bodyPr>
          <a:lstStyle/>
          <a:p>
            <a:r>
              <a:rPr lang="en-IN" dirty="0"/>
              <a:t>With this additional property we can now assure that:</a:t>
            </a:r>
          </a:p>
          <a:p>
            <a:pPr algn="just"/>
            <a:r>
              <a:rPr lang="en-IN" dirty="0"/>
              <a:t>1.Given the commitment and the envelope on the table, someone just looking at it can't figure out what the message is (pre-image resistance)</a:t>
            </a:r>
          </a:p>
          <a:p>
            <a:pPr algn="just"/>
            <a:r>
              <a:rPr lang="en-IN" dirty="0"/>
              <a:t>2. when you commit to what's in the envelope, you can't change your mind later (collision resistance)</a:t>
            </a:r>
          </a:p>
        </p:txBody>
      </p:sp>
    </p:spTree>
    <p:extLst>
      <p:ext uri="{BB962C8B-B14F-4D97-AF65-F5344CB8AC3E}">
        <p14:creationId xmlns:p14="http://schemas.microsoft.com/office/powerpoint/2010/main" val="3514789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anim calcmode="lin" valueType="num">
                                      <p:cBhvr additive="base">
                                        <p:cTn id="11"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9">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anim calcmode="lin" valueType="num">
                                      <p:cBhvr additive="base">
                                        <p:cTn id="15"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9">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b="1" i="1" dirty="0"/>
              <a:t>Hash property 3:Puzzle friendliness property</a:t>
            </a:r>
          </a:p>
          <a:p>
            <a:pPr marL="0" indent="0">
              <a:buNone/>
            </a:pPr>
            <a:r>
              <a:rPr lang="en-IN" dirty="0" smtClean="0"/>
              <a:t>Given </a:t>
            </a:r>
            <a:r>
              <a:rPr lang="en-IN" dirty="0"/>
              <a:t>an output value y (hash of an element x), it must be really difficult to find another element x′ that hashes to y.</a:t>
            </a:r>
          </a:p>
        </p:txBody>
      </p:sp>
      <p:sp>
        <p:nvSpPr>
          <p:cNvPr id="5" name="Rectangle 4"/>
          <p:cNvSpPr/>
          <p:nvPr/>
        </p:nvSpPr>
        <p:spPr>
          <a:xfrm>
            <a:off x="1143000" y="3657600"/>
            <a:ext cx="3582006" cy="461665"/>
          </a:xfrm>
          <a:prstGeom prst="rect">
            <a:avLst/>
          </a:prstGeom>
        </p:spPr>
        <p:txBody>
          <a:bodyPr wrap="none">
            <a:spAutoFit/>
          </a:bodyPr>
          <a:lstStyle/>
          <a:p>
            <a:r>
              <a:rPr lang="en-IN" sz="2400" b="1" dirty="0"/>
              <a:t>Application: Search puzzle</a:t>
            </a:r>
            <a:r>
              <a:rPr lang="en-IN" dirty="0"/>
              <a:t>:</a:t>
            </a:r>
          </a:p>
        </p:txBody>
      </p:sp>
      <p:pic>
        <p:nvPicPr>
          <p:cNvPr id="6" name="Picture 5"/>
          <p:cNvPicPr>
            <a:picLocks noChangeAspect="1"/>
          </p:cNvPicPr>
          <p:nvPr/>
        </p:nvPicPr>
        <p:blipFill>
          <a:blip r:embed="rId2"/>
          <a:stretch>
            <a:fillRect/>
          </a:stretch>
        </p:blipFill>
        <p:spPr>
          <a:xfrm>
            <a:off x="990600" y="4191000"/>
            <a:ext cx="9754445" cy="2667000"/>
          </a:xfrm>
          <a:prstGeom prst="rect">
            <a:avLst/>
          </a:prstGeom>
        </p:spPr>
      </p:pic>
      <p:sp>
        <p:nvSpPr>
          <p:cNvPr id="4" name="Slide Number Placeholder 3"/>
          <p:cNvSpPr>
            <a:spLocks noGrp="1"/>
          </p:cNvSpPr>
          <p:nvPr>
            <p:ph type="sldNum" sz="quarter" idx="12"/>
          </p:nvPr>
        </p:nvSpPr>
        <p:spPr/>
        <p:txBody>
          <a:bodyPr/>
          <a:lstStyle/>
          <a:p>
            <a:fld id="{44ECFAD1-5943-482C-BA4F-72A573AAED08}" type="slidenum">
              <a:rPr lang="en-IN" smtClean="0"/>
              <a:t>7</a:t>
            </a:fld>
            <a:endParaRPr lang="en-IN"/>
          </a:p>
        </p:txBody>
      </p:sp>
    </p:spTree>
    <p:extLst>
      <p:ext uri="{BB962C8B-B14F-4D97-AF65-F5344CB8AC3E}">
        <p14:creationId xmlns:p14="http://schemas.microsoft.com/office/powerpoint/2010/main" val="354895216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r>
              <a:rPr lang="en-IN" dirty="0"/>
              <a:t>By applying the "puzzle friendliness" property, search puzzles can ensure that solutions are unique, difficult to find, and verifiable, making them more engaging and challenging for solvers</a:t>
            </a:r>
            <a:r>
              <a:rPr lang="en-IN" dirty="0" smtClean="0"/>
              <a:t>.</a:t>
            </a:r>
          </a:p>
          <a:p>
            <a:pPr marL="0" indent="0" algn="just">
              <a:buNone/>
            </a:pPr>
            <a:endParaRPr lang="en-IN" dirty="0" smtClean="0"/>
          </a:p>
          <a:p>
            <a:pPr marL="0" indent="0" algn="just">
              <a:buNone/>
            </a:pPr>
            <a:r>
              <a:rPr lang="en-IN" i="1" dirty="0"/>
              <a:t>In summary, hash functions</a:t>
            </a:r>
            <a:r>
              <a:rPr lang="en-IN" i="1" dirty="0" smtClean="0"/>
              <a:t>:</a:t>
            </a:r>
          </a:p>
          <a:p>
            <a:pPr algn="just">
              <a:buFontTx/>
              <a:buChar char="-"/>
            </a:pPr>
            <a:r>
              <a:rPr lang="en-IN" i="1" dirty="0" smtClean="0"/>
              <a:t>Hide </a:t>
            </a:r>
            <a:r>
              <a:rPr lang="en-IN" i="1" dirty="0"/>
              <a:t>sensitive information (passwords</a:t>
            </a:r>
            <a:r>
              <a:rPr lang="en-IN" i="1" dirty="0" smtClean="0"/>
              <a:t>)</a:t>
            </a:r>
          </a:p>
          <a:p>
            <a:pPr algn="just">
              <a:buFontTx/>
              <a:buChar char="-"/>
            </a:pPr>
            <a:r>
              <a:rPr lang="en-IN" i="1" dirty="0" smtClean="0"/>
              <a:t> </a:t>
            </a:r>
            <a:r>
              <a:rPr lang="en-IN" i="1" dirty="0"/>
              <a:t>Verify authenticity and integrity (digital signatures, data integrity</a:t>
            </a:r>
            <a:r>
              <a:rPr lang="en-IN" i="1" dirty="0" smtClean="0"/>
              <a:t>)</a:t>
            </a:r>
          </a:p>
          <a:p>
            <a:pPr algn="just">
              <a:buFontTx/>
              <a:buChar char="-"/>
            </a:pPr>
            <a:r>
              <a:rPr lang="en-IN" i="1" dirty="0" smtClean="0"/>
              <a:t>- </a:t>
            </a:r>
            <a:r>
              <a:rPr lang="en-IN" i="1" dirty="0"/>
              <a:t>Ensure uniqueness and integrity (collision-free property</a:t>
            </a:r>
            <a:r>
              <a:rPr lang="en-IN" dirty="0"/>
              <a:t>)</a:t>
            </a:r>
          </a:p>
        </p:txBody>
      </p:sp>
      <p:sp>
        <p:nvSpPr>
          <p:cNvPr id="4" name="Slide Number Placeholder 3"/>
          <p:cNvSpPr>
            <a:spLocks noGrp="1"/>
          </p:cNvSpPr>
          <p:nvPr>
            <p:ph type="sldNum" sz="quarter" idx="12"/>
          </p:nvPr>
        </p:nvSpPr>
        <p:spPr/>
        <p:txBody>
          <a:bodyPr/>
          <a:lstStyle/>
          <a:p>
            <a:fld id="{44ECFAD1-5943-482C-BA4F-72A573AAED08}" type="slidenum">
              <a:rPr lang="en-IN" smtClean="0"/>
              <a:t>8</a:t>
            </a:fld>
            <a:endParaRPr lang="en-IN"/>
          </a:p>
        </p:txBody>
      </p:sp>
    </p:spTree>
    <p:extLst>
      <p:ext uri="{BB962C8B-B14F-4D97-AF65-F5344CB8AC3E}">
        <p14:creationId xmlns:p14="http://schemas.microsoft.com/office/powerpoint/2010/main" val="3434016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 calcmode="lin" valueType="num">
                                      <p:cBhvr additive="base">
                                        <p:cTn id="1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 calcmode="lin" valueType="num">
                                      <p:cBhvr additive="base">
                                        <p:cTn id="1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itle 1"/>
          <p:cNvSpPr>
            <a:spLocks noGrp="1"/>
          </p:cNvSpPr>
          <p:nvPr>
            <p:ph type="title"/>
          </p:nvPr>
        </p:nvSpPr>
        <p:spPr/>
        <p:txBody>
          <a:bodyPr/>
          <a:lstStyle/>
          <a:p>
            <a:r>
              <a:rPr lang="en-US" dirty="0" smtClean="0"/>
              <a:t>How SHA-256 works?</a:t>
            </a:r>
          </a:p>
        </p:txBody>
      </p:sp>
      <p:sp>
        <p:nvSpPr>
          <p:cNvPr id="83971" name="Content Placeholder 2"/>
          <p:cNvSpPr>
            <a:spLocks noGrp="1"/>
          </p:cNvSpPr>
          <p:nvPr>
            <p:ph idx="1"/>
          </p:nvPr>
        </p:nvSpPr>
        <p:spPr>
          <a:xfrm>
            <a:off x="609600" y="1219200"/>
            <a:ext cx="10972800" cy="5181599"/>
          </a:xfrm>
        </p:spPr>
        <p:txBody>
          <a:bodyPr>
            <a:normAutofit lnSpcReduction="10000"/>
          </a:bodyPr>
          <a:lstStyle/>
          <a:p>
            <a:r>
              <a:rPr lang="en-US" dirty="0" smtClean="0"/>
              <a:t>Step 1: Padding</a:t>
            </a:r>
          </a:p>
          <a:p>
            <a:r>
              <a:rPr lang="en-US" dirty="0" smtClean="0"/>
              <a:t>Step2 : Append length</a:t>
            </a:r>
          </a:p>
          <a:p>
            <a:r>
              <a:rPr lang="en-US" dirty="0" smtClean="0"/>
              <a:t>Step3 :Divide the input into 512-bit blocks</a:t>
            </a:r>
          </a:p>
          <a:p>
            <a:r>
              <a:rPr lang="en-US" dirty="0" smtClean="0"/>
              <a:t>Step4: Initialize chaining </a:t>
            </a:r>
            <a:r>
              <a:rPr lang="en-US" dirty="0" err="1" smtClean="0"/>
              <a:t>varaibles</a:t>
            </a:r>
            <a:endParaRPr lang="en-US" dirty="0" smtClean="0"/>
          </a:p>
          <a:p>
            <a:pPr marL="0" indent="0">
              <a:buNone/>
            </a:pPr>
            <a:r>
              <a:rPr lang="en-US" sz="2000" dirty="0" smtClean="0"/>
              <a:t>       </a:t>
            </a:r>
            <a:r>
              <a:rPr lang="en-IN" sz="2000" b="1" dirty="0" smtClean="0"/>
              <a:t>A := 0x6a09e667          </a:t>
            </a:r>
          </a:p>
          <a:p>
            <a:pPr marL="0" indent="0">
              <a:buNone/>
            </a:pPr>
            <a:r>
              <a:rPr lang="en-IN" sz="2000" b="1" dirty="0" smtClean="0"/>
              <a:t>      B := 0xbb67ae85</a:t>
            </a:r>
          </a:p>
          <a:p>
            <a:pPr marL="0" indent="0">
              <a:buNone/>
            </a:pPr>
            <a:r>
              <a:rPr lang="en-IN" sz="2000" b="1" dirty="0" smtClean="0"/>
              <a:t>      C := 0x3c6ef372</a:t>
            </a:r>
          </a:p>
          <a:p>
            <a:pPr marL="0" indent="0">
              <a:buNone/>
            </a:pPr>
            <a:r>
              <a:rPr lang="en-IN" sz="2000" b="1" dirty="0" smtClean="0"/>
              <a:t>      D := 0xa54ff53a</a:t>
            </a:r>
          </a:p>
          <a:p>
            <a:pPr marL="0" indent="0">
              <a:buNone/>
            </a:pPr>
            <a:r>
              <a:rPr lang="en-IN" sz="2000" b="1" dirty="0" smtClean="0"/>
              <a:t>      E := 0x510e527f</a:t>
            </a:r>
          </a:p>
          <a:p>
            <a:pPr marL="0" indent="0">
              <a:buNone/>
            </a:pPr>
            <a:r>
              <a:rPr lang="en-IN" sz="2000" b="1" dirty="0" smtClean="0"/>
              <a:t>      F := 0x9b05688c</a:t>
            </a:r>
          </a:p>
          <a:p>
            <a:pPr marL="0" indent="0">
              <a:buNone/>
            </a:pPr>
            <a:r>
              <a:rPr lang="en-IN" sz="2000" b="1" dirty="0" smtClean="0"/>
              <a:t>      G := 0x1f83d9ab</a:t>
            </a:r>
          </a:p>
          <a:p>
            <a:pPr marL="0" indent="0">
              <a:buNone/>
            </a:pPr>
            <a:r>
              <a:rPr lang="en-IN" sz="2000" b="1" dirty="0" smtClean="0"/>
              <a:t>      H := 0x5be0cd19</a:t>
            </a:r>
          </a:p>
        </p:txBody>
      </p:sp>
      <p:sp>
        <p:nvSpPr>
          <p:cNvPr id="8397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104D61A2-F39F-452B-A89E-72D0FE795ABA}" type="slidenum">
              <a:rPr lang="en-US" sz="1200">
                <a:solidFill>
                  <a:srgbClr val="898989"/>
                </a:solidFill>
              </a:rPr>
              <a:pPr>
                <a:spcBef>
                  <a:spcPct val="0"/>
                </a:spcBef>
                <a:buFontTx/>
                <a:buNone/>
              </a:pPr>
              <a:t>9</a:t>
            </a:fld>
            <a:endParaRPr lang="en-US" sz="1200">
              <a:solidFill>
                <a:srgbClr val="898989"/>
              </a:solidFill>
            </a:endParaRPr>
          </a:p>
        </p:txBody>
      </p:sp>
    </p:spTree>
    <p:extLst>
      <p:ext uri="{BB962C8B-B14F-4D97-AF65-F5344CB8AC3E}">
        <p14:creationId xmlns:p14="http://schemas.microsoft.com/office/powerpoint/2010/main" val="293518541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5" name="Content Placeholder 2"/>
          <p:cNvSpPr>
            <a:spLocks noGrp="1"/>
          </p:cNvSpPr>
          <p:nvPr>
            <p:ph idx="1"/>
          </p:nvPr>
        </p:nvSpPr>
        <p:spPr>
          <a:xfrm>
            <a:off x="1981200" y="1600200"/>
            <a:ext cx="8229600" cy="4876800"/>
          </a:xfrm>
        </p:spPr>
        <p:txBody>
          <a:bodyPr/>
          <a:lstStyle/>
          <a:p>
            <a:r>
              <a:rPr lang="en-US" dirty="0" smtClean="0"/>
              <a:t>Step 5: Process blocks</a:t>
            </a:r>
          </a:p>
          <a:p>
            <a:pPr>
              <a:buNone/>
            </a:pPr>
            <a:r>
              <a:rPr lang="en-US" dirty="0" smtClean="0"/>
              <a:t>      </a:t>
            </a:r>
            <a:r>
              <a:rPr lang="en-US" sz="2000" dirty="0" smtClean="0"/>
              <a:t>5.1</a:t>
            </a:r>
            <a:r>
              <a:rPr lang="en-US" dirty="0" smtClean="0"/>
              <a:t>   </a:t>
            </a:r>
            <a:r>
              <a:rPr lang="en-US" sz="2000" dirty="0" smtClean="0"/>
              <a:t>: copy the chaining variables into eight corresponding   variables </a:t>
            </a:r>
            <a:r>
              <a:rPr lang="en-US" sz="2000" dirty="0" err="1" smtClean="0"/>
              <a:t>a,b,c</a:t>
            </a:r>
            <a:r>
              <a:rPr lang="en-US" sz="2000" dirty="0" smtClean="0"/>
              <a:t> , d ,</a:t>
            </a:r>
            <a:r>
              <a:rPr lang="en-US" sz="2000" dirty="0" err="1" smtClean="0"/>
              <a:t>e,f,g</a:t>
            </a:r>
            <a:r>
              <a:rPr lang="en-US" sz="2000" dirty="0" smtClean="0"/>
              <a:t> and h</a:t>
            </a:r>
          </a:p>
          <a:p>
            <a:pPr>
              <a:buNone/>
            </a:pPr>
            <a:r>
              <a:rPr lang="en-US" sz="2000" dirty="0" smtClean="0"/>
              <a:t>             5.2 :Divide the current 512 bit block into 16 sub-blocks(size-32bits)</a:t>
            </a:r>
          </a:p>
          <a:p>
            <a:pPr>
              <a:buNone/>
            </a:pPr>
            <a:r>
              <a:rPr lang="en-US" sz="2000" dirty="0" smtClean="0"/>
              <a:t>              5.3: SHA-256 has 64 rounds.</a:t>
            </a:r>
          </a:p>
          <a:p>
            <a:pPr>
              <a:buNone/>
            </a:pPr>
            <a:r>
              <a:rPr lang="en-US" sz="2400" i="1" dirty="0" smtClean="0"/>
              <a:t>                       Conceptual process within a round</a:t>
            </a:r>
            <a:endParaRPr lang="en-US" sz="2400" i="1" dirty="0"/>
          </a:p>
        </p:txBody>
      </p:sp>
      <p:sp>
        <p:nvSpPr>
          <p:cNvPr id="9011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3CE111A1-1C4F-4019-89F6-D51CA5A61104}" type="slidenum">
              <a:rPr lang="en-US" sz="1200">
                <a:solidFill>
                  <a:srgbClr val="898989"/>
                </a:solidFill>
              </a:rPr>
              <a:pPr>
                <a:spcBef>
                  <a:spcPct val="0"/>
                </a:spcBef>
                <a:buFontTx/>
                <a:buNone/>
              </a:pPr>
              <a:t>10</a:t>
            </a:fld>
            <a:endParaRPr lang="en-US" sz="1200">
              <a:solidFill>
                <a:srgbClr val="898989"/>
              </a:solidFill>
            </a:endParaRPr>
          </a:p>
        </p:txBody>
      </p:sp>
      <p:sp>
        <p:nvSpPr>
          <p:cNvPr id="7" name="Rectangle 6"/>
          <p:cNvSpPr/>
          <p:nvPr/>
        </p:nvSpPr>
        <p:spPr>
          <a:xfrm>
            <a:off x="2971800" y="4800600"/>
            <a:ext cx="2362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r>
              <a:rPr lang="en-US" dirty="0">
                <a:solidFill>
                  <a:prstClr val="white"/>
                </a:solidFill>
              </a:rPr>
              <a:t>16 sub-blocks</a:t>
            </a:r>
          </a:p>
        </p:txBody>
      </p:sp>
      <p:sp>
        <p:nvSpPr>
          <p:cNvPr id="9" name="Rectangle 8"/>
          <p:cNvSpPr/>
          <p:nvPr/>
        </p:nvSpPr>
        <p:spPr>
          <a:xfrm>
            <a:off x="2971800" y="5334000"/>
            <a:ext cx="63246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r>
              <a:rPr lang="en-US" dirty="0">
                <a:solidFill>
                  <a:prstClr val="white"/>
                </a:solidFill>
              </a:rPr>
              <a:t>One round</a:t>
            </a:r>
          </a:p>
        </p:txBody>
      </p:sp>
      <p:sp>
        <p:nvSpPr>
          <p:cNvPr id="11" name="Rectangle 10"/>
          <p:cNvSpPr/>
          <p:nvPr/>
        </p:nvSpPr>
        <p:spPr>
          <a:xfrm>
            <a:off x="6705600" y="4648200"/>
            <a:ext cx="2438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r>
              <a:rPr lang="en-US" dirty="0">
                <a:solidFill>
                  <a:prstClr val="white"/>
                </a:solidFill>
              </a:rPr>
              <a:t>Other constants(t)</a:t>
            </a:r>
          </a:p>
        </p:txBody>
      </p:sp>
      <p:cxnSp>
        <p:nvCxnSpPr>
          <p:cNvPr id="13" name="Straight Arrow Connector 12"/>
          <p:cNvCxnSpPr>
            <a:stCxn id="7" idx="2"/>
          </p:cNvCxnSpPr>
          <p:nvPr/>
        </p:nvCxnSpPr>
        <p:spPr>
          <a:xfrm rot="5400000">
            <a:off x="4057650" y="5238750"/>
            <a:ext cx="152400" cy="381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11" idx="2"/>
          </p:cNvCxnSpPr>
          <p:nvPr/>
        </p:nvCxnSpPr>
        <p:spPr>
          <a:xfrm rot="5400000">
            <a:off x="7810501" y="5219701"/>
            <a:ext cx="228600" cy="31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2971800" y="6019800"/>
            <a:ext cx="66294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r>
              <a:rPr lang="en-US" dirty="0">
                <a:solidFill>
                  <a:prstClr val="white"/>
                </a:solidFill>
              </a:rPr>
              <a:t>a     |   b  |  c  |  d  |      e    |     f    |    g                |h</a:t>
            </a:r>
          </a:p>
        </p:txBody>
      </p:sp>
      <p:cxnSp>
        <p:nvCxnSpPr>
          <p:cNvPr id="20" name="Straight Arrow Connector 19"/>
          <p:cNvCxnSpPr/>
          <p:nvPr/>
        </p:nvCxnSpPr>
        <p:spPr>
          <a:xfrm rot="5400000">
            <a:off x="7734301" y="5829301"/>
            <a:ext cx="228600" cy="31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rot="5400000">
            <a:off x="4000501" y="5905501"/>
            <a:ext cx="228600" cy="31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351264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IN" sz="2000" dirty="0" smtClean="0"/>
              <a:t>                                                                                                   </a:t>
            </a:r>
            <a:r>
              <a:rPr lang="en-IN" sz="1800" dirty="0" err="1" smtClean="0"/>
              <a:t>Ch</a:t>
            </a:r>
            <a:r>
              <a:rPr lang="en-IN" sz="1800" dirty="0" smtClean="0"/>
              <a:t> ⁡ ( E , F , G ) = ( E ∧ F ) ⊕ ( ¬ E ∧ G )</a:t>
            </a:r>
          </a:p>
          <a:p>
            <a:pPr marL="0" indent="0">
              <a:buNone/>
            </a:pPr>
            <a:r>
              <a:rPr lang="it-IT" sz="2000" dirty="0" smtClean="0"/>
              <a:t>                                                                                                   </a:t>
            </a:r>
            <a:r>
              <a:rPr lang="it-IT" sz="1600" dirty="0" smtClean="0"/>
              <a:t>Ma ⁡ ( A , B , C ) = ( A ∧ B ) ⊕ ( A ∧ C ) ⊕ ( B ∧ C ) </a:t>
            </a:r>
          </a:p>
          <a:p>
            <a:pPr marL="0" indent="0">
              <a:buNone/>
            </a:pPr>
            <a:r>
              <a:rPr lang="it-IT" sz="2000" dirty="0"/>
              <a:t> </a:t>
            </a:r>
            <a:r>
              <a:rPr lang="it-IT" sz="2000" dirty="0" smtClean="0"/>
              <a:t>                                                                                                   </a:t>
            </a:r>
            <a:r>
              <a:rPr lang="pt-BR" sz="1600" dirty="0" smtClean="0"/>
              <a:t>Σ 0 ( A ) = ( A ⋙ 2 ) ⊕ ( A ⋙ 13 ) ⊕ ( A ⋙ </a:t>
            </a:r>
            <a:r>
              <a:rPr lang="pt-BR" sz="2000" dirty="0" smtClean="0"/>
              <a:t>22 )</a:t>
            </a:r>
          </a:p>
          <a:p>
            <a:pPr marL="0" indent="0">
              <a:buNone/>
            </a:pPr>
            <a:r>
              <a:rPr lang="en-IN" sz="2000" dirty="0" smtClean="0"/>
              <a:t>                                                                                                    </a:t>
            </a:r>
            <a:r>
              <a:rPr lang="en-IN" sz="1600" dirty="0" smtClean="0"/>
              <a:t>Σ </a:t>
            </a:r>
            <a:r>
              <a:rPr lang="en-IN" sz="1600" dirty="0"/>
              <a:t>1 ( E ) = ( E ⋙ 6 ) ⊕ ( E ⋙ 11 ) ⊕ ( E ⋙ 25 </a:t>
            </a:r>
            <a:r>
              <a:rPr lang="en-IN" sz="1600" dirty="0" smtClean="0"/>
              <a:t>)</a:t>
            </a:r>
          </a:p>
          <a:p>
            <a:pPr marL="0" indent="0">
              <a:buNone/>
            </a:pPr>
            <a:r>
              <a:rPr lang="en-IN" sz="2000" dirty="0" smtClean="0"/>
              <a:t>                                                                                                     addition </a:t>
            </a:r>
            <a:r>
              <a:rPr lang="en-IN" sz="2000" dirty="0"/>
              <a:t>modulo 2</a:t>
            </a:r>
            <a:r>
              <a:rPr lang="en-IN" sz="2000" baseline="30000" dirty="0"/>
              <a:t>32</a:t>
            </a:r>
            <a:r>
              <a:rPr lang="en-IN" sz="2000" dirty="0"/>
              <a:t> for SHA-256</a:t>
            </a:r>
          </a:p>
        </p:txBody>
      </p:sp>
      <p:sp>
        <p:nvSpPr>
          <p:cNvPr id="6" name="Slide Number Placeholder 5"/>
          <p:cNvSpPr>
            <a:spLocks noGrp="1"/>
          </p:cNvSpPr>
          <p:nvPr>
            <p:ph type="sldNum" sz="quarter" idx="12"/>
          </p:nvPr>
        </p:nvSpPr>
        <p:spPr/>
        <p:txBody>
          <a:bodyPr/>
          <a:lstStyle/>
          <a:p>
            <a:pPr>
              <a:defRPr/>
            </a:pPr>
            <a:fld id="{37109F07-F13A-4551-BD1A-AFA4DB786849}" type="slidenum">
              <a:rPr lang="en-US" smtClean="0"/>
              <a:pPr>
                <a:defRPr/>
              </a:pPr>
              <a:t>11</a:t>
            </a:fld>
            <a:endParaRPr lang="en-US"/>
          </a:p>
        </p:txBody>
      </p:sp>
      <p:pic>
        <p:nvPicPr>
          <p:cNvPr id="7" name="Picture 6" descr="https://upload.wikimedia.org/wikipedia/commons/thumb/7/7d/SHA-2.svg/400px-SHA-2.svg.png"/>
          <p:cNvPicPr/>
          <p:nvPr/>
        </p:nvPicPr>
        <p:blipFill>
          <a:blip r:embed="rId3">
            <a:extLst>
              <a:ext uri="{28A0092B-C50C-407E-A947-70E740481C1C}">
                <a14:useLocalDpi xmlns:a14="http://schemas.microsoft.com/office/drawing/2010/main" val="0"/>
              </a:ext>
            </a:extLst>
          </a:blip>
          <a:srcRect/>
          <a:stretch>
            <a:fillRect/>
          </a:stretch>
        </p:blipFill>
        <p:spPr bwMode="auto">
          <a:xfrm>
            <a:off x="228600" y="1371600"/>
            <a:ext cx="5562600" cy="4114800"/>
          </a:xfrm>
          <a:prstGeom prst="rect">
            <a:avLst/>
          </a:prstGeom>
          <a:noFill/>
          <a:ln>
            <a:noFill/>
          </a:ln>
        </p:spPr>
      </p:pic>
    </p:spTree>
    <p:extLst>
      <p:ext uri="{BB962C8B-B14F-4D97-AF65-F5344CB8AC3E}">
        <p14:creationId xmlns:p14="http://schemas.microsoft.com/office/powerpoint/2010/main" val="124897011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609601"/>
            <a:ext cx="10972800" cy="5516564"/>
          </a:xfrm>
        </p:spPr>
        <p:txBody>
          <a:bodyPr>
            <a:normAutofit lnSpcReduction="10000"/>
          </a:bodyPr>
          <a:lstStyle/>
          <a:p>
            <a:pPr algn="just"/>
            <a:r>
              <a:rPr lang="en-IN" sz="1800" dirty="0" smtClean="0"/>
              <a:t>k[0..63] :=</a:t>
            </a:r>
          </a:p>
          <a:p>
            <a:pPr marL="0" indent="0" algn="just">
              <a:buNone/>
            </a:pPr>
            <a:r>
              <a:rPr lang="en-IN" sz="1800" dirty="0" smtClean="0"/>
              <a:t>        0x428a2f98, 0x71374491, 0xb5c0fbcf, 0xe9b5dba5, 0x3956c25b, 0x59f111f1, 0x923f82a4, 0xab1c5ed5,</a:t>
            </a:r>
          </a:p>
          <a:p>
            <a:pPr marL="0" indent="0" algn="just">
              <a:buNone/>
            </a:pPr>
            <a:r>
              <a:rPr lang="en-IN" sz="1800" dirty="0" smtClean="0"/>
              <a:t>        0xd807aa98, 0x12835b01, 0x243185be, 0x550c7dc3, 0x72be5d74, 0x80deb1fe, 0x9bdc06a7, 0xc19bf174,</a:t>
            </a:r>
          </a:p>
          <a:p>
            <a:pPr marL="0" indent="0" algn="just">
              <a:buNone/>
            </a:pPr>
            <a:r>
              <a:rPr lang="en-IN" sz="1800" dirty="0" smtClean="0"/>
              <a:t>        0xe49b69c1, 0xefbe4786, 0x0fc19dc6, 0x240ca1cc, 0x2de92c6f, 0x4a7484aa, 0x5cb0a9dc, 0x76f988da,</a:t>
            </a:r>
          </a:p>
          <a:p>
            <a:pPr marL="0" indent="0" algn="just">
              <a:buNone/>
            </a:pPr>
            <a:r>
              <a:rPr lang="en-IN" sz="1800" dirty="0" smtClean="0"/>
              <a:t>        0x983e5152, 0xa831c66d, 0xb00327c8, 0xbf597fc7, 0xc6e00bf3, 0xd5a79147, 0x06ca6351, 0x14292967,</a:t>
            </a:r>
          </a:p>
          <a:p>
            <a:pPr marL="0" indent="0" algn="just">
              <a:buNone/>
            </a:pPr>
            <a:r>
              <a:rPr lang="en-IN" sz="1800" dirty="0" smtClean="0"/>
              <a:t>         0x27b70a85, 0x2e1b2138, 0x4d2c6dfc, 0x53380d13, 0x650a7354, 0x766a0abb, 0x81c2c92e, 0x92722c85,</a:t>
            </a:r>
          </a:p>
          <a:p>
            <a:pPr marL="0" indent="0" algn="just">
              <a:buNone/>
            </a:pPr>
            <a:r>
              <a:rPr lang="en-IN" sz="1800" dirty="0" smtClean="0"/>
              <a:t>        0xa2bfe8a1, 0xa81a664b, 0xc24b8b70, 0xc76c51a3, 0xd192e819, 0xd6990624, 0xf40e3585, 0x106aa070,</a:t>
            </a:r>
          </a:p>
          <a:p>
            <a:pPr marL="0" indent="0" algn="just">
              <a:buNone/>
            </a:pPr>
            <a:r>
              <a:rPr lang="en-IN" sz="1800" dirty="0" smtClean="0"/>
              <a:t>         0x19a4c116, 0x1e376c08, 0x2748774c, 0x34b0bcb5, 0x391c0cb3, 0x4ed8aa4a, 0x5b9cca4f, 0x682e6ff3,</a:t>
            </a:r>
          </a:p>
          <a:p>
            <a:pPr marL="0" indent="0" algn="just">
              <a:buNone/>
            </a:pPr>
            <a:r>
              <a:rPr lang="en-IN" sz="1800" dirty="0" smtClean="0"/>
              <a:t>         0x748f82ee, 0x78a5636f, 0x84c87814, 0x8cc70208, 0x90befffa, 0xa4506ceb, 0xbef9a3f7, 0xc67178f2</a:t>
            </a:r>
          </a:p>
          <a:p>
            <a:pPr marL="0" indent="0" algn="just">
              <a:buNone/>
            </a:pPr>
            <a:endParaRPr lang="en-IN" sz="1800" dirty="0"/>
          </a:p>
          <a:p>
            <a:pPr marL="0" indent="0" algn="just">
              <a:buNone/>
            </a:pPr>
            <a:endParaRPr lang="en-IN" sz="1800" dirty="0" smtClean="0"/>
          </a:p>
          <a:p>
            <a:pPr marL="0" indent="0" algn="just">
              <a:buNone/>
            </a:pPr>
            <a:r>
              <a:rPr lang="en-IN" sz="2000" dirty="0" smtClean="0"/>
              <a:t>for i from W[16 to 63]</a:t>
            </a:r>
          </a:p>
          <a:p>
            <a:pPr marL="0" indent="0" algn="just">
              <a:buNone/>
            </a:pPr>
            <a:r>
              <a:rPr lang="en-IN" sz="2000" dirty="0" smtClean="0"/>
              <a:t>   s0 := (w[i-15] </a:t>
            </a:r>
            <a:r>
              <a:rPr lang="en-IN" sz="2000" dirty="0" err="1" smtClean="0"/>
              <a:t>rightrotate</a:t>
            </a:r>
            <a:r>
              <a:rPr lang="en-IN" sz="2000" dirty="0" smtClean="0"/>
              <a:t> 7) </a:t>
            </a:r>
            <a:r>
              <a:rPr lang="en-IN" sz="2000" dirty="0" err="1" smtClean="0"/>
              <a:t>xor</a:t>
            </a:r>
            <a:r>
              <a:rPr lang="en-IN" sz="2000" dirty="0" smtClean="0"/>
              <a:t> (w[i-15] </a:t>
            </a:r>
            <a:r>
              <a:rPr lang="en-IN" sz="2000" dirty="0" err="1" smtClean="0"/>
              <a:t>rightrotate</a:t>
            </a:r>
            <a:r>
              <a:rPr lang="en-IN" sz="2000" dirty="0" smtClean="0"/>
              <a:t> 18) </a:t>
            </a:r>
            <a:r>
              <a:rPr lang="en-IN" sz="2000" dirty="0" err="1" smtClean="0"/>
              <a:t>xor</a:t>
            </a:r>
            <a:r>
              <a:rPr lang="en-IN" sz="2000" dirty="0" smtClean="0"/>
              <a:t> (w[i-15] </a:t>
            </a:r>
            <a:r>
              <a:rPr lang="en-IN" sz="2000" dirty="0" err="1" smtClean="0"/>
              <a:t>rightshift</a:t>
            </a:r>
            <a:r>
              <a:rPr lang="en-IN" sz="2000" dirty="0" smtClean="0"/>
              <a:t> 3)</a:t>
            </a:r>
          </a:p>
          <a:p>
            <a:pPr marL="0" indent="0" algn="just">
              <a:buNone/>
            </a:pPr>
            <a:r>
              <a:rPr lang="en-IN" sz="2000" dirty="0" smtClean="0"/>
              <a:t>   s1 := (w[i-2] </a:t>
            </a:r>
            <a:r>
              <a:rPr lang="en-IN" sz="2000" dirty="0" err="1" smtClean="0"/>
              <a:t>rightrotate</a:t>
            </a:r>
            <a:r>
              <a:rPr lang="en-IN" sz="2000" dirty="0" smtClean="0"/>
              <a:t> 17) </a:t>
            </a:r>
            <a:r>
              <a:rPr lang="en-IN" sz="2000" dirty="0" err="1" smtClean="0"/>
              <a:t>xor</a:t>
            </a:r>
            <a:r>
              <a:rPr lang="en-IN" sz="2000" dirty="0" smtClean="0"/>
              <a:t> (w[i-2] </a:t>
            </a:r>
            <a:r>
              <a:rPr lang="en-IN" sz="2000" dirty="0" err="1" smtClean="0"/>
              <a:t>rightrotate</a:t>
            </a:r>
            <a:r>
              <a:rPr lang="en-IN" sz="2000" dirty="0" smtClean="0"/>
              <a:t> 19) </a:t>
            </a:r>
            <a:r>
              <a:rPr lang="en-IN" sz="2000" dirty="0" err="1" smtClean="0"/>
              <a:t>xor</a:t>
            </a:r>
            <a:r>
              <a:rPr lang="en-IN" sz="2000" dirty="0" smtClean="0"/>
              <a:t> (w[i-2] </a:t>
            </a:r>
            <a:r>
              <a:rPr lang="en-IN" sz="2000" dirty="0" err="1" smtClean="0"/>
              <a:t>rightshift</a:t>
            </a:r>
            <a:r>
              <a:rPr lang="en-IN" sz="2000" dirty="0" smtClean="0"/>
              <a:t> 10)</a:t>
            </a:r>
          </a:p>
          <a:p>
            <a:pPr marL="0" indent="0" algn="just">
              <a:buNone/>
            </a:pPr>
            <a:r>
              <a:rPr lang="en-IN" sz="2000" dirty="0" smtClean="0"/>
              <a:t>   </a:t>
            </a:r>
            <a:r>
              <a:rPr lang="en-IN" sz="2000" b="1" dirty="0" smtClean="0"/>
              <a:t>w[</a:t>
            </a:r>
            <a:r>
              <a:rPr lang="en-IN" sz="2000" b="1" dirty="0" err="1" smtClean="0"/>
              <a:t>i</a:t>
            </a:r>
            <a:r>
              <a:rPr lang="en-IN" sz="2000" b="1" dirty="0" smtClean="0"/>
              <a:t>] := w[i-16] + s0 + w[i-7] + s1</a:t>
            </a:r>
          </a:p>
          <a:p>
            <a:pPr marL="0" indent="0">
              <a:buNone/>
            </a:pPr>
            <a:endParaRPr lang="en-IN" sz="2000" dirty="0"/>
          </a:p>
        </p:txBody>
      </p:sp>
      <p:sp>
        <p:nvSpPr>
          <p:cNvPr id="6" name="Slide Number Placeholder 5"/>
          <p:cNvSpPr>
            <a:spLocks noGrp="1"/>
          </p:cNvSpPr>
          <p:nvPr>
            <p:ph type="sldNum" sz="quarter" idx="12"/>
          </p:nvPr>
        </p:nvSpPr>
        <p:spPr/>
        <p:txBody>
          <a:bodyPr/>
          <a:lstStyle/>
          <a:p>
            <a:pPr>
              <a:defRPr/>
            </a:pPr>
            <a:fld id="{37109F07-F13A-4551-BD1A-AFA4DB786849}" type="slidenum">
              <a:rPr lang="en-US" smtClean="0"/>
              <a:pPr>
                <a:defRPr/>
              </a:pPr>
              <a:t>12</a:t>
            </a:fld>
            <a:endParaRPr lang="en-US"/>
          </a:p>
        </p:txBody>
      </p:sp>
    </p:spTree>
    <p:extLst>
      <p:ext uri="{BB962C8B-B14F-4D97-AF65-F5344CB8AC3E}">
        <p14:creationId xmlns:p14="http://schemas.microsoft.com/office/powerpoint/2010/main" val="317591811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33400"/>
            <a:ext cx="10515600" cy="6324600"/>
          </a:xfrm>
        </p:spPr>
        <p:txBody>
          <a:bodyPr/>
          <a:lstStyle/>
          <a:p>
            <a:pPr marL="0" indent="0">
              <a:buNone/>
            </a:pPr>
            <a:r>
              <a:rPr lang="en-IN" b="1" dirty="0" smtClean="0"/>
              <a:t>Applications</a:t>
            </a:r>
          </a:p>
          <a:p>
            <a:pPr marL="0" indent="0">
              <a:buNone/>
            </a:pPr>
            <a:r>
              <a:rPr lang="en-IN" dirty="0" err="1"/>
              <a:t>OutputOutput</a:t>
            </a: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1143000"/>
            <a:ext cx="7162800" cy="2286000"/>
          </a:xfrm>
          <a:prstGeom prst="rect">
            <a:avLst/>
          </a:prstGeom>
        </p:spPr>
      </p:pic>
      <p:sp>
        <p:nvSpPr>
          <p:cNvPr id="5" name="Rectangle 4"/>
          <p:cNvSpPr/>
          <p:nvPr/>
        </p:nvSpPr>
        <p:spPr>
          <a:xfrm>
            <a:off x="2133600" y="3810000"/>
            <a:ext cx="684803" cy="369332"/>
          </a:xfrm>
          <a:prstGeom prst="rect">
            <a:avLst/>
          </a:prstGeom>
        </p:spPr>
        <p:txBody>
          <a:bodyPr wrap="none">
            <a:spAutoFit/>
          </a:bodyPr>
          <a:lstStyle/>
          <a:p>
            <a:r>
              <a:rPr lang="en-IN" dirty="0"/>
              <a:t>Input</a:t>
            </a:r>
          </a:p>
        </p:txBody>
      </p:sp>
      <p:sp>
        <p:nvSpPr>
          <p:cNvPr id="6" name="Rectangle 5"/>
          <p:cNvSpPr/>
          <p:nvPr/>
        </p:nvSpPr>
        <p:spPr>
          <a:xfrm>
            <a:off x="3200400" y="3810000"/>
            <a:ext cx="3034805" cy="369332"/>
          </a:xfrm>
          <a:prstGeom prst="rect">
            <a:avLst/>
          </a:prstGeom>
        </p:spPr>
        <p:txBody>
          <a:bodyPr wrap="none">
            <a:spAutoFit/>
          </a:bodyPr>
          <a:lstStyle/>
          <a:p>
            <a:r>
              <a:rPr lang="en-IN" dirty="0"/>
              <a:t>Vellore Institute of Technology</a:t>
            </a:r>
          </a:p>
        </p:txBody>
      </p:sp>
      <p:sp>
        <p:nvSpPr>
          <p:cNvPr id="7" name="Rectangle 6"/>
          <p:cNvSpPr/>
          <p:nvPr/>
        </p:nvSpPr>
        <p:spPr>
          <a:xfrm>
            <a:off x="2057400" y="4267200"/>
            <a:ext cx="856325" cy="369332"/>
          </a:xfrm>
          <a:prstGeom prst="rect">
            <a:avLst/>
          </a:prstGeom>
        </p:spPr>
        <p:txBody>
          <a:bodyPr wrap="none">
            <a:spAutoFit/>
          </a:bodyPr>
          <a:lstStyle/>
          <a:p>
            <a:r>
              <a:rPr lang="en-IN" dirty="0"/>
              <a:t>Output</a:t>
            </a:r>
          </a:p>
        </p:txBody>
      </p:sp>
      <p:sp>
        <p:nvSpPr>
          <p:cNvPr id="8" name="Rectangle 7"/>
          <p:cNvSpPr/>
          <p:nvPr/>
        </p:nvSpPr>
        <p:spPr>
          <a:xfrm>
            <a:off x="3276600" y="4191000"/>
            <a:ext cx="6096000" cy="646331"/>
          </a:xfrm>
          <a:prstGeom prst="rect">
            <a:avLst/>
          </a:prstGeom>
        </p:spPr>
        <p:txBody>
          <a:bodyPr>
            <a:spAutoFit/>
          </a:bodyPr>
          <a:lstStyle/>
          <a:p>
            <a:r>
              <a:rPr lang="en-IN" dirty="0"/>
              <a:t>a6b745a20421874af6467d15757f36c85e52c366a71a43497e7b03b4c3c713d4</a:t>
            </a:r>
          </a:p>
        </p:txBody>
      </p:sp>
      <p:sp>
        <p:nvSpPr>
          <p:cNvPr id="9" name="Rectangle 8"/>
          <p:cNvSpPr/>
          <p:nvPr/>
        </p:nvSpPr>
        <p:spPr>
          <a:xfrm>
            <a:off x="2209800" y="4953000"/>
            <a:ext cx="684803" cy="369332"/>
          </a:xfrm>
          <a:prstGeom prst="rect">
            <a:avLst/>
          </a:prstGeom>
        </p:spPr>
        <p:txBody>
          <a:bodyPr wrap="none">
            <a:spAutoFit/>
          </a:bodyPr>
          <a:lstStyle/>
          <a:p>
            <a:r>
              <a:rPr lang="en-IN" dirty="0"/>
              <a:t>Input</a:t>
            </a:r>
          </a:p>
        </p:txBody>
      </p:sp>
      <p:sp>
        <p:nvSpPr>
          <p:cNvPr id="10" name="Rectangle 9"/>
          <p:cNvSpPr/>
          <p:nvPr/>
        </p:nvSpPr>
        <p:spPr>
          <a:xfrm>
            <a:off x="3352800" y="4953000"/>
            <a:ext cx="2983509" cy="369332"/>
          </a:xfrm>
          <a:prstGeom prst="rect">
            <a:avLst/>
          </a:prstGeom>
        </p:spPr>
        <p:txBody>
          <a:bodyPr wrap="none">
            <a:spAutoFit/>
          </a:bodyPr>
          <a:lstStyle/>
          <a:p>
            <a:r>
              <a:rPr lang="en-IN" dirty="0"/>
              <a:t>Vellore Institute of </a:t>
            </a:r>
            <a:r>
              <a:rPr lang="en-IN" dirty="0" err="1" smtClean="0"/>
              <a:t>Technologi</a:t>
            </a:r>
            <a:endParaRPr lang="en-IN" dirty="0"/>
          </a:p>
        </p:txBody>
      </p:sp>
      <p:sp>
        <p:nvSpPr>
          <p:cNvPr id="11" name="Rectangle 10"/>
          <p:cNvSpPr/>
          <p:nvPr/>
        </p:nvSpPr>
        <p:spPr>
          <a:xfrm>
            <a:off x="2133600" y="5486400"/>
            <a:ext cx="856325" cy="369332"/>
          </a:xfrm>
          <a:prstGeom prst="rect">
            <a:avLst/>
          </a:prstGeom>
        </p:spPr>
        <p:txBody>
          <a:bodyPr wrap="none">
            <a:spAutoFit/>
          </a:bodyPr>
          <a:lstStyle/>
          <a:p>
            <a:r>
              <a:rPr lang="en-IN" dirty="0"/>
              <a:t>Output</a:t>
            </a:r>
          </a:p>
        </p:txBody>
      </p:sp>
      <p:sp>
        <p:nvSpPr>
          <p:cNvPr id="12" name="Rectangle 11"/>
          <p:cNvSpPr/>
          <p:nvPr/>
        </p:nvSpPr>
        <p:spPr>
          <a:xfrm>
            <a:off x="3352800" y="5410200"/>
            <a:ext cx="6096000" cy="646331"/>
          </a:xfrm>
          <a:prstGeom prst="rect">
            <a:avLst/>
          </a:prstGeom>
        </p:spPr>
        <p:txBody>
          <a:bodyPr>
            <a:spAutoFit/>
          </a:bodyPr>
          <a:lstStyle/>
          <a:p>
            <a:r>
              <a:rPr lang="en-IN" dirty="0"/>
              <a:t>bd9106302fd0db7745a50eb06def324ab8702b465ffd72cc04af63fa65ff5857</a:t>
            </a:r>
          </a:p>
        </p:txBody>
      </p:sp>
      <p:sp>
        <p:nvSpPr>
          <p:cNvPr id="13" name="Slide Number Placeholder 12"/>
          <p:cNvSpPr>
            <a:spLocks noGrp="1"/>
          </p:cNvSpPr>
          <p:nvPr>
            <p:ph type="sldNum" sz="quarter" idx="12"/>
          </p:nvPr>
        </p:nvSpPr>
        <p:spPr/>
        <p:txBody>
          <a:bodyPr/>
          <a:lstStyle/>
          <a:p>
            <a:fld id="{44ECFAD1-5943-482C-BA4F-72A573AAED08}" type="slidenum">
              <a:rPr lang="en-IN" smtClean="0"/>
              <a:t>13</a:t>
            </a:fld>
            <a:endParaRPr lang="en-IN"/>
          </a:p>
        </p:txBody>
      </p:sp>
    </p:spTree>
    <p:extLst>
      <p:ext uri="{BB962C8B-B14F-4D97-AF65-F5344CB8AC3E}">
        <p14:creationId xmlns:p14="http://schemas.microsoft.com/office/powerpoint/2010/main" val="243241474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371601"/>
            <a:ext cx="10972800" cy="4754564"/>
          </a:xfrm>
        </p:spPr>
        <p:txBody>
          <a:bodyPr/>
          <a:lstStyle/>
          <a:p>
            <a:r>
              <a:rPr lang="en-US" b="1" i="1" dirty="0" err="1"/>
              <a:t>Merkle</a:t>
            </a:r>
            <a:r>
              <a:rPr lang="en-US" b="1" i="1"/>
              <a:t> </a:t>
            </a:r>
            <a:r>
              <a:rPr lang="en-US" b="1" i="1" smtClean="0"/>
              <a:t>tree:</a:t>
            </a:r>
            <a:endParaRPr lang="en-IN" dirty="0"/>
          </a:p>
        </p:txBody>
      </p:sp>
      <p:sp>
        <p:nvSpPr>
          <p:cNvPr id="6" name="Slide Number Placeholder 5"/>
          <p:cNvSpPr>
            <a:spLocks noGrp="1"/>
          </p:cNvSpPr>
          <p:nvPr>
            <p:ph type="sldNum" sz="quarter" idx="12"/>
          </p:nvPr>
        </p:nvSpPr>
        <p:spPr/>
        <p:txBody>
          <a:bodyPr/>
          <a:lstStyle/>
          <a:p>
            <a:pPr>
              <a:defRPr/>
            </a:pPr>
            <a:fld id="{37109F07-F13A-4551-BD1A-AFA4DB786849}" type="slidenum">
              <a:rPr lang="en-US" smtClean="0"/>
              <a:pPr>
                <a:defRPr/>
              </a:pPr>
              <a:t>14</a:t>
            </a:fld>
            <a:endParaRPr lang="en-US"/>
          </a:p>
        </p:txBody>
      </p:sp>
      <p:pic>
        <p:nvPicPr>
          <p:cNvPr id="7" name="Picture 6"/>
          <p:cNvPicPr>
            <a:picLocks noChangeAspect="1"/>
          </p:cNvPicPr>
          <p:nvPr/>
        </p:nvPicPr>
        <p:blipFill>
          <a:blip r:embed="rId2"/>
          <a:stretch>
            <a:fillRect/>
          </a:stretch>
        </p:blipFill>
        <p:spPr>
          <a:xfrm>
            <a:off x="2971800" y="1447800"/>
            <a:ext cx="7010400" cy="4495800"/>
          </a:xfrm>
          <a:prstGeom prst="rect">
            <a:avLst/>
          </a:prstGeom>
        </p:spPr>
      </p:pic>
      <p:pic>
        <p:nvPicPr>
          <p:cNvPr id="9" name="Picture 8"/>
          <p:cNvPicPr>
            <a:picLocks noChangeAspect="1"/>
          </p:cNvPicPr>
          <p:nvPr/>
        </p:nvPicPr>
        <p:blipFill>
          <a:blip r:embed="rId3"/>
          <a:stretch>
            <a:fillRect/>
          </a:stretch>
        </p:blipFill>
        <p:spPr>
          <a:xfrm>
            <a:off x="4114800" y="6019800"/>
            <a:ext cx="4191000" cy="349250"/>
          </a:xfrm>
          <a:prstGeom prst="rect">
            <a:avLst/>
          </a:prstGeom>
        </p:spPr>
      </p:pic>
    </p:spTree>
    <p:extLst>
      <p:ext uri="{BB962C8B-B14F-4D97-AF65-F5344CB8AC3E}">
        <p14:creationId xmlns:p14="http://schemas.microsoft.com/office/powerpoint/2010/main" val="38033516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37109F07-F13A-4551-BD1A-AFA4DB786849}" type="slidenum">
              <a:rPr lang="en-US" smtClean="0"/>
              <a:pPr>
                <a:defRPr/>
              </a:pPr>
              <a:t>15</a:t>
            </a:fld>
            <a:endParaRPr lang="en-US"/>
          </a:p>
        </p:txBody>
      </p:sp>
      <p:sp>
        <p:nvSpPr>
          <p:cNvPr id="8" name="Rectangle 7"/>
          <p:cNvSpPr/>
          <p:nvPr/>
        </p:nvSpPr>
        <p:spPr>
          <a:xfrm>
            <a:off x="1371600" y="381000"/>
            <a:ext cx="1964577" cy="400110"/>
          </a:xfrm>
          <a:prstGeom prst="rect">
            <a:avLst/>
          </a:prstGeom>
        </p:spPr>
        <p:txBody>
          <a:bodyPr wrap="none">
            <a:spAutoFit/>
          </a:bodyPr>
          <a:lstStyle/>
          <a:p>
            <a:r>
              <a:rPr lang="en-IN" sz="2000" b="1" dirty="0" smtClean="0"/>
              <a:t>Data Verification</a:t>
            </a:r>
            <a:endParaRPr lang="en-IN" sz="2000" b="1" dirty="0"/>
          </a:p>
        </p:txBody>
      </p:sp>
      <p:pic>
        <p:nvPicPr>
          <p:cNvPr id="9" name="Content Placeholder 8"/>
          <p:cNvPicPr>
            <a:picLocks noGrp="1" noChangeAspect="1"/>
          </p:cNvPicPr>
          <p:nvPr>
            <p:ph idx="1"/>
          </p:nvPr>
        </p:nvPicPr>
        <p:blipFill>
          <a:blip r:embed="rId2"/>
          <a:stretch>
            <a:fillRect/>
          </a:stretch>
        </p:blipFill>
        <p:spPr>
          <a:xfrm>
            <a:off x="6019800" y="152400"/>
            <a:ext cx="4419600" cy="3733800"/>
          </a:xfrm>
          <a:prstGeom prst="rect">
            <a:avLst/>
          </a:prstGeom>
        </p:spPr>
      </p:pic>
      <p:pic>
        <p:nvPicPr>
          <p:cNvPr id="3" name="Picture 2"/>
          <p:cNvPicPr>
            <a:picLocks noChangeAspect="1"/>
          </p:cNvPicPr>
          <p:nvPr/>
        </p:nvPicPr>
        <p:blipFill>
          <a:blip r:embed="rId3"/>
          <a:stretch>
            <a:fillRect/>
          </a:stretch>
        </p:blipFill>
        <p:spPr>
          <a:xfrm>
            <a:off x="990600" y="685800"/>
            <a:ext cx="5562600" cy="3810000"/>
          </a:xfrm>
          <a:prstGeom prst="rect">
            <a:avLst/>
          </a:prstGeom>
        </p:spPr>
      </p:pic>
      <p:pic>
        <p:nvPicPr>
          <p:cNvPr id="7" name="Picture 6"/>
          <p:cNvPicPr>
            <a:picLocks noChangeAspect="1"/>
          </p:cNvPicPr>
          <p:nvPr/>
        </p:nvPicPr>
        <p:blipFill>
          <a:blip r:embed="rId4"/>
          <a:stretch>
            <a:fillRect/>
          </a:stretch>
        </p:blipFill>
        <p:spPr>
          <a:xfrm>
            <a:off x="1752600" y="4267200"/>
            <a:ext cx="2514600" cy="209550"/>
          </a:xfrm>
          <a:prstGeom prst="rect">
            <a:avLst/>
          </a:prstGeom>
        </p:spPr>
      </p:pic>
      <p:sp>
        <p:nvSpPr>
          <p:cNvPr id="10" name="Rectangle 9"/>
          <p:cNvSpPr/>
          <p:nvPr/>
        </p:nvSpPr>
        <p:spPr>
          <a:xfrm>
            <a:off x="1600200" y="4495800"/>
            <a:ext cx="8229600" cy="1754326"/>
          </a:xfrm>
          <a:prstGeom prst="rect">
            <a:avLst/>
          </a:prstGeom>
        </p:spPr>
        <p:txBody>
          <a:bodyPr wrap="square">
            <a:spAutoFit/>
          </a:bodyPr>
          <a:lstStyle/>
          <a:p>
            <a:r>
              <a:rPr lang="en-IN" dirty="0" smtClean="0"/>
              <a:t>A </a:t>
            </a:r>
            <a:r>
              <a:rPr lang="en-IN" dirty="0"/>
              <a:t>verifier to</a:t>
            </a:r>
            <a:r>
              <a:rPr lang="en-IN" dirty="0" smtClean="0"/>
              <a:t>:-</a:t>
            </a:r>
          </a:p>
          <a:p>
            <a:pPr marL="285750" indent="-285750">
              <a:buFont typeface="Wingdings" panose="05000000000000000000" pitchFamily="2" charset="2"/>
              <a:buChar char="§"/>
            </a:pPr>
            <a:r>
              <a:rPr lang="en-IN" dirty="0" smtClean="0"/>
              <a:t> </a:t>
            </a:r>
            <a:r>
              <a:rPr lang="en-IN" dirty="0"/>
              <a:t>Recompute the hashes up the tree using the provided </a:t>
            </a:r>
            <a:r>
              <a:rPr lang="en-IN" dirty="0" smtClean="0"/>
              <a:t>branch-</a:t>
            </a:r>
          </a:p>
          <a:p>
            <a:pPr marL="285750" indent="-285750">
              <a:buFont typeface="Wingdings" panose="05000000000000000000" pitchFamily="2" charset="2"/>
              <a:buChar char="§"/>
            </a:pPr>
            <a:r>
              <a:rPr lang="en-IN" dirty="0"/>
              <a:t> </a:t>
            </a:r>
            <a:r>
              <a:rPr lang="en-IN" dirty="0" smtClean="0"/>
              <a:t>Compare </a:t>
            </a:r>
            <a:r>
              <a:rPr lang="en-IN" dirty="0"/>
              <a:t>the recomputed root hash with the known root hash of the </a:t>
            </a:r>
            <a:r>
              <a:rPr lang="en-IN" dirty="0" err="1"/>
              <a:t>Merkle</a:t>
            </a:r>
            <a:r>
              <a:rPr lang="en-IN" dirty="0"/>
              <a:t> </a:t>
            </a:r>
            <a:r>
              <a:rPr lang="en-IN" dirty="0" smtClean="0"/>
              <a:t>tree</a:t>
            </a:r>
          </a:p>
          <a:p>
            <a:r>
              <a:rPr lang="en-IN" dirty="0" smtClean="0"/>
              <a:t>             If </a:t>
            </a:r>
            <a:r>
              <a:rPr lang="en-IN" dirty="0"/>
              <a:t>the recomputed root hash matches the known root hash, it proves that the element is indeed part of the </a:t>
            </a:r>
            <a:r>
              <a:rPr lang="en-IN" dirty="0" smtClean="0"/>
              <a:t>original set, </a:t>
            </a:r>
            <a:r>
              <a:rPr lang="en-IN" dirty="0"/>
              <a:t>without revealing any other elements in the </a:t>
            </a:r>
            <a:r>
              <a:rPr lang="en-IN" dirty="0" smtClean="0"/>
              <a:t>set.</a:t>
            </a:r>
            <a:endParaRPr lang="en-IN" dirty="0"/>
          </a:p>
        </p:txBody>
      </p:sp>
    </p:spTree>
    <p:extLst>
      <p:ext uri="{BB962C8B-B14F-4D97-AF65-F5344CB8AC3E}">
        <p14:creationId xmlns:p14="http://schemas.microsoft.com/office/powerpoint/2010/main" val="84712772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33400"/>
            <a:ext cx="10515600" cy="5643563"/>
          </a:xfrm>
        </p:spPr>
        <p:txBody>
          <a:bodyPr>
            <a:normAutofit/>
          </a:bodyPr>
          <a:lstStyle/>
          <a:p>
            <a:r>
              <a:rPr lang="en-IN" sz="2400" b="1" dirty="0" smtClean="0"/>
              <a:t>Data </a:t>
            </a:r>
            <a:r>
              <a:rPr lang="en-IN" sz="2400" b="1" dirty="0"/>
              <a:t>Verification (Audit Proof) </a:t>
            </a:r>
            <a:r>
              <a:rPr lang="en-IN" sz="2400" b="1" dirty="0" smtClean="0"/>
              <a:t>Work</a:t>
            </a:r>
          </a:p>
          <a:p>
            <a:pPr marL="0" indent="0">
              <a:buNone/>
            </a:pPr>
            <a:r>
              <a:rPr lang="en-IN" sz="2000" dirty="0" smtClean="0"/>
              <a:t>Let's say you are the owner of the transaction "2" in the below  diagram.  You also have, from a trusted authority, the root hash, which is "01234567".  You ask the server to prove to you that your </a:t>
            </a:r>
            <a:r>
              <a:rPr lang="en-IN" sz="2000" dirty="0"/>
              <a:t>transaction </a:t>
            </a:r>
            <a:r>
              <a:rPr lang="en-IN" sz="2000" dirty="0" smtClean="0"/>
              <a:t>"2" is in the tree.  What the server returns to you are the hashes "3", "01", "4567" as illustrated here:</a:t>
            </a:r>
            <a:endParaRPr lang="en-IN" sz="2000" dirty="0"/>
          </a:p>
        </p:txBody>
      </p:sp>
      <p:pic>
        <p:nvPicPr>
          <p:cNvPr id="4" name="Picture 3"/>
          <p:cNvPicPr>
            <a:picLocks noChangeAspect="1"/>
          </p:cNvPicPr>
          <p:nvPr/>
        </p:nvPicPr>
        <p:blipFill>
          <a:blip r:embed="rId2"/>
          <a:stretch>
            <a:fillRect/>
          </a:stretch>
        </p:blipFill>
        <p:spPr>
          <a:xfrm>
            <a:off x="1828800" y="2971800"/>
            <a:ext cx="7772400" cy="3124200"/>
          </a:xfrm>
          <a:prstGeom prst="rect">
            <a:avLst/>
          </a:prstGeom>
        </p:spPr>
      </p:pic>
      <p:sp>
        <p:nvSpPr>
          <p:cNvPr id="5" name="Slide Number Placeholder 4"/>
          <p:cNvSpPr>
            <a:spLocks noGrp="1"/>
          </p:cNvSpPr>
          <p:nvPr>
            <p:ph type="sldNum" sz="quarter" idx="12"/>
          </p:nvPr>
        </p:nvSpPr>
        <p:spPr/>
        <p:txBody>
          <a:bodyPr/>
          <a:lstStyle/>
          <a:p>
            <a:fld id="{44ECFAD1-5943-482C-BA4F-72A573AAED08}" type="slidenum">
              <a:rPr lang="en-IN" smtClean="0"/>
              <a:t>16</a:t>
            </a:fld>
            <a:endParaRPr lang="en-IN"/>
          </a:p>
        </p:txBody>
      </p:sp>
    </p:spTree>
    <p:extLst>
      <p:ext uri="{BB962C8B-B14F-4D97-AF65-F5344CB8AC3E}">
        <p14:creationId xmlns:p14="http://schemas.microsoft.com/office/powerpoint/2010/main" val="91819421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609600"/>
            <a:ext cx="10439400" cy="5567363"/>
          </a:xfrm>
        </p:spPr>
        <p:txBody>
          <a:bodyPr/>
          <a:lstStyle/>
          <a:p>
            <a:pPr marL="342900" lvl="1" indent="-342900">
              <a:buFont typeface="Arial" panose="020B0604020202020204" pitchFamily="34" charset="0"/>
              <a:buChar char="•"/>
            </a:pPr>
            <a:r>
              <a:rPr lang="en-US" b="1" i="1" dirty="0" smtClean="0"/>
              <a:t>Hash pointer</a:t>
            </a:r>
          </a:p>
          <a:p>
            <a:pPr marL="0" lvl="1" indent="0">
              <a:buNone/>
            </a:pPr>
            <a:r>
              <a:rPr lang="en-IN" dirty="0" smtClean="0"/>
              <a:t>A hash </a:t>
            </a:r>
            <a:r>
              <a:rPr lang="en-IN" dirty="0"/>
              <a:t>pointer tells us where something is and what it's value was.</a:t>
            </a:r>
          </a:p>
        </p:txBody>
      </p:sp>
      <p:sp>
        <p:nvSpPr>
          <p:cNvPr id="6" name="Slide Number Placeholder 5"/>
          <p:cNvSpPr>
            <a:spLocks noGrp="1"/>
          </p:cNvSpPr>
          <p:nvPr>
            <p:ph type="sldNum" sz="quarter" idx="12"/>
          </p:nvPr>
        </p:nvSpPr>
        <p:spPr/>
        <p:txBody>
          <a:bodyPr/>
          <a:lstStyle/>
          <a:p>
            <a:pPr>
              <a:defRPr/>
            </a:pPr>
            <a:fld id="{37109F07-F13A-4551-BD1A-AFA4DB786849}" type="slidenum">
              <a:rPr lang="en-US" smtClean="0"/>
              <a:pPr>
                <a:defRPr/>
              </a:pPr>
              <a:t>17</a:t>
            </a:fld>
            <a:endParaRPr lang="en-US"/>
          </a:p>
        </p:txBody>
      </p:sp>
      <p:pic>
        <p:nvPicPr>
          <p:cNvPr id="7" name="image4.jpeg"/>
          <p:cNvPicPr/>
          <p:nvPr/>
        </p:nvPicPr>
        <p:blipFill>
          <a:blip r:embed="rId3" cstate="print"/>
          <a:stretch>
            <a:fillRect/>
          </a:stretch>
        </p:blipFill>
        <p:spPr>
          <a:xfrm>
            <a:off x="2209800" y="2362200"/>
            <a:ext cx="2438400" cy="1550670"/>
          </a:xfrm>
          <a:prstGeom prst="rect">
            <a:avLst/>
          </a:prstGeom>
        </p:spPr>
      </p:pic>
      <p:pic>
        <p:nvPicPr>
          <p:cNvPr id="8" name="Picture 7"/>
          <p:cNvPicPr>
            <a:picLocks noChangeAspect="1"/>
          </p:cNvPicPr>
          <p:nvPr/>
        </p:nvPicPr>
        <p:blipFill>
          <a:blip r:embed="rId4"/>
          <a:stretch>
            <a:fillRect/>
          </a:stretch>
        </p:blipFill>
        <p:spPr>
          <a:xfrm>
            <a:off x="5486400" y="1447800"/>
            <a:ext cx="6169687" cy="4523624"/>
          </a:xfrm>
          <a:prstGeom prst="rect">
            <a:avLst/>
          </a:prstGeom>
        </p:spPr>
      </p:pic>
      <p:pic>
        <p:nvPicPr>
          <p:cNvPr id="9" name="Picture 8"/>
          <p:cNvPicPr>
            <a:picLocks noChangeAspect="1"/>
          </p:cNvPicPr>
          <p:nvPr/>
        </p:nvPicPr>
        <p:blipFill>
          <a:blip r:embed="rId5"/>
          <a:stretch>
            <a:fillRect/>
          </a:stretch>
        </p:blipFill>
        <p:spPr>
          <a:xfrm>
            <a:off x="533400" y="4038600"/>
            <a:ext cx="4188315" cy="1810669"/>
          </a:xfrm>
          <a:prstGeom prst="rect">
            <a:avLst/>
          </a:prstGeom>
        </p:spPr>
      </p:pic>
      <p:pic>
        <p:nvPicPr>
          <p:cNvPr id="10" name="Picture 9"/>
          <p:cNvPicPr>
            <a:picLocks noChangeAspect="1"/>
          </p:cNvPicPr>
          <p:nvPr/>
        </p:nvPicPr>
        <p:blipFill>
          <a:blip r:embed="rId6"/>
          <a:stretch>
            <a:fillRect/>
          </a:stretch>
        </p:blipFill>
        <p:spPr>
          <a:xfrm>
            <a:off x="685800" y="6019800"/>
            <a:ext cx="9425233" cy="682811"/>
          </a:xfrm>
          <a:prstGeom prst="rect">
            <a:avLst/>
          </a:prstGeom>
        </p:spPr>
      </p:pic>
    </p:spTree>
    <p:extLst>
      <p:ext uri="{BB962C8B-B14F-4D97-AF65-F5344CB8AC3E}">
        <p14:creationId xmlns:p14="http://schemas.microsoft.com/office/powerpoint/2010/main" val="125489899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idx="1"/>
          </p:nvPr>
        </p:nvPicPr>
        <p:blipFill>
          <a:blip r:embed="rId2"/>
          <a:stretch>
            <a:fillRect/>
          </a:stretch>
        </p:blipFill>
        <p:spPr>
          <a:xfrm>
            <a:off x="2133600" y="1600200"/>
            <a:ext cx="7315200" cy="4525963"/>
          </a:xfrm>
          <a:prstGeom prst="rect">
            <a:avLst/>
          </a:prstGeom>
        </p:spPr>
      </p:pic>
      <p:sp>
        <p:nvSpPr>
          <p:cNvPr id="6" name="Slide Number Placeholder 5"/>
          <p:cNvSpPr>
            <a:spLocks noGrp="1"/>
          </p:cNvSpPr>
          <p:nvPr>
            <p:ph type="sldNum" sz="quarter" idx="12"/>
          </p:nvPr>
        </p:nvSpPr>
        <p:spPr/>
        <p:txBody>
          <a:bodyPr/>
          <a:lstStyle/>
          <a:p>
            <a:pPr>
              <a:defRPr/>
            </a:pPr>
            <a:fld id="{37109F07-F13A-4551-BD1A-AFA4DB786849}" type="slidenum">
              <a:rPr lang="en-US" smtClean="0"/>
              <a:pPr>
                <a:defRPr/>
              </a:pPr>
              <a:t>18</a:t>
            </a:fld>
            <a:endParaRPr lang="en-US"/>
          </a:p>
        </p:txBody>
      </p:sp>
      <p:sp>
        <p:nvSpPr>
          <p:cNvPr id="8" name="Rectangle 7"/>
          <p:cNvSpPr/>
          <p:nvPr/>
        </p:nvSpPr>
        <p:spPr>
          <a:xfrm>
            <a:off x="1676400" y="6096000"/>
            <a:ext cx="5316007" cy="369332"/>
          </a:xfrm>
          <a:prstGeom prst="rect">
            <a:avLst/>
          </a:prstGeom>
        </p:spPr>
        <p:txBody>
          <a:bodyPr wrap="none">
            <a:spAutoFit/>
          </a:bodyPr>
          <a:lstStyle/>
          <a:p>
            <a:r>
              <a:rPr lang="en-IN" b="1" dirty="0" smtClean="0"/>
              <a:t>The </a:t>
            </a:r>
            <a:r>
              <a:rPr lang="en-IN" b="1" dirty="0"/>
              <a:t>generated hash would look like 000010101010xxx</a:t>
            </a:r>
          </a:p>
        </p:txBody>
      </p:sp>
    </p:spTree>
    <p:extLst>
      <p:ext uri="{BB962C8B-B14F-4D97-AF65-F5344CB8AC3E}">
        <p14:creationId xmlns:p14="http://schemas.microsoft.com/office/powerpoint/2010/main" val="428590308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37109F07-F13A-4551-BD1A-AFA4DB786849}" type="slidenum">
              <a:rPr lang="en-US" smtClean="0"/>
              <a:pPr>
                <a:defRPr/>
              </a:pPr>
              <a:t>19</a:t>
            </a:fld>
            <a:endParaRPr lang="en-US"/>
          </a:p>
        </p:txBody>
      </p:sp>
      <p:pic>
        <p:nvPicPr>
          <p:cNvPr id="7" name="image6.jpeg"/>
          <p:cNvPicPr>
            <a:picLocks noGrp="1"/>
          </p:cNvPicPr>
          <p:nvPr>
            <p:ph idx="1"/>
          </p:nvPr>
        </p:nvPicPr>
        <p:blipFill>
          <a:blip r:embed="rId2" cstate="print"/>
          <a:stretch>
            <a:fillRect/>
          </a:stretch>
        </p:blipFill>
        <p:spPr>
          <a:xfrm>
            <a:off x="533400" y="3124200"/>
            <a:ext cx="8111496" cy="3505200"/>
          </a:xfrm>
          <a:prstGeom prst="rect">
            <a:avLst/>
          </a:prstGeom>
        </p:spPr>
      </p:pic>
      <p:sp>
        <p:nvSpPr>
          <p:cNvPr id="8" name="Rectangle 7"/>
          <p:cNvSpPr/>
          <p:nvPr/>
        </p:nvSpPr>
        <p:spPr>
          <a:xfrm>
            <a:off x="685800" y="1676400"/>
            <a:ext cx="9677400" cy="1477328"/>
          </a:xfrm>
          <a:prstGeom prst="rect">
            <a:avLst/>
          </a:prstGeom>
        </p:spPr>
        <p:txBody>
          <a:bodyPr wrap="square">
            <a:spAutoFit/>
          </a:bodyPr>
          <a:lstStyle/>
          <a:p>
            <a:pPr algn="just"/>
            <a:r>
              <a:rPr lang="en-IN" b="1" dirty="0"/>
              <a:t>Tamper evidence</a:t>
            </a:r>
          </a:p>
          <a:p>
            <a:pPr algn="just"/>
            <a:r>
              <a:rPr lang="en-IN" b="1" dirty="0" smtClean="0">
                <a:solidFill>
                  <a:schemeClr val="bg1"/>
                </a:solidFill>
              </a:rPr>
              <a:t>If an adversary modifies data anywhere in the block chain, it will result  in the hash pointer in the following block being incorrect. If we store the head of the list, then even if the adversary modifies all of the pointers to be consistent with the modified data, the head pointer    will be incorrect, and we will detect the tampering</a:t>
            </a:r>
            <a:r>
              <a:rPr lang="en-IN" dirty="0" smtClean="0">
                <a:solidFill>
                  <a:schemeClr val="bg1"/>
                </a:solidFill>
              </a:rPr>
              <a:t>.</a:t>
            </a:r>
            <a:endParaRPr lang="en-IN" dirty="0">
              <a:solidFill>
                <a:schemeClr val="bg1"/>
              </a:solidFill>
            </a:endParaRPr>
          </a:p>
        </p:txBody>
      </p:sp>
    </p:spTree>
    <p:extLst>
      <p:ext uri="{BB962C8B-B14F-4D97-AF65-F5344CB8AC3E}">
        <p14:creationId xmlns:p14="http://schemas.microsoft.com/office/powerpoint/2010/main" val="53145389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endParaRPr lang="en-IN" dirty="0" smtClean="0"/>
          </a:p>
          <a:p>
            <a:pPr marL="0" indent="0">
              <a:buNone/>
            </a:pPr>
            <a:endParaRPr lang="en-IN" dirty="0"/>
          </a:p>
          <a:p>
            <a:pPr marL="0" indent="0">
              <a:buNone/>
            </a:pPr>
            <a:endParaRPr lang="en-IN" dirty="0" smtClean="0"/>
          </a:p>
          <a:p>
            <a:pPr marL="0" indent="0">
              <a:buNone/>
            </a:pPr>
            <a:endParaRPr lang="en-IN" dirty="0"/>
          </a:p>
          <a:p>
            <a:pPr marL="0" indent="0">
              <a:buNone/>
            </a:pPr>
            <a:endParaRPr lang="en-IN" dirty="0" smtClean="0"/>
          </a:p>
          <a:p>
            <a:pPr marL="0" indent="0">
              <a:buNone/>
            </a:pPr>
            <a:endParaRPr lang="en-IN" dirty="0"/>
          </a:p>
          <a:p>
            <a:pPr marL="0" indent="0">
              <a:buNone/>
            </a:pPr>
            <a:r>
              <a:rPr lang="en-IN" dirty="0" smtClean="0"/>
              <a:t>                                   </a:t>
            </a:r>
          </a:p>
          <a:p>
            <a:pPr marL="0" indent="0">
              <a:buNone/>
            </a:pPr>
            <a:r>
              <a:rPr lang="en-IN" dirty="0"/>
              <a:t> </a:t>
            </a:r>
            <a:r>
              <a:rPr lang="en-IN" dirty="0" smtClean="0"/>
              <a:t>                                 </a:t>
            </a:r>
            <a:r>
              <a:rPr lang="en-IN" sz="2000" dirty="0" err="1" smtClean="0"/>
              <a:t>Fig:Generic</a:t>
            </a:r>
            <a:r>
              <a:rPr lang="en-IN" sz="2000" dirty="0" smtClean="0"/>
              <a:t> structure of a block chain </a:t>
            </a:r>
          </a:p>
          <a:p>
            <a:pPr marL="0" indent="0">
              <a:buNone/>
            </a:pPr>
            <a:endParaRPr lang="en-IN" dirty="0"/>
          </a:p>
          <a:p>
            <a:pPr marL="0" indent="0">
              <a:buNone/>
            </a:pPr>
            <a:endParaRPr lang="en-IN" dirty="0" smtClean="0"/>
          </a:p>
          <a:p>
            <a:pPr marL="0" indent="0">
              <a:buNone/>
            </a:pPr>
            <a:endParaRPr lang="en-IN" dirty="0"/>
          </a:p>
          <a:p>
            <a:pPr marL="0" indent="0">
              <a:buNone/>
            </a:pPr>
            <a:endParaRPr lang="en-IN" dirty="0" smtClean="0"/>
          </a:p>
          <a:p>
            <a:pPr marL="0" indent="0">
              <a:buNone/>
            </a:pPr>
            <a:endParaRPr lang="en-IN" dirty="0"/>
          </a:p>
        </p:txBody>
      </p:sp>
      <p:sp>
        <p:nvSpPr>
          <p:cNvPr id="6" name="Slide Number Placeholder 5"/>
          <p:cNvSpPr>
            <a:spLocks noGrp="1"/>
          </p:cNvSpPr>
          <p:nvPr>
            <p:ph type="sldNum" sz="quarter" idx="12"/>
          </p:nvPr>
        </p:nvSpPr>
        <p:spPr/>
        <p:txBody>
          <a:bodyPr/>
          <a:lstStyle/>
          <a:p>
            <a:fld id="{9EEEBCA1-7FC4-4544-A902-24D63B55653B}" type="slidenum">
              <a:rPr lang="en-IN" smtClean="0"/>
              <a:t>20</a:t>
            </a:fld>
            <a:endParaRPr lang="en-IN"/>
          </a:p>
        </p:txBody>
      </p:sp>
      <p:pic>
        <p:nvPicPr>
          <p:cNvPr id="7" name="Picture 6"/>
          <p:cNvPicPr>
            <a:picLocks noChangeAspect="1"/>
          </p:cNvPicPr>
          <p:nvPr/>
        </p:nvPicPr>
        <p:blipFill>
          <a:blip r:embed="rId2"/>
          <a:stretch>
            <a:fillRect/>
          </a:stretch>
        </p:blipFill>
        <p:spPr>
          <a:xfrm>
            <a:off x="652462" y="1738312"/>
            <a:ext cx="10887075" cy="3381375"/>
          </a:xfrm>
          <a:prstGeom prst="rect">
            <a:avLst/>
          </a:prstGeom>
        </p:spPr>
      </p:pic>
    </p:spTree>
    <p:extLst>
      <p:ext uri="{BB962C8B-B14F-4D97-AF65-F5344CB8AC3E}">
        <p14:creationId xmlns:p14="http://schemas.microsoft.com/office/powerpoint/2010/main" val="145540396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IN" dirty="0"/>
              <a:t>So </a:t>
            </a:r>
            <a:r>
              <a:rPr lang="en-IN" dirty="0" err="1"/>
              <a:t>Merkle</a:t>
            </a:r>
            <a:r>
              <a:rPr lang="en-IN" dirty="0"/>
              <a:t> trees have various advantages:</a:t>
            </a:r>
          </a:p>
          <a:p>
            <a:r>
              <a:rPr lang="en-IN" dirty="0" smtClean="0"/>
              <a:t>The </a:t>
            </a:r>
            <a:r>
              <a:rPr lang="en-IN" dirty="0"/>
              <a:t>tree holds many items but we just need to remember the one root hash (only 256-bits)</a:t>
            </a:r>
          </a:p>
          <a:p>
            <a:r>
              <a:rPr lang="en-IN" dirty="0" smtClean="0"/>
              <a:t>We </a:t>
            </a:r>
            <a:r>
              <a:rPr lang="en-IN" dirty="0"/>
              <a:t>can verify membership in a </a:t>
            </a:r>
            <a:r>
              <a:rPr lang="en-IN" dirty="0" err="1"/>
              <a:t>Merkle</a:t>
            </a:r>
            <a:r>
              <a:rPr lang="en-IN" dirty="0"/>
              <a:t> tree in logarithmic time and logarithmic space</a:t>
            </a:r>
          </a:p>
          <a:p>
            <a:pPr marL="0" indent="0">
              <a:buNone/>
            </a:pPr>
            <a:endParaRPr lang="en-IN" dirty="0"/>
          </a:p>
        </p:txBody>
      </p:sp>
      <p:sp>
        <p:nvSpPr>
          <p:cNvPr id="4" name="Slide Number Placeholder 3"/>
          <p:cNvSpPr>
            <a:spLocks noGrp="1"/>
          </p:cNvSpPr>
          <p:nvPr>
            <p:ph type="sldNum" sz="quarter" idx="12"/>
          </p:nvPr>
        </p:nvSpPr>
        <p:spPr/>
        <p:txBody>
          <a:bodyPr/>
          <a:lstStyle/>
          <a:p>
            <a:fld id="{44ECFAD1-5943-482C-BA4F-72A573AAED08}" type="slidenum">
              <a:rPr lang="en-IN" smtClean="0"/>
              <a:t>21</a:t>
            </a:fld>
            <a:endParaRPr lang="en-IN"/>
          </a:p>
        </p:txBody>
      </p:sp>
    </p:spTree>
    <p:extLst>
      <p:ext uri="{BB962C8B-B14F-4D97-AF65-F5344CB8AC3E}">
        <p14:creationId xmlns:p14="http://schemas.microsoft.com/office/powerpoint/2010/main" val="220877853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lvl="1" indent="0">
              <a:buNone/>
            </a:pPr>
            <a:r>
              <a:rPr lang="en-US" b="1" dirty="0"/>
              <a:t>Digital </a:t>
            </a:r>
            <a:r>
              <a:rPr lang="en-US" b="1" dirty="0" smtClean="0"/>
              <a:t>Signatures</a:t>
            </a:r>
          </a:p>
          <a:p>
            <a:r>
              <a:rPr lang="en-IN" dirty="0"/>
              <a:t>only the owner can make the signature, but everyone seeing it can verify it's validity</a:t>
            </a:r>
          </a:p>
          <a:p>
            <a:pPr marL="0" indent="0">
              <a:buNone/>
            </a:pPr>
            <a:endParaRPr lang="en-IN" dirty="0"/>
          </a:p>
        </p:txBody>
      </p:sp>
      <p:sp>
        <p:nvSpPr>
          <p:cNvPr id="6" name="Slide Number Placeholder 5"/>
          <p:cNvSpPr>
            <a:spLocks noGrp="1"/>
          </p:cNvSpPr>
          <p:nvPr>
            <p:ph type="sldNum" sz="quarter" idx="12"/>
          </p:nvPr>
        </p:nvSpPr>
        <p:spPr/>
        <p:txBody>
          <a:bodyPr/>
          <a:lstStyle/>
          <a:p>
            <a:pPr>
              <a:defRPr/>
            </a:pPr>
            <a:fld id="{37109F07-F13A-4551-BD1A-AFA4DB786849}" type="slidenum">
              <a:rPr lang="en-US" smtClean="0"/>
              <a:pPr>
                <a:defRPr/>
              </a:pPr>
              <a:t>22</a:t>
            </a:fld>
            <a:endParaRPr lang="en-US"/>
          </a:p>
        </p:txBody>
      </p:sp>
    </p:spTree>
    <p:extLst>
      <p:ext uri="{BB962C8B-B14F-4D97-AF65-F5344CB8AC3E}">
        <p14:creationId xmlns:p14="http://schemas.microsoft.com/office/powerpoint/2010/main" val="351258289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itle 1"/>
          <p:cNvSpPr>
            <a:spLocks noGrp="1"/>
          </p:cNvSpPr>
          <p:nvPr>
            <p:ph type="title"/>
          </p:nvPr>
        </p:nvSpPr>
        <p:spPr/>
        <p:txBody>
          <a:bodyPr/>
          <a:lstStyle/>
          <a:p>
            <a:r>
              <a:rPr lang="en-US" smtClean="0">
                <a:latin typeface="Verdana" panose="020B0604030504040204" pitchFamily="34" charset="0"/>
              </a:rPr>
              <a:t>Digital Signatures</a:t>
            </a:r>
            <a:endParaRPr lang="en-US" smtClean="0"/>
          </a:p>
        </p:txBody>
      </p:sp>
      <p:sp>
        <p:nvSpPr>
          <p:cNvPr id="87043" name="Content Placeholder 2"/>
          <p:cNvSpPr>
            <a:spLocks noGrp="1"/>
          </p:cNvSpPr>
          <p:nvPr>
            <p:ph idx="1"/>
          </p:nvPr>
        </p:nvSpPr>
        <p:spPr>
          <a:xfrm>
            <a:off x="1981200" y="1219201"/>
            <a:ext cx="8229600" cy="4906963"/>
          </a:xfrm>
        </p:spPr>
        <p:txBody>
          <a:bodyPr/>
          <a:lstStyle/>
          <a:p>
            <a:r>
              <a:rPr lang="en-US" sz="1800">
                <a:solidFill>
                  <a:schemeClr val="accent2"/>
                </a:solidFill>
              </a:rPr>
              <a:t>I agree</a:t>
            </a:r>
          </a:p>
          <a:p>
            <a:pPr>
              <a:buFont typeface="Arial" panose="020B0604020202020204" pitchFamily="34" charset="0"/>
              <a:buNone/>
            </a:pPr>
            <a:r>
              <a:rPr lang="en-US" sz="1800">
                <a:solidFill>
                  <a:srgbClr val="FF0000"/>
                </a:solidFill>
              </a:rPr>
              <a:t>      Efcc61c1c03db8d8ea8569545c073c814a0ed755</a:t>
            </a:r>
          </a:p>
          <a:p>
            <a:r>
              <a:rPr lang="en-US" sz="1800">
                <a:solidFill>
                  <a:schemeClr val="accent2"/>
                </a:solidFill>
              </a:rPr>
              <a:t>My place of birth is at Gwalior.</a:t>
            </a:r>
          </a:p>
          <a:p>
            <a:pPr>
              <a:buFont typeface="Arial" panose="020B0604020202020204" pitchFamily="34" charset="0"/>
              <a:buNone/>
            </a:pPr>
            <a:r>
              <a:rPr lang="en-US" sz="1800">
                <a:solidFill>
                  <a:srgbClr val="FF0000"/>
                </a:solidFill>
              </a:rPr>
              <a:t>       fe1188eecd44ee23e13c4b6655edc8cd5cdb6f25</a:t>
            </a:r>
          </a:p>
          <a:p>
            <a:r>
              <a:rPr lang="en-US" sz="1800">
                <a:solidFill>
                  <a:schemeClr val="accent2"/>
                </a:solidFill>
              </a:rPr>
              <a:t>I am 62 years old.</a:t>
            </a:r>
          </a:p>
          <a:p>
            <a:pPr>
              <a:buFont typeface="Arial" panose="020B0604020202020204" pitchFamily="34" charset="0"/>
              <a:buNone/>
            </a:pPr>
            <a:r>
              <a:rPr lang="en-US" sz="1800">
                <a:solidFill>
                  <a:srgbClr val="FF0000"/>
                </a:solidFill>
              </a:rPr>
              <a:t>       0e6d7d56c4520756f59235b6ae981cdb5f9820a0</a:t>
            </a:r>
          </a:p>
          <a:p>
            <a:pPr>
              <a:buFont typeface="Arial" panose="020B0604020202020204" pitchFamily="34" charset="0"/>
              <a:buNone/>
            </a:pPr>
            <a:r>
              <a:rPr lang="en-US" sz="1800">
                <a:solidFill>
                  <a:schemeClr val="accent2"/>
                </a:solidFill>
              </a:rPr>
              <a:t>       I am an Engineer.</a:t>
            </a:r>
          </a:p>
          <a:p>
            <a:pPr>
              <a:buFont typeface="Arial" panose="020B0604020202020204" pitchFamily="34" charset="0"/>
              <a:buNone/>
            </a:pPr>
            <a:r>
              <a:rPr lang="en-US" sz="1800">
                <a:solidFill>
                  <a:srgbClr val="FF0000"/>
                </a:solidFill>
              </a:rPr>
              <a:t>       ea0ae29b3b2c20fc018aaca45c3746a057b893e7</a:t>
            </a:r>
          </a:p>
          <a:p>
            <a:pPr>
              <a:buFont typeface="Arial" panose="020B0604020202020204" pitchFamily="34" charset="0"/>
              <a:buNone/>
            </a:pPr>
            <a:r>
              <a:rPr lang="en-US" sz="1800">
                <a:solidFill>
                  <a:schemeClr val="accent2"/>
                </a:solidFill>
              </a:rPr>
              <a:t>       I am a Engineer.</a:t>
            </a:r>
          </a:p>
          <a:p>
            <a:pPr>
              <a:buFont typeface="Arial" panose="020B0604020202020204" pitchFamily="34" charset="0"/>
              <a:buNone/>
            </a:pPr>
            <a:r>
              <a:rPr lang="en-US" sz="1800">
                <a:solidFill>
                  <a:srgbClr val="FF0000"/>
                </a:solidFill>
              </a:rPr>
              <a:t>       01f1d8abd9c2e6130870842055d97d315dff1ea3</a:t>
            </a:r>
          </a:p>
          <a:p>
            <a:pPr>
              <a:buFont typeface="Arial" panose="020B0604020202020204" pitchFamily="34" charset="0"/>
              <a:buNone/>
            </a:pPr>
            <a:r>
              <a:rPr lang="en-US" sz="1800"/>
              <a:t>      These are digital signatures of same person on different documents</a:t>
            </a:r>
          </a:p>
          <a:p>
            <a:pPr>
              <a:buFontTx/>
              <a:buChar char="•"/>
            </a:pPr>
            <a:r>
              <a:rPr lang="en-US" sz="1800">
                <a:solidFill>
                  <a:srgbClr val="990000"/>
                </a:solidFill>
              </a:rPr>
              <a:t>Digital Signatures are numbers</a:t>
            </a:r>
          </a:p>
          <a:p>
            <a:pPr>
              <a:buFontTx/>
              <a:buChar char="•"/>
            </a:pPr>
            <a:r>
              <a:rPr lang="en-US" sz="1800">
                <a:solidFill>
                  <a:srgbClr val="CC0099"/>
                </a:solidFill>
              </a:rPr>
              <a:t>They are document content dependent</a:t>
            </a:r>
          </a:p>
          <a:p>
            <a:endParaRPr lang="en-US" sz="2400">
              <a:solidFill>
                <a:srgbClr val="FF0000"/>
              </a:solidFill>
            </a:endParaRPr>
          </a:p>
          <a:p>
            <a:endParaRPr lang="en-US" sz="2400"/>
          </a:p>
        </p:txBody>
      </p:sp>
      <p:sp>
        <p:nvSpPr>
          <p:cNvPr id="8704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7AFFB22-A4CF-46AD-B07B-89D999F0911C}" type="slidenum">
              <a:rPr lang="en-US" sz="1200">
                <a:solidFill>
                  <a:srgbClr val="898989"/>
                </a:solidFill>
              </a:rPr>
              <a:pPr>
                <a:spcBef>
                  <a:spcPct val="0"/>
                </a:spcBef>
                <a:buFontTx/>
                <a:buNone/>
              </a:pPr>
              <a:t>23</a:t>
            </a:fld>
            <a:endParaRPr lang="en-US" sz="1200">
              <a:solidFill>
                <a:srgbClr val="898989"/>
              </a:solidFill>
            </a:endParaRPr>
          </a:p>
        </p:txBody>
      </p:sp>
      <p:pic>
        <p:nvPicPr>
          <p:cNvPr id="87047" name="Picture 2" descr="C:\WINDOWS\Application Data\Microsoft\Media Catalog\Downloaded Clips\cl4f\j0198979.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2400" y="990600"/>
            <a:ext cx="27432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3093971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a:t>
            </a:r>
            <a:endParaRPr lang="en-IN" dirty="0"/>
          </a:p>
        </p:txBody>
      </p:sp>
      <p:sp>
        <p:nvSpPr>
          <p:cNvPr id="3" name="Content Placeholder 2"/>
          <p:cNvSpPr>
            <a:spLocks noGrp="1"/>
          </p:cNvSpPr>
          <p:nvPr>
            <p:ph idx="1"/>
          </p:nvPr>
        </p:nvSpPr>
        <p:spPr>
          <a:xfrm>
            <a:off x="533400" y="609600"/>
            <a:ext cx="10972800" cy="5592764"/>
          </a:xfrm>
        </p:spPr>
        <p:txBody>
          <a:bodyPr>
            <a:normAutofit fontScale="92500" lnSpcReduction="10000"/>
          </a:bodyPr>
          <a:lstStyle/>
          <a:p>
            <a:r>
              <a:rPr lang="en-IN" b="1" dirty="0"/>
              <a:t>Signature scheme</a:t>
            </a:r>
          </a:p>
          <a:p>
            <a:pPr marL="0" indent="0">
              <a:buNone/>
            </a:pPr>
            <a:endParaRPr lang="en-IN" sz="1800" dirty="0" smtClean="0"/>
          </a:p>
          <a:p>
            <a:pPr marL="0" indent="0">
              <a:buNone/>
            </a:pPr>
            <a:r>
              <a:rPr lang="en-IN" sz="1800" dirty="0" smtClean="0"/>
              <a:t>These </a:t>
            </a:r>
            <a:r>
              <a:rPr lang="en-IN" sz="1800" dirty="0"/>
              <a:t>three operations constitute a signature </a:t>
            </a:r>
            <a:r>
              <a:rPr lang="en-IN" sz="1800" dirty="0" smtClean="0"/>
              <a:t>scheme:</a:t>
            </a:r>
            <a:endParaRPr lang="en-IN" sz="1800" dirty="0"/>
          </a:p>
          <a:p>
            <a:pPr algn="just"/>
            <a:r>
              <a:rPr lang="en-IN" sz="1800" dirty="0"/>
              <a:t>    </a:t>
            </a:r>
            <a:r>
              <a:rPr lang="en-IN" sz="2400" dirty="0"/>
              <a:t>Generate a pair of keys: </a:t>
            </a:r>
            <a:r>
              <a:rPr lang="en-IN" sz="2400" b="1" dirty="0" err="1" smtClean="0"/>
              <a:t>sk</a:t>
            </a:r>
            <a:r>
              <a:rPr lang="en-IN" sz="2400" dirty="0" smtClean="0"/>
              <a:t>= </a:t>
            </a:r>
            <a:r>
              <a:rPr lang="en-IN" sz="2400" dirty="0"/>
              <a:t>secret signing key, and </a:t>
            </a:r>
            <a:r>
              <a:rPr lang="en-IN" sz="2400" b="1" dirty="0" err="1"/>
              <a:t>pk</a:t>
            </a:r>
            <a:r>
              <a:rPr lang="en-IN" sz="2400" b="1" dirty="0"/>
              <a:t> </a:t>
            </a:r>
            <a:r>
              <a:rPr lang="en-IN" sz="2400" dirty="0"/>
              <a:t>= public verification key of length in bit equal to </a:t>
            </a:r>
            <a:r>
              <a:rPr lang="en-IN" sz="2400" dirty="0" err="1"/>
              <a:t>keysize</a:t>
            </a:r>
            <a:r>
              <a:rPr lang="en-IN" sz="2400" dirty="0"/>
              <a:t>. So we will need an operation (</a:t>
            </a:r>
            <a:r>
              <a:rPr lang="en-IN" sz="2400" dirty="0" err="1"/>
              <a:t>sk,pk</a:t>
            </a:r>
            <a:r>
              <a:rPr lang="en-IN" sz="2400" dirty="0"/>
              <a:t>):=</a:t>
            </a:r>
            <a:r>
              <a:rPr lang="en-IN" sz="2400" b="1" dirty="0" err="1"/>
              <a:t>generateKeys</a:t>
            </a:r>
            <a:r>
              <a:rPr lang="en-IN" sz="2400" b="1" dirty="0"/>
              <a:t>(</a:t>
            </a:r>
            <a:r>
              <a:rPr lang="en-IN" sz="2400" b="1" dirty="0" err="1"/>
              <a:t>keysize</a:t>
            </a:r>
            <a:r>
              <a:rPr lang="en-IN" sz="2400" b="1" dirty="0"/>
              <a:t>)</a:t>
            </a:r>
            <a:r>
              <a:rPr lang="en-IN" sz="2400" dirty="0"/>
              <a:t>. </a:t>
            </a:r>
            <a:r>
              <a:rPr lang="en-IN" sz="2400" b="1" dirty="0" err="1"/>
              <a:t>sk</a:t>
            </a:r>
            <a:r>
              <a:rPr lang="en-IN" sz="2400" dirty="0"/>
              <a:t> will be the key to make the signature and </a:t>
            </a:r>
            <a:r>
              <a:rPr lang="en-IN" sz="2400" b="1" dirty="0" err="1" smtClean="0"/>
              <a:t>pk</a:t>
            </a:r>
            <a:r>
              <a:rPr lang="en-IN" sz="2400" dirty="0" smtClean="0"/>
              <a:t> will </a:t>
            </a:r>
            <a:r>
              <a:rPr lang="en-IN" sz="2400" dirty="0"/>
              <a:t>be the key that let other subjects verify the signature</a:t>
            </a:r>
            <a:r>
              <a:rPr lang="en-IN" sz="2400" dirty="0" smtClean="0"/>
              <a:t>.</a:t>
            </a:r>
          </a:p>
          <a:p>
            <a:pPr marL="0" indent="0" algn="just">
              <a:buNone/>
            </a:pPr>
            <a:endParaRPr lang="en-IN" sz="2400" dirty="0"/>
          </a:p>
          <a:p>
            <a:pPr algn="just"/>
            <a:r>
              <a:rPr lang="en-IN" sz="2400" dirty="0"/>
              <a:t>Sign documents: takes the secret key</a:t>
            </a:r>
            <a:r>
              <a:rPr lang="en-IN" sz="2400" b="1" dirty="0"/>
              <a:t> </a:t>
            </a:r>
            <a:r>
              <a:rPr lang="en-IN" sz="2400" b="1" dirty="0" err="1" smtClean="0"/>
              <a:t>sk</a:t>
            </a:r>
            <a:r>
              <a:rPr lang="en-IN" sz="2400" b="1" dirty="0" smtClean="0"/>
              <a:t> </a:t>
            </a:r>
            <a:r>
              <a:rPr lang="en-IN" sz="2400" dirty="0" smtClean="0"/>
              <a:t>and </a:t>
            </a:r>
            <a:r>
              <a:rPr lang="en-IN" sz="2400" dirty="0"/>
              <a:t>a message</a:t>
            </a:r>
            <a:r>
              <a:rPr lang="en-IN" sz="2400" b="1" dirty="0"/>
              <a:t> m </a:t>
            </a:r>
            <a:r>
              <a:rPr lang="en-IN" sz="2400" dirty="0"/>
              <a:t>and returns the message signed </a:t>
            </a:r>
            <a:r>
              <a:rPr lang="en-IN" sz="2400" b="1" dirty="0"/>
              <a:t>sig.</a:t>
            </a:r>
            <a:r>
              <a:rPr lang="en-IN" sz="2400" dirty="0"/>
              <a:t> So we will need an operation </a:t>
            </a:r>
            <a:r>
              <a:rPr lang="en-IN" sz="2400" b="1" dirty="0"/>
              <a:t>sig:=sign(</a:t>
            </a:r>
            <a:r>
              <a:rPr lang="en-IN" sz="2400" b="1" dirty="0" err="1"/>
              <a:t>sk,message</a:t>
            </a:r>
            <a:r>
              <a:rPr lang="en-IN" sz="2400" b="1" dirty="0"/>
              <a:t>)</a:t>
            </a:r>
          </a:p>
          <a:p>
            <a:pPr marL="0" indent="0" algn="just">
              <a:buNone/>
            </a:pPr>
            <a:endParaRPr lang="en-IN" sz="2400" dirty="0"/>
          </a:p>
          <a:p>
            <a:pPr algn="just"/>
            <a:r>
              <a:rPr lang="en-IN" sz="2400" dirty="0"/>
              <a:t>Signature verification: </a:t>
            </a:r>
            <a:r>
              <a:rPr lang="en-IN" sz="2400" dirty="0" smtClean="0"/>
              <a:t>                                                           takes </a:t>
            </a:r>
            <a:r>
              <a:rPr lang="en-IN" sz="2400" dirty="0"/>
              <a:t>the public key </a:t>
            </a:r>
            <a:r>
              <a:rPr lang="en-IN" sz="2400" b="1" dirty="0" err="1" smtClean="0"/>
              <a:t>pk</a:t>
            </a:r>
            <a:r>
              <a:rPr lang="en-IN" sz="2400" dirty="0" smtClean="0"/>
              <a:t>, </a:t>
            </a:r>
            <a:r>
              <a:rPr lang="en-IN" sz="2400" dirty="0"/>
              <a:t>the message </a:t>
            </a:r>
            <a:r>
              <a:rPr lang="en-IN" sz="2400" b="1" dirty="0" smtClean="0"/>
              <a:t>m</a:t>
            </a:r>
            <a:r>
              <a:rPr lang="en-IN" sz="2400" dirty="0" smtClean="0"/>
              <a:t> and </a:t>
            </a:r>
            <a:r>
              <a:rPr lang="en-IN" sz="2400" dirty="0"/>
              <a:t>the supposed signature and returns </a:t>
            </a:r>
            <a:r>
              <a:rPr lang="en-IN" sz="2400" b="1" dirty="0"/>
              <a:t>yes</a:t>
            </a:r>
            <a:r>
              <a:rPr lang="en-IN" sz="2400" dirty="0"/>
              <a:t> or </a:t>
            </a:r>
            <a:r>
              <a:rPr lang="en-IN" sz="2400" b="1" dirty="0"/>
              <a:t>no</a:t>
            </a:r>
            <a:r>
              <a:rPr lang="en-IN" sz="2400" dirty="0"/>
              <a:t>, whether the signature is valid or not</a:t>
            </a:r>
          </a:p>
          <a:p>
            <a:pPr marL="0" indent="0">
              <a:buNone/>
            </a:pPr>
            <a:endParaRPr lang="en-IN" sz="2000" dirty="0"/>
          </a:p>
          <a:p>
            <a:pPr marL="0" indent="0">
              <a:buNone/>
            </a:pPr>
            <a:r>
              <a:rPr lang="en-IN" sz="2000" dirty="0">
                <a:solidFill>
                  <a:schemeClr val="bg1"/>
                </a:solidFill>
              </a:rPr>
              <a:t>These three operations constitute a signature scheme. The first two can be randomized algorithms, while the verification will always be deterministic. </a:t>
            </a:r>
            <a:r>
              <a:rPr lang="en-IN" sz="2000" dirty="0" err="1">
                <a:solidFill>
                  <a:schemeClr val="bg1"/>
                </a:solidFill>
              </a:rPr>
              <a:t>Infact</a:t>
            </a:r>
            <a:r>
              <a:rPr lang="en-IN" sz="2000" dirty="0">
                <a:solidFill>
                  <a:schemeClr val="bg1"/>
                </a:solidFill>
              </a:rPr>
              <a:t>, </a:t>
            </a:r>
            <a:r>
              <a:rPr lang="en-IN" sz="2000" dirty="0" err="1">
                <a:solidFill>
                  <a:schemeClr val="bg1"/>
                </a:solidFill>
              </a:rPr>
              <a:t>generateKeys</a:t>
            </a:r>
            <a:r>
              <a:rPr lang="en-IN" sz="2000" dirty="0">
                <a:solidFill>
                  <a:schemeClr val="bg1"/>
                </a:solidFill>
              </a:rPr>
              <a:t> must generate different keys for different people</a:t>
            </a:r>
            <a:r>
              <a:rPr lang="en-IN" sz="1800" dirty="0">
                <a:solidFill>
                  <a:schemeClr val="bg1"/>
                </a:solidFill>
              </a:rPr>
              <a:t>.</a:t>
            </a:r>
          </a:p>
        </p:txBody>
      </p:sp>
      <p:sp>
        <p:nvSpPr>
          <p:cNvPr id="6" name="Slide Number Placeholder 5"/>
          <p:cNvSpPr>
            <a:spLocks noGrp="1"/>
          </p:cNvSpPr>
          <p:nvPr>
            <p:ph type="sldNum" sz="quarter" idx="12"/>
          </p:nvPr>
        </p:nvSpPr>
        <p:spPr/>
        <p:txBody>
          <a:bodyPr/>
          <a:lstStyle/>
          <a:p>
            <a:pPr>
              <a:defRPr/>
            </a:pPr>
            <a:fld id="{37109F07-F13A-4551-BD1A-AFA4DB786849}" type="slidenum">
              <a:rPr lang="en-US" smtClean="0"/>
              <a:pPr>
                <a:defRPr/>
              </a:pPr>
              <a:t>24</a:t>
            </a:fld>
            <a:endParaRPr lang="en-US"/>
          </a:p>
        </p:txBody>
      </p:sp>
      <p:pic>
        <p:nvPicPr>
          <p:cNvPr id="7" name="Picture 6"/>
          <p:cNvPicPr>
            <a:picLocks noChangeAspect="1"/>
          </p:cNvPicPr>
          <p:nvPr/>
        </p:nvPicPr>
        <p:blipFill>
          <a:blip r:embed="rId3"/>
          <a:stretch>
            <a:fillRect/>
          </a:stretch>
        </p:blipFill>
        <p:spPr>
          <a:xfrm>
            <a:off x="3429000" y="4419600"/>
            <a:ext cx="3518958" cy="333375"/>
          </a:xfrm>
          <a:prstGeom prst="rect">
            <a:avLst/>
          </a:prstGeom>
        </p:spPr>
      </p:pic>
    </p:spTree>
    <p:extLst>
      <p:ext uri="{BB962C8B-B14F-4D97-AF65-F5344CB8AC3E}">
        <p14:creationId xmlns:p14="http://schemas.microsoft.com/office/powerpoint/2010/main" val="305663359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r>
              <a:rPr lang="en-IN" sz="2400" dirty="0" smtClean="0"/>
              <a:t>The following two properties hold:</a:t>
            </a:r>
          </a:p>
          <a:p>
            <a:r>
              <a:rPr lang="en-IN" sz="2400" b="1" dirty="0" smtClean="0"/>
              <a:t>Valid Signature must verify</a:t>
            </a:r>
          </a:p>
          <a:p>
            <a:pPr marL="0" indent="0">
              <a:buNone/>
            </a:pPr>
            <a:r>
              <a:rPr lang="en-IN" sz="3600" dirty="0" smtClean="0"/>
              <a:t>  </a:t>
            </a:r>
            <a:r>
              <a:rPr lang="en-IN" dirty="0" smtClean="0"/>
              <a:t>verify(</a:t>
            </a:r>
            <a:r>
              <a:rPr lang="en-IN" dirty="0" err="1" smtClean="0"/>
              <a:t>pk</a:t>
            </a:r>
            <a:r>
              <a:rPr lang="en-IN" dirty="0" smtClean="0"/>
              <a:t>, message .sign(</a:t>
            </a:r>
            <a:r>
              <a:rPr lang="en-IN" dirty="0" err="1" smtClean="0"/>
              <a:t>sk,message</a:t>
            </a:r>
            <a:r>
              <a:rPr lang="en-IN" dirty="0" smtClean="0"/>
              <a:t> )) == true </a:t>
            </a:r>
          </a:p>
          <a:p>
            <a:r>
              <a:rPr lang="en-IN" sz="2400" b="1" dirty="0"/>
              <a:t>Signatures are existentially unforgeable</a:t>
            </a:r>
            <a:r>
              <a:rPr lang="en-IN" sz="2400" dirty="0"/>
              <a:t/>
            </a:r>
            <a:br>
              <a:rPr lang="en-IN" sz="2400" dirty="0"/>
            </a:br>
            <a:r>
              <a:rPr lang="en-IN" dirty="0"/>
              <a:t>It must be </a:t>
            </a:r>
            <a:r>
              <a:rPr lang="en-IN" b="1" dirty="0"/>
              <a:t>impossible to forge signatures</a:t>
            </a:r>
            <a:r>
              <a:rPr lang="en-IN" dirty="0"/>
              <a:t>. An adversary who knows my public key and verifies my signatures on some messages, can't forge my signature on some other messages.</a:t>
            </a:r>
            <a:endParaRPr lang="en-IN" b="1" dirty="0" smtClean="0"/>
          </a:p>
          <a:p>
            <a:endParaRPr lang="en-IN" dirty="0"/>
          </a:p>
        </p:txBody>
      </p:sp>
      <p:sp>
        <p:nvSpPr>
          <p:cNvPr id="6" name="Slide Number Placeholder 5"/>
          <p:cNvSpPr>
            <a:spLocks noGrp="1"/>
          </p:cNvSpPr>
          <p:nvPr>
            <p:ph type="sldNum" sz="quarter" idx="12"/>
          </p:nvPr>
        </p:nvSpPr>
        <p:spPr/>
        <p:txBody>
          <a:bodyPr/>
          <a:lstStyle/>
          <a:p>
            <a:pPr>
              <a:defRPr/>
            </a:pPr>
            <a:fld id="{37109F07-F13A-4551-BD1A-AFA4DB786849}" type="slidenum">
              <a:rPr lang="en-US" smtClean="0"/>
              <a:pPr>
                <a:defRPr/>
              </a:pPr>
              <a:t>25</a:t>
            </a:fld>
            <a:endParaRPr lang="en-US"/>
          </a:p>
        </p:txBody>
      </p:sp>
    </p:spTree>
    <p:extLst>
      <p:ext uri="{BB962C8B-B14F-4D97-AF65-F5344CB8AC3E}">
        <p14:creationId xmlns:p14="http://schemas.microsoft.com/office/powerpoint/2010/main" val="377142705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1"/>
            <a:ext cx="10515600" cy="685800"/>
          </a:xfrm>
        </p:spPr>
        <p:txBody>
          <a:bodyPr>
            <a:normAutofit fontScale="90000"/>
          </a:bodyPr>
          <a:lstStyle/>
          <a:p>
            <a:r>
              <a:rPr lang="en-IN" sz="2000" b="1" dirty="0"/>
              <a:t>Signatures are existentially unforgeable</a:t>
            </a:r>
            <a:r>
              <a:rPr lang="en-IN" dirty="0"/>
              <a:t/>
            </a:r>
            <a:br>
              <a:rPr lang="en-IN" dirty="0"/>
            </a:br>
            <a:endParaRPr lang="en-IN" dirty="0"/>
          </a:p>
        </p:txBody>
      </p:sp>
      <p:pic>
        <p:nvPicPr>
          <p:cNvPr id="7" name="Content Placeholder 6"/>
          <p:cNvPicPr>
            <a:picLocks noGrp="1" noChangeAspect="1"/>
          </p:cNvPicPr>
          <p:nvPr>
            <p:ph idx="1"/>
          </p:nvPr>
        </p:nvPicPr>
        <p:blipFill>
          <a:blip r:embed="rId2"/>
          <a:stretch>
            <a:fillRect/>
          </a:stretch>
        </p:blipFill>
        <p:spPr>
          <a:xfrm>
            <a:off x="609600" y="457200"/>
            <a:ext cx="5638800" cy="3124200"/>
          </a:xfrm>
          <a:prstGeom prst="rect">
            <a:avLst/>
          </a:prstGeom>
        </p:spPr>
      </p:pic>
      <p:sp>
        <p:nvSpPr>
          <p:cNvPr id="6" name="Slide Number Placeholder 5"/>
          <p:cNvSpPr>
            <a:spLocks noGrp="1"/>
          </p:cNvSpPr>
          <p:nvPr>
            <p:ph type="sldNum" sz="quarter" idx="12"/>
          </p:nvPr>
        </p:nvSpPr>
        <p:spPr/>
        <p:txBody>
          <a:bodyPr/>
          <a:lstStyle/>
          <a:p>
            <a:pPr>
              <a:defRPr/>
            </a:pPr>
            <a:fld id="{37109F07-F13A-4551-BD1A-AFA4DB786849}" type="slidenum">
              <a:rPr lang="en-US" smtClean="0"/>
              <a:pPr>
                <a:defRPr/>
              </a:pPr>
              <a:t>26</a:t>
            </a:fld>
            <a:endParaRPr lang="en-US"/>
          </a:p>
        </p:txBody>
      </p:sp>
      <p:sp>
        <p:nvSpPr>
          <p:cNvPr id="8" name="Rectangle 7"/>
          <p:cNvSpPr/>
          <p:nvPr/>
        </p:nvSpPr>
        <p:spPr>
          <a:xfrm>
            <a:off x="533400" y="3962400"/>
            <a:ext cx="9525000" cy="646331"/>
          </a:xfrm>
          <a:prstGeom prst="rect">
            <a:avLst/>
          </a:prstGeom>
        </p:spPr>
        <p:txBody>
          <a:bodyPr wrap="square">
            <a:spAutoFit/>
          </a:bodyPr>
          <a:lstStyle/>
          <a:p>
            <a:pPr marL="285750" indent="-285750">
              <a:buFont typeface="Arial" panose="020B0604020202020204" pitchFamily="34" charset="0"/>
              <a:buChar char="•"/>
            </a:pPr>
            <a:r>
              <a:rPr lang="en-IN" dirty="0"/>
              <a:t>after that, the attacker picks a new message </a:t>
            </a:r>
            <a:r>
              <a:rPr lang="en-IN" dirty="0" smtClean="0"/>
              <a:t>M and </a:t>
            </a:r>
            <a:r>
              <a:rPr lang="en-IN" dirty="0"/>
              <a:t>tries to forge a signature.</a:t>
            </a:r>
          </a:p>
          <a:p>
            <a:pPr marL="285750" indent="-285750">
              <a:buFont typeface="Arial" panose="020B0604020202020204" pitchFamily="34" charset="0"/>
              <a:buChar char="•"/>
            </a:pPr>
            <a:r>
              <a:rPr lang="en-IN" dirty="0"/>
              <a:t>the judge will run the verification algorithm to check whether it verifies or not.</a:t>
            </a:r>
          </a:p>
        </p:txBody>
      </p:sp>
      <p:sp>
        <p:nvSpPr>
          <p:cNvPr id="9" name="Rectangle 8"/>
          <p:cNvSpPr/>
          <p:nvPr/>
        </p:nvSpPr>
        <p:spPr>
          <a:xfrm>
            <a:off x="609600" y="4953000"/>
            <a:ext cx="9601200" cy="646331"/>
          </a:xfrm>
          <a:prstGeom prst="rect">
            <a:avLst/>
          </a:prstGeom>
        </p:spPr>
        <p:txBody>
          <a:bodyPr wrap="square">
            <a:spAutoFit/>
          </a:bodyPr>
          <a:lstStyle/>
          <a:p>
            <a:r>
              <a:rPr lang="en-IN" b="1" i="1" dirty="0" smtClean="0"/>
              <a:t>The </a:t>
            </a:r>
            <a:r>
              <a:rPr lang="en-IN" b="1" i="1" dirty="0"/>
              <a:t>signature scheme is unforgeable if the attacker has only a negligible chance of successfully forging a message no matter what algorithm the attacker is using.</a:t>
            </a:r>
          </a:p>
        </p:txBody>
      </p:sp>
      <p:pic>
        <p:nvPicPr>
          <p:cNvPr id="10" name="Picture 9"/>
          <p:cNvPicPr>
            <a:picLocks noChangeAspect="1"/>
          </p:cNvPicPr>
          <p:nvPr/>
        </p:nvPicPr>
        <p:blipFill>
          <a:blip r:embed="rId3"/>
          <a:stretch>
            <a:fillRect/>
          </a:stretch>
        </p:blipFill>
        <p:spPr>
          <a:xfrm>
            <a:off x="1676400" y="3257550"/>
            <a:ext cx="3200400" cy="342900"/>
          </a:xfrm>
          <a:prstGeom prst="rect">
            <a:avLst/>
          </a:prstGeom>
        </p:spPr>
      </p:pic>
    </p:spTree>
    <p:extLst>
      <p:ext uri="{BB962C8B-B14F-4D97-AF65-F5344CB8AC3E}">
        <p14:creationId xmlns:p14="http://schemas.microsoft.com/office/powerpoint/2010/main" val="118987860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itle 1"/>
          <p:cNvSpPr>
            <a:spLocks noGrp="1"/>
          </p:cNvSpPr>
          <p:nvPr>
            <p:ph type="title"/>
          </p:nvPr>
        </p:nvSpPr>
        <p:spPr/>
        <p:txBody>
          <a:bodyPr/>
          <a:lstStyle/>
          <a:p>
            <a:r>
              <a:rPr lang="en-US" smtClean="0">
                <a:latin typeface="Tahoma" panose="020B0604030504040204" pitchFamily="34" charset="0"/>
              </a:rPr>
              <a:t>Signed Messages</a:t>
            </a:r>
            <a:br>
              <a:rPr lang="en-US" smtClean="0">
                <a:latin typeface="Tahoma" panose="020B0604030504040204" pitchFamily="34" charset="0"/>
              </a:rPr>
            </a:br>
            <a:endParaRPr lang="en-US" smtClean="0"/>
          </a:p>
        </p:txBody>
      </p:sp>
      <p:sp>
        <p:nvSpPr>
          <p:cNvPr id="8807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30C8E273-E7B7-4FD4-BF1E-995CE166AC55}" type="slidenum">
              <a:rPr lang="en-US" sz="1200">
                <a:solidFill>
                  <a:srgbClr val="898989"/>
                </a:solidFill>
              </a:rPr>
              <a:pPr>
                <a:spcBef>
                  <a:spcPct val="0"/>
                </a:spcBef>
                <a:buFontTx/>
                <a:buNone/>
              </a:pPr>
              <a:t>27</a:t>
            </a:fld>
            <a:endParaRPr lang="en-US" sz="1200">
              <a:solidFill>
                <a:srgbClr val="898989"/>
              </a:solidFill>
            </a:endParaRPr>
          </a:p>
        </p:txBody>
      </p:sp>
      <p:sp>
        <p:nvSpPr>
          <p:cNvPr id="88071" name="Rectangle 6"/>
          <p:cNvSpPr>
            <a:spLocks noChangeArrowheads="1"/>
          </p:cNvSpPr>
          <p:nvPr/>
        </p:nvSpPr>
        <p:spPr bwMode="auto">
          <a:xfrm>
            <a:off x="7086601" y="2590800"/>
            <a:ext cx="962025" cy="719138"/>
          </a:xfrm>
          <a:prstGeom prst="rect">
            <a:avLst/>
          </a:prstGeom>
          <a:gradFill rotWithShape="0">
            <a:gsLst>
              <a:gs pos="0">
                <a:srgbClr val="000099"/>
              </a:gs>
              <a:gs pos="50000">
                <a:srgbClr val="FFFFCC"/>
              </a:gs>
              <a:gs pos="100000">
                <a:srgbClr val="000099"/>
              </a:gs>
            </a:gsLst>
            <a:lin ang="2700000" scaled="1"/>
          </a:gradFill>
          <a:ln>
            <a:noFill/>
          </a:ln>
          <a:effectLst>
            <a:outerShdw dist="107763"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sz="1400" b="1">
                <a:latin typeface="Arial" panose="020B0604020202020204" pitchFamily="34" charset="0"/>
              </a:rPr>
              <a:t>Message</a:t>
            </a:r>
          </a:p>
          <a:p>
            <a:pPr algn="ctr">
              <a:spcBef>
                <a:spcPct val="0"/>
              </a:spcBef>
              <a:buFontTx/>
              <a:buNone/>
            </a:pPr>
            <a:r>
              <a:rPr lang="en-US" sz="1400" b="1">
                <a:latin typeface="Arial" panose="020B0604020202020204" pitchFamily="34" charset="0"/>
              </a:rPr>
              <a:t>+</a:t>
            </a:r>
          </a:p>
          <a:p>
            <a:pPr algn="ctr">
              <a:spcBef>
                <a:spcPct val="0"/>
              </a:spcBef>
              <a:buFontTx/>
              <a:buNone/>
            </a:pPr>
            <a:r>
              <a:rPr lang="en-US" sz="1400" b="1">
                <a:latin typeface="Arial" panose="020B0604020202020204" pitchFamily="34" charset="0"/>
              </a:rPr>
              <a:t>Signature</a:t>
            </a:r>
          </a:p>
        </p:txBody>
      </p:sp>
      <p:sp>
        <p:nvSpPr>
          <p:cNvPr id="88072" name="Rectangle 7"/>
          <p:cNvSpPr>
            <a:spLocks noChangeArrowheads="1"/>
          </p:cNvSpPr>
          <p:nvPr/>
        </p:nvSpPr>
        <p:spPr bwMode="auto">
          <a:xfrm>
            <a:off x="1722438" y="3505200"/>
            <a:ext cx="474662" cy="292100"/>
          </a:xfrm>
          <a:prstGeom prst="rect">
            <a:avLst/>
          </a:prstGeom>
          <a:gradFill rotWithShape="0">
            <a:gsLst>
              <a:gs pos="0">
                <a:srgbClr val="000099"/>
              </a:gs>
              <a:gs pos="50000">
                <a:srgbClr val="FFFFCC"/>
              </a:gs>
              <a:gs pos="100000">
                <a:srgbClr val="000099"/>
              </a:gs>
            </a:gsLst>
            <a:lin ang="2700000" scaled="1"/>
          </a:gradFill>
          <a:ln>
            <a:noFill/>
          </a:ln>
          <a:effectLst>
            <a:outerShdw dist="107763"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sz="1400" b="1">
                <a:latin typeface="Arial" panose="020B0604020202020204" pitchFamily="34" charset="0"/>
              </a:rPr>
              <a:t>Hash</a:t>
            </a:r>
          </a:p>
        </p:txBody>
      </p:sp>
      <p:sp>
        <p:nvSpPr>
          <p:cNvPr id="88073" name="Rectangle 8"/>
          <p:cNvSpPr>
            <a:spLocks noChangeArrowheads="1"/>
          </p:cNvSpPr>
          <p:nvPr/>
        </p:nvSpPr>
        <p:spPr bwMode="auto">
          <a:xfrm>
            <a:off x="8148638" y="4953001"/>
            <a:ext cx="1308100" cy="993775"/>
          </a:xfrm>
          <a:prstGeom prst="rect">
            <a:avLst/>
          </a:prstGeom>
          <a:gradFill rotWithShape="0">
            <a:gsLst>
              <a:gs pos="0">
                <a:srgbClr val="000099"/>
              </a:gs>
              <a:gs pos="50000">
                <a:srgbClr val="FFFFCC"/>
              </a:gs>
              <a:gs pos="100000">
                <a:srgbClr val="000099"/>
              </a:gs>
            </a:gsLst>
            <a:lin ang="2700000" scaled="1"/>
          </a:gradFill>
          <a:ln>
            <a:noFill/>
          </a:ln>
          <a:effectLst>
            <a:outerShdw dist="107763"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sz="1400" b="1">
                <a:latin typeface="Arial" panose="020B0604020202020204" pitchFamily="34" charset="0"/>
              </a:rPr>
              <a:t>Decrypt</a:t>
            </a:r>
          </a:p>
          <a:p>
            <a:pPr>
              <a:spcBef>
                <a:spcPct val="0"/>
              </a:spcBef>
              <a:buFontTx/>
              <a:buNone/>
            </a:pPr>
            <a:r>
              <a:rPr lang="en-US" sz="1400" b="1">
                <a:latin typeface="Arial" panose="020B0604020202020204" pitchFamily="34" charset="0"/>
              </a:rPr>
              <a:t>Signature</a:t>
            </a:r>
          </a:p>
          <a:p>
            <a:pPr>
              <a:spcBef>
                <a:spcPct val="0"/>
              </a:spcBef>
              <a:buFontTx/>
              <a:buNone/>
            </a:pPr>
            <a:r>
              <a:rPr lang="en-US" sz="1400" b="1">
                <a:latin typeface="Arial" panose="020B0604020202020204" pitchFamily="34" charset="0"/>
              </a:rPr>
              <a:t>With </a:t>
            </a:r>
            <a:r>
              <a:rPr lang="en-US" sz="1400" b="1" i="1">
                <a:solidFill>
                  <a:srgbClr val="CC0000"/>
                </a:solidFill>
                <a:latin typeface="Arial" panose="020B0604020202020204" pitchFamily="34" charset="0"/>
              </a:rPr>
              <a:t>Sender’s </a:t>
            </a:r>
          </a:p>
          <a:p>
            <a:pPr>
              <a:spcBef>
                <a:spcPct val="0"/>
              </a:spcBef>
              <a:buFontTx/>
              <a:buNone/>
            </a:pPr>
            <a:r>
              <a:rPr lang="en-US" sz="1400" b="1" i="1">
                <a:solidFill>
                  <a:srgbClr val="CC0000"/>
                </a:solidFill>
                <a:latin typeface="Arial" panose="020B0604020202020204" pitchFamily="34" charset="0"/>
              </a:rPr>
              <a:t>Public Key</a:t>
            </a:r>
          </a:p>
        </p:txBody>
      </p:sp>
      <p:sp>
        <p:nvSpPr>
          <p:cNvPr id="88074" name="Rectangle 9"/>
          <p:cNvSpPr>
            <a:spLocks noChangeArrowheads="1"/>
          </p:cNvSpPr>
          <p:nvPr/>
        </p:nvSpPr>
        <p:spPr bwMode="auto">
          <a:xfrm>
            <a:off x="2432051" y="4114801"/>
            <a:ext cx="1325563" cy="963613"/>
          </a:xfrm>
          <a:prstGeom prst="rect">
            <a:avLst/>
          </a:prstGeom>
          <a:gradFill rotWithShape="0">
            <a:gsLst>
              <a:gs pos="0">
                <a:srgbClr val="000099"/>
              </a:gs>
              <a:gs pos="50000">
                <a:srgbClr val="FFFFCC"/>
              </a:gs>
              <a:gs pos="100000">
                <a:srgbClr val="000099"/>
              </a:gs>
            </a:gsLst>
            <a:lin ang="2700000" scaled="1"/>
          </a:gradFill>
          <a:ln>
            <a:noFill/>
          </a:ln>
          <a:effectLst>
            <a:outerShdw dist="107763"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sz="1400" b="1">
                <a:latin typeface="Arial" panose="020B0604020202020204" pitchFamily="34" charset="0"/>
              </a:rPr>
              <a:t>SIGN hash</a:t>
            </a:r>
          </a:p>
          <a:p>
            <a:pPr>
              <a:spcBef>
                <a:spcPct val="0"/>
              </a:spcBef>
              <a:buFontTx/>
              <a:buNone/>
            </a:pPr>
            <a:r>
              <a:rPr lang="en-US" sz="1400" b="1">
                <a:latin typeface="Arial" panose="020B0604020202020204" pitchFamily="34" charset="0"/>
              </a:rPr>
              <a:t>With </a:t>
            </a:r>
            <a:r>
              <a:rPr lang="en-US" sz="1400" b="1" i="1">
                <a:solidFill>
                  <a:srgbClr val="CC0000"/>
                </a:solidFill>
                <a:latin typeface="Arial" panose="020B0604020202020204" pitchFamily="34" charset="0"/>
              </a:rPr>
              <a:t>Sender’s </a:t>
            </a:r>
          </a:p>
          <a:p>
            <a:pPr>
              <a:spcBef>
                <a:spcPct val="0"/>
              </a:spcBef>
              <a:buFontTx/>
              <a:buNone/>
            </a:pPr>
            <a:r>
              <a:rPr lang="en-US" sz="1400" b="1" i="1">
                <a:solidFill>
                  <a:srgbClr val="CC0000"/>
                </a:solidFill>
                <a:latin typeface="Arial" panose="020B0604020202020204" pitchFamily="34" charset="0"/>
              </a:rPr>
              <a:t>Private key</a:t>
            </a:r>
          </a:p>
        </p:txBody>
      </p:sp>
      <p:sp>
        <p:nvSpPr>
          <p:cNvPr id="88075" name="Rectangle 10"/>
          <p:cNvSpPr>
            <a:spLocks noChangeArrowheads="1"/>
          </p:cNvSpPr>
          <p:nvPr/>
        </p:nvSpPr>
        <p:spPr bwMode="auto">
          <a:xfrm>
            <a:off x="2319338" y="2466975"/>
            <a:ext cx="963612" cy="719138"/>
          </a:xfrm>
          <a:prstGeom prst="rect">
            <a:avLst/>
          </a:prstGeom>
          <a:gradFill rotWithShape="0">
            <a:gsLst>
              <a:gs pos="0">
                <a:srgbClr val="000099"/>
              </a:gs>
              <a:gs pos="50000">
                <a:srgbClr val="FFFFCC"/>
              </a:gs>
              <a:gs pos="100000">
                <a:srgbClr val="000099"/>
              </a:gs>
            </a:gsLst>
            <a:lin ang="2700000" scaled="1"/>
          </a:gradFill>
          <a:ln>
            <a:noFill/>
          </a:ln>
          <a:effectLst>
            <a:outerShdw dist="107763"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sz="1400" b="1">
                <a:latin typeface="Arial" panose="020B0604020202020204" pitchFamily="34" charset="0"/>
              </a:rPr>
              <a:t>Message</a:t>
            </a:r>
          </a:p>
          <a:p>
            <a:pPr algn="ctr">
              <a:spcBef>
                <a:spcPct val="0"/>
              </a:spcBef>
              <a:buFontTx/>
              <a:buNone/>
            </a:pPr>
            <a:r>
              <a:rPr lang="en-US" sz="1400" b="1">
                <a:latin typeface="Arial" panose="020B0604020202020204" pitchFamily="34" charset="0"/>
              </a:rPr>
              <a:t>+</a:t>
            </a:r>
          </a:p>
          <a:p>
            <a:pPr algn="ctr">
              <a:spcBef>
                <a:spcPct val="0"/>
              </a:spcBef>
              <a:buFontTx/>
              <a:buNone/>
            </a:pPr>
            <a:r>
              <a:rPr lang="en-US" sz="1400" b="1">
                <a:latin typeface="Arial" panose="020B0604020202020204" pitchFamily="34" charset="0"/>
              </a:rPr>
              <a:t>signature</a:t>
            </a:r>
          </a:p>
        </p:txBody>
      </p:sp>
      <p:sp>
        <p:nvSpPr>
          <p:cNvPr id="88076" name="Oval 11"/>
          <p:cNvSpPr>
            <a:spLocks noChangeArrowheads="1"/>
          </p:cNvSpPr>
          <p:nvPr/>
        </p:nvSpPr>
        <p:spPr bwMode="auto">
          <a:xfrm>
            <a:off x="8185150" y="3276600"/>
            <a:ext cx="1143000" cy="368300"/>
          </a:xfrm>
          <a:prstGeom prst="ellipse">
            <a:avLst/>
          </a:prstGeom>
          <a:gradFill rotWithShape="0">
            <a:gsLst>
              <a:gs pos="0">
                <a:srgbClr val="000099"/>
              </a:gs>
              <a:gs pos="50000">
                <a:srgbClr val="FFFFCC"/>
              </a:gs>
              <a:gs pos="100000">
                <a:srgbClr val="000099"/>
              </a:gs>
            </a:gsLst>
            <a:lin ang="2700000" scaled="1"/>
          </a:gradFill>
          <a:ln>
            <a:noFill/>
          </a:ln>
          <a:effectLst>
            <a:outerShdw dist="107763" dir="2700000" algn="ctr" rotWithShape="0">
              <a:schemeClr val="bg2"/>
            </a:outerShdw>
          </a:effectLst>
          <a:extLst>
            <a:ext uri="{91240B29-F687-4F45-9708-019B960494DF}">
              <a14:hiddenLine xmlns:a14="http://schemas.microsoft.com/office/drawing/2010/main" w="12700">
                <a:solidFill>
                  <a:srgbClr val="000000"/>
                </a:solidFill>
                <a:round/>
                <a:headEnd/>
                <a:tailEnd/>
              </a14:hiddenLine>
            </a:ext>
          </a:extLst>
        </p:spPr>
        <p:txBody>
          <a:bodyPr wrap="none" lIns="90488" tIns="44450" rIns="90488" bIns="4445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sz="1400" b="1">
                <a:latin typeface="Arial" panose="020B0604020202020204" pitchFamily="34" charset="0"/>
              </a:rPr>
              <a:t>COMPARE</a:t>
            </a:r>
          </a:p>
        </p:txBody>
      </p:sp>
      <p:sp>
        <p:nvSpPr>
          <p:cNvPr id="88077" name="Rectangle 12"/>
          <p:cNvSpPr>
            <a:spLocks noChangeArrowheads="1"/>
          </p:cNvSpPr>
          <p:nvPr/>
        </p:nvSpPr>
        <p:spPr bwMode="auto">
          <a:xfrm>
            <a:off x="8283576" y="1447800"/>
            <a:ext cx="976313" cy="533400"/>
          </a:xfrm>
          <a:prstGeom prst="rect">
            <a:avLst/>
          </a:prstGeom>
          <a:gradFill rotWithShape="0">
            <a:gsLst>
              <a:gs pos="0">
                <a:srgbClr val="000099"/>
              </a:gs>
              <a:gs pos="50000">
                <a:srgbClr val="FFFFCC"/>
              </a:gs>
              <a:gs pos="100000">
                <a:srgbClr val="000099"/>
              </a:gs>
            </a:gsLst>
            <a:lin ang="2700000" scaled="1"/>
          </a:gradFill>
          <a:ln>
            <a:noFill/>
          </a:ln>
          <a:effectLst>
            <a:outerShdw dist="107763"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sz="1400" b="1">
                <a:latin typeface="Arial" panose="020B0604020202020204" pitchFamily="34" charset="0"/>
              </a:rPr>
              <a:t>Calculated </a:t>
            </a:r>
          </a:p>
          <a:p>
            <a:pPr algn="ctr">
              <a:spcBef>
                <a:spcPct val="0"/>
              </a:spcBef>
              <a:buFontTx/>
              <a:buNone/>
            </a:pPr>
            <a:r>
              <a:rPr lang="en-US" sz="1400" b="1">
                <a:latin typeface="Arial" panose="020B0604020202020204" pitchFamily="34" charset="0"/>
              </a:rPr>
              <a:t>Hash</a:t>
            </a:r>
          </a:p>
        </p:txBody>
      </p:sp>
      <p:sp>
        <p:nvSpPr>
          <p:cNvPr id="88078" name="Rectangle 13"/>
          <p:cNvSpPr>
            <a:spLocks noChangeArrowheads="1"/>
          </p:cNvSpPr>
          <p:nvPr/>
        </p:nvSpPr>
        <p:spPr bwMode="auto">
          <a:xfrm>
            <a:off x="1700214" y="1676401"/>
            <a:ext cx="1048365" cy="335989"/>
          </a:xfrm>
          <a:prstGeom prst="rect">
            <a:avLst/>
          </a:prstGeom>
          <a:gradFill rotWithShape="0">
            <a:gsLst>
              <a:gs pos="0">
                <a:srgbClr val="000099"/>
              </a:gs>
              <a:gs pos="50000">
                <a:srgbClr val="FFFFCC"/>
              </a:gs>
              <a:gs pos="100000">
                <a:srgbClr val="000099"/>
              </a:gs>
            </a:gsLst>
            <a:lin ang="2700000" scaled="1"/>
          </a:gradFill>
          <a:ln>
            <a:noFill/>
          </a:ln>
          <a:effectLst>
            <a:outerShdw dist="107763"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sz="1600" b="1">
                <a:latin typeface="Arial" panose="020B0604020202020204" pitchFamily="34" charset="0"/>
              </a:rPr>
              <a:t>Message</a:t>
            </a:r>
          </a:p>
        </p:txBody>
      </p:sp>
      <p:grpSp>
        <p:nvGrpSpPr>
          <p:cNvPr id="88079" name="Group 14"/>
          <p:cNvGrpSpPr>
            <a:grpSpLocks/>
          </p:cNvGrpSpPr>
          <p:nvPr/>
        </p:nvGrpSpPr>
        <p:grpSpPr bwMode="auto">
          <a:xfrm>
            <a:off x="2767014" y="1981200"/>
            <a:ext cx="161925" cy="520700"/>
            <a:chOff x="695" y="1248"/>
            <a:chExt cx="102" cy="328"/>
          </a:xfrm>
        </p:grpSpPr>
        <p:sp>
          <p:nvSpPr>
            <p:cNvPr id="88104" name="Line 15"/>
            <p:cNvSpPr>
              <a:spLocks noChangeShapeType="1"/>
            </p:cNvSpPr>
            <p:nvPr/>
          </p:nvSpPr>
          <p:spPr bwMode="auto">
            <a:xfrm>
              <a:off x="695" y="1248"/>
              <a:ext cx="9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88105" name="Line 16"/>
            <p:cNvSpPr>
              <a:spLocks noChangeShapeType="1"/>
            </p:cNvSpPr>
            <p:nvPr/>
          </p:nvSpPr>
          <p:spPr bwMode="auto">
            <a:xfrm>
              <a:off x="797" y="1248"/>
              <a:ext cx="0" cy="328"/>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IN"/>
            </a:p>
          </p:txBody>
        </p:sp>
      </p:grpSp>
      <p:sp>
        <p:nvSpPr>
          <p:cNvPr id="88080" name="Line 17"/>
          <p:cNvSpPr>
            <a:spLocks noChangeShapeType="1"/>
          </p:cNvSpPr>
          <p:nvPr/>
        </p:nvSpPr>
        <p:spPr bwMode="auto">
          <a:xfrm>
            <a:off x="6019800" y="3048000"/>
            <a:ext cx="10795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IN"/>
          </a:p>
        </p:txBody>
      </p:sp>
      <p:sp>
        <p:nvSpPr>
          <p:cNvPr id="88081" name="Line 18"/>
          <p:cNvSpPr>
            <a:spLocks noChangeShapeType="1"/>
          </p:cNvSpPr>
          <p:nvPr/>
        </p:nvSpPr>
        <p:spPr bwMode="auto">
          <a:xfrm flipV="1">
            <a:off x="2995613" y="3200400"/>
            <a:ext cx="0" cy="92075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IN"/>
          </a:p>
        </p:txBody>
      </p:sp>
      <p:grpSp>
        <p:nvGrpSpPr>
          <p:cNvPr id="88082" name="Group 19"/>
          <p:cNvGrpSpPr>
            <a:grpSpLocks/>
          </p:cNvGrpSpPr>
          <p:nvPr/>
        </p:nvGrpSpPr>
        <p:grpSpPr bwMode="auto">
          <a:xfrm>
            <a:off x="1833563" y="3825875"/>
            <a:ext cx="609600" cy="749300"/>
            <a:chOff x="107" y="2410"/>
            <a:chExt cx="384" cy="472"/>
          </a:xfrm>
        </p:grpSpPr>
        <p:sp>
          <p:nvSpPr>
            <p:cNvPr id="88102" name="Line 20"/>
            <p:cNvSpPr>
              <a:spLocks noChangeShapeType="1"/>
            </p:cNvSpPr>
            <p:nvPr/>
          </p:nvSpPr>
          <p:spPr bwMode="auto">
            <a:xfrm>
              <a:off x="119" y="2410"/>
              <a:ext cx="0" cy="4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88103" name="Line 21"/>
            <p:cNvSpPr>
              <a:spLocks noChangeShapeType="1"/>
            </p:cNvSpPr>
            <p:nvPr/>
          </p:nvSpPr>
          <p:spPr bwMode="auto">
            <a:xfrm>
              <a:off x="107" y="2880"/>
              <a:ext cx="384"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IN"/>
            </a:p>
          </p:txBody>
        </p:sp>
      </p:grpSp>
      <p:grpSp>
        <p:nvGrpSpPr>
          <p:cNvPr id="88083" name="Group 22"/>
          <p:cNvGrpSpPr>
            <a:grpSpLocks/>
          </p:cNvGrpSpPr>
          <p:nvPr/>
        </p:nvGrpSpPr>
        <p:grpSpPr bwMode="auto">
          <a:xfrm>
            <a:off x="7651750" y="1905000"/>
            <a:ext cx="577850" cy="685800"/>
            <a:chOff x="4487" y="1200"/>
            <a:chExt cx="560" cy="432"/>
          </a:xfrm>
        </p:grpSpPr>
        <p:sp>
          <p:nvSpPr>
            <p:cNvPr id="88100" name="Line 23"/>
            <p:cNvSpPr>
              <a:spLocks noChangeShapeType="1"/>
            </p:cNvSpPr>
            <p:nvPr/>
          </p:nvSpPr>
          <p:spPr bwMode="auto">
            <a:xfrm flipV="1">
              <a:off x="4487" y="1200"/>
              <a:ext cx="0" cy="43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88101" name="Line 24"/>
            <p:cNvSpPr>
              <a:spLocks noChangeShapeType="1"/>
            </p:cNvSpPr>
            <p:nvPr/>
          </p:nvSpPr>
          <p:spPr bwMode="auto">
            <a:xfrm>
              <a:off x="4487" y="1200"/>
              <a:ext cx="56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IN"/>
            </a:p>
          </p:txBody>
        </p:sp>
      </p:grpSp>
      <p:sp>
        <p:nvSpPr>
          <p:cNvPr id="88084" name="Line 25"/>
          <p:cNvSpPr>
            <a:spLocks noChangeShapeType="1"/>
          </p:cNvSpPr>
          <p:nvPr/>
        </p:nvSpPr>
        <p:spPr bwMode="auto">
          <a:xfrm>
            <a:off x="8775700" y="2057400"/>
            <a:ext cx="0" cy="12192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IN"/>
          </a:p>
        </p:txBody>
      </p:sp>
      <p:grpSp>
        <p:nvGrpSpPr>
          <p:cNvPr id="88085" name="Group 26"/>
          <p:cNvGrpSpPr>
            <a:grpSpLocks/>
          </p:cNvGrpSpPr>
          <p:nvPr/>
        </p:nvGrpSpPr>
        <p:grpSpPr bwMode="auto">
          <a:xfrm>
            <a:off x="7632700" y="3324225"/>
            <a:ext cx="527050" cy="2057400"/>
            <a:chOff x="4475" y="2094"/>
            <a:chExt cx="332" cy="1296"/>
          </a:xfrm>
        </p:grpSpPr>
        <p:sp>
          <p:nvSpPr>
            <p:cNvPr id="88098" name="Line 27"/>
            <p:cNvSpPr>
              <a:spLocks noChangeShapeType="1"/>
            </p:cNvSpPr>
            <p:nvPr/>
          </p:nvSpPr>
          <p:spPr bwMode="auto">
            <a:xfrm>
              <a:off x="4475" y="2094"/>
              <a:ext cx="0" cy="12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88099" name="Line 28"/>
            <p:cNvSpPr>
              <a:spLocks noChangeShapeType="1"/>
            </p:cNvSpPr>
            <p:nvPr/>
          </p:nvSpPr>
          <p:spPr bwMode="auto">
            <a:xfrm>
              <a:off x="4479" y="3390"/>
              <a:ext cx="328"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IN"/>
            </a:p>
          </p:txBody>
        </p:sp>
      </p:grpSp>
      <p:sp>
        <p:nvSpPr>
          <p:cNvPr id="88086" name="Line 29"/>
          <p:cNvSpPr>
            <a:spLocks noChangeShapeType="1"/>
          </p:cNvSpPr>
          <p:nvPr/>
        </p:nvSpPr>
        <p:spPr bwMode="auto">
          <a:xfrm>
            <a:off x="1816100" y="2057401"/>
            <a:ext cx="0" cy="1450975"/>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IN"/>
          </a:p>
        </p:txBody>
      </p:sp>
      <p:sp>
        <p:nvSpPr>
          <p:cNvPr id="88087" name="Rectangle 30"/>
          <p:cNvSpPr>
            <a:spLocks noChangeArrowheads="1"/>
          </p:cNvSpPr>
          <p:nvPr/>
        </p:nvSpPr>
        <p:spPr bwMode="auto">
          <a:xfrm>
            <a:off x="2654300" y="5562601"/>
            <a:ext cx="1053174"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sz="2000" b="1">
                <a:solidFill>
                  <a:srgbClr val="CC3300"/>
                </a:solidFill>
                <a:latin typeface="Arial" panose="020B0604020202020204" pitchFamily="34" charset="0"/>
              </a:rPr>
              <a:t>Sender</a:t>
            </a:r>
          </a:p>
        </p:txBody>
      </p:sp>
      <p:sp>
        <p:nvSpPr>
          <p:cNvPr id="88088" name="Rectangle 31"/>
          <p:cNvSpPr>
            <a:spLocks noChangeArrowheads="1"/>
          </p:cNvSpPr>
          <p:nvPr/>
        </p:nvSpPr>
        <p:spPr bwMode="auto">
          <a:xfrm>
            <a:off x="7086601" y="5638801"/>
            <a:ext cx="1144545"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sz="1800" b="1">
                <a:solidFill>
                  <a:srgbClr val="CC3300"/>
                </a:solidFill>
                <a:latin typeface="Arial" panose="020B0604020202020204" pitchFamily="34" charset="0"/>
              </a:rPr>
              <a:t>Receiver</a:t>
            </a:r>
          </a:p>
        </p:txBody>
      </p:sp>
      <p:grpSp>
        <p:nvGrpSpPr>
          <p:cNvPr id="88089" name="Group 32"/>
          <p:cNvGrpSpPr>
            <a:grpSpLocks/>
          </p:cNvGrpSpPr>
          <p:nvPr/>
        </p:nvGrpSpPr>
        <p:grpSpPr bwMode="auto">
          <a:xfrm>
            <a:off x="8534401" y="3657600"/>
            <a:ext cx="474663" cy="1301750"/>
            <a:chOff x="5063" y="2304"/>
            <a:chExt cx="299" cy="820"/>
          </a:xfrm>
        </p:grpSpPr>
        <p:sp>
          <p:nvSpPr>
            <p:cNvPr id="88096" name="Line 33"/>
            <p:cNvSpPr>
              <a:spLocks noChangeShapeType="1"/>
            </p:cNvSpPr>
            <p:nvPr/>
          </p:nvSpPr>
          <p:spPr bwMode="auto">
            <a:xfrm flipV="1">
              <a:off x="5184" y="2304"/>
              <a:ext cx="0" cy="82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IN"/>
            </a:p>
          </p:txBody>
        </p:sp>
        <p:sp>
          <p:nvSpPr>
            <p:cNvPr id="88097" name="Rectangle 34"/>
            <p:cNvSpPr>
              <a:spLocks noChangeArrowheads="1"/>
            </p:cNvSpPr>
            <p:nvPr/>
          </p:nvSpPr>
          <p:spPr bwMode="auto">
            <a:xfrm>
              <a:off x="5063" y="2688"/>
              <a:ext cx="299" cy="184"/>
            </a:xfrm>
            <a:prstGeom prst="rect">
              <a:avLst/>
            </a:prstGeom>
            <a:gradFill rotWithShape="0">
              <a:gsLst>
                <a:gs pos="0">
                  <a:srgbClr val="000099"/>
                </a:gs>
                <a:gs pos="50000">
                  <a:srgbClr val="FFFFCC"/>
                </a:gs>
                <a:gs pos="100000">
                  <a:srgbClr val="000099"/>
                </a:gs>
              </a:gsLst>
              <a:lin ang="2700000" scaled="1"/>
            </a:gradFill>
            <a:ln>
              <a:noFill/>
            </a:ln>
            <a:effectLst>
              <a:outerShdw dist="107763"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sz="1400" b="1">
                  <a:latin typeface="Arial" panose="020B0604020202020204" pitchFamily="34" charset="0"/>
                </a:rPr>
                <a:t>Hash</a:t>
              </a:r>
            </a:p>
          </p:txBody>
        </p:sp>
      </p:grpSp>
      <p:grpSp>
        <p:nvGrpSpPr>
          <p:cNvPr id="88090" name="Group 35"/>
          <p:cNvGrpSpPr>
            <a:grpSpLocks/>
          </p:cNvGrpSpPr>
          <p:nvPr/>
        </p:nvGrpSpPr>
        <p:grpSpPr bwMode="auto">
          <a:xfrm>
            <a:off x="4191001" y="2209801"/>
            <a:ext cx="2239963" cy="1884363"/>
            <a:chOff x="2112" y="1392"/>
            <a:chExt cx="1411" cy="1187"/>
          </a:xfrm>
        </p:grpSpPr>
        <p:pic>
          <p:nvPicPr>
            <p:cNvPr id="88094" name="Picture 36" descr="C:\Program Files\Microsoft Office\Clipart\standard\stddir1\BD04904_.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12" y="1392"/>
              <a:ext cx="1411" cy="1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95" name="Rectangle 37"/>
            <p:cNvSpPr>
              <a:spLocks noChangeArrowheads="1"/>
            </p:cNvSpPr>
            <p:nvPr/>
          </p:nvSpPr>
          <p:spPr bwMode="auto">
            <a:xfrm rot="815557">
              <a:off x="2544" y="2254"/>
              <a:ext cx="775"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sz="1200" b="1">
                  <a:solidFill>
                    <a:srgbClr val="006600"/>
                  </a:solidFill>
                  <a:latin typeface="Arial" panose="020B0604020202020204" pitchFamily="34" charset="0"/>
                </a:rPr>
                <a:t> Signed</a:t>
              </a:r>
            </a:p>
            <a:p>
              <a:pPr algn="ctr">
                <a:spcBef>
                  <a:spcPct val="0"/>
                </a:spcBef>
                <a:buFontTx/>
                <a:buNone/>
              </a:pPr>
              <a:r>
                <a:rPr lang="en-US" sz="1200" b="1">
                  <a:solidFill>
                    <a:srgbClr val="006600"/>
                  </a:solidFill>
                  <a:latin typeface="Arial" panose="020B0604020202020204" pitchFamily="34" charset="0"/>
                </a:rPr>
                <a:t>  Message</a:t>
              </a:r>
            </a:p>
          </p:txBody>
        </p:sp>
      </p:grpSp>
      <p:sp>
        <p:nvSpPr>
          <p:cNvPr id="88091" name="Line 38"/>
          <p:cNvSpPr>
            <a:spLocks noChangeShapeType="1"/>
          </p:cNvSpPr>
          <p:nvPr/>
        </p:nvSpPr>
        <p:spPr bwMode="auto">
          <a:xfrm>
            <a:off x="3352800" y="3048000"/>
            <a:ext cx="9906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88092" name="Text Box 39"/>
          <p:cNvSpPr txBox="1">
            <a:spLocks noChangeArrowheads="1"/>
          </p:cNvSpPr>
          <p:nvPr/>
        </p:nvSpPr>
        <p:spPr bwMode="auto">
          <a:xfrm>
            <a:off x="3898900" y="2362201"/>
            <a:ext cx="25860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sz="2000" b="1" i="1">
                <a:solidFill>
                  <a:srgbClr val="FF0000"/>
                </a:solidFill>
                <a:latin typeface="Tahoma" panose="020B0604030504040204" pitchFamily="34" charset="0"/>
              </a:rPr>
              <a:t>Sent thru’ Internet</a:t>
            </a:r>
          </a:p>
        </p:txBody>
      </p:sp>
      <p:sp>
        <p:nvSpPr>
          <p:cNvPr id="88093" name="Text Box 40"/>
          <p:cNvSpPr txBox="1">
            <a:spLocks noChangeArrowheads="1"/>
          </p:cNvSpPr>
          <p:nvPr/>
        </p:nvSpPr>
        <p:spPr bwMode="auto">
          <a:xfrm>
            <a:off x="9408456" y="2965450"/>
            <a:ext cx="1015726" cy="1046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sz="1600">
                <a:solidFill>
                  <a:srgbClr val="CC0000"/>
                </a:solidFill>
                <a:latin typeface="Tahoma" panose="020B0604030504040204" pitchFamily="34" charset="0"/>
              </a:rPr>
              <a:t>if</a:t>
            </a:r>
          </a:p>
          <a:p>
            <a:pPr algn="ctr" eaLnBrk="1" hangingPunct="1">
              <a:spcBef>
                <a:spcPct val="0"/>
              </a:spcBef>
              <a:buFontTx/>
              <a:buNone/>
            </a:pPr>
            <a:r>
              <a:rPr lang="en-US" sz="1800">
                <a:solidFill>
                  <a:srgbClr val="009900"/>
                </a:solidFill>
                <a:latin typeface="Tahoma" panose="020B0604030504040204" pitchFamily="34" charset="0"/>
              </a:rPr>
              <a:t>OK</a:t>
            </a:r>
          </a:p>
          <a:p>
            <a:pPr algn="ctr" eaLnBrk="1" hangingPunct="1">
              <a:spcBef>
                <a:spcPct val="0"/>
              </a:spcBef>
              <a:buFontTx/>
              <a:buNone/>
            </a:pPr>
            <a:r>
              <a:rPr lang="en-US" sz="1400">
                <a:solidFill>
                  <a:srgbClr val="CC0000"/>
                </a:solidFill>
                <a:latin typeface="Tahoma" panose="020B0604030504040204" pitchFamily="34" charset="0"/>
              </a:rPr>
              <a:t>Signatures</a:t>
            </a:r>
          </a:p>
          <a:p>
            <a:pPr algn="ctr" eaLnBrk="1" hangingPunct="1">
              <a:spcBef>
                <a:spcPct val="0"/>
              </a:spcBef>
              <a:buFontTx/>
              <a:buNone/>
            </a:pPr>
            <a:r>
              <a:rPr lang="en-US" sz="1400">
                <a:solidFill>
                  <a:srgbClr val="CC0000"/>
                </a:solidFill>
                <a:latin typeface="Tahoma" panose="020B0604030504040204" pitchFamily="34" charset="0"/>
              </a:rPr>
              <a:t> verified</a:t>
            </a:r>
          </a:p>
        </p:txBody>
      </p:sp>
    </p:spTree>
    <p:extLst>
      <p:ext uri="{BB962C8B-B14F-4D97-AF65-F5344CB8AC3E}">
        <p14:creationId xmlns:p14="http://schemas.microsoft.com/office/powerpoint/2010/main" val="392093718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IN" b="1" dirty="0"/>
              <a:t>ECDSA</a:t>
            </a:r>
          </a:p>
          <a:p>
            <a:pPr algn="just"/>
            <a:r>
              <a:rPr lang="en-IN" sz="2400" dirty="0"/>
              <a:t>Bitcoin uses a particular digital signature scheme called ECDSA. It's an Elliptic Curve Digital Signature </a:t>
            </a:r>
            <a:r>
              <a:rPr lang="en-IN" sz="2400" dirty="0" smtClean="0"/>
              <a:t>Algorithm</a:t>
            </a:r>
          </a:p>
          <a:p>
            <a:pPr algn="just"/>
            <a:r>
              <a:rPr lang="en-IN" sz="2400" dirty="0" smtClean="0"/>
              <a:t>We </a:t>
            </a:r>
            <a:r>
              <a:rPr lang="en-IN" sz="2400" dirty="0"/>
              <a:t>won't go into all the details of how ECDSA works, since it relies on some extremely hairy math.</a:t>
            </a:r>
          </a:p>
          <a:p>
            <a:pPr algn="just"/>
            <a:r>
              <a:rPr lang="en-IN" sz="2400" dirty="0"/>
              <a:t>ECDSA has good randomness, and this in very important with Elliptic Curves. Since, if you use bad randomness in general in generating a key, then it is maybe not secure. In addition for ECDSA, even if the key is perfectly secure, and the bad randomness only regards the signature generation, this will also lead to private key discovery.</a:t>
            </a:r>
          </a:p>
          <a:p>
            <a:pPr marL="0" indent="0">
              <a:buNone/>
            </a:pPr>
            <a:endParaRPr lang="en-IN" dirty="0"/>
          </a:p>
        </p:txBody>
      </p:sp>
      <p:sp>
        <p:nvSpPr>
          <p:cNvPr id="6" name="Slide Number Placeholder 5"/>
          <p:cNvSpPr>
            <a:spLocks noGrp="1"/>
          </p:cNvSpPr>
          <p:nvPr>
            <p:ph type="sldNum" sz="quarter" idx="12"/>
          </p:nvPr>
        </p:nvSpPr>
        <p:spPr/>
        <p:txBody>
          <a:bodyPr/>
          <a:lstStyle/>
          <a:p>
            <a:pPr>
              <a:defRPr/>
            </a:pPr>
            <a:fld id="{37109F07-F13A-4551-BD1A-AFA4DB786849}" type="slidenum">
              <a:rPr lang="en-US" smtClean="0"/>
              <a:pPr>
                <a:defRPr/>
              </a:pPr>
              <a:t>28</a:t>
            </a:fld>
            <a:endParaRPr lang="en-US"/>
          </a:p>
        </p:txBody>
      </p:sp>
    </p:spTree>
    <p:extLst>
      <p:ext uri="{BB962C8B-B14F-4D97-AF65-F5344CB8AC3E}">
        <p14:creationId xmlns:p14="http://schemas.microsoft.com/office/powerpoint/2010/main" val="259655717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pPr eaLnBrk="1" hangingPunct="1"/>
            <a:r>
              <a:rPr lang="en-US" dirty="0" smtClean="0"/>
              <a:t>Elliptic Curve Cryptography(ECC)</a:t>
            </a:r>
          </a:p>
        </p:txBody>
      </p:sp>
      <p:sp>
        <p:nvSpPr>
          <p:cNvPr id="12291" name="Content Placeholder 2"/>
          <p:cNvSpPr>
            <a:spLocks noGrp="1"/>
          </p:cNvSpPr>
          <p:nvPr>
            <p:ph idx="1"/>
          </p:nvPr>
        </p:nvSpPr>
        <p:spPr/>
        <p:txBody>
          <a:bodyPr/>
          <a:lstStyle/>
          <a:p>
            <a:pPr algn="just" eaLnBrk="1" hangingPunct="1"/>
            <a:r>
              <a:rPr lang="en-US" sz="2000" dirty="0"/>
              <a:t>ECC was introduced by Victor Miller and Neal </a:t>
            </a:r>
            <a:r>
              <a:rPr lang="en-US" sz="2000" dirty="0" err="1"/>
              <a:t>Koblitz</a:t>
            </a:r>
            <a:r>
              <a:rPr lang="en-US" sz="2000" dirty="0"/>
              <a:t> in 1985 in 1985</a:t>
            </a:r>
          </a:p>
          <a:p>
            <a:pPr algn="just" eaLnBrk="1" hangingPunct="1"/>
            <a:r>
              <a:rPr lang="en-US" sz="2000" dirty="0"/>
              <a:t>ECC provides same level of security with smaller key sizes.</a:t>
            </a:r>
          </a:p>
          <a:p>
            <a:pPr algn="just" eaLnBrk="1" hangingPunct="1"/>
            <a:r>
              <a:rPr lang="en-US" sz="2000" dirty="0"/>
              <a:t>A 256 bit ECC public key provides comparable security to a 3072 bit RSA public key. The primary advantage of using ECC based cryptography is reduced key size hence speed</a:t>
            </a:r>
            <a:r>
              <a:rPr lang="en-US" dirty="0" smtClean="0"/>
              <a:t>.</a:t>
            </a:r>
          </a:p>
          <a:p>
            <a:pPr algn="just" eaLnBrk="1" hangingPunct="1"/>
            <a:r>
              <a:rPr lang="en-US" sz="2000" dirty="0"/>
              <a:t>Elliptic curves have nothing to do with ellipses. Ellipses are formed by quadratic curves.(x</a:t>
            </a:r>
            <a:r>
              <a:rPr lang="en-US" sz="2000" baseline="30000" dirty="0"/>
              <a:t>2</a:t>
            </a:r>
            <a:r>
              <a:rPr lang="en-US" sz="2000" dirty="0"/>
              <a:t> ).Elliptic curves are always cubic (x</a:t>
            </a:r>
            <a:r>
              <a:rPr lang="en-US" sz="2000" baseline="30000" dirty="0"/>
              <a:t>3</a:t>
            </a:r>
            <a:r>
              <a:rPr lang="en-US" sz="2000" dirty="0"/>
              <a:t> )</a:t>
            </a:r>
          </a:p>
          <a:p>
            <a:pPr algn="just" eaLnBrk="1" hangingPunct="1"/>
            <a:r>
              <a:rPr lang="en-US" sz="2000" dirty="0"/>
              <a:t>Block chain implementations such as </a:t>
            </a:r>
            <a:r>
              <a:rPr lang="en-US" sz="2000" dirty="0" err="1"/>
              <a:t>Bitcoin</a:t>
            </a:r>
            <a:r>
              <a:rPr lang="en-US" sz="2000" dirty="0"/>
              <a:t> or </a:t>
            </a:r>
            <a:r>
              <a:rPr lang="en-US" sz="2000" dirty="0" err="1"/>
              <a:t>Ethereum</a:t>
            </a:r>
            <a:r>
              <a:rPr lang="en-US" sz="2000" dirty="0"/>
              <a:t> uses the Elliptic curves to generate public and private keys</a:t>
            </a:r>
          </a:p>
          <a:p>
            <a:pPr algn="just" eaLnBrk="1" hangingPunct="1">
              <a:buNone/>
            </a:pPr>
            <a:r>
              <a:rPr lang="en-US" dirty="0">
                <a:solidFill>
                  <a:srgbClr val="FF3300"/>
                </a:solidFill>
                <a:latin typeface="Courier" pitchFamily="49" charset="0"/>
              </a:rPr>
              <a:t>y</a:t>
            </a:r>
            <a:r>
              <a:rPr lang="en-US" baseline="30000" dirty="0">
                <a:solidFill>
                  <a:srgbClr val="FF3300"/>
                </a:solidFill>
                <a:latin typeface="Courier" pitchFamily="49" charset="0"/>
              </a:rPr>
              <a:t>2</a:t>
            </a:r>
            <a:r>
              <a:rPr lang="en-US" dirty="0">
                <a:solidFill>
                  <a:srgbClr val="FF3300"/>
                </a:solidFill>
                <a:latin typeface="Courier" pitchFamily="49" charset="0"/>
              </a:rPr>
              <a:t> = x</a:t>
            </a:r>
            <a:r>
              <a:rPr lang="en-US" baseline="30000" dirty="0">
                <a:solidFill>
                  <a:srgbClr val="FF3300"/>
                </a:solidFill>
                <a:latin typeface="Courier" pitchFamily="49" charset="0"/>
              </a:rPr>
              <a:t>3</a:t>
            </a:r>
            <a:r>
              <a:rPr lang="en-US" dirty="0">
                <a:solidFill>
                  <a:srgbClr val="FF3300"/>
                </a:solidFill>
                <a:latin typeface="Courier" pitchFamily="49" charset="0"/>
              </a:rPr>
              <a:t> + 2x + 3</a:t>
            </a:r>
            <a:r>
              <a:rPr lang="en-US" dirty="0">
                <a:latin typeface="Courier" pitchFamily="49" charset="0"/>
              </a:rPr>
              <a:t> (</a:t>
            </a:r>
            <a:r>
              <a:rPr lang="en-US" b="1" dirty="0">
                <a:solidFill>
                  <a:schemeClr val="accent2"/>
                </a:solidFill>
                <a:latin typeface="Courier" pitchFamily="49" charset="0"/>
              </a:rPr>
              <a:t>mod 5</a:t>
            </a:r>
            <a:r>
              <a:rPr lang="en-US" dirty="0">
                <a:latin typeface="Courier" pitchFamily="49" charset="0"/>
              </a:rPr>
              <a:t>)</a:t>
            </a:r>
            <a:endParaRPr lang="en-US" dirty="0"/>
          </a:p>
          <a:p>
            <a:pPr algn="just" eaLnBrk="1" hangingPunct="1">
              <a:buFont typeface="Arial" panose="020B0604020202020204" pitchFamily="34" charset="0"/>
              <a:buNone/>
            </a:pPr>
            <a:endParaRPr lang="en-US" dirty="0" smtClean="0"/>
          </a:p>
        </p:txBody>
      </p:sp>
      <p:sp>
        <p:nvSpPr>
          <p:cNvPr id="4" name="Slide Number Placeholder 3"/>
          <p:cNvSpPr>
            <a:spLocks noGrp="1"/>
          </p:cNvSpPr>
          <p:nvPr>
            <p:ph type="sldNum" sz="quarter" idx="12"/>
          </p:nvPr>
        </p:nvSpPr>
        <p:spPr/>
        <p:txBody>
          <a:bodyPr/>
          <a:lstStyle/>
          <a:p>
            <a:pPr>
              <a:defRPr/>
            </a:pPr>
            <a:fld id="{DF51BC31-BB8D-4C73-A861-CA3A670F5A63}" type="slidenum">
              <a:rPr lang="en-US" smtClean="0"/>
              <a:pPr>
                <a:defRPr/>
              </a:pPr>
              <a:t>29</a:t>
            </a:fld>
            <a:endParaRPr lang="en-US"/>
          </a:p>
        </p:txBody>
      </p:sp>
    </p:spTree>
    <p:extLst>
      <p:ext uri="{BB962C8B-B14F-4D97-AF65-F5344CB8AC3E}">
        <p14:creationId xmlns:p14="http://schemas.microsoft.com/office/powerpoint/2010/main" val="313551088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IN" smtClean="0"/>
              <a:t>						 </a:t>
            </a:r>
          </a:p>
        </p:txBody>
      </p:sp>
      <p:graphicFrame>
        <p:nvGraphicFramePr>
          <p:cNvPr id="4" name="Content Placeholder 3"/>
          <p:cNvGraphicFramePr>
            <a:graphicFrameLocks noGrp="1"/>
          </p:cNvGraphicFramePr>
          <p:nvPr>
            <p:ph idx="1"/>
          </p:nvPr>
        </p:nvGraphicFramePr>
        <p:xfrm>
          <a:off x="2057400" y="1676401"/>
          <a:ext cx="5334000" cy="4206877"/>
        </p:xfrm>
        <a:graphic>
          <a:graphicData uri="http://schemas.openxmlformats.org/drawingml/2006/table">
            <a:tbl>
              <a:tblPr firstRow="1" bandRow="1">
                <a:tableStyleId>{5C22544A-7EE6-4342-B048-85BDC9FD1C3A}</a:tableStyleId>
              </a:tblPr>
              <a:tblGrid>
                <a:gridCol w="1778000"/>
                <a:gridCol w="1778000"/>
                <a:gridCol w="1778000"/>
              </a:tblGrid>
              <a:tr h="640177">
                <a:tc>
                  <a:txBody>
                    <a:bodyPr/>
                    <a:lstStyle/>
                    <a:p>
                      <a:r>
                        <a:rPr lang="en-IN" sz="1800" dirty="0" smtClean="0"/>
                        <a:t>parameters</a:t>
                      </a:r>
                      <a:endParaRPr lang="en-IN" sz="1800" dirty="0"/>
                    </a:p>
                  </a:txBody>
                  <a:tcPr marT="45727" marB="45727"/>
                </a:tc>
                <a:tc>
                  <a:txBody>
                    <a:bodyPr/>
                    <a:lstStyle/>
                    <a:p>
                      <a:r>
                        <a:rPr lang="en-IN" sz="1800" dirty="0" smtClean="0"/>
                        <a:t>Elliptic curve key length</a:t>
                      </a:r>
                      <a:endParaRPr lang="en-IN" sz="1800" dirty="0"/>
                    </a:p>
                  </a:txBody>
                  <a:tcPr marT="45727" marB="45727"/>
                </a:tc>
                <a:tc>
                  <a:txBody>
                    <a:bodyPr/>
                    <a:lstStyle/>
                    <a:p>
                      <a:r>
                        <a:rPr lang="en-IN" sz="1800" dirty="0" smtClean="0"/>
                        <a:t>RSA key length</a:t>
                      </a:r>
                      <a:endParaRPr lang="en-IN" sz="1800" dirty="0"/>
                    </a:p>
                  </a:txBody>
                  <a:tcPr marT="45727" marB="45727"/>
                </a:tc>
              </a:tr>
              <a:tr h="365815">
                <a:tc>
                  <a:txBody>
                    <a:bodyPr/>
                    <a:lstStyle/>
                    <a:p>
                      <a:r>
                        <a:rPr lang="en-IN" sz="1800" dirty="0" smtClean="0"/>
                        <a:t>secp192kl</a:t>
                      </a:r>
                      <a:endParaRPr lang="en-IN" sz="1800" dirty="0"/>
                    </a:p>
                  </a:txBody>
                  <a:tcPr marT="45727" marB="45727"/>
                </a:tc>
                <a:tc>
                  <a:txBody>
                    <a:bodyPr/>
                    <a:lstStyle/>
                    <a:p>
                      <a:r>
                        <a:rPr lang="en-IN" sz="1800" dirty="0" smtClean="0"/>
                        <a:t>192</a:t>
                      </a:r>
                      <a:endParaRPr lang="en-IN" sz="1800" dirty="0"/>
                    </a:p>
                  </a:txBody>
                  <a:tcPr marT="45727" marB="45727"/>
                </a:tc>
                <a:tc>
                  <a:txBody>
                    <a:bodyPr/>
                    <a:lstStyle/>
                    <a:p>
                      <a:r>
                        <a:rPr lang="en-IN" sz="1800" dirty="0" smtClean="0"/>
                        <a:t>1536</a:t>
                      </a:r>
                      <a:endParaRPr lang="en-IN" sz="1800" dirty="0"/>
                    </a:p>
                  </a:txBody>
                  <a:tcPr marT="45727" marB="45727"/>
                </a:tc>
              </a:tr>
              <a:tr h="64017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dirty="0" smtClean="0"/>
                        <a:t>secp224kl</a:t>
                      </a:r>
                    </a:p>
                    <a:p>
                      <a:endParaRPr lang="en-IN" sz="1800" dirty="0"/>
                    </a:p>
                  </a:txBody>
                  <a:tcPr marT="45727" marB="45727"/>
                </a:tc>
                <a:tc>
                  <a:txBody>
                    <a:bodyPr/>
                    <a:lstStyle/>
                    <a:p>
                      <a:r>
                        <a:rPr lang="en-IN" sz="1800" dirty="0" smtClean="0"/>
                        <a:t>224</a:t>
                      </a:r>
                      <a:endParaRPr lang="en-IN" sz="1800" dirty="0"/>
                    </a:p>
                  </a:txBody>
                  <a:tcPr marT="45727" marB="45727"/>
                </a:tc>
                <a:tc>
                  <a:txBody>
                    <a:bodyPr/>
                    <a:lstStyle/>
                    <a:p>
                      <a:r>
                        <a:rPr lang="en-IN" sz="1800" dirty="0" smtClean="0"/>
                        <a:t>2048</a:t>
                      </a:r>
                      <a:endParaRPr lang="en-IN" sz="1800" dirty="0"/>
                    </a:p>
                  </a:txBody>
                  <a:tcPr marT="45727" marB="45727"/>
                </a:tc>
              </a:tr>
              <a:tr h="64017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dirty="0" smtClean="0"/>
                        <a:t>secp256kl</a:t>
                      </a:r>
                    </a:p>
                    <a:p>
                      <a:endParaRPr lang="en-IN" sz="1800" dirty="0"/>
                    </a:p>
                  </a:txBody>
                  <a:tcPr marT="45727" marB="45727"/>
                </a:tc>
                <a:tc>
                  <a:txBody>
                    <a:bodyPr/>
                    <a:lstStyle/>
                    <a:p>
                      <a:r>
                        <a:rPr lang="en-IN" sz="1800" dirty="0" smtClean="0"/>
                        <a:t>256</a:t>
                      </a:r>
                      <a:endParaRPr lang="en-IN" sz="1800" dirty="0"/>
                    </a:p>
                  </a:txBody>
                  <a:tcPr marT="45727" marB="45727"/>
                </a:tc>
                <a:tc>
                  <a:txBody>
                    <a:bodyPr/>
                    <a:lstStyle/>
                    <a:p>
                      <a:r>
                        <a:rPr lang="en-IN" sz="1800" dirty="0" smtClean="0"/>
                        <a:t>3072</a:t>
                      </a:r>
                      <a:endParaRPr lang="en-IN" sz="1800" dirty="0"/>
                    </a:p>
                  </a:txBody>
                  <a:tcPr marT="45727" marB="45727"/>
                </a:tc>
              </a:tr>
              <a:tr h="64017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dirty="0" smtClean="0"/>
                        <a:t>secp384kl</a:t>
                      </a:r>
                    </a:p>
                    <a:p>
                      <a:endParaRPr lang="en-IN" sz="1800" dirty="0"/>
                    </a:p>
                  </a:txBody>
                  <a:tcPr marT="45727" marB="45727"/>
                </a:tc>
                <a:tc>
                  <a:txBody>
                    <a:bodyPr/>
                    <a:lstStyle/>
                    <a:p>
                      <a:r>
                        <a:rPr lang="en-IN" sz="1800" dirty="0" smtClean="0"/>
                        <a:t>384</a:t>
                      </a:r>
                      <a:endParaRPr lang="en-IN" sz="1800" dirty="0"/>
                    </a:p>
                  </a:txBody>
                  <a:tcPr marT="45727" marB="45727"/>
                </a:tc>
                <a:tc>
                  <a:txBody>
                    <a:bodyPr/>
                    <a:lstStyle/>
                    <a:p>
                      <a:r>
                        <a:rPr lang="en-IN" sz="1800" dirty="0" smtClean="0"/>
                        <a:t>7680</a:t>
                      </a:r>
                      <a:endParaRPr lang="en-IN" sz="1800" dirty="0"/>
                    </a:p>
                  </a:txBody>
                  <a:tcPr marT="45727" marB="45727"/>
                </a:tc>
              </a:tr>
              <a:tr h="64017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dirty="0" smtClean="0"/>
                        <a:t>secp512kl</a:t>
                      </a:r>
                    </a:p>
                    <a:p>
                      <a:endParaRPr lang="en-IN" sz="1800" dirty="0"/>
                    </a:p>
                  </a:txBody>
                  <a:tcPr marT="45727" marB="45727"/>
                </a:tc>
                <a:tc>
                  <a:txBody>
                    <a:bodyPr/>
                    <a:lstStyle/>
                    <a:p>
                      <a:r>
                        <a:rPr lang="en-IN" sz="1800" dirty="0" smtClean="0"/>
                        <a:t>512</a:t>
                      </a:r>
                      <a:endParaRPr lang="en-IN" sz="1800" dirty="0"/>
                    </a:p>
                  </a:txBody>
                  <a:tcPr marT="45727" marB="45727"/>
                </a:tc>
                <a:tc>
                  <a:txBody>
                    <a:bodyPr/>
                    <a:lstStyle/>
                    <a:p>
                      <a:r>
                        <a:rPr lang="en-IN" sz="1800" dirty="0" smtClean="0"/>
                        <a:t>15360</a:t>
                      </a:r>
                      <a:endParaRPr lang="en-IN" sz="1800" dirty="0"/>
                    </a:p>
                  </a:txBody>
                  <a:tcPr marT="45727" marB="45727"/>
                </a:tc>
              </a:tr>
              <a:tr h="640177">
                <a:tc gridSpan="3">
                  <a:txBody>
                    <a:bodyPr/>
                    <a:lstStyle/>
                    <a:p>
                      <a:r>
                        <a:rPr lang="en-IN" sz="1800" dirty="0" smtClean="0"/>
                        <a:t>Bitcoin and </a:t>
                      </a:r>
                      <a:r>
                        <a:rPr lang="en-IN" sz="1800" dirty="0" err="1" smtClean="0"/>
                        <a:t>ethereum</a:t>
                      </a:r>
                      <a:r>
                        <a:rPr lang="en-IN" sz="1800" dirty="0" smtClean="0"/>
                        <a:t> both uses same secp256kl elliptic curve domain parameters</a:t>
                      </a:r>
                      <a:endParaRPr lang="en-IN" sz="1800" dirty="0"/>
                    </a:p>
                  </a:txBody>
                  <a:tcPr marT="45727" marB="45727"/>
                </a:tc>
                <a:tc hMerge="1">
                  <a:txBody>
                    <a:bodyPr/>
                    <a:lstStyle/>
                    <a:p>
                      <a:endParaRPr lang="en-IN" dirty="0"/>
                    </a:p>
                  </a:txBody>
                  <a:tcPr/>
                </a:tc>
                <a:tc hMerge="1">
                  <a:txBody>
                    <a:bodyPr/>
                    <a:lstStyle/>
                    <a:p>
                      <a:endParaRPr lang="en-IN" dirty="0"/>
                    </a:p>
                  </a:txBody>
                  <a:tcPr/>
                </a:tc>
              </a:tr>
            </a:tbl>
          </a:graphicData>
        </a:graphic>
      </p:graphicFrame>
      <p:sp>
        <p:nvSpPr>
          <p:cNvPr id="5" name="Slide Number Placeholder 4"/>
          <p:cNvSpPr>
            <a:spLocks noGrp="1"/>
          </p:cNvSpPr>
          <p:nvPr>
            <p:ph type="sldNum" sz="quarter" idx="12"/>
          </p:nvPr>
        </p:nvSpPr>
        <p:spPr/>
        <p:txBody>
          <a:bodyPr/>
          <a:lstStyle/>
          <a:p>
            <a:pPr>
              <a:defRPr/>
            </a:pPr>
            <a:fld id="{DF51BC31-BB8D-4C73-A861-CA3A670F5A63}" type="slidenum">
              <a:rPr lang="en-US" smtClean="0"/>
              <a:pPr>
                <a:defRPr/>
              </a:pPr>
              <a:t>30</a:t>
            </a:fld>
            <a:endParaRPr lang="en-US"/>
          </a:p>
        </p:txBody>
      </p:sp>
    </p:spTree>
    <p:extLst>
      <p:ext uri="{BB962C8B-B14F-4D97-AF65-F5344CB8AC3E}">
        <p14:creationId xmlns:p14="http://schemas.microsoft.com/office/powerpoint/2010/main" val="321378952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dirty="0" smtClean="0"/>
              <a:t>Key generation:</a:t>
            </a:r>
          </a:p>
          <a:p>
            <a:pPr marL="0" indent="0">
              <a:buNone/>
            </a:pPr>
            <a:r>
              <a:rPr lang="en-IN" sz="2400" dirty="0" smtClean="0"/>
              <a:t>1.Alice chooses an elliptic curve </a:t>
            </a:r>
            <a:r>
              <a:rPr lang="en-IN" sz="2400" dirty="0" err="1" smtClean="0"/>
              <a:t>E</a:t>
            </a:r>
            <a:r>
              <a:rPr lang="en-IN" sz="2400" baseline="-25000" dirty="0" err="1" smtClean="0"/>
              <a:t>p</a:t>
            </a:r>
            <a:r>
              <a:rPr lang="en-IN" sz="2400" dirty="0" smtClean="0"/>
              <a:t> (</a:t>
            </a:r>
            <a:r>
              <a:rPr lang="en-IN" sz="2400" dirty="0" err="1" smtClean="0"/>
              <a:t>a,b</a:t>
            </a:r>
            <a:r>
              <a:rPr lang="en-IN" sz="2400" dirty="0" smtClean="0"/>
              <a:t>) with p is a prime number</a:t>
            </a:r>
          </a:p>
          <a:p>
            <a:pPr marL="0" indent="0">
              <a:buNone/>
            </a:pPr>
            <a:r>
              <a:rPr lang="en-IN" sz="2400" dirty="0" smtClean="0"/>
              <a:t>2.Alice chooses another prime number q to be used in the calculation</a:t>
            </a:r>
          </a:p>
          <a:p>
            <a:pPr marL="0" indent="0">
              <a:buNone/>
            </a:pPr>
            <a:r>
              <a:rPr lang="en-IN" sz="2400" dirty="0" smtClean="0"/>
              <a:t>3.Alice chooses the private key </a:t>
            </a:r>
            <a:r>
              <a:rPr lang="en-IN" sz="2400" b="1" dirty="0" err="1" smtClean="0"/>
              <a:t>d</a:t>
            </a:r>
            <a:r>
              <a:rPr lang="en-IN" sz="2400" dirty="0" err="1" smtClean="0"/>
              <a:t>,an</a:t>
            </a:r>
            <a:r>
              <a:rPr lang="en-IN" sz="2400" dirty="0" smtClean="0"/>
              <a:t> integer</a:t>
            </a:r>
          </a:p>
          <a:p>
            <a:pPr marL="0" indent="0">
              <a:buNone/>
            </a:pPr>
            <a:r>
              <a:rPr lang="en-IN" sz="2400" dirty="0" smtClean="0"/>
              <a:t>4.Alic chooses e1(….) point on the curve</a:t>
            </a:r>
          </a:p>
          <a:p>
            <a:pPr marL="0" indent="0">
              <a:buNone/>
            </a:pPr>
            <a:r>
              <a:rPr lang="en-IN" sz="2400" dirty="0" smtClean="0"/>
              <a:t>5.Alice calculates e2(…)=d × </a:t>
            </a:r>
            <a:r>
              <a:rPr lang="en-IN" sz="2400" dirty="0"/>
              <a:t>e1(….) </a:t>
            </a:r>
            <a:r>
              <a:rPr lang="en-IN" sz="2400" dirty="0" smtClean="0"/>
              <a:t>,another point on the curve</a:t>
            </a:r>
          </a:p>
          <a:p>
            <a:pPr marL="0" indent="0">
              <a:buNone/>
            </a:pPr>
            <a:r>
              <a:rPr lang="en-IN" sz="2400" dirty="0" smtClean="0"/>
              <a:t>6.Alice ‘s public key is (a,b,p,q,e1,e2);private key is </a:t>
            </a:r>
            <a:r>
              <a:rPr lang="en-IN" sz="2400" b="1" dirty="0" smtClean="0"/>
              <a:t>d</a:t>
            </a:r>
            <a:endParaRPr lang="en-IN" sz="2400" b="1" dirty="0"/>
          </a:p>
        </p:txBody>
      </p:sp>
      <p:sp>
        <p:nvSpPr>
          <p:cNvPr id="6" name="Slide Number Placeholder 5"/>
          <p:cNvSpPr>
            <a:spLocks noGrp="1"/>
          </p:cNvSpPr>
          <p:nvPr>
            <p:ph type="sldNum" sz="quarter" idx="12"/>
          </p:nvPr>
        </p:nvSpPr>
        <p:spPr/>
        <p:txBody>
          <a:bodyPr/>
          <a:lstStyle/>
          <a:p>
            <a:pPr>
              <a:defRPr/>
            </a:pPr>
            <a:fld id="{DF51BC31-BB8D-4C73-A861-CA3A670F5A63}" type="slidenum">
              <a:rPr lang="en-US" smtClean="0"/>
              <a:pPr>
                <a:defRPr/>
              </a:pPr>
              <a:t>31</a:t>
            </a:fld>
            <a:endParaRPr lang="en-US"/>
          </a:p>
        </p:txBody>
      </p:sp>
    </p:spTree>
    <p:extLst>
      <p:ext uri="{BB962C8B-B14F-4D97-AF65-F5344CB8AC3E}">
        <p14:creationId xmlns:p14="http://schemas.microsoft.com/office/powerpoint/2010/main" val="99871185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dirty="0" smtClean="0"/>
              <a:t>Signature generation</a:t>
            </a:r>
          </a:p>
          <a:p>
            <a:pPr marL="457200" indent="-457200">
              <a:buAutoNum type="arabicPeriod"/>
            </a:pPr>
            <a:r>
              <a:rPr lang="en-IN" sz="2400" dirty="0" smtClean="0"/>
              <a:t>Alice chooses a secret random number r, between 1 and q-1</a:t>
            </a:r>
          </a:p>
          <a:p>
            <a:pPr marL="457200" indent="-457200">
              <a:buAutoNum type="arabicPeriod"/>
            </a:pPr>
            <a:r>
              <a:rPr lang="en-IN" sz="2400" dirty="0" smtClean="0"/>
              <a:t>Alice selects a third point on the </a:t>
            </a:r>
            <a:r>
              <a:rPr lang="en-IN" sz="2400" dirty="0" err="1" smtClean="0"/>
              <a:t>curve.P</a:t>
            </a:r>
            <a:r>
              <a:rPr lang="en-IN" sz="2400" dirty="0" smtClean="0"/>
              <a:t>(</a:t>
            </a:r>
            <a:r>
              <a:rPr lang="en-IN" sz="2400" dirty="0" err="1" smtClean="0"/>
              <a:t>u,v</a:t>
            </a:r>
            <a:r>
              <a:rPr lang="en-IN" sz="2400" dirty="0" smtClean="0"/>
              <a:t>)=r × e1(…)</a:t>
            </a:r>
          </a:p>
          <a:p>
            <a:pPr marL="457200" indent="-457200">
              <a:buAutoNum type="arabicPeriod"/>
            </a:pPr>
            <a:r>
              <a:rPr lang="en-IN" sz="2400" dirty="0" smtClean="0"/>
              <a:t>Alice uses the first coordinates of P(</a:t>
            </a:r>
            <a:r>
              <a:rPr lang="en-IN" sz="2400" dirty="0" err="1" smtClean="0"/>
              <a:t>u,v</a:t>
            </a:r>
            <a:r>
              <a:rPr lang="en-IN" sz="2400" dirty="0" smtClean="0"/>
              <a:t>) to calculate the first signature S1.This means S1=u mod p</a:t>
            </a:r>
          </a:p>
          <a:p>
            <a:pPr marL="457200" indent="-457200">
              <a:buAutoNum type="arabicPeriod"/>
            </a:pPr>
            <a:r>
              <a:rPr lang="en-IN" sz="2400" dirty="0" smtClean="0"/>
              <a:t>Alice chooses the hash of the </a:t>
            </a:r>
            <a:r>
              <a:rPr lang="en-IN" sz="2400" dirty="0" err="1" smtClean="0"/>
              <a:t>message,her</a:t>
            </a:r>
            <a:r>
              <a:rPr lang="en-IN" sz="2400" dirty="0" smtClean="0"/>
              <a:t> private </a:t>
            </a:r>
            <a:r>
              <a:rPr lang="en-IN" sz="2400" dirty="0" err="1" smtClean="0"/>
              <a:t>key,and</a:t>
            </a:r>
            <a:r>
              <a:rPr lang="en-IN" sz="2400" dirty="0" smtClean="0"/>
              <a:t> the secret random number r, and the S1 to calculate the signature S2=(h(M) + d × S1)r</a:t>
            </a:r>
            <a:r>
              <a:rPr lang="en-IN" sz="2400" baseline="30000" dirty="0" smtClean="0"/>
              <a:t>-1</a:t>
            </a:r>
            <a:r>
              <a:rPr lang="en-IN" sz="2400" dirty="0" smtClean="0"/>
              <a:t> mod q</a:t>
            </a:r>
          </a:p>
          <a:p>
            <a:pPr marL="457200" indent="-457200">
              <a:buAutoNum type="arabicPeriod"/>
            </a:pPr>
            <a:r>
              <a:rPr lang="en-IN" sz="2400" dirty="0" smtClean="0"/>
              <a:t>Alice sends M,S1 and S2</a:t>
            </a:r>
          </a:p>
          <a:p>
            <a:pPr marL="0" indent="0">
              <a:buNone/>
            </a:pPr>
            <a:endParaRPr lang="en-IN" sz="2400" dirty="0"/>
          </a:p>
        </p:txBody>
      </p:sp>
      <p:sp>
        <p:nvSpPr>
          <p:cNvPr id="6" name="Slide Number Placeholder 5"/>
          <p:cNvSpPr>
            <a:spLocks noGrp="1"/>
          </p:cNvSpPr>
          <p:nvPr>
            <p:ph type="sldNum" sz="quarter" idx="12"/>
          </p:nvPr>
        </p:nvSpPr>
        <p:spPr/>
        <p:txBody>
          <a:bodyPr/>
          <a:lstStyle/>
          <a:p>
            <a:pPr>
              <a:defRPr/>
            </a:pPr>
            <a:fld id="{DF51BC31-BB8D-4C73-A861-CA3A670F5A63}" type="slidenum">
              <a:rPr lang="en-US" smtClean="0"/>
              <a:pPr>
                <a:defRPr/>
              </a:pPr>
              <a:t>32</a:t>
            </a:fld>
            <a:endParaRPr lang="en-US"/>
          </a:p>
        </p:txBody>
      </p:sp>
    </p:spTree>
    <p:extLst>
      <p:ext uri="{BB962C8B-B14F-4D97-AF65-F5344CB8AC3E}">
        <p14:creationId xmlns:p14="http://schemas.microsoft.com/office/powerpoint/2010/main" val="309193897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274320" indent="-274320" eaLnBrk="1" fontAlgn="auto" hangingPunct="1">
              <a:spcAft>
                <a:spcPts val="0"/>
              </a:spcAft>
              <a:buFont typeface="Wingdings 2"/>
              <a:buNone/>
              <a:defRPr/>
            </a:pPr>
            <a:r>
              <a:rPr lang="en-US" sz="2800" dirty="0" smtClean="0"/>
              <a:t>Signature </a:t>
            </a:r>
            <a:r>
              <a:rPr lang="en-US" sz="2800" dirty="0"/>
              <a:t>Verification</a:t>
            </a:r>
            <a:r>
              <a:rPr lang="en-US" sz="2800" dirty="0" smtClean="0"/>
              <a:t>:</a:t>
            </a:r>
          </a:p>
          <a:p>
            <a:pPr marL="514350" indent="-514350" eaLnBrk="1" fontAlgn="auto" hangingPunct="1">
              <a:spcAft>
                <a:spcPts val="0"/>
              </a:spcAft>
              <a:buFont typeface="Wingdings 2"/>
              <a:buAutoNum type="arabicPeriod"/>
              <a:defRPr/>
            </a:pPr>
            <a:r>
              <a:rPr lang="en-US" sz="2800" dirty="0" smtClean="0"/>
              <a:t>Bob uses M,S1 and S2 to create two intermediate results ,A and B</a:t>
            </a:r>
          </a:p>
          <a:p>
            <a:pPr marL="0" indent="0" eaLnBrk="1" fontAlgn="auto" hangingPunct="1">
              <a:spcAft>
                <a:spcPts val="0"/>
              </a:spcAft>
              <a:buNone/>
              <a:defRPr/>
            </a:pPr>
            <a:r>
              <a:rPr lang="en-US" sz="2800" dirty="0" smtClean="0"/>
              <a:t>       A=h(M)S2</a:t>
            </a:r>
            <a:r>
              <a:rPr lang="en-US" sz="2800" baseline="30000" dirty="0" smtClean="0"/>
              <a:t>-1</a:t>
            </a:r>
            <a:r>
              <a:rPr lang="en-US" sz="2800" dirty="0" smtClean="0"/>
              <a:t> mod q   and B= </a:t>
            </a:r>
            <a:r>
              <a:rPr lang="en-US" sz="2800" dirty="0"/>
              <a:t>S2</a:t>
            </a:r>
            <a:r>
              <a:rPr lang="en-US" sz="2800" baseline="30000" dirty="0"/>
              <a:t>-1</a:t>
            </a:r>
            <a:r>
              <a:rPr lang="en-US" sz="2800" dirty="0"/>
              <a:t> </a:t>
            </a:r>
            <a:r>
              <a:rPr lang="en-US" sz="2800" dirty="0" smtClean="0"/>
              <a:t>S1 mod q</a:t>
            </a:r>
          </a:p>
          <a:p>
            <a:pPr marL="0" indent="0" eaLnBrk="1" fontAlgn="auto" hangingPunct="1">
              <a:spcAft>
                <a:spcPts val="0"/>
              </a:spcAft>
              <a:buNone/>
              <a:defRPr/>
            </a:pPr>
            <a:r>
              <a:rPr lang="en-US" sz="2800" dirty="0"/>
              <a:t> </a:t>
            </a:r>
            <a:r>
              <a:rPr lang="en-US" sz="2800" dirty="0" smtClean="0"/>
              <a:t>     Bob then reconstructs the third point T(</a:t>
            </a:r>
            <a:r>
              <a:rPr lang="en-US" sz="2800" dirty="0" err="1" smtClean="0"/>
              <a:t>x,y</a:t>
            </a:r>
            <a:r>
              <a:rPr lang="en-US" sz="2800" dirty="0" smtClean="0"/>
              <a:t>)=A × e1(….) + </a:t>
            </a:r>
            <a:r>
              <a:rPr lang="en-US" sz="2800" dirty="0"/>
              <a:t>B × </a:t>
            </a:r>
            <a:r>
              <a:rPr lang="en-US" sz="2800" dirty="0" smtClean="0"/>
              <a:t>e2(….) </a:t>
            </a:r>
          </a:p>
          <a:p>
            <a:pPr marL="0" indent="0" eaLnBrk="1" fontAlgn="auto" hangingPunct="1">
              <a:spcAft>
                <a:spcPts val="0"/>
              </a:spcAft>
              <a:buNone/>
              <a:defRPr/>
            </a:pPr>
            <a:r>
              <a:rPr lang="en-US" sz="2800" dirty="0" smtClean="0"/>
              <a:t>2. Bob uses the first coordinator of T(</a:t>
            </a:r>
            <a:r>
              <a:rPr lang="en-US" sz="2800" dirty="0" err="1" smtClean="0"/>
              <a:t>x,y</a:t>
            </a:r>
            <a:r>
              <a:rPr lang="en-US" sz="2800" dirty="0" smtClean="0"/>
              <a:t>) to verify the message .</a:t>
            </a:r>
          </a:p>
          <a:p>
            <a:pPr marL="0" indent="0" eaLnBrk="1" fontAlgn="auto" hangingPunct="1">
              <a:spcAft>
                <a:spcPts val="0"/>
              </a:spcAft>
              <a:buNone/>
              <a:defRPr/>
            </a:pPr>
            <a:r>
              <a:rPr lang="en-US" sz="2800" dirty="0"/>
              <a:t> </a:t>
            </a:r>
            <a:r>
              <a:rPr lang="en-US" sz="2800" dirty="0" smtClean="0"/>
              <a:t>    if x=S1 mod q  ,  signature is verified</a:t>
            </a:r>
          </a:p>
          <a:p>
            <a:pPr marL="0" indent="0" eaLnBrk="1" fontAlgn="auto" hangingPunct="1">
              <a:spcAft>
                <a:spcPts val="0"/>
              </a:spcAft>
              <a:buNone/>
              <a:defRPr/>
            </a:pPr>
            <a:r>
              <a:rPr lang="en-US" sz="2800" dirty="0"/>
              <a:t> </a:t>
            </a:r>
            <a:r>
              <a:rPr lang="en-US" sz="2800" dirty="0" smtClean="0"/>
              <a:t>            </a:t>
            </a:r>
            <a:r>
              <a:rPr lang="en-US" sz="2800" dirty="0" err="1" smtClean="0"/>
              <a:t>otherwise,it</a:t>
            </a:r>
            <a:r>
              <a:rPr lang="en-US" sz="2800" dirty="0" smtClean="0"/>
              <a:t> is rejected.</a:t>
            </a:r>
            <a:endParaRPr lang="en-US" sz="2800" dirty="0"/>
          </a:p>
          <a:p>
            <a:pPr marL="0" indent="0">
              <a:buNone/>
            </a:pPr>
            <a:endParaRPr lang="en-IN" dirty="0"/>
          </a:p>
        </p:txBody>
      </p:sp>
      <p:sp>
        <p:nvSpPr>
          <p:cNvPr id="6" name="Slide Number Placeholder 5"/>
          <p:cNvSpPr>
            <a:spLocks noGrp="1"/>
          </p:cNvSpPr>
          <p:nvPr>
            <p:ph type="sldNum" sz="quarter" idx="12"/>
          </p:nvPr>
        </p:nvSpPr>
        <p:spPr/>
        <p:txBody>
          <a:bodyPr/>
          <a:lstStyle/>
          <a:p>
            <a:pPr>
              <a:defRPr/>
            </a:pPr>
            <a:fld id="{37109F07-F13A-4551-BD1A-AFA4DB786849}" type="slidenum">
              <a:rPr lang="en-US" smtClean="0"/>
              <a:pPr>
                <a:defRPr/>
              </a:pPr>
              <a:t>33</a:t>
            </a:fld>
            <a:endParaRPr lang="en-US"/>
          </a:p>
        </p:txBody>
      </p:sp>
    </p:spTree>
    <p:extLst>
      <p:ext uri="{BB962C8B-B14F-4D97-AF65-F5344CB8AC3E}">
        <p14:creationId xmlns:p14="http://schemas.microsoft.com/office/powerpoint/2010/main" val="161654398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dirty="0" smtClean="0"/>
              <a:t>Addresses and Transactions:</a:t>
            </a:r>
          </a:p>
          <a:p>
            <a:pPr marL="0" indent="0">
              <a:buNone/>
            </a:pPr>
            <a:r>
              <a:rPr lang="en-IN" dirty="0" err="1" smtClean="0"/>
              <a:t>Bitcoin</a:t>
            </a:r>
            <a:r>
              <a:rPr lang="en-IN" dirty="0" smtClean="0"/>
              <a:t> identifies the users by large strings of numbers and letters like:</a:t>
            </a:r>
          </a:p>
          <a:p>
            <a:pPr marL="0" indent="0">
              <a:buNone/>
            </a:pPr>
            <a:r>
              <a:rPr lang="en-IN" dirty="0" smtClean="0"/>
              <a:t>                     </a:t>
            </a:r>
            <a:endParaRPr lang="en-IN" dirty="0"/>
          </a:p>
        </p:txBody>
      </p:sp>
      <p:pic>
        <p:nvPicPr>
          <p:cNvPr id="4" name="Picture 3"/>
          <p:cNvPicPr>
            <a:picLocks noChangeAspect="1"/>
          </p:cNvPicPr>
          <p:nvPr/>
        </p:nvPicPr>
        <p:blipFill>
          <a:blip r:embed="rId2"/>
          <a:stretch>
            <a:fillRect/>
          </a:stretch>
        </p:blipFill>
        <p:spPr>
          <a:xfrm>
            <a:off x="1676400" y="3048001"/>
            <a:ext cx="8348870" cy="381000"/>
          </a:xfrm>
          <a:prstGeom prst="rect">
            <a:avLst/>
          </a:prstGeom>
        </p:spPr>
      </p:pic>
      <p:pic>
        <p:nvPicPr>
          <p:cNvPr id="5" name="Picture 4"/>
          <p:cNvPicPr>
            <a:picLocks noChangeAspect="1"/>
          </p:cNvPicPr>
          <p:nvPr/>
        </p:nvPicPr>
        <p:blipFill>
          <a:blip r:embed="rId3"/>
          <a:stretch>
            <a:fillRect/>
          </a:stretch>
        </p:blipFill>
        <p:spPr>
          <a:xfrm>
            <a:off x="457200" y="3810000"/>
            <a:ext cx="9982200" cy="2590800"/>
          </a:xfrm>
          <a:prstGeom prst="rect">
            <a:avLst/>
          </a:prstGeom>
        </p:spPr>
      </p:pic>
      <p:sp>
        <p:nvSpPr>
          <p:cNvPr id="6" name="Slide Number Placeholder 5"/>
          <p:cNvSpPr>
            <a:spLocks noGrp="1"/>
          </p:cNvSpPr>
          <p:nvPr>
            <p:ph type="sldNum" sz="quarter" idx="12"/>
          </p:nvPr>
        </p:nvSpPr>
        <p:spPr/>
        <p:txBody>
          <a:bodyPr/>
          <a:lstStyle/>
          <a:p>
            <a:fld id="{44ECFAD1-5943-482C-BA4F-72A573AAED08}" type="slidenum">
              <a:rPr lang="en-IN" smtClean="0"/>
              <a:t>34</a:t>
            </a:fld>
            <a:endParaRPr lang="en-IN"/>
          </a:p>
        </p:txBody>
      </p:sp>
    </p:spTree>
    <p:extLst>
      <p:ext uri="{BB962C8B-B14F-4D97-AF65-F5344CB8AC3E}">
        <p14:creationId xmlns:p14="http://schemas.microsoft.com/office/powerpoint/2010/main" val="145484330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1828800"/>
            <a:ext cx="10515600" cy="4351338"/>
          </a:xfrm>
        </p:spPr>
        <p:txBody>
          <a:bodyPr>
            <a:normAutofit/>
          </a:bodyPr>
          <a:lstStyle/>
          <a:p>
            <a:pPr marL="0" indent="0">
              <a:buNone/>
            </a:pPr>
            <a:r>
              <a:rPr lang="en-IN" b="1" dirty="0" smtClean="0"/>
              <a:t>Simple </a:t>
            </a:r>
            <a:r>
              <a:rPr lang="en-IN" b="1" dirty="0" err="1"/>
              <a:t>C</a:t>
            </a:r>
            <a:r>
              <a:rPr lang="en-IN" b="1" dirty="0" err="1" smtClean="0"/>
              <a:t>ryptocurrency</a:t>
            </a:r>
            <a:r>
              <a:rPr lang="en-IN" b="1" dirty="0" smtClean="0"/>
              <a:t>:</a:t>
            </a:r>
          </a:p>
          <a:p>
            <a:r>
              <a:rPr lang="en-IN" b="1" dirty="0"/>
              <a:t>Goofy Coin</a:t>
            </a:r>
          </a:p>
          <a:p>
            <a:r>
              <a:rPr lang="en-IN" b="1" dirty="0"/>
              <a:t>Scrooge </a:t>
            </a:r>
            <a:r>
              <a:rPr lang="en-IN" b="1" dirty="0" smtClean="0"/>
              <a:t>Coin</a:t>
            </a:r>
          </a:p>
          <a:p>
            <a:pPr marL="0" indent="0">
              <a:buNone/>
            </a:pPr>
            <a:r>
              <a:rPr lang="en-IN" b="1" dirty="0"/>
              <a:t> </a:t>
            </a:r>
            <a:r>
              <a:rPr lang="en-IN" b="1" dirty="0" smtClean="0"/>
              <a:t>  - </a:t>
            </a:r>
            <a:r>
              <a:rPr lang="en-IN" dirty="0" smtClean="0"/>
              <a:t>Goofy Coin</a:t>
            </a:r>
          </a:p>
          <a:p>
            <a:pPr marL="0" indent="0">
              <a:buNone/>
            </a:pPr>
            <a:endParaRPr lang="en-IN" dirty="0" smtClean="0"/>
          </a:p>
          <a:p>
            <a:pPr marL="0" indent="0">
              <a:buNone/>
            </a:pPr>
            <a:endParaRPr lang="en-IN" dirty="0"/>
          </a:p>
          <a:p>
            <a:pPr marL="0" indent="0">
              <a:buNone/>
            </a:pPr>
            <a:endParaRPr lang="en-IN" dirty="0" smtClean="0"/>
          </a:p>
          <a:p>
            <a:pPr marL="0" indent="0">
              <a:buNone/>
            </a:pPr>
            <a:r>
              <a:rPr lang="en-IN" sz="1800" b="1" i="1" dirty="0"/>
              <a:t>It is possible to verify the validity of a coin by simply following the chain and verifying all the signatures</a:t>
            </a:r>
          </a:p>
          <a:p>
            <a:pPr marL="0" indent="0">
              <a:buNone/>
            </a:pPr>
            <a:endParaRPr lang="en-IN" b="1" i="1" dirty="0"/>
          </a:p>
        </p:txBody>
      </p:sp>
      <p:pic>
        <p:nvPicPr>
          <p:cNvPr id="5" name="Picture 4"/>
          <p:cNvPicPr>
            <a:picLocks noChangeAspect="1"/>
          </p:cNvPicPr>
          <p:nvPr/>
        </p:nvPicPr>
        <p:blipFill>
          <a:blip r:embed="rId2"/>
          <a:stretch>
            <a:fillRect/>
          </a:stretch>
        </p:blipFill>
        <p:spPr>
          <a:xfrm>
            <a:off x="5562600" y="2095500"/>
            <a:ext cx="4343400" cy="2667000"/>
          </a:xfrm>
          <a:prstGeom prst="rect">
            <a:avLst/>
          </a:prstGeom>
        </p:spPr>
      </p:pic>
      <p:sp>
        <p:nvSpPr>
          <p:cNvPr id="4" name="Slide Number Placeholder 3"/>
          <p:cNvSpPr>
            <a:spLocks noGrp="1"/>
          </p:cNvSpPr>
          <p:nvPr>
            <p:ph type="sldNum" sz="quarter" idx="12"/>
          </p:nvPr>
        </p:nvSpPr>
        <p:spPr/>
        <p:txBody>
          <a:bodyPr/>
          <a:lstStyle/>
          <a:p>
            <a:fld id="{44ECFAD1-5943-482C-BA4F-72A573AAED08}" type="slidenum">
              <a:rPr lang="en-IN" smtClean="0"/>
              <a:t>35</a:t>
            </a:fld>
            <a:endParaRPr lang="en-IN"/>
          </a:p>
        </p:txBody>
      </p:sp>
    </p:spTree>
    <p:extLst>
      <p:ext uri="{BB962C8B-B14F-4D97-AF65-F5344CB8AC3E}">
        <p14:creationId xmlns:p14="http://schemas.microsoft.com/office/powerpoint/2010/main" val="342507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anim calcmode="lin" valueType="num">
                                      <p:cBhvr additive="base">
                                        <p:cTn id="1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idx="1"/>
          </p:nvPr>
        </p:nvPicPr>
        <p:blipFill>
          <a:blip r:embed="rId2"/>
          <a:stretch>
            <a:fillRect/>
          </a:stretch>
        </p:blipFill>
        <p:spPr>
          <a:xfrm>
            <a:off x="1219200" y="2209800"/>
            <a:ext cx="5123065" cy="3505200"/>
          </a:xfrm>
          <a:prstGeom prst="rect">
            <a:avLst/>
          </a:prstGeom>
        </p:spPr>
      </p:pic>
      <p:sp>
        <p:nvSpPr>
          <p:cNvPr id="6" name="Slide Number Placeholder 5"/>
          <p:cNvSpPr>
            <a:spLocks noGrp="1"/>
          </p:cNvSpPr>
          <p:nvPr>
            <p:ph type="sldNum" sz="quarter" idx="12"/>
          </p:nvPr>
        </p:nvSpPr>
        <p:spPr/>
        <p:txBody>
          <a:bodyPr/>
          <a:lstStyle/>
          <a:p>
            <a:pPr>
              <a:defRPr/>
            </a:pPr>
            <a:fld id="{37109F07-F13A-4551-BD1A-AFA4DB786849}" type="slidenum">
              <a:rPr lang="en-US" smtClean="0"/>
              <a:pPr>
                <a:defRPr/>
              </a:pPr>
              <a:t>36</a:t>
            </a:fld>
            <a:endParaRPr lang="en-US"/>
          </a:p>
        </p:txBody>
      </p:sp>
      <p:sp>
        <p:nvSpPr>
          <p:cNvPr id="8" name="Rectangle 7"/>
          <p:cNvSpPr/>
          <p:nvPr/>
        </p:nvSpPr>
        <p:spPr>
          <a:xfrm>
            <a:off x="7239000" y="2209800"/>
            <a:ext cx="2615909" cy="369332"/>
          </a:xfrm>
          <a:prstGeom prst="rect">
            <a:avLst/>
          </a:prstGeom>
        </p:spPr>
        <p:txBody>
          <a:bodyPr wrap="none">
            <a:spAutoFit/>
          </a:bodyPr>
          <a:lstStyle/>
          <a:p>
            <a:r>
              <a:rPr lang="en-IN" dirty="0"/>
              <a:t>Double spending problem</a:t>
            </a:r>
          </a:p>
        </p:txBody>
      </p:sp>
      <p:sp>
        <p:nvSpPr>
          <p:cNvPr id="9" name="Rectangle 8"/>
          <p:cNvSpPr/>
          <p:nvPr/>
        </p:nvSpPr>
        <p:spPr>
          <a:xfrm>
            <a:off x="6781800" y="2590800"/>
            <a:ext cx="5562600" cy="1477328"/>
          </a:xfrm>
          <a:prstGeom prst="rect">
            <a:avLst/>
          </a:prstGeom>
        </p:spPr>
        <p:txBody>
          <a:bodyPr wrap="square">
            <a:spAutoFit/>
          </a:bodyPr>
          <a:lstStyle/>
          <a:p>
            <a:endParaRPr lang="en-IN" dirty="0"/>
          </a:p>
          <a:p>
            <a:r>
              <a:rPr lang="en-IN" dirty="0"/>
              <a:t>    </a:t>
            </a:r>
            <a:r>
              <a:rPr lang="en-IN" dirty="0" smtClean="0"/>
              <a:t>1.Goofy </a:t>
            </a:r>
            <a:r>
              <a:rPr lang="en-IN" dirty="0"/>
              <a:t>makes a transaction to pay Alice</a:t>
            </a:r>
          </a:p>
          <a:p>
            <a:r>
              <a:rPr lang="en-IN" dirty="0"/>
              <a:t>    </a:t>
            </a:r>
            <a:r>
              <a:rPr lang="en-IN" dirty="0" smtClean="0"/>
              <a:t>2.Alice </a:t>
            </a:r>
            <a:r>
              <a:rPr lang="en-IN" dirty="0"/>
              <a:t>makes a transaction to pay Bob</a:t>
            </a:r>
          </a:p>
          <a:p>
            <a:r>
              <a:rPr lang="en-IN" dirty="0"/>
              <a:t>    </a:t>
            </a:r>
            <a:r>
              <a:rPr lang="en-IN" dirty="0" smtClean="0"/>
              <a:t>3.Then </a:t>
            </a:r>
            <a:r>
              <a:rPr lang="en-IN" dirty="0"/>
              <a:t>Alice makes another transaction to Chuck, sending the same coin</a:t>
            </a:r>
          </a:p>
        </p:txBody>
      </p:sp>
    </p:spTree>
    <p:extLst>
      <p:ext uri="{BB962C8B-B14F-4D97-AF65-F5344CB8AC3E}">
        <p14:creationId xmlns:p14="http://schemas.microsoft.com/office/powerpoint/2010/main" val="3739622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IN" sz="1800" b="1" dirty="0" smtClean="0"/>
              <a:t>---Scrooge </a:t>
            </a:r>
            <a:r>
              <a:rPr lang="en-IN" sz="1800" b="1" dirty="0"/>
              <a:t>Coin</a:t>
            </a:r>
          </a:p>
          <a:p>
            <a:pPr marL="0" indent="0">
              <a:buNone/>
            </a:pPr>
            <a:endParaRPr lang="en-IN" dirty="0"/>
          </a:p>
        </p:txBody>
      </p:sp>
      <p:sp>
        <p:nvSpPr>
          <p:cNvPr id="6" name="Slide Number Placeholder 5"/>
          <p:cNvSpPr>
            <a:spLocks noGrp="1"/>
          </p:cNvSpPr>
          <p:nvPr>
            <p:ph type="sldNum" sz="quarter" idx="12"/>
          </p:nvPr>
        </p:nvSpPr>
        <p:spPr/>
        <p:txBody>
          <a:bodyPr/>
          <a:lstStyle/>
          <a:p>
            <a:pPr>
              <a:defRPr/>
            </a:pPr>
            <a:fld id="{37109F07-F13A-4551-BD1A-AFA4DB786849}" type="slidenum">
              <a:rPr lang="en-US" smtClean="0"/>
              <a:pPr>
                <a:defRPr/>
              </a:pPr>
              <a:t>37</a:t>
            </a:fld>
            <a:endParaRPr lang="en-US"/>
          </a:p>
        </p:txBody>
      </p:sp>
      <p:pic>
        <p:nvPicPr>
          <p:cNvPr id="7" name="Picture 6"/>
          <p:cNvPicPr>
            <a:picLocks noChangeAspect="1"/>
          </p:cNvPicPr>
          <p:nvPr/>
        </p:nvPicPr>
        <p:blipFill>
          <a:blip r:embed="rId2"/>
          <a:stretch>
            <a:fillRect/>
          </a:stretch>
        </p:blipFill>
        <p:spPr>
          <a:xfrm>
            <a:off x="609600" y="2286000"/>
            <a:ext cx="5715000" cy="3695700"/>
          </a:xfrm>
          <a:prstGeom prst="rect">
            <a:avLst/>
          </a:prstGeom>
        </p:spPr>
      </p:pic>
    </p:spTree>
    <p:extLst>
      <p:ext uri="{BB962C8B-B14F-4D97-AF65-F5344CB8AC3E}">
        <p14:creationId xmlns:p14="http://schemas.microsoft.com/office/powerpoint/2010/main" val="101277748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381001"/>
            <a:ext cx="10972800" cy="5745164"/>
          </a:xfrm>
        </p:spPr>
        <p:txBody>
          <a:bodyPr/>
          <a:lstStyle/>
          <a:p>
            <a:r>
              <a:rPr lang="en-IN" b="1" dirty="0"/>
              <a:t>Transactions types</a:t>
            </a:r>
          </a:p>
          <a:p>
            <a:pPr marL="0" indent="0">
              <a:buNone/>
            </a:pPr>
            <a:r>
              <a:rPr lang="en-IN" dirty="0"/>
              <a:t>In </a:t>
            </a:r>
            <a:r>
              <a:rPr lang="en-IN" dirty="0" err="1"/>
              <a:t>ScroogeCoin</a:t>
            </a:r>
            <a:r>
              <a:rPr lang="en-IN" dirty="0"/>
              <a:t> there are two kinds of transactions</a:t>
            </a:r>
            <a:r>
              <a:rPr lang="en-IN" dirty="0" smtClean="0"/>
              <a:t>:</a:t>
            </a:r>
          </a:p>
          <a:p>
            <a:pPr marL="0" indent="0">
              <a:buNone/>
            </a:pPr>
            <a:r>
              <a:rPr lang="en-IN" dirty="0" smtClean="0"/>
              <a:t>1.</a:t>
            </a:r>
            <a:r>
              <a:rPr lang="en-IN" b="1" dirty="0"/>
              <a:t> </a:t>
            </a:r>
            <a:r>
              <a:rPr lang="en-IN" sz="2400" b="1" dirty="0" err="1"/>
              <a:t>CreateCoins</a:t>
            </a:r>
            <a:r>
              <a:rPr lang="en-IN" sz="2400" b="1" dirty="0"/>
              <a:t> transaction</a:t>
            </a:r>
            <a:r>
              <a:rPr lang="en-IN" sz="2400" dirty="0" smtClean="0"/>
              <a:t>:</a:t>
            </a:r>
            <a:endParaRPr lang="en-IN" dirty="0"/>
          </a:p>
        </p:txBody>
      </p:sp>
      <p:sp>
        <p:nvSpPr>
          <p:cNvPr id="6" name="Slide Number Placeholder 5"/>
          <p:cNvSpPr>
            <a:spLocks noGrp="1"/>
          </p:cNvSpPr>
          <p:nvPr>
            <p:ph type="sldNum" sz="quarter" idx="12"/>
          </p:nvPr>
        </p:nvSpPr>
        <p:spPr/>
        <p:txBody>
          <a:bodyPr/>
          <a:lstStyle/>
          <a:p>
            <a:pPr>
              <a:defRPr/>
            </a:pPr>
            <a:fld id="{37109F07-F13A-4551-BD1A-AFA4DB786849}" type="slidenum">
              <a:rPr lang="en-US" smtClean="0"/>
              <a:pPr>
                <a:defRPr/>
              </a:pPr>
              <a:t>38</a:t>
            </a:fld>
            <a:endParaRPr lang="en-US"/>
          </a:p>
        </p:txBody>
      </p:sp>
      <p:pic>
        <p:nvPicPr>
          <p:cNvPr id="7" name="Picture 6"/>
          <p:cNvPicPr>
            <a:picLocks noChangeAspect="1"/>
          </p:cNvPicPr>
          <p:nvPr/>
        </p:nvPicPr>
        <p:blipFill>
          <a:blip r:embed="rId2"/>
          <a:stretch>
            <a:fillRect/>
          </a:stretch>
        </p:blipFill>
        <p:spPr>
          <a:xfrm>
            <a:off x="685800" y="2209800"/>
            <a:ext cx="6724650" cy="3228975"/>
          </a:xfrm>
          <a:prstGeom prst="rect">
            <a:avLst/>
          </a:prstGeom>
        </p:spPr>
      </p:pic>
    </p:spTree>
    <p:extLst>
      <p:ext uri="{BB962C8B-B14F-4D97-AF65-F5344CB8AC3E}">
        <p14:creationId xmlns:p14="http://schemas.microsoft.com/office/powerpoint/2010/main" val="219996828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10972800" cy="457200"/>
          </a:xfrm>
        </p:spPr>
        <p:txBody>
          <a:bodyPr/>
          <a:lstStyle/>
          <a:p>
            <a:pPr algn="l"/>
            <a:r>
              <a:rPr lang="en-IN" sz="2000" b="1" dirty="0" smtClean="0"/>
              <a:t>2.</a:t>
            </a:r>
            <a:r>
              <a:rPr lang="en-IN" sz="2000" b="1" dirty="0"/>
              <a:t> </a:t>
            </a:r>
            <a:r>
              <a:rPr lang="en-IN" sz="2000" b="1" dirty="0" err="1"/>
              <a:t>PayCoins</a:t>
            </a:r>
            <a:r>
              <a:rPr lang="en-IN" sz="2000" b="1" dirty="0"/>
              <a:t> </a:t>
            </a:r>
            <a:r>
              <a:rPr lang="en-IN" sz="2000" b="1" dirty="0" smtClean="0"/>
              <a:t>transaction</a:t>
            </a:r>
            <a:endParaRPr lang="en-IN" dirty="0"/>
          </a:p>
        </p:txBody>
      </p:sp>
      <p:sp>
        <p:nvSpPr>
          <p:cNvPr id="3" name="Content Placeholder 2"/>
          <p:cNvSpPr>
            <a:spLocks noGrp="1"/>
          </p:cNvSpPr>
          <p:nvPr>
            <p:ph idx="1"/>
          </p:nvPr>
        </p:nvSpPr>
        <p:spPr/>
        <p:txBody>
          <a:bodyPr/>
          <a:lstStyle/>
          <a:p>
            <a:pPr marL="0" indent="0">
              <a:buNone/>
            </a:pPr>
            <a:r>
              <a:rPr lang="en-IN" sz="2400" dirty="0"/>
              <a:t>2.</a:t>
            </a:r>
            <a:r>
              <a:rPr lang="en-IN" sz="2400" b="1" dirty="0"/>
              <a:t> </a:t>
            </a:r>
            <a:r>
              <a:rPr lang="en-IN" sz="2400" b="1" dirty="0" err="1"/>
              <a:t>PayCoins</a:t>
            </a:r>
            <a:r>
              <a:rPr lang="en-IN" sz="2400" b="1" dirty="0"/>
              <a:t> transaction</a:t>
            </a:r>
            <a:r>
              <a:rPr lang="en-IN" sz="2400" dirty="0"/>
              <a:t>:</a:t>
            </a:r>
          </a:p>
          <a:p>
            <a:pPr marL="0" indent="0">
              <a:buNone/>
            </a:pPr>
            <a:endParaRPr lang="en-IN" dirty="0"/>
          </a:p>
          <a:p>
            <a:pPr marL="0" indent="0">
              <a:buNone/>
            </a:pPr>
            <a:r>
              <a:rPr lang="en-IN" dirty="0" smtClean="0"/>
              <a:t>    </a:t>
            </a:r>
            <a:endParaRPr lang="en-IN" dirty="0"/>
          </a:p>
        </p:txBody>
      </p:sp>
      <p:sp>
        <p:nvSpPr>
          <p:cNvPr id="6" name="Slide Number Placeholder 5"/>
          <p:cNvSpPr>
            <a:spLocks noGrp="1"/>
          </p:cNvSpPr>
          <p:nvPr>
            <p:ph type="sldNum" sz="quarter" idx="12"/>
          </p:nvPr>
        </p:nvSpPr>
        <p:spPr/>
        <p:txBody>
          <a:bodyPr/>
          <a:lstStyle/>
          <a:p>
            <a:pPr>
              <a:defRPr/>
            </a:pPr>
            <a:fld id="{37109F07-F13A-4551-BD1A-AFA4DB786849}" type="slidenum">
              <a:rPr lang="en-US" smtClean="0"/>
              <a:pPr>
                <a:defRPr/>
              </a:pPr>
              <a:t>39</a:t>
            </a:fld>
            <a:endParaRPr lang="en-US"/>
          </a:p>
        </p:txBody>
      </p:sp>
      <p:pic>
        <p:nvPicPr>
          <p:cNvPr id="7" name="Picture 6"/>
          <p:cNvPicPr>
            <a:picLocks noChangeAspect="1"/>
          </p:cNvPicPr>
          <p:nvPr/>
        </p:nvPicPr>
        <p:blipFill>
          <a:blip r:embed="rId2"/>
          <a:stretch>
            <a:fillRect/>
          </a:stretch>
        </p:blipFill>
        <p:spPr>
          <a:xfrm>
            <a:off x="228600" y="685800"/>
            <a:ext cx="8953500" cy="3200400"/>
          </a:xfrm>
          <a:prstGeom prst="rect">
            <a:avLst/>
          </a:prstGeom>
        </p:spPr>
      </p:pic>
      <p:sp>
        <p:nvSpPr>
          <p:cNvPr id="9" name="Rectangle 8"/>
          <p:cNvSpPr/>
          <p:nvPr/>
        </p:nvSpPr>
        <p:spPr>
          <a:xfrm>
            <a:off x="457200" y="3810000"/>
            <a:ext cx="7848600" cy="2585323"/>
          </a:xfrm>
          <a:prstGeom prst="rect">
            <a:avLst/>
          </a:prstGeom>
        </p:spPr>
        <p:txBody>
          <a:bodyPr wrap="square">
            <a:spAutoFit/>
          </a:bodyPr>
          <a:lstStyle/>
          <a:p>
            <a:pPr algn="just"/>
            <a:r>
              <a:rPr lang="en-IN" dirty="0"/>
              <a:t>This transaction is valid if four conditions are met:</a:t>
            </a:r>
          </a:p>
          <a:p>
            <a:pPr algn="just"/>
            <a:endParaRPr lang="en-IN" dirty="0"/>
          </a:p>
          <a:p>
            <a:pPr algn="just"/>
            <a:r>
              <a:rPr lang="en-IN" dirty="0"/>
              <a:t>    </a:t>
            </a:r>
            <a:r>
              <a:rPr lang="en-IN" dirty="0" smtClean="0"/>
              <a:t>1.the </a:t>
            </a:r>
            <a:r>
              <a:rPr lang="en-IN" dirty="0"/>
              <a:t>consumed coins are valid: they were really created in previous transactions</a:t>
            </a:r>
          </a:p>
          <a:p>
            <a:pPr algn="just"/>
            <a:r>
              <a:rPr lang="en-IN" dirty="0"/>
              <a:t>   </a:t>
            </a:r>
            <a:r>
              <a:rPr lang="en-IN" dirty="0" smtClean="0"/>
              <a:t>2. </a:t>
            </a:r>
            <a:r>
              <a:rPr lang="en-IN" dirty="0"/>
              <a:t>double-spending check: the consumed coins were not already been spent in previous transactions</a:t>
            </a:r>
          </a:p>
          <a:p>
            <a:pPr algn="just"/>
            <a:r>
              <a:rPr lang="en-IN" dirty="0"/>
              <a:t>  </a:t>
            </a:r>
            <a:r>
              <a:rPr lang="en-IN" dirty="0" smtClean="0"/>
              <a:t>3.  </a:t>
            </a:r>
            <a:r>
              <a:rPr lang="en-IN" dirty="0"/>
              <a:t>the total value of the newly created coins is equal to the total value of the destroyed coins</a:t>
            </a:r>
          </a:p>
          <a:p>
            <a:pPr algn="just"/>
            <a:r>
              <a:rPr lang="en-IN" dirty="0"/>
              <a:t>   </a:t>
            </a:r>
            <a:r>
              <a:rPr lang="en-IN" dirty="0" smtClean="0"/>
              <a:t>4. </a:t>
            </a:r>
            <a:r>
              <a:rPr lang="en-IN" dirty="0"/>
              <a:t>all the digital signature of previous owners are valid</a:t>
            </a:r>
          </a:p>
        </p:txBody>
      </p:sp>
    </p:spTree>
    <p:extLst>
      <p:ext uri="{BB962C8B-B14F-4D97-AF65-F5344CB8AC3E}">
        <p14:creationId xmlns:p14="http://schemas.microsoft.com/office/powerpoint/2010/main" val="2714337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57200"/>
            <a:ext cx="10515600" cy="5719763"/>
          </a:xfrm>
        </p:spPr>
        <p:txBody>
          <a:bodyPr>
            <a:normAutofit/>
          </a:bodyPr>
          <a:lstStyle/>
          <a:p>
            <a:pPr marL="0" indent="0">
              <a:buNone/>
            </a:pPr>
            <a:r>
              <a:rPr lang="en-IN" sz="2400" dirty="0" smtClean="0"/>
              <a:t>This </a:t>
            </a:r>
            <a:r>
              <a:rPr lang="en-IN" sz="2400" dirty="0"/>
              <a:t>is a simulation of Scrooge Coin: a simple crypto-currency system using python.</a:t>
            </a:r>
          </a:p>
          <a:p>
            <a:pPr marL="0" indent="0">
              <a:buNone/>
            </a:pPr>
            <a:endParaRPr lang="en-IN" sz="2400" dirty="0"/>
          </a:p>
          <a:p>
            <a:pPr algn="just"/>
            <a:r>
              <a:rPr lang="en-IN" sz="2600" dirty="0"/>
              <a:t>    The system includes 100 users. A designated entity “Scrooge” publishes an append-only ledger that contains all the history of transactions.</a:t>
            </a:r>
          </a:p>
          <a:p>
            <a:pPr algn="just"/>
            <a:r>
              <a:rPr lang="en-IN" sz="2600" dirty="0"/>
              <a:t>    The ledger is a </a:t>
            </a:r>
            <a:r>
              <a:rPr lang="en-IN" sz="2600" dirty="0" err="1"/>
              <a:t>blockchain</a:t>
            </a:r>
            <a:r>
              <a:rPr lang="en-IN" sz="2600" dirty="0"/>
              <a:t>, where each block contains transactions, its ID, the hash of the block, and a hash pointer to the previous block.</a:t>
            </a:r>
          </a:p>
          <a:p>
            <a:pPr algn="just"/>
            <a:r>
              <a:rPr lang="en-IN" sz="2600" dirty="0"/>
              <a:t>    The final hash pointer is digitally signed by Scrooge.</a:t>
            </a:r>
          </a:p>
          <a:p>
            <a:pPr algn="just"/>
            <a:r>
              <a:rPr lang="en-IN" sz="2600" dirty="0"/>
              <a:t>    Initially, Scrooge creates 1000 coins and pays each user 10 coins.</a:t>
            </a:r>
          </a:p>
          <a:p>
            <a:pPr algn="just"/>
            <a:r>
              <a:rPr lang="en-IN" sz="2600" dirty="0"/>
              <a:t>    This is a simulation of a network of multiple users: a randomized process of making a transaction, making each transaction reach an arbitrary user.</a:t>
            </a:r>
          </a:p>
          <a:p>
            <a:pPr algn="just"/>
            <a:r>
              <a:rPr lang="en-IN" sz="2600" dirty="0"/>
              <a:t>    Upon detecting any transaction, scrooge verifies it by making sure the coin really belongs to the owner and it has not been spent before.</a:t>
            </a:r>
          </a:p>
          <a:p>
            <a:pPr marL="0" indent="0" algn="just">
              <a:buNone/>
            </a:pPr>
            <a:endParaRPr lang="en-IN" sz="1200" dirty="0"/>
          </a:p>
        </p:txBody>
      </p:sp>
      <p:sp>
        <p:nvSpPr>
          <p:cNvPr id="4" name="Slide Number Placeholder 3"/>
          <p:cNvSpPr>
            <a:spLocks noGrp="1"/>
          </p:cNvSpPr>
          <p:nvPr>
            <p:ph type="sldNum" sz="quarter" idx="12"/>
          </p:nvPr>
        </p:nvSpPr>
        <p:spPr/>
        <p:txBody>
          <a:bodyPr/>
          <a:lstStyle/>
          <a:p>
            <a:fld id="{44ECFAD1-5943-482C-BA4F-72A573AAED08}" type="slidenum">
              <a:rPr lang="en-IN" smtClean="0"/>
              <a:t>40</a:t>
            </a:fld>
            <a:endParaRPr lang="en-IN"/>
          </a:p>
        </p:txBody>
      </p:sp>
    </p:spTree>
    <p:extLst>
      <p:ext uri="{BB962C8B-B14F-4D97-AF65-F5344CB8AC3E}">
        <p14:creationId xmlns:p14="http://schemas.microsoft.com/office/powerpoint/2010/main" val="283365377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r>
              <a:rPr lang="en-IN" dirty="0"/>
              <a:t>If verified, Scrooge adds the transaction to the </a:t>
            </a:r>
            <a:r>
              <a:rPr lang="en-IN" dirty="0" err="1"/>
              <a:t>blockchain</a:t>
            </a:r>
            <a:r>
              <a:rPr lang="en-IN" dirty="0"/>
              <a:t>. Double spending can only happen before the transaction is published.</a:t>
            </a:r>
          </a:p>
          <a:p>
            <a:pPr algn="just"/>
            <a:r>
              <a:rPr lang="en-IN" dirty="0"/>
              <a:t>    A Merkel Tree is implemented which reflects the change in the </a:t>
            </a:r>
            <a:r>
              <a:rPr lang="en-IN" dirty="0" err="1"/>
              <a:t>blockchain</a:t>
            </a:r>
            <a:r>
              <a:rPr lang="en-IN" dirty="0"/>
              <a:t> when adding a new block to the </a:t>
            </a:r>
            <a:r>
              <a:rPr lang="en-IN" dirty="0" err="1"/>
              <a:t>blockchain</a:t>
            </a:r>
            <a:r>
              <a:rPr lang="en-IN" dirty="0"/>
              <a:t>.</a:t>
            </a:r>
          </a:p>
          <a:p>
            <a:pPr algn="just"/>
            <a:r>
              <a:rPr lang="en-IN" dirty="0"/>
              <a:t>    Each </a:t>
            </a:r>
            <a:r>
              <a:rPr lang="en-IN" dirty="0" err="1"/>
              <a:t>recepient</a:t>
            </a:r>
            <a:r>
              <a:rPr lang="en-IN" dirty="0"/>
              <a:t> uses the Merkel Tree to make sure that the coins are not spent before by the same sender.</a:t>
            </a:r>
          </a:p>
          <a:p>
            <a:pPr algn="just"/>
            <a:r>
              <a:rPr lang="en-IN" dirty="0"/>
              <a:t>    Upon running, each user's data is printed out, followed by the initial </a:t>
            </a:r>
            <a:r>
              <a:rPr lang="en-IN" dirty="0" err="1"/>
              <a:t>blockchain</a:t>
            </a:r>
            <a:r>
              <a:rPr lang="en-IN" dirty="0"/>
              <a:t>.</a:t>
            </a:r>
          </a:p>
          <a:p>
            <a:pPr algn="just"/>
            <a:r>
              <a:rPr lang="en-IN" dirty="0"/>
              <a:t>    Upon adding a block, the new </a:t>
            </a:r>
            <a:r>
              <a:rPr lang="en-IN" dirty="0" err="1"/>
              <a:t>blockchain</a:t>
            </a:r>
            <a:r>
              <a:rPr lang="en-IN" dirty="0"/>
              <a:t> is printed out.</a:t>
            </a:r>
          </a:p>
          <a:p>
            <a:endParaRPr lang="en-IN" sz="1400" dirty="0"/>
          </a:p>
          <a:p>
            <a:pPr marL="0" indent="0">
              <a:buNone/>
            </a:pPr>
            <a:endParaRPr lang="en-IN" dirty="0"/>
          </a:p>
        </p:txBody>
      </p:sp>
      <p:sp>
        <p:nvSpPr>
          <p:cNvPr id="4" name="Slide Number Placeholder 3"/>
          <p:cNvSpPr>
            <a:spLocks noGrp="1"/>
          </p:cNvSpPr>
          <p:nvPr>
            <p:ph type="sldNum" sz="quarter" idx="12"/>
          </p:nvPr>
        </p:nvSpPr>
        <p:spPr/>
        <p:txBody>
          <a:bodyPr/>
          <a:lstStyle/>
          <a:p>
            <a:fld id="{44ECFAD1-5943-482C-BA4F-72A573AAED08}" type="slidenum">
              <a:rPr lang="en-IN" smtClean="0"/>
              <a:t>41</a:t>
            </a:fld>
            <a:endParaRPr lang="en-IN"/>
          </a:p>
        </p:txBody>
      </p:sp>
    </p:spTree>
    <p:extLst>
      <p:ext uri="{BB962C8B-B14F-4D97-AF65-F5344CB8AC3E}">
        <p14:creationId xmlns:p14="http://schemas.microsoft.com/office/powerpoint/2010/main" val="182072368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14400"/>
            <a:ext cx="10515600" cy="5262563"/>
          </a:xfrm>
        </p:spPr>
        <p:txBody>
          <a:bodyPr>
            <a:normAutofit lnSpcReduction="10000"/>
          </a:bodyPr>
          <a:lstStyle/>
          <a:p>
            <a:pPr marL="0" indent="0">
              <a:buNone/>
            </a:pPr>
            <a:r>
              <a:rPr lang="en-IN" dirty="0" smtClean="0"/>
              <a:t>The Problem with Scoorge:</a:t>
            </a:r>
          </a:p>
          <a:p>
            <a:pPr marL="0" indent="0">
              <a:buNone/>
            </a:pPr>
            <a:endParaRPr lang="en-IN" dirty="0"/>
          </a:p>
          <a:p>
            <a:pPr algn="just"/>
            <a:r>
              <a:rPr lang="en-IN" sz="2600" dirty="0" smtClean="0"/>
              <a:t>Scoorge could stop endorsing transactions from some </a:t>
            </a:r>
            <a:r>
              <a:rPr lang="en-IN" sz="2600" dirty="0" err="1" smtClean="0"/>
              <a:t>users,denying</a:t>
            </a:r>
            <a:r>
              <a:rPr lang="en-IN" sz="2600" dirty="0" smtClean="0"/>
              <a:t> them service and making their coins unspeakable.</a:t>
            </a:r>
          </a:p>
          <a:p>
            <a:pPr algn="just"/>
            <a:r>
              <a:rPr lang="en-IN" sz="2600" dirty="0" smtClean="0"/>
              <a:t>If the Scoorge is greedy ,he could refuse to publish transactions unless they transfer some mandated transaction fee to him.</a:t>
            </a:r>
          </a:p>
          <a:p>
            <a:pPr algn="just"/>
            <a:r>
              <a:rPr lang="en-IN" sz="2600" dirty="0" smtClean="0"/>
              <a:t>Scoorge can also of course create as many new coins for himself as he wants.</a:t>
            </a:r>
          </a:p>
          <a:p>
            <a:pPr algn="just"/>
            <a:r>
              <a:rPr lang="en-IN" sz="2600" dirty="0" smtClean="0"/>
              <a:t>If Scoorge gets bored of the whole system and stop updating the </a:t>
            </a:r>
            <a:r>
              <a:rPr lang="en-IN" sz="2600" dirty="0" err="1" smtClean="0"/>
              <a:t>blockchain</a:t>
            </a:r>
            <a:r>
              <a:rPr lang="en-IN" sz="2600" dirty="0" smtClean="0"/>
              <a:t> completely.</a:t>
            </a:r>
          </a:p>
          <a:p>
            <a:pPr algn="just"/>
            <a:r>
              <a:rPr lang="en-IN" sz="2600" b="1" i="1" dirty="0"/>
              <a:t>The problem we have here is Centralization: although Scrooge is happy with the system, the users of it might not be. In order to improve on </a:t>
            </a:r>
            <a:r>
              <a:rPr lang="en-IN" sz="2600" b="1" i="1" dirty="0" err="1"/>
              <a:t>ScroogeCoin</a:t>
            </a:r>
            <a:r>
              <a:rPr lang="en-IN" sz="2600" b="1" i="1" dirty="0"/>
              <a:t> is necessary to decentralize the system.</a:t>
            </a:r>
            <a:endParaRPr lang="en-IN" sz="2600" b="1" i="1" dirty="0" smtClean="0"/>
          </a:p>
          <a:p>
            <a:pPr marL="0" indent="0" algn="just">
              <a:buNone/>
            </a:pPr>
            <a:endParaRPr lang="en-IN" sz="2600" b="1" i="1" dirty="0" smtClean="0"/>
          </a:p>
          <a:p>
            <a:pPr marL="0" indent="0">
              <a:buNone/>
            </a:pPr>
            <a:endParaRPr lang="en-IN" dirty="0"/>
          </a:p>
        </p:txBody>
      </p:sp>
      <p:sp>
        <p:nvSpPr>
          <p:cNvPr id="4" name="Slide Number Placeholder 3"/>
          <p:cNvSpPr>
            <a:spLocks noGrp="1"/>
          </p:cNvSpPr>
          <p:nvPr>
            <p:ph type="sldNum" sz="quarter" idx="12"/>
          </p:nvPr>
        </p:nvSpPr>
        <p:spPr/>
        <p:txBody>
          <a:bodyPr/>
          <a:lstStyle/>
          <a:p>
            <a:fld id="{44ECFAD1-5943-482C-BA4F-72A573AAED08}" type="slidenum">
              <a:rPr lang="en-IN" smtClean="0"/>
              <a:t>42</a:t>
            </a:fld>
            <a:endParaRPr lang="en-IN"/>
          </a:p>
        </p:txBody>
      </p:sp>
    </p:spTree>
    <p:extLst>
      <p:ext uri="{BB962C8B-B14F-4D97-AF65-F5344CB8AC3E}">
        <p14:creationId xmlns:p14="http://schemas.microsoft.com/office/powerpoint/2010/main" val="3786903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 calcmode="lin" valueType="num">
                                      <p:cBhvr additive="base">
                                        <p:cTn id="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IN" dirty="0"/>
              <a:t>We need to figure out:</a:t>
            </a:r>
          </a:p>
          <a:p>
            <a:r>
              <a:rPr lang="en-IN" dirty="0" smtClean="0"/>
              <a:t>How </a:t>
            </a:r>
            <a:r>
              <a:rPr lang="en-IN" dirty="0"/>
              <a:t>everyone can agree upon a single published </a:t>
            </a:r>
            <a:r>
              <a:rPr lang="en-IN" dirty="0" err="1"/>
              <a:t>blockchain</a:t>
            </a:r>
            <a:r>
              <a:rPr lang="en-IN" dirty="0"/>
              <a:t>, on which transactions are valid and which transactions actually occurred</a:t>
            </a:r>
          </a:p>
          <a:p>
            <a:r>
              <a:rPr lang="en-IN" dirty="0"/>
              <a:t>how we can assign IDs to things in a decentralized way</a:t>
            </a:r>
          </a:p>
          <a:p>
            <a:pPr marL="0" indent="0">
              <a:buNone/>
            </a:pPr>
            <a:endParaRPr lang="en-IN" dirty="0"/>
          </a:p>
        </p:txBody>
      </p:sp>
      <p:sp>
        <p:nvSpPr>
          <p:cNvPr id="4" name="Slide Number Placeholder 3"/>
          <p:cNvSpPr>
            <a:spLocks noGrp="1"/>
          </p:cNvSpPr>
          <p:nvPr>
            <p:ph type="sldNum" sz="quarter" idx="12"/>
          </p:nvPr>
        </p:nvSpPr>
        <p:spPr/>
        <p:txBody>
          <a:bodyPr/>
          <a:lstStyle/>
          <a:p>
            <a:fld id="{44ECFAD1-5943-482C-BA4F-72A573AAED08}" type="slidenum">
              <a:rPr lang="en-IN" smtClean="0"/>
              <a:t>43</a:t>
            </a:fld>
            <a:endParaRPr lang="en-IN"/>
          </a:p>
        </p:txBody>
      </p:sp>
    </p:spTree>
    <p:extLst>
      <p:ext uri="{BB962C8B-B14F-4D97-AF65-F5344CB8AC3E}">
        <p14:creationId xmlns:p14="http://schemas.microsoft.com/office/powerpoint/2010/main" val="58777565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81001"/>
            <a:ext cx="10515600" cy="5795962"/>
          </a:xfrm>
        </p:spPr>
        <p:txBody>
          <a:bodyPr>
            <a:normAutofit fontScale="92500" lnSpcReduction="20000"/>
          </a:bodyPr>
          <a:lstStyle/>
          <a:p>
            <a:pPr marL="514350" indent="-514350">
              <a:buAutoNum type="arabicPeriod"/>
            </a:pPr>
            <a:r>
              <a:rPr lang="en-IN" dirty="0" smtClean="0"/>
              <a:t>Let H be a hash function that is both hiding and Puzzle-friendly. Consider   G(Z) = H(Z) || Z</a:t>
            </a:r>
            <a:r>
              <a:rPr lang="en-IN" baseline="-25000" dirty="0" smtClean="0"/>
              <a:t>last   </a:t>
            </a:r>
            <a:r>
              <a:rPr lang="en-IN" dirty="0" smtClean="0"/>
              <a:t> where </a:t>
            </a:r>
            <a:r>
              <a:rPr lang="en-IN" dirty="0"/>
              <a:t>Z</a:t>
            </a:r>
            <a:r>
              <a:rPr lang="en-IN" baseline="-25000" dirty="0"/>
              <a:t>last</a:t>
            </a:r>
            <a:r>
              <a:rPr lang="en-IN" dirty="0" smtClean="0"/>
              <a:t> represents the last bit of Z. Show that G is puzzle friendly but not hiding</a:t>
            </a:r>
          </a:p>
          <a:p>
            <a:pPr marL="0" indent="0">
              <a:buNone/>
            </a:pPr>
            <a:endParaRPr lang="en-US" dirty="0" smtClean="0"/>
          </a:p>
          <a:p>
            <a:pPr marL="0" indent="0">
              <a:buNone/>
            </a:pPr>
            <a:r>
              <a:rPr lang="en-US" dirty="0" smtClean="0"/>
              <a:t>2. Alice </a:t>
            </a:r>
            <a:r>
              <a:rPr lang="en-US" dirty="0"/>
              <a:t>can use a </a:t>
            </a:r>
            <a:r>
              <a:rPr lang="en-US" dirty="0" err="1"/>
              <a:t>Merkle</a:t>
            </a:r>
            <a:r>
              <a:rPr lang="en-US" dirty="0"/>
              <a:t> tree to commit to a set of elements </a:t>
            </a:r>
            <a:r>
              <a:rPr lang="en-US" i="1" dirty="0"/>
              <a:t>S </a:t>
            </a:r>
            <a:r>
              <a:rPr lang="en-US" dirty="0"/>
              <a:t>= {</a:t>
            </a:r>
            <a:r>
              <a:rPr lang="en-US" i="1" dirty="0"/>
              <a:t>e</a:t>
            </a:r>
            <a:r>
              <a:rPr lang="en-US" baseline="-25000" dirty="0"/>
              <a:t>0</a:t>
            </a:r>
            <a:r>
              <a:rPr lang="en-US" i="1" dirty="0"/>
              <a:t>, . . . , e</a:t>
            </a:r>
            <a:r>
              <a:rPr lang="en-US" i="1" baseline="-25000" dirty="0"/>
              <a:t>n−</a:t>
            </a:r>
            <a:r>
              <a:rPr lang="en-US" baseline="-25000" dirty="0"/>
              <a:t>1</a:t>
            </a:r>
            <a:r>
              <a:rPr lang="en-US" dirty="0"/>
              <a:t>} so that later she can prove to Bob that some </a:t>
            </a:r>
            <a:r>
              <a:rPr lang="en-US" i="1" dirty="0" err="1"/>
              <a:t>e</a:t>
            </a:r>
            <a:r>
              <a:rPr lang="en-US" i="1" baseline="-25000" dirty="0" err="1"/>
              <a:t>i</a:t>
            </a:r>
            <a:r>
              <a:rPr lang="en-US" i="1" dirty="0"/>
              <a:t> </a:t>
            </a:r>
            <a:r>
              <a:rPr lang="en-US" dirty="0"/>
              <a:t>is in </a:t>
            </a:r>
            <a:r>
              <a:rPr lang="en-US" i="1" dirty="0"/>
              <a:t>S </a:t>
            </a:r>
            <a:r>
              <a:rPr lang="en-US" dirty="0"/>
              <a:t>using at most [log </a:t>
            </a:r>
            <a:r>
              <a:rPr lang="en-US" i="1" dirty="0" smtClean="0"/>
              <a:t>n</a:t>
            </a:r>
            <a:r>
              <a:rPr lang="en-US" dirty="0"/>
              <a:t>]</a:t>
            </a:r>
            <a:r>
              <a:rPr lang="en-US" dirty="0" smtClean="0"/>
              <a:t> </a:t>
            </a:r>
            <a:r>
              <a:rPr lang="en-US" dirty="0"/>
              <a:t>hash values.</a:t>
            </a:r>
            <a:endParaRPr lang="en-IN" dirty="0"/>
          </a:p>
          <a:p>
            <a:pPr marL="0" indent="0">
              <a:buNone/>
            </a:pPr>
            <a:r>
              <a:rPr lang="en-US" dirty="0" smtClean="0"/>
              <a:t>      Consider </a:t>
            </a:r>
            <a:r>
              <a:rPr lang="en-US" dirty="0"/>
              <a:t>how to do the same with a 3-ary tree, where every leaf node has up to 3 children. The hash at every non-leaf node is the hash of the concatenation of the children.</a:t>
            </a:r>
            <a:endParaRPr lang="en-IN" dirty="0"/>
          </a:p>
          <a:p>
            <a:pPr lvl="0"/>
            <a:r>
              <a:rPr lang="en-US" dirty="0" smtClean="0"/>
              <a:t>     Suppose </a:t>
            </a:r>
            <a:r>
              <a:rPr lang="en-US" i="1" dirty="0"/>
              <a:t>S </a:t>
            </a:r>
            <a:r>
              <a:rPr lang="en-US" dirty="0"/>
              <a:t>= {</a:t>
            </a:r>
            <a:r>
              <a:rPr lang="en-US" i="1" dirty="0"/>
              <a:t>e</a:t>
            </a:r>
            <a:r>
              <a:rPr lang="en-US" baseline="-25000" dirty="0"/>
              <a:t>0</a:t>
            </a:r>
            <a:r>
              <a:rPr lang="en-US" i="1" dirty="0"/>
              <a:t>, . . . , e</a:t>
            </a:r>
            <a:r>
              <a:rPr lang="en-US" baseline="-25000" dirty="0"/>
              <a:t>8</a:t>
            </a:r>
            <a:r>
              <a:rPr lang="en-US" dirty="0"/>
              <a:t>}. How does Alice prove to Bob that </a:t>
            </a:r>
            <a:r>
              <a:rPr lang="en-US" i="1" dirty="0"/>
              <a:t>e</a:t>
            </a:r>
            <a:r>
              <a:rPr lang="en-US" baseline="-25000" dirty="0"/>
              <a:t>3</a:t>
            </a:r>
            <a:r>
              <a:rPr lang="en-US" dirty="0"/>
              <a:t> is in the tree?</a:t>
            </a:r>
            <a:endParaRPr lang="en-IN" dirty="0"/>
          </a:p>
          <a:p>
            <a:pPr lvl="0"/>
            <a:r>
              <a:rPr lang="en-US" dirty="0" smtClean="0"/>
              <a:t>    If </a:t>
            </a:r>
            <a:r>
              <a:rPr lang="en-US" i="1" dirty="0"/>
              <a:t>S </a:t>
            </a:r>
            <a:r>
              <a:rPr lang="en-US" dirty="0"/>
              <a:t>contains </a:t>
            </a:r>
            <a:r>
              <a:rPr lang="en-US" i="1" dirty="0"/>
              <a:t>n </a:t>
            </a:r>
            <a:r>
              <a:rPr lang="en-US" dirty="0"/>
              <a:t>elements, what is the length of the proof that shows that some </a:t>
            </a:r>
            <a:r>
              <a:rPr lang="en-US" i="1" dirty="0" err="1"/>
              <a:t>e</a:t>
            </a:r>
            <a:r>
              <a:rPr lang="en-US" i="1" baseline="-25000" dirty="0" err="1"/>
              <a:t>i</a:t>
            </a:r>
            <a:r>
              <a:rPr lang="en-US" i="1" dirty="0"/>
              <a:t> </a:t>
            </a:r>
            <a:r>
              <a:rPr lang="en-US" dirty="0"/>
              <a:t>is in </a:t>
            </a:r>
            <a:r>
              <a:rPr lang="en-US" i="1" dirty="0"/>
              <a:t>S</a:t>
            </a:r>
            <a:r>
              <a:rPr lang="en-US" dirty="0"/>
              <a:t>?</a:t>
            </a:r>
            <a:endParaRPr lang="en-IN" dirty="0"/>
          </a:p>
          <a:p>
            <a:pPr lvl="0"/>
            <a:r>
              <a:rPr lang="en-US" dirty="0" smtClean="0"/>
              <a:t>   How </a:t>
            </a:r>
            <a:r>
              <a:rPr lang="en-US" dirty="0"/>
              <a:t>long is the proof if we replace 3 with </a:t>
            </a:r>
            <a:r>
              <a:rPr lang="en-US" i="1" dirty="0"/>
              <a:t>k &gt; </a:t>
            </a:r>
            <a:r>
              <a:rPr lang="en-US" dirty="0"/>
              <a:t>2?</a:t>
            </a:r>
            <a:endParaRPr lang="en-IN" dirty="0"/>
          </a:p>
          <a:p>
            <a:pPr marL="0" indent="0">
              <a:buNone/>
            </a:pPr>
            <a:r>
              <a:rPr lang="en-US" dirty="0"/>
              <a:t/>
            </a:r>
            <a:br>
              <a:rPr lang="en-US" dirty="0"/>
            </a:br>
            <a:endParaRPr lang="en-IN" dirty="0" smtClean="0"/>
          </a:p>
          <a:p>
            <a:pPr marL="514350" indent="-514350">
              <a:buAutoNum type="arabicPeriod"/>
            </a:pPr>
            <a:endParaRPr lang="en-IN" dirty="0" smtClean="0"/>
          </a:p>
          <a:p>
            <a:pPr marL="514350" indent="-514350">
              <a:buAutoNum type="arabicPeriod"/>
            </a:pPr>
            <a:endParaRPr lang="en-IN" dirty="0" smtClean="0"/>
          </a:p>
          <a:p>
            <a:pPr marL="514350" indent="-514350">
              <a:buAutoNum type="arabicPeriod"/>
            </a:pPr>
            <a:endParaRPr lang="en-IN" dirty="0"/>
          </a:p>
          <a:p>
            <a:pPr marL="514350" indent="-514350">
              <a:buAutoNum type="arabicPeriod"/>
            </a:pPr>
            <a:endParaRPr lang="en-IN" dirty="0"/>
          </a:p>
        </p:txBody>
      </p:sp>
      <p:sp>
        <p:nvSpPr>
          <p:cNvPr id="4" name="Slide Number Placeholder 3"/>
          <p:cNvSpPr>
            <a:spLocks noGrp="1"/>
          </p:cNvSpPr>
          <p:nvPr>
            <p:ph type="sldNum" sz="quarter" idx="12"/>
          </p:nvPr>
        </p:nvSpPr>
        <p:spPr/>
        <p:txBody>
          <a:bodyPr/>
          <a:lstStyle/>
          <a:p>
            <a:fld id="{44ECFAD1-5943-482C-BA4F-72A573AAED08}" type="slidenum">
              <a:rPr lang="en-IN" smtClean="0"/>
              <a:t>44</a:t>
            </a:fld>
            <a:endParaRPr lang="en-IN"/>
          </a:p>
        </p:txBody>
      </p:sp>
    </p:spTree>
    <p:extLst>
      <p:ext uri="{BB962C8B-B14F-4D97-AF65-F5344CB8AC3E}">
        <p14:creationId xmlns:p14="http://schemas.microsoft.com/office/powerpoint/2010/main" val="160955105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a:stretch>
            <a:fillRect/>
          </a:stretch>
        </p:blipFill>
        <p:spPr>
          <a:xfrm>
            <a:off x="685800" y="457200"/>
            <a:ext cx="10058400" cy="6251575"/>
          </a:xfrm>
          <a:prstGeom prst="rect">
            <a:avLst/>
          </a:prstGeom>
        </p:spPr>
      </p:pic>
      <p:sp>
        <p:nvSpPr>
          <p:cNvPr id="3" name="Rectangle 2"/>
          <p:cNvSpPr/>
          <p:nvPr/>
        </p:nvSpPr>
        <p:spPr>
          <a:xfrm>
            <a:off x="1143000" y="228600"/>
            <a:ext cx="4267200" cy="369332"/>
          </a:xfrm>
          <a:prstGeom prst="rect">
            <a:avLst/>
          </a:prstGeom>
        </p:spPr>
        <p:txBody>
          <a:bodyPr wrap="square">
            <a:spAutoFit/>
          </a:bodyPr>
          <a:lstStyle/>
          <a:p>
            <a:r>
              <a:rPr lang="en-IN" dirty="0"/>
              <a:t>Centralization vs. Decentralization</a:t>
            </a:r>
          </a:p>
        </p:txBody>
      </p:sp>
      <p:sp>
        <p:nvSpPr>
          <p:cNvPr id="5" name="Slide Number Placeholder 4"/>
          <p:cNvSpPr>
            <a:spLocks noGrp="1"/>
          </p:cNvSpPr>
          <p:nvPr>
            <p:ph type="sldNum" sz="quarter" idx="12"/>
          </p:nvPr>
        </p:nvSpPr>
        <p:spPr/>
        <p:txBody>
          <a:bodyPr/>
          <a:lstStyle/>
          <a:p>
            <a:fld id="{44ECFAD1-5943-482C-BA4F-72A573AAED08}" type="slidenum">
              <a:rPr lang="en-IN" smtClean="0"/>
              <a:t>45</a:t>
            </a:fld>
            <a:endParaRPr lang="en-IN"/>
          </a:p>
        </p:txBody>
      </p:sp>
    </p:spTree>
    <p:extLst>
      <p:ext uri="{BB962C8B-B14F-4D97-AF65-F5344CB8AC3E}">
        <p14:creationId xmlns:p14="http://schemas.microsoft.com/office/powerpoint/2010/main" val="1827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0" y="838200"/>
            <a:ext cx="10258540" cy="4038600"/>
          </a:xfrm>
        </p:spPr>
        <p:txBody>
          <a:bodyPr>
            <a:normAutofit fontScale="85000" lnSpcReduction="20000"/>
          </a:bodyPr>
          <a:lstStyle/>
          <a:p>
            <a:pPr marL="0" indent="0">
              <a:buNone/>
            </a:pPr>
            <a:r>
              <a:rPr lang="en-IN" sz="2400" b="1" dirty="0" smtClean="0"/>
              <a:t>Example -Solar Energy:</a:t>
            </a:r>
          </a:p>
          <a:p>
            <a:pPr marL="0" indent="0">
              <a:buNone/>
            </a:pPr>
            <a:r>
              <a:rPr lang="en-IN" sz="2400" dirty="0" smtClean="0"/>
              <a:t>is </a:t>
            </a:r>
            <a:r>
              <a:rPr lang="en-IN" sz="2400" dirty="0"/>
              <a:t>currently being built is by a decentralized organization called </a:t>
            </a:r>
            <a:r>
              <a:rPr lang="en-IN" sz="2400" dirty="0" err="1"/>
              <a:t>PowerLedger</a:t>
            </a:r>
            <a:r>
              <a:rPr lang="en-IN" sz="2400" dirty="0"/>
              <a:t>.</a:t>
            </a:r>
            <a:endParaRPr lang="en-IN" sz="2400" b="1" dirty="0"/>
          </a:p>
          <a:p>
            <a:pPr marL="0" indent="0">
              <a:buNone/>
            </a:pPr>
            <a:endParaRPr lang="en-IN" sz="2400" b="1" dirty="0" smtClean="0"/>
          </a:p>
          <a:p>
            <a:pPr marL="0" indent="0">
              <a:buNone/>
            </a:pPr>
            <a:r>
              <a:rPr lang="en-IN" sz="2400" dirty="0" smtClean="0"/>
              <a:t>By using </a:t>
            </a:r>
            <a:r>
              <a:rPr lang="en-IN" sz="2400" dirty="0" err="1" smtClean="0"/>
              <a:t>blockchain</a:t>
            </a:r>
            <a:r>
              <a:rPr lang="en-IN" sz="2400" dirty="0" smtClean="0"/>
              <a:t> technology, developed a system that cuts out of the middleman. Here’s how it works:</a:t>
            </a:r>
          </a:p>
          <a:p>
            <a:r>
              <a:rPr lang="en-IN" sz="2400" dirty="0" smtClean="0"/>
              <a:t>Ravi has solar panels on his house and uses the electricity he needs.</a:t>
            </a:r>
          </a:p>
          <a:p>
            <a:r>
              <a:rPr lang="en-IN" sz="2400" dirty="0" smtClean="0"/>
              <a:t>Ravi has extra electricity left over, which he plans to sell.</a:t>
            </a:r>
          </a:p>
          <a:p>
            <a:r>
              <a:rPr lang="en-IN" sz="2400" dirty="0" smtClean="0"/>
              <a:t>Normally, he would have to sell it back to the electricity company, however, with the help of </a:t>
            </a:r>
            <a:r>
              <a:rPr lang="en-IN" sz="2400" dirty="0" err="1" smtClean="0"/>
              <a:t>PowerLedger</a:t>
            </a:r>
            <a:r>
              <a:rPr lang="en-IN" sz="2400" dirty="0" smtClean="0"/>
              <a:t>, he can sell it to someone else directly at a fair market price.</a:t>
            </a:r>
          </a:p>
          <a:p>
            <a:r>
              <a:rPr lang="en-IN" sz="2400" dirty="0" smtClean="0"/>
              <a:t>His readings are posted on to the public </a:t>
            </a:r>
            <a:r>
              <a:rPr lang="en-IN" sz="2400" dirty="0" err="1" smtClean="0"/>
              <a:t>blockchain</a:t>
            </a:r>
            <a:r>
              <a:rPr lang="en-IN" sz="2400" dirty="0" smtClean="0"/>
              <a:t>, and anybody in the local area can buy the extra electricity from him.</a:t>
            </a:r>
          </a:p>
          <a:p>
            <a:r>
              <a:rPr lang="en-IN" sz="2400" dirty="0" smtClean="0"/>
              <a:t>Not only does Ravi get a better price, but so does the buyer.</a:t>
            </a:r>
          </a:p>
          <a:p>
            <a:r>
              <a:rPr lang="en-IN" sz="2400" dirty="0" smtClean="0"/>
              <a:t>All of this can be done without the help of a centralized third party.</a:t>
            </a:r>
          </a:p>
          <a:p>
            <a:pPr marL="0" indent="0">
              <a:buNone/>
            </a:pPr>
            <a:endParaRPr lang="en-IN" sz="2400" dirty="0"/>
          </a:p>
        </p:txBody>
      </p:sp>
      <p:sp>
        <p:nvSpPr>
          <p:cNvPr id="6" name="Slide Number Placeholder 5"/>
          <p:cNvSpPr>
            <a:spLocks noGrp="1"/>
          </p:cNvSpPr>
          <p:nvPr>
            <p:ph type="sldNum" sz="quarter" idx="12"/>
          </p:nvPr>
        </p:nvSpPr>
        <p:spPr/>
        <p:txBody>
          <a:bodyPr/>
          <a:lstStyle/>
          <a:p>
            <a:pPr>
              <a:defRPr/>
            </a:pPr>
            <a:fld id="{37109F07-F13A-4551-BD1A-AFA4DB786849}" type="slidenum">
              <a:rPr lang="en-US" smtClean="0"/>
              <a:pPr>
                <a:defRPr/>
              </a:pPr>
              <a:t>46</a:t>
            </a:fld>
            <a:endParaRPr lang="en-US"/>
          </a:p>
        </p:txBody>
      </p:sp>
      <p:pic>
        <p:nvPicPr>
          <p:cNvPr id="10" name="Picture 9"/>
          <p:cNvPicPr>
            <a:picLocks noChangeAspect="1"/>
          </p:cNvPicPr>
          <p:nvPr/>
        </p:nvPicPr>
        <p:blipFill>
          <a:blip r:embed="rId2"/>
          <a:stretch>
            <a:fillRect/>
          </a:stretch>
        </p:blipFill>
        <p:spPr>
          <a:xfrm>
            <a:off x="10210800" y="533400"/>
            <a:ext cx="1828800" cy="990600"/>
          </a:xfrm>
          <a:prstGeom prst="rect">
            <a:avLst/>
          </a:prstGeom>
        </p:spPr>
      </p:pic>
    </p:spTree>
    <p:extLst>
      <p:ext uri="{BB962C8B-B14F-4D97-AF65-F5344CB8AC3E}">
        <p14:creationId xmlns:p14="http://schemas.microsoft.com/office/powerpoint/2010/main" val="382258613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dirty="0" smtClean="0"/>
              <a:t>Advantages:</a:t>
            </a:r>
          </a:p>
          <a:p>
            <a:pPr>
              <a:buFont typeface="Wingdings" panose="05000000000000000000" pitchFamily="2" charset="2"/>
              <a:buChar char="ü"/>
            </a:pPr>
            <a:r>
              <a:rPr lang="en-IN" dirty="0"/>
              <a:t>The fair market price for both the buyer and seller</a:t>
            </a:r>
            <a:br>
              <a:rPr lang="en-IN" dirty="0"/>
            </a:br>
            <a:r>
              <a:rPr lang="en-IN" dirty="0"/>
              <a:t>✓ No need for a third party (who profits off both the buyer and seller)</a:t>
            </a:r>
            <a:br>
              <a:rPr lang="en-IN" dirty="0"/>
            </a:br>
            <a:r>
              <a:rPr lang="en-IN" dirty="0"/>
              <a:t>✓ Buyer pays in </a:t>
            </a:r>
            <a:r>
              <a:rPr lang="en-IN" dirty="0" err="1"/>
              <a:t>cryptocurrency</a:t>
            </a:r>
            <a:r>
              <a:rPr lang="en-IN" dirty="0"/>
              <a:t>, which is quicker and cheaper than traditional payment methods</a:t>
            </a:r>
          </a:p>
        </p:txBody>
      </p:sp>
      <p:sp>
        <p:nvSpPr>
          <p:cNvPr id="6" name="Slide Number Placeholder 5"/>
          <p:cNvSpPr>
            <a:spLocks noGrp="1"/>
          </p:cNvSpPr>
          <p:nvPr>
            <p:ph type="sldNum" sz="quarter" idx="12"/>
          </p:nvPr>
        </p:nvSpPr>
        <p:spPr/>
        <p:txBody>
          <a:bodyPr/>
          <a:lstStyle/>
          <a:p>
            <a:pPr>
              <a:defRPr/>
            </a:pPr>
            <a:fld id="{37109F07-F13A-4551-BD1A-AFA4DB786849}" type="slidenum">
              <a:rPr lang="en-US" smtClean="0"/>
              <a:pPr>
                <a:defRPr/>
              </a:pPr>
              <a:t>47</a:t>
            </a:fld>
            <a:endParaRPr lang="en-US"/>
          </a:p>
        </p:txBody>
      </p:sp>
    </p:spTree>
    <p:extLst>
      <p:ext uri="{BB962C8B-B14F-4D97-AF65-F5344CB8AC3E}">
        <p14:creationId xmlns:p14="http://schemas.microsoft.com/office/powerpoint/2010/main" val="274231660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TotalTime>
  <Words>2672</Words>
  <Application>Microsoft Office PowerPoint</Application>
  <PresentationFormat>Widescreen</PresentationFormat>
  <Paragraphs>355</Paragraphs>
  <Slides>47</Slides>
  <Notes>6</Notes>
  <HiddenSlides>2</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47</vt:i4>
      </vt:variant>
    </vt:vector>
  </HeadingPairs>
  <TitlesOfParts>
    <vt:vector size="57" baseType="lpstr">
      <vt:lpstr>Arial</vt:lpstr>
      <vt:lpstr>Calibri</vt:lpstr>
      <vt:lpstr>Calibri Light</vt:lpstr>
      <vt:lpstr>Courier</vt:lpstr>
      <vt:lpstr>Tahoma</vt:lpstr>
      <vt:lpstr>Verdana</vt:lpstr>
      <vt:lpstr>Wingdings</vt:lpstr>
      <vt:lpstr>Wingdings 2</vt:lpstr>
      <vt:lpstr>Office Theme</vt:lpstr>
      <vt:lpstr>ClipArt</vt:lpstr>
      <vt:lpstr>Introduction to Bitcoin</vt:lpstr>
      <vt:lpstr>Fundamentals of Cryptography</vt:lpstr>
      <vt:lpstr>PowerPoint Presentation</vt:lpstr>
      <vt:lpstr>PowerPoint Presentation</vt:lpstr>
      <vt:lpstr>PowerPoint Presentation</vt:lpstr>
      <vt:lpstr>PowerPoint Presentation</vt:lpstr>
      <vt:lpstr>PowerPoint Presentation</vt:lpstr>
      <vt:lpstr>PowerPoint Presentation</vt:lpstr>
      <vt:lpstr>How SHA-256 works?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Digital Signatures</vt:lpstr>
      <vt:lpstr>.</vt:lpstr>
      <vt:lpstr>PowerPoint Presentation</vt:lpstr>
      <vt:lpstr>Signatures are existentially unforgeable </vt:lpstr>
      <vt:lpstr>Signed Messages </vt:lpstr>
      <vt:lpstr>PowerPoint Presentation</vt:lpstr>
      <vt:lpstr>Elliptic Curve Cryptography(ECC)</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2. PayCoins transaction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Bitcoin</dc:title>
  <dc:creator>Admin</dc:creator>
  <cp:lastModifiedBy>Admin</cp:lastModifiedBy>
  <cp:revision>4</cp:revision>
  <dcterms:created xsi:type="dcterms:W3CDTF">2024-07-29T05:19:54Z</dcterms:created>
  <dcterms:modified xsi:type="dcterms:W3CDTF">2024-12-16T03:46:48Z</dcterms:modified>
</cp:coreProperties>
</file>