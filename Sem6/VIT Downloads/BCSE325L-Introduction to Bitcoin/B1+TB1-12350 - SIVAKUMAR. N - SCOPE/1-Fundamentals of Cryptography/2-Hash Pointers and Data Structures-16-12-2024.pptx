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howGuides="1">
      <p:cViewPr varScale="1">
        <p:scale>
          <a:sx n="91" d="100"/>
          <a:sy n="91" d="100"/>
        </p:scale>
        <p:origin x="390"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669BF-43B9-4846-B37F-45836AE41546}" type="datetimeFigureOut">
              <a:rPr lang="en-IN" smtClean="0"/>
              <a:t>16-12-2024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6D6C2E-1E9C-451A-B24F-92B7CB9B6D7A}" type="slidenum">
              <a:rPr lang="en-IN" smtClean="0"/>
              <a:t>‹#›</a:t>
            </a:fld>
            <a:endParaRPr lang="en-IN"/>
          </a:p>
        </p:txBody>
      </p:sp>
    </p:spTree>
    <p:extLst>
      <p:ext uri="{BB962C8B-B14F-4D97-AF65-F5344CB8AC3E}">
        <p14:creationId xmlns:p14="http://schemas.microsoft.com/office/powerpoint/2010/main" val="137605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26D6C2E-1E9C-451A-B24F-92B7CB9B6D7A}" type="slidenum">
              <a:rPr lang="en-IN" smtClean="0"/>
              <a:t>2</a:t>
            </a:fld>
            <a:endParaRPr lang="en-IN"/>
          </a:p>
        </p:txBody>
      </p:sp>
    </p:spTree>
    <p:extLst>
      <p:ext uri="{BB962C8B-B14F-4D97-AF65-F5344CB8AC3E}">
        <p14:creationId xmlns:p14="http://schemas.microsoft.com/office/powerpoint/2010/main" val="2914981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F61C9CD-2D8C-4644-B919-5385EEF8BB88}" type="datetime1">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D2532-8B2C-4434-BC7C-470E3461C916}" type="slidenum">
              <a:rPr lang="en-IN" smtClean="0"/>
              <a:t>‹#›</a:t>
            </a:fld>
            <a:endParaRPr lang="en-IN"/>
          </a:p>
        </p:txBody>
      </p:sp>
    </p:spTree>
    <p:extLst>
      <p:ext uri="{BB962C8B-B14F-4D97-AF65-F5344CB8AC3E}">
        <p14:creationId xmlns:p14="http://schemas.microsoft.com/office/powerpoint/2010/main" val="1394945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0792D1B-266F-4699-A389-16A37D3961D7}" type="datetime1">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D2532-8B2C-4434-BC7C-470E3461C916}" type="slidenum">
              <a:rPr lang="en-IN" smtClean="0"/>
              <a:t>‹#›</a:t>
            </a:fld>
            <a:endParaRPr lang="en-IN"/>
          </a:p>
        </p:txBody>
      </p:sp>
    </p:spTree>
    <p:extLst>
      <p:ext uri="{BB962C8B-B14F-4D97-AF65-F5344CB8AC3E}">
        <p14:creationId xmlns:p14="http://schemas.microsoft.com/office/powerpoint/2010/main" val="1946057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69321BD-D71F-4351-8DF2-475E3AB025C3}" type="datetime1">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D2532-8B2C-4434-BC7C-470E3461C916}" type="slidenum">
              <a:rPr lang="en-IN" smtClean="0"/>
              <a:t>‹#›</a:t>
            </a:fld>
            <a:endParaRPr lang="en-IN"/>
          </a:p>
        </p:txBody>
      </p:sp>
    </p:spTree>
    <p:extLst>
      <p:ext uri="{BB962C8B-B14F-4D97-AF65-F5344CB8AC3E}">
        <p14:creationId xmlns:p14="http://schemas.microsoft.com/office/powerpoint/2010/main" val="461853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D5F40CA-4E3A-49A5-8036-50A9C4F193D1}" type="datetime1">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D2532-8B2C-4434-BC7C-470E3461C916}" type="slidenum">
              <a:rPr lang="en-IN" smtClean="0"/>
              <a:t>‹#›</a:t>
            </a:fld>
            <a:endParaRPr lang="en-IN"/>
          </a:p>
        </p:txBody>
      </p:sp>
    </p:spTree>
    <p:extLst>
      <p:ext uri="{BB962C8B-B14F-4D97-AF65-F5344CB8AC3E}">
        <p14:creationId xmlns:p14="http://schemas.microsoft.com/office/powerpoint/2010/main" val="1497572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0422A2B-2E16-4CF8-8736-5E4C4E5C8116}" type="datetime1">
              <a:rPr lang="en-IN" smtClean="0"/>
              <a:t>16-12-2024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0DD2532-8B2C-4434-BC7C-470E3461C916}" type="slidenum">
              <a:rPr lang="en-IN" smtClean="0"/>
              <a:t>‹#›</a:t>
            </a:fld>
            <a:endParaRPr lang="en-IN"/>
          </a:p>
        </p:txBody>
      </p:sp>
    </p:spTree>
    <p:extLst>
      <p:ext uri="{BB962C8B-B14F-4D97-AF65-F5344CB8AC3E}">
        <p14:creationId xmlns:p14="http://schemas.microsoft.com/office/powerpoint/2010/main" val="4288262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203C2DB-6480-491E-ABB6-50A6CDC7769B}" type="datetime1">
              <a:rPr lang="en-IN" smtClean="0"/>
              <a:t>16-12-2024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0DD2532-8B2C-4434-BC7C-470E3461C916}" type="slidenum">
              <a:rPr lang="en-IN" smtClean="0"/>
              <a:t>‹#›</a:t>
            </a:fld>
            <a:endParaRPr lang="en-IN"/>
          </a:p>
        </p:txBody>
      </p:sp>
    </p:spTree>
    <p:extLst>
      <p:ext uri="{BB962C8B-B14F-4D97-AF65-F5344CB8AC3E}">
        <p14:creationId xmlns:p14="http://schemas.microsoft.com/office/powerpoint/2010/main" val="1242471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A98007-8134-4E51-A70D-0E043AB5174B}" type="datetime1">
              <a:rPr lang="en-IN" smtClean="0"/>
              <a:t>16-12-2024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0DD2532-8B2C-4434-BC7C-470E3461C916}" type="slidenum">
              <a:rPr lang="en-IN" smtClean="0"/>
              <a:t>‹#›</a:t>
            </a:fld>
            <a:endParaRPr lang="en-IN"/>
          </a:p>
        </p:txBody>
      </p:sp>
    </p:spTree>
    <p:extLst>
      <p:ext uri="{BB962C8B-B14F-4D97-AF65-F5344CB8AC3E}">
        <p14:creationId xmlns:p14="http://schemas.microsoft.com/office/powerpoint/2010/main" val="1168240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9DE555-06A2-4247-8817-E7641C9FBD1C}" type="datetime1">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D2532-8B2C-4434-BC7C-470E3461C916}" type="slidenum">
              <a:rPr lang="en-IN" smtClean="0"/>
              <a:t>‹#›</a:t>
            </a:fld>
            <a:endParaRPr lang="en-IN"/>
          </a:p>
        </p:txBody>
      </p:sp>
    </p:spTree>
    <p:extLst>
      <p:ext uri="{BB962C8B-B14F-4D97-AF65-F5344CB8AC3E}">
        <p14:creationId xmlns:p14="http://schemas.microsoft.com/office/powerpoint/2010/main" val="3753591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366DC6-40A5-4C17-AE16-B1833F22C5EE}" type="datetime1">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D2532-8B2C-4434-BC7C-470E3461C916}" type="slidenum">
              <a:rPr lang="en-IN" smtClean="0"/>
              <a:t>‹#›</a:t>
            </a:fld>
            <a:endParaRPr lang="en-IN"/>
          </a:p>
        </p:txBody>
      </p:sp>
    </p:spTree>
    <p:extLst>
      <p:ext uri="{BB962C8B-B14F-4D97-AF65-F5344CB8AC3E}">
        <p14:creationId xmlns:p14="http://schemas.microsoft.com/office/powerpoint/2010/main" val="890307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479A96A-78C1-4A9E-9C5C-17B66A316F0A}" type="datetime1">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D2532-8B2C-4434-BC7C-470E3461C916}" type="slidenum">
              <a:rPr lang="en-IN" smtClean="0"/>
              <a:t>‹#›</a:t>
            </a:fld>
            <a:endParaRPr lang="en-IN"/>
          </a:p>
        </p:txBody>
      </p:sp>
    </p:spTree>
    <p:extLst>
      <p:ext uri="{BB962C8B-B14F-4D97-AF65-F5344CB8AC3E}">
        <p14:creationId xmlns:p14="http://schemas.microsoft.com/office/powerpoint/2010/main" val="666556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638DB1B-FCCB-41D9-A5E2-B6AA9F6DFCC5}" type="datetime1">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D2532-8B2C-4434-BC7C-470E3461C916}" type="slidenum">
              <a:rPr lang="en-IN" smtClean="0"/>
              <a:t>‹#›</a:t>
            </a:fld>
            <a:endParaRPr lang="en-IN"/>
          </a:p>
        </p:txBody>
      </p:sp>
    </p:spTree>
    <p:extLst>
      <p:ext uri="{BB962C8B-B14F-4D97-AF65-F5344CB8AC3E}">
        <p14:creationId xmlns:p14="http://schemas.microsoft.com/office/powerpoint/2010/main" val="3183728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21286C-AAD2-46D5-96C0-7A6EF4B605F8}" type="datetime1">
              <a:rPr lang="en-IN" smtClean="0"/>
              <a:t>16-12-2024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DD2532-8B2C-4434-BC7C-470E3461C916}" type="slidenum">
              <a:rPr lang="en-IN" smtClean="0"/>
              <a:t>‹#›</a:t>
            </a:fld>
            <a:endParaRPr lang="en-IN"/>
          </a:p>
        </p:txBody>
      </p:sp>
    </p:spTree>
    <p:extLst>
      <p:ext uri="{BB962C8B-B14F-4D97-AF65-F5344CB8AC3E}">
        <p14:creationId xmlns:p14="http://schemas.microsoft.com/office/powerpoint/2010/main" val="2509526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bitcoin.org/en/download"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5800"/>
            <a:ext cx="10515600" cy="5491163"/>
          </a:xfrm>
        </p:spPr>
        <p:txBody>
          <a:bodyPr/>
          <a:lstStyle/>
          <a:p>
            <a:pPr marL="0" indent="0">
              <a:buNone/>
            </a:pPr>
            <a:r>
              <a:rPr lang="en-IN" dirty="0" smtClean="0"/>
              <a:t>What is Bitcoin? </a:t>
            </a:r>
            <a:r>
              <a:rPr lang="en-IN" sz="1400" dirty="0" smtClean="0"/>
              <a:t>:</a:t>
            </a:r>
          </a:p>
          <a:p>
            <a:pPr marL="0" indent="0">
              <a:buNone/>
            </a:pPr>
            <a:r>
              <a:rPr lang="en-IN" sz="2400" b="1" dirty="0" smtClean="0">
                <a:solidFill>
                  <a:srgbClr val="FF0000"/>
                </a:solidFill>
              </a:rPr>
              <a:t>Bitcoin is decentralized digital currency</a:t>
            </a:r>
          </a:p>
          <a:p>
            <a:pPr marL="0" indent="0">
              <a:buNone/>
            </a:pPr>
            <a:endParaRPr lang="en-IN" dirty="0"/>
          </a:p>
        </p:txBody>
      </p:sp>
      <p:pic>
        <p:nvPicPr>
          <p:cNvPr id="4" name="Picture 3"/>
          <p:cNvPicPr>
            <a:picLocks noChangeAspect="1"/>
          </p:cNvPicPr>
          <p:nvPr/>
        </p:nvPicPr>
        <p:blipFill>
          <a:blip r:embed="rId2"/>
          <a:stretch>
            <a:fillRect/>
          </a:stretch>
        </p:blipFill>
        <p:spPr>
          <a:xfrm>
            <a:off x="533400" y="1981200"/>
            <a:ext cx="7315200" cy="4143375"/>
          </a:xfrm>
          <a:prstGeom prst="rect">
            <a:avLst/>
          </a:prstGeom>
        </p:spPr>
      </p:pic>
      <p:sp>
        <p:nvSpPr>
          <p:cNvPr id="7" name="Slide Number Placeholder 6"/>
          <p:cNvSpPr>
            <a:spLocks noGrp="1"/>
          </p:cNvSpPr>
          <p:nvPr>
            <p:ph type="sldNum" sz="quarter" idx="12"/>
          </p:nvPr>
        </p:nvSpPr>
        <p:spPr/>
        <p:txBody>
          <a:bodyPr/>
          <a:lstStyle/>
          <a:p>
            <a:fld id="{9EEEBCA1-7FC4-4544-A902-24D63B55653B}" type="slidenum">
              <a:rPr lang="en-IN" smtClean="0"/>
              <a:t>1</a:t>
            </a:fld>
            <a:endParaRPr lang="en-IN"/>
          </a:p>
        </p:txBody>
      </p:sp>
      <p:pic>
        <p:nvPicPr>
          <p:cNvPr id="10" name="Picture 9"/>
          <p:cNvPicPr>
            <a:picLocks noChangeAspect="1"/>
          </p:cNvPicPr>
          <p:nvPr/>
        </p:nvPicPr>
        <p:blipFill>
          <a:blip r:embed="rId3"/>
          <a:stretch>
            <a:fillRect/>
          </a:stretch>
        </p:blipFill>
        <p:spPr>
          <a:xfrm>
            <a:off x="8991600" y="2605087"/>
            <a:ext cx="2362200" cy="1647825"/>
          </a:xfrm>
          <a:prstGeom prst="rect">
            <a:avLst/>
          </a:prstGeom>
        </p:spPr>
      </p:pic>
    </p:spTree>
    <p:extLst>
      <p:ext uri="{BB962C8B-B14F-4D97-AF65-F5344CB8AC3E}">
        <p14:creationId xmlns:p14="http://schemas.microsoft.com/office/powerpoint/2010/main" val="1973891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   </a:t>
            </a:r>
            <a:r>
              <a:rPr lang="en-IN" dirty="0" err="1" smtClean="0"/>
              <a:t>Bitcoin</a:t>
            </a:r>
            <a:endParaRPr lang="en-IN" dirty="0"/>
          </a:p>
        </p:txBody>
      </p:sp>
      <p:sp>
        <p:nvSpPr>
          <p:cNvPr id="3" name="Content Placeholder 2"/>
          <p:cNvSpPr>
            <a:spLocks noGrp="1"/>
          </p:cNvSpPr>
          <p:nvPr>
            <p:ph idx="1"/>
          </p:nvPr>
        </p:nvSpPr>
        <p:spPr>
          <a:xfrm>
            <a:off x="1066800" y="1600200"/>
            <a:ext cx="10515600" cy="4343400"/>
          </a:xfrm>
        </p:spPr>
        <p:txBody>
          <a:bodyPr>
            <a:normAutofit/>
          </a:bodyPr>
          <a:lstStyle/>
          <a:p>
            <a:pPr marL="0" indent="0">
              <a:buNone/>
            </a:pPr>
            <a:r>
              <a:rPr lang="en-IN" dirty="0" smtClean="0"/>
              <a:t>Bitcoin consists of:</a:t>
            </a:r>
          </a:p>
          <a:p>
            <a:r>
              <a:rPr lang="en-IN" sz="2400" dirty="0" smtClean="0"/>
              <a:t>A decentralized peer-to-peer network</a:t>
            </a:r>
          </a:p>
          <a:p>
            <a:r>
              <a:rPr lang="en-IN" sz="2400" dirty="0" smtClean="0"/>
              <a:t>A public transaction ledger</a:t>
            </a:r>
          </a:p>
          <a:p>
            <a:r>
              <a:rPr lang="en-IN" sz="2400" dirty="0" smtClean="0"/>
              <a:t>A set of rules for independent transaction validation and currency Issuance</a:t>
            </a:r>
          </a:p>
          <a:p>
            <a:r>
              <a:rPr lang="en-IN" sz="2400" dirty="0" smtClean="0"/>
              <a:t>A mechanism for reaching global decentralized consensus on the valid </a:t>
            </a:r>
            <a:r>
              <a:rPr lang="en-IN" sz="2400" dirty="0" err="1" smtClean="0"/>
              <a:t>blockchain</a:t>
            </a:r>
            <a:endParaRPr lang="en-IN" sz="2400" dirty="0" smtClean="0"/>
          </a:p>
          <a:p>
            <a:r>
              <a:rPr lang="en-IN" sz="2400" dirty="0" smtClean="0"/>
              <a:t>The open source implementation</a:t>
            </a:r>
          </a:p>
          <a:p>
            <a:pPr marL="0" indent="0">
              <a:buNone/>
            </a:pPr>
            <a:r>
              <a:rPr lang="en-IN" sz="2400" dirty="0"/>
              <a:t> </a:t>
            </a:r>
            <a:r>
              <a:rPr lang="en-IN" sz="2400" dirty="0" smtClean="0"/>
              <a:t>  Both the source code and </a:t>
            </a:r>
            <a:r>
              <a:rPr lang="en-IN" sz="2400" dirty="0" err="1" smtClean="0"/>
              <a:t>cimpiled</a:t>
            </a:r>
            <a:r>
              <a:rPr lang="en-IN" sz="2400" dirty="0" smtClean="0"/>
              <a:t> libraries can be freely downloaded from</a:t>
            </a:r>
          </a:p>
          <a:p>
            <a:pPr marL="0" indent="0">
              <a:buNone/>
            </a:pPr>
            <a:r>
              <a:rPr lang="en-IN" sz="2400" dirty="0"/>
              <a:t>                              </a:t>
            </a:r>
            <a:r>
              <a:rPr lang="en-IN" sz="2400" dirty="0">
                <a:hlinkClick r:id="rId3"/>
              </a:rPr>
              <a:t>https://</a:t>
            </a:r>
            <a:r>
              <a:rPr lang="en-IN" sz="2400" dirty="0" smtClean="0">
                <a:hlinkClick r:id="rId3"/>
              </a:rPr>
              <a:t>bitcoin.org/en/download</a:t>
            </a:r>
            <a:endParaRPr lang="en-IN" sz="2400" dirty="0" smtClean="0"/>
          </a:p>
          <a:p>
            <a:pPr marL="0" indent="0">
              <a:buNone/>
            </a:pPr>
            <a:endParaRPr lang="en-IN" sz="2400" dirty="0" smtClean="0"/>
          </a:p>
          <a:p>
            <a:pPr marL="0" indent="0">
              <a:buNone/>
            </a:pPr>
            <a:endParaRPr lang="en-IN" dirty="0" smtClean="0"/>
          </a:p>
          <a:p>
            <a:pPr marL="0" indent="0">
              <a:buNone/>
            </a:pPr>
            <a:endParaRPr lang="en-IN" dirty="0"/>
          </a:p>
        </p:txBody>
      </p:sp>
      <p:sp>
        <p:nvSpPr>
          <p:cNvPr id="6" name="Slide Number Placeholder 5"/>
          <p:cNvSpPr>
            <a:spLocks noGrp="1"/>
          </p:cNvSpPr>
          <p:nvPr>
            <p:ph type="sldNum" sz="quarter" idx="12"/>
          </p:nvPr>
        </p:nvSpPr>
        <p:spPr/>
        <p:txBody>
          <a:bodyPr/>
          <a:lstStyle/>
          <a:p>
            <a:fld id="{9EEEBCA1-7FC4-4544-A902-24D63B55653B}" type="slidenum">
              <a:rPr lang="en-IN" smtClean="0"/>
              <a:t>2</a:t>
            </a:fld>
            <a:endParaRPr lang="en-IN"/>
          </a:p>
        </p:txBody>
      </p:sp>
    </p:spTree>
    <p:extLst>
      <p:ext uri="{BB962C8B-B14F-4D97-AF65-F5344CB8AC3E}">
        <p14:creationId xmlns:p14="http://schemas.microsoft.com/office/powerpoint/2010/main" val="10321536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38200"/>
            <a:ext cx="10515600" cy="5643563"/>
          </a:xfrm>
        </p:spPr>
        <p:txBody>
          <a:bodyPr>
            <a:normAutofit/>
          </a:bodyPr>
          <a:lstStyle/>
          <a:p>
            <a:pPr marL="0" indent="0">
              <a:buNone/>
            </a:pPr>
            <a:r>
              <a:rPr lang="en-IN" dirty="0" err="1"/>
              <a:t>Bitcoin</a:t>
            </a:r>
            <a:r>
              <a:rPr lang="en-IN" dirty="0"/>
              <a:t> Core gives you increased </a:t>
            </a:r>
            <a:r>
              <a:rPr lang="en-IN" dirty="0" smtClean="0"/>
              <a:t> Security and privacy at </a:t>
            </a:r>
            <a:r>
              <a:rPr lang="en-IN" dirty="0"/>
              <a:t>a cost. You need to </a:t>
            </a:r>
            <a:r>
              <a:rPr lang="en-IN" dirty="0" smtClean="0"/>
              <a:t>take responsibility for </a:t>
            </a:r>
            <a:r>
              <a:rPr lang="en-IN" dirty="0"/>
              <a:t>the security of your </a:t>
            </a:r>
            <a:r>
              <a:rPr lang="en-IN" dirty="0" err="1"/>
              <a:t>bitcoins</a:t>
            </a:r>
            <a:r>
              <a:rPr lang="en-IN" dirty="0"/>
              <a:t>, meet higher </a:t>
            </a:r>
            <a:r>
              <a:rPr lang="en-IN" dirty="0" smtClean="0"/>
              <a:t>minimum system requirements, </a:t>
            </a:r>
            <a:r>
              <a:rPr lang="en-IN" dirty="0"/>
              <a:t>and beware of some </a:t>
            </a:r>
            <a:r>
              <a:rPr lang="en-IN" dirty="0" smtClean="0"/>
              <a:t>possible problems.</a:t>
            </a:r>
          </a:p>
          <a:p>
            <a:pPr marL="0" indent="0">
              <a:buNone/>
            </a:pPr>
            <a:r>
              <a:rPr lang="en-IN" dirty="0" smtClean="0"/>
              <a:t>Minimum </a:t>
            </a:r>
            <a:r>
              <a:rPr lang="en-IN" dirty="0"/>
              <a:t>requirements:</a:t>
            </a:r>
          </a:p>
          <a:p>
            <a:pPr marL="0" indent="0" algn="just">
              <a:buNone/>
            </a:pPr>
            <a:r>
              <a:rPr lang="en-IN" dirty="0"/>
              <a:t>   </a:t>
            </a:r>
            <a:r>
              <a:rPr lang="en-IN" dirty="0" smtClean="0"/>
              <a:t> Disk </a:t>
            </a:r>
            <a:r>
              <a:rPr lang="en-IN" dirty="0"/>
              <a:t>space: 350 GB</a:t>
            </a:r>
          </a:p>
          <a:p>
            <a:pPr marL="0" indent="0" algn="just">
              <a:buNone/>
            </a:pPr>
            <a:r>
              <a:rPr lang="en-IN" b="1" dirty="0"/>
              <a:t>   </a:t>
            </a:r>
            <a:r>
              <a:rPr lang="en-IN" dirty="0"/>
              <a:t>Download  :500 MB/day (15 GB/month</a:t>
            </a:r>
            <a:r>
              <a:rPr lang="en-IN" dirty="0" smtClean="0"/>
              <a:t>)</a:t>
            </a:r>
            <a:r>
              <a:rPr lang="en-IN" b="1" dirty="0" smtClean="0"/>
              <a:t>(*</a:t>
            </a:r>
            <a:r>
              <a:rPr lang="en-IN" dirty="0" smtClean="0"/>
              <a:t> </a:t>
            </a:r>
            <a:r>
              <a:rPr lang="en-IN" dirty="0"/>
              <a:t>Plus a one-time 340 </a:t>
            </a:r>
            <a:r>
              <a:rPr lang="en-IN" dirty="0" smtClean="0"/>
              <a:t>GB</a:t>
            </a:r>
          </a:p>
          <a:p>
            <a:pPr marL="0" indent="0" algn="just">
              <a:buNone/>
            </a:pPr>
            <a:r>
              <a:rPr lang="en-IN" dirty="0"/>
              <a:t> </a:t>
            </a:r>
            <a:r>
              <a:rPr lang="en-IN" dirty="0" smtClean="0"/>
              <a:t>                         </a:t>
            </a:r>
            <a:r>
              <a:rPr lang="en-IN" dirty="0"/>
              <a:t>download the </a:t>
            </a:r>
            <a:r>
              <a:rPr lang="en-IN" dirty="0" smtClean="0"/>
              <a:t>first </a:t>
            </a:r>
            <a:r>
              <a:rPr lang="en-IN" dirty="0"/>
              <a:t>time you start </a:t>
            </a:r>
            <a:r>
              <a:rPr lang="en-IN" dirty="0" err="1"/>
              <a:t>Bitcoin</a:t>
            </a:r>
            <a:r>
              <a:rPr lang="en-IN" dirty="0"/>
              <a:t> Core</a:t>
            </a:r>
          </a:p>
          <a:p>
            <a:pPr marL="0" indent="0" algn="just">
              <a:buNone/>
            </a:pPr>
            <a:r>
              <a:rPr lang="en-IN" dirty="0" smtClean="0"/>
              <a:t>  Upload          :5 </a:t>
            </a:r>
            <a:r>
              <a:rPr lang="en-IN" dirty="0"/>
              <a:t>GB/day (150 </a:t>
            </a:r>
            <a:r>
              <a:rPr lang="en-IN" dirty="0" smtClean="0"/>
              <a:t>GB/month)</a:t>
            </a:r>
          </a:p>
          <a:p>
            <a:pPr marL="0" indent="0" algn="just">
              <a:buNone/>
            </a:pPr>
            <a:r>
              <a:rPr lang="en-IN" b="1" dirty="0"/>
              <a:t> </a:t>
            </a:r>
            <a:r>
              <a:rPr lang="en-IN" b="1" dirty="0" smtClean="0"/>
              <a:t>  </a:t>
            </a:r>
            <a:r>
              <a:rPr lang="en-IN" dirty="0" smtClean="0"/>
              <a:t>Memory(RAM)   </a:t>
            </a:r>
            <a:r>
              <a:rPr lang="en-IN" b="1" dirty="0" smtClean="0"/>
              <a:t>:</a:t>
            </a:r>
            <a:r>
              <a:rPr lang="en-IN" dirty="0" smtClean="0"/>
              <a:t>1 GB</a:t>
            </a:r>
          </a:p>
          <a:p>
            <a:pPr marL="0" indent="0" algn="just">
              <a:buNone/>
            </a:pPr>
            <a:r>
              <a:rPr lang="en-IN" b="1" dirty="0"/>
              <a:t>No matter what </a:t>
            </a:r>
            <a:r>
              <a:rPr lang="en-IN" b="1" dirty="0" err="1"/>
              <a:t>Bitcoin</a:t>
            </a:r>
            <a:r>
              <a:rPr lang="en-IN" b="1" dirty="0"/>
              <a:t> software you use,</a:t>
            </a:r>
            <a:r>
              <a:rPr lang="en-IN" dirty="0"/>
              <a:t> you should never buy more </a:t>
            </a:r>
            <a:r>
              <a:rPr lang="en-IN" dirty="0" err="1"/>
              <a:t>bitcoins</a:t>
            </a:r>
            <a:r>
              <a:rPr lang="en-IN" dirty="0"/>
              <a:t> than you can afford to lose. </a:t>
            </a:r>
            <a:r>
              <a:rPr lang="en-IN" dirty="0" err="1" smtClean="0"/>
              <a:t>bitcoins</a:t>
            </a:r>
            <a:r>
              <a:rPr lang="en-IN" dirty="0" smtClean="0"/>
              <a:t> </a:t>
            </a:r>
            <a:r>
              <a:rPr lang="en-IN" dirty="0"/>
              <a:t>remain a risky investment.</a:t>
            </a:r>
          </a:p>
          <a:p>
            <a:pPr marL="0" indent="0">
              <a:buNone/>
            </a:pPr>
            <a:endParaRPr lang="en-IN" dirty="0"/>
          </a:p>
        </p:txBody>
      </p:sp>
      <p:sp>
        <p:nvSpPr>
          <p:cNvPr id="2" name="Slide Number Placeholder 1"/>
          <p:cNvSpPr>
            <a:spLocks noGrp="1"/>
          </p:cNvSpPr>
          <p:nvPr>
            <p:ph type="sldNum" sz="quarter" idx="12"/>
          </p:nvPr>
        </p:nvSpPr>
        <p:spPr/>
        <p:txBody>
          <a:bodyPr/>
          <a:lstStyle/>
          <a:p>
            <a:fld id="{F0DD2532-8B2C-4434-BC7C-470E3461C916}" type="slidenum">
              <a:rPr lang="en-IN" smtClean="0"/>
              <a:t>3</a:t>
            </a:fld>
            <a:endParaRPr lang="en-IN"/>
          </a:p>
        </p:txBody>
      </p:sp>
    </p:spTree>
    <p:extLst>
      <p:ext uri="{BB962C8B-B14F-4D97-AF65-F5344CB8AC3E}">
        <p14:creationId xmlns:p14="http://schemas.microsoft.com/office/powerpoint/2010/main" val="169559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Bitcoin is single Program but includes two </a:t>
            </a:r>
            <a:r>
              <a:rPr lang="en-IN" dirty="0" smtClean="0"/>
              <a:t>different </a:t>
            </a:r>
            <a:r>
              <a:rPr lang="en-IN" dirty="0" smtClean="0"/>
              <a:t>services:</a:t>
            </a:r>
            <a:endParaRPr lang="en-IN" dirty="0"/>
          </a:p>
        </p:txBody>
      </p:sp>
      <p:pic>
        <p:nvPicPr>
          <p:cNvPr id="4" name="Picture 3"/>
          <p:cNvPicPr>
            <a:picLocks noChangeAspect="1"/>
          </p:cNvPicPr>
          <p:nvPr/>
        </p:nvPicPr>
        <p:blipFill>
          <a:blip r:embed="rId2"/>
          <a:stretch>
            <a:fillRect/>
          </a:stretch>
        </p:blipFill>
        <p:spPr>
          <a:xfrm>
            <a:off x="1524000" y="2743200"/>
            <a:ext cx="8229600" cy="904875"/>
          </a:xfrm>
          <a:prstGeom prst="rect">
            <a:avLst/>
          </a:prstGeom>
        </p:spPr>
      </p:pic>
      <p:pic>
        <p:nvPicPr>
          <p:cNvPr id="5" name="Picture 4"/>
          <p:cNvPicPr>
            <a:picLocks noChangeAspect="1"/>
          </p:cNvPicPr>
          <p:nvPr/>
        </p:nvPicPr>
        <p:blipFill>
          <a:blip r:embed="rId3"/>
          <a:stretch>
            <a:fillRect/>
          </a:stretch>
        </p:blipFill>
        <p:spPr>
          <a:xfrm>
            <a:off x="1447800" y="3886200"/>
            <a:ext cx="8248650" cy="1524000"/>
          </a:xfrm>
          <a:prstGeom prst="rect">
            <a:avLst/>
          </a:prstGeom>
        </p:spPr>
      </p:pic>
      <p:sp>
        <p:nvSpPr>
          <p:cNvPr id="2" name="Slide Number Placeholder 1"/>
          <p:cNvSpPr>
            <a:spLocks noGrp="1"/>
          </p:cNvSpPr>
          <p:nvPr>
            <p:ph type="sldNum" sz="quarter" idx="12"/>
          </p:nvPr>
        </p:nvSpPr>
        <p:spPr/>
        <p:txBody>
          <a:bodyPr/>
          <a:lstStyle/>
          <a:p>
            <a:fld id="{F0DD2532-8B2C-4434-BC7C-470E3461C916}" type="slidenum">
              <a:rPr lang="en-IN" smtClean="0"/>
              <a:t>4</a:t>
            </a:fld>
            <a:endParaRPr lang="en-IN"/>
          </a:p>
        </p:txBody>
      </p:sp>
    </p:spTree>
    <p:extLst>
      <p:ext uri="{BB962C8B-B14F-4D97-AF65-F5344CB8AC3E}">
        <p14:creationId xmlns:p14="http://schemas.microsoft.com/office/powerpoint/2010/main" val="21001225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0" indent="0">
              <a:buNone/>
            </a:pPr>
            <a:r>
              <a:rPr lang="en-IN" b="1" dirty="0" smtClean="0"/>
              <a:t>How to decentralize?</a:t>
            </a:r>
          </a:p>
          <a:p>
            <a:pPr marL="514350" indent="-514350">
              <a:buAutoNum type="arabicPeriod"/>
            </a:pPr>
            <a:r>
              <a:rPr lang="en-IN" dirty="0" smtClean="0"/>
              <a:t>What is  being decentralized?</a:t>
            </a:r>
          </a:p>
          <a:p>
            <a:pPr marL="514350" indent="-514350">
              <a:buAutoNum type="arabicPeriod"/>
            </a:pPr>
            <a:r>
              <a:rPr lang="en-IN" dirty="0" smtClean="0"/>
              <a:t>What level of decentralization required?</a:t>
            </a:r>
          </a:p>
          <a:p>
            <a:pPr marL="514350" indent="-514350">
              <a:buAutoNum type="arabicPeriod"/>
            </a:pPr>
            <a:r>
              <a:rPr lang="en-IN" dirty="0" smtClean="0"/>
              <a:t>What </a:t>
            </a:r>
            <a:r>
              <a:rPr lang="en-IN" dirty="0" err="1" smtClean="0"/>
              <a:t>blockchain</a:t>
            </a:r>
            <a:r>
              <a:rPr lang="en-IN" dirty="0" smtClean="0"/>
              <a:t> is used?</a:t>
            </a:r>
          </a:p>
          <a:p>
            <a:pPr marL="514350" indent="-514350">
              <a:buAutoNum type="arabicPeriod"/>
            </a:pPr>
            <a:r>
              <a:rPr lang="en-IN" dirty="0" smtClean="0"/>
              <a:t>What Security mechanism is used?</a:t>
            </a:r>
          </a:p>
          <a:p>
            <a:pPr marL="0" indent="0">
              <a:buNone/>
            </a:pPr>
            <a:r>
              <a:rPr lang="en-IN" dirty="0" smtClean="0"/>
              <a:t>Ex:</a:t>
            </a:r>
          </a:p>
          <a:p>
            <a:pPr marL="514350" indent="-514350">
              <a:buAutoNum type="arabicPeriod"/>
            </a:pPr>
            <a:r>
              <a:rPr lang="en-IN" dirty="0" smtClean="0"/>
              <a:t>Money transfer system</a:t>
            </a:r>
          </a:p>
          <a:p>
            <a:pPr marL="514350" indent="-514350">
              <a:buAutoNum type="arabicPeriod"/>
            </a:pPr>
            <a:r>
              <a:rPr lang="en-IN" dirty="0" smtClean="0"/>
              <a:t>Disintermediation</a:t>
            </a:r>
          </a:p>
          <a:p>
            <a:pPr marL="514350" indent="-514350">
              <a:buAutoNum type="arabicPeriod"/>
            </a:pPr>
            <a:r>
              <a:rPr lang="en-IN" dirty="0" smtClean="0"/>
              <a:t>Bitcoin</a:t>
            </a:r>
          </a:p>
          <a:p>
            <a:pPr marL="514350" indent="-514350">
              <a:buAutoNum type="arabicPeriod"/>
            </a:pPr>
            <a:r>
              <a:rPr lang="en-IN" dirty="0" smtClean="0"/>
              <a:t>Atomicity</a:t>
            </a:r>
            <a:endParaRPr lang="en-IN" dirty="0"/>
          </a:p>
        </p:txBody>
      </p:sp>
      <p:sp>
        <p:nvSpPr>
          <p:cNvPr id="2" name="Slide Number Placeholder 1"/>
          <p:cNvSpPr>
            <a:spLocks noGrp="1"/>
          </p:cNvSpPr>
          <p:nvPr>
            <p:ph type="sldNum" sz="quarter" idx="12"/>
          </p:nvPr>
        </p:nvSpPr>
        <p:spPr/>
        <p:txBody>
          <a:bodyPr/>
          <a:lstStyle/>
          <a:p>
            <a:fld id="{F0DD2532-8B2C-4434-BC7C-470E3461C916}" type="slidenum">
              <a:rPr lang="en-IN" smtClean="0"/>
              <a:t>5</a:t>
            </a:fld>
            <a:endParaRPr lang="en-IN"/>
          </a:p>
        </p:txBody>
      </p:sp>
    </p:spTree>
    <p:extLst>
      <p:ext uri="{BB962C8B-B14F-4D97-AF65-F5344CB8AC3E}">
        <p14:creationId xmlns:p14="http://schemas.microsoft.com/office/powerpoint/2010/main" val="11648940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b="1" dirty="0" smtClean="0"/>
              <a:t>Platforms for decentralization:</a:t>
            </a:r>
          </a:p>
          <a:p>
            <a:r>
              <a:rPr lang="en-IN" dirty="0" smtClean="0"/>
              <a:t>Ethereum</a:t>
            </a:r>
            <a:endParaRPr lang="en-IN" dirty="0"/>
          </a:p>
          <a:p>
            <a:r>
              <a:rPr lang="en-IN" dirty="0" err="1" smtClean="0"/>
              <a:t>Maidsafe</a:t>
            </a:r>
            <a:endParaRPr lang="en-IN" dirty="0" smtClean="0"/>
          </a:p>
          <a:p>
            <a:r>
              <a:rPr lang="en-IN" dirty="0" err="1" smtClean="0"/>
              <a:t>Lisk</a:t>
            </a:r>
            <a:endParaRPr lang="en-IN" dirty="0" smtClean="0"/>
          </a:p>
          <a:p>
            <a:r>
              <a:rPr lang="en-IN" dirty="0" smtClean="0"/>
              <a:t>EOS  etc…</a:t>
            </a:r>
          </a:p>
          <a:p>
            <a:pPr marL="0" indent="0">
              <a:buNone/>
            </a:pPr>
            <a:endParaRPr lang="en-IN" dirty="0"/>
          </a:p>
        </p:txBody>
      </p:sp>
      <p:sp>
        <p:nvSpPr>
          <p:cNvPr id="2" name="Slide Number Placeholder 1"/>
          <p:cNvSpPr>
            <a:spLocks noGrp="1"/>
          </p:cNvSpPr>
          <p:nvPr>
            <p:ph type="sldNum" sz="quarter" idx="12"/>
          </p:nvPr>
        </p:nvSpPr>
        <p:spPr/>
        <p:txBody>
          <a:bodyPr/>
          <a:lstStyle/>
          <a:p>
            <a:fld id="{F0DD2532-8B2C-4434-BC7C-470E3461C916}" type="slidenum">
              <a:rPr lang="en-IN" smtClean="0"/>
              <a:t>6</a:t>
            </a:fld>
            <a:endParaRPr lang="en-IN"/>
          </a:p>
        </p:txBody>
      </p:sp>
    </p:spTree>
    <p:extLst>
      <p:ext uri="{BB962C8B-B14F-4D97-AF65-F5344CB8AC3E}">
        <p14:creationId xmlns:p14="http://schemas.microsoft.com/office/powerpoint/2010/main" val="2880003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normAutofit lnSpcReduction="10000"/>
          </a:bodyPr>
          <a:lstStyle/>
          <a:p>
            <a:pPr marL="0" indent="0">
              <a:buNone/>
            </a:pPr>
            <a:r>
              <a:rPr lang="en-IN" b="1" dirty="0"/>
              <a:t>Distributed Consensus:</a:t>
            </a:r>
          </a:p>
          <a:p>
            <a:pPr marL="0" indent="0">
              <a:buNone/>
            </a:pPr>
            <a:r>
              <a:rPr lang="en-IN" dirty="0" smtClean="0"/>
              <a:t>     The process of attaining the agreement on a common state or value among multiple nodes despite the failure of some nodes is known as </a:t>
            </a:r>
            <a:r>
              <a:rPr lang="en-IN" sz="2400" b="1" dirty="0"/>
              <a:t>Distributed </a:t>
            </a:r>
            <a:r>
              <a:rPr lang="en-IN" sz="2400" b="1" dirty="0" smtClean="0"/>
              <a:t>Consensus</a:t>
            </a:r>
          </a:p>
          <a:p>
            <a:pPr marL="0" indent="0">
              <a:buNone/>
            </a:pPr>
            <a:r>
              <a:rPr lang="en-IN" sz="2400" b="1" dirty="0"/>
              <a:t>Various requirements for a consensus mechanism:</a:t>
            </a:r>
          </a:p>
          <a:p>
            <a:r>
              <a:rPr lang="en-IN" sz="2400" dirty="0"/>
              <a:t>Agreement: All honest nodes decide on the same value</a:t>
            </a:r>
          </a:p>
          <a:p>
            <a:r>
              <a:rPr lang="en-IN" sz="2400" dirty="0"/>
              <a:t>Integrity: No node can make the decision more than once in a single consensus cycle.</a:t>
            </a:r>
          </a:p>
          <a:p>
            <a:r>
              <a:rPr lang="en-IN" sz="2400" dirty="0"/>
              <a:t>Validity: The value agreed upon by all honest nodes must be the same as the initial value proposed by at least one honest node.</a:t>
            </a:r>
          </a:p>
          <a:p>
            <a:r>
              <a:rPr lang="en-IN" sz="2400" dirty="0"/>
              <a:t>Fault tolerant: The consensus algorithm should be able to run correctly in the presence of faulty or malicious nodes</a:t>
            </a:r>
          </a:p>
          <a:p>
            <a:r>
              <a:rPr lang="en-IN" sz="2400" dirty="0"/>
              <a:t>Termination : All honest nodes terminate the execution of the consensus process and eventually reach a decision </a:t>
            </a:r>
          </a:p>
          <a:p>
            <a:pPr marL="0" indent="0">
              <a:buNone/>
            </a:pPr>
            <a:endParaRPr lang="en-IN" sz="2400" b="1" dirty="0" smtClean="0"/>
          </a:p>
        </p:txBody>
      </p:sp>
      <p:sp>
        <p:nvSpPr>
          <p:cNvPr id="2" name="Slide Number Placeholder 1"/>
          <p:cNvSpPr>
            <a:spLocks noGrp="1"/>
          </p:cNvSpPr>
          <p:nvPr>
            <p:ph type="sldNum" sz="quarter" idx="12"/>
          </p:nvPr>
        </p:nvSpPr>
        <p:spPr/>
        <p:txBody>
          <a:bodyPr/>
          <a:lstStyle/>
          <a:p>
            <a:fld id="{F0DD2532-8B2C-4434-BC7C-470E3461C916}" type="slidenum">
              <a:rPr lang="en-IN" smtClean="0"/>
              <a:t>7</a:t>
            </a:fld>
            <a:endParaRPr lang="en-IN"/>
          </a:p>
        </p:txBody>
      </p:sp>
    </p:spTree>
    <p:extLst>
      <p:ext uri="{BB962C8B-B14F-4D97-AF65-F5344CB8AC3E}">
        <p14:creationId xmlns:p14="http://schemas.microsoft.com/office/powerpoint/2010/main" val="24475107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normAutofit/>
          </a:bodyPr>
          <a:lstStyle/>
          <a:p>
            <a:pPr marL="0" indent="0">
              <a:buNone/>
            </a:pPr>
            <a:r>
              <a:rPr lang="en-IN" b="1" dirty="0"/>
              <a:t>Distributed Consensus:</a:t>
            </a:r>
          </a:p>
          <a:p>
            <a:pPr marL="0" indent="0">
              <a:buNone/>
            </a:pPr>
            <a:r>
              <a:rPr lang="en-IN" dirty="0" smtClean="0"/>
              <a:t>     The process of attaining the agreement on a common state or value among multiple nodes despite the failure of some nodes is known as </a:t>
            </a:r>
            <a:r>
              <a:rPr lang="en-IN" sz="2400" b="1" dirty="0"/>
              <a:t>Distributed </a:t>
            </a:r>
            <a:r>
              <a:rPr lang="en-IN" sz="2400" b="1" dirty="0" smtClean="0"/>
              <a:t>Consensus</a:t>
            </a:r>
          </a:p>
          <a:p>
            <a:pPr marL="0" indent="0">
              <a:buNone/>
            </a:pPr>
            <a:r>
              <a:rPr lang="en-IN" sz="2400" b="1" dirty="0"/>
              <a:t>Various requirements for a consensus mechanism:</a:t>
            </a:r>
          </a:p>
          <a:p>
            <a:r>
              <a:rPr lang="en-IN" sz="2400" dirty="0" smtClean="0"/>
              <a:t>Agreement</a:t>
            </a:r>
          </a:p>
          <a:p>
            <a:r>
              <a:rPr lang="en-IN" sz="2400" dirty="0" smtClean="0"/>
              <a:t>Integrity</a:t>
            </a:r>
          </a:p>
          <a:p>
            <a:r>
              <a:rPr lang="en-IN" sz="2400" dirty="0" smtClean="0"/>
              <a:t>Validity</a:t>
            </a:r>
            <a:r>
              <a:rPr lang="en-IN" sz="2400" dirty="0"/>
              <a:t>: </a:t>
            </a:r>
            <a:endParaRPr lang="en-IN" sz="2400" dirty="0" smtClean="0"/>
          </a:p>
          <a:p>
            <a:r>
              <a:rPr lang="en-IN" sz="2400" dirty="0" smtClean="0"/>
              <a:t>Fault tolerant</a:t>
            </a:r>
          </a:p>
          <a:p>
            <a:r>
              <a:rPr lang="en-IN" sz="2400" dirty="0" smtClean="0"/>
              <a:t>Termination</a:t>
            </a:r>
            <a:endParaRPr lang="en-IN" sz="2400" b="1" dirty="0" smtClean="0"/>
          </a:p>
        </p:txBody>
      </p:sp>
      <p:sp>
        <p:nvSpPr>
          <p:cNvPr id="2" name="Slide Number Placeholder 1"/>
          <p:cNvSpPr>
            <a:spLocks noGrp="1"/>
          </p:cNvSpPr>
          <p:nvPr>
            <p:ph type="sldNum" sz="quarter" idx="12"/>
          </p:nvPr>
        </p:nvSpPr>
        <p:spPr/>
        <p:txBody>
          <a:bodyPr/>
          <a:lstStyle/>
          <a:p>
            <a:fld id="{F0DD2532-8B2C-4434-BC7C-470E3461C916}" type="slidenum">
              <a:rPr lang="en-IN" smtClean="0"/>
              <a:t>8</a:t>
            </a:fld>
            <a:endParaRPr lang="en-IN"/>
          </a:p>
        </p:txBody>
      </p:sp>
    </p:spTree>
    <p:extLst>
      <p:ext uri="{BB962C8B-B14F-4D97-AF65-F5344CB8AC3E}">
        <p14:creationId xmlns:p14="http://schemas.microsoft.com/office/powerpoint/2010/main" val="386574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dirty="0"/>
              <a:t>The key reasons why distributed consensus is essential in </a:t>
            </a:r>
            <a:r>
              <a:rPr lang="en-IN" dirty="0" err="1"/>
              <a:t>blockchain</a:t>
            </a:r>
            <a:r>
              <a:rPr lang="en-IN" dirty="0"/>
              <a:t>:</a:t>
            </a:r>
          </a:p>
          <a:p>
            <a:r>
              <a:rPr lang="en-IN" b="1" dirty="0"/>
              <a:t>Decentralization and </a:t>
            </a:r>
            <a:r>
              <a:rPr lang="en-IN" b="1" dirty="0" err="1"/>
              <a:t>Trustlessness</a:t>
            </a:r>
            <a:endParaRPr lang="en-IN" b="1" dirty="0"/>
          </a:p>
          <a:p>
            <a:r>
              <a:rPr lang="en-IN" b="1" dirty="0"/>
              <a:t>Immutability and Security</a:t>
            </a:r>
          </a:p>
          <a:p>
            <a:r>
              <a:rPr lang="en-IN" b="1" dirty="0"/>
              <a:t>Ensuring Agreement</a:t>
            </a:r>
          </a:p>
          <a:p>
            <a:r>
              <a:rPr lang="en-IN" b="1" dirty="0"/>
              <a:t>Preventing Double Spending</a:t>
            </a:r>
          </a:p>
          <a:p>
            <a:r>
              <a:rPr lang="en-IN" b="1" dirty="0"/>
              <a:t>Network Resilience</a:t>
            </a:r>
            <a:endParaRPr lang="en-IN" dirty="0"/>
          </a:p>
          <a:p>
            <a:pPr marL="0" indent="0">
              <a:buNone/>
            </a:pPr>
            <a:endParaRPr lang="en-IN" dirty="0"/>
          </a:p>
        </p:txBody>
      </p:sp>
      <p:sp>
        <p:nvSpPr>
          <p:cNvPr id="2" name="Slide Number Placeholder 1"/>
          <p:cNvSpPr>
            <a:spLocks noGrp="1"/>
          </p:cNvSpPr>
          <p:nvPr>
            <p:ph type="sldNum" sz="quarter" idx="12"/>
          </p:nvPr>
        </p:nvSpPr>
        <p:spPr/>
        <p:txBody>
          <a:bodyPr/>
          <a:lstStyle/>
          <a:p>
            <a:fld id="{F0DD2532-8B2C-4434-BC7C-470E3461C916}" type="slidenum">
              <a:rPr lang="en-IN" smtClean="0"/>
              <a:t>9</a:t>
            </a:fld>
            <a:endParaRPr lang="en-IN"/>
          </a:p>
        </p:txBody>
      </p:sp>
    </p:spTree>
    <p:extLst>
      <p:ext uri="{BB962C8B-B14F-4D97-AF65-F5344CB8AC3E}">
        <p14:creationId xmlns:p14="http://schemas.microsoft.com/office/powerpoint/2010/main" val="29228182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r>
            <a:br>
              <a:rPr lang="en-IN" dirty="0" smtClean="0"/>
            </a:br>
            <a:endParaRPr lang="en-IN" dirty="0"/>
          </a:p>
        </p:txBody>
      </p:sp>
      <p:sp>
        <p:nvSpPr>
          <p:cNvPr id="3" name="Content Placeholder 2"/>
          <p:cNvSpPr>
            <a:spLocks noGrp="1"/>
          </p:cNvSpPr>
          <p:nvPr>
            <p:ph idx="1"/>
          </p:nvPr>
        </p:nvSpPr>
        <p:spPr>
          <a:xfrm>
            <a:off x="609600" y="457201"/>
            <a:ext cx="10972800" cy="5668964"/>
          </a:xfrm>
        </p:spPr>
        <p:txBody>
          <a:bodyPr/>
          <a:lstStyle/>
          <a:p>
            <a:r>
              <a:rPr lang="en-IN" sz="2400" b="1" dirty="0"/>
              <a:t>Consensus </a:t>
            </a:r>
            <a:r>
              <a:rPr lang="en-IN" sz="2400" b="1" dirty="0" smtClean="0"/>
              <a:t>algorithm</a:t>
            </a:r>
          </a:p>
          <a:p>
            <a:pPr marL="0" indent="0">
              <a:buNone/>
            </a:pPr>
            <a:r>
              <a:rPr lang="en-IN" sz="2400" b="1" dirty="0"/>
              <a:t> H</a:t>
            </a:r>
            <a:r>
              <a:rPr lang="en-IN" sz="2400" b="1" dirty="0" smtClean="0"/>
              <a:t>ere's </a:t>
            </a:r>
            <a:r>
              <a:rPr lang="en-IN" sz="2400" b="1" dirty="0"/>
              <a:t>a </a:t>
            </a:r>
            <a:r>
              <a:rPr lang="en-IN" sz="2400" b="1" dirty="0" smtClean="0"/>
              <a:t>simplified </a:t>
            </a:r>
            <a:r>
              <a:rPr lang="en-IN" sz="2400" b="1" dirty="0"/>
              <a:t>version of consensus algorithm for Bitcoin:</a:t>
            </a:r>
          </a:p>
          <a:p>
            <a:pPr marL="457200" indent="-457200" algn="just">
              <a:buFont typeface="+mj-lt"/>
              <a:buAutoNum type="arabicPeriod"/>
            </a:pPr>
            <a:r>
              <a:rPr lang="en-IN" sz="2400" dirty="0" smtClean="0"/>
              <a:t>When </a:t>
            </a:r>
            <a:r>
              <a:rPr lang="en-IN" sz="2400" dirty="0"/>
              <a:t>Alice wants to pay Bob, she creates a transaction and broadcasts it to all of the nodes.</a:t>
            </a:r>
          </a:p>
          <a:p>
            <a:pPr marL="457200" indent="-457200" algn="just">
              <a:buFont typeface="+mj-lt"/>
              <a:buAutoNum type="arabicPeriod"/>
            </a:pPr>
            <a:r>
              <a:rPr lang="en-IN" sz="2400" dirty="0" smtClean="0"/>
              <a:t>Each </a:t>
            </a:r>
            <a:r>
              <a:rPr lang="en-IN" sz="2400" dirty="0"/>
              <a:t>node is constantly listening to the network and collecting a list of transactions not yet inserted into the </a:t>
            </a:r>
            <a:r>
              <a:rPr lang="en-IN" sz="2400" dirty="0" err="1"/>
              <a:t>blockchain</a:t>
            </a:r>
            <a:r>
              <a:rPr lang="en-IN" sz="2400" dirty="0"/>
              <a:t>.</a:t>
            </a:r>
          </a:p>
          <a:p>
            <a:pPr marL="457200" indent="-457200" algn="just">
              <a:buFont typeface="+mj-lt"/>
              <a:buAutoNum type="arabicPeriod"/>
            </a:pPr>
            <a:r>
              <a:rPr lang="en-IN" sz="2400" dirty="0" smtClean="0"/>
              <a:t> At </a:t>
            </a:r>
            <a:r>
              <a:rPr lang="en-IN" sz="2400" dirty="0"/>
              <a:t>some point, one of these nodes is chosen randomly to propose the next block. It will put in the new block a bunch of transaction and add it to the </a:t>
            </a:r>
            <a:r>
              <a:rPr lang="en-IN" sz="2400" dirty="0" err="1"/>
              <a:t>blockchain</a:t>
            </a:r>
            <a:r>
              <a:rPr lang="en-IN" sz="2400" dirty="0"/>
              <a:t>. This node can be honest, or malicious and try to insert some invalid transactions. For example it could insert transaction with non-valid signature or with coins already spent.</a:t>
            </a:r>
          </a:p>
          <a:p>
            <a:pPr marL="457200" indent="-457200" algn="just">
              <a:buFont typeface="+mj-lt"/>
              <a:buAutoNum type="arabicPeriod"/>
            </a:pPr>
            <a:r>
              <a:rPr lang="en-IN" sz="2400" dirty="0" smtClean="0"/>
              <a:t>The </a:t>
            </a:r>
            <a:r>
              <a:rPr lang="en-IN" sz="2400" dirty="0"/>
              <a:t>other nodes will accept this block or reject it, by either including the hash of this latest block in their next block or ignoring it. The block is accepted only if all the transaction in it are valid.</a:t>
            </a:r>
          </a:p>
          <a:p>
            <a:pPr marL="0" indent="0">
              <a:buNone/>
            </a:pPr>
            <a:endParaRPr lang="en-IN" sz="2400" b="1"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10</a:t>
            </a:fld>
            <a:endParaRPr lang="en-US"/>
          </a:p>
        </p:txBody>
      </p:sp>
    </p:spTree>
    <p:extLst>
      <p:ext uri="{BB962C8B-B14F-4D97-AF65-F5344CB8AC3E}">
        <p14:creationId xmlns:p14="http://schemas.microsoft.com/office/powerpoint/2010/main" val="14283145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Types of consensus mechanisms in </a:t>
            </a:r>
            <a:r>
              <a:rPr lang="en-IN" dirty="0" err="1" smtClean="0"/>
              <a:t>Blockchain</a:t>
            </a:r>
            <a:r>
              <a:rPr lang="en-IN" dirty="0" smtClean="0"/>
              <a:t>:</a:t>
            </a:r>
          </a:p>
          <a:p>
            <a:pPr marL="0" indent="0">
              <a:buNone/>
            </a:pPr>
            <a:r>
              <a:rPr lang="en-IN" dirty="0"/>
              <a:t> </a:t>
            </a:r>
            <a:r>
              <a:rPr lang="en-IN" dirty="0" smtClean="0"/>
              <a:t> 1. Proof-based consensus mechanisms</a:t>
            </a:r>
          </a:p>
          <a:p>
            <a:pPr marL="0" indent="0">
              <a:buNone/>
            </a:pPr>
            <a:r>
              <a:rPr lang="en-IN" dirty="0"/>
              <a:t> </a:t>
            </a:r>
            <a:r>
              <a:rPr lang="en-IN" dirty="0" smtClean="0"/>
              <a:t> 2. Traditional fault tolerance-based </a:t>
            </a:r>
          </a:p>
          <a:p>
            <a:pPr marL="0" indent="0">
              <a:buNone/>
            </a:pPr>
            <a:endParaRPr lang="en-IN" dirty="0"/>
          </a:p>
        </p:txBody>
      </p:sp>
      <p:sp>
        <p:nvSpPr>
          <p:cNvPr id="2" name="Slide Number Placeholder 1"/>
          <p:cNvSpPr>
            <a:spLocks noGrp="1"/>
          </p:cNvSpPr>
          <p:nvPr>
            <p:ph type="sldNum" sz="quarter" idx="12"/>
          </p:nvPr>
        </p:nvSpPr>
        <p:spPr/>
        <p:txBody>
          <a:bodyPr/>
          <a:lstStyle/>
          <a:p>
            <a:fld id="{F0DD2532-8B2C-4434-BC7C-470E3461C916}" type="slidenum">
              <a:rPr lang="en-IN" smtClean="0"/>
              <a:t>11</a:t>
            </a:fld>
            <a:endParaRPr lang="en-IN"/>
          </a:p>
        </p:txBody>
      </p:sp>
    </p:spTree>
    <p:extLst>
      <p:ext uri="{BB962C8B-B14F-4D97-AF65-F5344CB8AC3E}">
        <p14:creationId xmlns:p14="http://schemas.microsoft.com/office/powerpoint/2010/main" val="37010954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Types of consensus mechanisms in </a:t>
            </a:r>
            <a:r>
              <a:rPr lang="en-IN" sz="2800" b="1" dirty="0" err="1"/>
              <a:t>Blockchain</a:t>
            </a:r>
            <a:r>
              <a:rPr lang="en-IN" sz="2800" b="1" dirty="0"/>
              <a:t>:</a:t>
            </a:r>
          </a:p>
        </p:txBody>
      </p:sp>
      <p:sp>
        <p:nvSpPr>
          <p:cNvPr id="3" name="Content Placeholder 2"/>
          <p:cNvSpPr>
            <a:spLocks noGrp="1"/>
          </p:cNvSpPr>
          <p:nvPr>
            <p:ph idx="1"/>
          </p:nvPr>
        </p:nvSpPr>
        <p:spPr/>
        <p:txBody>
          <a:bodyPr>
            <a:normAutofit/>
          </a:bodyPr>
          <a:lstStyle/>
          <a:p>
            <a:r>
              <a:rPr lang="en-IN" b="1" dirty="0" smtClean="0"/>
              <a:t>Proof of Work(</a:t>
            </a:r>
            <a:r>
              <a:rPr lang="en-IN" b="1" dirty="0" err="1" smtClean="0"/>
              <a:t>PoW</a:t>
            </a:r>
            <a:r>
              <a:rPr lang="en-IN" b="1" dirty="0" smtClean="0"/>
              <a:t>)</a:t>
            </a:r>
          </a:p>
          <a:p>
            <a:r>
              <a:rPr lang="en-IN" b="1" dirty="0" smtClean="0"/>
              <a:t>Proof of Stake (</a:t>
            </a:r>
            <a:r>
              <a:rPr lang="en-IN" b="1" dirty="0" err="1" smtClean="0"/>
              <a:t>PoS</a:t>
            </a:r>
            <a:r>
              <a:rPr lang="en-IN" b="1" dirty="0" smtClean="0"/>
              <a:t>)</a:t>
            </a:r>
          </a:p>
        </p:txBody>
      </p:sp>
      <p:sp>
        <p:nvSpPr>
          <p:cNvPr id="4" name="Slide Number Placeholder 3"/>
          <p:cNvSpPr>
            <a:spLocks noGrp="1"/>
          </p:cNvSpPr>
          <p:nvPr>
            <p:ph type="sldNum" sz="quarter" idx="12"/>
          </p:nvPr>
        </p:nvSpPr>
        <p:spPr/>
        <p:txBody>
          <a:bodyPr/>
          <a:lstStyle/>
          <a:p>
            <a:fld id="{F0DD2532-8B2C-4434-BC7C-470E3461C916}" type="slidenum">
              <a:rPr lang="en-IN" smtClean="0"/>
              <a:t>12</a:t>
            </a:fld>
            <a:endParaRPr lang="en-IN"/>
          </a:p>
        </p:txBody>
      </p:sp>
    </p:spTree>
    <p:extLst>
      <p:ext uri="{BB962C8B-B14F-4D97-AF65-F5344CB8AC3E}">
        <p14:creationId xmlns:p14="http://schemas.microsoft.com/office/powerpoint/2010/main" val="3712085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639</Words>
  <Application>Microsoft Office PowerPoint</Application>
  <PresentationFormat>Widescreen</PresentationFormat>
  <Paragraphs>84</Paragraphs>
  <Slides>12</Slides>
  <Notes>1</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   Bitcoin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Types of consensus mechanisms in Blockchain: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4</cp:revision>
  <dcterms:created xsi:type="dcterms:W3CDTF">2024-08-06T07:02:31Z</dcterms:created>
  <dcterms:modified xsi:type="dcterms:W3CDTF">2024-12-16T03:49:07Z</dcterms:modified>
</cp:coreProperties>
</file>