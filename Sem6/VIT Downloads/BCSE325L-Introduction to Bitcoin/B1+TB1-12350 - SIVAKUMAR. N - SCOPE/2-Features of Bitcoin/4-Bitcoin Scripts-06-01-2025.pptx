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59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howGuides="1">
      <p:cViewPr varScale="1">
        <p:scale>
          <a:sx n="91" d="100"/>
          <a:sy n="91" d="100"/>
        </p:scale>
        <p:origin x="39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EE12F-8A5D-4755-89DE-51F702CE1165}" type="datetimeFigureOut">
              <a:rPr lang="en-IN" smtClean="0"/>
              <a:t>16-12-2024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FB6F1-BB4D-4207-B555-90E9F7BEF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72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6e91fd57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g36e91fd57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100"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1995263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18f88b7d4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18f88b7d4_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904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e91fd57_0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e91fd57_0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called a “change address”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43345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e91fd57_0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e91fd57_0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4000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e91fd57_0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e91fd57_0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57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e91fd57_0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e91fd57_0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1623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e91fd57_0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e91fd57_0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4279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e91fd57_0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e91fd57_0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3441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e91fd57_0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e91fd57_0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8066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e91fd57_0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e91fd57_0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0976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e91fd57_0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6e91fd57_0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1056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e91fd57_0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6e91fd57_0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51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7FB6F1-BB4D-4207-B555-90E9F7BEF6CA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157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e91fd57_0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6e91fd57_0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Gavel from OpenClipArt.com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3973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e91fd57_0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6e91fd57_0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mostly dead thanks to Mt. Gox, Instawallet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73143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e91fd57_0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6e91fd57_0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Bob never paid?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6115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FCCF9-99DA-4C06-BE86-F66060F99B4F}" type="datetime8">
              <a:rPr lang="en-US" smtClean="0"/>
              <a:t>12/16/2024 9:15 AM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1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FF2C9-DA4E-40C9-A0E6-98F630A9B0B7}" type="datetime8">
              <a:rPr lang="en-US" smtClean="0"/>
              <a:t>12/16/2024 9:15 AM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56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087E-E5C7-4EBC-9CCE-C085DF285C5C}" type="datetime8">
              <a:rPr lang="en-US" smtClean="0"/>
              <a:t>12/16/2024 9:15 AM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055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3CD9-DD47-4A42-A4FF-79E89C56BCA7}" type="datetime8">
              <a:rPr lang="en-US" smtClean="0"/>
              <a:t>12/16/2024 9:15 AM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18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DDEF-1F7E-424B-8603-94510FC96BDE}" type="datetime8">
              <a:rPr lang="en-US" smtClean="0"/>
              <a:t>12/16/2024 9:15 AM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45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DDBB8-1384-4675-AFF1-A43AFE42ABB9}" type="datetime8">
              <a:rPr lang="en-US" smtClean="0"/>
              <a:t>12/16/2024 9:15 AM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810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349A-81B6-4465-AF3C-9FB23B9D4D6C}" type="datetime8">
              <a:rPr lang="en-US" smtClean="0"/>
              <a:t>12/16/2024 9:15 AM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15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BCA-DE96-4221-BEE3-A5C50542445F}" type="datetime8">
              <a:rPr lang="en-US" smtClean="0"/>
              <a:t>12/16/2024 9:15 AM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133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785E-0336-44AC-AE15-FAE7ADABB4CF}" type="datetime8">
              <a:rPr lang="en-US" smtClean="0"/>
              <a:t>12/16/2024 9:15 AM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33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320CA-70D1-47C7-AFC5-436D6DE1A7EC}" type="datetime8">
              <a:rPr lang="en-US" smtClean="0"/>
              <a:t>12/16/2024 9:15 AM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04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442C-9021-43EA-BEEA-4ED886A739EB}" type="datetime8">
              <a:rPr lang="en-US" smtClean="0"/>
              <a:t>12/16/2024 9:15 AM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771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96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>
              <a:spcBef>
                <a:spcPts val="800"/>
              </a:spcBef>
              <a:spcAft>
                <a:spcPts val="0"/>
              </a:spcAft>
              <a:buSzPts val="3000"/>
              <a:buChar char="●"/>
              <a:defRPr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593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A652D-DA31-4E52-9E90-EF83982BBEF1}" type="datetime8">
              <a:rPr lang="en-US" smtClean="0"/>
              <a:t>12/16/2024 9:15 AM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D4435-DF5C-4626-BA1D-378722A46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0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green%20addresses.pptx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ubTitle" idx="1"/>
          </p:nvPr>
        </p:nvSpPr>
        <p:spPr>
          <a:xfrm>
            <a:off x="914400" y="2253961"/>
            <a:ext cx="10363200" cy="229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</a:pPr>
            <a:r>
              <a:rPr lang="en" b="1" dirty="0" smtClean="0">
                <a:solidFill>
                  <a:schemeClr val="tx1"/>
                </a:solidFill>
              </a:rPr>
              <a:t>Features of Bitcoin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</a:pPr>
            <a:r>
              <a:rPr lang="en" b="1" dirty="0" smtClean="0">
                <a:solidFill>
                  <a:schemeClr val="tx1"/>
                </a:solidFill>
              </a:rPr>
              <a:t>Bitcoin </a:t>
            </a:r>
            <a:r>
              <a:rPr lang="en" b="1" dirty="0">
                <a:solidFill>
                  <a:schemeClr val="tx1"/>
                </a:solidFill>
              </a:rPr>
              <a:t>transactions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80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err="1" smtClean="0"/>
              <a:t>bitcoin_transaction</a:t>
            </a:r>
            <a:r>
              <a:rPr lang="en-IN" b="1" dirty="0" smtClean="0"/>
              <a:t> example: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sz="2200" b="1" dirty="0"/>
              <a:t>The transaction is going to have:</a:t>
            </a:r>
          </a:p>
          <a:p>
            <a:pPr marL="0" indent="0">
              <a:buNone/>
            </a:pPr>
            <a:endParaRPr lang="en-IN" sz="22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sz="2200" b="1" dirty="0"/>
              <a:t>    Alice's signature used by other nodes to check the </a:t>
            </a:r>
            <a:r>
              <a:rPr lang="en-IN" sz="2200" b="1" dirty="0" err="1" smtClean="0"/>
              <a:t>orgin</a:t>
            </a:r>
            <a:r>
              <a:rPr lang="en-IN" sz="2200" b="1" smtClean="0"/>
              <a:t>.</a:t>
            </a:r>
            <a:endParaRPr lang="en-IN" sz="22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sz="2200" b="1" dirty="0"/>
              <a:t>    Bob's public key, which also accesses the address at which he wants to receive </a:t>
            </a:r>
            <a:r>
              <a:rPr lang="en-IN" sz="2200" b="1" dirty="0" err="1"/>
              <a:t>bitcoins</a:t>
            </a:r>
            <a:endParaRPr lang="en-IN" sz="22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sz="2200" b="1" dirty="0"/>
              <a:t>    a hash of the previous transaction. This is a way for Alice to link this transaction to her receipt of this coin from someone else previously</a:t>
            </a:r>
          </a:p>
          <a:p>
            <a:pPr marL="0" indent="0">
              <a:buNone/>
            </a:pPr>
            <a:endParaRPr lang="en-IN" sz="2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BCA1-7FC4-4544-A902-24D63B55653B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438400"/>
            <a:ext cx="5867400" cy="133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0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609600" y="53833"/>
            <a:ext cx="11192400" cy="11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An account-based ledger (</a:t>
            </a:r>
            <a:r>
              <a:rPr lang="en" i="1"/>
              <a:t>not</a:t>
            </a:r>
            <a:r>
              <a:rPr lang="en"/>
              <a:t> Bitcoin)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" name="Google Shape;48;p11"/>
          <p:cNvSpPr/>
          <p:nvPr/>
        </p:nvSpPr>
        <p:spPr>
          <a:xfrm>
            <a:off x="1160371" y="1659967"/>
            <a:ext cx="7488800" cy="5796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>
                <a:latin typeface="Trebuchet MS"/>
                <a:ea typeface="Trebuchet MS"/>
                <a:cs typeface="Trebuchet MS"/>
                <a:sym typeface="Trebuchet MS"/>
              </a:rPr>
              <a:t>Create 25 coins and credit to Alice</a:t>
            </a:r>
            <a:r>
              <a:rPr lang="en" sz="2400" baseline="-25000">
                <a:latin typeface="Trebuchet MS"/>
                <a:ea typeface="Trebuchet MS"/>
                <a:cs typeface="Trebuchet MS"/>
                <a:sym typeface="Trebuchet MS"/>
              </a:rPr>
              <a:t>ASSERTED BY MINERS</a:t>
            </a:r>
            <a:endParaRPr sz="2400" baseline="-25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" name="Google Shape;49;p11"/>
          <p:cNvSpPr/>
          <p:nvPr/>
        </p:nvSpPr>
        <p:spPr>
          <a:xfrm>
            <a:off x="1160371" y="2239567"/>
            <a:ext cx="7488800" cy="5796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Transfer 17 coins from Alice to Bob</a:t>
            </a:r>
            <a:r>
              <a:rPr lang="en" sz="2400" baseline="-25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1160371" y="2819167"/>
            <a:ext cx="7488800" cy="5796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Transfer 8 coins from Bob to Carol</a:t>
            </a:r>
            <a:r>
              <a:rPr lang="en" sz="2400" baseline="-25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SIGNED(Bob)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" name="Google Shape;51;p11"/>
          <p:cNvSpPr/>
          <p:nvPr/>
        </p:nvSpPr>
        <p:spPr>
          <a:xfrm>
            <a:off x="1160371" y="3398767"/>
            <a:ext cx="7488800" cy="5796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Transfer 5 coins from Carol to Alice</a:t>
            </a:r>
            <a:r>
              <a:rPr lang="en" sz="2400" baseline="-25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SIGNED(Carol)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3144000" y="5987067"/>
            <a:ext cx="5904000" cy="7024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latin typeface="Trebuchet MS"/>
                <a:ea typeface="Trebuchet MS"/>
                <a:cs typeface="Trebuchet MS"/>
                <a:sym typeface="Trebuchet MS"/>
              </a:rPr>
              <a:t>SIMPLIFICATION: only one transaction per block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53" name="Google Shape;53;p11"/>
          <p:cNvCxnSpPr/>
          <p:nvPr/>
        </p:nvCxnSpPr>
        <p:spPr>
          <a:xfrm>
            <a:off x="539800" y="1800433"/>
            <a:ext cx="0" cy="352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" name="Google Shape;54;p11"/>
          <p:cNvSpPr txBox="1"/>
          <p:nvPr/>
        </p:nvSpPr>
        <p:spPr>
          <a:xfrm>
            <a:off x="165533" y="1337233"/>
            <a:ext cx="7976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time</a:t>
            </a:r>
            <a:endParaRPr sz="2400"/>
          </a:p>
        </p:txBody>
      </p:sp>
      <p:sp>
        <p:nvSpPr>
          <p:cNvPr id="55" name="Google Shape;55;p11"/>
          <p:cNvSpPr/>
          <p:nvPr/>
        </p:nvSpPr>
        <p:spPr>
          <a:xfrm>
            <a:off x="1160371" y="3978367"/>
            <a:ext cx="7488800" cy="5796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Transfer 15 coins from Alice to David</a:t>
            </a:r>
            <a:r>
              <a:rPr lang="en" sz="2400" baseline="-25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56" name="Google Shape;56;p11"/>
          <p:cNvCxnSpPr/>
          <p:nvPr/>
        </p:nvCxnSpPr>
        <p:spPr>
          <a:xfrm rot="10800000">
            <a:off x="9360867" y="1128567"/>
            <a:ext cx="24400" cy="245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57" name="Google Shape;57;p11"/>
          <p:cNvSpPr txBox="1"/>
          <p:nvPr/>
        </p:nvSpPr>
        <p:spPr>
          <a:xfrm>
            <a:off x="9571667" y="1466767"/>
            <a:ext cx="2070800" cy="13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might need to scan backwards until genesis!</a:t>
            </a:r>
            <a:endParaRPr sz="2400"/>
          </a:p>
        </p:txBody>
      </p:sp>
      <p:sp>
        <p:nvSpPr>
          <p:cNvPr id="58" name="Google Shape;58;p11"/>
          <p:cNvSpPr/>
          <p:nvPr/>
        </p:nvSpPr>
        <p:spPr>
          <a:xfrm>
            <a:off x="8735033" y="3655967"/>
            <a:ext cx="2740800" cy="1006400"/>
          </a:xfrm>
          <a:prstGeom prst="cloudCallout">
            <a:avLst>
              <a:gd name="adj1" fmla="val -68996"/>
              <a:gd name="adj2" fmla="val 20028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/>
              <a:t>is this valid?</a:t>
            </a:r>
            <a:endParaRPr sz="2400"/>
          </a:p>
        </p:txBody>
      </p:sp>
      <p:sp>
        <p:nvSpPr>
          <p:cNvPr id="2" name="Rectangle 1"/>
          <p:cNvSpPr/>
          <p:nvPr/>
        </p:nvSpPr>
        <p:spPr>
          <a:xfrm>
            <a:off x="5939760" y="3223817"/>
            <a:ext cx="253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3111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609600" y="53837"/>
            <a:ext cx="10972800" cy="11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 smtClean="0"/>
              <a:t>Example</a:t>
            </a: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" name="Google Shape;64;p12"/>
          <p:cNvSpPr/>
          <p:nvPr/>
        </p:nvSpPr>
        <p:spPr>
          <a:xfrm>
            <a:off x="1160367" y="1096367"/>
            <a:ext cx="7488800" cy="11432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>
                <a:latin typeface="Trebuchet MS"/>
                <a:ea typeface="Trebuchet MS"/>
                <a:cs typeface="Trebuchet MS"/>
                <a:sym typeface="Trebuchet MS"/>
              </a:rPr>
              <a:t>	Inputs: Ø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r>
              <a:rPr lang="en" sz="2400">
                <a:latin typeface="Trebuchet MS"/>
                <a:ea typeface="Trebuchet MS"/>
                <a:cs typeface="Trebuchet MS"/>
                <a:sym typeface="Trebuchet MS"/>
              </a:rPr>
              <a:t>       Outputs: 25.0</a:t>
            </a: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r>
              <a:rPr lang="en" sz="2400">
                <a:latin typeface="Trebuchet MS"/>
                <a:ea typeface="Trebuchet MS"/>
                <a:cs typeface="Trebuchet MS"/>
                <a:sym typeface="Trebuchet MS"/>
              </a:rPr>
              <a:t>Alice</a:t>
            </a:r>
            <a:endParaRPr sz="2400" baseline="-25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" name="Google Shape;65;p12"/>
          <p:cNvSpPr/>
          <p:nvPr/>
        </p:nvSpPr>
        <p:spPr>
          <a:xfrm>
            <a:off x="1160367" y="2239567"/>
            <a:ext cx="7488800" cy="12448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indent="609585"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1[0]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609585">
              <a:lnSpc>
                <a:spcPct val="115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17.0→Bob, 8.0→Alice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" name="Google Shape;66;p12"/>
          <p:cNvSpPr/>
          <p:nvPr/>
        </p:nvSpPr>
        <p:spPr>
          <a:xfrm>
            <a:off x="3144000" y="6085233"/>
            <a:ext cx="5904000" cy="7024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latin typeface="Trebuchet MS"/>
                <a:ea typeface="Trebuchet MS"/>
                <a:cs typeface="Trebuchet MS"/>
                <a:sym typeface="Trebuchet MS"/>
              </a:rPr>
              <a:t>SIMPLIFICATION: only one transaction per block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7" name="Google Shape;67;p12"/>
          <p:cNvCxnSpPr/>
          <p:nvPr/>
        </p:nvCxnSpPr>
        <p:spPr>
          <a:xfrm>
            <a:off x="539800" y="1800433"/>
            <a:ext cx="0" cy="352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" name="Google Shape;68;p12"/>
          <p:cNvSpPr txBox="1"/>
          <p:nvPr/>
        </p:nvSpPr>
        <p:spPr>
          <a:xfrm>
            <a:off x="165533" y="1337233"/>
            <a:ext cx="7976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time</a:t>
            </a:r>
            <a:endParaRPr sz="2400"/>
          </a:p>
        </p:txBody>
      </p:sp>
      <p:sp>
        <p:nvSpPr>
          <p:cNvPr id="69" name="Google Shape;69;p12"/>
          <p:cNvSpPr/>
          <p:nvPr/>
        </p:nvSpPr>
        <p:spPr>
          <a:xfrm>
            <a:off x="8735033" y="4742233"/>
            <a:ext cx="2740800" cy="10064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/>
              <a:t>is this valid?</a:t>
            </a:r>
            <a:endParaRPr sz="2400"/>
          </a:p>
        </p:txBody>
      </p:sp>
      <p:sp>
        <p:nvSpPr>
          <p:cNvPr id="70" name="Google Shape;70;p12"/>
          <p:cNvSpPr txBox="1"/>
          <p:nvPr/>
        </p:nvSpPr>
        <p:spPr>
          <a:xfrm>
            <a:off x="9269733" y="3379967"/>
            <a:ext cx="20708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finite scan to check for validity</a:t>
            </a:r>
            <a:endParaRPr sz="2400"/>
          </a:p>
        </p:txBody>
      </p:sp>
      <p:sp>
        <p:nvSpPr>
          <p:cNvPr id="71" name="Google Shape;71;p12"/>
          <p:cNvSpPr/>
          <p:nvPr/>
        </p:nvSpPr>
        <p:spPr>
          <a:xfrm>
            <a:off x="1160367" y="3490900"/>
            <a:ext cx="7488800" cy="12448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indent="609585"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2[0]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609585">
              <a:lnSpc>
                <a:spcPct val="115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8.0→Carol, 7.0→Bob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SIGNED(Bob)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" name="Google Shape;72;p12"/>
          <p:cNvSpPr/>
          <p:nvPr/>
        </p:nvSpPr>
        <p:spPr>
          <a:xfrm>
            <a:off x="1160367" y="4742233"/>
            <a:ext cx="7488800" cy="1244800"/>
          </a:xfrm>
          <a:prstGeom prst="rect">
            <a:avLst/>
          </a:prstGeom>
          <a:solidFill>
            <a:srgbClr val="F6B26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indent="609585"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2[1]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609585">
              <a:lnSpc>
                <a:spcPct val="115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6.0→David, 2.0→Alice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3" name="Google Shape;73;p12"/>
          <p:cNvCxnSpPr/>
          <p:nvPr/>
        </p:nvCxnSpPr>
        <p:spPr>
          <a:xfrm rot="10800000" flipH="1">
            <a:off x="3274600" y="3115367"/>
            <a:ext cx="2098000" cy="1668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2"/>
          <p:cNvCxnSpPr/>
          <p:nvPr/>
        </p:nvCxnSpPr>
        <p:spPr>
          <a:xfrm rot="10800000">
            <a:off x="9041767" y="2797167"/>
            <a:ext cx="0" cy="1975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5" name="Google Shape;75;p12"/>
          <p:cNvSpPr txBox="1"/>
          <p:nvPr/>
        </p:nvSpPr>
        <p:spPr>
          <a:xfrm>
            <a:off x="8846400" y="1486700"/>
            <a:ext cx="3090800" cy="868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/>
              <a:t>we implement this with hash pointers</a:t>
            </a:r>
            <a:endParaRPr sz="2400"/>
          </a:p>
        </p:txBody>
      </p:sp>
      <p:cxnSp>
        <p:nvCxnSpPr>
          <p:cNvPr id="76" name="Google Shape;76;p12"/>
          <p:cNvCxnSpPr/>
          <p:nvPr/>
        </p:nvCxnSpPr>
        <p:spPr>
          <a:xfrm rot="10800000" flipH="1">
            <a:off x="3328833" y="3076567"/>
            <a:ext cx="579200" cy="554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2"/>
          <p:cNvCxnSpPr/>
          <p:nvPr/>
        </p:nvCxnSpPr>
        <p:spPr>
          <a:xfrm rot="10800000" flipH="1">
            <a:off x="3274600" y="1968000"/>
            <a:ext cx="584000" cy="376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" name="Google Shape;78;p12"/>
          <p:cNvSpPr/>
          <p:nvPr/>
        </p:nvSpPr>
        <p:spPr>
          <a:xfrm>
            <a:off x="5243967" y="1994367"/>
            <a:ext cx="2959200" cy="69920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/>
              <a:t>change address</a:t>
            </a:r>
            <a:endParaRPr sz="2400"/>
          </a:p>
        </p:txBody>
      </p:sp>
      <p:sp>
        <p:nvSpPr>
          <p:cNvPr id="79" name="Google Shape;79;p12"/>
          <p:cNvSpPr txBox="1"/>
          <p:nvPr/>
        </p:nvSpPr>
        <p:spPr>
          <a:xfrm>
            <a:off x="1160367" y="1096367"/>
            <a:ext cx="451600" cy="4632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1160367" y="2239567"/>
            <a:ext cx="451600" cy="4632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1160367" y="3490900"/>
            <a:ext cx="451600" cy="4632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1160367" y="4742233"/>
            <a:ext cx="451600" cy="4632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86210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609600" y="53837"/>
            <a:ext cx="10972800" cy="11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Merging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160367" y="1589251"/>
            <a:ext cx="7488800" cy="12448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indent="609585"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...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609585">
              <a:lnSpc>
                <a:spcPct val="115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17.0→Bob, 8.0→Alice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144000" y="6085233"/>
            <a:ext cx="5904000" cy="7024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latin typeface="Trebuchet MS"/>
                <a:ea typeface="Trebuchet MS"/>
                <a:cs typeface="Trebuchet MS"/>
                <a:sym typeface="Trebuchet MS"/>
              </a:rPr>
              <a:t>SIMPLIFICATION: only one transaction per block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0" name="Google Shape;90;p13"/>
          <p:cNvCxnSpPr/>
          <p:nvPr/>
        </p:nvCxnSpPr>
        <p:spPr>
          <a:xfrm>
            <a:off x="539800" y="1800433"/>
            <a:ext cx="0" cy="352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13"/>
          <p:cNvSpPr txBox="1"/>
          <p:nvPr/>
        </p:nvSpPr>
        <p:spPr>
          <a:xfrm>
            <a:off x="165533" y="1337233"/>
            <a:ext cx="7976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time</a:t>
            </a:r>
            <a:endParaRPr sz="2400"/>
          </a:p>
        </p:txBody>
      </p:sp>
      <p:sp>
        <p:nvSpPr>
          <p:cNvPr id="92" name="Google Shape;92;p13"/>
          <p:cNvSpPr/>
          <p:nvPr/>
        </p:nvSpPr>
        <p:spPr>
          <a:xfrm>
            <a:off x="1160367" y="3126300"/>
            <a:ext cx="7488800" cy="12448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indent="609585"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1[1]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609585">
              <a:lnSpc>
                <a:spcPct val="115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6.0→Carol, 2.0→Bob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SIGNED(Carol)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160367" y="4742233"/>
            <a:ext cx="7488800" cy="12448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indent="609585"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1[0], 2[1]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609585"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19.0→Bob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SIGNED(Bob)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4" name="Google Shape;94;p13"/>
          <p:cNvCxnSpPr/>
          <p:nvPr/>
        </p:nvCxnSpPr>
        <p:spPr>
          <a:xfrm rot="10800000" flipH="1">
            <a:off x="3201967" y="2541233"/>
            <a:ext cx="478000" cy="2247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95;p13"/>
          <p:cNvCxnSpPr/>
          <p:nvPr/>
        </p:nvCxnSpPr>
        <p:spPr>
          <a:xfrm rot="10800000" flipH="1">
            <a:off x="3995100" y="4005400"/>
            <a:ext cx="1626800" cy="793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" name="Google Shape;96;p13"/>
          <p:cNvSpPr txBox="1"/>
          <p:nvPr/>
        </p:nvSpPr>
        <p:spPr>
          <a:xfrm>
            <a:off x="1263633" y="2748100"/>
            <a:ext cx="454000" cy="3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/>
              <a:t>...</a:t>
            </a:r>
            <a:endParaRPr sz="2400"/>
          </a:p>
        </p:txBody>
      </p:sp>
      <p:sp>
        <p:nvSpPr>
          <p:cNvPr id="97" name="Google Shape;97;p13"/>
          <p:cNvSpPr txBox="1"/>
          <p:nvPr/>
        </p:nvSpPr>
        <p:spPr>
          <a:xfrm>
            <a:off x="1263633" y="4371100"/>
            <a:ext cx="454000" cy="3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/>
              <a:t>...</a:t>
            </a:r>
            <a:endParaRPr sz="2400"/>
          </a:p>
        </p:txBody>
      </p:sp>
      <p:sp>
        <p:nvSpPr>
          <p:cNvPr id="98" name="Google Shape;98;p13"/>
          <p:cNvSpPr txBox="1"/>
          <p:nvPr/>
        </p:nvSpPr>
        <p:spPr>
          <a:xfrm>
            <a:off x="1160367" y="1589267"/>
            <a:ext cx="451600" cy="4632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160367" y="3126300"/>
            <a:ext cx="451600" cy="4632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60367" y="4742233"/>
            <a:ext cx="451600" cy="4632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3705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609600" y="53837"/>
            <a:ext cx="10972800" cy="11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Joint payments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1160367" y="1589251"/>
            <a:ext cx="7488800" cy="12448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indent="609585"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...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609585">
              <a:lnSpc>
                <a:spcPct val="115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17.0→Bob, 8.0→Alice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3144000" y="6085233"/>
            <a:ext cx="5904000" cy="7024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latin typeface="Trebuchet MS"/>
                <a:ea typeface="Trebuchet MS"/>
                <a:cs typeface="Trebuchet MS"/>
                <a:sym typeface="Trebuchet MS"/>
              </a:rPr>
              <a:t>SIMPLIFICATION: only one transaction per block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08" name="Google Shape;108;p14"/>
          <p:cNvCxnSpPr/>
          <p:nvPr/>
        </p:nvCxnSpPr>
        <p:spPr>
          <a:xfrm>
            <a:off x="539800" y="1800433"/>
            <a:ext cx="0" cy="352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" name="Google Shape;109;p14"/>
          <p:cNvSpPr txBox="1"/>
          <p:nvPr/>
        </p:nvSpPr>
        <p:spPr>
          <a:xfrm>
            <a:off x="165533" y="1337233"/>
            <a:ext cx="7976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time</a:t>
            </a:r>
            <a:endParaRPr sz="2400"/>
          </a:p>
        </p:txBody>
      </p:sp>
      <p:sp>
        <p:nvSpPr>
          <p:cNvPr id="110" name="Google Shape;110;p14"/>
          <p:cNvSpPr/>
          <p:nvPr/>
        </p:nvSpPr>
        <p:spPr>
          <a:xfrm>
            <a:off x="1160367" y="3126300"/>
            <a:ext cx="7488800" cy="12448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indent="609585"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1[1]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609585">
              <a:lnSpc>
                <a:spcPct val="115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6.0→Carol, 2.0→Bob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SIGNED(Carol)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160367" y="4742233"/>
            <a:ext cx="7488800" cy="1244800"/>
          </a:xfrm>
          <a:prstGeom prst="rect">
            <a:avLst/>
          </a:prstGeom>
          <a:solidFill>
            <a:srgbClr val="CCCCCC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indent="609585"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Inputs: 2[0], 2[1]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609585"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Outputs: 8.0→David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SIGNED(Carol), SIGNED(Bob)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12" name="Google Shape;112;p14"/>
          <p:cNvCxnSpPr/>
          <p:nvPr/>
        </p:nvCxnSpPr>
        <p:spPr>
          <a:xfrm rot="10800000" flipH="1">
            <a:off x="3242633" y="4046567"/>
            <a:ext cx="538800" cy="701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13;p14"/>
          <p:cNvCxnSpPr/>
          <p:nvPr/>
        </p:nvCxnSpPr>
        <p:spPr>
          <a:xfrm rot="10800000" flipH="1">
            <a:off x="3941767" y="3995267"/>
            <a:ext cx="1639600" cy="762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4" name="Google Shape;114;p14"/>
          <p:cNvSpPr txBox="1"/>
          <p:nvPr/>
        </p:nvSpPr>
        <p:spPr>
          <a:xfrm>
            <a:off x="1263633" y="2748100"/>
            <a:ext cx="454000" cy="3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/>
              <a:t>...</a:t>
            </a:r>
            <a:endParaRPr sz="2400"/>
          </a:p>
        </p:txBody>
      </p:sp>
      <p:sp>
        <p:nvSpPr>
          <p:cNvPr id="115" name="Google Shape;115;p14"/>
          <p:cNvSpPr txBox="1"/>
          <p:nvPr/>
        </p:nvSpPr>
        <p:spPr>
          <a:xfrm>
            <a:off x="1263633" y="4371100"/>
            <a:ext cx="454000" cy="3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/>
              <a:t>...</a:t>
            </a:r>
            <a:endParaRPr sz="2400"/>
          </a:p>
        </p:txBody>
      </p:sp>
      <p:sp>
        <p:nvSpPr>
          <p:cNvPr id="116" name="Google Shape;116;p14"/>
          <p:cNvSpPr/>
          <p:nvPr/>
        </p:nvSpPr>
        <p:spPr>
          <a:xfrm>
            <a:off x="5986933" y="4980933"/>
            <a:ext cx="2539600" cy="6504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two signatures!</a:t>
            </a:r>
            <a:endParaRPr sz="2400"/>
          </a:p>
        </p:txBody>
      </p:sp>
      <p:sp>
        <p:nvSpPr>
          <p:cNvPr id="117" name="Google Shape;117;p14"/>
          <p:cNvSpPr txBox="1"/>
          <p:nvPr/>
        </p:nvSpPr>
        <p:spPr>
          <a:xfrm>
            <a:off x="1160367" y="1589267"/>
            <a:ext cx="451600" cy="4632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1160367" y="3126300"/>
            <a:ext cx="451600" cy="4632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160367" y="4742233"/>
            <a:ext cx="451600" cy="4632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4611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Transaction Data Structure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400" y="513556"/>
            <a:ext cx="9601200" cy="649684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BCA1-7FC4-4544-A902-24D63B55653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39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The real deal: a Bitcoin transaction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1"/>
          </p:nvPr>
        </p:nvSpPr>
        <p:spPr>
          <a:xfrm>
            <a:off x="2781100" y="1072600"/>
            <a:ext cx="10972800" cy="55276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1200" dirty="0"/>
              <a:t>{</a:t>
            </a:r>
            <a:br>
              <a:rPr lang="en" sz="1200" dirty="0"/>
            </a:br>
            <a:r>
              <a:rPr lang="en" sz="1200" dirty="0"/>
              <a:t>      "hash":"5a42590fbe0a90ee8e8747244d6c84f0db1a3a24e8f1b95b10c9e050990b8b6b",</a:t>
            </a:r>
            <a:br>
              <a:rPr lang="en" sz="1200" dirty="0"/>
            </a:br>
            <a:r>
              <a:rPr lang="en" sz="1200" dirty="0"/>
              <a:t>      "ver":1,</a:t>
            </a:r>
            <a:br>
              <a:rPr lang="en" sz="1200" dirty="0"/>
            </a:br>
            <a:r>
              <a:rPr lang="en" sz="1200" dirty="0"/>
              <a:t>      "vin_sz":2,</a:t>
            </a:r>
            <a:br>
              <a:rPr lang="en" sz="1200" dirty="0"/>
            </a:br>
            <a:r>
              <a:rPr lang="en" sz="1200" dirty="0"/>
              <a:t>      "vout_sz":1,</a:t>
            </a:r>
            <a:br>
              <a:rPr lang="en" sz="1200" dirty="0"/>
            </a:br>
            <a:r>
              <a:rPr lang="en" sz="1200" dirty="0"/>
              <a:t>      "lock_time":0,</a:t>
            </a:r>
            <a:br>
              <a:rPr lang="en" sz="1200" dirty="0"/>
            </a:br>
            <a:r>
              <a:rPr lang="en" sz="1200" dirty="0"/>
              <a:t>      "size":404,</a:t>
            </a:r>
            <a:br>
              <a:rPr lang="en" sz="1200" dirty="0"/>
            </a:br>
            <a:r>
              <a:rPr lang="en" sz="1200" dirty="0"/>
              <a:t>      "in":[</a:t>
            </a:r>
            <a:br>
              <a:rPr lang="en" sz="1200" dirty="0"/>
            </a:br>
            <a:r>
              <a:rPr lang="en" sz="1200" dirty="0"/>
              <a:t>        {</a:t>
            </a:r>
            <a:br>
              <a:rPr lang="en" sz="1200" dirty="0"/>
            </a:br>
            <a:r>
              <a:rPr lang="en" sz="1200" dirty="0"/>
              <a:t>          "prev_out":{</a:t>
            </a:r>
            <a:br>
              <a:rPr lang="en" sz="1200" dirty="0"/>
            </a:br>
            <a:r>
              <a:rPr lang="en" sz="1200" dirty="0"/>
              <a:t>            "hash":"3be4ac9728a0823cf5e2deb2e86fc0bd2aa503a91d307b42ba76117d79280260",</a:t>
            </a:r>
            <a:br>
              <a:rPr lang="en" sz="1200" dirty="0"/>
            </a:br>
            <a:r>
              <a:rPr lang="en" sz="1200" dirty="0"/>
              <a:t>            "n":0</a:t>
            </a:r>
            <a:br>
              <a:rPr lang="en" sz="1200" dirty="0"/>
            </a:br>
            <a:r>
              <a:rPr lang="en" sz="1200" dirty="0"/>
              <a:t>          }, </a:t>
            </a:r>
            <a:endParaRPr sz="1200" dirty="0"/>
          </a:p>
          <a:p>
            <a:pPr marL="0" indent="609585">
              <a:buClr>
                <a:schemeClr val="dk1"/>
              </a:buClr>
              <a:buSzPts val="1100"/>
              <a:buNone/>
            </a:pPr>
            <a:r>
              <a:rPr lang="en" sz="1200" dirty="0"/>
              <a:t>"scriptSig":"30440..."</a:t>
            </a:r>
            <a:br>
              <a:rPr lang="en" sz="1200" dirty="0"/>
            </a:br>
            <a:r>
              <a:rPr lang="en" sz="1200" dirty="0"/>
              <a:t>        },</a:t>
            </a:r>
            <a:br>
              <a:rPr lang="en" sz="1200" dirty="0"/>
            </a:br>
            <a:r>
              <a:rPr lang="en" sz="1200" dirty="0"/>
              <a:t>        {</a:t>
            </a:r>
            <a:br>
              <a:rPr lang="en" sz="1200" dirty="0"/>
            </a:br>
            <a:r>
              <a:rPr lang="en" sz="1200" dirty="0"/>
              <a:t>          "prev_out":{</a:t>
            </a:r>
            <a:br>
              <a:rPr lang="en" sz="1200" dirty="0"/>
            </a:br>
            <a:r>
              <a:rPr lang="en" sz="1200" dirty="0"/>
              <a:t>            "hash":"7508e6ab259b4df0fd5147bab0c949d81473db4518f81afc5c3f52f91ff6b34e",</a:t>
            </a:r>
            <a:br>
              <a:rPr lang="en" sz="1200" dirty="0"/>
            </a:br>
            <a:r>
              <a:rPr lang="en" sz="1200" dirty="0"/>
              <a:t>            "n":0</a:t>
            </a:r>
            <a:br>
              <a:rPr lang="en" sz="1200" dirty="0"/>
            </a:br>
            <a:r>
              <a:rPr lang="en" sz="1200" dirty="0"/>
              <a:t>          },</a:t>
            </a:r>
            <a:br>
              <a:rPr lang="en" sz="1200" dirty="0"/>
            </a:br>
            <a:r>
              <a:rPr lang="en" sz="1200" dirty="0"/>
              <a:t>          "scriptSig":"3f3a4ce81...."</a:t>
            </a:r>
            <a:br>
              <a:rPr lang="en" sz="1200" dirty="0"/>
            </a:br>
            <a:r>
              <a:rPr lang="en" sz="1200" dirty="0"/>
              <a:t>        }</a:t>
            </a:r>
            <a:br>
              <a:rPr lang="en" sz="1200" dirty="0"/>
            </a:br>
            <a:r>
              <a:rPr lang="en" sz="1200" dirty="0"/>
              <a:t>      ],</a:t>
            </a:r>
            <a:br>
              <a:rPr lang="en" sz="1200" dirty="0"/>
            </a:br>
            <a:r>
              <a:rPr lang="en" sz="1200" dirty="0"/>
              <a:t>      "out":[</a:t>
            </a:r>
            <a:br>
              <a:rPr lang="en" sz="1200" dirty="0"/>
            </a:br>
            <a:r>
              <a:rPr lang="en" sz="1200" dirty="0"/>
              <a:t>        {</a:t>
            </a:r>
            <a:br>
              <a:rPr lang="en" sz="1200" dirty="0"/>
            </a:br>
            <a:r>
              <a:rPr lang="en" sz="1200" dirty="0"/>
              <a:t>          "value":"10.12287097",</a:t>
            </a:r>
            <a:br>
              <a:rPr lang="en" sz="1200" dirty="0"/>
            </a:br>
            <a:r>
              <a:rPr lang="en" sz="1200" dirty="0"/>
              <a:t>          "scriptPubKey":"OP_DUP OP_HASH160 69e02e18b5705a05dd6b28ed517716c894b3d42e OP_EQUALVERIFY OP_CHECKSIG"</a:t>
            </a:r>
            <a:br>
              <a:rPr lang="en" sz="1200" dirty="0"/>
            </a:br>
            <a:r>
              <a:rPr lang="en" sz="1200" dirty="0"/>
              <a:t>        }</a:t>
            </a:r>
            <a:br>
              <a:rPr lang="en" sz="1200" dirty="0"/>
            </a:br>
            <a:r>
              <a:rPr lang="en" sz="1200" dirty="0"/>
              <a:t>      ]</a:t>
            </a:r>
            <a:endParaRPr sz="1200" dirty="0"/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1200" dirty="0"/>
              <a:t>}</a:t>
            </a:r>
            <a:endParaRPr sz="1200" dirty="0"/>
          </a:p>
          <a:p>
            <a:pPr marL="0" indent="0">
              <a:buNone/>
            </a:pPr>
            <a:endParaRPr sz="1200" dirty="0"/>
          </a:p>
        </p:txBody>
      </p:sp>
      <p:sp>
        <p:nvSpPr>
          <p:cNvPr id="126" name="Google Shape;126;p15"/>
          <p:cNvSpPr/>
          <p:nvPr/>
        </p:nvSpPr>
        <p:spPr>
          <a:xfrm>
            <a:off x="2351733" y="1545767"/>
            <a:ext cx="368000" cy="10060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7" name="Google Shape;127;p15"/>
          <p:cNvSpPr/>
          <p:nvPr/>
        </p:nvSpPr>
        <p:spPr>
          <a:xfrm>
            <a:off x="2351733" y="2681367"/>
            <a:ext cx="368000" cy="27656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8" name="Google Shape;128;p15"/>
          <p:cNvSpPr/>
          <p:nvPr/>
        </p:nvSpPr>
        <p:spPr>
          <a:xfrm>
            <a:off x="2351733" y="5576567"/>
            <a:ext cx="368000" cy="11432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9" name="Google Shape;129;p15"/>
          <p:cNvSpPr txBox="1"/>
          <p:nvPr/>
        </p:nvSpPr>
        <p:spPr>
          <a:xfrm>
            <a:off x="374067" y="3781967"/>
            <a:ext cx="1564400" cy="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input(s)</a:t>
            </a:r>
            <a:endParaRPr sz="2400"/>
          </a:p>
        </p:txBody>
      </p:sp>
      <p:sp>
        <p:nvSpPr>
          <p:cNvPr id="130" name="Google Shape;130;p15"/>
          <p:cNvSpPr txBox="1"/>
          <p:nvPr/>
        </p:nvSpPr>
        <p:spPr>
          <a:xfrm>
            <a:off x="374067" y="1859433"/>
            <a:ext cx="1564400" cy="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metadata</a:t>
            </a:r>
            <a:endParaRPr sz="2400"/>
          </a:p>
        </p:txBody>
      </p:sp>
      <p:sp>
        <p:nvSpPr>
          <p:cNvPr id="131" name="Google Shape;131;p15"/>
          <p:cNvSpPr txBox="1"/>
          <p:nvPr/>
        </p:nvSpPr>
        <p:spPr>
          <a:xfrm>
            <a:off x="374067" y="5743100"/>
            <a:ext cx="1564400" cy="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output(s)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4944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/>
              <a:t>The real deal: transaction metadata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7" name="Google Shape;137;p16"/>
          <p:cNvSpPr txBox="1">
            <a:spLocks noGrp="1"/>
          </p:cNvSpPr>
          <p:nvPr>
            <p:ph type="body" idx="1"/>
          </p:nvPr>
        </p:nvSpPr>
        <p:spPr>
          <a:xfrm>
            <a:off x="2781100" y="1133967"/>
            <a:ext cx="10972800" cy="552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" sz="3200"/>
              <a:t>{</a:t>
            </a:r>
            <a:br>
              <a:rPr lang="en" sz="3200"/>
            </a:br>
            <a:r>
              <a:rPr lang="en" sz="3200"/>
              <a:t>    "hash":"5a42590...b8b6b",</a:t>
            </a:r>
            <a:br>
              <a:rPr lang="en" sz="3200"/>
            </a:br>
            <a:r>
              <a:rPr lang="en" sz="3200"/>
              <a:t>      "ver":1,</a:t>
            </a:r>
            <a:br>
              <a:rPr lang="en" sz="3200"/>
            </a:br>
            <a:r>
              <a:rPr lang="en" sz="3200"/>
              <a:t>      "vin_sz":2,</a:t>
            </a:r>
            <a:br>
              <a:rPr lang="en" sz="3200"/>
            </a:br>
            <a:r>
              <a:rPr lang="en" sz="3200"/>
              <a:t>      "vout_sz":1,</a:t>
            </a:r>
            <a:br>
              <a:rPr lang="en" sz="3200"/>
            </a:br>
            <a:r>
              <a:rPr lang="en" sz="3200"/>
              <a:t>      "lock_time":0,</a:t>
            </a:r>
            <a:br>
              <a:rPr lang="en" sz="3200"/>
            </a:br>
            <a:r>
              <a:rPr lang="en" sz="3200"/>
              <a:t>      "size":404,</a:t>
            </a:r>
            <a:endParaRPr sz="3200"/>
          </a:p>
          <a:p>
            <a:pPr marL="0" indent="0">
              <a:buNone/>
            </a:pPr>
            <a:r>
              <a:rPr lang="en" sz="3200"/>
              <a:t>...</a:t>
            </a:r>
            <a:endParaRPr sz="3200"/>
          </a:p>
          <a:p>
            <a:pPr marL="0" indent="0">
              <a:buNone/>
            </a:pPr>
            <a:r>
              <a:rPr lang="en" sz="3200"/>
              <a:t>}</a:t>
            </a:r>
            <a:endParaRPr sz="3200"/>
          </a:p>
        </p:txBody>
      </p:sp>
      <p:sp>
        <p:nvSpPr>
          <p:cNvPr id="138" name="Google Shape;138;p16"/>
          <p:cNvSpPr/>
          <p:nvPr/>
        </p:nvSpPr>
        <p:spPr>
          <a:xfrm>
            <a:off x="2351733" y="2423833"/>
            <a:ext cx="429200" cy="12636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74067" y="4235167"/>
            <a:ext cx="1977600" cy="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000000"/>
                </a:solidFill>
                <a:cs typeface="Arial"/>
                <a:sym typeface="Arial"/>
              </a:rPr>
              <a:t>housekeeping</a:t>
            </a: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373967" y="2773433"/>
            <a:ext cx="1977600" cy="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000000"/>
                </a:solidFill>
                <a:cs typeface="Arial"/>
                <a:sym typeface="Arial"/>
              </a:rPr>
              <a:t>housekeeping</a:t>
            </a: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413100" y="4346367"/>
            <a:ext cx="368000" cy="3420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307367" y="1813433"/>
            <a:ext cx="2105600" cy="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000000"/>
                </a:solidFill>
                <a:cs typeface="Arial"/>
                <a:sym typeface="Arial"/>
              </a:rPr>
              <a:t>transaction hash</a:t>
            </a: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2346400" y="1924633"/>
            <a:ext cx="368000" cy="3420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374067" y="3734700"/>
            <a:ext cx="2105600" cy="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000000"/>
                </a:solidFill>
                <a:cs typeface="Arial"/>
                <a:sym typeface="Arial"/>
              </a:rPr>
              <a:t>“not valid before”</a:t>
            </a: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413100" y="3845900"/>
            <a:ext cx="368000" cy="3420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404067" y="3715100"/>
            <a:ext cx="2527200" cy="603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000000"/>
                </a:solidFill>
                <a:cs typeface="Arial"/>
                <a:sym typeface="Arial"/>
              </a:rPr>
              <a:t>more on this later...</a:t>
            </a: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399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799" indent="0">
              <a:buNone/>
            </a:pPr>
            <a:r>
              <a:rPr lang="en-IN" dirty="0"/>
              <a:t>Transaction </a:t>
            </a:r>
            <a:r>
              <a:rPr lang="en-IN" dirty="0" smtClean="0"/>
              <a:t>output </a:t>
            </a:r>
            <a:r>
              <a:rPr lang="en-IN" dirty="0"/>
              <a:t>data structure</a:t>
            </a:r>
            <a:r>
              <a:rPr lang="en-IN" dirty="0" smtClean="0"/>
              <a:t>:</a:t>
            </a:r>
          </a:p>
          <a:p>
            <a:pPr marL="50799" indent="0">
              <a:buNone/>
            </a:pPr>
            <a:endParaRPr lang="en-IN" dirty="0"/>
          </a:p>
          <a:p>
            <a:pPr marL="50799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137" y="2581274"/>
            <a:ext cx="8653463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0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09800"/>
            <a:ext cx="9525000" cy="40386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799" indent="0">
              <a:buNone/>
            </a:pPr>
            <a:r>
              <a:rPr lang="en-IN" dirty="0" smtClean="0"/>
              <a:t>Transaction input data structure: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66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/>
              <a:t>The real deal: transaction inputs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1"/>
          </p:nvPr>
        </p:nvSpPr>
        <p:spPr>
          <a:xfrm>
            <a:off x="2658433" y="1472200"/>
            <a:ext cx="10972800" cy="549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" sz="2667"/>
              <a:t>      "in":[</a:t>
            </a:r>
            <a:br>
              <a:rPr lang="en" sz="2667"/>
            </a:br>
            <a:r>
              <a:rPr lang="en" sz="2667"/>
              <a:t>        {</a:t>
            </a:r>
            <a:br>
              <a:rPr lang="en" sz="2667"/>
            </a:br>
            <a:r>
              <a:rPr lang="en" sz="2667"/>
              <a:t>          "prev_out":{</a:t>
            </a:r>
            <a:br>
              <a:rPr lang="en" sz="2667"/>
            </a:br>
            <a:r>
              <a:rPr lang="en" sz="2667"/>
              <a:t>            "hash":"3be4...80260",</a:t>
            </a:r>
            <a:br>
              <a:rPr lang="en" sz="2667"/>
            </a:br>
            <a:r>
              <a:rPr lang="en" sz="2667"/>
              <a:t>            "n":0</a:t>
            </a:r>
            <a:br>
              <a:rPr lang="en" sz="2667"/>
            </a:br>
            <a:r>
              <a:rPr lang="en" sz="2667"/>
              <a:t>          }, </a:t>
            </a:r>
            <a:endParaRPr sz="2667"/>
          </a:p>
          <a:p>
            <a:pPr marL="0" indent="609585">
              <a:buNone/>
            </a:pPr>
            <a:r>
              <a:rPr lang="en" sz="2667"/>
              <a:t>"scriptSig":"30440....3f3a4ce81"</a:t>
            </a:r>
            <a:br>
              <a:rPr lang="en" sz="2667"/>
            </a:br>
            <a:r>
              <a:rPr lang="en" sz="2667"/>
              <a:t>        },</a:t>
            </a:r>
            <a:br>
              <a:rPr lang="en" sz="2667"/>
            </a:br>
            <a:r>
              <a:rPr lang="en" sz="2667"/>
              <a:t>      ... </a:t>
            </a:r>
            <a:endParaRPr sz="2667"/>
          </a:p>
          <a:p>
            <a:pPr marL="0" indent="0">
              <a:buNone/>
            </a:pPr>
            <a:r>
              <a:rPr lang="en" sz="2667"/>
              <a:t>      ],</a:t>
            </a:r>
            <a:endParaRPr sz="2667"/>
          </a:p>
        </p:txBody>
      </p:sp>
      <p:sp>
        <p:nvSpPr>
          <p:cNvPr id="153" name="Google Shape;153;p17"/>
          <p:cNvSpPr/>
          <p:nvPr/>
        </p:nvSpPr>
        <p:spPr>
          <a:xfrm>
            <a:off x="2462133" y="2681367"/>
            <a:ext cx="368000" cy="10060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2489733" y="4148633"/>
            <a:ext cx="312800" cy="4536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2517333" y="5063500"/>
            <a:ext cx="257600" cy="5644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374067" y="4093233"/>
            <a:ext cx="1564400" cy="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000000"/>
                </a:solidFill>
                <a:cs typeface="Arial"/>
                <a:sym typeface="Arial"/>
              </a:rPr>
              <a:t>signature</a:t>
            </a: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374067" y="2681367"/>
            <a:ext cx="1564400" cy="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000000"/>
                </a:solidFill>
                <a:cs typeface="Arial"/>
                <a:sym typeface="Arial"/>
              </a:rPr>
              <a:t>previous</a:t>
            </a: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000000"/>
                </a:solidFill>
                <a:cs typeface="Arial"/>
                <a:sym typeface="Arial"/>
              </a:rPr>
              <a:t>transaction</a:t>
            </a: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374067" y="5063500"/>
            <a:ext cx="1772800" cy="6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000000"/>
                </a:solidFill>
                <a:cs typeface="Arial"/>
                <a:sym typeface="Arial"/>
              </a:rPr>
              <a:t>(more inputs)</a:t>
            </a: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396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81000"/>
            <a:ext cx="5181600" cy="5795963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Example </a:t>
            </a:r>
            <a:r>
              <a:rPr lang="en-IN" dirty="0"/>
              <a:t>to illustrate the concept of UTXO:</a:t>
            </a:r>
          </a:p>
          <a:p>
            <a:pPr marL="0" indent="0">
              <a:buNone/>
            </a:pPr>
            <a:r>
              <a:rPr lang="en-IN" dirty="0"/>
              <a:t>Let's say Alice has 10 </a:t>
            </a:r>
            <a:r>
              <a:rPr lang="en-IN" dirty="0" err="1"/>
              <a:t>bitcoins</a:t>
            </a:r>
            <a:r>
              <a:rPr lang="en-IN" dirty="0"/>
              <a:t> in her wallet, and she wants to send 2 </a:t>
            </a:r>
            <a:r>
              <a:rPr lang="en-IN" dirty="0" err="1"/>
              <a:t>bitcoins</a:t>
            </a:r>
            <a:r>
              <a:rPr lang="en-IN" dirty="0"/>
              <a:t> to Bob.</a:t>
            </a:r>
          </a:p>
          <a:p>
            <a:pPr marL="0" indent="0">
              <a:buNone/>
            </a:pPr>
            <a:r>
              <a:rPr lang="en-IN" b="1" dirty="0"/>
              <a:t>Initial State</a:t>
            </a:r>
          </a:p>
          <a:p>
            <a:r>
              <a:rPr lang="en-IN" dirty="0"/>
              <a:t> </a:t>
            </a:r>
            <a:r>
              <a:rPr lang="en-IN" dirty="0" smtClean="0"/>
              <a:t> Alice's </a:t>
            </a:r>
            <a:r>
              <a:rPr lang="en-IN" dirty="0"/>
              <a:t>wallet contains: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smtClean="0"/>
              <a:t> - </a:t>
            </a:r>
            <a:r>
              <a:rPr lang="en-IN" dirty="0"/>
              <a:t>UTXO1: 10 </a:t>
            </a:r>
            <a:r>
              <a:rPr lang="en-IN" dirty="0" err="1"/>
              <a:t>bitcoins</a:t>
            </a:r>
            <a:r>
              <a:rPr lang="en-IN" dirty="0"/>
              <a:t> (from a previous transaction)</a:t>
            </a:r>
          </a:p>
          <a:p>
            <a:pPr marL="0" indent="0">
              <a:buNone/>
            </a:pPr>
            <a:r>
              <a:rPr lang="en-IN" b="1" dirty="0"/>
              <a:t>Transaction</a:t>
            </a:r>
          </a:p>
          <a:p>
            <a:r>
              <a:rPr lang="en-IN" dirty="0" smtClean="0"/>
              <a:t>Alice </a:t>
            </a:r>
            <a:r>
              <a:rPr lang="en-IN" dirty="0"/>
              <a:t>creates a transaction to send 2 </a:t>
            </a:r>
            <a:r>
              <a:rPr lang="en-IN" dirty="0" err="1"/>
              <a:t>bitcoins</a:t>
            </a:r>
            <a:r>
              <a:rPr lang="en-IN" dirty="0"/>
              <a:t> to Bob: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</a:t>
            </a:r>
            <a:r>
              <a:rPr lang="en-IN" dirty="0"/>
              <a:t>- Input: UTXO1 (10 </a:t>
            </a:r>
            <a:r>
              <a:rPr lang="en-IN" dirty="0" err="1"/>
              <a:t>bitcoins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</a:t>
            </a:r>
            <a:r>
              <a:rPr lang="en-IN" dirty="0"/>
              <a:t>- Output1: 2 </a:t>
            </a:r>
            <a:r>
              <a:rPr lang="en-IN" dirty="0" err="1"/>
              <a:t>bitcoins</a:t>
            </a:r>
            <a:r>
              <a:rPr lang="en-IN" dirty="0"/>
              <a:t> to Bob's address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</a:t>
            </a:r>
            <a:r>
              <a:rPr lang="en-IN" dirty="0"/>
              <a:t>- Output2: 8 </a:t>
            </a:r>
            <a:r>
              <a:rPr lang="en-IN" dirty="0" err="1"/>
              <a:t>bitcoins</a:t>
            </a:r>
            <a:r>
              <a:rPr lang="en-IN" dirty="0"/>
              <a:t> back to Alice's address (change)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9176" y="381000"/>
            <a:ext cx="5181600" cy="55268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New </a:t>
            </a:r>
            <a:r>
              <a:rPr lang="en-IN" b="1" dirty="0"/>
              <a:t>State</a:t>
            </a:r>
          </a:p>
          <a:p>
            <a:r>
              <a:rPr lang="en-IN" dirty="0" smtClean="0"/>
              <a:t> </a:t>
            </a:r>
            <a:r>
              <a:rPr lang="en-IN" dirty="0"/>
              <a:t>Alice's wallet contains:</a:t>
            </a:r>
          </a:p>
          <a:p>
            <a:pPr marL="0" indent="0">
              <a:buNone/>
            </a:pPr>
            <a:r>
              <a:rPr lang="en-IN" dirty="0" smtClean="0"/>
              <a:t>     </a:t>
            </a:r>
            <a:r>
              <a:rPr lang="en-IN" dirty="0"/>
              <a:t>- UTXO2: 8 </a:t>
            </a:r>
            <a:r>
              <a:rPr lang="en-IN" dirty="0" err="1"/>
              <a:t>bitcoins</a:t>
            </a:r>
            <a:r>
              <a:rPr lang="en-IN" dirty="0"/>
              <a:t> (change from the transaction)</a:t>
            </a:r>
          </a:p>
          <a:p>
            <a:r>
              <a:rPr lang="en-IN" dirty="0" smtClean="0"/>
              <a:t>Bob's </a:t>
            </a:r>
            <a:r>
              <a:rPr lang="en-IN" dirty="0"/>
              <a:t>wallet contains</a:t>
            </a:r>
            <a:r>
              <a:rPr lang="en-IN" dirty="0" smtClean="0"/>
              <a:t>: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</a:t>
            </a:r>
            <a:r>
              <a:rPr lang="en-IN" dirty="0"/>
              <a:t>- UTXO3: 2 </a:t>
            </a:r>
            <a:r>
              <a:rPr lang="en-IN" dirty="0" err="1"/>
              <a:t>bitcoins</a:t>
            </a:r>
            <a:r>
              <a:rPr lang="en-IN" dirty="0"/>
              <a:t> (received from Alice)</a:t>
            </a:r>
          </a:p>
          <a:p>
            <a:pPr marL="0" indent="0">
              <a:buNone/>
            </a:pPr>
            <a:r>
              <a:rPr lang="en-IN" b="1" dirty="0"/>
              <a:t>In this example</a:t>
            </a:r>
            <a:r>
              <a:rPr lang="en-IN" b="1" dirty="0" smtClean="0"/>
              <a:t>:</a:t>
            </a:r>
          </a:p>
          <a:p>
            <a:pPr>
              <a:buFontTx/>
              <a:buChar char="-"/>
            </a:pPr>
            <a:r>
              <a:rPr lang="en-IN" dirty="0" smtClean="0"/>
              <a:t>UTXO1 </a:t>
            </a:r>
            <a:r>
              <a:rPr lang="en-IN" dirty="0"/>
              <a:t>is spent and marked as </a:t>
            </a:r>
            <a:r>
              <a:rPr lang="en-IN" dirty="0" smtClean="0"/>
              <a:t>spent</a:t>
            </a:r>
          </a:p>
          <a:p>
            <a:pPr>
              <a:buFontTx/>
              <a:buChar char="-"/>
            </a:pPr>
            <a:r>
              <a:rPr lang="en-IN" dirty="0" smtClean="0"/>
              <a:t> </a:t>
            </a:r>
            <a:r>
              <a:rPr lang="en-IN" dirty="0"/>
              <a:t>UTXO2 is created and available for Alice to </a:t>
            </a:r>
            <a:r>
              <a:rPr lang="en-IN" dirty="0" smtClean="0"/>
              <a:t>spend</a:t>
            </a:r>
          </a:p>
          <a:p>
            <a:pPr>
              <a:buFontTx/>
              <a:buChar char="-"/>
            </a:pPr>
            <a:r>
              <a:rPr lang="en-IN" dirty="0" smtClean="0"/>
              <a:t> </a:t>
            </a:r>
            <a:r>
              <a:rPr lang="en-IN" dirty="0"/>
              <a:t>UTXO3 is created and available for Bob to spend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01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>
            <a:spLocks noGrp="1"/>
          </p:cNvSpPr>
          <p:nvPr>
            <p:ph type="title"/>
          </p:nvPr>
        </p:nvSpPr>
        <p:spPr>
          <a:xfrm>
            <a:off x="609600" y="274633"/>
            <a:ext cx="11266000" cy="1143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/>
              <a:t>Input/Output  </a:t>
            </a:r>
            <a:r>
              <a:rPr lang="en" dirty="0"/>
              <a:t>“addresses” are really </a:t>
            </a:r>
            <a:r>
              <a:rPr lang="en" i="1" dirty="0"/>
              <a:t>scripts</a:t>
            </a: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134600" y="3880533"/>
            <a:ext cx="9458800" cy="2245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32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OP_DUP</a:t>
            </a:r>
            <a:endParaRPr sz="32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32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OP_HASH160</a:t>
            </a:r>
            <a:endParaRPr sz="32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32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69e02e18...</a:t>
            </a:r>
            <a:endParaRPr sz="32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32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OP_EQUALVERIFY OP_CHECKSIG</a:t>
            </a:r>
            <a:endParaRPr sz="32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2134600" y="1634933"/>
            <a:ext cx="9458800" cy="22456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32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30440220...</a:t>
            </a:r>
            <a:endParaRPr sz="32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32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0467d2c9...</a:t>
            </a:r>
            <a:endParaRPr sz="32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1517467" y="1724433"/>
            <a:ext cx="494400" cy="21560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1517467" y="3970133"/>
            <a:ext cx="494400" cy="21560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159533" y="2520233"/>
            <a:ext cx="1235200" cy="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000000"/>
                </a:solidFill>
                <a:cs typeface="Arial"/>
                <a:sym typeface="Arial"/>
              </a:rPr>
              <a:t>scriptSig</a:t>
            </a: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0" y="4721133"/>
            <a:ext cx="1778800" cy="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000000"/>
                </a:solidFill>
                <a:cs typeface="Arial"/>
                <a:sym typeface="Arial"/>
              </a:rPr>
              <a:t>scriptPubKey</a:t>
            </a: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637700" y="6223233"/>
            <a:ext cx="8354800" cy="564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b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TO VERIFY</a:t>
            </a:r>
            <a:r>
              <a:rPr lang="en" sz="1867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Concatenated script must execute completely with no errors</a:t>
            </a:r>
            <a:endParaRPr sz="1867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8431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>
            <a:spLocks noGrp="1"/>
          </p:cNvSpPr>
          <p:nvPr>
            <p:ph type="title"/>
          </p:nvPr>
        </p:nvSpPr>
        <p:spPr>
          <a:xfrm>
            <a:off x="609600" y="274633"/>
            <a:ext cx="11266000" cy="11432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Bitcoin scripting language (“Script”)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1" name="Google Shape;201;p2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1131200" cy="41904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dirty="0"/>
              <a:t>Design goals</a:t>
            </a:r>
            <a:endParaRPr dirty="0"/>
          </a:p>
          <a:p>
            <a:pPr marL="1219170"/>
            <a:r>
              <a:rPr lang="en" dirty="0"/>
              <a:t>Built for Bitcoin (inspired by Forth)</a:t>
            </a:r>
            <a:endParaRPr dirty="0"/>
          </a:p>
          <a:p>
            <a:pPr marL="1219170">
              <a:spcBef>
                <a:spcPts val="0"/>
              </a:spcBef>
            </a:pPr>
            <a:r>
              <a:rPr lang="en-IN" dirty="0" smtClean="0"/>
              <a:t>Stack-based</a:t>
            </a:r>
          </a:p>
          <a:p>
            <a:pPr marL="1219170">
              <a:spcBef>
                <a:spcPts val="0"/>
              </a:spcBef>
            </a:pPr>
            <a:r>
              <a:rPr lang="en-IN" dirty="0"/>
              <a:t>non Turing </a:t>
            </a:r>
            <a:r>
              <a:rPr lang="en-IN" dirty="0" smtClean="0"/>
              <a:t>complete</a:t>
            </a:r>
          </a:p>
          <a:p>
            <a:pPr marL="1219170">
              <a:spcBef>
                <a:spcPts val="0"/>
              </a:spcBef>
            </a:pPr>
            <a:r>
              <a:rPr lang="en-IN" dirty="0"/>
              <a:t>Reverse Polish Notation (RPN): </a:t>
            </a:r>
            <a:endParaRPr lang="en-IN" dirty="0" smtClean="0"/>
          </a:p>
          <a:p>
            <a:pPr marL="1219170">
              <a:spcBef>
                <a:spcPts val="0"/>
              </a:spcBef>
            </a:pPr>
            <a:r>
              <a:rPr lang="en-IN" dirty="0"/>
              <a:t>with two types of instructions</a:t>
            </a:r>
          </a:p>
          <a:p>
            <a:pPr marL="1219170">
              <a:spcBef>
                <a:spcPts val="0"/>
              </a:spcBef>
            </a:pPr>
            <a:r>
              <a:rPr lang="en" dirty="0" smtClean="0"/>
              <a:t>Support </a:t>
            </a:r>
            <a:r>
              <a:rPr lang="en" dirty="0"/>
              <a:t>for </a:t>
            </a:r>
            <a:r>
              <a:rPr lang="en" dirty="0" smtClean="0"/>
              <a:t>cryptography</a:t>
            </a:r>
            <a:endParaRPr dirty="0"/>
          </a:p>
        </p:txBody>
      </p:sp>
      <p:sp>
        <p:nvSpPr>
          <p:cNvPr id="202" name="Google Shape;202;p22"/>
          <p:cNvSpPr txBox="1"/>
          <p:nvPr/>
        </p:nvSpPr>
        <p:spPr>
          <a:xfrm>
            <a:off x="9631900" y="6483784"/>
            <a:ext cx="2362400" cy="4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333"/>
              <a:t>image via Jessie St. Amand</a:t>
            </a:r>
            <a:endParaRPr sz="1333"/>
          </a:p>
        </p:txBody>
      </p:sp>
      <p:pic>
        <p:nvPicPr>
          <p:cNvPr id="204" name="Google Shape;2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4433" y="6537068"/>
            <a:ext cx="857467" cy="298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544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Bitcoin script instructions</a:t>
            </a:r>
            <a:endParaRPr i="1"/>
          </a:p>
        </p:txBody>
      </p:sp>
      <p:sp>
        <p:nvSpPr>
          <p:cNvPr id="231" name="Google Shape;231;p2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1131200" cy="48652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dirty="0"/>
              <a:t>256 opcodes total (15 disabled, 75 reserved)</a:t>
            </a:r>
            <a:endParaRPr dirty="0"/>
          </a:p>
          <a:p>
            <a:pPr marL="1219170"/>
            <a:r>
              <a:rPr lang="en" dirty="0"/>
              <a:t>Arithmetic</a:t>
            </a:r>
            <a:endParaRPr dirty="0"/>
          </a:p>
          <a:p>
            <a:pPr marL="1219170">
              <a:spcBef>
                <a:spcPts val="0"/>
              </a:spcBef>
            </a:pPr>
            <a:r>
              <a:rPr lang="en" dirty="0" smtClean="0"/>
              <a:t>Logic/data </a:t>
            </a:r>
            <a:r>
              <a:rPr lang="en" dirty="0"/>
              <a:t>handling</a:t>
            </a:r>
            <a:endParaRPr dirty="0"/>
          </a:p>
          <a:p>
            <a:pPr marL="1219170">
              <a:spcBef>
                <a:spcPts val="0"/>
              </a:spcBef>
            </a:pPr>
            <a:r>
              <a:rPr lang="en" dirty="0"/>
              <a:t>Crypto!</a:t>
            </a:r>
            <a:endParaRPr dirty="0"/>
          </a:p>
          <a:p>
            <a:pPr marL="2438339" lvl="1"/>
            <a:r>
              <a:rPr lang="en" dirty="0"/>
              <a:t>Hashes</a:t>
            </a:r>
            <a:endParaRPr dirty="0"/>
          </a:p>
          <a:p>
            <a:pPr marL="2438339" lvl="1"/>
            <a:r>
              <a:rPr lang="en" dirty="0"/>
              <a:t>Signature verification</a:t>
            </a:r>
            <a:endParaRPr dirty="0"/>
          </a:p>
          <a:p>
            <a:pPr marL="2438339" lvl="1"/>
            <a:r>
              <a:rPr lang="en" dirty="0"/>
              <a:t>Multi-signature verification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640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1000"/>
            <a:ext cx="10515600" cy="5795963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Commonly Used </a:t>
            </a:r>
            <a:r>
              <a:rPr lang="en-IN" dirty="0" err="1" smtClean="0"/>
              <a:t>opcodes</a:t>
            </a:r>
            <a:r>
              <a:rPr lang="en-IN" dirty="0" smtClean="0"/>
              <a:t>: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62000"/>
            <a:ext cx="9182100" cy="480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486400"/>
            <a:ext cx="9067800" cy="99373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43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1000"/>
            <a:ext cx="10515600" cy="5795963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Sample transaction: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BCA1-7FC4-4544-A902-24D63B55653B}" type="slidenum">
              <a:rPr lang="en-IN" smtClean="0"/>
              <a:t>18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362200"/>
            <a:ext cx="7086600" cy="2667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95400" y="5334000"/>
            <a:ext cx="9525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 smtClean="0"/>
              <a:t>Note: </a:t>
            </a:r>
            <a:r>
              <a:rPr lang="en-IN" dirty="0" smtClean="0"/>
              <a:t>Transactions </a:t>
            </a:r>
            <a:r>
              <a:rPr lang="en-IN" dirty="0"/>
              <a:t>with </a:t>
            </a:r>
            <a:r>
              <a:rPr lang="en-IN" dirty="0" err="1"/>
              <a:t>locktime</a:t>
            </a:r>
            <a:r>
              <a:rPr lang="en-IN" dirty="0"/>
              <a:t> specifying a future block or time must be held by the originating system and transmitted to the </a:t>
            </a:r>
            <a:r>
              <a:rPr lang="en-IN" dirty="0" err="1"/>
              <a:t>bitcoin</a:t>
            </a:r>
            <a:r>
              <a:rPr lang="en-IN" dirty="0"/>
              <a:t> network only after they become valid. The use of </a:t>
            </a:r>
            <a:r>
              <a:rPr lang="en-IN" dirty="0" err="1"/>
              <a:t>locktime</a:t>
            </a:r>
            <a:r>
              <a:rPr lang="en-IN" dirty="0"/>
              <a:t> is equivalent to postdating a paper check.</a:t>
            </a:r>
          </a:p>
        </p:txBody>
      </p:sp>
    </p:spTree>
    <p:extLst>
      <p:ext uri="{BB962C8B-B14F-4D97-AF65-F5344CB8AC3E}">
        <p14:creationId xmlns:p14="http://schemas.microsoft.com/office/powerpoint/2010/main" val="397003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600" b="1" u="sng" dirty="0" smtClean="0"/>
              <a:t>Conti</a:t>
            </a:r>
            <a:r>
              <a:rPr lang="en-IN" sz="1600" dirty="0" smtClean="0"/>
              <a:t>nues;</a:t>
            </a:r>
            <a:endParaRPr lang="en-IN" sz="16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609600"/>
            <a:ext cx="9677400" cy="58674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BCA1-7FC4-4544-A902-24D63B55653B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69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04801"/>
            <a:ext cx="10972800" cy="626297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Locking Script (</a:t>
            </a:r>
            <a:r>
              <a:rPr lang="en-IN" dirty="0" err="1"/>
              <a:t>ScriptPubKey</a:t>
            </a:r>
            <a:r>
              <a:rPr lang="en-IN" dirty="0" smtClean="0"/>
              <a:t>)</a:t>
            </a:r>
          </a:p>
          <a:p>
            <a:pPr marL="50799" indent="0">
              <a:buNone/>
            </a:pPr>
            <a:r>
              <a:rPr lang="en-IN" dirty="0"/>
              <a:t> </a:t>
            </a:r>
            <a:r>
              <a:rPr lang="en-IN" sz="2400" b="1" dirty="0"/>
              <a:t>Example: OP_DUP </a:t>
            </a:r>
            <a:r>
              <a:rPr lang="en-IN" sz="2400" b="1" dirty="0" smtClean="0"/>
              <a:t>OP_HASH160 </a:t>
            </a:r>
            <a:r>
              <a:rPr lang="en-IN" sz="2400" b="1" dirty="0"/>
              <a:t>&lt;</a:t>
            </a:r>
            <a:r>
              <a:rPr lang="en-IN" sz="2400" b="1" dirty="0" err="1"/>
              <a:t>pubKeyHash</a:t>
            </a:r>
            <a:r>
              <a:rPr lang="en-IN" sz="2400" b="1" dirty="0"/>
              <a:t>&gt; OP_EQUALVERIFY </a:t>
            </a:r>
            <a:r>
              <a:rPr lang="en-IN" sz="2400" b="1" dirty="0" smtClean="0"/>
              <a:t>OP_CHECKSIG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/>
              <a:t>Unlocking </a:t>
            </a:r>
            <a:r>
              <a:rPr lang="en-IN" dirty="0"/>
              <a:t>Script (</a:t>
            </a:r>
            <a:r>
              <a:rPr lang="en-IN" dirty="0" err="1"/>
              <a:t>ScriptSig</a:t>
            </a:r>
            <a:r>
              <a:rPr lang="en-IN" dirty="0" smtClean="0"/>
              <a:t>)</a:t>
            </a:r>
          </a:p>
          <a:p>
            <a:pPr marL="50799" indent="0">
              <a:buNone/>
            </a:pPr>
            <a:r>
              <a:rPr lang="en-IN" b="1" dirty="0"/>
              <a:t> </a:t>
            </a:r>
            <a:r>
              <a:rPr lang="en-IN" b="1" dirty="0" smtClean="0"/>
              <a:t>  Example</a:t>
            </a:r>
            <a:r>
              <a:rPr lang="en-IN" b="1" dirty="0"/>
              <a:t>: &lt;sig&gt; &lt;</a:t>
            </a:r>
            <a:r>
              <a:rPr lang="en-IN" b="1" dirty="0" err="1"/>
              <a:t>pubKey</a:t>
            </a:r>
            <a:r>
              <a:rPr lang="en-IN" b="1" dirty="0" smtClean="0"/>
              <a:t>&gt;</a:t>
            </a:r>
          </a:p>
          <a:p>
            <a:pPr marL="50799" indent="0">
              <a:buNone/>
            </a:pPr>
            <a:r>
              <a:rPr lang="en-IN" b="1" dirty="0"/>
              <a:t>How it </a:t>
            </a:r>
            <a:r>
              <a:rPr lang="en-IN" b="1" dirty="0" smtClean="0"/>
              <a:t>works</a:t>
            </a:r>
          </a:p>
          <a:p>
            <a:pPr marL="50799" indent="0" algn="just">
              <a:buNone/>
            </a:pPr>
            <a:r>
              <a:rPr lang="en-IN" b="1" dirty="0" smtClean="0"/>
              <a:t>   </a:t>
            </a:r>
            <a:r>
              <a:rPr lang="en-IN" dirty="0" smtClean="0"/>
              <a:t>1.The </a:t>
            </a:r>
            <a:r>
              <a:rPr lang="en-IN" dirty="0"/>
              <a:t>locking script is stored in the UTXO and defines the conditions for spending the </a:t>
            </a:r>
            <a:r>
              <a:rPr lang="en-IN" dirty="0" err="1"/>
              <a:t>bitcoins</a:t>
            </a:r>
            <a:r>
              <a:rPr lang="en-IN" dirty="0" smtClean="0"/>
              <a:t>.</a:t>
            </a:r>
          </a:p>
          <a:p>
            <a:pPr marL="50799" indent="0" algn="just">
              <a:buNone/>
            </a:pPr>
            <a:r>
              <a:rPr lang="en-IN" dirty="0" smtClean="0"/>
              <a:t>   2</a:t>
            </a:r>
            <a:r>
              <a:rPr lang="en-IN" dirty="0"/>
              <a:t>. The spender creates an unlocking script that satisfies the conditions of the locking script</a:t>
            </a:r>
            <a:r>
              <a:rPr lang="en-IN" dirty="0" smtClean="0"/>
              <a:t>.</a:t>
            </a:r>
          </a:p>
          <a:p>
            <a:pPr marL="50799" indent="0" algn="just">
              <a:buNone/>
            </a:pPr>
            <a:r>
              <a:rPr lang="en-IN" dirty="0" smtClean="0"/>
              <a:t>  3</a:t>
            </a:r>
            <a:r>
              <a:rPr lang="en-IN" dirty="0"/>
              <a:t>. The unlocking script is combined with the locking script to create a valid transaction</a:t>
            </a:r>
            <a:r>
              <a:rPr lang="en-IN" dirty="0" smtClean="0"/>
              <a:t>.</a:t>
            </a:r>
          </a:p>
          <a:p>
            <a:pPr marL="50799" indent="0" algn="just">
              <a:buNone/>
            </a:pPr>
            <a:r>
              <a:rPr lang="en-IN" dirty="0" smtClean="0"/>
              <a:t>  4</a:t>
            </a:r>
            <a:r>
              <a:rPr lang="en-IN" dirty="0"/>
              <a:t>. The transaction is verified by the network, and if valid, the </a:t>
            </a:r>
            <a:r>
              <a:rPr lang="en-IN" dirty="0" err="1"/>
              <a:t>bitcoins</a:t>
            </a:r>
            <a:r>
              <a:rPr lang="en-IN" dirty="0"/>
              <a:t> are spent.</a:t>
            </a:r>
          </a:p>
        </p:txBody>
      </p:sp>
    </p:spTree>
    <p:extLst>
      <p:ext uri="{BB962C8B-B14F-4D97-AF65-F5344CB8AC3E}">
        <p14:creationId xmlns:p14="http://schemas.microsoft.com/office/powerpoint/2010/main" val="327338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i="1" dirty="0" smtClean="0"/>
              <a:t>The </a:t>
            </a:r>
            <a:r>
              <a:rPr lang="en-IN" i="1" dirty="0"/>
              <a:t>locking script defines the conditions for spending the </a:t>
            </a:r>
            <a:r>
              <a:rPr lang="en-IN" i="1" dirty="0" err="1"/>
              <a:t>bitcoins</a:t>
            </a:r>
            <a:r>
              <a:rPr lang="en-IN" i="1" dirty="0"/>
              <a:t>, and the unlocking script satisfies those conditions to unlock the </a:t>
            </a:r>
            <a:r>
              <a:rPr lang="en-IN" i="1" dirty="0" err="1" smtClean="0"/>
              <a:t>bitcoins</a:t>
            </a:r>
            <a:r>
              <a:rPr lang="en-IN" i="1" dirty="0" smtClean="0"/>
              <a:t>.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84176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381000"/>
            <a:ext cx="5181600" cy="54911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4500" b="1" dirty="0"/>
              <a:t>Types of standard Transaction scripts:</a:t>
            </a:r>
          </a:p>
          <a:p>
            <a:r>
              <a:rPr lang="en-IN" b="1" dirty="0"/>
              <a:t>1. </a:t>
            </a:r>
            <a:r>
              <a:rPr lang="en-IN" sz="3800" b="1" dirty="0"/>
              <a:t>P2PKH (Pay-to-Public-Key-Hash) Script</a:t>
            </a:r>
            <a:r>
              <a:rPr lang="en-IN" sz="3800" dirty="0"/>
              <a:t>:</a:t>
            </a:r>
          </a:p>
          <a:p>
            <a:pPr marL="0" indent="0">
              <a:buNone/>
            </a:pPr>
            <a:r>
              <a:rPr lang="en-IN" sz="3800" dirty="0"/>
              <a:t>OP_DUP OP_HASH160 &lt;</a:t>
            </a:r>
            <a:r>
              <a:rPr lang="en-IN" sz="3800" dirty="0" err="1"/>
              <a:t>pubKeyHash</a:t>
            </a:r>
            <a:r>
              <a:rPr lang="en-IN" sz="3800" dirty="0"/>
              <a:t>&gt; OP_EQUALVERIFY OP_CHECKSIG</a:t>
            </a:r>
          </a:p>
          <a:p>
            <a:pPr marL="0" indent="0">
              <a:buNone/>
            </a:pPr>
            <a:r>
              <a:rPr lang="en-IN" sz="3800" dirty="0"/>
              <a:t>Example:</a:t>
            </a:r>
          </a:p>
          <a:p>
            <a:r>
              <a:rPr lang="en-IN" sz="3800" dirty="0"/>
              <a:t>OP_DUP OP_HASH160 76a914b4736d6f2b3d6f6f6f6f6f6f6f6f6f6f6f6f OP_EQUALVERIFY OP_CHECKSIG</a:t>
            </a:r>
          </a:p>
          <a:p>
            <a:endParaRPr lang="en-IN" sz="3800" dirty="0"/>
          </a:p>
          <a:p>
            <a:pPr algn="just"/>
            <a:r>
              <a:rPr lang="en-IN" sz="3800" dirty="0"/>
              <a:t>This script sends </a:t>
            </a:r>
            <a:r>
              <a:rPr lang="en-IN" sz="3800" dirty="0" err="1"/>
              <a:t>Bitcoins</a:t>
            </a:r>
            <a:r>
              <a:rPr lang="en-IN" sz="3800" dirty="0"/>
              <a:t> to a public key hash, requiring the recipient to provide the corresponding public key and signature to spend the funds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81000"/>
            <a:ext cx="5181600" cy="5795963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1. Public Key Hash: The sender generates a public key hash (address) from the recipient's public key using a one-way cryptographic function (RIPEMD-160 and SHA-256).</a:t>
            </a:r>
          </a:p>
          <a:p>
            <a:r>
              <a:rPr lang="en-IN" dirty="0"/>
              <a:t>2. Script Creation: The sender creates a P2PKH script, which includes:</a:t>
            </a:r>
          </a:p>
          <a:p>
            <a:r>
              <a:rPr lang="en-IN" dirty="0"/>
              <a:t>    - OP_DUP (duplicate top stack element)</a:t>
            </a:r>
          </a:p>
          <a:p>
            <a:r>
              <a:rPr lang="en-IN" dirty="0"/>
              <a:t>    - OP_HASH160 (hash top stack element with RIPEMD-160 and SHA-256)</a:t>
            </a:r>
          </a:p>
          <a:p>
            <a:r>
              <a:rPr lang="en-IN" dirty="0"/>
              <a:t>    - Public Key Hash (address)</a:t>
            </a:r>
          </a:p>
          <a:p>
            <a:r>
              <a:rPr lang="en-IN" dirty="0"/>
              <a:t>    - OP_EQUALVERIFY (check if top two stack elements are equal)</a:t>
            </a:r>
          </a:p>
          <a:p>
            <a:r>
              <a:rPr lang="en-IN" dirty="0"/>
              <a:t>    - OP_CHECKSIG (verify signature)</a:t>
            </a:r>
          </a:p>
          <a:p>
            <a:r>
              <a:rPr lang="en-IN" dirty="0"/>
              <a:t>3. Transaction: The sender creates a transaction with the P2PKH script and signs it with their private key.</a:t>
            </a:r>
          </a:p>
          <a:p>
            <a:r>
              <a:rPr lang="en-IN" dirty="0"/>
              <a:t>4. Verification: The network verifies the transaction by:</a:t>
            </a:r>
          </a:p>
          <a:p>
            <a:r>
              <a:rPr lang="en-IN" dirty="0"/>
              <a:t>    - Hashing the recipient's public key to match the public key hash (address)</a:t>
            </a:r>
          </a:p>
          <a:p>
            <a:r>
              <a:rPr lang="en-IN" dirty="0"/>
              <a:t>    - Checking the signature with the recipient's public key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2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81000"/>
            <a:ext cx="5181600" cy="579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2.P2SH (Pay-to-Script-Hash) Script: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sz="2000" b="1" dirty="0"/>
              <a:t>OP_HASH160 &lt;</a:t>
            </a:r>
            <a:r>
              <a:rPr lang="en-IN" sz="2000" b="1" dirty="0" err="1"/>
              <a:t>scriptHash</a:t>
            </a:r>
            <a:r>
              <a:rPr lang="en-IN" sz="2000" b="1" dirty="0"/>
              <a:t>&gt; OP_EQUAL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/>
              <a:t>    OP_HASH160 51b7b5e8f6f6f6f6f6f6f6f6f6f6f6f6f OP_EQUAL</a:t>
            </a:r>
          </a:p>
          <a:p>
            <a:pPr marL="0" indent="0" algn="just">
              <a:buNone/>
            </a:pPr>
            <a:r>
              <a:rPr lang="en-IN" dirty="0"/>
              <a:t>This script sends </a:t>
            </a:r>
            <a:r>
              <a:rPr lang="en-IN" dirty="0" err="1"/>
              <a:t>Bitcoins</a:t>
            </a:r>
            <a:r>
              <a:rPr lang="en-IN" dirty="0"/>
              <a:t> to a script hash, requiring the recipient to provide the corresponding script and inputs to spend the funds.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81000"/>
            <a:ext cx="5181600" cy="6477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1. Script Creation: The sender creates a P2SH script, which includes:</a:t>
            </a:r>
          </a:p>
          <a:p>
            <a:pPr marL="0" indent="0">
              <a:buNone/>
            </a:pPr>
            <a:r>
              <a:rPr lang="en-IN" dirty="0"/>
              <a:t>    - Redeem script (contains the actual spending conditions)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- OP_HASH160 (hash redeem script with RIPEMD-160 and SHA-256)</a:t>
            </a:r>
          </a:p>
          <a:p>
            <a:pPr marL="0" indent="0">
              <a:buNone/>
            </a:pPr>
            <a:r>
              <a:rPr lang="en-IN" dirty="0"/>
              <a:t>    - Script Hash (address)</a:t>
            </a:r>
          </a:p>
          <a:p>
            <a:pPr marL="0" indent="0">
              <a:buNone/>
            </a:pPr>
            <a:r>
              <a:rPr lang="en-IN" dirty="0"/>
              <a:t>2. Transaction: The sender creates a transaction with the P2SH script and signs it with their private key.</a:t>
            </a:r>
          </a:p>
          <a:p>
            <a:pPr marL="0" indent="0">
              <a:buNone/>
            </a:pPr>
            <a:r>
              <a:rPr lang="en-IN" dirty="0"/>
              <a:t>3. Verification: The network verifies the transaction by:</a:t>
            </a:r>
          </a:p>
          <a:p>
            <a:pPr marL="0" indent="0">
              <a:buNone/>
            </a:pPr>
            <a:r>
              <a:rPr lang="en-IN" dirty="0" smtClean="0"/>
              <a:t>     </a:t>
            </a:r>
            <a:r>
              <a:rPr lang="en-IN" dirty="0"/>
              <a:t>- Hashing the redeem script to match the script hash (address)</a:t>
            </a:r>
          </a:p>
          <a:p>
            <a:pPr marL="0" indent="0">
              <a:buNone/>
            </a:pPr>
            <a:r>
              <a:rPr lang="en-IN" dirty="0" smtClean="0"/>
              <a:t>     </a:t>
            </a:r>
            <a:r>
              <a:rPr lang="en-IN" dirty="0"/>
              <a:t>- Executing the redeem script to check spending conditions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47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Key differences</a:t>
            </a:r>
          </a:p>
          <a:p>
            <a:pPr marL="0" indent="0" algn="just">
              <a:buNone/>
            </a:pPr>
            <a:r>
              <a:rPr lang="en-IN" dirty="0"/>
              <a:t> </a:t>
            </a:r>
            <a:r>
              <a:rPr lang="en-IN" dirty="0" smtClean="0"/>
              <a:t>   </a:t>
            </a:r>
            <a:r>
              <a:rPr lang="en-IN" sz="2400" dirty="0" smtClean="0"/>
              <a:t>- </a:t>
            </a:r>
            <a:r>
              <a:rPr lang="en-IN" sz="2400" dirty="0"/>
              <a:t>Address type: P2PKH uses a public key hash (address), while P2SH uses a script hash (address).</a:t>
            </a:r>
          </a:p>
          <a:p>
            <a:pPr marL="0" indent="0" algn="just">
              <a:buNone/>
            </a:pPr>
            <a:r>
              <a:rPr lang="en-IN" sz="2400" dirty="0" smtClean="0"/>
              <a:t>   - </a:t>
            </a:r>
            <a:r>
              <a:rPr lang="en-IN" sz="2400" dirty="0"/>
              <a:t>Script complexity: P2PKH has a fixed, simple script, while P2SH allows for more complex scripts and smart contracts.</a:t>
            </a:r>
          </a:p>
          <a:p>
            <a:pPr marL="0" indent="0" algn="just">
              <a:buNone/>
            </a:pPr>
            <a:r>
              <a:rPr lang="en-IN" sz="2400" dirty="0" smtClean="0"/>
              <a:t>   - </a:t>
            </a:r>
            <a:r>
              <a:rPr lang="en-IN" sz="2400" dirty="0"/>
              <a:t>Verification: P2PKH verifies a signature, while P2SH executes a redeem script to check spending conditions</a:t>
            </a:r>
            <a:r>
              <a:rPr lang="en-IN" sz="2400" dirty="0" smtClean="0"/>
              <a:t>.</a:t>
            </a:r>
          </a:p>
          <a:p>
            <a:pPr marL="0" indent="0">
              <a:buNone/>
            </a:pPr>
            <a:r>
              <a:rPr lang="en-IN" sz="2400" b="1" dirty="0"/>
              <a:t>Example</a:t>
            </a:r>
          </a:p>
          <a:p>
            <a:pPr marL="0" indent="0" algn="just">
              <a:buNone/>
            </a:pPr>
            <a:r>
              <a:rPr lang="en-IN" sz="2400" dirty="0" smtClean="0"/>
              <a:t>Suppose </a:t>
            </a:r>
            <a:r>
              <a:rPr lang="en-IN" sz="2400" dirty="0"/>
              <a:t>Alice wants to send 1 BTC to Bob's multi-signature wallet, requiring 2-of-3 signatures from Bob, Charlie, and David.</a:t>
            </a:r>
          </a:p>
          <a:p>
            <a:pPr marL="0" indent="0" algn="just">
              <a:buNone/>
            </a:pPr>
            <a:r>
              <a:rPr lang="en-IN" sz="2400" dirty="0"/>
              <a:t> </a:t>
            </a:r>
            <a:r>
              <a:rPr lang="en-IN" sz="2400" dirty="0" smtClean="0"/>
              <a:t>- </a:t>
            </a:r>
            <a:r>
              <a:rPr lang="en-IN" sz="2400" dirty="0"/>
              <a:t>P2PKH: Alice sends 1 BTC to Bob's public key hash (address). Bob can spend the funds alone.</a:t>
            </a:r>
          </a:p>
          <a:p>
            <a:pPr marL="0" indent="0" algn="just">
              <a:buNone/>
            </a:pPr>
            <a:r>
              <a:rPr lang="en-IN" sz="2400" dirty="0"/>
              <a:t>- P2SH: Alice sends 1 BTC to a script hash (address) containing the multi-signature redeem script. The script requires 2 signatures from Bob, Charlie, and David to spend the funds.</a:t>
            </a:r>
          </a:p>
          <a:p>
            <a:pPr marL="0" indent="0" algn="just">
              <a:buNone/>
            </a:pPr>
            <a:endParaRPr lang="en-IN" sz="2400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19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3</a:t>
            </a:r>
            <a:r>
              <a:rPr lang="en-IN" sz="2400" b="1" dirty="0"/>
              <a:t>. </a:t>
            </a:r>
            <a:r>
              <a:rPr lang="en-IN" sz="2400" b="1" dirty="0" err="1"/>
              <a:t>Multisig</a:t>
            </a:r>
            <a:r>
              <a:rPr lang="en-IN" sz="2400" b="1" dirty="0"/>
              <a:t> Script:</a:t>
            </a:r>
          </a:p>
          <a:p>
            <a:pPr marL="0" indent="0">
              <a:buNone/>
            </a:pPr>
            <a:r>
              <a:rPr lang="en-IN" sz="2400" dirty="0" smtClean="0"/>
              <a:t> OP_2 </a:t>
            </a:r>
            <a:r>
              <a:rPr lang="en-IN" sz="2400" dirty="0"/>
              <a:t>&lt;pubKey1&gt; &lt;pubKey2&gt; OP_2 OP_CHECKMULTISIG</a:t>
            </a:r>
          </a:p>
          <a:p>
            <a:pPr marL="0" indent="0">
              <a:buNone/>
            </a:pPr>
            <a:r>
              <a:rPr lang="en-IN" sz="2400" dirty="0" smtClean="0"/>
              <a:t> Example</a:t>
            </a:r>
            <a:r>
              <a:rPr lang="en-IN" sz="2400" dirty="0"/>
              <a:t>:</a:t>
            </a:r>
          </a:p>
          <a:p>
            <a:pPr marL="0" indent="0">
              <a:buNone/>
            </a:pPr>
            <a:r>
              <a:rPr lang="en-IN" sz="2400" dirty="0" smtClean="0"/>
              <a:t> OP_2 </a:t>
            </a:r>
            <a:r>
              <a:rPr lang="en-IN" sz="2400" dirty="0"/>
              <a:t>03f3f3f3f3f3f3f3f3f3f3f3f3f3f3f3f 03f4f4f4f4f4f4f4f4f4f4f4f4f4f4f4 OP_2 OP_CHECKMULTISIG</a:t>
            </a:r>
          </a:p>
          <a:p>
            <a:pPr marL="0" indent="0">
              <a:buNone/>
            </a:pPr>
            <a:r>
              <a:rPr lang="en-IN" sz="2400" dirty="0"/>
              <a:t>This script requires multiple signatures (in this case, 2) to spend the funds</a:t>
            </a:r>
            <a:r>
              <a:rPr lang="en-IN" sz="2400" dirty="0" smtClean="0"/>
              <a:t>.</a:t>
            </a:r>
          </a:p>
          <a:p>
            <a:pPr marL="0" indent="0">
              <a:buNone/>
            </a:pPr>
            <a:r>
              <a:rPr lang="en-IN" sz="2400" b="1" dirty="0"/>
              <a:t>4. Null data/OP-RETURN Script:</a:t>
            </a:r>
          </a:p>
          <a:p>
            <a:pPr marL="0" indent="0">
              <a:buNone/>
            </a:pPr>
            <a:r>
              <a:rPr lang="en-IN" sz="2400" dirty="0"/>
              <a:t> OP_RETURN &lt;data&gt;</a:t>
            </a:r>
          </a:p>
          <a:p>
            <a:pPr marL="0" indent="0">
              <a:buNone/>
            </a:pPr>
            <a:r>
              <a:rPr lang="en-IN" sz="2400" dirty="0"/>
              <a:t>Example:</a:t>
            </a:r>
          </a:p>
          <a:p>
            <a:pPr marL="0" indent="0">
              <a:buNone/>
            </a:pPr>
            <a:r>
              <a:rPr lang="en-IN" sz="2400" dirty="0"/>
              <a:t>  OP_RETURN 6a146f6f6f6f6f6f6f6f6f6f6f6f6f6f</a:t>
            </a:r>
          </a:p>
          <a:p>
            <a:pPr marL="0" indent="0">
              <a:buNone/>
            </a:pPr>
            <a:r>
              <a:rPr lang="en-IN" sz="2400" dirty="0"/>
              <a:t>  This script stores arbitrary data on the </a:t>
            </a:r>
            <a:r>
              <a:rPr lang="en-IN" sz="2400" dirty="0" err="1"/>
              <a:t>blockchain</a:t>
            </a:r>
            <a:r>
              <a:rPr lang="en-IN" sz="2400" dirty="0"/>
              <a:t>, marking the transaction as invalid.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88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Bitcoin script execution example</a:t>
            </a:r>
            <a:endParaRPr i="1"/>
          </a:p>
        </p:txBody>
      </p:sp>
      <p:sp>
        <p:nvSpPr>
          <p:cNvPr id="211" name="Google Shape;211;p23"/>
          <p:cNvSpPr txBox="1"/>
          <p:nvPr/>
        </p:nvSpPr>
        <p:spPr>
          <a:xfrm>
            <a:off x="0" y="5877767"/>
            <a:ext cx="11937200" cy="611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000" b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&lt;sig&gt; &lt;pubKey&gt; OP_DUP OP_HASH160 &lt;pubKeyHash?&gt; OP_EQUALVERIFY OP_CHECKSIG</a:t>
            </a:r>
            <a:endParaRPr sz="2000">
              <a:solidFill>
                <a:prstClr val="black"/>
              </a:solidFill>
            </a:endParaRPr>
          </a:p>
        </p:txBody>
      </p:sp>
      <p:cxnSp>
        <p:nvCxnSpPr>
          <p:cNvPr id="212" name="Google Shape;212;p23"/>
          <p:cNvCxnSpPr/>
          <p:nvPr/>
        </p:nvCxnSpPr>
        <p:spPr>
          <a:xfrm>
            <a:off x="497167" y="5101700"/>
            <a:ext cx="0" cy="6628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1629900" y="5101700"/>
            <a:ext cx="0" cy="6628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3054400" y="5101700"/>
            <a:ext cx="0" cy="6628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23"/>
          <p:cNvCxnSpPr/>
          <p:nvPr/>
        </p:nvCxnSpPr>
        <p:spPr>
          <a:xfrm>
            <a:off x="4440933" y="5101700"/>
            <a:ext cx="0" cy="6628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23"/>
          <p:cNvCxnSpPr/>
          <p:nvPr/>
        </p:nvCxnSpPr>
        <p:spPr>
          <a:xfrm>
            <a:off x="5968600" y="5101700"/>
            <a:ext cx="0" cy="6628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23"/>
          <p:cNvCxnSpPr/>
          <p:nvPr/>
        </p:nvCxnSpPr>
        <p:spPr>
          <a:xfrm>
            <a:off x="8412567" y="5101700"/>
            <a:ext cx="0" cy="6628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218;p23"/>
          <p:cNvCxnSpPr/>
          <p:nvPr/>
        </p:nvCxnSpPr>
        <p:spPr>
          <a:xfrm>
            <a:off x="10734967" y="5101700"/>
            <a:ext cx="0" cy="6628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" name="Google Shape;219;p23"/>
          <p:cNvSpPr/>
          <p:nvPr/>
        </p:nvSpPr>
        <p:spPr>
          <a:xfrm>
            <a:off x="3790400" y="3841667"/>
            <a:ext cx="3789600" cy="632400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3200" b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&lt;sig&gt;</a:t>
            </a:r>
            <a:endParaRPr sz="3200" b="1">
              <a:solidFill>
                <a:prstClr val="black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4844567" y="1334233"/>
            <a:ext cx="1516800" cy="273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12800" b="1">
                <a:solidFill>
                  <a:srgbClr val="274E13"/>
                </a:solidFill>
                <a:highlight>
                  <a:srgbClr val="F9F9F9"/>
                </a:highlight>
              </a:rPr>
              <a:t>✓</a:t>
            </a:r>
            <a:endParaRPr sz="12800" b="1">
              <a:solidFill>
                <a:srgbClr val="274E13"/>
              </a:solidFill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3790400" y="3209267"/>
            <a:ext cx="3789600" cy="632400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3200" b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&lt;pubKey&gt;</a:t>
            </a:r>
            <a:endParaRPr sz="3200" b="1">
              <a:solidFill>
                <a:prstClr val="black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3790400" y="2576867"/>
            <a:ext cx="3789600" cy="632400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3200" b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&lt;pubKey&gt;</a:t>
            </a:r>
            <a:endParaRPr sz="3200" b="1">
              <a:solidFill>
                <a:prstClr val="black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790400" y="1944467"/>
            <a:ext cx="3789600" cy="632400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3200" b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&lt;pubKeyHash?&gt;</a:t>
            </a:r>
            <a:endParaRPr sz="3200" b="1">
              <a:solidFill>
                <a:prstClr val="black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3790400" y="2581633"/>
            <a:ext cx="3789600" cy="632400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3200" b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&lt;pubKeyHash&gt;</a:t>
            </a:r>
            <a:endParaRPr sz="3200" b="1">
              <a:solidFill>
                <a:prstClr val="black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3790400" y="3841667"/>
            <a:ext cx="3789600" cy="632400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3200" b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3200" b="1">
              <a:solidFill>
                <a:prstClr val="black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93438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b="1" dirty="0" smtClean="0"/>
          </a:p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r>
              <a:rPr lang="en-IN" b="1" dirty="0" smtClean="0"/>
              <a:t>Applications of Bitcoin Scripts</a:t>
            </a:r>
            <a:endParaRPr lang="en-IN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109F07-F13A-4551-BD1A-AFA4DB786849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3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Some are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</a:t>
            </a:r>
            <a:r>
              <a:rPr lang="en" dirty="0" smtClean="0"/>
              <a:t>1. Escrow transactions</a:t>
            </a:r>
          </a:p>
          <a:p>
            <a:pPr marL="0" indent="0">
              <a:buNone/>
            </a:pPr>
            <a:r>
              <a:rPr lang="en" dirty="0"/>
              <a:t> </a:t>
            </a:r>
            <a:r>
              <a:rPr lang="en" dirty="0" smtClean="0"/>
              <a:t> 2  . Green addresses</a:t>
            </a:r>
          </a:p>
          <a:p>
            <a:pPr marL="0" indent="0">
              <a:buNone/>
            </a:pPr>
            <a:r>
              <a:rPr lang="en" dirty="0"/>
              <a:t> </a:t>
            </a:r>
            <a:r>
              <a:rPr lang="en" dirty="0" smtClean="0"/>
              <a:t> 3. </a:t>
            </a:r>
            <a:r>
              <a:rPr lang="en" dirty="0"/>
              <a:t>Efficient micro-payments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35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10972800" cy="1265437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dirty="0"/>
              <a:t>Example </a:t>
            </a:r>
            <a:r>
              <a:rPr lang="en" dirty="0" smtClean="0"/>
              <a:t>1:Escrow </a:t>
            </a:r>
            <a:r>
              <a:rPr lang="en" dirty="0"/>
              <a:t>transactions</a:t>
            </a:r>
            <a:endParaRPr i="1" dirty="0"/>
          </a:p>
        </p:txBody>
      </p:sp>
      <p:sp>
        <p:nvSpPr>
          <p:cNvPr id="301" name="Google Shape;301;p32"/>
          <p:cNvSpPr/>
          <p:nvPr/>
        </p:nvSpPr>
        <p:spPr>
          <a:xfrm>
            <a:off x="194217" y="3699000"/>
            <a:ext cx="1901600" cy="1742000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02" name="Google Shape;302;p32"/>
          <p:cNvSpPr/>
          <p:nvPr/>
        </p:nvSpPr>
        <p:spPr>
          <a:xfrm>
            <a:off x="9483051" y="3699000"/>
            <a:ext cx="1901600" cy="1742000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03" name="Google Shape;303;p32"/>
          <p:cNvSpPr/>
          <p:nvPr/>
        </p:nvSpPr>
        <p:spPr>
          <a:xfrm>
            <a:off x="2327867" y="5426200"/>
            <a:ext cx="7155200" cy="13016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b="1">
                <a:latin typeface="Trebuchet MS"/>
                <a:ea typeface="Trebuchet MS"/>
                <a:cs typeface="Trebuchet MS"/>
                <a:sym typeface="Trebuchet MS"/>
              </a:rPr>
              <a:t>PROBLEM:</a:t>
            </a:r>
            <a:r>
              <a:rPr lang="en" sz="2400">
                <a:latin typeface="Trebuchet MS"/>
                <a:ea typeface="Trebuchet MS"/>
                <a:cs typeface="Trebuchet MS"/>
                <a:sym typeface="Trebuchet MS"/>
              </a:rPr>
              <a:t> Alice wants to buy online from Bob. Alice doesn’t want to pay until after Bob ships.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algn="ctr"/>
            <a:r>
              <a:rPr lang="en" sz="2400">
                <a:latin typeface="Trebuchet MS"/>
                <a:ea typeface="Trebuchet MS"/>
                <a:cs typeface="Trebuchet MS"/>
                <a:sym typeface="Trebuchet MS"/>
              </a:rPr>
              <a:t>Bob doesn’t want to ship until after Alice pays.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4" name="Google Shape;304;p32"/>
          <p:cNvSpPr/>
          <p:nvPr/>
        </p:nvSpPr>
        <p:spPr>
          <a:xfrm>
            <a:off x="2526567" y="5426200"/>
            <a:ext cx="6670800" cy="8880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Pay </a:t>
            </a:r>
            <a:r>
              <a:rPr lang="en" sz="24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to 2-of-3 of Alice, Bob, Judy (MULTISIG)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5" name="Google Shape;305;p32"/>
          <p:cNvSpPr txBox="1"/>
          <p:nvPr/>
        </p:nvSpPr>
        <p:spPr>
          <a:xfrm>
            <a:off x="10015251" y="5441000"/>
            <a:ext cx="8372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400"/>
              <a:t>Bob</a:t>
            </a:r>
            <a:endParaRPr sz="2400"/>
          </a:p>
        </p:txBody>
      </p:sp>
      <p:sp>
        <p:nvSpPr>
          <p:cNvPr id="306" name="Google Shape;306;p32"/>
          <p:cNvSpPr txBox="1"/>
          <p:nvPr/>
        </p:nvSpPr>
        <p:spPr>
          <a:xfrm>
            <a:off x="726417" y="5441000"/>
            <a:ext cx="8372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400"/>
              <a:t>Alice</a:t>
            </a:r>
            <a:endParaRPr sz="2400"/>
          </a:p>
        </p:txBody>
      </p:sp>
      <p:sp>
        <p:nvSpPr>
          <p:cNvPr id="307" name="Google Shape;307;p32"/>
          <p:cNvSpPr/>
          <p:nvPr/>
        </p:nvSpPr>
        <p:spPr>
          <a:xfrm>
            <a:off x="966963" y="1237200"/>
            <a:ext cx="1358800" cy="1244800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08" name="Google Shape;308;p32"/>
          <p:cNvSpPr/>
          <p:nvPr/>
        </p:nvSpPr>
        <p:spPr>
          <a:xfrm>
            <a:off x="4922851" y="3530317"/>
            <a:ext cx="1733200" cy="1143200"/>
          </a:xfrm>
          <a:prstGeom prst="cube">
            <a:avLst>
              <a:gd name="adj" fmla="val 25000"/>
            </a:avLst>
          </a:prstGeom>
          <a:solidFill>
            <a:srgbClr val="B45F06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/>
              <a:t>To: Alice</a:t>
            </a:r>
            <a:endParaRPr sz="2400"/>
          </a:p>
          <a:p>
            <a:r>
              <a:rPr lang="en" sz="2400"/>
              <a:t>From: Bob</a:t>
            </a:r>
            <a:endParaRPr sz="2400"/>
          </a:p>
        </p:txBody>
      </p:sp>
      <p:cxnSp>
        <p:nvCxnSpPr>
          <p:cNvPr id="309" name="Google Shape;309;p32"/>
          <p:cNvCxnSpPr/>
          <p:nvPr/>
        </p:nvCxnSpPr>
        <p:spPr>
          <a:xfrm rot="10800000">
            <a:off x="2130733" y="4911833"/>
            <a:ext cx="7279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0" name="Google Shape;310;p32"/>
          <p:cNvSpPr/>
          <p:nvPr/>
        </p:nvSpPr>
        <p:spPr>
          <a:xfrm>
            <a:off x="2555000" y="2222233"/>
            <a:ext cx="6670800" cy="8880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Pay </a:t>
            </a:r>
            <a:r>
              <a:rPr lang="en" sz="24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to Bob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SIGNED(ALICE, BOB)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11" name="Google Shape;311;p32"/>
          <p:cNvCxnSpPr/>
          <p:nvPr/>
        </p:nvCxnSpPr>
        <p:spPr>
          <a:xfrm>
            <a:off x="2971067" y="2876367"/>
            <a:ext cx="284000" cy="2675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2" name="Google Shape;312;p32"/>
          <p:cNvSpPr txBox="1"/>
          <p:nvPr/>
        </p:nvSpPr>
        <p:spPr>
          <a:xfrm>
            <a:off x="3688467" y="1417867"/>
            <a:ext cx="42020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000"/>
              <a:t>(normal case)</a:t>
            </a:r>
            <a:endParaRPr sz="4000"/>
          </a:p>
        </p:txBody>
      </p:sp>
      <p:sp>
        <p:nvSpPr>
          <p:cNvPr id="313" name="Google Shape;313;p32"/>
          <p:cNvSpPr/>
          <p:nvPr/>
        </p:nvSpPr>
        <p:spPr>
          <a:xfrm>
            <a:off x="6478500" y="3936017"/>
            <a:ext cx="177552" cy="331848"/>
          </a:xfrm>
          <a:prstGeom prst="irregularSeal2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4" name="Google Shape;314;p32"/>
          <p:cNvSpPr/>
          <p:nvPr/>
        </p:nvSpPr>
        <p:spPr>
          <a:xfrm rot="4877682">
            <a:off x="5628531" y="3405272"/>
            <a:ext cx="284000" cy="530699"/>
          </a:xfrm>
          <a:prstGeom prst="irregularSeal2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5" name="Google Shape;315;p32"/>
          <p:cNvSpPr/>
          <p:nvPr/>
        </p:nvSpPr>
        <p:spPr>
          <a:xfrm>
            <a:off x="2541633" y="2258584"/>
            <a:ext cx="6670800" cy="888000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Pay </a:t>
            </a:r>
            <a:r>
              <a:rPr lang="en" sz="2400" i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to Alice</a:t>
            </a:r>
            <a:endParaRPr sz="2400" baseline="-250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SIGNED(ALICE, JUDY)</a:t>
            </a:r>
            <a:endParaRPr sz="1333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6" name="Google Shape;316;p32"/>
          <p:cNvSpPr txBox="1"/>
          <p:nvPr/>
        </p:nvSpPr>
        <p:spPr>
          <a:xfrm>
            <a:off x="3667446" y="1081301"/>
            <a:ext cx="42020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000" dirty="0"/>
              <a:t>(disputed case)</a:t>
            </a:r>
            <a:endParaRPr sz="4000" dirty="0"/>
          </a:p>
        </p:txBody>
      </p:sp>
      <p:sp>
        <p:nvSpPr>
          <p:cNvPr id="317" name="Google Shape;317;p32"/>
          <p:cNvSpPr txBox="1"/>
          <p:nvPr/>
        </p:nvSpPr>
        <p:spPr>
          <a:xfrm>
            <a:off x="1151351" y="2451433"/>
            <a:ext cx="8372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400"/>
              <a:t>Judy</a:t>
            </a:r>
            <a:endParaRPr sz="2400"/>
          </a:p>
        </p:txBody>
      </p:sp>
      <p:pic>
        <p:nvPicPr>
          <p:cNvPr id="318" name="Google Shape;31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000" y="875234"/>
            <a:ext cx="1733067" cy="24524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614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\Example:</a:t>
            </a:r>
          </a:p>
          <a:p>
            <a:pPr marL="50799" indent="0">
              <a:buNone/>
            </a:pPr>
            <a:r>
              <a:rPr lang="en-IN" dirty="0"/>
              <a:t>OP_2 &lt;Alice's </a:t>
            </a:r>
            <a:r>
              <a:rPr lang="en-IN" dirty="0" err="1"/>
              <a:t>pubkey</a:t>
            </a:r>
            <a:r>
              <a:rPr lang="en-IN" dirty="0"/>
              <a:t>&gt; &lt;Bob's </a:t>
            </a:r>
            <a:r>
              <a:rPr lang="en-IN" dirty="0" err="1"/>
              <a:t>pubkey</a:t>
            </a:r>
            <a:r>
              <a:rPr lang="en-IN" dirty="0"/>
              <a:t>&gt; &lt;Escrow Agent's </a:t>
            </a:r>
            <a:r>
              <a:rPr lang="en-IN" dirty="0" err="1"/>
              <a:t>pubkey</a:t>
            </a:r>
            <a:r>
              <a:rPr lang="en-IN" dirty="0"/>
              <a:t>&gt; OP_3 OP_CHECKMULTISIG</a:t>
            </a:r>
          </a:p>
        </p:txBody>
      </p:sp>
    </p:spTree>
    <p:extLst>
      <p:ext uri="{BB962C8B-B14F-4D97-AF65-F5344CB8AC3E}">
        <p14:creationId xmlns:p14="http://schemas.microsoft.com/office/powerpoint/2010/main" val="398768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/>
          <p:nvPr/>
        </p:nvSpPr>
        <p:spPr>
          <a:xfrm>
            <a:off x="9398500" y="3338000"/>
            <a:ext cx="2237200" cy="26040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24" name="Google Shape;324;p3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dirty="0"/>
              <a:t>Example </a:t>
            </a:r>
            <a:r>
              <a:rPr lang="en" dirty="0" smtClean="0"/>
              <a:t>2 </a:t>
            </a:r>
            <a:r>
              <a:rPr lang="en" dirty="0"/>
              <a:t>: </a:t>
            </a:r>
            <a:r>
              <a:rPr lang="en" dirty="0">
                <a:hlinkClick r:id="rId3" action="ppaction://hlinkpres?slideindex=1&amp;slidetitle="/>
              </a:rPr>
              <a:t>Green addresses</a:t>
            </a:r>
            <a:endParaRPr i="1" dirty="0"/>
          </a:p>
        </p:txBody>
      </p:sp>
      <p:sp>
        <p:nvSpPr>
          <p:cNvPr id="325" name="Google Shape;325;p33"/>
          <p:cNvSpPr/>
          <p:nvPr/>
        </p:nvSpPr>
        <p:spPr>
          <a:xfrm>
            <a:off x="194217" y="3699000"/>
            <a:ext cx="1901600" cy="1742000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26" name="Google Shape;326;p33"/>
          <p:cNvSpPr txBox="1"/>
          <p:nvPr/>
        </p:nvSpPr>
        <p:spPr>
          <a:xfrm>
            <a:off x="726417" y="5441000"/>
            <a:ext cx="8372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400"/>
              <a:t>Alice</a:t>
            </a:r>
            <a:endParaRPr sz="2400"/>
          </a:p>
        </p:txBody>
      </p:sp>
      <p:sp>
        <p:nvSpPr>
          <p:cNvPr id="327" name="Google Shape;327;p33"/>
          <p:cNvSpPr/>
          <p:nvPr/>
        </p:nvSpPr>
        <p:spPr>
          <a:xfrm>
            <a:off x="9483051" y="3699000"/>
            <a:ext cx="1901600" cy="1742000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28" name="Google Shape;328;p33"/>
          <p:cNvSpPr txBox="1"/>
          <p:nvPr/>
        </p:nvSpPr>
        <p:spPr>
          <a:xfrm>
            <a:off x="10015251" y="5441000"/>
            <a:ext cx="8372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400"/>
              <a:t>Bob</a:t>
            </a:r>
            <a:endParaRPr sz="2400"/>
          </a:p>
        </p:txBody>
      </p:sp>
      <p:pic>
        <p:nvPicPr>
          <p:cNvPr id="330" name="Google Shape;33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4167" y="1596000"/>
            <a:ext cx="1742000" cy="174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/>
          <p:cNvSpPr/>
          <p:nvPr/>
        </p:nvSpPr>
        <p:spPr>
          <a:xfrm>
            <a:off x="2327867" y="4195167"/>
            <a:ext cx="6670800" cy="8880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Pay x to Bob, y to Bank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>
              <a:lnSpc>
                <a:spcPct val="115000"/>
              </a:lnSpc>
            </a:pPr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SIGNED(BANK)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9564195" y="2803300"/>
            <a:ext cx="21660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400"/>
              <a:t>Faraday cage</a:t>
            </a:r>
            <a:endParaRPr sz="2400"/>
          </a:p>
        </p:txBody>
      </p:sp>
      <p:cxnSp>
        <p:nvCxnSpPr>
          <p:cNvPr id="333" name="Google Shape;333;p33"/>
          <p:cNvCxnSpPr/>
          <p:nvPr/>
        </p:nvCxnSpPr>
        <p:spPr>
          <a:xfrm rot="10800000" flipH="1">
            <a:off x="2024100" y="3077400"/>
            <a:ext cx="2083200" cy="76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4" name="Google Shape;334;p33"/>
          <p:cNvSpPr txBox="1"/>
          <p:nvPr/>
        </p:nvSpPr>
        <p:spPr>
          <a:xfrm>
            <a:off x="19733" y="2515500"/>
            <a:ext cx="3882400" cy="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400"/>
              <a:t>It’s me, Alice! Could you make out  a green payment to Bob?</a:t>
            </a:r>
            <a:endParaRPr sz="2400"/>
          </a:p>
        </p:txBody>
      </p:sp>
      <p:sp>
        <p:nvSpPr>
          <p:cNvPr id="335" name="Google Shape;335;p33"/>
          <p:cNvSpPr txBox="1"/>
          <p:nvPr/>
        </p:nvSpPr>
        <p:spPr>
          <a:xfrm>
            <a:off x="4646551" y="3099300"/>
            <a:ext cx="8372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400"/>
              <a:t>Bank</a:t>
            </a:r>
            <a:endParaRPr sz="2400"/>
          </a:p>
        </p:txBody>
      </p:sp>
      <p:pic>
        <p:nvPicPr>
          <p:cNvPr id="336" name="Google Shape;33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1733" y="1713300"/>
            <a:ext cx="1278400" cy="8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3"/>
          <p:cNvSpPr/>
          <p:nvPr/>
        </p:nvSpPr>
        <p:spPr>
          <a:xfrm>
            <a:off x="5936167" y="4291800"/>
            <a:ext cx="2341600" cy="556400"/>
          </a:xfrm>
          <a:prstGeom prst="horizontalScroll">
            <a:avLst>
              <a:gd name="adj" fmla="val 1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/>
              <a:t>No double spend</a:t>
            </a:r>
            <a:endParaRPr sz="2400"/>
          </a:p>
        </p:txBody>
      </p:sp>
      <p:sp>
        <p:nvSpPr>
          <p:cNvPr id="338" name="Google Shape;338;p33"/>
          <p:cNvSpPr/>
          <p:nvPr/>
        </p:nvSpPr>
        <p:spPr>
          <a:xfrm>
            <a:off x="6084200" y="1417833"/>
            <a:ext cx="5646000" cy="1029200"/>
          </a:xfrm>
          <a:prstGeom prst="wedgeEllipseCallout">
            <a:avLst>
              <a:gd name="adj1" fmla="val -49320"/>
              <a:gd name="adj2" fmla="val 5926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 b="1">
                <a:latin typeface="Courier New"/>
                <a:ea typeface="Courier New"/>
                <a:cs typeface="Courier New"/>
                <a:sym typeface="Courier New"/>
              </a:rPr>
              <a:t>004</a:t>
            </a:r>
            <a:r>
              <a:rPr lang="en" sz="2400"/>
              <a:t> days since last double spend!</a:t>
            </a:r>
            <a:endParaRPr sz="2400"/>
          </a:p>
        </p:txBody>
      </p:sp>
      <p:sp>
        <p:nvSpPr>
          <p:cNvPr id="339" name="Google Shape;339;p33"/>
          <p:cNvSpPr/>
          <p:nvPr/>
        </p:nvSpPr>
        <p:spPr>
          <a:xfrm>
            <a:off x="6948267" y="1811033"/>
            <a:ext cx="556400" cy="272400"/>
          </a:xfrm>
          <a:prstGeom prst="rect">
            <a:avLst/>
          </a:prstGeom>
          <a:solidFill>
            <a:srgbClr val="CC687A">
              <a:alpha val="5885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364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"/>
          <p:cNvSpPr txBox="1">
            <a:spLocks noGrp="1"/>
          </p:cNvSpPr>
          <p:nvPr>
            <p:ph type="title"/>
          </p:nvPr>
        </p:nvSpPr>
        <p:spPr>
          <a:xfrm>
            <a:off x="21465" y="304800"/>
            <a:ext cx="11277600" cy="11432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sz="3200" dirty="0"/>
              <a:t>Example 3: Efficient micro-payments</a:t>
            </a:r>
            <a:endParaRPr sz="3200" i="1" dirty="0"/>
          </a:p>
        </p:txBody>
      </p:sp>
      <p:sp>
        <p:nvSpPr>
          <p:cNvPr id="345" name="Google Shape;345;p34"/>
          <p:cNvSpPr/>
          <p:nvPr/>
        </p:nvSpPr>
        <p:spPr>
          <a:xfrm>
            <a:off x="135017" y="4196167"/>
            <a:ext cx="1901600" cy="1742000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46" name="Google Shape;346;p34"/>
          <p:cNvSpPr txBox="1"/>
          <p:nvPr/>
        </p:nvSpPr>
        <p:spPr>
          <a:xfrm>
            <a:off x="667217" y="5938167"/>
            <a:ext cx="8372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400"/>
              <a:t>Alice</a:t>
            </a:r>
            <a:endParaRPr sz="2400"/>
          </a:p>
        </p:txBody>
      </p:sp>
      <p:sp>
        <p:nvSpPr>
          <p:cNvPr id="347" name="Google Shape;347;p34"/>
          <p:cNvSpPr/>
          <p:nvPr/>
        </p:nvSpPr>
        <p:spPr>
          <a:xfrm>
            <a:off x="9483051" y="3981367"/>
            <a:ext cx="1901600" cy="1742000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48" name="Google Shape;348;p34"/>
          <p:cNvSpPr txBox="1"/>
          <p:nvPr/>
        </p:nvSpPr>
        <p:spPr>
          <a:xfrm>
            <a:off x="10015251" y="5723367"/>
            <a:ext cx="8372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400"/>
              <a:t>Bob</a:t>
            </a:r>
            <a:endParaRPr sz="2400"/>
          </a:p>
        </p:txBody>
      </p:sp>
      <p:sp>
        <p:nvSpPr>
          <p:cNvPr id="349" name="Google Shape;349;p34"/>
          <p:cNvSpPr/>
          <p:nvPr/>
        </p:nvSpPr>
        <p:spPr>
          <a:xfrm>
            <a:off x="2327867" y="5426200"/>
            <a:ext cx="7155200" cy="1301600"/>
          </a:xfrm>
          <a:prstGeom prst="roundRect">
            <a:avLst>
              <a:gd name="adj" fmla="val 16667"/>
            </a:avLst>
          </a:prstGeom>
          <a:solidFill>
            <a:srgbClr val="D5A6BD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b="1">
                <a:latin typeface="Trebuchet MS"/>
                <a:ea typeface="Trebuchet MS"/>
                <a:cs typeface="Trebuchet MS"/>
                <a:sym typeface="Trebuchet MS"/>
              </a:rPr>
              <a:t>PROBLEM:</a:t>
            </a:r>
            <a:r>
              <a:rPr lang="en" sz="2400">
                <a:latin typeface="Trebuchet MS"/>
                <a:ea typeface="Trebuchet MS"/>
                <a:cs typeface="Trebuchet MS"/>
                <a:sym typeface="Trebuchet MS"/>
              </a:rPr>
              <a:t> Alice wants to pay Bob for each minute of phone service. She doesn’t want to incur a transaction fee every minute.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0" name="Google Shape;350;p34"/>
          <p:cNvSpPr/>
          <p:nvPr/>
        </p:nvSpPr>
        <p:spPr>
          <a:xfrm>
            <a:off x="2424433" y="4952633"/>
            <a:ext cx="6670800" cy="6560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2400" i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; Pay 01 to Bob, 99 to Alice</a:t>
            </a:r>
            <a:endParaRPr sz="2400" baseline="-250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/>
            <a:r>
              <a:rPr lang="en" sz="1333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SIGNED(ALICE)___________</a:t>
            </a:r>
            <a:endParaRPr sz="1333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2424433" y="4296633"/>
            <a:ext cx="6670800" cy="6560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2400" i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; Pay 02 to Bob, 98 to Alice</a:t>
            </a:r>
            <a:endParaRPr sz="2400" baseline="-250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/>
            <a:r>
              <a:rPr lang="en" sz="1333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SIGNED(ALICE)___________</a:t>
            </a:r>
            <a:endParaRPr sz="1333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2" name="Google Shape;352;p34"/>
          <p:cNvSpPr/>
          <p:nvPr/>
        </p:nvSpPr>
        <p:spPr>
          <a:xfrm>
            <a:off x="2424433" y="3640633"/>
            <a:ext cx="6670800" cy="6560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2400" i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; Pay 03 to Bob, 97 to Alice</a:t>
            </a:r>
            <a:endParaRPr sz="2400" baseline="-250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/>
            <a:r>
              <a:rPr lang="en" sz="1333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SIGNED(ALICE)___________</a:t>
            </a:r>
            <a:endParaRPr sz="1333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2424433" y="2984633"/>
            <a:ext cx="6670800" cy="6560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24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; Pay 04 to Bob, 96 to Alice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/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SIGNED(ALICE)___________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4" name="Google Shape;354;p34"/>
          <p:cNvSpPr/>
          <p:nvPr/>
        </p:nvSpPr>
        <p:spPr>
          <a:xfrm>
            <a:off x="2424451" y="1873233"/>
            <a:ext cx="6670800" cy="6560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24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; Pay 42 to Bob, 58 to Alice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/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SIGNED(ALICE)___________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5" name="Google Shape;355;p34"/>
          <p:cNvSpPr txBox="1"/>
          <p:nvPr/>
        </p:nvSpPr>
        <p:spPr>
          <a:xfrm>
            <a:off x="2570517" y="2467600"/>
            <a:ext cx="10300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...</a:t>
            </a:r>
            <a:endParaRPr sz="2400"/>
          </a:p>
        </p:txBody>
      </p:sp>
      <p:sp>
        <p:nvSpPr>
          <p:cNvPr id="356" name="Google Shape;356;p34"/>
          <p:cNvSpPr/>
          <p:nvPr/>
        </p:nvSpPr>
        <p:spPr>
          <a:xfrm>
            <a:off x="1669000" y="3633933"/>
            <a:ext cx="1931600" cy="656000"/>
          </a:xfrm>
          <a:prstGeom prst="wedgeEllipseCallout">
            <a:avLst>
              <a:gd name="adj1" fmla="val -33454"/>
              <a:gd name="adj2" fmla="val 94350"/>
            </a:avLst>
          </a:prstGeom>
          <a:solidFill>
            <a:srgbClr val="FFE59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/>
              <a:t>I’m done!</a:t>
            </a:r>
            <a:endParaRPr sz="2400"/>
          </a:p>
        </p:txBody>
      </p:sp>
      <p:sp>
        <p:nvSpPr>
          <p:cNvPr id="357" name="Google Shape;357;p34"/>
          <p:cNvSpPr/>
          <p:nvPr/>
        </p:nvSpPr>
        <p:spPr>
          <a:xfrm>
            <a:off x="8522567" y="3540167"/>
            <a:ext cx="2071600" cy="656000"/>
          </a:xfrm>
          <a:prstGeom prst="wedgeEllipseCallout">
            <a:avLst>
              <a:gd name="adj1" fmla="val 32013"/>
              <a:gd name="adj2" fmla="val 92983"/>
            </a:avLst>
          </a:prstGeom>
          <a:solidFill>
            <a:srgbClr val="FFE59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/>
              <a:t>I’ll publish!</a:t>
            </a:r>
            <a:endParaRPr sz="2400"/>
          </a:p>
        </p:txBody>
      </p:sp>
      <p:sp>
        <p:nvSpPr>
          <p:cNvPr id="358" name="Google Shape;358;p34"/>
          <p:cNvSpPr/>
          <p:nvPr/>
        </p:nvSpPr>
        <p:spPr>
          <a:xfrm>
            <a:off x="2118800" y="1988600"/>
            <a:ext cx="305600" cy="3556400"/>
          </a:xfrm>
          <a:prstGeom prst="leftBrace">
            <a:avLst>
              <a:gd name="adj1" fmla="val 8333"/>
              <a:gd name="adj2" fmla="val 1205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9" name="Google Shape;359;p34"/>
          <p:cNvSpPr txBox="1"/>
          <p:nvPr/>
        </p:nvSpPr>
        <p:spPr>
          <a:xfrm>
            <a:off x="187167" y="1988600"/>
            <a:ext cx="2071600" cy="7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all of these could be double-spends!</a:t>
            </a:r>
            <a:endParaRPr sz="2400"/>
          </a:p>
        </p:txBody>
      </p:sp>
      <p:sp>
        <p:nvSpPr>
          <p:cNvPr id="360" name="Google Shape;360;p34"/>
          <p:cNvSpPr/>
          <p:nvPr/>
        </p:nvSpPr>
        <p:spPr>
          <a:xfrm>
            <a:off x="2424451" y="5938167"/>
            <a:ext cx="6670800" cy="656000"/>
          </a:xfrm>
          <a:prstGeom prst="rect">
            <a:avLst/>
          </a:prstGeom>
          <a:solidFill>
            <a:srgbClr val="00FF00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24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; Pay 100 to Bob/Alice (MULTISIG)</a:t>
            </a:r>
            <a:endParaRPr sz="2400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/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1" name="Google Shape;361;p34"/>
          <p:cNvSpPr/>
          <p:nvPr/>
        </p:nvSpPr>
        <p:spPr>
          <a:xfrm>
            <a:off x="2424417" y="1873233"/>
            <a:ext cx="6670800" cy="656000"/>
          </a:xfrm>
          <a:prstGeom prst="rect">
            <a:avLst/>
          </a:prstGeom>
          <a:solidFill>
            <a:srgbClr val="00FF00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2400" i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24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; Pay 42 to Bob, 58 to Alice</a:t>
            </a:r>
            <a:endParaRPr sz="2400" baseline="-250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/>
            <a:r>
              <a:rPr lang="en" sz="1333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 SIGNED(BOB)</a:t>
            </a:r>
            <a:endParaRPr sz="1333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62" name="Google Shape;362;p34"/>
          <p:cNvCxnSpPr/>
          <p:nvPr/>
        </p:nvCxnSpPr>
        <p:spPr>
          <a:xfrm flipH="1">
            <a:off x="3600333" y="5366567"/>
            <a:ext cx="83600" cy="856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34"/>
          <p:cNvCxnSpPr/>
          <p:nvPr/>
        </p:nvCxnSpPr>
        <p:spPr>
          <a:xfrm flipH="1">
            <a:off x="3516567" y="4652733"/>
            <a:ext cx="116400" cy="1500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" name="Google Shape;364;p34"/>
          <p:cNvCxnSpPr/>
          <p:nvPr/>
        </p:nvCxnSpPr>
        <p:spPr>
          <a:xfrm flipH="1">
            <a:off x="3467400" y="3961933"/>
            <a:ext cx="133200" cy="2246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5" name="Google Shape;365;p34"/>
          <p:cNvCxnSpPr/>
          <p:nvPr/>
        </p:nvCxnSpPr>
        <p:spPr>
          <a:xfrm flipH="1">
            <a:off x="3467267" y="3403500"/>
            <a:ext cx="89200" cy="2779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6" name="Google Shape;366;p34"/>
          <p:cNvCxnSpPr/>
          <p:nvPr/>
        </p:nvCxnSpPr>
        <p:spPr>
          <a:xfrm flipH="1">
            <a:off x="3454433" y="2294500"/>
            <a:ext cx="12800" cy="3926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7" name="Google Shape;367;p34"/>
          <p:cNvSpPr txBox="1"/>
          <p:nvPr/>
        </p:nvSpPr>
        <p:spPr>
          <a:xfrm>
            <a:off x="2544933" y="1408600"/>
            <a:ext cx="6273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What if Bob never signs??</a:t>
            </a:r>
            <a:endParaRPr sz="2400"/>
          </a:p>
        </p:txBody>
      </p:sp>
      <p:sp>
        <p:nvSpPr>
          <p:cNvPr id="368" name="Google Shape;368;p34"/>
          <p:cNvSpPr/>
          <p:nvPr/>
        </p:nvSpPr>
        <p:spPr>
          <a:xfrm>
            <a:off x="2424451" y="3167051"/>
            <a:ext cx="6670800" cy="6560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24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; Pay 100 to Alice, LOCK until time </a:t>
            </a:r>
            <a:r>
              <a:rPr lang="en" sz="24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</a:t>
            </a:r>
            <a:endParaRPr sz="2400" i="1" baseline="-25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/>
            <a:r>
              <a:rPr lang="en" sz="13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 SIGNED(BOB)</a:t>
            </a:r>
            <a:endParaRPr sz="13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9" name="Google Shape;369;p34"/>
          <p:cNvSpPr txBox="1"/>
          <p:nvPr/>
        </p:nvSpPr>
        <p:spPr>
          <a:xfrm>
            <a:off x="2487733" y="2751567"/>
            <a:ext cx="6555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Alice demands a timed refund transaction before starting</a:t>
            </a:r>
            <a:endParaRPr sz="2400" dirty="0"/>
          </a:p>
        </p:txBody>
      </p:sp>
      <p:sp>
        <p:nvSpPr>
          <p:cNvPr id="3" name="Rectangle 2"/>
          <p:cNvSpPr/>
          <p:nvPr/>
        </p:nvSpPr>
        <p:spPr>
          <a:xfrm>
            <a:off x="9372600" y="1981200"/>
            <a:ext cx="2667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With this feature Alice knows that she can get her money back if Bob never signs the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26276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04801"/>
            <a:ext cx="10972800" cy="6262976"/>
          </a:xfrm>
        </p:spPr>
        <p:txBody>
          <a:bodyPr/>
          <a:lstStyle/>
          <a:p>
            <a:r>
              <a:rPr lang="en-IN" b="1" dirty="0"/>
              <a:t>Other applications</a:t>
            </a:r>
          </a:p>
          <a:p>
            <a:pPr marL="50799" indent="0">
              <a:buNone/>
            </a:pPr>
            <a:r>
              <a:rPr lang="en-IN" dirty="0"/>
              <a:t>There are many other possible applications of </a:t>
            </a:r>
            <a:r>
              <a:rPr lang="en-IN" dirty="0" err="1"/>
              <a:t>Bitcoin</a:t>
            </a:r>
            <a:r>
              <a:rPr lang="en-IN" dirty="0"/>
              <a:t> protocol, more complicated that the one explained, for example:</a:t>
            </a:r>
          </a:p>
          <a:p>
            <a:pPr algn="just"/>
            <a:r>
              <a:rPr lang="en-IN" dirty="0"/>
              <a:t>multi-player lotteries, that requires a very complicated, multi-step protocol</a:t>
            </a:r>
          </a:p>
          <a:p>
            <a:pPr algn="just"/>
            <a:r>
              <a:rPr lang="en-IN" dirty="0"/>
              <a:t>people can get their coins together and mix them so that it's harder to trace who owns which coins and provides a higher level of </a:t>
            </a:r>
            <a:r>
              <a:rPr lang="en-IN" dirty="0" err="1"/>
              <a:t>anonimity</a:t>
            </a:r>
            <a:endParaRPr lang="en-IN" dirty="0"/>
          </a:p>
          <a:p>
            <a:pPr algn="just"/>
            <a:r>
              <a:rPr lang="en-IN" dirty="0"/>
              <a:t>a huge variety of smart contract, even if there are a lot of limitations in this field, since some operations are not permitted by </a:t>
            </a:r>
            <a:r>
              <a:rPr lang="en-IN" dirty="0" err="1"/>
              <a:t>Bitcoin</a:t>
            </a:r>
            <a:r>
              <a:rPr lang="en-IN" dirty="0"/>
              <a:t> scripting language, or because nobody has figured out yet how to manage them with </a:t>
            </a:r>
            <a:r>
              <a:rPr lang="en-IN" dirty="0" err="1"/>
              <a:t>Bitcoin</a:t>
            </a:r>
            <a:r>
              <a:rPr lang="en-IN" dirty="0"/>
              <a:t>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852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799" indent="0">
              <a:buNone/>
            </a:pPr>
            <a:r>
              <a:rPr lang="en-IN" b="1" dirty="0"/>
              <a:t>Bitcoin </a:t>
            </a:r>
            <a:r>
              <a:rPr lang="en-IN" b="1" dirty="0" smtClean="0"/>
              <a:t>Network:</a:t>
            </a:r>
            <a:endParaRPr lang="en-IN" b="1" dirty="0"/>
          </a:p>
          <a:p>
            <a:pPr marL="50799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362200"/>
            <a:ext cx="88392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3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04801"/>
            <a:ext cx="10972800" cy="6262976"/>
          </a:xfrm>
        </p:spPr>
        <p:txBody>
          <a:bodyPr/>
          <a:lstStyle/>
          <a:p>
            <a:pPr marL="50799" indent="0">
              <a:buNone/>
            </a:pPr>
            <a:r>
              <a:rPr lang="en-IN" dirty="0" err="1" smtClean="0"/>
              <a:t>Netwrok</a:t>
            </a:r>
            <a:r>
              <a:rPr lang="en-IN" dirty="0" smtClean="0"/>
              <a:t> discovery for a new node: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752600"/>
            <a:ext cx="3886199" cy="20769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067" y="1752600"/>
            <a:ext cx="4203865" cy="205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752600"/>
            <a:ext cx="3352800" cy="19584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4114800"/>
            <a:ext cx="4219575" cy="24479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191000"/>
            <a:ext cx="450532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0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Full nodes, Lightweight nodes</a:t>
            </a:r>
          </a:p>
          <a:p>
            <a:r>
              <a:rPr lang="en-IN" dirty="0" smtClean="0"/>
              <a:t>Limitations and Improvements of </a:t>
            </a:r>
            <a:r>
              <a:rPr lang="en-IN" dirty="0" err="1" smtClean="0"/>
              <a:t>Bitcoin</a:t>
            </a:r>
            <a:r>
              <a:rPr lang="en-IN" dirty="0" smtClean="0"/>
              <a:t> protocol</a:t>
            </a:r>
          </a:p>
          <a:p>
            <a:pPr marL="50799" indent="0">
              <a:buNone/>
            </a:pPr>
            <a:r>
              <a:rPr lang="en-IN" dirty="0"/>
              <a:t> </a:t>
            </a:r>
            <a:r>
              <a:rPr lang="en-IN" dirty="0" smtClean="0"/>
              <a:t>       </a:t>
            </a:r>
          </a:p>
          <a:p>
            <a:pPr marL="50799" indent="0">
              <a:buNone/>
            </a:pPr>
            <a:r>
              <a:rPr lang="en-IN" dirty="0"/>
              <a:t> </a:t>
            </a:r>
            <a:r>
              <a:rPr lang="en-IN" dirty="0" smtClean="0"/>
              <a:t>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25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/>
              <a:t>Proof-of-Work Properties</a:t>
            </a:r>
          </a:p>
          <a:p>
            <a:pPr marL="0" indent="0">
              <a:buNone/>
            </a:pPr>
            <a:r>
              <a:rPr lang="en-IN"/>
              <a:t>The proof-of-work function of an hash puzzle must be:</a:t>
            </a:r>
          </a:p>
          <a:p>
            <a:pPr marL="0" indent="0">
              <a:buNone/>
            </a:pPr>
            <a:r>
              <a:rPr lang="en-IN" smtClean="0"/>
              <a:t>       1.Difficult </a:t>
            </a:r>
            <a:r>
              <a:rPr lang="en-IN"/>
              <a:t>to </a:t>
            </a:r>
            <a:r>
              <a:rPr lang="en-IN" smtClean="0"/>
              <a:t>compute</a:t>
            </a:r>
          </a:p>
          <a:p>
            <a:pPr marL="0" indent="0">
              <a:buNone/>
            </a:pPr>
            <a:r>
              <a:rPr lang="en-IN" smtClean="0"/>
              <a:t>      2</a:t>
            </a:r>
            <a:r>
              <a:rPr lang="en-IN"/>
              <a:t>. </a:t>
            </a:r>
            <a:r>
              <a:rPr lang="en-IN" smtClean="0"/>
              <a:t>The </a:t>
            </a:r>
            <a:r>
              <a:rPr lang="en-IN"/>
              <a:t>difficulty is </a:t>
            </a:r>
            <a:r>
              <a:rPr lang="en-IN" smtClean="0"/>
              <a:t>parameterizable</a:t>
            </a:r>
          </a:p>
          <a:p>
            <a:pPr marL="0" indent="0">
              <a:buNone/>
            </a:pPr>
            <a:r>
              <a:rPr lang="en-IN" smtClean="0"/>
              <a:t>      3</a:t>
            </a:r>
            <a:r>
              <a:rPr lang="en-IN"/>
              <a:t>. </a:t>
            </a:r>
            <a:r>
              <a:rPr lang="en-IN" smtClean="0"/>
              <a:t>It’s </a:t>
            </a:r>
            <a:r>
              <a:rPr lang="en-IN"/>
              <a:t>trivial to verify the new node has computed proof-of-work correctly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3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Proof-of-work </a:t>
            </a:r>
            <a:r>
              <a:rPr lang="en-IN" b="1" dirty="0" smtClean="0"/>
              <a:t>(POW) :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2438400"/>
            <a:ext cx="9944100" cy="3086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915" y="76200"/>
            <a:ext cx="4790476" cy="257144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7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Proof-of-work </a:t>
            </a:r>
            <a:r>
              <a:rPr lang="en-IN" b="1" dirty="0" smtClean="0"/>
              <a:t>:</a:t>
            </a:r>
          </a:p>
          <a:p>
            <a:pPr marL="0" indent="0">
              <a:buNone/>
            </a:pPr>
            <a:r>
              <a:rPr lang="en-IN" b="1" dirty="0" smtClean="0"/>
              <a:t>POW works as follows:</a:t>
            </a:r>
          </a:p>
          <a:p>
            <a:r>
              <a:rPr lang="en-IN" dirty="0" smtClean="0"/>
              <a:t>POW makes use of hash puzzles</a:t>
            </a:r>
          </a:p>
          <a:p>
            <a:r>
              <a:rPr lang="en-IN" dirty="0" smtClean="0"/>
              <a:t>A node proposes a block has to find a nonce such that </a:t>
            </a:r>
            <a:r>
              <a:rPr lang="en-IN" b="1" dirty="0" smtClean="0"/>
              <a:t>H(nonce || previous hash || </a:t>
            </a:r>
            <a:r>
              <a:rPr lang="en-IN" b="1" dirty="0" err="1" smtClean="0"/>
              <a:t>Tx</a:t>
            </a:r>
            <a:r>
              <a:rPr lang="en-IN" b="1" dirty="0" smtClean="0"/>
              <a:t> || </a:t>
            </a:r>
            <a:r>
              <a:rPr lang="en-IN" b="1" dirty="0" err="1" smtClean="0"/>
              <a:t>Tx</a:t>
            </a:r>
            <a:r>
              <a:rPr lang="en-IN" b="1" dirty="0" smtClean="0"/>
              <a:t>|| …..|| </a:t>
            </a:r>
            <a:r>
              <a:rPr lang="en-IN" b="1" dirty="0" err="1" smtClean="0"/>
              <a:t>Tx</a:t>
            </a:r>
            <a:r>
              <a:rPr lang="en-IN" b="1" dirty="0" smtClean="0"/>
              <a:t> ) &lt;  Target value</a:t>
            </a:r>
          </a:p>
          <a:p>
            <a:pPr marL="0" indent="0">
              <a:buNone/>
            </a:pPr>
            <a:r>
              <a:rPr lang="en-IN" b="1" dirty="0" smtClean="0"/>
              <a:t>The process can be summarized as:</a:t>
            </a:r>
          </a:p>
          <a:p>
            <a:r>
              <a:rPr lang="en-IN" dirty="0" smtClean="0"/>
              <a:t>New transactions are broadcast to all nodes on the network</a:t>
            </a:r>
          </a:p>
          <a:p>
            <a:r>
              <a:rPr lang="en-IN" dirty="0" smtClean="0"/>
              <a:t>Each node collects the transactions into a candidate block</a:t>
            </a:r>
          </a:p>
          <a:p>
            <a:r>
              <a:rPr lang="en-IN" dirty="0" smtClean="0"/>
              <a:t>Miners propose new blocks</a:t>
            </a:r>
          </a:p>
          <a:p>
            <a:r>
              <a:rPr lang="en-IN" dirty="0" smtClean="0"/>
              <a:t>Miners concatenate and hash with the header of the previous block</a:t>
            </a:r>
          </a:p>
          <a:p>
            <a:r>
              <a:rPr lang="en-IN" dirty="0" smtClean="0"/>
              <a:t>The resultant has is checked against  the target value (network difficulty target value)</a:t>
            </a:r>
          </a:p>
          <a:p>
            <a:r>
              <a:rPr lang="en-IN" dirty="0" smtClean="0"/>
              <a:t>If the resultant hash is less than the target value then POW is solved. Otherwise  the nonce is incremented and the node tries again. This process continues until  a resultant hash is found that is less than target value.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D4435-DF5C-4626-BA1D-378722A46A0F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92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</TotalTime>
  <Words>2001</Words>
  <Application>Microsoft Office PowerPoint</Application>
  <PresentationFormat>Widescreen</PresentationFormat>
  <Paragraphs>340</Paragraphs>
  <Slides>39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Courier New</vt:lpstr>
      <vt:lpstr>Trebuchet MS</vt:lpstr>
      <vt:lpstr>Wingdings</vt:lpstr>
      <vt:lpstr>Office Theme</vt:lpstr>
      <vt:lpstr>PowerPoint Presentation</vt:lpstr>
      <vt:lpstr>PowerPoint Presentation</vt:lpstr>
      <vt:lpstr>An account-based ledger (not Bitcoin)</vt:lpstr>
      <vt:lpstr>Example</vt:lpstr>
      <vt:lpstr>Merging value</vt:lpstr>
      <vt:lpstr>Joint payments</vt:lpstr>
      <vt:lpstr>Transaction Data Structure</vt:lpstr>
      <vt:lpstr>The real deal: a Bitcoin transaction</vt:lpstr>
      <vt:lpstr>The real deal: transaction metadata</vt:lpstr>
      <vt:lpstr> </vt:lpstr>
      <vt:lpstr>PowerPoint Presentation</vt:lpstr>
      <vt:lpstr>The real deal: transaction inputs</vt:lpstr>
      <vt:lpstr>PowerPoint Presentation</vt:lpstr>
      <vt:lpstr>Input/Output  “addresses” are really scripts</vt:lpstr>
      <vt:lpstr>Bitcoin scripting language (“Script”)</vt:lpstr>
      <vt:lpstr>Bitcoin script instructions</vt:lpstr>
      <vt:lpstr>PowerPoint Presentation</vt:lpstr>
      <vt:lpstr>PowerPoint Presentation</vt:lpstr>
      <vt:lpstr>Continues;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Bitcoin script execution example</vt:lpstr>
      <vt:lpstr>PowerPoint Presentation</vt:lpstr>
      <vt:lpstr>PowerPoint Presentation</vt:lpstr>
      <vt:lpstr>Example 1:Escrow transactions</vt:lpstr>
      <vt:lpstr>PowerPoint Presentation</vt:lpstr>
      <vt:lpstr>Example 2 : Green addresses</vt:lpstr>
      <vt:lpstr>Example 3: Efficient micro-payments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Proof-of-work (POW) :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2024-08-20T04:53:38Z</dcterms:created>
  <dcterms:modified xsi:type="dcterms:W3CDTF">2024-12-16T03:46:38Z</dcterms:modified>
</cp:coreProperties>
</file>