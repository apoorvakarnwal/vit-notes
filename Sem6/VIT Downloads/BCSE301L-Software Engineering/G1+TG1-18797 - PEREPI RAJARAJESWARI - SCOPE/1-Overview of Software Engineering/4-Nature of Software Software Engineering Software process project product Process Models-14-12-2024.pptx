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2"/>
  </p:notesMasterIdLst>
  <p:sldIdLst>
    <p:sldId id="256" r:id="rId2"/>
    <p:sldId id="257" r:id="rId3"/>
    <p:sldId id="259" r:id="rId4"/>
    <p:sldId id="260" r:id="rId5"/>
    <p:sldId id="261" r:id="rId6"/>
    <p:sldId id="262" r:id="rId7"/>
    <p:sldId id="265" r:id="rId8"/>
    <p:sldId id="266" r:id="rId9"/>
    <p:sldId id="267" r:id="rId10"/>
    <p:sldId id="268" r:id="rId11"/>
    <p:sldId id="269" r:id="rId12"/>
    <p:sldId id="270" r:id="rId13"/>
    <p:sldId id="273" r:id="rId14"/>
    <p:sldId id="274" r:id="rId15"/>
    <p:sldId id="275" r:id="rId16"/>
    <p:sldId id="276" r:id="rId17"/>
    <p:sldId id="277" r:id="rId18"/>
    <p:sldId id="278" r:id="rId19"/>
    <p:sldId id="279" r:id="rId20"/>
    <p:sldId id="28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FDFB9E-09FD-4C17-9E34-1006CD57E968}" type="datetimeFigureOut">
              <a:rPr lang="en-IN" smtClean="0"/>
              <a:t>28-07-2022</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CBF42D-3B8F-4ED8-B5DD-26B6F2C0D8DA}" type="slidenum">
              <a:rPr lang="en-IN" smtClean="0"/>
              <a:t>‹#›</a:t>
            </a:fld>
            <a:endParaRPr lang="en-IN"/>
          </a:p>
        </p:txBody>
      </p:sp>
    </p:spTree>
    <p:extLst>
      <p:ext uri="{BB962C8B-B14F-4D97-AF65-F5344CB8AC3E}">
        <p14:creationId xmlns:p14="http://schemas.microsoft.com/office/powerpoint/2010/main" val="3487538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7CBF42D-3B8F-4ED8-B5DD-26B6F2C0D8DA}" type="slidenum">
              <a:rPr lang="en-IN" smtClean="0"/>
              <a:t>13</a:t>
            </a:fld>
            <a:endParaRPr lang="en-IN"/>
          </a:p>
        </p:txBody>
      </p:sp>
    </p:spTree>
    <p:extLst>
      <p:ext uri="{BB962C8B-B14F-4D97-AF65-F5344CB8AC3E}">
        <p14:creationId xmlns:p14="http://schemas.microsoft.com/office/powerpoint/2010/main" val="362452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20" name="Footer Placeholder 19"/>
          <p:cNvSpPr>
            <a:spLocks noGrp="1"/>
          </p:cNvSpPr>
          <p:nvPr>
            <p:ph type="ftr" sz="quarter" idx="11"/>
          </p:nvPr>
        </p:nvSpPr>
        <p:spPr/>
        <p:txBody>
          <a:bodyPr/>
          <a:lstStyle>
            <a:extLst/>
          </a:lstStyle>
          <a:p>
            <a:endParaRPr lang="en-IN"/>
          </a:p>
        </p:txBody>
      </p:sp>
      <p:sp>
        <p:nvSpPr>
          <p:cNvPr id="10" name="Slide Number Placeholder 9"/>
          <p:cNvSpPr>
            <a:spLocks noGrp="1"/>
          </p:cNvSpPr>
          <p:nvPr>
            <p:ph type="sldNum" sz="quarter" idx="12"/>
          </p:nvPr>
        </p:nvSpPr>
        <p:spPr/>
        <p:txBody>
          <a:bodyPr/>
          <a:lstStyle>
            <a:extLst/>
          </a:lstStyle>
          <a:p>
            <a:fld id="{141CFC68-B476-47E7-B6F4-6ACDF6885D4B}" type="slidenum">
              <a:rPr lang="en-IN" smtClean="0"/>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141CFC68-B476-47E7-B6F4-6ACDF6885D4B}" type="slidenum">
              <a:rPr lang="en-IN" smtClean="0"/>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141CFC68-B476-47E7-B6F4-6ACDF6885D4B}" type="slidenum">
              <a:rPr lang="en-IN" smtClean="0"/>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141CFC68-B476-47E7-B6F4-6ACDF6885D4B}" type="slidenum">
              <a:rPr lang="en-IN" smtClean="0"/>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CD1601-C637-4C37-8DCC-E731CFF3BF72}" type="datetimeFigureOut">
              <a:rPr lang="en-IN" smtClean="0"/>
              <a:t>28-07-2022</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141CFC68-B476-47E7-B6F4-6ACDF6885D4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0CD1601-C637-4C37-8DCC-E731CFF3BF72}" type="datetimeFigureOut">
              <a:rPr lang="en-IN" smtClean="0"/>
              <a:t>28-07-2022</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41CFC68-B476-47E7-B6F4-6ACDF6885D4B}" type="slidenum">
              <a:rPr lang="en-IN" smtClean="0"/>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en.wikipedia.org/wiki/IBM" TargetMode="External"/><Relationship Id="rId2" Type="http://schemas.openxmlformats.org/officeDocument/2006/relationships/hyperlink" Target="https://en.wikipedia.org/wiki/Rational_Unified_Proces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                   Module -2</a:t>
            </a:r>
            <a:endParaRPr lang="en-IN" dirty="0"/>
          </a:p>
        </p:txBody>
      </p:sp>
      <p:sp>
        <p:nvSpPr>
          <p:cNvPr id="3" name="Subtitle 2"/>
          <p:cNvSpPr>
            <a:spLocks noGrp="1"/>
          </p:cNvSpPr>
          <p:nvPr>
            <p:ph type="subTitle" idx="1"/>
          </p:nvPr>
        </p:nvSpPr>
        <p:spPr/>
        <p:txBody>
          <a:bodyPr/>
          <a:lstStyle/>
          <a:p>
            <a:endParaRPr lang="en-IN" dirty="0" smtClean="0">
              <a:solidFill>
                <a:srgbClr val="C00000"/>
              </a:solidFill>
            </a:endParaRPr>
          </a:p>
          <a:p>
            <a:r>
              <a:rPr lang="en-IN" dirty="0" smtClean="0">
                <a:solidFill>
                  <a:schemeClr val="tx1"/>
                </a:solidFill>
              </a:rPr>
              <a:t>                           PROCESS MODELS</a:t>
            </a:r>
          </a:p>
          <a:p>
            <a:r>
              <a:rPr lang="en-US" altLang="zh-CN" b="1" dirty="0" smtClean="0">
                <a:solidFill>
                  <a:schemeClr val="tx1"/>
                </a:solidFill>
                <a:ea typeface="SimSun" pitchFamily="2" charset="-122"/>
              </a:rPr>
              <a:t>              Prof. Perepi. Rajarajeswari</a:t>
            </a:r>
            <a:endParaRPr lang="en-US" altLang="zh-CN" dirty="0" smtClean="0">
              <a:solidFill>
                <a:schemeClr val="tx1"/>
              </a:solidFill>
              <a:ea typeface="SimSun" pitchFamily="2" charset="-122"/>
            </a:endParaRPr>
          </a:p>
          <a:p>
            <a:endParaRPr lang="en-IN" dirty="0">
              <a:solidFill>
                <a:schemeClr val="tx1"/>
              </a:solidFill>
            </a:endParaRPr>
          </a:p>
        </p:txBody>
      </p:sp>
    </p:spTree>
    <p:extLst>
      <p:ext uri="{BB962C8B-B14F-4D97-AF65-F5344CB8AC3E}">
        <p14:creationId xmlns:p14="http://schemas.microsoft.com/office/powerpoint/2010/main" val="3772635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 models</a:t>
            </a:r>
            <a:endParaRPr lang="en-IN" dirty="0"/>
          </a:p>
        </p:txBody>
      </p:sp>
      <p:sp>
        <p:nvSpPr>
          <p:cNvPr id="3" name="Content Placeholder 2"/>
          <p:cNvSpPr>
            <a:spLocks noGrp="1"/>
          </p:cNvSpPr>
          <p:nvPr>
            <p:ph idx="1"/>
          </p:nvPr>
        </p:nvSpPr>
        <p:spPr/>
        <p:txBody>
          <a:bodyPr/>
          <a:lstStyle/>
          <a:p>
            <a:r>
              <a:rPr lang="en-IN" dirty="0"/>
              <a:t>Waterfall Model.</a:t>
            </a:r>
          </a:p>
          <a:p>
            <a:r>
              <a:rPr lang="en-IN" dirty="0"/>
              <a:t>V-Shaped Model.</a:t>
            </a:r>
          </a:p>
          <a:p>
            <a:r>
              <a:rPr lang="en-IN" dirty="0"/>
              <a:t>Iterative Model.</a:t>
            </a:r>
          </a:p>
          <a:p>
            <a:r>
              <a:rPr lang="en-IN" dirty="0"/>
              <a:t>Spiral Model.</a:t>
            </a:r>
          </a:p>
          <a:p>
            <a:r>
              <a:rPr lang="en-IN" dirty="0"/>
              <a:t>Big Bang Model.</a:t>
            </a:r>
          </a:p>
          <a:p>
            <a:r>
              <a:rPr lang="en-IN" dirty="0"/>
              <a:t>Agile Model.</a:t>
            </a:r>
          </a:p>
          <a:p>
            <a:endParaRPr lang="en-IN" dirty="0"/>
          </a:p>
        </p:txBody>
      </p:sp>
    </p:spTree>
    <p:extLst>
      <p:ext uri="{BB962C8B-B14F-4D97-AF65-F5344CB8AC3E}">
        <p14:creationId xmlns:p14="http://schemas.microsoft.com/office/powerpoint/2010/main" val="3562825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waterfall Model illustrates the software development process in a linear sequential flow. This means that any phase in the development process begins only if the previous phase is complete. In this waterfall model, the phases do not overlap.</a:t>
            </a:r>
            <a:endParaRPr lang="en-IN" dirty="0"/>
          </a:p>
        </p:txBody>
      </p:sp>
      <p:sp>
        <p:nvSpPr>
          <p:cNvPr id="2" name="TextBox 1"/>
          <p:cNvSpPr txBox="1"/>
          <p:nvPr/>
        </p:nvSpPr>
        <p:spPr>
          <a:xfrm>
            <a:off x="2483768" y="764704"/>
            <a:ext cx="4896544" cy="461665"/>
          </a:xfrm>
          <a:prstGeom prst="rect">
            <a:avLst/>
          </a:prstGeom>
          <a:noFill/>
        </p:spPr>
        <p:txBody>
          <a:bodyPr wrap="square" rtlCol="0">
            <a:spAutoFit/>
          </a:bodyPr>
          <a:lstStyle/>
          <a:p>
            <a:r>
              <a:rPr lang="en-US" sz="2400" dirty="0" smtClean="0"/>
              <a:t>                    </a:t>
            </a:r>
            <a:r>
              <a:rPr lang="en-US" sz="2400" b="1" dirty="0" smtClean="0">
                <a:latin typeface="Arial" panose="020B0604020202020204" pitchFamily="34" charset="0"/>
                <a:cs typeface="Arial" panose="020B0604020202020204" pitchFamily="34" charset="0"/>
              </a:rPr>
              <a:t>Waterfall </a:t>
            </a:r>
            <a:r>
              <a:rPr lang="en-US" sz="2400" b="1" dirty="0">
                <a:latin typeface="Arial" panose="020B0604020202020204" pitchFamily="34" charset="0"/>
                <a:cs typeface="Arial" panose="020B0604020202020204" pitchFamily="34" charset="0"/>
              </a:rPr>
              <a:t>Model</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455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 model stages</a:t>
            </a:r>
            <a:endParaRPr lang="en-IN" dirty="0"/>
          </a:p>
        </p:txBody>
      </p:sp>
      <p:pic>
        <p:nvPicPr>
          <p:cNvPr id="4" name="Content Placeholder 3" descr="SDLC Waterfall Model"/>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327275" y="2057747"/>
            <a:ext cx="5715000" cy="3819525"/>
          </a:xfrm>
          <a:prstGeom prst="rect">
            <a:avLst/>
          </a:prstGeom>
          <a:noFill/>
          <a:ln>
            <a:noFill/>
          </a:ln>
        </p:spPr>
      </p:pic>
    </p:spTree>
    <p:extLst>
      <p:ext uri="{BB962C8B-B14F-4D97-AF65-F5344CB8AC3E}">
        <p14:creationId xmlns:p14="http://schemas.microsoft.com/office/powerpoint/2010/main" val="1129718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490066"/>
          </a:xfrm>
        </p:spPr>
        <p:txBody>
          <a:bodyPr>
            <a:normAutofit fontScale="90000"/>
          </a:bodyPr>
          <a:lstStyle/>
          <a:p>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
            </a:r>
            <a:br>
              <a:rPr lang="en-US" dirty="0" smtClean="0">
                <a:latin typeface="Arial" panose="020B0604020202020204" pitchFamily="34" charset="0"/>
                <a:cs typeface="Arial" panose="020B0604020202020204" pitchFamily="34" charset="0"/>
              </a:rPr>
            </a:br>
            <a:r>
              <a:rPr lang="en-US" dirty="0" smtClean="0">
                <a:latin typeface="Arial" panose="020B0604020202020204" pitchFamily="34" charset="0"/>
                <a:cs typeface="Arial" panose="020B0604020202020204" pitchFamily="34" charset="0"/>
              </a:rPr>
              <a:t>Waterfall Model - Application</a:t>
            </a:r>
            <a:br>
              <a:rPr lang="en-US" dirty="0" smtClean="0">
                <a:latin typeface="Arial" panose="020B0604020202020204" pitchFamily="34" charset="0"/>
                <a:cs typeface="Arial" panose="020B0604020202020204" pitchFamily="34" charset="0"/>
              </a:rPr>
            </a:br>
            <a:endParaRPr lang="en-IN" dirty="0"/>
          </a:p>
        </p:txBody>
      </p:sp>
      <p:sp>
        <p:nvSpPr>
          <p:cNvPr id="3" name="Content Placeholder 2"/>
          <p:cNvSpPr>
            <a:spLocks noGrp="1"/>
          </p:cNvSpPr>
          <p:nvPr>
            <p:ph idx="1"/>
          </p:nvPr>
        </p:nvSpPr>
        <p:spPr/>
        <p:txBody>
          <a:bodyPr>
            <a:normAutofit fontScale="70000" lnSpcReduction="20000"/>
          </a:bodyPr>
          <a:lstStyle/>
          <a:p>
            <a:r>
              <a:rPr lang="en-US" sz="3400" dirty="0" smtClean="0">
                <a:latin typeface="Arial" panose="020B0604020202020204" pitchFamily="34" charset="0"/>
                <a:cs typeface="Arial" panose="020B0604020202020204" pitchFamily="34" charset="0"/>
              </a:rPr>
              <a:t>Every </a:t>
            </a:r>
            <a:r>
              <a:rPr lang="en-US" sz="3400" dirty="0">
                <a:latin typeface="Arial" panose="020B0604020202020204" pitchFamily="34" charset="0"/>
                <a:cs typeface="Arial" panose="020B0604020202020204" pitchFamily="34" charset="0"/>
              </a:rPr>
              <a:t>software developed is different and requires a suitable SDLC approach to be followed based on the internal and external factors. </a:t>
            </a:r>
            <a:endParaRPr lang="en-US" sz="3400" dirty="0" smtClean="0">
              <a:latin typeface="Arial" panose="020B0604020202020204" pitchFamily="34" charset="0"/>
              <a:cs typeface="Arial" panose="020B0604020202020204" pitchFamily="34" charset="0"/>
            </a:endParaRPr>
          </a:p>
          <a:p>
            <a:r>
              <a:rPr lang="en-US" sz="3400" dirty="0" smtClean="0">
                <a:latin typeface="Arial" panose="020B0604020202020204" pitchFamily="34" charset="0"/>
                <a:cs typeface="Arial" panose="020B0604020202020204" pitchFamily="34" charset="0"/>
              </a:rPr>
              <a:t>Some </a:t>
            </a:r>
            <a:r>
              <a:rPr lang="en-US" sz="3400" dirty="0">
                <a:latin typeface="Arial" panose="020B0604020202020204" pitchFamily="34" charset="0"/>
                <a:cs typeface="Arial" panose="020B0604020202020204" pitchFamily="34" charset="0"/>
              </a:rPr>
              <a:t>situations where the use of Waterfall model is most appropriate are −</a:t>
            </a:r>
          </a:p>
          <a:p>
            <a:r>
              <a:rPr lang="en-US" sz="3400" dirty="0">
                <a:latin typeface="Arial" panose="020B0604020202020204" pitchFamily="34" charset="0"/>
                <a:cs typeface="Arial" panose="020B0604020202020204" pitchFamily="34" charset="0"/>
              </a:rPr>
              <a:t>Requirements are very well documented, clear and fixed.</a:t>
            </a:r>
          </a:p>
          <a:p>
            <a:r>
              <a:rPr lang="en-US" sz="3400" dirty="0">
                <a:latin typeface="Arial" panose="020B0604020202020204" pitchFamily="34" charset="0"/>
                <a:cs typeface="Arial" panose="020B0604020202020204" pitchFamily="34" charset="0"/>
              </a:rPr>
              <a:t>Product definition is stable.</a:t>
            </a:r>
          </a:p>
          <a:p>
            <a:r>
              <a:rPr lang="en-US" sz="3400" dirty="0">
                <a:latin typeface="Arial" panose="020B0604020202020204" pitchFamily="34" charset="0"/>
                <a:cs typeface="Arial" panose="020B0604020202020204" pitchFamily="34" charset="0"/>
              </a:rPr>
              <a:t>Technology is understood and is not dynamic.</a:t>
            </a:r>
          </a:p>
          <a:p>
            <a:r>
              <a:rPr lang="en-US" sz="3400" dirty="0">
                <a:latin typeface="Arial" panose="020B0604020202020204" pitchFamily="34" charset="0"/>
                <a:cs typeface="Arial" panose="020B0604020202020204" pitchFamily="34" charset="0"/>
              </a:rPr>
              <a:t>There are no ambiguous requirements.</a:t>
            </a:r>
          </a:p>
          <a:p>
            <a:r>
              <a:rPr lang="en-US" sz="3400" dirty="0">
                <a:latin typeface="Arial" panose="020B0604020202020204" pitchFamily="34" charset="0"/>
                <a:cs typeface="Arial" panose="020B0604020202020204" pitchFamily="34" charset="0"/>
              </a:rPr>
              <a:t>Ample resources with required expertise are available to support the product.</a:t>
            </a:r>
          </a:p>
          <a:p>
            <a:r>
              <a:rPr lang="en-US" sz="3400" dirty="0">
                <a:latin typeface="Arial" panose="020B0604020202020204" pitchFamily="34" charset="0"/>
                <a:cs typeface="Arial" panose="020B0604020202020204" pitchFamily="34" charset="0"/>
              </a:rPr>
              <a:t>The project is short.</a:t>
            </a:r>
          </a:p>
          <a:p>
            <a:endParaRPr lang="en-IN" dirty="0"/>
          </a:p>
        </p:txBody>
      </p:sp>
    </p:spTree>
    <p:extLst>
      <p:ext uri="{BB962C8B-B14F-4D97-AF65-F5344CB8AC3E}">
        <p14:creationId xmlns:p14="http://schemas.microsoft.com/office/powerpoint/2010/main" val="3597114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IN" dirty="0"/>
          </a:p>
        </p:txBody>
      </p:sp>
      <p:sp>
        <p:nvSpPr>
          <p:cNvPr id="3" name="Content Placeholder 2"/>
          <p:cNvSpPr>
            <a:spLocks noGrp="1"/>
          </p:cNvSpPr>
          <p:nvPr>
            <p:ph idx="1"/>
          </p:nvPr>
        </p:nvSpPr>
        <p:spPr/>
        <p:txBody>
          <a:bodyPr>
            <a:normAutofit fontScale="85000" lnSpcReduction="20000"/>
          </a:bodyPr>
          <a:lstStyle/>
          <a:p>
            <a:r>
              <a:rPr lang="en-US" sz="3100" dirty="0">
                <a:latin typeface="Arial" panose="020B0604020202020204" pitchFamily="34" charset="0"/>
                <a:cs typeface="Arial" panose="020B0604020202020204" pitchFamily="34" charset="0"/>
              </a:rPr>
              <a:t>Some of the major advantages of the Waterfall Model are as follows −</a:t>
            </a:r>
          </a:p>
          <a:p>
            <a:r>
              <a:rPr lang="en-US" sz="3100" dirty="0">
                <a:latin typeface="Arial" panose="020B0604020202020204" pitchFamily="34" charset="0"/>
                <a:cs typeface="Arial" panose="020B0604020202020204" pitchFamily="34" charset="0"/>
              </a:rPr>
              <a:t>Simple and easy to understand and use</a:t>
            </a:r>
          </a:p>
          <a:p>
            <a:r>
              <a:rPr lang="en-US" sz="3100" dirty="0">
                <a:latin typeface="Arial" panose="020B0604020202020204" pitchFamily="34" charset="0"/>
                <a:cs typeface="Arial" panose="020B0604020202020204" pitchFamily="34" charset="0"/>
              </a:rPr>
              <a:t>Easy to manage due to the rigidity of the model. Each phase has specific deliverables and a review process.</a:t>
            </a:r>
          </a:p>
          <a:p>
            <a:r>
              <a:rPr lang="en-US" sz="3100" dirty="0">
                <a:latin typeface="Arial" panose="020B0604020202020204" pitchFamily="34" charset="0"/>
                <a:cs typeface="Arial" panose="020B0604020202020204" pitchFamily="34" charset="0"/>
              </a:rPr>
              <a:t>Phases are processed and completed one at a time.</a:t>
            </a:r>
          </a:p>
          <a:p>
            <a:r>
              <a:rPr lang="en-US" sz="3100" dirty="0">
                <a:latin typeface="Arial" panose="020B0604020202020204" pitchFamily="34" charset="0"/>
                <a:cs typeface="Arial" panose="020B0604020202020204" pitchFamily="34" charset="0"/>
              </a:rPr>
              <a:t>Works well for smaller projects where requirements are very well understood.</a:t>
            </a:r>
          </a:p>
          <a:p>
            <a:r>
              <a:rPr lang="en-US" sz="3100" dirty="0">
                <a:latin typeface="Arial" panose="020B0604020202020204" pitchFamily="34" charset="0"/>
                <a:cs typeface="Arial" panose="020B0604020202020204" pitchFamily="34" charset="0"/>
              </a:rPr>
              <a:t>Clearly defined stages.</a:t>
            </a:r>
          </a:p>
          <a:p>
            <a:r>
              <a:rPr lang="en-US" sz="3100" dirty="0">
                <a:latin typeface="Arial" panose="020B0604020202020204" pitchFamily="34" charset="0"/>
                <a:cs typeface="Arial" panose="020B0604020202020204" pitchFamily="34" charset="0"/>
              </a:rPr>
              <a:t>Well understood milestones.</a:t>
            </a:r>
          </a:p>
          <a:p>
            <a:r>
              <a:rPr lang="en-US" sz="3100" dirty="0">
                <a:latin typeface="Arial" panose="020B0604020202020204" pitchFamily="34" charset="0"/>
                <a:cs typeface="Arial" panose="020B0604020202020204" pitchFamily="34" charset="0"/>
              </a:rPr>
              <a:t>Easy to arrange tasks.</a:t>
            </a:r>
          </a:p>
          <a:p>
            <a:endParaRPr lang="en-IN" dirty="0"/>
          </a:p>
        </p:txBody>
      </p:sp>
    </p:spTree>
    <p:extLst>
      <p:ext uri="{BB962C8B-B14F-4D97-AF65-F5344CB8AC3E}">
        <p14:creationId xmlns:p14="http://schemas.microsoft.com/office/powerpoint/2010/main" val="3014800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DLC Spiral Model"/>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3070489" y="1562385"/>
            <a:ext cx="4228572" cy="4571429"/>
          </a:xfrm>
          <a:prstGeom prst="rect">
            <a:avLst/>
          </a:prstGeom>
          <a:noFill/>
          <a:ln>
            <a:noFill/>
          </a:ln>
        </p:spPr>
      </p:pic>
      <p:sp>
        <p:nvSpPr>
          <p:cNvPr id="2" name="TextBox 1"/>
          <p:cNvSpPr txBox="1"/>
          <p:nvPr/>
        </p:nvSpPr>
        <p:spPr>
          <a:xfrm>
            <a:off x="2339752" y="764704"/>
            <a:ext cx="5544616" cy="461665"/>
          </a:xfrm>
          <a:prstGeom prst="rect">
            <a:avLst/>
          </a:prstGeom>
          <a:noFill/>
        </p:spPr>
        <p:txBody>
          <a:bodyPr wrap="square" rtlCol="0">
            <a:spAutoFit/>
          </a:bodyPr>
          <a:lstStyle/>
          <a:p>
            <a:r>
              <a:rPr lang="en-US" dirty="0" smtClean="0"/>
              <a:t>                    </a:t>
            </a:r>
            <a:r>
              <a:rPr lang="en-US" sz="2400" b="1" dirty="0" smtClean="0">
                <a:latin typeface="Arial" panose="020B0604020202020204" pitchFamily="34" charset="0"/>
                <a:cs typeface="Arial" panose="020B0604020202020204" pitchFamily="34" charset="0"/>
              </a:rPr>
              <a:t>SPRIAL  MODEL</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316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IN" sz="1800" dirty="0">
                <a:latin typeface="Arial" panose="020B0604020202020204" pitchFamily="34" charset="0"/>
                <a:cs typeface="Arial" panose="020B0604020202020204" pitchFamily="34" charset="0"/>
              </a:rPr>
              <a:t>The spiral model has four phases. A software project repeatedly passes through these phases in iterations called Spirals.</a:t>
            </a:r>
          </a:p>
          <a:p>
            <a:r>
              <a:rPr lang="en-IN" sz="1800" dirty="0">
                <a:latin typeface="Arial" panose="020B0604020202020204" pitchFamily="34" charset="0"/>
                <a:cs typeface="Arial" panose="020B0604020202020204" pitchFamily="34" charset="0"/>
              </a:rPr>
              <a:t>Identification</a:t>
            </a:r>
            <a:endParaRPr lang="en-IN" sz="1800" b="1"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This phase starts with gathering the business requirements in the baseline spiral. In the subsequent spirals as the product matures, identification of system requirements, subsystem requirements and unit requirements are all done in this phase.</a:t>
            </a:r>
          </a:p>
          <a:p>
            <a:r>
              <a:rPr lang="en-IN" sz="1800" dirty="0">
                <a:latin typeface="Arial" panose="020B0604020202020204" pitchFamily="34" charset="0"/>
                <a:cs typeface="Arial" panose="020B0604020202020204" pitchFamily="34" charset="0"/>
              </a:rPr>
              <a:t>This phase also includes understanding the system requirements by continuous communication between the customer and the system analyst. At the end of the spiral, the product is deployed in the identified market.</a:t>
            </a:r>
          </a:p>
          <a:p>
            <a:endParaRPr lang="en-IN" sz="1800" b="1"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The Design phase starts with the conceptual design in the baseline spiral and involves architectural design, logical design of modules, physical product design and the final design in the subsequent spirals.</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5626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IN" sz="1800" dirty="0">
                <a:latin typeface="Arial" panose="020B0604020202020204" pitchFamily="34" charset="0"/>
                <a:cs typeface="Arial" panose="020B0604020202020204" pitchFamily="34" charset="0"/>
              </a:rPr>
              <a:t>Construct or Build</a:t>
            </a:r>
            <a:endParaRPr lang="en-IN" sz="1800" b="1"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The Construct phase refers to production of the actual software product at every spiral. In the baseline spiral, when the product is just thought of and the design is being developed a POC (Proof of Concept) is developed in this phase to get customer feedback.</a:t>
            </a:r>
          </a:p>
          <a:p>
            <a:r>
              <a:rPr lang="en-IN" sz="1800" dirty="0">
                <a:latin typeface="Arial" panose="020B0604020202020204" pitchFamily="34" charset="0"/>
                <a:cs typeface="Arial" panose="020B0604020202020204" pitchFamily="34" charset="0"/>
              </a:rPr>
              <a:t>Then in the subsequent spirals with higher clarity on requirements and design details a working model of the software called build is produced with a version number. These builds are sent to the customer for feedback.</a:t>
            </a:r>
          </a:p>
          <a:p>
            <a:r>
              <a:rPr lang="en-IN" sz="1800" dirty="0">
                <a:latin typeface="Arial" panose="020B0604020202020204" pitchFamily="34" charset="0"/>
                <a:cs typeface="Arial" panose="020B0604020202020204" pitchFamily="34" charset="0"/>
              </a:rPr>
              <a:t>Evaluation and Risk Analysis</a:t>
            </a:r>
            <a:endParaRPr lang="en-IN" sz="1800" b="1" dirty="0">
              <a:latin typeface="Arial" panose="020B0604020202020204" pitchFamily="34" charset="0"/>
              <a:cs typeface="Arial" panose="020B0604020202020204" pitchFamily="34" charset="0"/>
            </a:endParaRPr>
          </a:p>
          <a:p>
            <a:r>
              <a:rPr lang="en-IN" sz="1800" dirty="0">
                <a:latin typeface="Arial" panose="020B0604020202020204" pitchFamily="34" charset="0"/>
                <a:cs typeface="Arial" panose="020B0604020202020204" pitchFamily="34" charset="0"/>
              </a:rPr>
              <a:t>Risk Analysis includes identifying, estimating and monitoring the technical feasibility and management risks, such as schedule slippage and cost overrun. After testing the build, at the end of first iteration, the customer evaluates the software and provides feedback.</a:t>
            </a:r>
          </a:p>
          <a:p>
            <a:r>
              <a:rPr lang="en-IN" sz="1800" dirty="0">
                <a:latin typeface="Arial" panose="020B0604020202020204" pitchFamily="34" charset="0"/>
                <a:cs typeface="Arial" panose="020B0604020202020204" pitchFamily="34" charset="0"/>
              </a:rPr>
              <a:t>The following illustration is a representation of the Spiral Model, listing the activities in each phase.</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457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Spiral Model - Pros and Cons</a:t>
            </a:r>
            <a:r>
              <a:rPr lang="en-IN" b="1" dirty="0"/>
              <a:t/>
            </a:r>
            <a:br>
              <a:rPr lang="en-IN" b="1" dirty="0"/>
            </a:br>
            <a:endParaRPr lang="en-IN" dirty="0"/>
          </a:p>
        </p:txBody>
      </p:sp>
      <p:sp>
        <p:nvSpPr>
          <p:cNvPr id="3" name="Content Placeholder 2"/>
          <p:cNvSpPr>
            <a:spLocks noGrp="1"/>
          </p:cNvSpPr>
          <p:nvPr>
            <p:ph idx="1"/>
          </p:nvPr>
        </p:nvSpPr>
        <p:spPr/>
        <p:txBody>
          <a:bodyPr>
            <a:noAutofit/>
          </a:bodyPr>
          <a:lstStyle/>
          <a:p>
            <a:r>
              <a:rPr lang="en-IN" sz="1800" dirty="0">
                <a:latin typeface="Arial" panose="020B0604020202020204" pitchFamily="34" charset="0"/>
                <a:cs typeface="Arial" panose="020B0604020202020204" pitchFamily="34" charset="0"/>
              </a:rPr>
              <a:t>The advantages of the Spiral SDLC Model are as follows −</a:t>
            </a:r>
          </a:p>
          <a:p>
            <a:pPr lvl="0"/>
            <a:r>
              <a:rPr lang="en-IN" sz="1800" dirty="0">
                <a:latin typeface="Arial" panose="020B0604020202020204" pitchFamily="34" charset="0"/>
                <a:cs typeface="Arial" panose="020B0604020202020204" pitchFamily="34" charset="0"/>
              </a:rPr>
              <a:t>Changing requirements can be accommodated.</a:t>
            </a:r>
          </a:p>
          <a:p>
            <a:pPr lvl="0"/>
            <a:r>
              <a:rPr lang="en-IN" sz="1800" dirty="0">
                <a:latin typeface="Arial" panose="020B0604020202020204" pitchFamily="34" charset="0"/>
                <a:cs typeface="Arial" panose="020B0604020202020204" pitchFamily="34" charset="0"/>
              </a:rPr>
              <a:t>Allows extensive use of prototypes.</a:t>
            </a:r>
          </a:p>
          <a:p>
            <a:pPr lvl="0"/>
            <a:r>
              <a:rPr lang="en-IN" sz="1800" dirty="0">
                <a:latin typeface="Arial" panose="020B0604020202020204" pitchFamily="34" charset="0"/>
                <a:cs typeface="Arial" panose="020B0604020202020204" pitchFamily="34" charset="0"/>
              </a:rPr>
              <a:t>Requirements can be captured more accurately.</a:t>
            </a:r>
          </a:p>
          <a:p>
            <a:pPr lvl="0"/>
            <a:r>
              <a:rPr lang="en-IN" sz="1800" dirty="0">
                <a:latin typeface="Arial" panose="020B0604020202020204" pitchFamily="34" charset="0"/>
                <a:cs typeface="Arial" panose="020B0604020202020204" pitchFamily="34" charset="0"/>
              </a:rPr>
              <a:t>Users see the system early.</a:t>
            </a:r>
          </a:p>
          <a:p>
            <a:pPr lvl="0"/>
            <a:r>
              <a:rPr lang="en-IN" sz="1800" dirty="0">
                <a:latin typeface="Arial" panose="020B0604020202020204" pitchFamily="34" charset="0"/>
                <a:cs typeface="Arial" panose="020B0604020202020204" pitchFamily="34" charset="0"/>
              </a:rPr>
              <a:t>Development can be divided into smaller parts and the risky parts can be developed earlier which helps in better risk management.</a:t>
            </a:r>
          </a:p>
          <a:p>
            <a:r>
              <a:rPr lang="en-IN" sz="1800" dirty="0">
                <a:latin typeface="Arial" panose="020B0604020202020204" pitchFamily="34" charset="0"/>
                <a:cs typeface="Arial" panose="020B0604020202020204" pitchFamily="34" charset="0"/>
              </a:rPr>
              <a:t>The disadvantages of the Spiral SDLC Model are as follows −</a:t>
            </a:r>
          </a:p>
          <a:p>
            <a:pPr lvl="0"/>
            <a:r>
              <a:rPr lang="en-IN" sz="1800" dirty="0">
                <a:latin typeface="Arial" panose="020B0604020202020204" pitchFamily="34" charset="0"/>
                <a:cs typeface="Arial" panose="020B0604020202020204" pitchFamily="34" charset="0"/>
              </a:rPr>
              <a:t>Management is more complex.</a:t>
            </a:r>
          </a:p>
          <a:p>
            <a:pPr lvl="0"/>
            <a:r>
              <a:rPr lang="en-IN" sz="1800" dirty="0">
                <a:latin typeface="Arial" panose="020B0604020202020204" pitchFamily="34" charset="0"/>
                <a:cs typeface="Arial" panose="020B0604020202020204" pitchFamily="34" charset="0"/>
              </a:rPr>
              <a:t>End of the project may not be known early.</a:t>
            </a:r>
          </a:p>
          <a:p>
            <a:pPr lvl="0"/>
            <a:r>
              <a:rPr lang="en-IN" sz="1800" dirty="0">
                <a:latin typeface="Arial" panose="020B0604020202020204" pitchFamily="34" charset="0"/>
                <a:cs typeface="Arial" panose="020B0604020202020204" pitchFamily="34" charset="0"/>
              </a:rPr>
              <a:t>Not suitable for small or low risk projects and could be expensive for small projects.</a:t>
            </a:r>
          </a:p>
          <a:p>
            <a:pPr lvl="0"/>
            <a:r>
              <a:rPr lang="en-IN" sz="1800" dirty="0">
                <a:latin typeface="Arial" panose="020B0604020202020204" pitchFamily="34" charset="0"/>
                <a:cs typeface="Arial" panose="020B0604020202020204" pitchFamily="34" charset="0"/>
              </a:rPr>
              <a:t>Process is complex</a:t>
            </a:r>
          </a:p>
          <a:p>
            <a:pPr lvl="0"/>
            <a:r>
              <a:rPr lang="en-IN" sz="1800" dirty="0">
                <a:latin typeface="Arial" panose="020B0604020202020204" pitchFamily="34" charset="0"/>
                <a:cs typeface="Arial" panose="020B0604020202020204" pitchFamily="34" charset="0"/>
              </a:rPr>
              <a:t>Spiral may go on indefinitely.</a:t>
            </a:r>
          </a:p>
          <a:p>
            <a:pPr lvl="0"/>
            <a:r>
              <a:rPr lang="en-IN" sz="1800" dirty="0">
                <a:latin typeface="Arial" panose="020B0604020202020204" pitchFamily="34" charset="0"/>
                <a:cs typeface="Arial" panose="020B0604020202020204" pitchFamily="34" charset="0"/>
              </a:rPr>
              <a:t>Large number of intermediate stages requires excessive documentation.</a:t>
            </a:r>
          </a:p>
          <a:p>
            <a:r>
              <a:rPr lang="en-IN" sz="1800" dirty="0">
                <a:latin typeface="Arial" panose="020B0604020202020204" pitchFamily="34" charset="0"/>
                <a:cs typeface="Arial" panose="020B0604020202020204" pitchFamily="34" charset="0"/>
              </a:rPr>
              <a:t> </a:t>
            </a:r>
          </a:p>
          <a:p>
            <a:r>
              <a:rPr lang="en-IN" sz="1800" dirty="0">
                <a:latin typeface="Arial" panose="020B0604020202020204" pitchFamily="34" charset="0"/>
                <a:cs typeface="Arial" panose="020B0604020202020204" pitchFamily="34" charset="0"/>
              </a:rPr>
              <a:t> </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6378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628800"/>
            <a:ext cx="7293496" cy="1705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3866294"/>
            <a:ext cx="7056784" cy="1306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5488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Unified Process</a:t>
            </a:r>
          </a:p>
        </p:txBody>
      </p:sp>
      <p:sp>
        <p:nvSpPr>
          <p:cNvPr id="3" name="Content Placeholder 2"/>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The name </a:t>
            </a:r>
            <a:r>
              <a:rPr lang="en-US" sz="2000" i="1" dirty="0">
                <a:latin typeface="Arial" panose="020B0604020202020204" pitchFamily="34" charset="0"/>
                <a:cs typeface="Arial" panose="020B0604020202020204" pitchFamily="34" charset="0"/>
              </a:rPr>
              <a:t>Unified Process</a:t>
            </a:r>
            <a:r>
              <a:rPr lang="en-US" sz="2000" dirty="0">
                <a:latin typeface="Arial" panose="020B0604020202020204" pitchFamily="34" charset="0"/>
                <a:cs typeface="Arial" panose="020B0604020202020204" pitchFamily="34" charset="0"/>
              </a:rPr>
              <a:t> as opposed to </a:t>
            </a:r>
            <a:r>
              <a:rPr lang="en-US" sz="2000" i="1" dirty="0">
                <a:latin typeface="Arial" panose="020B0604020202020204" pitchFamily="34" charset="0"/>
                <a:cs typeface="Arial" panose="020B0604020202020204" pitchFamily="34" charset="0"/>
                <a:hlinkClick r:id="rId2" tooltip="Rational Unified Process"/>
              </a:rPr>
              <a:t>Rational Unified Process</a:t>
            </a:r>
            <a:r>
              <a:rPr lang="en-US" sz="2000" dirty="0">
                <a:latin typeface="Arial" panose="020B0604020202020204" pitchFamily="34" charset="0"/>
                <a:cs typeface="Arial" panose="020B0604020202020204" pitchFamily="34" charset="0"/>
              </a:rPr>
              <a:t> is generally used to describe the generic process, including those elements which are common to most refinements</a:t>
            </a:r>
            <a:r>
              <a:rPr lang="en-US" sz="2000" dirty="0" smtClean="0">
                <a:latin typeface="Arial" panose="020B0604020202020204" pitchFamily="34" charset="0"/>
                <a:cs typeface="Arial" panose="020B0604020202020204" pitchFamily="34" charset="0"/>
              </a:rPr>
              <a:t>.</a:t>
            </a:r>
          </a:p>
          <a:p>
            <a:r>
              <a:rPr lang="en-US" sz="2000" dirty="0" smtClean="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t>
            </a:r>
            <a:r>
              <a:rPr lang="en-US" sz="2000" i="1" dirty="0">
                <a:latin typeface="Arial" panose="020B0604020202020204" pitchFamily="34" charset="0"/>
                <a:cs typeface="Arial" panose="020B0604020202020204" pitchFamily="34" charset="0"/>
              </a:rPr>
              <a:t>Unified Process</a:t>
            </a:r>
            <a:r>
              <a:rPr lang="en-US" sz="2000" dirty="0">
                <a:latin typeface="Arial" panose="020B0604020202020204" pitchFamily="34" charset="0"/>
                <a:cs typeface="Arial" panose="020B0604020202020204" pitchFamily="34" charset="0"/>
              </a:rPr>
              <a:t> name is also used to avoid potential issues of trademark infringement since </a:t>
            </a:r>
            <a:r>
              <a:rPr lang="en-US" sz="2000" i="1" dirty="0">
                <a:latin typeface="Arial" panose="020B0604020202020204" pitchFamily="34" charset="0"/>
                <a:cs typeface="Arial" panose="020B0604020202020204" pitchFamily="34" charset="0"/>
              </a:rPr>
              <a:t>Rational Unified Process</a:t>
            </a:r>
            <a:r>
              <a:rPr lang="en-US" sz="2000" dirty="0">
                <a:latin typeface="Arial" panose="020B0604020202020204" pitchFamily="34" charset="0"/>
                <a:cs typeface="Arial" panose="020B0604020202020204" pitchFamily="34" charset="0"/>
              </a:rPr>
              <a:t> and </a:t>
            </a:r>
            <a:r>
              <a:rPr lang="en-US" sz="2000" i="1" dirty="0">
                <a:latin typeface="Arial" panose="020B0604020202020204" pitchFamily="34" charset="0"/>
                <a:cs typeface="Arial" panose="020B0604020202020204" pitchFamily="34" charset="0"/>
              </a:rPr>
              <a:t>RUP</a:t>
            </a:r>
            <a:r>
              <a:rPr lang="en-US" sz="2000" dirty="0">
                <a:latin typeface="Arial" panose="020B0604020202020204" pitchFamily="34" charset="0"/>
                <a:cs typeface="Arial" panose="020B0604020202020204" pitchFamily="34" charset="0"/>
              </a:rPr>
              <a:t> are trademarks of </a:t>
            </a:r>
            <a:r>
              <a:rPr lang="en-US" sz="2000" u="sng" dirty="0">
                <a:latin typeface="Arial" panose="020B0604020202020204" pitchFamily="34" charset="0"/>
                <a:cs typeface="Arial" panose="020B0604020202020204" pitchFamily="34" charset="0"/>
                <a:hlinkClick r:id="rId3"/>
              </a:rPr>
              <a:t>IBM</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2378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638467" y="1447800"/>
            <a:ext cx="7092615"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4654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Incremental </a:t>
            </a:r>
            <a:r>
              <a:rPr lang="en-US" dirty="0"/>
              <a:t>Model</a:t>
            </a:r>
            <a:br>
              <a:rPr lang="en-US" dirty="0"/>
            </a:br>
            <a:endParaRPr lang="en-IN" dirty="0"/>
          </a:p>
        </p:txBody>
      </p:sp>
      <p:sp>
        <p:nvSpPr>
          <p:cNvPr id="3" name="Content Placeholder 2"/>
          <p:cNvSpPr>
            <a:spLocks noGrp="1"/>
          </p:cNvSpPr>
          <p:nvPr>
            <p:ph idx="1"/>
          </p:nvPr>
        </p:nvSpPr>
        <p:spPr/>
        <p:txBody>
          <a:bodyPr>
            <a:normAutofit/>
          </a:bodyPr>
          <a:lstStyle/>
          <a:p>
            <a:r>
              <a:rPr lang="en-US" sz="2400" dirty="0" smtClean="0">
                <a:latin typeface="Arial" panose="020B0604020202020204" pitchFamily="34" charset="0"/>
                <a:cs typeface="Arial" panose="020B0604020202020204" pitchFamily="34" charset="0"/>
              </a:rPr>
              <a:t>Incremental </a:t>
            </a:r>
            <a:r>
              <a:rPr lang="en-US" sz="2400" dirty="0">
                <a:latin typeface="Arial" panose="020B0604020202020204" pitchFamily="34" charset="0"/>
                <a:cs typeface="Arial" panose="020B0604020202020204" pitchFamily="34" charset="0"/>
              </a:rPr>
              <a:t>Model is a process of software development where requirements divided into multiple standalone modules of the software development cycle.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In </a:t>
            </a:r>
            <a:r>
              <a:rPr lang="en-US" sz="2400" dirty="0">
                <a:latin typeface="Arial" panose="020B0604020202020204" pitchFamily="34" charset="0"/>
                <a:cs typeface="Arial" panose="020B0604020202020204" pitchFamily="34" charset="0"/>
              </a:rPr>
              <a:t>this model, each module goes through the requirements, design, implementation and testing phases. Every subsequent release of the module adds function to the previous release.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rPr>
              <a:t>The </a:t>
            </a:r>
            <a:r>
              <a:rPr lang="en-US" sz="2400" dirty="0">
                <a:latin typeface="Arial" panose="020B0604020202020204" pitchFamily="34" charset="0"/>
                <a:cs typeface="Arial" panose="020B0604020202020204" pitchFamily="34" charset="0"/>
              </a:rPr>
              <a:t>process continues until the complete system achieved.</a:t>
            </a:r>
          </a:p>
          <a:p>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6977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phases of incremental model</a:t>
            </a:r>
            <a:endParaRPr lang="en-IN" dirty="0"/>
          </a:p>
        </p:txBody>
      </p:sp>
      <p:sp>
        <p:nvSpPr>
          <p:cNvPr id="3" name="Content Placeholder 2"/>
          <p:cNvSpPr>
            <a:spLocks noGrp="1"/>
          </p:cNvSpPr>
          <p:nvPr>
            <p:ph idx="1"/>
          </p:nvPr>
        </p:nvSpPr>
        <p:spPr/>
        <p:txBody>
          <a:bodyPr>
            <a:normAutofit fontScale="55000" lnSpcReduction="20000"/>
          </a:bodyPr>
          <a:lstStyle/>
          <a:p>
            <a:r>
              <a:rPr lang="en-US" dirty="0"/>
              <a:t>The various phases of incremental model are as follows:</a:t>
            </a:r>
          </a:p>
          <a:p>
            <a:r>
              <a:rPr lang="en-US" b="1" dirty="0"/>
              <a:t>1. Requirement analysis:</a:t>
            </a:r>
            <a:r>
              <a:rPr lang="en-US" dirty="0"/>
              <a:t> In the first phase of the incremental model, the product analysis expertise identifies the requirements. And the system functional requirements are understood by the requirement analysis team. To develop the software under the incremental model, this phase performs a crucial role.</a:t>
            </a:r>
          </a:p>
          <a:p>
            <a:r>
              <a:rPr lang="en-US" b="1" dirty="0"/>
              <a:t>2. Design &amp; Development:</a:t>
            </a:r>
            <a:r>
              <a:rPr lang="en-US" dirty="0"/>
              <a:t> In this phase of the Incremental model of SDLC, the design of the system functionality and the development method are finished with success. When software develops new practicality, the incremental model uses style and development phase.</a:t>
            </a:r>
          </a:p>
          <a:p>
            <a:r>
              <a:rPr lang="en-US" b="1" dirty="0"/>
              <a:t>3. Testing:</a:t>
            </a:r>
            <a:r>
              <a:rPr lang="en-US" dirty="0"/>
              <a:t> In the incremental model, the testing phase checks the performance of each existing function as well as additional functionality. In the testing phase, the various methods are used to test the behavior of each task.</a:t>
            </a:r>
          </a:p>
          <a:p>
            <a:r>
              <a:rPr lang="en-US" b="1" dirty="0"/>
              <a:t>4. Implementation:</a:t>
            </a:r>
            <a:r>
              <a:rPr lang="en-US" dirty="0"/>
              <a:t> Implementation phase enables the coding phase of the development system. It involves the final coding that design in the designing and development phase and tests the functionality in the testing phase. After completion of this phase, the number of the product working is enhanced and upgraded up to the final system product</a:t>
            </a:r>
          </a:p>
          <a:p>
            <a:endParaRPr lang="en-IN" dirty="0"/>
          </a:p>
        </p:txBody>
      </p:sp>
    </p:spTree>
    <p:extLst>
      <p:ext uri="{BB962C8B-B14F-4D97-AF65-F5344CB8AC3E}">
        <p14:creationId xmlns:p14="http://schemas.microsoft.com/office/powerpoint/2010/main" val="1355889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p:txBody>
      </p:sp>
      <p:pic>
        <p:nvPicPr>
          <p:cNvPr id="4" name="Picture 3" descr="Incremental Model"/>
          <p:cNvPicPr/>
          <p:nvPr/>
        </p:nvPicPr>
        <p:blipFill>
          <a:blip r:embed="rId2">
            <a:extLst>
              <a:ext uri="{28A0092B-C50C-407E-A947-70E740481C1C}">
                <a14:useLocalDpi xmlns:a14="http://schemas.microsoft.com/office/drawing/2010/main" val="0"/>
              </a:ext>
            </a:extLst>
          </a:blip>
          <a:srcRect/>
          <a:stretch>
            <a:fillRect/>
          </a:stretch>
        </p:blipFill>
        <p:spPr bwMode="auto">
          <a:xfrm>
            <a:off x="991552" y="1368743"/>
            <a:ext cx="7160895" cy="4120515"/>
          </a:xfrm>
          <a:prstGeom prst="rect">
            <a:avLst/>
          </a:prstGeom>
          <a:noFill/>
          <a:ln>
            <a:noFill/>
          </a:ln>
        </p:spPr>
      </p:pic>
    </p:spTree>
    <p:extLst>
      <p:ext uri="{BB962C8B-B14F-4D97-AF65-F5344CB8AC3E}">
        <p14:creationId xmlns:p14="http://schemas.microsoft.com/office/powerpoint/2010/main" val="1355513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IN" dirty="0"/>
              <a:t>When we use the Incremental Model?</a:t>
            </a:r>
            <a:endParaRPr lang="en-IN" b="1" dirty="0"/>
          </a:p>
          <a:p>
            <a:pPr lvl="0"/>
            <a:r>
              <a:rPr lang="en-IN" dirty="0"/>
              <a:t>When the requirements are superior.</a:t>
            </a:r>
          </a:p>
          <a:p>
            <a:pPr lvl="0"/>
            <a:r>
              <a:rPr lang="en-IN" dirty="0"/>
              <a:t>A project has a lengthy development schedule.</a:t>
            </a:r>
          </a:p>
          <a:p>
            <a:pPr lvl="0"/>
            <a:r>
              <a:rPr lang="en-IN" dirty="0"/>
              <a:t>When Software team are not very well skilled or trained.</a:t>
            </a:r>
          </a:p>
          <a:p>
            <a:pPr lvl="0"/>
            <a:r>
              <a:rPr lang="en-IN" dirty="0"/>
              <a:t>When the customer demands a quick release of the product.</a:t>
            </a:r>
          </a:p>
          <a:p>
            <a:pPr lvl="0"/>
            <a:r>
              <a:rPr lang="en-IN" dirty="0"/>
              <a:t>You can develop prioritized requirements first.</a:t>
            </a:r>
          </a:p>
          <a:p>
            <a:r>
              <a:rPr lang="en-IN" dirty="0"/>
              <a:t>Advantage of Incremental Model</a:t>
            </a:r>
            <a:endParaRPr lang="en-IN" b="1" dirty="0"/>
          </a:p>
          <a:p>
            <a:pPr lvl="0"/>
            <a:r>
              <a:rPr lang="en-IN" dirty="0"/>
              <a:t>Errors are easy to be recognized.</a:t>
            </a:r>
          </a:p>
          <a:p>
            <a:pPr lvl="0"/>
            <a:r>
              <a:rPr lang="en-IN" dirty="0"/>
              <a:t>Easier to test and debug</a:t>
            </a:r>
          </a:p>
          <a:p>
            <a:pPr lvl="0"/>
            <a:r>
              <a:rPr lang="en-IN" dirty="0"/>
              <a:t>More flexible.</a:t>
            </a:r>
          </a:p>
          <a:p>
            <a:pPr lvl="0"/>
            <a:r>
              <a:rPr lang="en-IN" dirty="0"/>
              <a:t>Simple to manage risk because it handled during its iteration.</a:t>
            </a:r>
          </a:p>
          <a:p>
            <a:pPr lvl="0"/>
            <a:r>
              <a:rPr lang="en-IN" dirty="0"/>
              <a:t>The Client gets important functionality early.</a:t>
            </a:r>
          </a:p>
          <a:p>
            <a:endParaRPr lang="en-IN" dirty="0"/>
          </a:p>
        </p:txBody>
      </p:sp>
    </p:spTree>
    <p:extLst>
      <p:ext uri="{BB962C8B-B14F-4D97-AF65-F5344CB8AC3E}">
        <p14:creationId xmlns:p14="http://schemas.microsoft.com/office/powerpoint/2010/main" val="2188572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Agile process model</a:t>
            </a:r>
            <a:endParaRPr lang="en-IN" dirty="0"/>
          </a:p>
        </p:txBody>
      </p:sp>
      <p:sp>
        <p:nvSpPr>
          <p:cNvPr id="3" name="Content Placeholder 2"/>
          <p:cNvSpPr>
            <a:spLocks noGrp="1"/>
          </p:cNvSpPr>
          <p:nvPr>
            <p:ph idx="1"/>
          </p:nvPr>
        </p:nvSpPr>
        <p:spPr/>
        <p:txBody>
          <a:bodyPr>
            <a:normAutofit fontScale="62500" lnSpcReduction="20000"/>
          </a:bodyPr>
          <a:lstStyle/>
          <a:p>
            <a:r>
              <a:rPr lang="en-IN" dirty="0">
                <a:latin typeface="Arial" panose="020B0604020202020204" pitchFamily="34" charset="0"/>
                <a:cs typeface="Arial" panose="020B0604020202020204" pitchFamily="34" charset="0"/>
              </a:rPr>
              <a:t>Agile Model</a:t>
            </a:r>
            <a:endParaRPr lang="en-IN" b="1"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The meaning of Agile is swift or </a:t>
            </a:r>
            <a:r>
              <a:rPr lang="en-IN" dirty="0" err="1">
                <a:latin typeface="Arial" panose="020B0604020202020204" pitchFamily="34" charset="0"/>
                <a:cs typeface="Arial" panose="020B0604020202020204" pitchFamily="34" charset="0"/>
              </a:rPr>
              <a:t>versatile."</a:t>
            </a:r>
            <a:r>
              <a:rPr lang="en-IN" b="1" dirty="0" err="1">
                <a:latin typeface="Arial" panose="020B0604020202020204" pitchFamily="34" charset="0"/>
                <a:cs typeface="Arial" panose="020B0604020202020204" pitchFamily="34" charset="0"/>
              </a:rPr>
              <a:t>Agile</a:t>
            </a:r>
            <a:r>
              <a:rPr lang="en-IN" b="1" dirty="0">
                <a:latin typeface="Arial" panose="020B0604020202020204" pitchFamily="34" charset="0"/>
                <a:cs typeface="Arial" panose="020B0604020202020204" pitchFamily="34" charset="0"/>
              </a:rPr>
              <a:t> process model</a:t>
            </a:r>
            <a:r>
              <a:rPr lang="en-IN" dirty="0">
                <a:latin typeface="Arial" panose="020B0604020202020204" pitchFamily="34" charset="0"/>
                <a:cs typeface="Arial" panose="020B0604020202020204" pitchFamily="34" charset="0"/>
              </a:rPr>
              <a:t>" refers to a software development approach based on iterative development. Agile methods break tasks into smaller iterations, or parts do not directly involve long term planning. </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project scope and requirements are laid down at the beginning of the development process. Plans regarding the number of iterations, the duration and the scope of each iteration are clearly defined in advance.</a:t>
            </a:r>
          </a:p>
          <a:p>
            <a:r>
              <a:rPr lang="en-IN" dirty="0">
                <a:latin typeface="Arial" panose="020B0604020202020204" pitchFamily="34" charset="0"/>
                <a:cs typeface="Arial" panose="020B0604020202020204" pitchFamily="34" charset="0"/>
              </a:rPr>
              <a:t>Each iteration is considered as a short time "frame" in the Agile process model, which typically lasts from one to four weeks. The division of the entire project into smaller parts helps to minimize the project risk and to reduce the overall project delivery time requirements. </a:t>
            </a:r>
            <a:endParaRPr lang="en-IN" dirty="0" smtClean="0">
              <a:latin typeface="Arial" panose="020B0604020202020204" pitchFamily="34" charset="0"/>
              <a:cs typeface="Arial" panose="020B0604020202020204" pitchFamily="34" charset="0"/>
            </a:endParaRPr>
          </a:p>
          <a:p>
            <a:r>
              <a:rPr lang="en-IN" dirty="0" smtClean="0">
                <a:latin typeface="Arial" panose="020B0604020202020204" pitchFamily="34" charset="0"/>
                <a:cs typeface="Arial" panose="020B0604020202020204" pitchFamily="34" charset="0"/>
              </a:rPr>
              <a:t>Each </a:t>
            </a:r>
            <a:r>
              <a:rPr lang="en-IN" dirty="0">
                <a:latin typeface="Arial" panose="020B0604020202020204" pitchFamily="34" charset="0"/>
                <a:cs typeface="Arial" panose="020B0604020202020204" pitchFamily="34" charset="0"/>
              </a:rPr>
              <a:t>iteration involves a team working through a full software development life cycle including planning, requirements analysis, design, coding, and testing before a working product is demonstrated to the client.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2908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gile Model"/>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460965" y="1824290"/>
            <a:ext cx="5447619" cy="4047619"/>
          </a:xfrm>
          <a:prstGeom prst="rect">
            <a:avLst/>
          </a:prstGeom>
          <a:noFill/>
          <a:ln>
            <a:noFill/>
          </a:ln>
        </p:spPr>
      </p:pic>
    </p:spTree>
    <p:extLst>
      <p:ext uri="{BB962C8B-B14F-4D97-AF65-F5344CB8AC3E}">
        <p14:creationId xmlns:p14="http://schemas.microsoft.com/office/powerpoint/2010/main" val="1810554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2400" dirty="0">
                <a:latin typeface="Arial" panose="020B0604020202020204" pitchFamily="34" charset="0"/>
                <a:cs typeface="Arial" panose="020B0604020202020204" pitchFamily="34" charset="0"/>
              </a:rPr>
              <a:t>Phases of Agile Model:</a:t>
            </a:r>
            <a:endParaRPr lang="en-IN" sz="2400" b="1" dirty="0">
              <a:latin typeface="Arial" panose="020B0604020202020204" pitchFamily="34" charset="0"/>
              <a:cs typeface="Arial" panose="020B0604020202020204" pitchFamily="34" charset="0"/>
            </a:endParaRPr>
          </a:p>
          <a:p>
            <a:r>
              <a:rPr lang="en-IN" sz="2400" dirty="0">
                <a:latin typeface="Arial" panose="020B0604020202020204" pitchFamily="34" charset="0"/>
                <a:cs typeface="Arial" panose="020B0604020202020204" pitchFamily="34" charset="0"/>
              </a:rPr>
              <a:t>Following are the phases in the Agile model are as follows:</a:t>
            </a:r>
          </a:p>
          <a:p>
            <a:pPr lvl="0"/>
            <a:r>
              <a:rPr lang="en-IN" sz="2400" dirty="0">
                <a:latin typeface="Arial" panose="020B0604020202020204" pitchFamily="34" charset="0"/>
                <a:cs typeface="Arial" panose="020B0604020202020204" pitchFamily="34" charset="0"/>
              </a:rPr>
              <a:t>Requirements gathering</a:t>
            </a:r>
          </a:p>
          <a:p>
            <a:pPr lvl="0"/>
            <a:r>
              <a:rPr lang="en-IN" sz="2400" dirty="0">
                <a:latin typeface="Arial" panose="020B0604020202020204" pitchFamily="34" charset="0"/>
                <a:cs typeface="Arial" panose="020B0604020202020204" pitchFamily="34" charset="0"/>
              </a:rPr>
              <a:t>Design the requirements</a:t>
            </a:r>
          </a:p>
          <a:p>
            <a:pPr lvl="0"/>
            <a:r>
              <a:rPr lang="en-IN" sz="2400" dirty="0">
                <a:latin typeface="Arial" panose="020B0604020202020204" pitchFamily="34" charset="0"/>
                <a:cs typeface="Arial" panose="020B0604020202020204" pitchFamily="34" charset="0"/>
              </a:rPr>
              <a:t>Construction/ iteration</a:t>
            </a:r>
          </a:p>
          <a:p>
            <a:pPr lvl="0"/>
            <a:r>
              <a:rPr lang="en-IN" sz="2400" dirty="0">
                <a:latin typeface="Arial" panose="020B0604020202020204" pitchFamily="34" charset="0"/>
                <a:cs typeface="Arial" panose="020B0604020202020204" pitchFamily="34" charset="0"/>
              </a:rPr>
              <a:t>Testing/ Quality assurance</a:t>
            </a:r>
          </a:p>
          <a:p>
            <a:pPr lvl="0"/>
            <a:r>
              <a:rPr lang="en-IN" sz="2400" dirty="0">
                <a:latin typeface="Arial" panose="020B0604020202020204" pitchFamily="34" charset="0"/>
                <a:cs typeface="Arial" panose="020B0604020202020204" pitchFamily="34" charset="0"/>
              </a:rPr>
              <a:t>Deployment</a:t>
            </a:r>
          </a:p>
          <a:p>
            <a:pPr lvl="0"/>
            <a:r>
              <a:rPr lang="en-IN" sz="2400" dirty="0">
                <a:latin typeface="Arial" panose="020B0604020202020204" pitchFamily="34" charset="0"/>
                <a:cs typeface="Arial" panose="020B0604020202020204" pitchFamily="34" charset="0"/>
              </a:rPr>
              <a:t>Feedback</a:t>
            </a:r>
          </a:p>
          <a:p>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60908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215</TotalTime>
  <Words>1032</Words>
  <Application>Microsoft Office PowerPoint</Application>
  <PresentationFormat>On-screen Show (4:3)</PresentationFormat>
  <Paragraphs>101</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Solstice</vt:lpstr>
      <vt:lpstr>                   Module -2</vt:lpstr>
      <vt:lpstr>Life cycle models</vt:lpstr>
      <vt:lpstr>PowerPoint Presentation</vt:lpstr>
      <vt:lpstr>Life cycle model stages</vt:lpstr>
      <vt:lpstr>   Waterfall Model - Application </vt:lpstr>
      <vt:lpstr>Advantages</vt:lpstr>
      <vt:lpstr>PowerPoint Presentation</vt:lpstr>
      <vt:lpstr>PowerPoint Presentation</vt:lpstr>
      <vt:lpstr>PowerPoint Presentation</vt:lpstr>
      <vt:lpstr>Spiral Model - Pros and Cons </vt:lpstr>
      <vt:lpstr>PowerPoint Presentation</vt:lpstr>
      <vt:lpstr>Unified Process</vt:lpstr>
      <vt:lpstr>PowerPoint Presentation</vt:lpstr>
      <vt:lpstr>           Incremental Model </vt:lpstr>
      <vt:lpstr>phases of incremental model</vt:lpstr>
      <vt:lpstr>PowerPoint Presentation</vt:lpstr>
      <vt:lpstr>PowerPoint Presentation</vt:lpstr>
      <vt:lpstr>Agile process model</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DELL</dc:creator>
  <cp:lastModifiedBy>DELL</cp:lastModifiedBy>
  <cp:revision>30</cp:revision>
  <dcterms:created xsi:type="dcterms:W3CDTF">2022-05-24T03:10:24Z</dcterms:created>
  <dcterms:modified xsi:type="dcterms:W3CDTF">2022-07-28T10:19:04Z</dcterms:modified>
</cp:coreProperties>
</file>