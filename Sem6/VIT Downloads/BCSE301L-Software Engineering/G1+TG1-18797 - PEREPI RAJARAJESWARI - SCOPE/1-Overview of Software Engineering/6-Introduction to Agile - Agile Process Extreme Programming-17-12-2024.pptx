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62" r:id="rId5"/>
    <p:sldId id="259" r:id="rId6"/>
    <p:sldId id="260" r:id="rId7"/>
    <p:sldId id="261" r:id="rId8"/>
    <p:sldId id="263" r:id="rId9"/>
    <p:sldId id="264" r:id="rId10"/>
    <p:sldId id="266" r:id="rId11"/>
    <p:sldId id="268" r:id="rId12"/>
    <p:sldId id="269" r:id="rId13"/>
    <p:sldId id="270" r:id="rId14"/>
    <p:sldId id="271" r:id="rId15"/>
    <p:sldId id="267" r:id="rId16"/>
    <p:sldId id="265" r:id="rId1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8" d="100"/>
          <a:sy n="78" d="100"/>
        </p:scale>
        <p:origin x="878"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0"/>
            <a:ext cx="12192000" cy="6858000"/>
            <a:chOff x="0" y="0"/>
            <a:chExt cx="12192000" cy="6858000"/>
          </a:xfrm>
        </p:grpSpPr>
        <p:sp>
          <p:nvSpPr>
            <p:cNvPr id="9" name="Rectangle 8"/>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ctrTitle"/>
          </p:nvPr>
        </p:nvSpPr>
        <p:spPr>
          <a:xfrm>
            <a:off x="1154955" y="2099733"/>
            <a:ext cx="8825658" cy="2677648"/>
          </a:xfrm>
        </p:spPr>
        <p:txBody>
          <a:bodyPr anchor="b"/>
          <a:lstStyle>
            <a:lvl1pPr>
              <a:defRPr sz="5400"/>
            </a:lvl1pPr>
          </a:lstStyle>
          <a:p>
            <a:r>
              <a:rPr lang="en-US"/>
              <a:t>Click to edit Master title style</a:t>
            </a:r>
            <a:endParaRPr lang="en-US" dirty="0"/>
          </a:p>
        </p:txBody>
      </p:sp>
      <p:sp>
        <p:nvSpPr>
          <p:cNvPr id="3" name="Subtitle 2"/>
          <p:cNvSpPr>
            <a:spLocks noGrp="1"/>
          </p:cNvSpPr>
          <p:nvPr>
            <p:ph type="subTitle" idx="1"/>
          </p:nvPr>
        </p:nvSpPr>
        <p:spPr bwMode="gray">
          <a:xfrm>
            <a:off x="1154955" y="4777380"/>
            <a:ext cx="8825658" cy="861420"/>
          </a:xfrm>
        </p:spPr>
        <p:txBody>
          <a:bodyPr anchor="t"/>
          <a:lstStyle>
            <a:lvl1pPr marL="0" indent="0" algn="l">
              <a:buNone/>
              <a:defRPr cap="all">
                <a:solidFill>
                  <a:schemeClr val="accent1">
                    <a:lumMod val="60000"/>
                    <a:lumOff val="4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bwMode="gray">
          <a:xfrm rot="5400000">
            <a:off x="10158984" y="1792224"/>
            <a:ext cx="990599" cy="304799"/>
          </a:xfrm>
        </p:spPr>
        <p:txBody>
          <a:bodyPr anchor="t"/>
          <a:lstStyle>
            <a:lvl1pPr algn="l">
              <a:defRPr b="0" i="0">
                <a:solidFill>
                  <a:schemeClr val="bg1">
                    <a:alpha val="60000"/>
                  </a:schemeClr>
                </a:solidFill>
              </a:defRPr>
            </a:lvl1pPr>
          </a:lstStyle>
          <a:p>
            <a:fld id="{59EDC295-1956-4E93-BA17-0DF34674FCEE}" type="datetimeFigureOut">
              <a:rPr lang="en-IN" smtClean="0"/>
              <a:t>04-01-2025</a:t>
            </a:fld>
            <a:endParaRPr lang="en-IN"/>
          </a:p>
        </p:txBody>
      </p:sp>
      <p:sp>
        <p:nvSpPr>
          <p:cNvPr id="5" name="Footer Placeholder 4"/>
          <p:cNvSpPr>
            <a:spLocks noGrp="1"/>
          </p:cNvSpPr>
          <p:nvPr>
            <p:ph type="ftr" sz="quarter" idx="11"/>
          </p:nvPr>
        </p:nvSpPr>
        <p:spPr bwMode="gray">
          <a:xfrm rot="5400000">
            <a:off x="8951976" y="3227832"/>
            <a:ext cx="3859795" cy="304801"/>
          </a:xfrm>
        </p:spPr>
        <p:txBody>
          <a:bodyPr/>
          <a:lstStyle>
            <a:lvl1pPr>
              <a:defRPr b="0" i="0">
                <a:solidFill>
                  <a:schemeClr val="bg1">
                    <a:alpha val="60000"/>
                  </a:schemeClr>
                </a:solidFill>
              </a:defRPr>
            </a:lvl1pPr>
          </a:lstStyle>
          <a:p>
            <a:endParaRPr lang="en-IN"/>
          </a:p>
        </p:txBody>
      </p:sp>
      <p:sp>
        <p:nvSpPr>
          <p:cNvPr id="11" name="Rectangle 10"/>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12" name="Slide Number Placeholder 5"/>
          <p:cNvSpPr>
            <a:spLocks noGrp="1"/>
          </p:cNvSpPr>
          <p:nvPr>
            <p:ph type="sldNum" sz="quarter" idx="12"/>
          </p:nvPr>
        </p:nvSpPr>
        <p:spPr>
          <a:xfrm>
            <a:off x="10352540" y="295729"/>
            <a:ext cx="838199" cy="767687"/>
          </a:xfrm>
        </p:spPr>
        <p:txBody>
          <a:bodyPr/>
          <a:lstStyle/>
          <a:p>
            <a:fld id="{F84580F6-062A-4CB4-AA58-28AA17D19FEE}" type="slidenum">
              <a:rPr lang="en-IN" smtClean="0"/>
              <a:t>‹#›</a:t>
            </a:fld>
            <a:endParaRPr lang="en-IN"/>
          </a:p>
        </p:txBody>
      </p:sp>
    </p:spTree>
    <p:extLst>
      <p:ext uri="{BB962C8B-B14F-4D97-AF65-F5344CB8AC3E}">
        <p14:creationId xmlns:p14="http://schemas.microsoft.com/office/powerpoint/2010/main" val="343187417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a:xfrm>
            <a:off x="1154954" y="2603500"/>
            <a:ext cx="8825659" cy="34163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9EDC295-1956-4E93-BA17-0DF34674FCEE}" type="datetimeFigureOut">
              <a:rPr lang="en-IN" smtClean="0"/>
              <a:t>04-01-2025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84580F6-062A-4CB4-AA58-28AA17D19FEE}" type="slidenum">
              <a:rPr lang="en-IN" smtClean="0"/>
              <a:t>‹#›</a:t>
            </a:fld>
            <a:endParaRPr lang="en-IN"/>
          </a:p>
        </p:txBody>
      </p:sp>
    </p:spTree>
    <p:extLst>
      <p:ext uri="{BB962C8B-B14F-4D97-AF65-F5344CB8AC3E}">
        <p14:creationId xmlns:p14="http://schemas.microsoft.com/office/powerpoint/2010/main" val="187585107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grpSp>
        <p:nvGrpSpPr>
          <p:cNvPr id="8" name="Group 7"/>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0" name="Rectangle 9"/>
            <p:cNvSpPr/>
            <p:nvPr/>
          </p:nvSpPr>
          <p:spPr bwMode="gray">
            <a:xfrm>
              <a:off x="7289800" y="402165"/>
              <a:ext cx="44788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1" name="Freeform 5"/>
            <p:cNvSpPr/>
            <p:nvPr/>
          </p:nvSpPr>
          <p:spPr bwMode="gray">
            <a:xfrm rot="16200000">
              <a:off x="3787244"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2" name="Freeform 5"/>
            <p:cNvSpPr/>
            <p:nvPr/>
          </p:nvSpPr>
          <p:spPr bwMode="gray">
            <a:xfrm rot="15922489">
              <a:off x="4698352"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2677645"/>
            <a:ext cx="4351025" cy="2283824"/>
          </a:xfrm>
        </p:spPr>
        <p:txBody>
          <a:bodyPr anchor="ctr"/>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895559" y="2677644"/>
            <a:ext cx="3757545" cy="2283824"/>
          </a:xfrm>
        </p:spPr>
        <p:txBody>
          <a:bodyPr anchor="ctr"/>
          <a:lstStyle>
            <a:lvl1pPr marL="0" indent="0" algn="l">
              <a:buNone/>
              <a:defRPr sz="2000" cap="all">
                <a:solidFill>
                  <a:schemeClr val="accent1">
                    <a:lumMod val="60000"/>
                    <a:lumOff val="4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9EDC295-1956-4E93-BA17-0DF34674FCEE}" type="datetimeFigureOut">
              <a:rPr lang="en-IN" smtClean="0"/>
              <a:t>04-01-2025</a:t>
            </a:fld>
            <a:endParaRPr lang="en-IN"/>
          </a:p>
        </p:txBody>
      </p:sp>
      <p:sp>
        <p:nvSpPr>
          <p:cNvPr id="5" name="Footer Placeholder 4"/>
          <p:cNvSpPr>
            <a:spLocks noGrp="1"/>
          </p:cNvSpPr>
          <p:nvPr>
            <p:ph type="ftr" sz="quarter" idx="11"/>
          </p:nvPr>
        </p:nvSpPr>
        <p:spPr/>
        <p:txBody>
          <a:bodyPr/>
          <a:lstStyle/>
          <a:p>
            <a:endParaRPr lang="en-IN"/>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F84580F6-062A-4CB4-AA58-28AA17D19FEE}" type="slidenum">
              <a:rPr lang="en-IN" smtClean="0"/>
              <a:t>‹#›</a:t>
            </a:fld>
            <a:endParaRPr lang="en-IN"/>
          </a:p>
        </p:txBody>
      </p:sp>
    </p:spTree>
    <p:extLst>
      <p:ext uri="{BB962C8B-B14F-4D97-AF65-F5344CB8AC3E}">
        <p14:creationId xmlns:p14="http://schemas.microsoft.com/office/powerpoint/2010/main" val="229863987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54954" y="2603500"/>
            <a:ext cx="4825158" cy="3416301"/>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08712" y="2603500"/>
            <a:ext cx="4825159" cy="341630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59EDC295-1956-4E93-BA17-0DF34674FCEE}" type="datetimeFigureOut">
              <a:rPr lang="en-IN" smtClean="0"/>
              <a:t>04-01-2025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F84580F6-062A-4CB4-AA58-28AA17D19FEE}" type="slidenum">
              <a:rPr lang="en-IN" smtClean="0"/>
              <a:t>‹#›</a:t>
            </a:fld>
            <a:endParaRPr lang="en-IN"/>
          </a:p>
        </p:txBody>
      </p:sp>
    </p:spTree>
    <p:extLst>
      <p:ext uri="{BB962C8B-B14F-4D97-AF65-F5344CB8AC3E}">
        <p14:creationId xmlns:p14="http://schemas.microsoft.com/office/powerpoint/2010/main" val="259986341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154954" y="2603500"/>
            <a:ext cx="4825157"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54954" y="3179762"/>
            <a:ext cx="4825158" cy="2840039"/>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08712" y="2603500"/>
            <a:ext cx="4825159"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08712" y="3179762"/>
            <a:ext cx="4825159" cy="2840039"/>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9EDC295-1956-4E93-BA17-0DF34674FCEE}" type="datetimeFigureOut">
              <a:rPr lang="en-IN" smtClean="0"/>
              <a:t>04-01-2025</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F84580F6-062A-4CB4-AA58-28AA17D19FEE}" type="slidenum">
              <a:rPr lang="en-IN" smtClean="0"/>
              <a:t>‹#›</a:t>
            </a:fld>
            <a:endParaRPr lang="en-IN"/>
          </a:p>
        </p:txBody>
      </p:sp>
    </p:spTree>
    <p:extLst>
      <p:ext uri="{BB962C8B-B14F-4D97-AF65-F5344CB8AC3E}">
        <p14:creationId xmlns:p14="http://schemas.microsoft.com/office/powerpoint/2010/main" val="121550962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9" name="Title 1"/>
          <p:cNvSpPr>
            <a:spLocks noGrp="1"/>
          </p:cNvSpPr>
          <p:nvPr>
            <p:ph type="title"/>
          </p:nvPr>
        </p:nvSpPr>
        <p:spPr>
          <a:xfrm>
            <a:off x="1154954" y="973668"/>
            <a:ext cx="8761413" cy="706964"/>
          </a:xfrm>
        </p:spPr>
        <p:txBody>
          <a:bodyPr/>
          <a:lstStyle>
            <a:lvl1pPr>
              <a:defRPr/>
            </a:lvl1p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9EDC295-1956-4E93-BA17-0DF34674FCEE}" type="datetimeFigureOut">
              <a:rPr lang="en-IN" smtClean="0"/>
              <a:t>04-01-2025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F84580F6-062A-4CB4-AA58-28AA17D19FEE}" type="slidenum">
              <a:rPr lang="en-IN" smtClean="0"/>
              <a:t>‹#›</a:t>
            </a:fld>
            <a:endParaRPr lang="en-IN"/>
          </a:p>
        </p:txBody>
      </p:sp>
    </p:spTree>
    <p:extLst>
      <p:ext uri="{BB962C8B-B14F-4D97-AF65-F5344CB8AC3E}">
        <p14:creationId xmlns:p14="http://schemas.microsoft.com/office/powerpoint/2010/main" val="70704423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9EDC295-1956-4E93-BA17-0DF34674FCEE}" type="datetimeFigureOut">
              <a:rPr lang="en-IN" smtClean="0"/>
              <a:t>04-01-2025</a:t>
            </a:fld>
            <a:endParaRPr lang="en-IN"/>
          </a:p>
        </p:txBody>
      </p:sp>
      <p:sp>
        <p:nvSpPr>
          <p:cNvPr id="3" name="Footer Placeholder 2"/>
          <p:cNvSpPr>
            <a:spLocks noGrp="1"/>
          </p:cNvSpPr>
          <p:nvPr>
            <p:ph type="ftr" sz="quarter" idx="11"/>
          </p:nvPr>
        </p:nvSpPr>
        <p:spPr/>
        <p:txBody>
          <a:bodyPr/>
          <a:lstStyle/>
          <a:p>
            <a:endParaRPr lang="en-IN"/>
          </a:p>
        </p:txBody>
      </p:sp>
      <p:sp>
        <p:nvSpPr>
          <p:cNvPr id="7" name="Rectangle 6"/>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4" name="Slide Number Placeholder 3"/>
          <p:cNvSpPr>
            <a:spLocks noGrp="1"/>
          </p:cNvSpPr>
          <p:nvPr>
            <p:ph type="sldNum" sz="quarter" idx="12"/>
          </p:nvPr>
        </p:nvSpPr>
        <p:spPr/>
        <p:txBody>
          <a:bodyPr/>
          <a:lstStyle/>
          <a:p>
            <a:fld id="{F84580F6-062A-4CB4-AA58-28AA17D19FEE}" type="slidenum">
              <a:rPr lang="en-IN" smtClean="0"/>
              <a:t>‹#›</a:t>
            </a:fld>
            <a:endParaRPr lang="en-IN"/>
          </a:p>
        </p:txBody>
      </p:sp>
    </p:spTree>
    <p:extLst>
      <p:ext uri="{BB962C8B-B14F-4D97-AF65-F5344CB8AC3E}">
        <p14:creationId xmlns:p14="http://schemas.microsoft.com/office/powerpoint/2010/main" val="338372966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2" name="Oval 21"/>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bwMode="gray">
            <a:xfrm>
              <a:off x="5713412" y="402165"/>
              <a:ext cx="6055253"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8" name="Freeform 5"/>
            <p:cNvSpPr/>
            <p:nvPr/>
          </p:nvSpPr>
          <p:spPr bwMode="gray">
            <a:xfrm rot="15922489">
              <a:off x="3140485"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rot="16200000">
              <a:off x="2229377"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5" y="1295400"/>
            <a:ext cx="2793158" cy="1600200"/>
          </a:xfrm>
        </p:spPr>
        <p:txBody>
          <a:bodyPr anchor="b"/>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5781146" y="1447800"/>
            <a:ext cx="5190066" cy="4572000"/>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bwMode="gray">
          <a:xfrm>
            <a:off x="1154954" y="3129280"/>
            <a:ext cx="2793158" cy="2895599"/>
          </a:xfrm>
        </p:spPr>
        <p:txBody>
          <a:bodyPr/>
          <a:lstStyle>
            <a:lvl1pPr marL="0" indent="0">
              <a:buNone/>
              <a:defRPr sz="14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9EDC295-1956-4E93-BA17-0DF34674FCEE}" type="datetimeFigureOut">
              <a:rPr lang="en-IN" smtClean="0"/>
              <a:t>04-01-2025</a:t>
            </a:fld>
            <a:endParaRPr lang="en-IN"/>
          </a:p>
        </p:txBody>
      </p:sp>
      <p:sp>
        <p:nvSpPr>
          <p:cNvPr id="6" name="Footer Placeholder 5"/>
          <p:cNvSpPr>
            <a:spLocks noGrp="1"/>
          </p:cNvSpPr>
          <p:nvPr>
            <p:ph type="ftr" sz="quarter" idx="11"/>
          </p:nvPr>
        </p:nvSpPr>
        <p:spPr/>
        <p:txBody>
          <a:bodyPr/>
          <a:lstStyle/>
          <a:p>
            <a:endParaRPr lang="en-IN"/>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F84580F6-062A-4CB4-AA58-28AA17D19FEE}" type="slidenum">
              <a:rPr lang="en-IN" smtClean="0"/>
              <a:t>‹#›</a:t>
            </a:fld>
            <a:endParaRPr lang="en-IN"/>
          </a:p>
        </p:txBody>
      </p:sp>
    </p:spTree>
    <p:extLst>
      <p:ext uri="{BB962C8B-B14F-4D97-AF65-F5344CB8AC3E}">
        <p14:creationId xmlns:p14="http://schemas.microsoft.com/office/powerpoint/2010/main" val="263025028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bwMode="gray">
            <a:xfrm>
              <a:off x="6172200" y="402165"/>
              <a:ext cx="55964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22" name="Freeform 5"/>
            <p:cNvSpPr/>
            <p:nvPr/>
          </p:nvSpPr>
          <p:spPr bwMode="gray">
            <a:xfrm rot="15922489">
              <a:off x="4203594"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rot="16200000">
              <a:off x="3295432"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5" y="1693333"/>
            <a:ext cx="3865134" cy="1735667"/>
          </a:xfrm>
        </p:spPr>
        <p:txBody>
          <a:bodyPr anchor="b">
            <a:normAutofit/>
          </a:bodyPr>
          <a:lstStyle>
            <a:lvl1pPr algn="l">
              <a:defRPr sz="36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547870" y="1143000"/>
            <a:ext cx="3227193"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marL="0" lvl="0" indent="0" algn="ctr">
              <a:buNone/>
            </a:pPr>
            <a:r>
              <a:rPr lang="en-US"/>
              <a:t>Click icon to add picture</a:t>
            </a:r>
            <a:endParaRPr lang="en-US" dirty="0"/>
          </a:p>
        </p:txBody>
      </p:sp>
      <p:sp>
        <p:nvSpPr>
          <p:cNvPr id="4" name="Text Placeholder 3"/>
          <p:cNvSpPr>
            <a:spLocks noGrp="1"/>
          </p:cNvSpPr>
          <p:nvPr>
            <p:ph type="body" sz="half" idx="2"/>
          </p:nvPr>
        </p:nvSpPr>
        <p:spPr bwMode="gray">
          <a:xfrm>
            <a:off x="1154954" y="3657600"/>
            <a:ext cx="3859212" cy="1371600"/>
          </a:xfrm>
        </p:spPr>
        <p:txBody>
          <a:bodyPr>
            <a:normAutofit/>
          </a:bodyPr>
          <a:lstStyle>
            <a:lvl1pPr marL="0" indent="0">
              <a:buNone/>
              <a:defRPr sz="14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9EDC295-1956-4E93-BA17-0DF34674FCEE}" type="datetimeFigureOut">
              <a:rPr lang="en-IN" smtClean="0"/>
              <a:t>04-01-2025</a:t>
            </a:fld>
            <a:endParaRPr lang="en-IN"/>
          </a:p>
        </p:txBody>
      </p:sp>
      <p:sp>
        <p:nvSpPr>
          <p:cNvPr id="6" name="Footer Placeholder 5"/>
          <p:cNvSpPr>
            <a:spLocks noGrp="1"/>
          </p:cNvSpPr>
          <p:nvPr>
            <p:ph type="ftr" sz="quarter" idx="11"/>
          </p:nvPr>
        </p:nvSpPr>
        <p:spPr/>
        <p:txBody>
          <a:bodyPr/>
          <a:lstStyle/>
          <a:p>
            <a:endParaRPr lang="en-IN"/>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F84580F6-062A-4CB4-AA58-28AA17D19FEE}" type="slidenum">
              <a:rPr lang="en-IN" smtClean="0"/>
              <a:t>‹#›</a:t>
            </a:fld>
            <a:endParaRPr lang="en-IN"/>
          </a:p>
        </p:txBody>
      </p:sp>
    </p:spTree>
    <p:extLst>
      <p:ext uri="{BB962C8B-B14F-4D97-AF65-F5344CB8AC3E}">
        <p14:creationId xmlns:p14="http://schemas.microsoft.com/office/powerpoint/2010/main" val="331785027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3" name="Rectangle 12"/>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4" name="Freeform 5"/>
            <p:cNvSpPr/>
            <p:nvPr/>
          </p:nvSpPr>
          <p:spPr bwMode="gray">
            <a:xfrm rot="10371525">
              <a:off x="263767" y="4438254"/>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1" name="Freeform 5"/>
            <p:cNvSpPr/>
            <p:nvPr/>
          </p:nvSpPr>
          <p:spPr bwMode="gray">
            <a:xfrm rot="10800000">
              <a:off x="459506" y="321130"/>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4969927"/>
            <a:ext cx="8825659"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54954" y="685800"/>
            <a:ext cx="8825659" cy="3429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4" y="5536665"/>
            <a:ext cx="8825658" cy="493712"/>
          </a:xfrm>
        </p:spPr>
        <p:txBody>
          <a:bodyPr>
            <a:normAutofit/>
          </a:bodyPr>
          <a:lstStyle>
            <a:lvl1pPr marL="0" indent="0">
              <a:buNone/>
              <a:defRPr sz="12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9EDC295-1956-4E93-BA17-0DF34674FCEE}" type="datetimeFigureOut">
              <a:rPr lang="en-IN" smtClean="0"/>
              <a:t>04-01-2025</a:t>
            </a:fld>
            <a:endParaRPr lang="en-IN"/>
          </a:p>
        </p:txBody>
      </p:sp>
      <p:sp>
        <p:nvSpPr>
          <p:cNvPr id="6" name="Footer Placeholder 5"/>
          <p:cNvSpPr>
            <a:spLocks noGrp="1"/>
          </p:cNvSpPr>
          <p:nvPr>
            <p:ph type="ftr" sz="quarter" idx="11"/>
          </p:nvPr>
        </p:nvSpPr>
        <p:spPr/>
        <p:txBody>
          <a:bodyPr/>
          <a:lstStyle/>
          <a:p>
            <a:endParaRPr lang="en-IN"/>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F84580F6-062A-4CB4-AA58-28AA17D19FEE}" type="slidenum">
              <a:rPr lang="en-IN" smtClean="0"/>
              <a:t>‹#›</a:t>
            </a:fld>
            <a:endParaRPr lang="en-IN"/>
          </a:p>
        </p:txBody>
      </p:sp>
    </p:spTree>
    <p:extLst>
      <p:ext uri="{BB962C8B-B14F-4D97-AF65-F5344CB8AC3E}">
        <p14:creationId xmlns:p14="http://schemas.microsoft.com/office/powerpoint/2010/main" val="190989236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Title and Caption">
    <p:spTree>
      <p:nvGrpSpPr>
        <p:cNvPr id="1" name=""/>
        <p:cNvGrpSpPr/>
        <p:nvPr/>
      </p:nvGrpSpPr>
      <p:grpSpPr>
        <a:xfrm>
          <a:off x="0" y="0"/>
          <a:ext cx="0" cy="0"/>
          <a:chOff x="0" y="0"/>
          <a:chExt cx="0" cy="0"/>
        </a:xfrm>
      </p:grpSpPr>
      <p:grpSp>
        <p:nvGrpSpPr>
          <p:cNvPr id="7" name="Group 6"/>
          <p:cNvGrpSpPr/>
          <p:nvPr/>
        </p:nvGrpSpPr>
        <p:grpSpPr>
          <a:xfrm>
            <a:off x="0" y="0"/>
            <a:ext cx="12192000" cy="6858000"/>
            <a:chOff x="0" y="0"/>
            <a:chExt cx="12192000" cy="6858000"/>
          </a:xfrm>
        </p:grpSpPr>
        <p:sp>
          <p:nvSpPr>
            <p:cNvPr id="11" name="Rectangle 10"/>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4" name="Oval 13"/>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5" name="Freeform 5"/>
            <p:cNvSpPr/>
            <p:nvPr/>
          </p:nvSpPr>
          <p:spPr bwMode="gray">
            <a:xfrm rot="21010068">
              <a:off x="8490951" y="2714874"/>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7" name="Freeform 5"/>
            <p:cNvSpPr/>
            <p:nvPr/>
          </p:nvSpPr>
          <p:spPr bwMode="gray">
            <a:xfrm>
              <a:off x="455612" y="2801319"/>
              <a:ext cx="11277600" cy="3602637"/>
            </a:xfrm>
            <a:custGeom>
              <a:avLst/>
              <a:gdLst/>
              <a:ahLst/>
              <a:cxnLst/>
              <a:rect l="l" t="t" r="r" b="b"/>
              <a:pathLst>
                <a:path w="10000" h="7946">
                  <a:moveTo>
                    <a:pt x="0" y="0"/>
                  </a:moveTo>
                  <a:lnTo>
                    <a:pt x="0" y="7945"/>
                  </a:lnTo>
                  <a:lnTo>
                    <a:pt x="10000" y="7946"/>
                  </a:lnTo>
                  <a:lnTo>
                    <a:pt x="10000" y="4"/>
                  </a:lnTo>
                  <a:lnTo>
                    <a:pt x="10000" y="4"/>
                  </a:lnTo>
                  <a:lnTo>
                    <a:pt x="9773" y="91"/>
                  </a:lnTo>
                  <a:lnTo>
                    <a:pt x="9547" y="175"/>
                  </a:lnTo>
                  <a:lnTo>
                    <a:pt x="9320" y="256"/>
                  </a:lnTo>
                  <a:lnTo>
                    <a:pt x="9092" y="326"/>
                  </a:lnTo>
                  <a:lnTo>
                    <a:pt x="8865" y="396"/>
                  </a:lnTo>
                  <a:lnTo>
                    <a:pt x="8637" y="462"/>
                  </a:lnTo>
                  <a:lnTo>
                    <a:pt x="8412" y="518"/>
                  </a:lnTo>
                  <a:lnTo>
                    <a:pt x="8184" y="571"/>
                  </a:lnTo>
                  <a:lnTo>
                    <a:pt x="7957" y="620"/>
                  </a:lnTo>
                  <a:lnTo>
                    <a:pt x="7734" y="662"/>
                  </a:lnTo>
                  <a:lnTo>
                    <a:pt x="7508" y="704"/>
                  </a:lnTo>
                  <a:lnTo>
                    <a:pt x="7285" y="739"/>
                  </a:lnTo>
                  <a:lnTo>
                    <a:pt x="7062" y="767"/>
                  </a:lnTo>
                  <a:lnTo>
                    <a:pt x="6840" y="795"/>
                  </a:lnTo>
                  <a:lnTo>
                    <a:pt x="6620" y="819"/>
                  </a:lnTo>
                  <a:lnTo>
                    <a:pt x="6402" y="837"/>
                  </a:lnTo>
                  <a:lnTo>
                    <a:pt x="6184" y="851"/>
                  </a:lnTo>
                  <a:lnTo>
                    <a:pt x="5968" y="865"/>
                  </a:lnTo>
                  <a:lnTo>
                    <a:pt x="5755" y="872"/>
                  </a:lnTo>
                  <a:lnTo>
                    <a:pt x="5542" y="879"/>
                  </a:lnTo>
                  <a:lnTo>
                    <a:pt x="5332" y="882"/>
                  </a:lnTo>
                  <a:lnTo>
                    <a:pt x="5124" y="879"/>
                  </a:lnTo>
                  <a:lnTo>
                    <a:pt x="4918" y="879"/>
                  </a:lnTo>
                  <a:lnTo>
                    <a:pt x="4714" y="872"/>
                  </a:lnTo>
                  <a:lnTo>
                    <a:pt x="4514" y="861"/>
                  </a:lnTo>
                  <a:lnTo>
                    <a:pt x="4316" y="851"/>
                  </a:lnTo>
                  <a:lnTo>
                    <a:pt x="4122" y="840"/>
                  </a:lnTo>
                  <a:lnTo>
                    <a:pt x="3929" y="823"/>
                  </a:lnTo>
                  <a:lnTo>
                    <a:pt x="3739" y="805"/>
                  </a:lnTo>
                  <a:lnTo>
                    <a:pt x="3553" y="788"/>
                  </a:lnTo>
                  <a:lnTo>
                    <a:pt x="3190" y="742"/>
                  </a:lnTo>
                  <a:lnTo>
                    <a:pt x="2842" y="693"/>
                  </a:lnTo>
                  <a:lnTo>
                    <a:pt x="2508" y="641"/>
                  </a:lnTo>
                  <a:lnTo>
                    <a:pt x="2192" y="585"/>
                  </a:lnTo>
                  <a:lnTo>
                    <a:pt x="1890" y="525"/>
                  </a:lnTo>
                  <a:lnTo>
                    <a:pt x="1610" y="462"/>
                  </a:lnTo>
                  <a:lnTo>
                    <a:pt x="1347" y="399"/>
                  </a:lnTo>
                  <a:lnTo>
                    <a:pt x="1105" y="336"/>
                  </a:lnTo>
                  <a:lnTo>
                    <a:pt x="883" y="277"/>
                  </a:lnTo>
                  <a:lnTo>
                    <a:pt x="686" y="221"/>
                  </a:lnTo>
                  <a:lnTo>
                    <a:pt x="508" y="168"/>
                  </a:lnTo>
                  <a:lnTo>
                    <a:pt x="358" y="123"/>
                  </a:lnTo>
                  <a:lnTo>
                    <a:pt x="232" y="81"/>
                  </a:lnTo>
                  <a:lnTo>
                    <a:pt x="59" y="21"/>
                  </a:lnTo>
                  <a:lnTo>
                    <a:pt x="0" y="0"/>
                  </a:lnTo>
                  <a:lnTo>
                    <a:pt x="0" y="0"/>
                  </a:lnTo>
                  <a:close/>
                </a:path>
              </a:pathLst>
            </a:custGeom>
            <a:solidFill>
              <a:schemeClr val="bg1"/>
            </a:solidFill>
            <a:ln>
              <a:noFill/>
            </a:ln>
          </p:spPr>
        </p:sp>
        <p:sp>
          <p:nvSpPr>
            <p:cNvPr id="12"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48798" y="1063417"/>
            <a:ext cx="8831816" cy="1372986"/>
          </a:xfrm>
        </p:spPr>
        <p:txBody>
          <a:bodyPr/>
          <a:lstStyle>
            <a:lvl1pPr>
              <a:defRPr sz="4000"/>
            </a:lvl1pPr>
          </a:lstStyle>
          <a:p>
            <a:r>
              <a:rPr lang="en-US"/>
              <a:t>Click to edit Master title style</a:t>
            </a:r>
            <a:endParaRPr lang="en-US" dirty="0"/>
          </a:p>
        </p:txBody>
      </p:sp>
      <p:sp>
        <p:nvSpPr>
          <p:cNvPr id="8" name="Text Placeholder 3"/>
          <p:cNvSpPr>
            <a:spLocks noGrp="1"/>
          </p:cNvSpPr>
          <p:nvPr>
            <p:ph type="body" sz="half" idx="2"/>
          </p:nvPr>
        </p:nvSpPr>
        <p:spPr>
          <a:xfrm>
            <a:off x="1154954" y="3543300"/>
            <a:ext cx="8825659" cy="24765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59EDC295-1956-4E93-BA17-0DF34674FCEE}" type="datetimeFigureOut">
              <a:rPr lang="en-IN" smtClean="0"/>
              <a:t>04-01-2025</a:t>
            </a:fld>
            <a:endParaRPr lang="en-IN"/>
          </a:p>
        </p:txBody>
      </p:sp>
      <p:sp>
        <p:nvSpPr>
          <p:cNvPr id="5" name="Footer Placeholder 4"/>
          <p:cNvSpPr>
            <a:spLocks noGrp="1"/>
          </p:cNvSpPr>
          <p:nvPr>
            <p:ph type="ftr" sz="quarter" idx="11"/>
          </p:nvPr>
        </p:nvSpPr>
        <p:spPr/>
        <p:txBody>
          <a:bodyPr/>
          <a:lstStyle/>
          <a:p>
            <a:endParaRPr lang="en-IN"/>
          </a:p>
        </p:txBody>
      </p:sp>
      <p:sp>
        <p:nvSpPr>
          <p:cNvPr id="13" name="Rectangle 12"/>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F84580F6-062A-4CB4-AA58-28AA17D19FEE}" type="slidenum">
              <a:rPr lang="en-IN" smtClean="0"/>
              <a:t>‹#›</a:t>
            </a:fld>
            <a:endParaRPr lang="en-IN"/>
          </a:p>
        </p:txBody>
      </p:sp>
    </p:spTree>
    <p:extLst>
      <p:ext uri="{BB962C8B-B14F-4D97-AF65-F5344CB8AC3E}">
        <p14:creationId xmlns:p14="http://schemas.microsoft.com/office/powerpoint/2010/main" val="317510145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Quote with Caption">
    <p:spTree>
      <p:nvGrpSpPr>
        <p:cNvPr id="1" name=""/>
        <p:cNvGrpSpPr/>
        <p:nvPr/>
      </p:nvGrpSpPr>
      <p:grpSpPr>
        <a:xfrm>
          <a:off x="0" y="0"/>
          <a:ext cx="0" cy="0"/>
          <a:chOff x="0" y="0"/>
          <a:chExt cx="0" cy="0"/>
        </a:xfrm>
      </p:grpSpPr>
      <p:grpSp>
        <p:nvGrpSpPr>
          <p:cNvPr id="3" name="Group 2"/>
          <p:cNvGrpSpPr/>
          <p:nvPr/>
        </p:nvGrpSpPr>
        <p:grpSpPr>
          <a:xfrm>
            <a:off x="0" y="0"/>
            <a:ext cx="12192000" cy="6858000"/>
            <a:chOff x="0" y="0"/>
            <a:chExt cx="12192000" cy="6858000"/>
          </a:xfrm>
        </p:grpSpPr>
        <p:sp>
          <p:nvSpPr>
            <p:cNvPr id="17" name="Rectangle 16"/>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0" name="Oval 19"/>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2" name="Oval 21"/>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3" name="Oval 22"/>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4" name="Oval 23"/>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5" name="Oval 24"/>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Freeform 5"/>
            <p:cNvSpPr/>
            <p:nvPr/>
          </p:nvSpPr>
          <p:spPr bwMode="gray">
            <a:xfrm rot="21010068">
              <a:off x="8490951" y="41851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a:off x="455612" y="4241801"/>
              <a:ext cx="11277600" cy="2337161"/>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8"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16" name="TextBox 15"/>
          <p:cNvSpPr txBox="1"/>
          <p:nvPr/>
        </p:nvSpPr>
        <p:spPr bwMode="gray">
          <a:xfrm>
            <a:off x="881566" y="607336"/>
            <a:ext cx="801912" cy="1569660"/>
          </a:xfrm>
          <a:prstGeom prst="rect">
            <a:avLst/>
          </a:prstGeom>
          <a:noFill/>
        </p:spPr>
        <p:txBody>
          <a:bodyPr wrap="square" rtlCol="0">
            <a:spAutoFit/>
          </a:bodyPr>
          <a:lstStyle/>
          <a:p>
            <a:pPr algn="r"/>
            <a:r>
              <a:rPr lang="en-US" sz="9600" b="0" i="0" dirty="0">
                <a:solidFill>
                  <a:schemeClr val="accent1">
                    <a:lumMod val="60000"/>
                    <a:lumOff val="40000"/>
                  </a:schemeClr>
                </a:solidFill>
                <a:latin typeface="Arial"/>
                <a:cs typeface="Arial"/>
              </a:rPr>
              <a:t>“</a:t>
            </a:r>
          </a:p>
        </p:txBody>
      </p:sp>
      <p:sp>
        <p:nvSpPr>
          <p:cNvPr id="13" name="TextBox 12"/>
          <p:cNvSpPr txBox="1"/>
          <p:nvPr/>
        </p:nvSpPr>
        <p:spPr bwMode="gray">
          <a:xfrm>
            <a:off x="9884458" y="2613787"/>
            <a:ext cx="652763" cy="1569660"/>
          </a:xfrm>
          <a:prstGeom prst="rect">
            <a:avLst/>
          </a:prstGeom>
          <a:noFill/>
        </p:spPr>
        <p:txBody>
          <a:bodyPr wrap="square" rtlCol="0">
            <a:spAutoFit/>
          </a:bodyPr>
          <a:lstStyle/>
          <a:p>
            <a:pPr algn="r"/>
            <a:r>
              <a:rPr lang="en-US" sz="9600" b="0" i="0" dirty="0">
                <a:solidFill>
                  <a:schemeClr val="accent1">
                    <a:lumMod val="60000"/>
                    <a:lumOff val="40000"/>
                  </a:schemeClr>
                </a:solidFill>
                <a:latin typeface="Arial"/>
                <a:cs typeface="Arial"/>
              </a:rPr>
              <a:t>”</a:t>
            </a:r>
          </a:p>
        </p:txBody>
      </p:sp>
      <p:sp>
        <p:nvSpPr>
          <p:cNvPr id="2" name="Title 1"/>
          <p:cNvSpPr>
            <a:spLocks noGrp="1"/>
          </p:cNvSpPr>
          <p:nvPr>
            <p:ph type="title"/>
          </p:nvPr>
        </p:nvSpPr>
        <p:spPr>
          <a:xfrm>
            <a:off x="1581878" y="982134"/>
            <a:ext cx="8453906" cy="2696632"/>
          </a:xfrm>
        </p:spPr>
        <p:txBody>
          <a:bodyPr/>
          <a:lstStyle>
            <a:lvl1pPr>
              <a:defRPr sz="4000"/>
            </a:lvl1pPr>
          </a:lstStyle>
          <a:p>
            <a:r>
              <a:rPr lang="en-US"/>
              <a:t>Click to edit Master title style</a:t>
            </a:r>
            <a:endParaRPr lang="en-US" dirty="0"/>
          </a:p>
        </p:txBody>
      </p:sp>
      <p:sp>
        <p:nvSpPr>
          <p:cNvPr id="14" name="Text Placeholder 3"/>
          <p:cNvSpPr>
            <a:spLocks noGrp="1"/>
          </p:cNvSpPr>
          <p:nvPr>
            <p:ph type="body" sz="half" idx="13"/>
          </p:nvPr>
        </p:nvSpPr>
        <p:spPr bwMode="gray">
          <a:xfrm>
            <a:off x="1945945" y="3678766"/>
            <a:ext cx="7731219" cy="342174"/>
          </a:xfrm>
        </p:spPr>
        <p:txBody>
          <a:bodyPr anchor="t">
            <a:normAutofit/>
          </a:bodyPr>
          <a:lstStyle>
            <a:lvl1pPr marL="0" indent="0">
              <a:buNone/>
              <a:defRPr lang="en-US" sz="1400" b="0" i="0" kern="1200" cap="small" dirty="0">
                <a:solidFill>
                  <a:schemeClr val="accent1">
                    <a:lumMod val="60000"/>
                    <a:lumOff val="40000"/>
                  </a:schemeClr>
                </a:solidFill>
                <a:latin typeface="+mn-lt"/>
                <a:ea typeface="+mn-ea"/>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0" name="Text Placeholder 3"/>
          <p:cNvSpPr>
            <a:spLocks noGrp="1"/>
          </p:cNvSpPr>
          <p:nvPr>
            <p:ph type="body" sz="half" idx="2"/>
          </p:nvPr>
        </p:nvSpPr>
        <p:spPr>
          <a:xfrm>
            <a:off x="1154954" y="5029199"/>
            <a:ext cx="9244897" cy="997857"/>
          </a:xfrm>
        </p:spPr>
        <p:txBody>
          <a:bodyPr anchor="ct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59EDC295-1956-4E93-BA17-0DF34674FCEE}" type="datetimeFigureOut">
              <a:rPr lang="en-IN" smtClean="0"/>
              <a:t>04-01-2025</a:t>
            </a:fld>
            <a:endParaRPr lang="en-IN"/>
          </a:p>
        </p:txBody>
      </p:sp>
      <p:sp>
        <p:nvSpPr>
          <p:cNvPr id="5" name="Footer Placeholder 4"/>
          <p:cNvSpPr>
            <a:spLocks noGrp="1"/>
          </p:cNvSpPr>
          <p:nvPr>
            <p:ph type="ftr" sz="quarter" idx="11"/>
          </p:nvPr>
        </p:nvSpPr>
        <p:spPr/>
        <p:txBody>
          <a:bodyPr/>
          <a:lstStyle/>
          <a:p>
            <a:endParaRPr lang="en-IN"/>
          </a:p>
        </p:txBody>
      </p:sp>
      <p:sp>
        <p:nvSpPr>
          <p:cNvPr id="19" name="Rectangle 18"/>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F84580F6-062A-4CB4-AA58-28AA17D19FEE}" type="slidenum">
              <a:rPr lang="en-IN" smtClean="0"/>
              <a:t>‹#›</a:t>
            </a:fld>
            <a:endParaRPr lang="en-IN"/>
          </a:p>
        </p:txBody>
      </p:sp>
    </p:spTree>
    <p:extLst>
      <p:ext uri="{BB962C8B-B14F-4D97-AF65-F5344CB8AC3E}">
        <p14:creationId xmlns:p14="http://schemas.microsoft.com/office/powerpoint/2010/main" val="46870870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Name Card">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1" name="Rectangle 10"/>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Oval 14"/>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3" name="Freeform 5"/>
            <p:cNvSpPr/>
            <p:nvPr/>
          </p:nvSpPr>
          <p:spPr bwMode="gray">
            <a:xfrm rot="21010068">
              <a:off x="8490951" y="4193583"/>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8" name="Freeform 5"/>
            <p:cNvSpPr/>
            <p:nvPr/>
          </p:nvSpPr>
          <p:spPr bwMode="gray">
            <a:xfrm>
              <a:off x="455612" y="4241801"/>
              <a:ext cx="11277600" cy="2337161"/>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2"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2370667"/>
            <a:ext cx="8825660" cy="1822514"/>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4" y="5024967"/>
            <a:ext cx="8825659" cy="860400"/>
          </a:xfrm>
        </p:spPr>
        <p:txBody>
          <a:bodyPr anchor="t"/>
          <a:lstStyle>
            <a:lvl1pPr marL="0" indent="0" algn="l">
              <a:buNone/>
              <a:defRPr sz="2000" cap="none">
                <a:solidFill>
                  <a:schemeClr val="accent1">
                    <a:lumMod val="60000"/>
                    <a:lumOff val="4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9EDC295-1956-4E93-BA17-0DF34674FCEE}" type="datetimeFigureOut">
              <a:rPr lang="en-IN" smtClean="0"/>
              <a:t>04-01-2025</a:t>
            </a:fld>
            <a:endParaRPr lang="en-IN"/>
          </a:p>
        </p:txBody>
      </p:sp>
      <p:sp>
        <p:nvSpPr>
          <p:cNvPr id="5" name="Footer Placeholder 4"/>
          <p:cNvSpPr>
            <a:spLocks noGrp="1"/>
          </p:cNvSpPr>
          <p:nvPr>
            <p:ph type="ftr" sz="quarter" idx="11"/>
          </p:nvPr>
        </p:nvSpPr>
        <p:spPr/>
        <p:txBody>
          <a:bodyPr/>
          <a:lstStyle/>
          <a:p>
            <a:endParaRPr lang="en-IN"/>
          </a:p>
        </p:txBody>
      </p:sp>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F84580F6-062A-4CB4-AA58-28AA17D19FEE}" type="slidenum">
              <a:rPr lang="en-IN" smtClean="0"/>
              <a:t>‹#›</a:t>
            </a:fld>
            <a:endParaRPr lang="en-IN"/>
          </a:p>
        </p:txBody>
      </p:sp>
    </p:spTree>
    <p:extLst>
      <p:ext uri="{BB962C8B-B14F-4D97-AF65-F5344CB8AC3E}">
        <p14:creationId xmlns:p14="http://schemas.microsoft.com/office/powerpoint/2010/main" val="191222827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lvl1pPr>
              <a:defRPr sz="3600"/>
            </a:lvl1pPr>
          </a:lstStyle>
          <a:p>
            <a:r>
              <a:rPr lang="en-US"/>
              <a:t>Click to edit Master title style</a:t>
            </a:r>
            <a:endParaRPr lang="en-US" dirty="0"/>
          </a:p>
        </p:txBody>
      </p:sp>
      <p:sp>
        <p:nvSpPr>
          <p:cNvPr id="3" name="Text Placeholder 2"/>
          <p:cNvSpPr>
            <a:spLocks noGrp="1"/>
          </p:cNvSpPr>
          <p:nvPr>
            <p:ph type="body" idx="1"/>
          </p:nvPr>
        </p:nvSpPr>
        <p:spPr>
          <a:xfrm>
            <a:off x="1154954" y="2603502"/>
            <a:ext cx="3141878"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6" name="Text Placeholder 3"/>
          <p:cNvSpPr>
            <a:spLocks noGrp="1"/>
          </p:cNvSpPr>
          <p:nvPr>
            <p:ph type="body" sz="half" idx="15"/>
          </p:nvPr>
        </p:nvSpPr>
        <p:spPr>
          <a:xfrm>
            <a:off x="1154953" y="3179764"/>
            <a:ext cx="3141879"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4512721" y="2603500"/>
            <a:ext cx="3147009"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Text Placeholder 3"/>
          <p:cNvSpPr>
            <a:spLocks noGrp="1"/>
          </p:cNvSpPr>
          <p:nvPr>
            <p:ph type="body" sz="half" idx="16"/>
          </p:nvPr>
        </p:nvSpPr>
        <p:spPr>
          <a:xfrm>
            <a:off x="4512721" y="3179763"/>
            <a:ext cx="3147009"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888135" y="2603501"/>
            <a:ext cx="3145730"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Text Placeholder 3"/>
          <p:cNvSpPr>
            <a:spLocks noGrp="1"/>
          </p:cNvSpPr>
          <p:nvPr>
            <p:ph type="body" sz="half" idx="17"/>
          </p:nvPr>
        </p:nvSpPr>
        <p:spPr>
          <a:xfrm>
            <a:off x="7888329" y="3179762"/>
            <a:ext cx="3145536"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7" name="Straight Connector 16"/>
          <p:cNvCxnSpPr/>
          <p:nvPr/>
        </p:nvCxnSpPr>
        <p:spPr>
          <a:xfrm>
            <a:off x="440397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777240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59EDC295-1956-4E93-BA17-0DF34674FCEE}" type="datetimeFigureOut">
              <a:rPr lang="en-IN" smtClean="0"/>
              <a:t>04-01-2025</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F84580F6-062A-4CB4-AA58-28AA17D19FEE}" type="slidenum">
              <a:rPr lang="en-IN" smtClean="0"/>
              <a:t>‹#›</a:t>
            </a:fld>
            <a:endParaRPr lang="en-IN"/>
          </a:p>
        </p:txBody>
      </p:sp>
    </p:spTree>
    <p:extLst>
      <p:ext uri="{BB962C8B-B14F-4D97-AF65-F5344CB8AC3E}">
        <p14:creationId xmlns:p14="http://schemas.microsoft.com/office/powerpoint/2010/main" val="276120031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lvl1pPr>
              <a:defRPr sz="3600"/>
            </a:lvl1pPr>
          </a:lstStyle>
          <a:p>
            <a:r>
              <a:rPr lang="en-US"/>
              <a:t>Click to edit Master title style</a:t>
            </a:r>
            <a:endParaRPr lang="en-US" dirty="0"/>
          </a:p>
        </p:txBody>
      </p:sp>
      <p:sp>
        <p:nvSpPr>
          <p:cNvPr id="3" name="Text Placeholder 2"/>
          <p:cNvSpPr>
            <a:spLocks noGrp="1"/>
          </p:cNvSpPr>
          <p:nvPr>
            <p:ph type="body" idx="1"/>
          </p:nvPr>
        </p:nvSpPr>
        <p:spPr>
          <a:xfrm>
            <a:off x="1154954" y="4532844"/>
            <a:ext cx="3050438"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Picture Placeholder 2"/>
          <p:cNvSpPr>
            <a:spLocks noGrp="1" noChangeAspect="1"/>
          </p:cNvSpPr>
          <p:nvPr>
            <p:ph type="pic" idx="15"/>
          </p:nvPr>
        </p:nvSpPr>
        <p:spPr>
          <a:xfrm>
            <a:off x="1334553" y="2603500"/>
            <a:ext cx="2691242"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2" name="Text Placeholder 3"/>
          <p:cNvSpPr>
            <a:spLocks noGrp="1"/>
          </p:cNvSpPr>
          <p:nvPr>
            <p:ph type="body" sz="half" idx="18"/>
          </p:nvPr>
        </p:nvSpPr>
        <p:spPr>
          <a:xfrm>
            <a:off x="1154954" y="5109106"/>
            <a:ext cx="3050438"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4568865" y="4532844"/>
            <a:ext cx="3050438" cy="576263"/>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1" name="Picture Placeholder 2"/>
          <p:cNvSpPr>
            <a:spLocks noGrp="1" noChangeAspect="1"/>
          </p:cNvSpPr>
          <p:nvPr>
            <p:ph type="pic" idx="21"/>
          </p:nvPr>
        </p:nvSpPr>
        <p:spPr>
          <a:xfrm>
            <a:off x="4748462" y="2603500"/>
            <a:ext cx="2691243"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3" name="Text Placeholder 3"/>
          <p:cNvSpPr>
            <a:spLocks noGrp="1"/>
          </p:cNvSpPr>
          <p:nvPr>
            <p:ph type="body" sz="half" idx="19"/>
          </p:nvPr>
        </p:nvSpPr>
        <p:spPr>
          <a:xfrm>
            <a:off x="4570172" y="5109105"/>
            <a:ext cx="3050438"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982775" y="4532845"/>
            <a:ext cx="3051095"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2" name="Picture Placeholder 2"/>
          <p:cNvSpPr>
            <a:spLocks noGrp="1" noChangeAspect="1"/>
          </p:cNvSpPr>
          <p:nvPr>
            <p:ph type="pic" idx="22"/>
          </p:nvPr>
        </p:nvSpPr>
        <p:spPr>
          <a:xfrm>
            <a:off x="8163031" y="2603500"/>
            <a:ext cx="2691242"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20"/>
          </p:nvPr>
        </p:nvSpPr>
        <p:spPr>
          <a:xfrm>
            <a:off x="7982775" y="5109104"/>
            <a:ext cx="3051096"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43" name="Straight Connector 42"/>
          <p:cNvCxnSpPr/>
          <p:nvPr/>
        </p:nvCxnSpPr>
        <p:spPr>
          <a:xfrm>
            <a:off x="440583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44" name="Straight Connector 43"/>
          <p:cNvCxnSpPr/>
          <p:nvPr/>
        </p:nvCxnSpPr>
        <p:spPr>
          <a:xfrm>
            <a:off x="7797802"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59EDC295-1956-4E93-BA17-0DF34674FCEE}" type="datetimeFigureOut">
              <a:rPr lang="en-IN" smtClean="0"/>
              <a:t>04-01-2025</a:t>
            </a:fld>
            <a:endParaRPr lang="en-IN"/>
          </a:p>
        </p:txBody>
      </p:sp>
      <p:sp>
        <p:nvSpPr>
          <p:cNvPr id="8" name="Footer Placeholder 7"/>
          <p:cNvSpPr>
            <a:spLocks noGrp="1"/>
          </p:cNvSpPr>
          <p:nvPr>
            <p:ph type="ftr" sz="quarter" idx="11"/>
          </p:nvPr>
        </p:nvSpPr>
        <p:spPr>
          <a:xfrm>
            <a:off x="561111" y="6391838"/>
            <a:ext cx="3644282" cy="304801"/>
          </a:xfrm>
        </p:spPr>
        <p:txBody>
          <a:bodyPr/>
          <a:lstStyle/>
          <a:p>
            <a:endParaRPr lang="en-IN"/>
          </a:p>
        </p:txBody>
      </p:sp>
      <p:sp>
        <p:nvSpPr>
          <p:cNvPr id="9" name="Slide Number Placeholder 8"/>
          <p:cNvSpPr>
            <a:spLocks noGrp="1"/>
          </p:cNvSpPr>
          <p:nvPr>
            <p:ph type="sldNum" sz="quarter" idx="12"/>
          </p:nvPr>
        </p:nvSpPr>
        <p:spPr/>
        <p:txBody>
          <a:bodyPr/>
          <a:lstStyle/>
          <a:p>
            <a:fld id="{F84580F6-062A-4CB4-AA58-28AA17D19FEE}" type="slidenum">
              <a:rPr lang="en-IN" smtClean="0"/>
              <a:t>‹#›</a:t>
            </a:fld>
            <a:endParaRPr lang="en-IN"/>
          </a:p>
        </p:txBody>
      </p:sp>
    </p:spTree>
    <p:extLst>
      <p:ext uri="{BB962C8B-B14F-4D97-AF65-F5344CB8AC3E}">
        <p14:creationId xmlns:p14="http://schemas.microsoft.com/office/powerpoint/2010/main" val="142096819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a:xfrm>
            <a:off x="1154954" y="2603500"/>
            <a:ext cx="8825659" cy="3416300"/>
          </a:xfrm>
        </p:spPr>
        <p:txBody>
          <a:bodyPr vert="eaVert"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10695439" y="6391838"/>
            <a:ext cx="990599" cy="304799"/>
          </a:xfrm>
        </p:spPr>
        <p:txBody>
          <a:bodyPr/>
          <a:lstStyle/>
          <a:p>
            <a:fld id="{59EDC295-1956-4E93-BA17-0DF34674FCEE}" type="datetimeFigureOut">
              <a:rPr lang="en-IN" smtClean="0"/>
              <a:t>04-01-2025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84580F6-062A-4CB4-AA58-28AA17D19FEE}" type="slidenum">
              <a:rPr lang="en-IN" smtClean="0"/>
              <a:t>‹#›</a:t>
            </a:fld>
            <a:endParaRPr lang="en-IN"/>
          </a:p>
        </p:txBody>
      </p:sp>
    </p:spTree>
    <p:extLst>
      <p:ext uri="{BB962C8B-B14F-4D97-AF65-F5344CB8AC3E}">
        <p14:creationId xmlns:p14="http://schemas.microsoft.com/office/powerpoint/2010/main" val="410613227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2" name="Rectangle 11"/>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Oval 14"/>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7" name="Rectangle 6"/>
            <p:cNvSpPr/>
            <p:nvPr/>
          </p:nvSpPr>
          <p:spPr bwMode="gray">
            <a:xfrm>
              <a:off x="414867" y="402165"/>
              <a:ext cx="6510866"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7" name="Freeform 5"/>
            <p:cNvSpPr/>
            <p:nvPr/>
          </p:nvSpPr>
          <p:spPr bwMode="gray">
            <a:xfrm rot="5101749">
              <a:off x="6294738" y="457773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0" name="Freeform 5"/>
            <p:cNvSpPr/>
            <p:nvPr/>
          </p:nvSpPr>
          <p:spPr bwMode="gray">
            <a:xfrm rot="5400000">
              <a:off x="4449232"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3"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Vertical Title 1"/>
          <p:cNvSpPr>
            <a:spLocks noGrp="1"/>
          </p:cNvSpPr>
          <p:nvPr>
            <p:ph type="title" orient="vert"/>
          </p:nvPr>
        </p:nvSpPr>
        <p:spPr>
          <a:xfrm>
            <a:off x="8585235" y="1278467"/>
            <a:ext cx="1409965" cy="4748590"/>
          </a:xfrm>
        </p:spPr>
        <p:txBody>
          <a:bodyPr vert="eaVert" anchor="b"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1154954" y="1278467"/>
            <a:ext cx="6256025" cy="474859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10653104" y="6391838"/>
            <a:ext cx="992135" cy="304799"/>
          </a:xfrm>
        </p:spPr>
        <p:txBody>
          <a:bodyPr/>
          <a:lstStyle/>
          <a:p>
            <a:fld id="{59EDC295-1956-4E93-BA17-0DF34674FCEE}" type="datetimeFigureOut">
              <a:rPr lang="en-IN" smtClean="0"/>
              <a:t>04-01-2025</a:t>
            </a:fld>
            <a:endParaRPr lang="en-IN"/>
          </a:p>
        </p:txBody>
      </p:sp>
      <p:sp>
        <p:nvSpPr>
          <p:cNvPr id="5" name="Footer Placeholder 4"/>
          <p:cNvSpPr>
            <a:spLocks noGrp="1"/>
          </p:cNvSpPr>
          <p:nvPr>
            <p:ph type="ftr" sz="quarter" idx="11"/>
          </p:nvPr>
        </p:nvSpPr>
        <p:spPr/>
        <p:txBody>
          <a:bodyPr/>
          <a:lstStyle/>
          <a:p>
            <a:endParaRPr lang="en-IN"/>
          </a:p>
        </p:txBody>
      </p:sp>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F84580F6-062A-4CB4-AA58-28AA17D19FEE}" type="slidenum">
              <a:rPr lang="en-IN" smtClean="0"/>
              <a:t>‹#›</a:t>
            </a:fld>
            <a:endParaRPr lang="en-IN"/>
          </a:p>
        </p:txBody>
      </p:sp>
    </p:spTree>
    <p:extLst>
      <p:ext uri="{BB962C8B-B14F-4D97-AF65-F5344CB8AC3E}">
        <p14:creationId xmlns:p14="http://schemas.microsoft.com/office/powerpoint/2010/main" val="91868178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jpe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8" name="Group 7"/>
          <p:cNvGrpSpPr/>
          <p:nvPr/>
        </p:nvGrpSpPr>
        <p:grpSpPr>
          <a:xfrm>
            <a:off x="0" y="0"/>
            <a:ext cx="12192000" cy="6858000"/>
            <a:chOff x="0" y="0"/>
            <a:chExt cx="12192000" cy="6858000"/>
          </a:xfrm>
        </p:grpSpPr>
        <p:sp>
          <p:nvSpPr>
            <p:cNvPr id="7" name="Rectangle 6"/>
            <p:cNvSpPr/>
            <p:nvPr/>
          </p:nvSpPr>
          <p:spPr>
            <a:xfrm>
              <a:off x="0" y="0"/>
              <a:ext cx="12192000" cy="6858000"/>
            </a:xfrm>
            <a:prstGeom prst="rect">
              <a:avLst/>
            </a:prstGeom>
            <a:blipFill>
              <a:blip r:embed="rId19">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3" name="Oval 12"/>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Freeform 5"/>
            <p:cNvSpPr/>
            <p:nvPr/>
          </p:nvSpPr>
          <p:spPr bwMode="gray">
            <a:xfrm rot="21010068">
              <a:off x="8490951" y="17975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9" name="Freeform 5"/>
            <p:cNvSpPr/>
            <p:nvPr/>
          </p:nvSpPr>
          <p:spPr bwMode="gray">
            <a:xfrm>
              <a:off x="459506" y="1866405"/>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sp>
        <p:sp>
          <p:nvSpPr>
            <p:cNvPr id="14"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Placeholder 1"/>
          <p:cNvSpPr>
            <a:spLocks noGrp="1"/>
          </p:cNvSpPr>
          <p:nvPr>
            <p:ph type="title"/>
          </p:nvPr>
        </p:nvSpPr>
        <p:spPr bwMode="gray">
          <a:xfrm>
            <a:off x="1154954" y="973668"/>
            <a:ext cx="8761413" cy="706964"/>
          </a:xfrm>
          <a:prstGeom prst="rect">
            <a:avLst/>
          </a:prstGeom>
        </p:spPr>
        <p:txBody>
          <a:bodyPr vert="horz" lIns="91440" tIns="45720" rIns="91440" bIns="45720" rtlCol="0" anchor="ctr">
            <a:noAutofit/>
          </a:bodyPr>
          <a:lstStyle/>
          <a:p>
            <a:r>
              <a:rPr lang="en-US"/>
              <a:t>Click to edit Master title style</a:t>
            </a:r>
            <a:endParaRPr lang="en-US" dirty="0"/>
          </a:p>
        </p:txBody>
      </p:sp>
      <p:sp>
        <p:nvSpPr>
          <p:cNvPr id="3" name="Text Placeholder 2"/>
          <p:cNvSpPr>
            <a:spLocks noGrp="1"/>
          </p:cNvSpPr>
          <p:nvPr>
            <p:ph type="body" idx="1"/>
          </p:nvPr>
        </p:nvSpPr>
        <p:spPr>
          <a:xfrm>
            <a:off x="1154954" y="2603500"/>
            <a:ext cx="8761413" cy="34163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653104" y="6391838"/>
            <a:ext cx="990599" cy="304799"/>
          </a:xfrm>
          <a:prstGeom prst="rect">
            <a:avLst/>
          </a:prstGeom>
        </p:spPr>
        <p:txBody>
          <a:bodyPr vert="horz" lIns="91440" tIns="45720" rIns="91440" bIns="45720" rtlCol="0" anchor="ctr"/>
          <a:lstStyle>
            <a:lvl1pPr algn="r">
              <a:defRPr sz="1000" b="1" i="0">
                <a:solidFill>
                  <a:schemeClr val="accent1"/>
                </a:solidFill>
              </a:defRPr>
            </a:lvl1pPr>
          </a:lstStyle>
          <a:p>
            <a:fld id="{59EDC295-1956-4E93-BA17-0DF34674FCEE}" type="datetimeFigureOut">
              <a:rPr lang="en-IN" smtClean="0"/>
              <a:t>04-01-2025</a:t>
            </a:fld>
            <a:endParaRPr lang="en-IN"/>
          </a:p>
        </p:txBody>
      </p:sp>
      <p:sp>
        <p:nvSpPr>
          <p:cNvPr id="5" name="Footer Placeholder 4"/>
          <p:cNvSpPr>
            <a:spLocks noGrp="1"/>
          </p:cNvSpPr>
          <p:nvPr>
            <p:ph type="ftr" sz="quarter" idx="3"/>
          </p:nvPr>
        </p:nvSpPr>
        <p:spPr>
          <a:xfrm>
            <a:off x="561110" y="6391838"/>
            <a:ext cx="3859795" cy="304801"/>
          </a:xfrm>
          <a:prstGeom prst="rect">
            <a:avLst/>
          </a:prstGeom>
        </p:spPr>
        <p:txBody>
          <a:bodyPr vert="horz" lIns="91440" tIns="45720" rIns="91440" bIns="45720" rtlCol="0" anchor="ctr"/>
          <a:lstStyle>
            <a:lvl1pPr algn="l">
              <a:defRPr sz="1000" b="1" i="0">
                <a:solidFill>
                  <a:schemeClr val="accent1"/>
                </a:solidFill>
              </a:defRPr>
            </a:lvl1pPr>
          </a:lstStyle>
          <a:p>
            <a:endParaRPr lang="en-IN"/>
          </a:p>
        </p:txBody>
      </p:sp>
      <p:sp>
        <p:nvSpPr>
          <p:cNvPr id="21" name="Rectangle 20"/>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4"/>
          </p:nvPr>
        </p:nvSpPr>
        <p:spPr bwMode="gray">
          <a:xfrm>
            <a:off x="10352540" y="295729"/>
            <a:ext cx="838199" cy="767687"/>
          </a:xfrm>
          <a:prstGeom prst="rect">
            <a:avLst/>
          </a:prstGeom>
        </p:spPr>
        <p:txBody>
          <a:bodyPr vert="horz" lIns="91440" tIns="45720" rIns="91440" bIns="45720" rtlCol="0" anchor="b"/>
          <a:lstStyle>
            <a:lvl1pPr algn="ctr">
              <a:defRPr sz="2800" b="0" i="0">
                <a:solidFill>
                  <a:schemeClr val="bg1"/>
                </a:solidFill>
              </a:defRPr>
            </a:lvl1pPr>
          </a:lstStyle>
          <a:p>
            <a:fld id="{F84580F6-062A-4CB4-AA58-28AA17D19FEE}" type="slidenum">
              <a:rPr lang="en-IN" smtClean="0"/>
              <a:t>‹#›</a:t>
            </a:fld>
            <a:endParaRPr lang="en-IN"/>
          </a:p>
        </p:txBody>
      </p:sp>
    </p:spTree>
    <p:extLst>
      <p:ext uri="{BB962C8B-B14F-4D97-AF65-F5344CB8AC3E}">
        <p14:creationId xmlns:p14="http://schemas.microsoft.com/office/powerpoint/2010/main" val="1810128655"/>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txStyles>
    <p:titleStyle>
      <a:lvl1pPr algn="l" defTabSz="457200" rtl="0" eaLnBrk="1" latinLnBrk="0" hangingPunct="1">
        <a:spcBef>
          <a:spcPct val="0"/>
        </a:spcBef>
        <a:buNone/>
        <a:defRPr sz="3600" b="0" i="0" kern="1200">
          <a:solidFill>
            <a:schemeClr val="bg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b="0" i="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b="0" i="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https://www.geeksforgeeks.org/software-engineering-agile-software-development/" TargetMode="Externa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hyperlink" Target="https://www.geeksforgeeks.org/pair-programming" TargetMode="Externa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D1746013-202E-DE7C-2204-3E0E90C294AB}"/>
              </a:ext>
            </a:extLst>
          </p:cNvPr>
          <p:cNvSpPr>
            <a:spLocks noGrp="1"/>
          </p:cNvSpPr>
          <p:nvPr>
            <p:ph type="ctrTitle"/>
          </p:nvPr>
        </p:nvSpPr>
        <p:spPr/>
        <p:txBody>
          <a:bodyPr>
            <a:normAutofit/>
          </a:bodyPr>
          <a:lstStyle/>
          <a:p>
            <a:pPr algn="just"/>
            <a:r>
              <a:rPr lang="en-US" sz="2800" b="0" i="0" u="sng" dirty="0">
                <a:effectLst/>
                <a:latin typeface="Nunito" pitchFamily="2" charset="0"/>
                <a:hlinkClick r:id="rId2">
                  <a:extLst>
                    <a:ext uri="{A12FA001-AC4F-418D-AE19-62706E023703}">
                      <ahyp:hlinkClr xmlns:ahyp="http://schemas.microsoft.com/office/drawing/2018/hyperlinkcolor" val="tx"/>
                    </a:ext>
                  </a:extLst>
                </a:hlinkClick>
              </a:rPr>
              <a:t>Agility</a:t>
            </a:r>
            <a:r>
              <a:rPr lang="en-US" sz="2800" b="0" i="0" dirty="0">
                <a:effectLst/>
                <a:latin typeface="Nunito" pitchFamily="2" charset="0"/>
              </a:rPr>
              <a:t> has become today’s buzzword when describing a contemporary software method. Everyone is agile. An associate agile team could be a nimble team able to befittingly reply to changes. Modification is what software development is extremely abundant.</a:t>
            </a:r>
            <a:endParaRPr lang="en-IN" sz="2800" dirty="0"/>
          </a:p>
        </p:txBody>
      </p:sp>
    </p:spTree>
    <p:extLst>
      <p:ext uri="{BB962C8B-B14F-4D97-AF65-F5344CB8AC3E}">
        <p14:creationId xmlns:p14="http://schemas.microsoft.com/office/powerpoint/2010/main" val="238655382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824BDFB-BA78-49E1-795B-F1CAEDB31B71}"/>
              </a:ext>
            </a:extLst>
          </p:cNvPr>
          <p:cNvSpPr>
            <a:spLocks noGrp="1"/>
          </p:cNvSpPr>
          <p:nvPr>
            <p:ph idx="1"/>
          </p:nvPr>
        </p:nvSpPr>
        <p:spPr/>
        <p:txBody>
          <a:bodyPr>
            <a:normAutofit lnSpcReduction="10000"/>
          </a:bodyPr>
          <a:lstStyle/>
          <a:p>
            <a:pPr algn="l" fontAlgn="base">
              <a:spcAft>
                <a:spcPts val="1800"/>
              </a:spcAft>
              <a:buFont typeface="Arial" panose="020B0604020202020204" pitchFamily="34" charset="0"/>
              <a:buChar char="•"/>
            </a:pPr>
            <a:r>
              <a:rPr lang="en-US" b="0" i="0" dirty="0">
                <a:solidFill>
                  <a:srgbClr val="273239"/>
                </a:solidFill>
                <a:effectLst/>
                <a:latin typeface="Nunito" pitchFamily="2" charset="0"/>
              </a:rPr>
              <a:t>Changes within the software being engineered,</a:t>
            </a:r>
          </a:p>
          <a:p>
            <a:pPr algn="l" fontAlgn="base">
              <a:spcAft>
                <a:spcPts val="1800"/>
              </a:spcAft>
              <a:buFont typeface="Arial" panose="020B0604020202020204" pitchFamily="34" charset="0"/>
              <a:buChar char="•"/>
            </a:pPr>
            <a:r>
              <a:rPr lang="en-US" b="0" i="0" dirty="0">
                <a:solidFill>
                  <a:srgbClr val="273239"/>
                </a:solidFill>
                <a:effectLst/>
                <a:latin typeface="Nunito" pitchFamily="2" charset="0"/>
              </a:rPr>
              <a:t>Changes to the team members,</a:t>
            </a:r>
          </a:p>
          <a:p>
            <a:pPr algn="l" fontAlgn="base">
              <a:spcAft>
                <a:spcPts val="1800"/>
              </a:spcAft>
              <a:buFont typeface="Arial" panose="020B0604020202020204" pitchFamily="34" charset="0"/>
              <a:buChar char="•"/>
            </a:pPr>
            <a:r>
              <a:rPr lang="en-US" b="0" i="0" dirty="0">
                <a:solidFill>
                  <a:srgbClr val="273239"/>
                </a:solidFill>
                <a:effectLst/>
                <a:latin typeface="Nunito" pitchFamily="2" charset="0"/>
              </a:rPr>
              <a:t>Changes attributable to new technology,</a:t>
            </a:r>
          </a:p>
          <a:p>
            <a:pPr algn="l" fontAlgn="base">
              <a:spcAft>
                <a:spcPts val="1800"/>
              </a:spcAft>
              <a:buFont typeface="Arial" panose="020B0604020202020204" pitchFamily="34" charset="0"/>
              <a:buChar char="•"/>
            </a:pPr>
            <a:r>
              <a:rPr lang="en-US" b="0" i="0" dirty="0">
                <a:solidFill>
                  <a:srgbClr val="273239"/>
                </a:solidFill>
                <a:effectLst/>
                <a:latin typeface="Nunito" pitchFamily="2" charset="0"/>
              </a:rPr>
              <a:t>Changes of all types will have an effect on the merchandise they build or the project that makes the merchandise.</a:t>
            </a:r>
          </a:p>
          <a:p>
            <a:pPr algn="l" rtl="0" fontAlgn="base">
              <a:spcAft>
                <a:spcPts val="750"/>
              </a:spcAft>
            </a:pPr>
            <a:r>
              <a:rPr lang="en-US" b="0" i="0" dirty="0">
                <a:solidFill>
                  <a:srgbClr val="273239"/>
                </a:solidFill>
                <a:effectLst/>
                <a:latin typeface="Nunito" pitchFamily="2" charset="0"/>
              </a:rPr>
              <a:t>All changes can be represented as shown in the below diagram which is considered according to Ivar Jacobson Agility process of Software.</a:t>
            </a:r>
          </a:p>
          <a:p>
            <a:endParaRPr lang="en-IN" dirty="0"/>
          </a:p>
        </p:txBody>
      </p:sp>
    </p:spTree>
    <p:extLst>
      <p:ext uri="{BB962C8B-B14F-4D97-AF65-F5344CB8AC3E}">
        <p14:creationId xmlns:p14="http://schemas.microsoft.com/office/powerpoint/2010/main" val="192441128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73AA3BFF-695C-7AD7-5C86-543E48EC2703}"/>
              </a:ext>
            </a:extLst>
          </p:cNvPr>
          <p:cNvPicPr>
            <a:picLocks noGrp="1" noChangeAspect="1"/>
          </p:cNvPicPr>
          <p:nvPr>
            <p:ph idx="1"/>
          </p:nvPr>
        </p:nvPicPr>
        <p:blipFill>
          <a:blip r:embed="rId2"/>
          <a:stretch>
            <a:fillRect/>
          </a:stretch>
        </p:blipFill>
        <p:spPr>
          <a:xfrm>
            <a:off x="1085150" y="1052052"/>
            <a:ext cx="10021699" cy="4063823"/>
          </a:xfrm>
        </p:spPr>
      </p:pic>
    </p:spTree>
    <p:extLst>
      <p:ext uri="{BB962C8B-B14F-4D97-AF65-F5344CB8AC3E}">
        <p14:creationId xmlns:p14="http://schemas.microsoft.com/office/powerpoint/2010/main" val="361470976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A4A5A28-F58C-5B23-446D-759982A257C7}"/>
              </a:ext>
            </a:extLst>
          </p:cNvPr>
          <p:cNvSpPr>
            <a:spLocks noGrp="1"/>
          </p:cNvSpPr>
          <p:nvPr>
            <p:ph idx="1"/>
          </p:nvPr>
        </p:nvSpPr>
        <p:spPr/>
        <p:txBody>
          <a:bodyPr/>
          <a:lstStyle/>
          <a:p>
            <a:r>
              <a:rPr lang="en-IN" dirty="0"/>
              <a:t>Ref: https://www.geeksforgeeks.org/software-engineering-agility/</a:t>
            </a:r>
          </a:p>
        </p:txBody>
      </p:sp>
    </p:spTree>
    <p:extLst>
      <p:ext uri="{BB962C8B-B14F-4D97-AF65-F5344CB8AC3E}">
        <p14:creationId xmlns:p14="http://schemas.microsoft.com/office/powerpoint/2010/main" val="350993242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855A885-F596-18D6-0974-DF478D68F2C4}"/>
              </a:ext>
            </a:extLst>
          </p:cNvPr>
          <p:cNvSpPr>
            <a:spLocks noGrp="1"/>
          </p:cNvSpPr>
          <p:nvPr>
            <p:ph idx="1"/>
          </p:nvPr>
        </p:nvSpPr>
        <p:spPr/>
        <p:txBody>
          <a:bodyPr/>
          <a:lstStyle/>
          <a:p>
            <a:r>
              <a:rPr lang="en-US" b="0" i="0" dirty="0">
                <a:solidFill>
                  <a:srgbClr val="273239"/>
                </a:solidFill>
                <a:effectLst/>
                <a:latin typeface="Nunito" pitchFamily="2" charset="0"/>
              </a:rPr>
              <a:t>Support for changes ought to be inherent in everything we tend to kill software, one thing we tend to embrace as a result of it’s the guts and soul of software. Associate in agile teams acknowledges that software is developed by people operating in groups the talents of those folks, and their ability to collaborate are at the core for the success of the project. In Jacobson’s read, the generality of modification is that the primary driver for agility. Software engineers should be fast on their feet if they’re to accommodate the speedy changes that Jacobson describes. But agility is over an efficient response to alter.</a:t>
            </a:r>
            <a:endParaRPr lang="en-IN" dirty="0"/>
          </a:p>
        </p:txBody>
      </p:sp>
    </p:spTree>
    <p:extLst>
      <p:ext uri="{BB962C8B-B14F-4D97-AF65-F5344CB8AC3E}">
        <p14:creationId xmlns:p14="http://schemas.microsoft.com/office/powerpoint/2010/main" val="379432379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13DF9A8-5BF8-081B-1690-16B63063FAB2}"/>
              </a:ext>
            </a:extLst>
          </p:cNvPr>
          <p:cNvSpPr>
            <a:spLocks noGrp="1"/>
          </p:cNvSpPr>
          <p:nvPr>
            <p:ph idx="1"/>
          </p:nvPr>
        </p:nvSpPr>
        <p:spPr/>
        <p:txBody>
          <a:bodyPr>
            <a:normAutofit fontScale="92500" lnSpcReduction="20000"/>
          </a:bodyPr>
          <a:lstStyle/>
          <a:p>
            <a:pPr algn="l" fontAlgn="base">
              <a:spcAft>
                <a:spcPts val="1800"/>
              </a:spcAft>
              <a:buFont typeface="Arial" panose="020B0604020202020204" pitchFamily="34" charset="0"/>
              <a:buChar char="•"/>
            </a:pPr>
            <a:r>
              <a:rPr lang="en-US" b="0" i="0" dirty="0">
                <a:solidFill>
                  <a:srgbClr val="273239"/>
                </a:solidFill>
                <a:effectLst/>
                <a:latin typeface="Nunito" pitchFamily="2" charset="0"/>
              </a:rPr>
              <a:t>It encourages team structures and attitudes that create communication (among team members, between technologists and business folks, between software engineers and their managers) additional facile.</a:t>
            </a:r>
          </a:p>
          <a:p>
            <a:pPr algn="l" fontAlgn="base">
              <a:spcAft>
                <a:spcPts val="1800"/>
              </a:spcAft>
              <a:buFont typeface="Arial" panose="020B0604020202020204" pitchFamily="34" charset="0"/>
              <a:buChar char="•"/>
            </a:pPr>
            <a:r>
              <a:rPr lang="en-US" b="0" i="0" dirty="0">
                <a:solidFill>
                  <a:srgbClr val="273239"/>
                </a:solidFill>
                <a:effectLst/>
                <a:latin typeface="Nunito" pitchFamily="2" charset="0"/>
              </a:rPr>
              <a:t>It emphasizes speedy delivery of operational software Associate in emphasizes the importance of intermediate work merchandise (not continuously a decent thing);</a:t>
            </a:r>
          </a:p>
          <a:p>
            <a:pPr algn="l" fontAlgn="base">
              <a:spcAft>
                <a:spcPts val="1800"/>
              </a:spcAft>
              <a:buFont typeface="Arial" panose="020B0604020202020204" pitchFamily="34" charset="0"/>
              <a:buChar char="•"/>
            </a:pPr>
            <a:r>
              <a:rPr lang="en-US" b="0" i="0" dirty="0">
                <a:solidFill>
                  <a:srgbClr val="273239"/>
                </a:solidFill>
                <a:effectLst/>
                <a:latin typeface="Nunito" pitchFamily="2" charset="0"/>
              </a:rPr>
              <a:t>It adopts the client as a vicinity of the event team and works to eliminate the “us and them” angle that continues to perforate several software projects;</a:t>
            </a:r>
          </a:p>
          <a:p>
            <a:pPr algn="l" fontAlgn="base">
              <a:spcAft>
                <a:spcPts val="1800"/>
              </a:spcAft>
              <a:buFont typeface="Arial" panose="020B0604020202020204" pitchFamily="34" charset="0"/>
              <a:buChar char="•"/>
            </a:pPr>
            <a:r>
              <a:rPr lang="en-US" b="0" i="0" dirty="0">
                <a:solidFill>
                  <a:srgbClr val="273239"/>
                </a:solidFill>
                <a:effectLst/>
                <a:latin typeface="Nunito" pitchFamily="2" charset="0"/>
              </a:rPr>
              <a:t>It acknowledges that coming up within an unsure world has its limits which a project arrange should be versatile.</a:t>
            </a:r>
          </a:p>
          <a:p>
            <a:endParaRPr lang="en-IN" dirty="0"/>
          </a:p>
        </p:txBody>
      </p:sp>
    </p:spTree>
    <p:extLst>
      <p:ext uri="{BB962C8B-B14F-4D97-AF65-F5344CB8AC3E}">
        <p14:creationId xmlns:p14="http://schemas.microsoft.com/office/powerpoint/2010/main" val="86977669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0968469-0844-9B0B-D600-7005BD763B0E}"/>
              </a:ext>
            </a:extLst>
          </p:cNvPr>
          <p:cNvSpPr>
            <a:spLocks noGrp="1"/>
          </p:cNvSpPr>
          <p:nvPr>
            <p:ph idx="1"/>
          </p:nvPr>
        </p:nvSpPr>
        <p:spPr/>
        <p:txBody>
          <a:bodyPr/>
          <a:lstStyle/>
          <a:p>
            <a:r>
              <a:rPr lang="en-US" b="0" i="0" dirty="0">
                <a:solidFill>
                  <a:srgbClr val="273239"/>
                </a:solidFill>
                <a:effectLst/>
                <a:latin typeface="Nunito" pitchFamily="2" charset="0"/>
              </a:rPr>
              <a:t>Agility is applied to any software method. However, to accomplish this, it’s essential that the method be designed during a manner that enables the project team to adapt tasks and to contour them, conduct coming up within a good manner that understands the fluidity of an agile development approach, eliminate about the foremost essential work products and keeps them lean, Associate in emphasize a progressive delivery strategy that gets operating package to the client as apace as possible for the merchandise sort and operational atmosphere.</a:t>
            </a:r>
            <a:endParaRPr lang="en-IN" dirty="0"/>
          </a:p>
        </p:txBody>
      </p:sp>
    </p:spTree>
    <p:extLst>
      <p:ext uri="{BB962C8B-B14F-4D97-AF65-F5344CB8AC3E}">
        <p14:creationId xmlns:p14="http://schemas.microsoft.com/office/powerpoint/2010/main" val="215527092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FD068D8-091B-9131-90C3-6781CE0B466E}"/>
              </a:ext>
            </a:extLst>
          </p:cNvPr>
          <p:cNvSpPr>
            <a:spLocks noGrp="1"/>
          </p:cNvSpPr>
          <p:nvPr>
            <p:ph idx="1"/>
          </p:nvPr>
        </p:nvSpPr>
        <p:spPr/>
        <p:txBody>
          <a:bodyPr/>
          <a:lstStyle/>
          <a:p>
            <a:pPr algn="l" fontAlgn="ctr">
              <a:spcAft>
                <a:spcPts val="1500"/>
              </a:spcAft>
            </a:pPr>
            <a:r>
              <a:rPr lang="en-US" b="0" i="0" dirty="0">
                <a:solidFill>
                  <a:srgbClr val="001D35"/>
                </a:solidFill>
                <a:effectLst/>
                <a:latin typeface="Google Sans"/>
              </a:rPr>
              <a:t>The Agile software development process is a group of methodologies that emphasize collaboration, frequent delivery, and continuous improvement. The process is based on the Agile Manifesto, which was created by a group of software industry leaders. </a:t>
            </a:r>
          </a:p>
          <a:p>
            <a:pPr algn="l">
              <a:spcBef>
                <a:spcPts val="1500"/>
              </a:spcBef>
              <a:spcAft>
                <a:spcPts val="750"/>
              </a:spcAft>
            </a:pPr>
            <a:r>
              <a:rPr lang="en-US" b="0" i="0" dirty="0">
                <a:solidFill>
                  <a:srgbClr val="001D35"/>
                </a:solidFill>
                <a:effectLst/>
                <a:latin typeface="Google Sans"/>
              </a:rPr>
              <a:t>The Agile process is characterized by:</a:t>
            </a:r>
          </a:p>
          <a:p>
            <a:pPr algn="l">
              <a:spcBef>
                <a:spcPts val="750"/>
              </a:spcBef>
              <a:spcAft>
                <a:spcPts val="600"/>
              </a:spcAft>
              <a:buFont typeface="Arial" panose="020B0604020202020204" pitchFamily="34" charset="0"/>
              <a:buChar char="•"/>
            </a:pPr>
            <a:r>
              <a:rPr lang="en-US" b="1" i="0" dirty="0">
                <a:solidFill>
                  <a:srgbClr val="001D35"/>
                </a:solidFill>
                <a:effectLst/>
                <a:latin typeface="Google Sans"/>
              </a:rPr>
              <a:t>Iterative development</a:t>
            </a:r>
            <a:endParaRPr lang="en-US" b="0" i="0" dirty="0">
              <a:solidFill>
                <a:srgbClr val="001D35"/>
              </a:solidFill>
              <a:effectLst/>
              <a:latin typeface="Google Sans"/>
            </a:endParaRPr>
          </a:p>
          <a:p>
            <a:pPr algn="l">
              <a:spcBef>
                <a:spcPts val="750"/>
              </a:spcBef>
              <a:spcAft>
                <a:spcPts val="600"/>
              </a:spcAft>
              <a:buFont typeface="Arial" panose="020B0604020202020204" pitchFamily="34" charset="0"/>
              <a:buChar char="•"/>
            </a:pPr>
            <a:r>
              <a:rPr lang="en-US" b="0" i="0" dirty="0">
                <a:solidFill>
                  <a:srgbClr val="001D35"/>
                </a:solidFill>
                <a:effectLst/>
                <a:latin typeface="Google Sans"/>
              </a:rPr>
              <a:t>The development process is broken down into small increments, called sprints, that typically last one to four weeks. Each sprint results in a working piece of the software. </a:t>
            </a:r>
          </a:p>
          <a:p>
            <a:endParaRPr lang="en-IN" dirty="0"/>
          </a:p>
        </p:txBody>
      </p:sp>
      <p:sp>
        <p:nvSpPr>
          <p:cNvPr id="5" name="TextBox 4">
            <a:extLst>
              <a:ext uri="{FF2B5EF4-FFF2-40B4-BE49-F238E27FC236}">
                <a16:creationId xmlns:a16="http://schemas.microsoft.com/office/drawing/2014/main" id="{19C99FD1-D23F-7F5B-D1C1-2350B2AB87B2}"/>
              </a:ext>
            </a:extLst>
          </p:cNvPr>
          <p:cNvSpPr txBox="1"/>
          <p:nvPr/>
        </p:nvSpPr>
        <p:spPr>
          <a:xfrm>
            <a:off x="1455174" y="1093527"/>
            <a:ext cx="6921909" cy="369332"/>
          </a:xfrm>
          <a:prstGeom prst="rect">
            <a:avLst/>
          </a:prstGeom>
          <a:noFill/>
        </p:spPr>
        <p:txBody>
          <a:bodyPr wrap="square">
            <a:spAutoFit/>
          </a:bodyPr>
          <a:lstStyle/>
          <a:p>
            <a:r>
              <a:rPr lang="en-IN" dirty="0">
                <a:highlight>
                  <a:srgbClr val="C0C0C0"/>
                </a:highlight>
              </a:rPr>
              <a:t>Agile process in software engineering</a:t>
            </a:r>
          </a:p>
        </p:txBody>
      </p:sp>
    </p:spTree>
    <p:extLst>
      <p:ext uri="{BB962C8B-B14F-4D97-AF65-F5344CB8AC3E}">
        <p14:creationId xmlns:p14="http://schemas.microsoft.com/office/powerpoint/2010/main" val="13828661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a:extLst>
              <a:ext uri="{FF2B5EF4-FFF2-40B4-BE49-F238E27FC236}">
                <a16:creationId xmlns:a16="http://schemas.microsoft.com/office/drawing/2014/main" id="{C133A39F-8CDA-C8F0-F1C2-562FF47A4BEF}"/>
              </a:ext>
            </a:extLst>
          </p:cNvPr>
          <p:cNvSpPr>
            <a:spLocks noGrp="1" noChangeArrowheads="1"/>
          </p:cNvSpPr>
          <p:nvPr>
            <p:ph idx="1"/>
          </p:nvPr>
        </p:nvSpPr>
        <p:spPr bwMode="auto">
          <a:xfrm>
            <a:off x="1154954" y="2138009"/>
            <a:ext cx="10220969" cy="4347283"/>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63480" rIns="0" bIns="12696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rgbClr val="001D35"/>
                </a:solidFill>
                <a:effectLst/>
                <a:latin typeface="Google Sans"/>
              </a:rPr>
              <a:t>Frequent feedback</a:t>
            </a:r>
            <a:endParaRPr kumimoji="0" lang="en-US" altLang="en-US" sz="1800" b="0" i="0" u="none" strike="noStrike" cap="none" normalizeH="0" baseline="0" dirty="0">
              <a:ln>
                <a:noFill/>
              </a:ln>
              <a:solidFill>
                <a:srgbClr val="001D35"/>
              </a:solidFill>
              <a:effectLst/>
              <a:latin typeface="Google Sans"/>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rgbClr val="001D35"/>
                </a:solidFill>
                <a:effectLst/>
                <a:latin typeface="Google Sans"/>
              </a:rPr>
              <a:t>Teams gather feedback from customers and stakeholders after each sprint to understand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rgbClr val="001D35"/>
                </a:solidFill>
                <a:effectLst/>
                <a:latin typeface="Google Sans"/>
              </a:rPr>
              <a:t>what works and what needs improvement.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rgbClr val="001D35"/>
                </a:solidFill>
                <a:effectLst/>
                <a:latin typeface="Google Sans"/>
              </a:rPr>
              <a:t>Continuous testing</a:t>
            </a:r>
            <a:endParaRPr kumimoji="0" lang="en-US" altLang="en-US" sz="1800" b="0" i="0" u="none" strike="noStrike" cap="none" normalizeH="0" baseline="0" dirty="0">
              <a:ln>
                <a:noFill/>
              </a:ln>
              <a:solidFill>
                <a:srgbClr val="001D35"/>
              </a:solidFill>
              <a:effectLst/>
              <a:latin typeface="Google Sans"/>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rgbClr val="001D35"/>
                </a:solidFill>
                <a:effectLst/>
                <a:latin typeface="Google Sans"/>
              </a:rPr>
              <a:t>Testing is done continuously throughout the development cycle to identify bugs and ensure the software works as intended.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rgbClr val="001D35"/>
                </a:solidFill>
                <a:effectLst/>
                <a:latin typeface="Google Sans"/>
              </a:rPr>
              <a:t>Cross-functional teams</a:t>
            </a:r>
            <a:endParaRPr kumimoji="0" lang="en-US" altLang="en-US" sz="1800" b="0" i="0" u="none" strike="noStrike" cap="none" normalizeH="0" baseline="0" dirty="0">
              <a:ln>
                <a:noFill/>
              </a:ln>
              <a:solidFill>
                <a:srgbClr val="001D35"/>
              </a:solidFill>
              <a:effectLst/>
              <a:latin typeface="Google Sans"/>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rgbClr val="001D35"/>
                </a:solidFill>
                <a:effectLst/>
                <a:latin typeface="Google Sans"/>
              </a:rPr>
              <a:t>Teams work together in all functions, including planning, analysis, design, coding, unit testing, and acceptance testing.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rgbClr val="001D35"/>
                </a:solidFill>
                <a:effectLst/>
                <a:latin typeface="Google Sans"/>
              </a:rPr>
              <a:t>Pair programming</a:t>
            </a:r>
            <a:endParaRPr kumimoji="0" lang="en-US" altLang="en-US" sz="1800" b="0" i="0" u="none" strike="noStrike" cap="none" normalizeH="0" baseline="0" dirty="0">
              <a:ln>
                <a:noFill/>
              </a:ln>
              <a:solidFill>
                <a:srgbClr val="001D35"/>
              </a:solidFill>
              <a:effectLst/>
              <a:latin typeface="Google Sans"/>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rgbClr val="001D35"/>
                </a:solidFill>
                <a:effectLst/>
                <a:latin typeface="Google Sans"/>
              </a:rPr>
              <a:t>Programmers work together in pairs to produce well-written programs with fewer errors.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rgbClr val="001D35"/>
                </a:solidFill>
                <a:effectLst/>
                <a:latin typeface="Google Sans"/>
              </a:rPr>
              <a:t>Face-to-face communication</a:t>
            </a:r>
            <a:endParaRPr kumimoji="0" lang="en-US" altLang="en-US" sz="1800" b="0" i="0" u="none" strike="noStrike" cap="none" normalizeH="0" baseline="0" dirty="0">
              <a:ln>
                <a:noFill/>
              </a:ln>
              <a:solidFill>
                <a:srgbClr val="001D35"/>
              </a:solidFill>
              <a:effectLst/>
              <a:latin typeface="Google Sans"/>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rgbClr val="001D35"/>
                </a:solidFill>
                <a:effectLst/>
                <a:latin typeface="Google Sans"/>
              </a:rPr>
              <a:t>Teams communicate frequently to better collaborate and understand project goals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65196511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4EB4DF-17DE-70EE-345C-FB46501BA955}"/>
              </a:ext>
            </a:extLst>
          </p:cNvPr>
          <p:cNvSpPr>
            <a:spLocks noGrp="1"/>
          </p:cNvSpPr>
          <p:nvPr>
            <p:ph type="title"/>
          </p:nvPr>
        </p:nvSpPr>
        <p:spPr/>
        <p:txBody>
          <a:bodyPr/>
          <a:lstStyle/>
          <a:p>
            <a:r>
              <a:rPr lang="en-US" b="1" i="0" dirty="0">
                <a:effectLst/>
                <a:latin typeface="Nunito" pitchFamily="2" charset="0"/>
              </a:rPr>
              <a:t>Principles of the Agile Model</a:t>
            </a:r>
            <a:br>
              <a:rPr lang="en-US" b="1" i="0" dirty="0">
                <a:solidFill>
                  <a:srgbClr val="273239"/>
                </a:solidFill>
                <a:effectLst/>
                <a:latin typeface="Nunito" pitchFamily="2" charset="0"/>
              </a:rPr>
            </a:br>
            <a:endParaRPr lang="en-IN" dirty="0"/>
          </a:p>
        </p:txBody>
      </p:sp>
      <p:sp>
        <p:nvSpPr>
          <p:cNvPr id="3" name="Content Placeholder 2">
            <a:extLst>
              <a:ext uri="{FF2B5EF4-FFF2-40B4-BE49-F238E27FC236}">
                <a16:creationId xmlns:a16="http://schemas.microsoft.com/office/drawing/2014/main" id="{3F0B1A56-8F32-AFC3-0DCC-D1D5F0F6B5A3}"/>
              </a:ext>
            </a:extLst>
          </p:cNvPr>
          <p:cNvSpPr>
            <a:spLocks noGrp="1"/>
          </p:cNvSpPr>
          <p:nvPr>
            <p:ph idx="1"/>
          </p:nvPr>
        </p:nvSpPr>
        <p:spPr>
          <a:xfrm>
            <a:off x="1154954" y="2603499"/>
            <a:ext cx="8825659" cy="3993945"/>
          </a:xfrm>
        </p:spPr>
        <p:txBody>
          <a:bodyPr>
            <a:normAutofit fontScale="62500" lnSpcReduction="20000"/>
          </a:bodyPr>
          <a:lstStyle/>
          <a:p>
            <a:pPr algn="l" fontAlgn="base">
              <a:spcAft>
                <a:spcPts val="1800"/>
              </a:spcAft>
              <a:buFont typeface="Arial" panose="020B0604020202020204" pitchFamily="34" charset="0"/>
              <a:buChar char="•"/>
            </a:pPr>
            <a:r>
              <a:rPr lang="en-US" sz="2200" b="0" i="0" dirty="0">
                <a:solidFill>
                  <a:srgbClr val="273239"/>
                </a:solidFill>
                <a:effectLst/>
                <a:latin typeface="Nunito" pitchFamily="2" charset="0"/>
              </a:rPr>
              <a:t>To establish close contact with the customer during development and to gain a clear understanding of various requirements, each Agile project usually includes a customer representative on the team. At the end of each iteration stakeholders and the customer representative review, the progress made and re-evaluate the requirements.</a:t>
            </a:r>
          </a:p>
          <a:p>
            <a:pPr algn="l" fontAlgn="base">
              <a:spcAft>
                <a:spcPts val="1800"/>
              </a:spcAft>
              <a:buFont typeface="Arial" panose="020B0604020202020204" pitchFamily="34" charset="0"/>
              <a:buChar char="•"/>
            </a:pPr>
            <a:r>
              <a:rPr lang="en-US" sz="2200" b="0" i="0" dirty="0">
                <a:solidFill>
                  <a:srgbClr val="273239"/>
                </a:solidFill>
                <a:effectLst/>
                <a:latin typeface="Nunito" pitchFamily="2" charset="0"/>
              </a:rPr>
              <a:t>The agile model relies on working software deployment rather than comprehensive documentation.</a:t>
            </a:r>
          </a:p>
          <a:p>
            <a:pPr algn="l" fontAlgn="base">
              <a:spcAft>
                <a:spcPts val="1800"/>
              </a:spcAft>
              <a:buFont typeface="Arial" panose="020B0604020202020204" pitchFamily="34" charset="0"/>
              <a:buChar char="•"/>
            </a:pPr>
            <a:r>
              <a:rPr lang="en-US" sz="2200" b="0" i="0" dirty="0">
                <a:solidFill>
                  <a:srgbClr val="273239"/>
                </a:solidFill>
                <a:effectLst/>
                <a:latin typeface="Nunito" pitchFamily="2" charset="0"/>
              </a:rPr>
              <a:t>Frequent delivery of incremental versions of the software to the customer representative in intervals of a few weeks.</a:t>
            </a:r>
          </a:p>
          <a:p>
            <a:pPr algn="l" fontAlgn="base">
              <a:spcAft>
                <a:spcPts val="1800"/>
              </a:spcAft>
              <a:buFont typeface="Arial" panose="020B0604020202020204" pitchFamily="34" charset="0"/>
              <a:buChar char="•"/>
            </a:pPr>
            <a:r>
              <a:rPr lang="en-US" sz="2200" b="0" i="0" dirty="0">
                <a:solidFill>
                  <a:srgbClr val="273239"/>
                </a:solidFill>
                <a:effectLst/>
                <a:latin typeface="Nunito" pitchFamily="2" charset="0"/>
              </a:rPr>
              <a:t>Requirement change requests from the customer are encouraged and efficiently incorporated.</a:t>
            </a:r>
          </a:p>
          <a:p>
            <a:pPr algn="l" fontAlgn="base">
              <a:spcAft>
                <a:spcPts val="1800"/>
              </a:spcAft>
              <a:buFont typeface="Arial" panose="020B0604020202020204" pitchFamily="34" charset="0"/>
              <a:buChar char="•"/>
            </a:pPr>
            <a:r>
              <a:rPr lang="en-US" sz="2200" b="0" i="0" dirty="0">
                <a:solidFill>
                  <a:srgbClr val="273239"/>
                </a:solidFill>
                <a:effectLst/>
                <a:latin typeface="Nunito" pitchFamily="2" charset="0"/>
              </a:rPr>
              <a:t>It emphasizes having efficient team members and enhancing communications among them is given more importance. It is realized that improved communication among the development team members can be achieved through face-to-face communication rather than through the exchange of formal documents.</a:t>
            </a:r>
          </a:p>
          <a:p>
            <a:endParaRPr lang="en-IN" dirty="0"/>
          </a:p>
        </p:txBody>
      </p:sp>
    </p:spTree>
    <p:extLst>
      <p:ext uri="{BB962C8B-B14F-4D97-AF65-F5344CB8AC3E}">
        <p14:creationId xmlns:p14="http://schemas.microsoft.com/office/powerpoint/2010/main" val="157645240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CB36ED-6B26-C5E9-6FCB-126192EE2E72}"/>
              </a:ext>
            </a:extLst>
          </p:cNvPr>
          <p:cNvSpPr>
            <a:spLocks noGrp="1"/>
          </p:cNvSpPr>
          <p:nvPr>
            <p:ph type="title"/>
          </p:nvPr>
        </p:nvSpPr>
        <p:spPr/>
        <p:txBody>
          <a:bodyPr/>
          <a:lstStyle/>
          <a:p>
            <a:r>
              <a:rPr lang="en-US" b="1" i="0" dirty="0">
                <a:solidFill>
                  <a:schemeClr val="bg1"/>
                </a:solidFill>
                <a:effectLst/>
                <a:latin typeface="Nunito" pitchFamily="2" charset="0"/>
              </a:rPr>
              <a:t>Characteristics of the Agile Process</a:t>
            </a:r>
            <a:br>
              <a:rPr lang="en-US" b="1" i="0" dirty="0">
                <a:solidFill>
                  <a:schemeClr val="bg1"/>
                </a:solidFill>
                <a:effectLst/>
                <a:latin typeface="Nunito" pitchFamily="2" charset="0"/>
              </a:rPr>
            </a:br>
            <a:endParaRPr lang="en-IN" dirty="0">
              <a:solidFill>
                <a:schemeClr val="bg1"/>
              </a:solidFill>
            </a:endParaRPr>
          </a:p>
        </p:txBody>
      </p:sp>
      <p:sp>
        <p:nvSpPr>
          <p:cNvPr id="3" name="Content Placeholder 2">
            <a:extLst>
              <a:ext uri="{FF2B5EF4-FFF2-40B4-BE49-F238E27FC236}">
                <a16:creationId xmlns:a16="http://schemas.microsoft.com/office/drawing/2014/main" id="{9D63694E-8968-A45D-FE7F-111BDD265B46}"/>
              </a:ext>
            </a:extLst>
          </p:cNvPr>
          <p:cNvSpPr>
            <a:spLocks noGrp="1"/>
          </p:cNvSpPr>
          <p:nvPr>
            <p:ph idx="1"/>
          </p:nvPr>
        </p:nvSpPr>
        <p:spPr/>
        <p:txBody>
          <a:bodyPr>
            <a:normAutofit fontScale="85000" lnSpcReduction="20000"/>
          </a:bodyPr>
          <a:lstStyle/>
          <a:p>
            <a:pPr algn="l" fontAlgn="base"/>
            <a:r>
              <a:rPr lang="en-US" b="1" i="0" dirty="0">
                <a:solidFill>
                  <a:srgbClr val="273239"/>
                </a:solidFill>
                <a:effectLst/>
                <a:latin typeface="Nunito" pitchFamily="2" charset="0"/>
              </a:rPr>
              <a:t>Characteristics of the Agile Process</a:t>
            </a:r>
          </a:p>
          <a:p>
            <a:pPr algn="l" fontAlgn="base">
              <a:spcAft>
                <a:spcPts val="1800"/>
              </a:spcAft>
              <a:buFont typeface="Arial" panose="020B0604020202020204" pitchFamily="34" charset="0"/>
              <a:buChar char="•"/>
            </a:pPr>
            <a:r>
              <a:rPr lang="en-US" b="0" i="0" dirty="0">
                <a:solidFill>
                  <a:srgbClr val="273239"/>
                </a:solidFill>
                <a:effectLst/>
                <a:latin typeface="Nunito" pitchFamily="2" charset="0"/>
              </a:rPr>
              <a:t>Agile processes must be adaptable to technical and environmental changes. That means if any technological changes occur, then the agile process must accommodate them.</a:t>
            </a:r>
          </a:p>
          <a:p>
            <a:pPr algn="l" fontAlgn="base">
              <a:spcAft>
                <a:spcPts val="1800"/>
              </a:spcAft>
              <a:buFont typeface="Arial" panose="020B0604020202020204" pitchFamily="34" charset="0"/>
              <a:buChar char="•"/>
            </a:pPr>
            <a:r>
              <a:rPr lang="en-US" b="0" i="0" dirty="0">
                <a:solidFill>
                  <a:srgbClr val="273239"/>
                </a:solidFill>
                <a:effectLst/>
                <a:latin typeface="Nunito" pitchFamily="2" charset="0"/>
              </a:rPr>
              <a:t>The development of agile processes must be incremental. That means, in each development, the increment should contain some functionality that can be tested and verified by the customer.</a:t>
            </a:r>
          </a:p>
          <a:p>
            <a:pPr algn="l" fontAlgn="base">
              <a:spcAft>
                <a:spcPts val="1800"/>
              </a:spcAft>
              <a:buFont typeface="Arial" panose="020B0604020202020204" pitchFamily="34" charset="0"/>
              <a:buChar char="•"/>
            </a:pPr>
            <a:r>
              <a:rPr lang="en-US" b="0" i="0" dirty="0">
                <a:solidFill>
                  <a:srgbClr val="273239"/>
                </a:solidFill>
                <a:effectLst/>
                <a:latin typeface="Nunito" pitchFamily="2" charset="0"/>
              </a:rPr>
              <a:t>The customer feedback must be used to create the next increment of the process.</a:t>
            </a:r>
          </a:p>
          <a:p>
            <a:pPr algn="l" fontAlgn="base">
              <a:spcAft>
                <a:spcPts val="1800"/>
              </a:spcAft>
              <a:buFont typeface="Arial" panose="020B0604020202020204" pitchFamily="34" charset="0"/>
              <a:buChar char="•"/>
            </a:pPr>
            <a:r>
              <a:rPr lang="en-US" b="0" i="0" dirty="0">
                <a:solidFill>
                  <a:srgbClr val="273239"/>
                </a:solidFill>
                <a:effectLst/>
                <a:latin typeface="Nunito" pitchFamily="2" charset="0"/>
              </a:rPr>
              <a:t>The software increment must be delivered in a short span of time.</a:t>
            </a:r>
          </a:p>
          <a:p>
            <a:pPr algn="l" fontAlgn="base">
              <a:spcAft>
                <a:spcPts val="1800"/>
              </a:spcAft>
              <a:buFont typeface="Arial" panose="020B0604020202020204" pitchFamily="34" charset="0"/>
              <a:buChar char="•"/>
            </a:pPr>
            <a:r>
              <a:rPr lang="en-US" b="0" i="0" dirty="0">
                <a:solidFill>
                  <a:srgbClr val="273239"/>
                </a:solidFill>
                <a:effectLst/>
                <a:latin typeface="Nunito" pitchFamily="2" charset="0"/>
              </a:rPr>
              <a:t>It must be iterative so that each increment can be evaluated regularly.</a:t>
            </a:r>
          </a:p>
          <a:p>
            <a:endParaRPr lang="en-IN" dirty="0"/>
          </a:p>
        </p:txBody>
      </p:sp>
    </p:spTree>
    <p:extLst>
      <p:ext uri="{BB962C8B-B14F-4D97-AF65-F5344CB8AC3E}">
        <p14:creationId xmlns:p14="http://schemas.microsoft.com/office/powerpoint/2010/main" val="139324977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444608C-E59A-7AD7-83AC-1339F8658531}"/>
              </a:ext>
            </a:extLst>
          </p:cNvPr>
          <p:cNvSpPr>
            <a:spLocks noGrp="1"/>
          </p:cNvSpPr>
          <p:nvPr>
            <p:ph idx="1"/>
          </p:nvPr>
        </p:nvSpPr>
        <p:spPr/>
        <p:txBody>
          <a:bodyPr>
            <a:normAutofit fontScale="55000" lnSpcReduction="20000"/>
          </a:bodyPr>
          <a:lstStyle/>
          <a:p>
            <a:pPr algn="l" fontAlgn="base"/>
            <a:r>
              <a:rPr lang="en-US" sz="2200" b="1" i="0" dirty="0">
                <a:solidFill>
                  <a:srgbClr val="273239"/>
                </a:solidFill>
                <a:effectLst/>
                <a:latin typeface="Nunito" pitchFamily="2" charset="0"/>
              </a:rPr>
              <a:t>Advantages of the Agile Model</a:t>
            </a:r>
          </a:p>
          <a:p>
            <a:pPr algn="l" fontAlgn="base">
              <a:spcAft>
                <a:spcPts val="1800"/>
              </a:spcAft>
              <a:buFont typeface="Arial" panose="020B0604020202020204" pitchFamily="34" charset="0"/>
              <a:buChar char="•"/>
            </a:pPr>
            <a:r>
              <a:rPr lang="en-US" sz="2200" b="0" i="0" dirty="0">
                <a:solidFill>
                  <a:srgbClr val="273239"/>
                </a:solidFill>
                <a:effectLst/>
                <a:latin typeface="Nunito" pitchFamily="2" charset="0"/>
              </a:rPr>
              <a:t>Working through Pair programming produces well-written compact programs which have fewer errors as compared to programmers working alone.</a:t>
            </a:r>
          </a:p>
          <a:p>
            <a:pPr algn="l" fontAlgn="base">
              <a:spcAft>
                <a:spcPts val="1800"/>
              </a:spcAft>
              <a:buFont typeface="Arial" panose="020B0604020202020204" pitchFamily="34" charset="0"/>
              <a:buChar char="•"/>
            </a:pPr>
            <a:r>
              <a:rPr lang="en-US" sz="2200" b="0" i="0" dirty="0">
                <a:solidFill>
                  <a:srgbClr val="273239"/>
                </a:solidFill>
                <a:effectLst/>
                <a:latin typeface="Nunito" pitchFamily="2" charset="0"/>
              </a:rPr>
              <a:t>It reduces the total development time of the whole project.</a:t>
            </a:r>
          </a:p>
          <a:p>
            <a:pPr algn="l" fontAlgn="base">
              <a:spcAft>
                <a:spcPts val="1800"/>
              </a:spcAft>
              <a:buFont typeface="Arial" panose="020B0604020202020204" pitchFamily="34" charset="0"/>
              <a:buChar char="•"/>
            </a:pPr>
            <a:r>
              <a:rPr lang="en-US" sz="2200" b="0" i="0" dirty="0">
                <a:solidFill>
                  <a:srgbClr val="273239"/>
                </a:solidFill>
                <a:effectLst/>
                <a:latin typeface="Nunito" pitchFamily="2" charset="0"/>
              </a:rPr>
              <a:t>Agile development emphasizes face-to-face communication among team members, leading to better collaboration and understanding of project goals.</a:t>
            </a:r>
          </a:p>
          <a:p>
            <a:pPr algn="l" fontAlgn="base">
              <a:spcAft>
                <a:spcPts val="1800"/>
              </a:spcAft>
              <a:buFont typeface="Arial" panose="020B0604020202020204" pitchFamily="34" charset="0"/>
              <a:buChar char="•"/>
            </a:pPr>
            <a:r>
              <a:rPr lang="en-US" sz="2200" b="0" i="0" dirty="0">
                <a:solidFill>
                  <a:srgbClr val="273239"/>
                </a:solidFill>
                <a:effectLst/>
                <a:latin typeface="Nunito" pitchFamily="2" charset="0"/>
              </a:rPr>
              <a:t>Customer representatives get the idea of updated software products after each iteration. So, it is easy for him to change any requirement if needed.</a:t>
            </a:r>
          </a:p>
          <a:p>
            <a:pPr algn="l" fontAlgn="base">
              <a:spcAft>
                <a:spcPts val="1800"/>
              </a:spcAft>
              <a:buFont typeface="Arial" panose="020B0604020202020204" pitchFamily="34" charset="0"/>
              <a:buChar char="•"/>
            </a:pPr>
            <a:r>
              <a:rPr lang="en-US" sz="2200" b="0" i="0" dirty="0">
                <a:solidFill>
                  <a:srgbClr val="273239"/>
                </a:solidFill>
                <a:effectLst/>
                <a:latin typeface="Nunito" pitchFamily="2" charset="0"/>
              </a:rPr>
              <a:t>Agile development puts the customer at the center of the development process, ensuring that the end product meets their needs.</a:t>
            </a:r>
          </a:p>
          <a:p>
            <a:endParaRPr lang="en-IN" dirty="0"/>
          </a:p>
        </p:txBody>
      </p:sp>
    </p:spTree>
    <p:extLst>
      <p:ext uri="{BB962C8B-B14F-4D97-AF65-F5344CB8AC3E}">
        <p14:creationId xmlns:p14="http://schemas.microsoft.com/office/powerpoint/2010/main" val="272652958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A165FC0-EC7C-02C1-1991-C9D372EAD232}"/>
              </a:ext>
            </a:extLst>
          </p:cNvPr>
          <p:cNvSpPr>
            <a:spLocks noGrp="1"/>
          </p:cNvSpPr>
          <p:nvPr>
            <p:ph idx="1"/>
          </p:nvPr>
        </p:nvSpPr>
        <p:spPr/>
        <p:txBody>
          <a:bodyPr>
            <a:normAutofit fontScale="85000" lnSpcReduction="10000"/>
          </a:bodyPr>
          <a:lstStyle/>
          <a:p>
            <a:pPr algn="l" fontAlgn="base"/>
            <a:r>
              <a:rPr lang="en-US" b="1" i="0" dirty="0">
                <a:solidFill>
                  <a:srgbClr val="273239"/>
                </a:solidFill>
                <a:effectLst/>
                <a:latin typeface="Nunito" pitchFamily="2" charset="0"/>
              </a:rPr>
              <a:t>Disadvantages of the Agile Model</a:t>
            </a:r>
          </a:p>
          <a:p>
            <a:pPr algn="l" fontAlgn="base">
              <a:spcAft>
                <a:spcPts val="1800"/>
              </a:spcAft>
              <a:buFont typeface="Arial" panose="020B0604020202020204" pitchFamily="34" charset="0"/>
              <a:buChar char="•"/>
            </a:pPr>
            <a:r>
              <a:rPr lang="en-US" b="0" i="0" dirty="0">
                <a:solidFill>
                  <a:srgbClr val="273239"/>
                </a:solidFill>
                <a:effectLst/>
                <a:latin typeface="Nunito" pitchFamily="2" charset="0"/>
              </a:rPr>
              <a:t>The lack of formal documents creates confusion and important decisions taken during different phases can be misinterpreted at any time by different team members.</a:t>
            </a:r>
          </a:p>
          <a:p>
            <a:pPr algn="l" fontAlgn="base">
              <a:spcAft>
                <a:spcPts val="1800"/>
              </a:spcAft>
              <a:buFont typeface="Arial" panose="020B0604020202020204" pitchFamily="34" charset="0"/>
              <a:buChar char="•"/>
            </a:pPr>
            <a:r>
              <a:rPr lang="en-US" b="0" i="0" dirty="0">
                <a:solidFill>
                  <a:srgbClr val="273239"/>
                </a:solidFill>
                <a:effectLst/>
                <a:latin typeface="Nunito" pitchFamily="2" charset="0"/>
              </a:rPr>
              <a:t>It is not suitable for handling complex dependencies.</a:t>
            </a:r>
          </a:p>
          <a:p>
            <a:pPr algn="l" fontAlgn="base">
              <a:spcAft>
                <a:spcPts val="1800"/>
              </a:spcAft>
              <a:buFont typeface="Arial" panose="020B0604020202020204" pitchFamily="34" charset="0"/>
              <a:buChar char="•"/>
            </a:pPr>
            <a:r>
              <a:rPr lang="en-US" b="0" i="0" dirty="0">
                <a:solidFill>
                  <a:srgbClr val="273239"/>
                </a:solidFill>
                <a:effectLst/>
                <a:latin typeface="Nunito" pitchFamily="2" charset="0"/>
              </a:rPr>
              <a:t>The agile model depends highly on customer interactions so if the customer is not clear, then the development team can be driven in the wrong direction.</a:t>
            </a:r>
          </a:p>
          <a:p>
            <a:pPr algn="l" fontAlgn="base">
              <a:spcAft>
                <a:spcPts val="1800"/>
              </a:spcAft>
              <a:buFont typeface="Arial" panose="020B0604020202020204" pitchFamily="34" charset="0"/>
              <a:buChar char="•"/>
            </a:pPr>
            <a:r>
              <a:rPr lang="en-US" b="0" i="0" dirty="0">
                <a:solidFill>
                  <a:srgbClr val="273239"/>
                </a:solidFill>
                <a:effectLst/>
                <a:latin typeface="Nunito" pitchFamily="2" charset="0"/>
              </a:rPr>
              <a:t>Agile development models often involve working in short sprints, which can make it difficult to plan and forecast project timelines and deliverables. This can lead to delays in the project and can make it difficult to accurately estimate the costs and resources needed for the project.</a:t>
            </a:r>
          </a:p>
          <a:p>
            <a:endParaRPr lang="en-IN" dirty="0"/>
          </a:p>
        </p:txBody>
      </p:sp>
    </p:spTree>
    <p:extLst>
      <p:ext uri="{BB962C8B-B14F-4D97-AF65-F5344CB8AC3E}">
        <p14:creationId xmlns:p14="http://schemas.microsoft.com/office/powerpoint/2010/main" val="95672515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D6912E8-5B81-FFEE-2543-7B2ED23E9506}"/>
              </a:ext>
            </a:extLst>
          </p:cNvPr>
          <p:cNvSpPr>
            <a:spLocks noGrp="1"/>
          </p:cNvSpPr>
          <p:nvPr>
            <p:ph idx="1"/>
          </p:nvPr>
        </p:nvSpPr>
        <p:spPr>
          <a:xfrm>
            <a:off x="1145122" y="2338029"/>
            <a:ext cx="8825659" cy="3416300"/>
          </a:xfrm>
        </p:spPr>
        <p:txBody>
          <a:bodyPr>
            <a:normAutofit fontScale="25000" lnSpcReduction="20000"/>
          </a:bodyPr>
          <a:lstStyle/>
          <a:p>
            <a:pPr algn="l" fontAlgn="base"/>
            <a:r>
              <a:rPr lang="en-US" sz="6400" b="1" i="0" dirty="0">
                <a:solidFill>
                  <a:srgbClr val="273239"/>
                </a:solidFill>
                <a:effectLst/>
                <a:latin typeface="Nunito" pitchFamily="2" charset="0"/>
              </a:rPr>
              <a:t>When To Use the Agile Model?</a:t>
            </a:r>
          </a:p>
          <a:p>
            <a:pPr algn="l" fontAlgn="base">
              <a:spcAft>
                <a:spcPts val="1800"/>
              </a:spcAft>
              <a:buFont typeface="Arial" panose="020B0604020202020204" pitchFamily="34" charset="0"/>
              <a:buChar char="•"/>
            </a:pPr>
            <a:r>
              <a:rPr lang="en-US" sz="6400" b="0" i="0" dirty="0">
                <a:solidFill>
                  <a:srgbClr val="273239"/>
                </a:solidFill>
                <a:effectLst/>
                <a:latin typeface="Nunito" pitchFamily="2" charset="0"/>
              </a:rPr>
              <a:t>When frequent modifications need to be made, this method is implemented.</a:t>
            </a:r>
          </a:p>
          <a:p>
            <a:pPr algn="l" fontAlgn="base">
              <a:spcAft>
                <a:spcPts val="1800"/>
              </a:spcAft>
              <a:buFont typeface="Arial" panose="020B0604020202020204" pitchFamily="34" charset="0"/>
              <a:buChar char="•"/>
            </a:pPr>
            <a:r>
              <a:rPr lang="en-US" sz="6400" b="0" i="0" dirty="0">
                <a:solidFill>
                  <a:srgbClr val="273239"/>
                </a:solidFill>
                <a:effectLst/>
                <a:latin typeface="Nunito" pitchFamily="2" charset="0"/>
              </a:rPr>
              <a:t>When a highly qualified and experienced team is available.</a:t>
            </a:r>
          </a:p>
          <a:p>
            <a:pPr algn="l" fontAlgn="base">
              <a:spcAft>
                <a:spcPts val="1800"/>
              </a:spcAft>
              <a:buFont typeface="Arial" panose="020B0604020202020204" pitchFamily="34" charset="0"/>
              <a:buChar char="•"/>
            </a:pPr>
            <a:r>
              <a:rPr lang="en-US" sz="6400" b="0" i="0" dirty="0">
                <a:solidFill>
                  <a:srgbClr val="273239"/>
                </a:solidFill>
                <a:effectLst/>
                <a:latin typeface="Nunito" pitchFamily="2" charset="0"/>
              </a:rPr>
              <a:t>When a customer is ready to have a meeting with the team all the time.</a:t>
            </a:r>
          </a:p>
          <a:p>
            <a:pPr algn="l" fontAlgn="base">
              <a:spcAft>
                <a:spcPts val="1800"/>
              </a:spcAft>
              <a:buFont typeface="Arial" panose="020B0604020202020204" pitchFamily="34" charset="0"/>
              <a:buChar char="•"/>
            </a:pPr>
            <a:r>
              <a:rPr lang="en-US" sz="6400" b="0" i="0" dirty="0">
                <a:solidFill>
                  <a:srgbClr val="273239"/>
                </a:solidFill>
                <a:effectLst/>
                <a:latin typeface="Nunito" pitchFamily="2" charset="0"/>
              </a:rPr>
              <a:t>when the project needs to be delivered quickly.</a:t>
            </a:r>
          </a:p>
          <a:p>
            <a:pPr algn="l" fontAlgn="base">
              <a:spcAft>
                <a:spcPts val="1800"/>
              </a:spcAft>
              <a:buFont typeface="Arial" panose="020B0604020202020204" pitchFamily="34" charset="0"/>
              <a:buChar char="•"/>
            </a:pPr>
            <a:r>
              <a:rPr lang="en-US" sz="6400" b="0" i="0" dirty="0">
                <a:solidFill>
                  <a:srgbClr val="273239"/>
                </a:solidFill>
                <a:effectLst/>
                <a:latin typeface="Nunito" pitchFamily="2" charset="0"/>
              </a:rPr>
              <a:t>Projects with few regulatory requirements or not certain requirements.</a:t>
            </a:r>
          </a:p>
          <a:p>
            <a:pPr algn="l" fontAlgn="base">
              <a:spcAft>
                <a:spcPts val="1800"/>
              </a:spcAft>
              <a:buFont typeface="Arial" panose="020B0604020202020204" pitchFamily="34" charset="0"/>
              <a:buChar char="•"/>
            </a:pPr>
            <a:r>
              <a:rPr lang="en-US" sz="6400" b="0" i="0" dirty="0">
                <a:solidFill>
                  <a:srgbClr val="273239"/>
                </a:solidFill>
                <a:effectLst/>
                <a:latin typeface="Nunito" pitchFamily="2" charset="0"/>
              </a:rPr>
              <a:t>projects utilizing a less-than-strict current methodology</a:t>
            </a:r>
          </a:p>
          <a:p>
            <a:pPr algn="l" fontAlgn="base">
              <a:spcAft>
                <a:spcPts val="1800"/>
              </a:spcAft>
              <a:buFont typeface="Arial" panose="020B0604020202020204" pitchFamily="34" charset="0"/>
              <a:buChar char="•"/>
            </a:pPr>
            <a:r>
              <a:rPr lang="en-US" sz="6400" b="0" i="0" dirty="0">
                <a:solidFill>
                  <a:srgbClr val="273239"/>
                </a:solidFill>
                <a:effectLst/>
                <a:latin typeface="Nunito" pitchFamily="2" charset="0"/>
              </a:rPr>
              <a:t>Those undertakings where the product proprietor is easily reachable</a:t>
            </a:r>
          </a:p>
          <a:p>
            <a:pPr algn="l" fontAlgn="base">
              <a:spcAft>
                <a:spcPts val="1800"/>
              </a:spcAft>
              <a:buFont typeface="Arial" panose="020B0604020202020204" pitchFamily="34" charset="0"/>
              <a:buChar char="•"/>
            </a:pPr>
            <a:r>
              <a:rPr lang="en-US" sz="6400" b="0" i="0" dirty="0">
                <a:solidFill>
                  <a:srgbClr val="273239"/>
                </a:solidFill>
                <a:effectLst/>
                <a:latin typeface="Nunito" pitchFamily="2" charset="0"/>
              </a:rPr>
              <a:t>Flexible project schedules and budgets.</a:t>
            </a:r>
          </a:p>
          <a:p>
            <a:endParaRPr lang="en-IN" sz="2400" dirty="0"/>
          </a:p>
        </p:txBody>
      </p:sp>
    </p:spTree>
    <p:extLst>
      <p:ext uri="{BB962C8B-B14F-4D97-AF65-F5344CB8AC3E}">
        <p14:creationId xmlns:p14="http://schemas.microsoft.com/office/powerpoint/2010/main" val="429356668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EBE9390-40F7-5133-8B0B-95B0E01E229A}"/>
              </a:ext>
            </a:extLst>
          </p:cNvPr>
          <p:cNvSpPr>
            <a:spLocks noGrp="1"/>
          </p:cNvSpPr>
          <p:nvPr>
            <p:ph idx="1"/>
          </p:nvPr>
        </p:nvSpPr>
        <p:spPr/>
        <p:txBody>
          <a:bodyPr/>
          <a:lstStyle/>
          <a:p>
            <a:pPr algn="l" fontAlgn="base">
              <a:spcAft>
                <a:spcPts val="1800"/>
              </a:spcAft>
              <a:buFont typeface="Arial" panose="020B0604020202020204" pitchFamily="34" charset="0"/>
              <a:buChar char="•"/>
            </a:pPr>
            <a:r>
              <a:rPr lang="en-US" b="0" i="0" dirty="0">
                <a:solidFill>
                  <a:srgbClr val="273239"/>
                </a:solidFill>
                <a:effectLst/>
                <a:latin typeface="Nunito" pitchFamily="2" charset="0"/>
              </a:rPr>
              <a:t>It is recommended that the development team size should be kept small (5 to 9 people) to help the team members meaningfully engage in face-to-face communication and have a collaborative work environment.</a:t>
            </a:r>
          </a:p>
          <a:p>
            <a:pPr algn="l" fontAlgn="base">
              <a:spcAft>
                <a:spcPts val="1800"/>
              </a:spcAft>
              <a:buFont typeface="Arial" panose="020B0604020202020204" pitchFamily="34" charset="0"/>
              <a:buChar char="•"/>
            </a:pPr>
            <a:r>
              <a:rPr lang="en-US" b="0" i="0" dirty="0">
                <a:solidFill>
                  <a:srgbClr val="273239"/>
                </a:solidFill>
                <a:effectLst/>
                <a:latin typeface="Nunito" pitchFamily="2" charset="0"/>
              </a:rPr>
              <a:t>The agile development process usually deploys </a:t>
            </a:r>
            <a:r>
              <a:rPr lang="en-US" b="0" i="0" u="sng" dirty="0">
                <a:solidFill>
                  <a:srgbClr val="273239"/>
                </a:solidFill>
                <a:effectLst/>
                <a:latin typeface="Nunito" pitchFamily="2" charset="0"/>
                <a:hlinkClick r:id="rId2"/>
              </a:rPr>
              <a:t>Pair Programming</a:t>
            </a:r>
            <a:r>
              <a:rPr lang="en-US" b="0" i="0" dirty="0">
                <a:solidFill>
                  <a:srgbClr val="273239"/>
                </a:solidFill>
                <a:effectLst/>
                <a:latin typeface="Nunito" pitchFamily="2" charset="0"/>
              </a:rPr>
              <a:t>. In Pair programming, two programmers work together at one workstation. One does coding while the other reviews the code as it is typed in. The two programmers switch their roles every hour or so.</a:t>
            </a:r>
          </a:p>
          <a:p>
            <a:endParaRPr lang="en-IN" dirty="0"/>
          </a:p>
        </p:txBody>
      </p:sp>
    </p:spTree>
    <p:extLst>
      <p:ext uri="{BB962C8B-B14F-4D97-AF65-F5344CB8AC3E}">
        <p14:creationId xmlns:p14="http://schemas.microsoft.com/office/powerpoint/2010/main" val="344506007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a:extLst>
              <a:ext uri="{FF2B5EF4-FFF2-40B4-BE49-F238E27FC236}">
                <a16:creationId xmlns:a16="http://schemas.microsoft.com/office/drawing/2014/main" id="{71263C79-78A2-9B77-1A9A-967CC9BF851A}"/>
              </a:ext>
            </a:extLst>
          </p:cNvPr>
          <p:cNvSpPr>
            <a:spLocks noGrp="1" noChangeArrowheads="1"/>
          </p:cNvSpPr>
          <p:nvPr>
            <p:ph idx="1"/>
          </p:nvPr>
        </p:nvSpPr>
        <p:spPr bwMode="auto">
          <a:xfrm>
            <a:off x="535521" y="2405669"/>
            <a:ext cx="9385227" cy="186968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63480" rIns="0" bIns="12696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300" b="0" i="0" u="none" strike="noStrike" cap="none" normalizeH="0" baseline="0" dirty="0">
                <a:ln>
                  <a:noFill/>
                </a:ln>
                <a:solidFill>
                  <a:srgbClr val="001D35"/>
                </a:solidFill>
                <a:effectLst/>
                <a:latin typeface="Google Sans"/>
              </a:rPr>
              <a:t>Some benefits of the Agile process include:</a:t>
            </a:r>
            <a:endParaRPr kumimoji="0" lang="en-US" altLang="en-US" sz="8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300" b="1" i="0" u="none" strike="noStrike" cap="none" normalizeH="0" baseline="0" dirty="0">
                <a:ln>
                  <a:noFill/>
                </a:ln>
                <a:solidFill>
                  <a:srgbClr val="001D35"/>
                </a:solidFill>
                <a:effectLst/>
                <a:latin typeface="Google Sans"/>
              </a:rPr>
              <a:t>Speed to market</a:t>
            </a:r>
            <a:endParaRPr kumimoji="0" lang="en-US" altLang="en-US" sz="1300" b="0" i="0" u="none" strike="noStrike" cap="none" normalizeH="0" baseline="0" dirty="0">
              <a:ln>
                <a:noFill/>
              </a:ln>
              <a:solidFill>
                <a:srgbClr val="001D35"/>
              </a:solidFill>
              <a:effectLst/>
              <a:latin typeface="Google Sans"/>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300" b="0" i="0" u="none" strike="noStrike" cap="none" normalizeH="0" baseline="0" dirty="0">
                <a:ln>
                  <a:noFill/>
                </a:ln>
                <a:solidFill>
                  <a:srgbClr val="001D35"/>
                </a:solidFill>
                <a:effectLst/>
                <a:latin typeface="Google Sans"/>
              </a:rPr>
              <a:t>Smaller increments are released to market, reducing the risk of engineering a product that doesn't meet user requirements.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300" b="1" i="0" u="none" strike="noStrike" cap="none" normalizeH="0" baseline="0" dirty="0">
                <a:ln>
                  <a:noFill/>
                </a:ln>
                <a:solidFill>
                  <a:srgbClr val="001D35"/>
                </a:solidFill>
                <a:effectLst/>
                <a:latin typeface="Google Sans"/>
              </a:rPr>
              <a:t>Better quality software</a:t>
            </a:r>
            <a:endParaRPr kumimoji="0" lang="en-US" altLang="en-US" sz="1300" b="0" i="0" u="none" strike="noStrike" cap="none" normalizeH="0" baseline="0" dirty="0">
              <a:ln>
                <a:noFill/>
              </a:ln>
              <a:solidFill>
                <a:srgbClr val="001D35"/>
              </a:solidFill>
              <a:effectLst/>
              <a:latin typeface="Google Sans"/>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300" b="0" i="0" u="none" strike="noStrike" cap="none" normalizeH="0" baseline="0" dirty="0">
                <a:ln>
                  <a:noFill/>
                </a:ln>
                <a:solidFill>
                  <a:srgbClr val="001D35"/>
                </a:solidFill>
                <a:effectLst/>
                <a:latin typeface="Google Sans"/>
              </a:rPr>
              <a:t>Continuous testing and feedback helps to identify and resolve issues early in the development process.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300" b="1" i="0" u="none" strike="noStrike" cap="none" normalizeH="0" baseline="0" dirty="0">
                <a:ln>
                  <a:noFill/>
                </a:ln>
                <a:solidFill>
                  <a:srgbClr val="001D35"/>
                </a:solidFill>
                <a:effectLst/>
                <a:latin typeface="Google Sans"/>
              </a:rPr>
              <a:t>Increased transparency</a:t>
            </a:r>
            <a:endParaRPr kumimoji="0" lang="en-US" altLang="en-US" sz="1300" b="0" i="0" u="none" strike="noStrike" cap="none" normalizeH="0" baseline="0" dirty="0">
              <a:ln>
                <a:noFill/>
              </a:ln>
              <a:solidFill>
                <a:srgbClr val="001D35"/>
              </a:solidFill>
              <a:effectLst/>
              <a:latin typeface="Google Sans"/>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300" b="0" i="0" u="none" strike="noStrike" cap="none" normalizeH="0" baseline="0" dirty="0">
                <a:ln>
                  <a:noFill/>
                </a:ln>
                <a:solidFill>
                  <a:srgbClr val="001D35"/>
                </a:solidFill>
                <a:effectLst/>
                <a:latin typeface="Google Sans"/>
              </a:rPr>
              <a:t>Frequent communication and collaboration helps to improve transparency and visibility into the project status and progress. </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121796006"/>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Boardroom">
  <a:themeElements>
    <a:clrScheme name="Ion Boardroom">
      <a:dk1>
        <a:sysClr val="windowText" lastClr="000000"/>
      </a:dk1>
      <a:lt1>
        <a:sysClr val="window" lastClr="FFFFFF"/>
      </a:lt1>
      <a:dk2>
        <a:srgbClr val="3B3059"/>
      </a:dk2>
      <a:lt2>
        <a:srgbClr val="EBEBEB"/>
      </a:lt2>
      <a:accent1>
        <a:srgbClr val="B31166"/>
      </a:accent1>
      <a:accent2>
        <a:srgbClr val="E33D6F"/>
      </a:accent2>
      <a:accent3>
        <a:srgbClr val="E45F3C"/>
      </a:accent3>
      <a:accent4>
        <a:srgbClr val="E9943A"/>
      </a:accent4>
      <a:accent5>
        <a:srgbClr val="9B6BF2"/>
      </a:accent5>
      <a:accent6>
        <a:srgbClr val="D53DD0"/>
      </a:accent6>
      <a:hlink>
        <a:srgbClr val="8F8F8F"/>
      </a:hlink>
      <a:folHlink>
        <a:srgbClr val="A5A5A5"/>
      </a:folHlink>
    </a:clrScheme>
    <a:fontScheme name="Ion Boardroom">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Boardroom">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8000"/>
                <a:hueMod val="124000"/>
                <a:satMod val="148000"/>
                <a:lumMod val="124000"/>
              </a:schemeClr>
            </a:gs>
            <a:gs pos="100000">
              <a:schemeClr val="phClr">
                <a:shade val="76000"/>
                <a:hueMod val="89000"/>
                <a:satMod val="164000"/>
                <a:lumMod val="56000"/>
              </a:schemeClr>
            </a:gs>
          </a:gsLst>
          <a:path path="circle">
            <a:fillToRect l="45000" t="65000" r="125000" b="100000"/>
          </a:path>
        </a:gradFill>
        <a:blipFill rotWithShape="1">
          <a:blip xmlns:r="http://schemas.openxmlformats.org/officeDocument/2006/relationships" r:embed="rId1">
            <a:duotone>
              <a:schemeClr val="phClr">
                <a:shade val="69000"/>
                <a:hueMod val="91000"/>
                <a:satMod val="164000"/>
                <a:lumMod val="74000"/>
              </a:schemeClr>
              <a:schemeClr val="phClr">
                <a:hueMod val="124000"/>
                <a:satMod val="140000"/>
                <a:lumMod val="142000"/>
              </a:schemeClr>
            </a:duotone>
          </a:blip>
          <a:stretch/>
        </a:blipFill>
      </a:bgFillStyleLst>
    </a:fmtScheme>
  </a:themeElements>
  <a:objectDefaults/>
  <a:extraClrSchemeLst/>
  <a:extLst>
    <a:ext uri="{05A4C25C-085E-4340-85A3-A5531E510DB2}">
      <thm15:themeFamily xmlns:thm15="http://schemas.microsoft.com/office/thememl/2012/main" name="Ion Boardroom" id="{FC33163D-4339-46B1-8EED-24C834239D99}" vid="{B8502691-933B-45FE-8764-BA278511EF27}"/>
    </a:ext>
  </a:extLst>
</a:theme>
</file>

<file path=docProps/app.xml><?xml version="1.0" encoding="utf-8"?>
<Properties xmlns="http://schemas.openxmlformats.org/officeDocument/2006/extended-properties" xmlns:vt="http://schemas.openxmlformats.org/officeDocument/2006/docPropsVTypes">
  <Template>Ion Boardroom</Template>
  <TotalTime>22</TotalTime>
  <Words>1317</Words>
  <Application>Microsoft Office PowerPoint</Application>
  <PresentationFormat>Widescreen</PresentationFormat>
  <Paragraphs>72</Paragraphs>
  <Slides>16</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16</vt:i4>
      </vt:variant>
    </vt:vector>
  </HeadingPairs>
  <TitlesOfParts>
    <vt:vector size="22" baseType="lpstr">
      <vt:lpstr>Arial</vt:lpstr>
      <vt:lpstr>Century Gothic</vt:lpstr>
      <vt:lpstr>Google Sans</vt:lpstr>
      <vt:lpstr>Nunito</vt:lpstr>
      <vt:lpstr>Wingdings 3</vt:lpstr>
      <vt:lpstr>Ion Boardroom</vt:lpstr>
      <vt:lpstr>Agility has become today’s buzzword when describing a contemporary software method. Everyone is agile. An associate agile team could be a nimble team able to befittingly reply to changes. Modification is what software development is extremely abundant.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Principles of the Agile Model </vt:lpstr>
      <vt:lpstr>Characteristics of the Agile Process </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raja rajeswari</dc:creator>
  <cp:lastModifiedBy>raja rajeswari</cp:lastModifiedBy>
  <cp:revision>3</cp:revision>
  <dcterms:created xsi:type="dcterms:W3CDTF">2025-01-04T06:07:28Z</dcterms:created>
  <dcterms:modified xsi:type="dcterms:W3CDTF">2025-01-04T06:29:44Z</dcterms:modified>
</cp:coreProperties>
</file>