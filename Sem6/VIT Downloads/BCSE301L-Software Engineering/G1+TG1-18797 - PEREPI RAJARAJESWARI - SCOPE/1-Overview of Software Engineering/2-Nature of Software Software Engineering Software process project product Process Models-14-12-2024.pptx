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5" r:id="rId3"/>
    <p:sldId id="257" r:id="rId4"/>
    <p:sldId id="258" r:id="rId5"/>
    <p:sldId id="259" r:id="rId6"/>
    <p:sldId id="260" r:id="rId7"/>
    <p:sldId id="261" r:id="rId8"/>
    <p:sldId id="262" r:id="rId9"/>
    <p:sldId id="263" r:id="rId10"/>
    <p:sldId id="264"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4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422030" y="1371600"/>
            <a:ext cx="82296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en-US"/>
              <a:t>Click to edit Master title style</a:t>
            </a:r>
          </a:p>
        </p:txBody>
      </p:sp>
      <p:sp>
        <p:nvSpPr>
          <p:cNvPr id="28" name="Date Placeholder 27"/>
          <p:cNvSpPr>
            <a:spLocks noGrp="1"/>
          </p:cNvSpPr>
          <p:nvPr>
            <p:ph type="dt" sz="half" idx="10"/>
          </p:nvPr>
        </p:nvSpPr>
        <p:spPr/>
        <p:txBody>
          <a:bodyPr/>
          <a:lstStyle/>
          <a:p>
            <a:fld id="{79CC49C7-06DB-462A-A81D-BDA4151CB51A}" type="datetimeFigureOut">
              <a:rPr lang="en-IN" smtClean="0"/>
              <a:t>16-12-2024</a:t>
            </a:fld>
            <a:endParaRPr lang="en-IN"/>
          </a:p>
        </p:txBody>
      </p:sp>
      <p:sp>
        <p:nvSpPr>
          <p:cNvPr id="17" name="Footer Placeholder 16"/>
          <p:cNvSpPr>
            <a:spLocks noGrp="1"/>
          </p:cNvSpPr>
          <p:nvPr>
            <p:ph type="ftr" sz="quarter" idx="11"/>
          </p:nvPr>
        </p:nvSpPr>
        <p:spPr/>
        <p:txBody>
          <a:bodyPr/>
          <a:lstStyle/>
          <a:p>
            <a:endParaRPr lang="en-IN"/>
          </a:p>
        </p:txBody>
      </p:sp>
      <p:sp>
        <p:nvSpPr>
          <p:cNvPr id="29" name="Slide Number Placeholder 28"/>
          <p:cNvSpPr>
            <a:spLocks noGrp="1"/>
          </p:cNvSpPr>
          <p:nvPr>
            <p:ph type="sldNum" sz="quarter" idx="12"/>
          </p:nvPr>
        </p:nvSpPr>
        <p:spPr/>
        <p:txBody>
          <a:bodyPr/>
          <a:lstStyle/>
          <a:p>
            <a:fld id="{753B8BEC-86B3-453D-9117-ECA9AE141DCC}" type="slidenum">
              <a:rPr lang="en-IN" smtClean="0"/>
              <a:t>‹#›</a:t>
            </a:fld>
            <a:endParaRPr lang="en-IN"/>
          </a:p>
        </p:txBody>
      </p:sp>
      <p:sp>
        <p:nvSpPr>
          <p:cNvPr id="9" name="Subtitle 8"/>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9CC49C7-06DB-462A-A81D-BDA4151CB51A}" type="datetimeFigureOut">
              <a:rPr lang="en-IN" smtClean="0"/>
              <a:t>16-12-2024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53B8BEC-86B3-453D-9117-ECA9AE141DCC}"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00200" y="609600"/>
            <a:ext cx="70866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1600200" y="2507786"/>
            <a:ext cx="70866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79CC49C7-06DB-462A-A81D-BDA4151CB51A}" type="datetimeFigureOut">
              <a:rPr lang="en-IN" smtClean="0"/>
              <a:t>16-12-2024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7924800" y="6416675"/>
            <a:ext cx="762000" cy="365125"/>
          </a:xfrm>
        </p:spPr>
        <p:txBody>
          <a:bodyPr/>
          <a:lstStyle/>
          <a:p>
            <a:fld id="{753B8BEC-86B3-453D-9117-ECA9AE141DCC}" type="slidenum">
              <a:rPr lang="en-IN" smtClean="0"/>
              <a:t>‹#›</a:t>
            </a:fld>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79CC49C7-06DB-462A-A81D-BDA4151CB51A}" type="datetimeFigureOut">
              <a:rPr lang="en-IN" smtClean="0"/>
              <a:t>16-12-2024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53B8BEC-86B3-453D-9117-ECA9AE141DCC}"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79CC49C7-06DB-462A-A81D-BDA4151CB51A}" type="datetimeFigureOut">
              <a:rPr lang="en-IN" smtClean="0"/>
              <a:t>16-12-2024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53B8BEC-86B3-453D-9117-ECA9AE141DCC}"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79CC49C7-06DB-462A-A81D-BDA4151CB51A}" type="datetimeFigureOut">
              <a:rPr lang="en-IN" smtClean="0"/>
              <a:t>16-12-2024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53B8BEC-86B3-453D-9117-ECA9AE141DCC}"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CC49C7-06DB-462A-A81D-BDA4151CB51A}" type="datetimeFigureOut">
              <a:rPr lang="en-IN" smtClean="0"/>
              <a:t>16-12-2024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53B8BEC-86B3-453D-9117-ECA9AE141DCC}"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en-US"/>
              <a:t>Click to edit Master title style</a:t>
            </a:r>
          </a:p>
        </p:txBody>
      </p:sp>
      <p:sp>
        <p:nvSpPr>
          <p:cNvPr id="3" name="Text Placeholder 2"/>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79CC49C7-06DB-462A-A81D-BDA4151CB51A}" type="datetimeFigureOut">
              <a:rPr lang="en-IN" smtClean="0"/>
              <a:t>16-12-2024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53B8BEC-86B3-453D-9117-ECA9AE141DCC}"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kumimoji="0" lang="en-US"/>
              <a:t>Click to edit Master title style</a:t>
            </a:r>
          </a:p>
        </p:txBody>
      </p:sp>
      <p:sp>
        <p:nvSpPr>
          <p:cNvPr id="3" name="Picture Placeholder 2"/>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en-US">
                <a:solidFill>
                  <a:schemeClr val="lt1"/>
                </a:solidFill>
                <a:latin typeface="+mn-lt"/>
                <a:ea typeface="+mn-ea"/>
                <a:cs typeface="+mn-cs"/>
              </a:rPr>
              <a:t>Click icon to add picture</a:t>
            </a:r>
            <a:endParaRPr kumimoji="0" lang="en-US" dirty="0">
              <a:solidFill>
                <a:schemeClr val="lt1"/>
              </a:solidFill>
              <a:latin typeface="+mn-lt"/>
              <a:ea typeface="+mn-ea"/>
              <a:cs typeface="+mn-cs"/>
            </a:endParaRPr>
          </a:p>
        </p:txBody>
      </p:sp>
      <p:sp>
        <p:nvSpPr>
          <p:cNvPr id="4" name="Text Placeholder 3"/>
          <p:cNvSpPr>
            <a:spLocks noGrp="1"/>
          </p:cNvSpPr>
          <p:nvPr>
            <p:ph type="body" sz="half" idx="2"/>
          </p:nvPr>
        </p:nvSpPr>
        <p:spPr>
          <a:xfrm>
            <a:off x="1828800" y="1166787"/>
            <a:ext cx="54864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79CC49C7-06DB-462A-A81D-BDA4151CB51A}" type="datetimeFigureOut">
              <a:rPr lang="en-IN" smtClean="0"/>
              <a:t>16-12-2024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53B8BEC-86B3-453D-9117-ECA9AE141DCC}"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9CC49C7-06DB-462A-A81D-BDA4151CB51A}" type="datetimeFigureOut">
              <a:rPr lang="en-IN" smtClean="0"/>
              <a:t>16-12-2024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53B8BEC-86B3-453D-9117-ECA9AE141DCC}"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9CC49C7-06DB-462A-A81D-BDA4151CB51A}" type="datetimeFigureOut">
              <a:rPr lang="en-IN" smtClean="0"/>
              <a:t>16-12-2024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53B8BEC-86B3-453D-9117-ECA9AE141DCC}"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en-US"/>
              <a:t>Click to edit Master title style</a:t>
            </a:r>
          </a:p>
        </p:txBody>
      </p:sp>
      <p:sp>
        <p:nvSpPr>
          <p:cNvPr id="13" name="Text Placeholder 12"/>
          <p:cNvSpPr>
            <a:spLocks noGrp="1"/>
          </p:cNvSpPr>
          <p:nvPr>
            <p:ph type="body" idx="1"/>
          </p:nvPr>
        </p:nvSpPr>
        <p:spPr>
          <a:xfrm>
            <a:off x="457200" y="1600200"/>
            <a:ext cx="8229600" cy="470916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457200" y="6416675"/>
            <a:ext cx="2133600" cy="365125"/>
          </a:xfrm>
          <a:prstGeom prst="rect">
            <a:avLst/>
          </a:prstGeom>
        </p:spPr>
        <p:txBody>
          <a:bodyPr vert="horz" anchor="b"/>
          <a:lstStyle>
            <a:lvl1pPr algn="l" eaLnBrk="1" latinLnBrk="0" hangingPunct="1">
              <a:defRPr kumimoji="0" sz="1200">
                <a:solidFill>
                  <a:schemeClr val="tx1">
                    <a:shade val="50000"/>
                  </a:schemeClr>
                </a:solidFill>
              </a:defRPr>
            </a:lvl1pPr>
          </a:lstStyle>
          <a:p>
            <a:fld id="{79CC49C7-06DB-462A-A81D-BDA4151CB51A}" type="datetimeFigureOut">
              <a:rPr lang="en-IN" smtClean="0"/>
              <a:t>16-12-2024</a:t>
            </a:fld>
            <a:endParaRPr lang="en-IN"/>
          </a:p>
        </p:txBody>
      </p:sp>
      <p:sp>
        <p:nvSpPr>
          <p:cNvPr id="3" name="Footer Placeholder 2"/>
          <p:cNvSpPr>
            <a:spLocks noGrp="1"/>
          </p:cNvSpPr>
          <p:nvPr>
            <p:ph type="ftr" sz="quarter" idx="3"/>
          </p:nvPr>
        </p:nvSpPr>
        <p:spPr>
          <a:xfrm>
            <a:off x="3124200" y="6416675"/>
            <a:ext cx="28956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lang="en-IN"/>
          </a:p>
        </p:txBody>
      </p:sp>
      <p:sp>
        <p:nvSpPr>
          <p:cNvPr id="23" name="Slide Number Placeholder 22"/>
          <p:cNvSpPr>
            <a:spLocks noGrp="1"/>
          </p:cNvSpPr>
          <p:nvPr>
            <p:ph type="sldNum" sz="quarter" idx="4"/>
          </p:nvPr>
        </p:nvSpPr>
        <p:spPr>
          <a:xfrm>
            <a:off x="7924800" y="6416675"/>
            <a:ext cx="762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753B8BEC-86B3-453D-9117-ECA9AE141DCC}" type="slidenum">
              <a:rPr lang="en-IN" smtClean="0"/>
              <a:t>‹#›</a:t>
            </a:fld>
            <a:endParaRPr lang="en-IN"/>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b="0" i="0" dirty="0">
                <a:solidFill>
                  <a:srgbClr val="212529"/>
                </a:solidFill>
                <a:effectLst/>
                <a:latin typeface="OpenSans"/>
              </a:rPr>
              <a:t>BCSE301L</a:t>
            </a:r>
            <a:br>
              <a:rPr lang="en-US" dirty="0"/>
            </a:br>
            <a:r>
              <a:rPr lang="en-US" dirty="0"/>
              <a:t>Software Engineering</a:t>
            </a:r>
            <a:endParaRPr lang="en-IN" dirty="0"/>
          </a:p>
        </p:txBody>
      </p:sp>
      <p:sp>
        <p:nvSpPr>
          <p:cNvPr id="3" name="Subtitle 2"/>
          <p:cNvSpPr>
            <a:spLocks noGrp="1"/>
          </p:cNvSpPr>
          <p:nvPr>
            <p:ph type="subTitle" idx="1"/>
          </p:nvPr>
        </p:nvSpPr>
        <p:spPr/>
        <p:txBody>
          <a:bodyPr/>
          <a:lstStyle/>
          <a:p>
            <a:r>
              <a:rPr lang="en-US" b="1" dirty="0"/>
              <a:t>Prof. Perepi.Rajarajeswari</a:t>
            </a:r>
          </a:p>
          <a:p>
            <a:r>
              <a:rPr lang="en-US" b="1" dirty="0"/>
              <a:t>Associate professor, SCOPE</a:t>
            </a:r>
          </a:p>
          <a:p>
            <a:r>
              <a:rPr lang="en-US" b="1" dirty="0"/>
              <a:t>VIT University, Vellore</a:t>
            </a:r>
            <a:endParaRPr lang="en-IN" b="1" dirty="0"/>
          </a:p>
        </p:txBody>
      </p:sp>
    </p:spTree>
    <p:extLst>
      <p:ext uri="{BB962C8B-B14F-4D97-AF65-F5344CB8AC3E}">
        <p14:creationId xmlns:p14="http://schemas.microsoft.com/office/powerpoint/2010/main" val="2825082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24744"/>
            <a:ext cx="8229600" cy="5184616"/>
          </a:xfrm>
        </p:spPr>
        <p:txBody>
          <a:bodyPr>
            <a:normAutofit fontScale="32500" lnSpcReduction="20000"/>
          </a:bodyPr>
          <a:lstStyle/>
          <a:p>
            <a:endParaRPr lang="en-US" dirty="0"/>
          </a:p>
          <a:p>
            <a:r>
              <a:rPr lang="en-US" sz="8000" dirty="0">
                <a:solidFill>
                  <a:srgbClr val="FF0000"/>
                </a:solidFill>
              </a:rPr>
              <a:t>Course objectives:</a:t>
            </a:r>
          </a:p>
          <a:p>
            <a:r>
              <a:rPr lang="en-US" sz="6200" dirty="0"/>
              <a:t>To introduce the essential software engineering concepts.</a:t>
            </a:r>
          </a:p>
          <a:p>
            <a:r>
              <a:rPr lang="en-US" sz="6200" dirty="0"/>
              <a:t>2. To impart skills for the design and implementation of efficient software systems across </a:t>
            </a:r>
            <a:r>
              <a:rPr lang="en-IN" sz="6200" dirty="0"/>
              <a:t>various disciplines</a:t>
            </a:r>
          </a:p>
          <a:p>
            <a:r>
              <a:rPr lang="en-US" sz="6200" dirty="0"/>
              <a:t>3. To familiarize engineering practices and standards used in developing software products </a:t>
            </a:r>
            <a:r>
              <a:rPr lang="en-IN" sz="6200" dirty="0"/>
              <a:t>and components</a:t>
            </a:r>
            <a:endParaRPr lang="en-IN" sz="8000" dirty="0"/>
          </a:p>
          <a:p>
            <a:r>
              <a:rPr lang="en-IN" sz="5000" b="1" dirty="0">
                <a:solidFill>
                  <a:srgbClr val="FF0000"/>
                </a:solidFill>
              </a:rPr>
              <a:t>Expected Course Outcome:</a:t>
            </a:r>
          </a:p>
          <a:p>
            <a:r>
              <a:rPr lang="en-US" sz="6200" dirty="0"/>
              <a:t>1. Apply the principles of the engineering processes in software development.</a:t>
            </a:r>
          </a:p>
          <a:p>
            <a:r>
              <a:rPr lang="en-US" sz="6200" dirty="0"/>
              <a:t>2. Demonstrate software project management activities such as planning, scheduling and </a:t>
            </a:r>
            <a:r>
              <a:rPr lang="en-IN" sz="6200" dirty="0"/>
              <a:t>Estimation.</a:t>
            </a:r>
          </a:p>
          <a:p>
            <a:r>
              <a:rPr lang="en-US" sz="6200" dirty="0"/>
              <a:t>3. Model the requirements for the software projects.</a:t>
            </a:r>
          </a:p>
          <a:p>
            <a:r>
              <a:rPr lang="en-US" sz="6200" dirty="0"/>
              <a:t>4. Design and Test the requirements of the software projects.</a:t>
            </a:r>
          </a:p>
          <a:p>
            <a:r>
              <a:rPr lang="en-US" sz="6200" dirty="0"/>
              <a:t>5. Implement the software development processes activities from requirements to</a:t>
            </a:r>
          </a:p>
          <a:p>
            <a:r>
              <a:rPr lang="en-IN" sz="6200" dirty="0"/>
              <a:t>validation and verification.</a:t>
            </a:r>
          </a:p>
          <a:p>
            <a:r>
              <a:rPr lang="en-US" sz="6200" dirty="0"/>
              <a:t>6. Apply and evaluate the standards in process and in product.</a:t>
            </a:r>
          </a:p>
        </p:txBody>
      </p:sp>
    </p:spTree>
    <p:extLst>
      <p:ext uri="{BB962C8B-B14F-4D97-AF65-F5344CB8AC3E}">
        <p14:creationId xmlns:p14="http://schemas.microsoft.com/office/powerpoint/2010/main" val="8753459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endParaRPr lang="en-IN" dirty="0"/>
          </a:p>
        </p:txBody>
      </p:sp>
      <p:sp>
        <p:nvSpPr>
          <p:cNvPr id="3" name="Content Placeholder 2"/>
          <p:cNvSpPr>
            <a:spLocks noGrp="1"/>
          </p:cNvSpPr>
          <p:nvPr>
            <p:ph idx="1"/>
          </p:nvPr>
        </p:nvSpPr>
        <p:spPr/>
        <p:txBody>
          <a:bodyPr/>
          <a:lstStyle/>
          <a:p>
            <a:r>
              <a:rPr lang="en-US" dirty="0"/>
              <a:t>Software</a:t>
            </a:r>
          </a:p>
          <a:p>
            <a:r>
              <a:rPr lang="en-US" dirty="0"/>
              <a:t>Software engineering</a:t>
            </a:r>
          </a:p>
          <a:p>
            <a:r>
              <a:rPr lang="en-US" dirty="0"/>
              <a:t>Software Process</a:t>
            </a:r>
          </a:p>
          <a:p>
            <a:r>
              <a:rPr lang="en-US" dirty="0"/>
              <a:t>Software Product</a:t>
            </a:r>
          </a:p>
          <a:p>
            <a:r>
              <a:rPr lang="en-US" dirty="0"/>
              <a:t>Difference between Computer science and Software engineering</a:t>
            </a:r>
          </a:p>
          <a:p>
            <a:endParaRPr lang="en-IN" dirty="0"/>
          </a:p>
        </p:txBody>
      </p:sp>
    </p:spTree>
    <p:extLst>
      <p:ext uri="{BB962C8B-B14F-4D97-AF65-F5344CB8AC3E}">
        <p14:creationId xmlns:p14="http://schemas.microsoft.com/office/powerpoint/2010/main" val="13271844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76672"/>
            <a:ext cx="8229600" cy="5649491"/>
          </a:xfrm>
        </p:spPr>
        <p:txBody>
          <a:bodyPr>
            <a:normAutofit/>
          </a:bodyPr>
          <a:lstStyle/>
          <a:p>
            <a:r>
              <a:rPr lang="en-US" sz="2800" b="1" dirty="0">
                <a:solidFill>
                  <a:srgbClr val="C00000"/>
                </a:solidFill>
              </a:rPr>
              <a:t>Software:</a:t>
            </a:r>
            <a:endParaRPr lang="en-IN" sz="2800" b="1" dirty="0">
              <a:solidFill>
                <a:srgbClr val="C00000"/>
              </a:solidFill>
            </a:endParaRPr>
          </a:p>
        </p:txBody>
      </p:sp>
      <p:sp>
        <p:nvSpPr>
          <p:cNvPr id="4" name="Rectangle 3"/>
          <p:cNvSpPr/>
          <p:nvPr/>
        </p:nvSpPr>
        <p:spPr>
          <a:xfrm>
            <a:off x="467544" y="1124744"/>
            <a:ext cx="7442154" cy="5262979"/>
          </a:xfrm>
          <a:prstGeom prst="rect">
            <a:avLst/>
          </a:prstGeom>
        </p:spPr>
        <p:txBody>
          <a:bodyPr wrap="square">
            <a:spAutoFit/>
          </a:bodyPr>
          <a:lstStyle/>
          <a:p>
            <a:r>
              <a:rPr lang="en-US" sz="2400" dirty="0"/>
              <a:t>Software is </a:t>
            </a:r>
            <a:r>
              <a:rPr lang="en-US" sz="2400" b="1" dirty="0"/>
              <a:t>a set of instructions, data or programs used to operate computers and execute specific tasks</a:t>
            </a:r>
            <a:r>
              <a:rPr lang="en-US" sz="2400" dirty="0"/>
              <a:t>. </a:t>
            </a:r>
          </a:p>
          <a:p>
            <a:r>
              <a:rPr lang="en-US" sz="2400" dirty="0"/>
              <a:t>It is the opposite of hardware, which describes the physical aspects of a computer. Software is a generic term used to refer to applications, scripts and programs that run on a device.</a:t>
            </a:r>
          </a:p>
          <a:p>
            <a:r>
              <a:rPr lang="en-US" sz="2400" b="1" dirty="0">
                <a:solidFill>
                  <a:srgbClr val="C00000"/>
                </a:solidFill>
              </a:rPr>
              <a:t>Software Engineering</a:t>
            </a:r>
            <a:r>
              <a:rPr lang="en-US" sz="2400" b="1" dirty="0"/>
              <a:t>: </a:t>
            </a:r>
            <a:r>
              <a:rPr lang="en-US" sz="2400" dirty="0"/>
              <a:t>Software engineering is </a:t>
            </a:r>
            <a:r>
              <a:rPr lang="en-US" sz="2400" b="1" dirty="0"/>
              <a:t>the branch of computer science that deals with the design, development, testing, and maintenance of software applications</a:t>
            </a:r>
            <a:r>
              <a:rPr lang="en-US" sz="2400" dirty="0"/>
              <a:t>.</a:t>
            </a:r>
          </a:p>
          <a:p>
            <a:r>
              <a:rPr lang="en-US" sz="2400" dirty="0"/>
              <a:t> Software engineers apply engineering principles and knowledge of programming languages to build software solutions for end users</a:t>
            </a:r>
            <a:endParaRPr lang="en-IN" sz="2400" b="1" dirty="0"/>
          </a:p>
        </p:txBody>
      </p:sp>
    </p:spTree>
    <p:extLst>
      <p:ext uri="{BB962C8B-B14F-4D97-AF65-F5344CB8AC3E}">
        <p14:creationId xmlns:p14="http://schemas.microsoft.com/office/powerpoint/2010/main" val="29604644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process</a:t>
            </a:r>
            <a:endParaRPr lang="en-IN" dirty="0"/>
          </a:p>
        </p:txBody>
      </p:sp>
      <p:sp>
        <p:nvSpPr>
          <p:cNvPr id="3" name="Content Placeholder 2"/>
          <p:cNvSpPr>
            <a:spLocks noGrp="1"/>
          </p:cNvSpPr>
          <p:nvPr>
            <p:ph idx="1"/>
          </p:nvPr>
        </p:nvSpPr>
        <p:spPr/>
        <p:txBody>
          <a:bodyPr>
            <a:normAutofit fontScale="92500" lnSpcReduction="20000"/>
          </a:bodyPr>
          <a:lstStyle/>
          <a:p>
            <a:r>
              <a:rPr lang="en-US" sz="2600" dirty="0"/>
              <a:t>A software process is the set of activities and associated outcome that produce a software product. </a:t>
            </a:r>
          </a:p>
          <a:p>
            <a:r>
              <a:rPr lang="en-US" sz="2600" dirty="0"/>
              <a:t>Software engineers mostly carry out these activities. These are four key process activities, which are common to all software processes. These activities are:</a:t>
            </a:r>
          </a:p>
          <a:p>
            <a:r>
              <a:rPr lang="en-US" sz="2600" b="1" dirty="0"/>
              <a:t>Software specifications:</a:t>
            </a:r>
            <a:r>
              <a:rPr lang="en-US" sz="2600" dirty="0"/>
              <a:t> The functionality of the software and constraints on its operation must be defined.</a:t>
            </a:r>
          </a:p>
          <a:p>
            <a:r>
              <a:rPr lang="en-US" sz="2600" b="1" dirty="0"/>
              <a:t>Software development:</a:t>
            </a:r>
            <a:r>
              <a:rPr lang="en-US" sz="2600" dirty="0"/>
              <a:t> The software to meet the requirement must be produced.</a:t>
            </a:r>
          </a:p>
          <a:p>
            <a:r>
              <a:rPr lang="en-US" sz="2600" b="1" dirty="0"/>
              <a:t>Software validation:</a:t>
            </a:r>
            <a:r>
              <a:rPr lang="en-US" sz="2600" dirty="0"/>
              <a:t> The software must be validated to ensure that it does what the customer wants.</a:t>
            </a:r>
          </a:p>
          <a:p>
            <a:r>
              <a:rPr lang="en-US" sz="2600" b="1" dirty="0"/>
              <a:t>Software evolution:</a:t>
            </a:r>
            <a:r>
              <a:rPr lang="en-US" sz="2600" dirty="0"/>
              <a:t> The software must evolve to meet changing client needs.</a:t>
            </a:r>
          </a:p>
          <a:p>
            <a:endParaRPr lang="en-IN" dirty="0"/>
          </a:p>
        </p:txBody>
      </p:sp>
    </p:spTree>
    <p:extLst>
      <p:ext uri="{BB962C8B-B14F-4D97-AF65-F5344CB8AC3E}">
        <p14:creationId xmlns:p14="http://schemas.microsoft.com/office/powerpoint/2010/main" val="10698926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process model</a:t>
            </a:r>
            <a:endParaRPr lang="en-IN" dirty="0"/>
          </a:p>
        </p:txBody>
      </p:sp>
      <p:sp>
        <p:nvSpPr>
          <p:cNvPr id="3" name="Content Placeholder 2"/>
          <p:cNvSpPr>
            <a:spLocks noGrp="1"/>
          </p:cNvSpPr>
          <p:nvPr>
            <p:ph idx="1"/>
          </p:nvPr>
        </p:nvSpPr>
        <p:spPr>
          <a:xfrm>
            <a:off x="457200" y="1196752"/>
            <a:ext cx="8229600" cy="5112608"/>
          </a:xfrm>
        </p:spPr>
        <p:txBody>
          <a:bodyPr>
            <a:noAutofit/>
          </a:bodyPr>
          <a:lstStyle/>
          <a:p>
            <a:r>
              <a:rPr lang="en-US" sz="2400" dirty="0"/>
              <a:t>A software process model is a specified definition of a software process, which is presented from a particular perspective. Models, by their nature, are a simplification, so a software process model is an abstraction of the actual process, which is being described. </a:t>
            </a:r>
          </a:p>
          <a:p>
            <a:r>
              <a:rPr lang="en-US" sz="2400" dirty="0"/>
              <a:t>Process models may contain activities, which are part of the software process, software product, and the roles of people involved in software engineering. Some examples of the types of software process models that may be produced are:</a:t>
            </a:r>
          </a:p>
          <a:p>
            <a:r>
              <a:rPr lang="en-US" sz="2400" b="1" dirty="0"/>
              <a:t>A workflow model:</a:t>
            </a:r>
            <a:r>
              <a:rPr lang="en-US" sz="2400" dirty="0"/>
              <a:t> This shows the series of activities in the process along with their inputs, outputs and dependencies. The activities in this model perform human actions.</a:t>
            </a:r>
          </a:p>
        </p:txBody>
      </p:sp>
    </p:spTree>
    <p:extLst>
      <p:ext uri="{BB962C8B-B14F-4D97-AF65-F5344CB8AC3E}">
        <p14:creationId xmlns:p14="http://schemas.microsoft.com/office/powerpoint/2010/main" val="2509352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sz="2600" b="1" dirty="0"/>
              <a:t>2. A dataflow or activity model:</a:t>
            </a:r>
            <a:r>
              <a:rPr lang="en-US" sz="2600" dirty="0"/>
              <a:t> This represents the process as a set of activities, each of which carries out some data transformations. It shows how the input to the process, such as a specification is converted to an output such as a design. The activities here may be at a lower level than activities in a workflow model. They may perform transformations carried out by people or by computers.</a:t>
            </a:r>
          </a:p>
          <a:p>
            <a:r>
              <a:rPr lang="en-US" sz="2600" b="1" dirty="0"/>
              <a:t>3. A role/action model:</a:t>
            </a:r>
            <a:r>
              <a:rPr lang="en-US" sz="2600" dirty="0"/>
              <a:t> This means the roles of the people involved in the software process and the activities for which they are responsible.</a:t>
            </a:r>
          </a:p>
          <a:p>
            <a:endParaRPr lang="en-IN" sz="2800" dirty="0"/>
          </a:p>
          <a:p>
            <a:endParaRPr lang="en-IN" dirty="0"/>
          </a:p>
        </p:txBody>
      </p:sp>
    </p:spTree>
    <p:extLst>
      <p:ext uri="{BB962C8B-B14F-4D97-AF65-F5344CB8AC3E}">
        <p14:creationId xmlns:p14="http://schemas.microsoft.com/office/powerpoint/2010/main" val="1253292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Product</a:t>
            </a:r>
            <a:endParaRPr lang="en-IN" dirty="0"/>
          </a:p>
        </p:txBody>
      </p:sp>
      <p:sp>
        <p:nvSpPr>
          <p:cNvPr id="3" name="Content Placeholder 2"/>
          <p:cNvSpPr>
            <a:spLocks noGrp="1"/>
          </p:cNvSpPr>
          <p:nvPr>
            <p:ph idx="1"/>
          </p:nvPr>
        </p:nvSpPr>
        <p:spPr/>
        <p:txBody>
          <a:bodyPr/>
          <a:lstStyle/>
          <a:p>
            <a:r>
              <a:rPr lang="en-US" dirty="0"/>
              <a:t>Software as a product (</a:t>
            </a:r>
            <a:r>
              <a:rPr lang="en-US" dirty="0" err="1"/>
              <a:t>SaaP</a:t>
            </a:r>
            <a:r>
              <a:rPr lang="en-US" dirty="0"/>
              <a:t>, also programming product, software product) is </a:t>
            </a:r>
            <a:r>
              <a:rPr lang="en-US" b="1" dirty="0"/>
              <a:t>a product, software, which is made to be sold to users, and users pay for license which allows them to use it</a:t>
            </a:r>
            <a:r>
              <a:rPr lang="en-US" dirty="0"/>
              <a:t>, in contrast to SaaS, where users buy subscription and where the software is centrally hosted.</a:t>
            </a:r>
            <a:endParaRPr lang="en-IN" dirty="0"/>
          </a:p>
        </p:txBody>
      </p:sp>
    </p:spTree>
    <p:extLst>
      <p:ext uri="{BB962C8B-B14F-4D97-AF65-F5344CB8AC3E}">
        <p14:creationId xmlns:p14="http://schemas.microsoft.com/office/powerpoint/2010/main" val="254708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Difference between computer science and Software engineering</a:t>
            </a:r>
            <a:endParaRPr lang="en-IN" dirty="0"/>
          </a:p>
        </p:txBody>
      </p:sp>
      <p:sp>
        <p:nvSpPr>
          <p:cNvPr id="3" name="Content Placeholder 2"/>
          <p:cNvSpPr>
            <a:spLocks noGrp="1"/>
          </p:cNvSpPr>
          <p:nvPr>
            <p:ph idx="1"/>
          </p:nvPr>
        </p:nvSpPr>
        <p:spPr/>
        <p:txBody>
          <a:bodyPr/>
          <a:lstStyle/>
          <a:p>
            <a:r>
              <a:rPr lang="en-US" dirty="0"/>
              <a:t>Computer science encompasses the study of computers and computational systems. Computer scientists may generally theorize and calculate aspects of software and software systems in the design and development phases.</a:t>
            </a:r>
          </a:p>
          <a:p>
            <a:endParaRPr lang="en-IN" dirty="0"/>
          </a:p>
        </p:txBody>
      </p:sp>
    </p:spTree>
    <p:extLst>
      <p:ext uri="{BB962C8B-B14F-4D97-AF65-F5344CB8AC3E}">
        <p14:creationId xmlns:p14="http://schemas.microsoft.com/office/powerpoint/2010/main" val="39885639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a:t>
            </a:r>
            <a:endParaRPr lang="en-IN" dirty="0"/>
          </a:p>
        </p:txBody>
      </p:sp>
      <p:sp>
        <p:nvSpPr>
          <p:cNvPr id="3" name="Content Placeholder 2"/>
          <p:cNvSpPr>
            <a:spLocks noGrp="1"/>
          </p:cNvSpPr>
          <p:nvPr>
            <p:ph idx="1"/>
          </p:nvPr>
        </p:nvSpPr>
        <p:spPr/>
        <p:txBody>
          <a:bodyPr>
            <a:normAutofit/>
          </a:bodyPr>
          <a:lstStyle/>
          <a:p>
            <a:r>
              <a:rPr lang="en-US" dirty="0"/>
              <a:t>Software engineering applies the standards and principles of engineering to design, develop, maintain, test and evaluate computer software. </a:t>
            </a:r>
          </a:p>
          <a:p>
            <a:r>
              <a:rPr lang="en-US" dirty="0"/>
              <a:t>A software engineer may also be referred to as a computer programmer, software designer or software developer as the nature of software engineering can require knowledge of programming languages, and principles of software design and building.</a:t>
            </a:r>
            <a:endParaRPr lang="en-IN" dirty="0"/>
          </a:p>
        </p:txBody>
      </p:sp>
    </p:spTree>
    <p:extLst>
      <p:ext uri="{BB962C8B-B14F-4D97-AF65-F5344CB8AC3E}">
        <p14:creationId xmlns:p14="http://schemas.microsoft.com/office/powerpoint/2010/main" val="29427657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ex">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80</TotalTime>
  <Words>759</Words>
  <Application>Microsoft Office PowerPoint</Application>
  <PresentationFormat>On-screen Show (4:3)</PresentationFormat>
  <Paragraphs>48</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Book Antiqua</vt:lpstr>
      <vt:lpstr>Lucida Sans</vt:lpstr>
      <vt:lpstr>OpenSans</vt:lpstr>
      <vt:lpstr>Wingdings</vt:lpstr>
      <vt:lpstr>Wingdings 2</vt:lpstr>
      <vt:lpstr>Wingdings 3</vt:lpstr>
      <vt:lpstr>Apex</vt:lpstr>
      <vt:lpstr>BCSE301L Software Engineering</vt:lpstr>
      <vt:lpstr>PowerPoint Presentation</vt:lpstr>
      <vt:lpstr>Introduction</vt:lpstr>
      <vt:lpstr>PowerPoint Presentation</vt:lpstr>
      <vt:lpstr>Software process</vt:lpstr>
      <vt:lpstr>Software process model</vt:lpstr>
      <vt:lpstr>PowerPoint Presentation</vt:lpstr>
      <vt:lpstr>Software Product</vt:lpstr>
      <vt:lpstr>Difference between computer science and Software engineering</vt:lpstr>
      <vt:lpstr>Software engineering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3001 Software Engineering</dc:title>
  <dc:creator>DELL</dc:creator>
  <cp:lastModifiedBy>raja rajeswari</cp:lastModifiedBy>
  <cp:revision>13</cp:revision>
  <cp:lastPrinted>2022-07-21T06:19:51Z</cp:lastPrinted>
  <dcterms:created xsi:type="dcterms:W3CDTF">2022-07-20T08:42:35Z</dcterms:created>
  <dcterms:modified xsi:type="dcterms:W3CDTF">2024-12-16T05:42:41Z</dcterms:modified>
</cp:coreProperties>
</file>