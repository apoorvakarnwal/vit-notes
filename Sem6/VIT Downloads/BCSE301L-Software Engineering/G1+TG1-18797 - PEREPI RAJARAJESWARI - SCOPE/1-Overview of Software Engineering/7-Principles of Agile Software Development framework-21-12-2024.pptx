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59" r:id="rId6"/>
    <p:sldId id="260" r:id="rId7"/>
    <p:sldId id="261" r:id="rId8"/>
    <p:sldId id="263" r:id="rId9"/>
    <p:sldId id="264" r:id="rId10"/>
    <p:sldId id="266" r:id="rId11"/>
    <p:sldId id="268" r:id="rId12"/>
    <p:sldId id="269" r:id="rId13"/>
    <p:sldId id="270" r:id="rId14"/>
    <p:sldId id="271" r:id="rId15"/>
    <p:sldId id="267"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431874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875851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298639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599863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215509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EDC295-1956-4E93-BA17-0DF34674FCEE}" type="datetimeFigureOut">
              <a:rPr lang="en-IN" smtClean="0"/>
              <a:t>04-01-2025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707044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EDC295-1956-4E93-BA17-0DF34674FCEE}" type="datetimeFigureOut">
              <a:rPr lang="en-IN" smtClean="0"/>
              <a:t>04-01-2025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38372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63025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317850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EDC295-1956-4E93-BA17-0DF34674FCEE}" type="datetimeFigureOut">
              <a:rPr lang="en-IN" smtClean="0"/>
              <a:t>04-01-2025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909892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3175101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4687087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912228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2761200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9EDC295-1956-4E93-BA17-0DF34674FCEE}" type="datetimeFigureOut">
              <a:rPr lang="en-IN" smtClean="0"/>
              <a:t>04-01-2025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1420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4106132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59EDC295-1956-4E93-BA17-0DF34674FCEE}" type="datetimeFigureOut">
              <a:rPr lang="en-IN" smtClean="0"/>
              <a:t>04-01-2025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84580F6-062A-4CB4-AA58-28AA17D19FEE}" type="slidenum">
              <a:rPr lang="en-IN" smtClean="0"/>
              <a:t>‹#›</a:t>
            </a:fld>
            <a:endParaRPr lang="en-IN"/>
          </a:p>
        </p:txBody>
      </p:sp>
    </p:spTree>
    <p:extLst>
      <p:ext uri="{BB962C8B-B14F-4D97-AF65-F5344CB8AC3E}">
        <p14:creationId xmlns:p14="http://schemas.microsoft.com/office/powerpoint/2010/main" val="918681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59EDC295-1956-4E93-BA17-0DF34674FCEE}" type="datetimeFigureOut">
              <a:rPr lang="en-IN" smtClean="0"/>
              <a:t>04-01-2025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84580F6-062A-4CB4-AA58-28AA17D19FEE}" type="slidenum">
              <a:rPr lang="en-IN" smtClean="0"/>
              <a:t>‹#›</a:t>
            </a:fld>
            <a:endParaRPr lang="en-IN"/>
          </a:p>
        </p:txBody>
      </p:sp>
    </p:spTree>
    <p:extLst>
      <p:ext uri="{BB962C8B-B14F-4D97-AF65-F5344CB8AC3E}">
        <p14:creationId xmlns:p14="http://schemas.microsoft.com/office/powerpoint/2010/main" val="1810128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eeksforgeeks.org/software-engineering-agile-software-developmen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pair-programming"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746013-202E-DE7C-2204-3E0E90C294AB}"/>
              </a:ext>
            </a:extLst>
          </p:cNvPr>
          <p:cNvSpPr>
            <a:spLocks noGrp="1"/>
          </p:cNvSpPr>
          <p:nvPr>
            <p:ph type="ctrTitle"/>
          </p:nvPr>
        </p:nvSpPr>
        <p:spPr/>
        <p:txBody>
          <a:bodyPr>
            <a:normAutofit/>
          </a:bodyPr>
          <a:lstStyle/>
          <a:p>
            <a:pPr algn="just"/>
            <a:r>
              <a:rPr lang="en-US" sz="2800" b="0" i="0" u="sng" dirty="0">
                <a:effectLst/>
                <a:latin typeface="Nunito" pitchFamily="2" charset="0"/>
                <a:hlinkClick r:id="rId2">
                  <a:extLst>
                    <a:ext uri="{A12FA001-AC4F-418D-AE19-62706E023703}">
                      <ahyp:hlinkClr xmlns:ahyp="http://schemas.microsoft.com/office/drawing/2018/hyperlinkcolor" val="tx"/>
                    </a:ext>
                  </a:extLst>
                </a:hlinkClick>
              </a:rPr>
              <a:t>Agility</a:t>
            </a:r>
            <a:r>
              <a:rPr lang="en-US" sz="2800" b="0" i="0" dirty="0">
                <a:effectLst/>
                <a:latin typeface="Nunito" pitchFamily="2" charset="0"/>
              </a:rPr>
              <a:t> has become today’s buzzword when describing a contemporary software method. Everyone is agile. An associate agile team could be a nimble team able to befittingly reply to changes. Modification is what software development is extremely abundant.</a:t>
            </a:r>
            <a:endParaRPr lang="en-IN" sz="2800" dirty="0"/>
          </a:p>
        </p:txBody>
      </p:sp>
    </p:spTree>
    <p:extLst>
      <p:ext uri="{BB962C8B-B14F-4D97-AF65-F5344CB8AC3E}">
        <p14:creationId xmlns:p14="http://schemas.microsoft.com/office/powerpoint/2010/main" val="2386553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24BDFB-BA78-49E1-795B-F1CAEDB31B71}"/>
              </a:ext>
            </a:extLst>
          </p:cNvPr>
          <p:cNvSpPr>
            <a:spLocks noGrp="1"/>
          </p:cNvSpPr>
          <p:nvPr>
            <p:ph idx="1"/>
          </p:nvPr>
        </p:nvSpPr>
        <p:spPr/>
        <p:txBody>
          <a:bodyPr>
            <a:normAutofit lnSpcReduction="1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within the software being engineered,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to the team members,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attributable to new technology,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Changes of all types will have an effect on the merchandise they build or the project that makes the merchandise.</a:t>
            </a:r>
          </a:p>
          <a:p>
            <a:pPr algn="l" rtl="0" fontAlgn="base">
              <a:spcAft>
                <a:spcPts val="750"/>
              </a:spcAft>
            </a:pPr>
            <a:r>
              <a:rPr lang="en-US" b="0" i="0" dirty="0">
                <a:solidFill>
                  <a:srgbClr val="273239"/>
                </a:solidFill>
                <a:effectLst/>
                <a:latin typeface="Nunito" pitchFamily="2" charset="0"/>
              </a:rPr>
              <a:t>All changes can be represented as shown in the below diagram which is considered according to Ivar Jacobson Agility process of Software.</a:t>
            </a:r>
          </a:p>
          <a:p>
            <a:endParaRPr lang="en-IN" dirty="0"/>
          </a:p>
        </p:txBody>
      </p:sp>
    </p:spTree>
    <p:extLst>
      <p:ext uri="{BB962C8B-B14F-4D97-AF65-F5344CB8AC3E}">
        <p14:creationId xmlns:p14="http://schemas.microsoft.com/office/powerpoint/2010/main" val="192441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AA3BFF-695C-7AD7-5C86-543E48EC2703}"/>
              </a:ext>
            </a:extLst>
          </p:cNvPr>
          <p:cNvPicPr>
            <a:picLocks noGrp="1" noChangeAspect="1"/>
          </p:cNvPicPr>
          <p:nvPr>
            <p:ph idx="1"/>
          </p:nvPr>
        </p:nvPicPr>
        <p:blipFill>
          <a:blip r:embed="rId2"/>
          <a:stretch>
            <a:fillRect/>
          </a:stretch>
        </p:blipFill>
        <p:spPr>
          <a:xfrm>
            <a:off x="1085150" y="1052052"/>
            <a:ext cx="10021699" cy="4063823"/>
          </a:xfrm>
        </p:spPr>
      </p:pic>
    </p:spTree>
    <p:extLst>
      <p:ext uri="{BB962C8B-B14F-4D97-AF65-F5344CB8AC3E}">
        <p14:creationId xmlns:p14="http://schemas.microsoft.com/office/powerpoint/2010/main" val="3614709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4A5A28-F58C-5B23-446D-759982A257C7}"/>
              </a:ext>
            </a:extLst>
          </p:cNvPr>
          <p:cNvSpPr>
            <a:spLocks noGrp="1"/>
          </p:cNvSpPr>
          <p:nvPr>
            <p:ph idx="1"/>
          </p:nvPr>
        </p:nvSpPr>
        <p:spPr/>
        <p:txBody>
          <a:bodyPr/>
          <a:lstStyle/>
          <a:p>
            <a:r>
              <a:rPr lang="en-IN" b="1" dirty="0"/>
              <a:t>Ref: https://www.geeksforgeeks.org/software-engineering-agility</a:t>
            </a:r>
            <a:r>
              <a:rPr lang="en-IN" dirty="0"/>
              <a:t>/</a:t>
            </a:r>
          </a:p>
        </p:txBody>
      </p:sp>
    </p:spTree>
    <p:extLst>
      <p:ext uri="{BB962C8B-B14F-4D97-AF65-F5344CB8AC3E}">
        <p14:creationId xmlns:p14="http://schemas.microsoft.com/office/powerpoint/2010/main" val="35099324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5A885-F596-18D6-0974-DF478D68F2C4}"/>
              </a:ext>
            </a:extLst>
          </p:cNvPr>
          <p:cNvSpPr>
            <a:spLocks noGrp="1"/>
          </p:cNvSpPr>
          <p:nvPr>
            <p:ph idx="1"/>
          </p:nvPr>
        </p:nvSpPr>
        <p:spPr/>
        <p:txBody>
          <a:bodyPr/>
          <a:lstStyle/>
          <a:p>
            <a:r>
              <a:rPr lang="en-US" b="0" i="0" dirty="0">
                <a:solidFill>
                  <a:srgbClr val="273239"/>
                </a:solidFill>
                <a:effectLst/>
                <a:latin typeface="Nunito" pitchFamily="2" charset="0"/>
              </a:rPr>
              <a:t>Support for changes ought to be inherent in everything we tend to kill software, one thing we tend to embrace as a result of it’s the guts and soul of software. Associate in agile teams acknowledges that software is developed by people operating in groups the talents of those folks, and their ability to collaborate are at the core for the success of the project. In Jacobson’s read, the generality of modification is that the primary driver for agility. Software engineers should be fast on their feet if they’re to accommodate the speedy changes that Jacobson describes. But agility is over an efficient response to alter.</a:t>
            </a:r>
            <a:endParaRPr lang="en-IN" dirty="0"/>
          </a:p>
        </p:txBody>
      </p:sp>
    </p:spTree>
    <p:extLst>
      <p:ext uri="{BB962C8B-B14F-4D97-AF65-F5344CB8AC3E}">
        <p14:creationId xmlns:p14="http://schemas.microsoft.com/office/powerpoint/2010/main" val="379432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3DF9A8-5BF8-081B-1690-16B63063FAB2}"/>
              </a:ext>
            </a:extLst>
          </p:cNvPr>
          <p:cNvSpPr>
            <a:spLocks noGrp="1"/>
          </p:cNvSpPr>
          <p:nvPr>
            <p:ph idx="1"/>
          </p:nvPr>
        </p:nvSpPr>
        <p:spPr/>
        <p:txBody>
          <a:bodyPr>
            <a:normAutofit fontScale="92500" lnSpcReduction="2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encourages team structures and attitudes that create communication (among team members, between technologists and business folks, between software engineers and their managers) additional facile.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emphasizes speedy delivery of operational software Associate in emphasizes the importance of intermediate work merchandise (not continuously a decent thing);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adopts the client as a vicinity of the event team and works to eliminate the “us and them” angle that continues to perforate several software projects;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acknowledges that coming up within an unsure world has its limits which a project arrange should be versatile.</a:t>
            </a:r>
          </a:p>
          <a:p>
            <a:endParaRPr lang="en-IN" dirty="0"/>
          </a:p>
        </p:txBody>
      </p:sp>
    </p:spTree>
    <p:extLst>
      <p:ext uri="{BB962C8B-B14F-4D97-AF65-F5344CB8AC3E}">
        <p14:creationId xmlns:p14="http://schemas.microsoft.com/office/powerpoint/2010/main" val="86977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68469-0844-9B0B-D600-7005BD763B0E}"/>
              </a:ext>
            </a:extLst>
          </p:cNvPr>
          <p:cNvSpPr>
            <a:spLocks noGrp="1"/>
          </p:cNvSpPr>
          <p:nvPr>
            <p:ph idx="1"/>
          </p:nvPr>
        </p:nvSpPr>
        <p:spPr/>
        <p:txBody>
          <a:bodyPr/>
          <a:lstStyle/>
          <a:p>
            <a:r>
              <a:rPr lang="en-US" b="0" i="0" dirty="0">
                <a:solidFill>
                  <a:srgbClr val="273239"/>
                </a:solidFill>
                <a:effectLst/>
                <a:latin typeface="Nunito" pitchFamily="2" charset="0"/>
              </a:rPr>
              <a:t>Agility is applied to any software method. However, to accomplish this, it’s essential that the method be designed during a manner that enables the project team to adapt tasks and to contour them, conduct coming up within a good manner that understands the fluidity of an agile development approach, eliminate about the foremost essential work products and keeps them lean, Associate in emphasize a progressive delivery strategy that gets operating package to the client as apace as possible for the merchandise sort and operational atmosphere.</a:t>
            </a:r>
            <a:endParaRPr lang="en-IN" dirty="0"/>
          </a:p>
        </p:txBody>
      </p:sp>
    </p:spTree>
    <p:extLst>
      <p:ext uri="{BB962C8B-B14F-4D97-AF65-F5344CB8AC3E}">
        <p14:creationId xmlns:p14="http://schemas.microsoft.com/office/powerpoint/2010/main" val="2155270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D068D8-091B-9131-90C3-6781CE0B466E}"/>
              </a:ext>
            </a:extLst>
          </p:cNvPr>
          <p:cNvSpPr>
            <a:spLocks noGrp="1"/>
          </p:cNvSpPr>
          <p:nvPr>
            <p:ph idx="1"/>
          </p:nvPr>
        </p:nvSpPr>
        <p:spPr/>
        <p:txBody>
          <a:bodyPr/>
          <a:lstStyle/>
          <a:p>
            <a:pPr algn="l" fontAlgn="ctr">
              <a:spcAft>
                <a:spcPts val="1500"/>
              </a:spcAft>
            </a:pPr>
            <a:r>
              <a:rPr lang="en-US" b="0" i="0" dirty="0">
                <a:solidFill>
                  <a:srgbClr val="001D35"/>
                </a:solidFill>
                <a:effectLst/>
                <a:latin typeface="Google Sans"/>
              </a:rPr>
              <a:t>The Agile software development process is a group of methodologies that emphasize collaboration, frequent delivery, and continuous improvement. The process is based on the Agile Manifesto, which was created by a group of software industry leaders. </a:t>
            </a:r>
          </a:p>
          <a:p>
            <a:pPr algn="l">
              <a:spcBef>
                <a:spcPts val="1500"/>
              </a:spcBef>
              <a:spcAft>
                <a:spcPts val="750"/>
              </a:spcAft>
            </a:pPr>
            <a:r>
              <a:rPr lang="en-US" b="0" i="0" dirty="0">
                <a:solidFill>
                  <a:srgbClr val="001D35"/>
                </a:solidFill>
                <a:effectLst/>
                <a:latin typeface="Google Sans"/>
              </a:rPr>
              <a:t>The Agile process is characterized by:</a:t>
            </a:r>
          </a:p>
          <a:p>
            <a:pPr algn="l">
              <a:spcBef>
                <a:spcPts val="750"/>
              </a:spcBef>
              <a:spcAft>
                <a:spcPts val="600"/>
              </a:spcAft>
              <a:buFont typeface="Arial" panose="020B0604020202020204" pitchFamily="34" charset="0"/>
              <a:buChar char="•"/>
            </a:pPr>
            <a:r>
              <a:rPr lang="en-US" b="1" i="0" dirty="0">
                <a:solidFill>
                  <a:srgbClr val="001D35"/>
                </a:solidFill>
                <a:effectLst/>
                <a:latin typeface="Google Sans"/>
              </a:rPr>
              <a:t>Iterative development</a:t>
            </a:r>
            <a:endParaRPr lang="en-US" b="0" i="0" dirty="0">
              <a:solidFill>
                <a:srgbClr val="001D35"/>
              </a:solidFill>
              <a:effectLst/>
              <a:latin typeface="Google Sans"/>
            </a:endParaRPr>
          </a:p>
          <a:p>
            <a:pPr algn="l">
              <a:spcBef>
                <a:spcPts val="750"/>
              </a:spcBef>
              <a:spcAft>
                <a:spcPts val="600"/>
              </a:spcAft>
              <a:buFont typeface="Arial" panose="020B0604020202020204" pitchFamily="34" charset="0"/>
              <a:buChar char="•"/>
            </a:pPr>
            <a:r>
              <a:rPr lang="en-US" b="0" i="0" dirty="0">
                <a:solidFill>
                  <a:srgbClr val="001D35"/>
                </a:solidFill>
                <a:effectLst/>
                <a:latin typeface="Google Sans"/>
              </a:rPr>
              <a:t>The development process is broken down into small increments, called sprints, that typically last one to four weeks. Each sprint results in a working piece of the software. </a:t>
            </a:r>
          </a:p>
          <a:p>
            <a:endParaRPr lang="en-IN" dirty="0"/>
          </a:p>
        </p:txBody>
      </p:sp>
      <p:sp>
        <p:nvSpPr>
          <p:cNvPr id="5" name="TextBox 4">
            <a:extLst>
              <a:ext uri="{FF2B5EF4-FFF2-40B4-BE49-F238E27FC236}">
                <a16:creationId xmlns:a16="http://schemas.microsoft.com/office/drawing/2014/main" id="{19C99FD1-D23F-7F5B-D1C1-2350B2AB87B2}"/>
              </a:ext>
            </a:extLst>
          </p:cNvPr>
          <p:cNvSpPr txBox="1"/>
          <p:nvPr/>
        </p:nvSpPr>
        <p:spPr>
          <a:xfrm>
            <a:off x="1455174" y="1093527"/>
            <a:ext cx="6921909" cy="369332"/>
          </a:xfrm>
          <a:prstGeom prst="rect">
            <a:avLst/>
          </a:prstGeom>
          <a:noFill/>
        </p:spPr>
        <p:txBody>
          <a:bodyPr wrap="square">
            <a:spAutoFit/>
          </a:bodyPr>
          <a:lstStyle/>
          <a:p>
            <a:r>
              <a:rPr lang="en-IN" dirty="0">
                <a:highlight>
                  <a:srgbClr val="C0C0C0"/>
                </a:highlight>
              </a:rPr>
              <a:t>Agile process in software engineering</a:t>
            </a:r>
          </a:p>
        </p:txBody>
      </p:sp>
    </p:spTree>
    <p:extLst>
      <p:ext uri="{BB962C8B-B14F-4D97-AF65-F5344CB8AC3E}">
        <p14:creationId xmlns:p14="http://schemas.microsoft.com/office/powerpoint/2010/main" val="138286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33A39F-8CDA-C8F0-F1C2-562FF47A4BEF}"/>
              </a:ext>
            </a:extLst>
          </p:cNvPr>
          <p:cNvSpPr>
            <a:spLocks noGrp="1" noChangeArrowheads="1"/>
          </p:cNvSpPr>
          <p:nvPr>
            <p:ph idx="1"/>
          </p:nvPr>
        </p:nvSpPr>
        <p:spPr bwMode="auto">
          <a:xfrm>
            <a:off x="1154954" y="2138009"/>
            <a:ext cx="10220969" cy="43472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Frequent feedback</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gather feedback from customers and stakeholders after each sprint to understand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what works and what needs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Continuous testing</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Testing is done continuously throughout the development cycle to identify bugs and ensure the software works as intended.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Cross-functional teams</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work together in all functions, including planning, analysis, design, coding, unit testing, and acceptance testing.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Pair programming</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Programmers work together in pairs to produce well-written programs with fewer errors.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Face-to-face communication</a:t>
            </a:r>
            <a:endParaRPr kumimoji="0" lang="en-US" altLang="en-US" sz="18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Teams communicate frequently to better collaborate and understand project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1965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EB4DF-17DE-70EE-345C-FB46501BA955}"/>
              </a:ext>
            </a:extLst>
          </p:cNvPr>
          <p:cNvSpPr>
            <a:spLocks noGrp="1"/>
          </p:cNvSpPr>
          <p:nvPr>
            <p:ph type="title"/>
          </p:nvPr>
        </p:nvSpPr>
        <p:spPr/>
        <p:txBody>
          <a:bodyPr/>
          <a:lstStyle/>
          <a:p>
            <a:r>
              <a:rPr lang="en-US" b="1" i="0" dirty="0">
                <a:effectLst/>
                <a:latin typeface="Nunito" pitchFamily="2" charset="0"/>
              </a:rPr>
              <a:t>Principles of the Agile Model</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3F0B1A56-8F32-AFC3-0DCC-D1D5F0F6B5A3}"/>
              </a:ext>
            </a:extLst>
          </p:cNvPr>
          <p:cNvSpPr>
            <a:spLocks noGrp="1"/>
          </p:cNvSpPr>
          <p:nvPr>
            <p:ph idx="1"/>
          </p:nvPr>
        </p:nvSpPr>
        <p:spPr>
          <a:xfrm>
            <a:off x="1154954" y="2603499"/>
            <a:ext cx="8825659" cy="3993945"/>
          </a:xfrm>
        </p:spPr>
        <p:txBody>
          <a:bodyPr>
            <a:normAutofit fontScale="62500" lnSpcReduction="20000"/>
          </a:bodyPr>
          <a:lstStyle/>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To establish close contact with the customer during development and to gain a clear understanding of various requirements, each Agile project usually includes a customer representative on the team. At the end of each iteration stakeholders and the customer representative review, the progress made and re-evaluate the requirements.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The agile model relies on working software deployment rather than comprehensive documentation.</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Frequent delivery of incremental versions of the software to the customer representative in intervals of a few weeks.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Requirement change requests from the customer are encouraged and efficiently incorporated.</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It emphasizes having efficient team members and enhancing communications among them is given more importance. It is realized that improved communication among the development team members can be achieved through face-to-face communication rather than through the exchange of formal documents.</a:t>
            </a:r>
          </a:p>
          <a:p>
            <a:endParaRPr lang="en-IN" dirty="0"/>
          </a:p>
        </p:txBody>
      </p:sp>
    </p:spTree>
    <p:extLst>
      <p:ext uri="{BB962C8B-B14F-4D97-AF65-F5344CB8AC3E}">
        <p14:creationId xmlns:p14="http://schemas.microsoft.com/office/powerpoint/2010/main" val="1576452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B36ED-6B26-C5E9-6FCB-126192EE2E72}"/>
              </a:ext>
            </a:extLst>
          </p:cNvPr>
          <p:cNvSpPr>
            <a:spLocks noGrp="1"/>
          </p:cNvSpPr>
          <p:nvPr>
            <p:ph type="title"/>
          </p:nvPr>
        </p:nvSpPr>
        <p:spPr/>
        <p:txBody>
          <a:bodyPr/>
          <a:lstStyle/>
          <a:p>
            <a:r>
              <a:rPr lang="en-US" b="1" i="0" dirty="0">
                <a:solidFill>
                  <a:schemeClr val="bg1"/>
                </a:solidFill>
                <a:effectLst/>
                <a:latin typeface="Nunito" pitchFamily="2" charset="0"/>
              </a:rPr>
              <a:t>Characteristics of the Agile Process</a:t>
            </a:r>
            <a:br>
              <a:rPr lang="en-US" b="1" i="0" dirty="0">
                <a:solidFill>
                  <a:schemeClr val="bg1"/>
                </a:solidFill>
                <a:effectLst/>
                <a:latin typeface="Nunito" pitchFamily="2" charset="0"/>
              </a:rPr>
            </a:br>
            <a:endParaRPr lang="en-IN" dirty="0">
              <a:solidFill>
                <a:schemeClr val="bg1"/>
              </a:solidFill>
            </a:endParaRPr>
          </a:p>
        </p:txBody>
      </p:sp>
      <p:sp>
        <p:nvSpPr>
          <p:cNvPr id="3" name="Content Placeholder 2">
            <a:extLst>
              <a:ext uri="{FF2B5EF4-FFF2-40B4-BE49-F238E27FC236}">
                <a16:creationId xmlns:a16="http://schemas.microsoft.com/office/drawing/2014/main" id="{9D63694E-8968-A45D-FE7F-111BDD265B46}"/>
              </a:ext>
            </a:extLst>
          </p:cNvPr>
          <p:cNvSpPr>
            <a:spLocks noGrp="1"/>
          </p:cNvSpPr>
          <p:nvPr>
            <p:ph idx="1"/>
          </p:nvPr>
        </p:nvSpPr>
        <p:spPr/>
        <p:txBody>
          <a:bodyPr>
            <a:normAutofit fontScale="85000" lnSpcReduction="20000"/>
          </a:bodyPr>
          <a:lstStyle/>
          <a:p>
            <a:pPr algn="l" fontAlgn="base"/>
            <a:r>
              <a:rPr lang="en-US" b="1" i="0" dirty="0">
                <a:solidFill>
                  <a:srgbClr val="273239"/>
                </a:solidFill>
                <a:effectLst/>
                <a:latin typeface="Nunito" pitchFamily="2" charset="0"/>
              </a:rPr>
              <a:t>Characteristics of the Agile Process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Agile processes must be adaptable to technical and environmental changes. That means if any technological changes occur, then the agile process must accommodate them.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development of agile processes must be incremental. That means, in each development, the increment should contain some functionality that can be tested and verified by the customer.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customer feedback must be used to create the next increment of the process.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software increment must be delivered in a short span of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must be iterative so that each increment can be evaluated regularly.</a:t>
            </a:r>
          </a:p>
          <a:p>
            <a:endParaRPr lang="en-IN" dirty="0"/>
          </a:p>
        </p:txBody>
      </p:sp>
    </p:spTree>
    <p:extLst>
      <p:ext uri="{BB962C8B-B14F-4D97-AF65-F5344CB8AC3E}">
        <p14:creationId xmlns:p14="http://schemas.microsoft.com/office/powerpoint/2010/main" val="1393249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4608C-E59A-7AD7-83AC-1339F8658531}"/>
              </a:ext>
            </a:extLst>
          </p:cNvPr>
          <p:cNvSpPr>
            <a:spLocks noGrp="1"/>
          </p:cNvSpPr>
          <p:nvPr>
            <p:ph idx="1"/>
          </p:nvPr>
        </p:nvSpPr>
        <p:spPr/>
        <p:txBody>
          <a:bodyPr>
            <a:normAutofit fontScale="55000" lnSpcReduction="20000"/>
          </a:bodyPr>
          <a:lstStyle/>
          <a:p>
            <a:pPr algn="l" fontAlgn="base"/>
            <a:r>
              <a:rPr lang="en-US" sz="2200" b="1" i="0" dirty="0">
                <a:solidFill>
                  <a:srgbClr val="273239"/>
                </a:solidFill>
                <a:effectLst/>
                <a:latin typeface="Nunito" pitchFamily="2" charset="0"/>
              </a:rPr>
              <a:t>Advantages of the Agile Model</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Working through Pair programming produces well-written compact programs which have fewer errors as compared to programmers working alone.</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It reduces the total development time of the whole project.</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Agile development emphasizes face-to-face communication among team members, leading to better collaboration and understanding of project goals.</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Customer representatives get the idea of updated software products after each iteration. So, it is easy for him to change any requirement if needed.</a:t>
            </a:r>
          </a:p>
          <a:p>
            <a:pPr algn="l" fontAlgn="base">
              <a:spcAft>
                <a:spcPts val="1800"/>
              </a:spcAft>
              <a:buFont typeface="Arial" panose="020B0604020202020204" pitchFamily="34" charset="0"/>
              <a:buChar char="•"/>
            </a:pPr>
            <a:r>
              <a:rPr lang="en-US" sz="2200" b="0" i="0" dirty="0">
                <a:solidFill>
                  <a:srgbClr val="273239"/>
                </a:solidFill>
                <a:effectLst/>
                <a:latin typeface="Nunito" pitchFamily="2" charset="0"/>
              </a:rPr>
              <a:t>Agile development puts the customer at the center of the development process, ensuring that the end product meets their needs.</a:t>
            </a:r>
          </a:p>
          <a:p>
            <a:endParaRPr lang="en-IN" dirty="0"/>
          </a:p>
        </p:txBody>
      </p:sp>
    </p:spTree>
    <p:extLst>
      <p:ext uri="{BB962C8B-B14F-4D97-AF65-F5344CB8AC3E}">
        <p14:creationId xmlns:p14="http://schemas.microsoft.com/office/powerpoint/2010/main" val="2726529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165FC0-EC7C-02C1-1991-C9D372EAD232}"/>
              </a:ext>
            </a:extLst>
          </p:cNvPr>
          <p:cNvSpPr>
            <a:spLocks noGrp="1"/>
          </p:cNvSpPr>
          <p:nvPr>
            <p:ph idx="1"/>
          </p:nvPr>
        </p:nvSpPr>
        <p:spPr/>
        <p:txBody>
          <a:bodyPr>
            <a:normAutofit fontScale="85000" lnSpcReduction="10000"/>
          </a:bodyPr>
          <a:lstStyle/>
          <a:p>
            <a:pPr algn="l" fontAlgn="base"/>
            <a:r>
              <a:rPr lang="en-US" b="1" i="0" dirty="0">
                <a:solidFill>
                  <a:srgbClr val="273239"/>
                </a:solidFill>
                <a:effectLst/>
                <a:latin typeface="Nunito" pitchFamily="2" charset="0"/>
              </a:rPr>
              <a:t>Disadvantages of the Agile Model</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lack of formal documents creates confusion and important decisions taken during different phases can be misinterpreted at any time by different team members.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not suitable for handling complex dependencies.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agile model depends highly on customer interactions so if the customer is not clear, then the development team can be driven in the wrong direction.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Agile development models often involve working in short sprints, which can make it difficult to plan and forecast project timelines and deliverables. This can lead to delays in the project and can make it difficult to accurately estimate the costs and resources needed for the project.</a:t>
            </a:r>
          </a:p>
          <a:p>
            <a:endParaRPr lang="en-IN" dirty="0"/>
          </a:p>
        </p:txBody>
      </p:sp>
    </p:spTree>
    <p:extLst>
      <p:ext uri="{BB962C8B-B14F-4D97-AF65-F5344CB8AC3E}">
        <p14:creationId xmlns:p14="http://schemas.microsoft.com/office/powerpoint/2010/main" val="956725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6912E8-5B81-FFEE-2543-7B2ED23E9506}"/>
              </a:ext>
            </a:extLst>
          </p:cNvPr>
          <p:cNvSpPr>
            <a:spLocks noGrp="1"/>
          </p:cNvSpPr>
          <p:nvPr>
            <p:ph idx="1"/>
          </p:nvPr>
        </p:nvSpPr>
        <p:spPr>
          <a:xfrm>
            <a:off x="1145122" y="2338029"/>
            <a:ext cx="8825659" cy="3416300"/>
          </a:xfrm>
        </p:spPr>
        <p:txBody>
          <a:bodyPr>
            <a:normAutofit fontScale="25000" lnSpcReduction="20000"/>
          </a:bodyPr>
          <a:lstStyle/>
          <a:p>
            <a:pPr algn="l" fontAlgn="base"/>
            <a:r>
              <a:rPr lang="en-US" sz="6400" b="1" i="0" dirty="0">
                <a:solidFill>
                  <a:srgbClr val="273239"/>
                </a:solidFill>
                <a:effectLst/>
                <a:latin typeface="Nunito" pitchFamily="2" charset="0"/>
              </a:rPr>
              <a:t>When To Use the Agile Model?</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frequent modifications need to be made, this method is implemented.</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a highly qualified and experienced team is available.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a customer is ready to have a meeting with the team all the time.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when the project needs to be delivered quickly.</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Projects with few regulatory requirements or not certain requirements.</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projects utilizing a less-than-strict current methodology</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Those undertakings where the product proprietor is easily reachable</a:t>
            </a:r>
          </a:p>
          <a:p>
            <a:pPr algn="l" fontAlgn="base">
              <a:spcAft>
                <a:spcPts val="1800"/>
              </a:spcAft>
              <a:buFont typeface="Arial" panose="020B0604020202020204" pitchFamily="34" charset="0"/>
              <a:buChar char="•"/>
            </a:pPr>
            <a:r>
              <a:rPr lang="en-US" sz="6400" b="0" i="0" dirty="0">
                <a:solidFill>
                  <a:srgbClr val="273239"/>
                </a:solidFill>
                <a:effectLst/>
                <a:latin typeface="Nunito" pitchFamily="2" charset="0"/>
              </a:rPr>
              <a:t>Flexible project schedules and budgets.</a:t>
            </a:r>
          </a:p>
          <a:p>
            <a:endParaRPr lang="en-IN" sz="2400" dirty="0"/>
          </a:p>
        </p:txBody>
      </p:sp>
    </p:spTree>
    <p:extLst>
      <p:ext uri="{BB962C8B-B14F-4D97-AF65-F5344CB8AC3E}">
        <p14:creationId xmlns:p14="http://schemas.microsoft.com/office/powerpoint/2010/main" val="4293566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BE9390-40F7-5133-8B0B-95B0E01E229A}"/>
              </a:ext>
            </a:extLst>
          </p:cNvPr>
          <p:cNvSpPr>
            <a:spLocks noGrp="1"/>
          </p:cNvSpPr>
          <p:nvPr>
            <p:ph idx="1"/>
          </p:nvPr>
        </p:nvSpPr>
        <p:spPr/>
        <p:txBody>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recommended that the development team size should be kept small (5 to 9 people) to help the team members meaningfully engage in face-to-face communication and have a collaborative work environment.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agile development process usually deploys </a:t>
            </a:r>
            <a:r>
              <a:rPr lang="en-US" b="0" i="0" u="sng" dirty="0">
                <a:solidFill>
                  <a:srgbClr val="273239"/>
                </a:solidFill>
                <a:effectLst/>
                <a:latin typeface="Nunito" pitchFamily="2" charset="0"/>
                <a:hlinkClick r:id="rId2"/>
              </a:rPr>
              <a:t>Pair Programming</a:t>
            </a:r>
            <a:r>
              <a:rPr lang="en-US" b="0" i="0" dirty="0">
                <a:solidFill>
                  <a:srgbClr val="273239"/>
                </a:solidFill>
                <a:effectLst/>
                <a:latin typeface="Nunito" pitchFamily="2" charset="0"/>
              </a:rPr>
              <a:t>. In Pair programming, two programmers work together at one workstation. One does coding while the other reviews the code as it is typed in. The two programmers switch their roles every hour or so.</a:t>
            </a:r>
          </a:p>
          <a:p>
            <a:endParaRPr lang="en-IN" dirty="0"/>
          </a:p>
        </p:txBody>
      </p:sp>
    </p:spTree>
    <p:extLst>
      <p:ext uri="{BB962C8B-B14F-4D97-AF65-F5344CB8AC3E}">
        <p14:creationId xmlns:p14="http://schemas.microsoft.com/office/powerpoint/2010/main" val="3445060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71263C79-78A2-9B77-1A9A-967CC9BF851A}"/>
              </a:ext>
            </a:extLst>
          </p:cNvPr>
          <p:cNvSpPr>
            <a:spLocks noGrp="1" noChangeArrowheads="1"/>
          </p:cNvSpPr>
          <p:nvPr>
            <p:ph idx="1"/>
          </p:nvPr>
        </p:nvSpPr>
        <p:spPr bwMode="auto">
          <a:xfrm>
            <a:off x="535521" y="2405669"/>
            <a:ext cx="9385227" cy="18696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Some benefits of the Agile process include: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Speed to market</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Smaller increments are released to market, reducing the risk of engineering a product that doesn't meet user requirements.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Better quality software</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Continuous testing and feedback helps to identify and resolve issues early in the development process.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300" b="1" i="0" u="none" strike="noStrike" cap="none" normalizeH="0" baseline="0" dirty="0">
                <a:ln>
                  <a:noFill/>
                </a:ln>
                <a:solidFill>
                  <a:srgbClr val="001D35"/>
                </a:solidFill>
                <a:effectLst/>
                <a:latin typeface="Google Sans"/>
              </a:rPr>
              <a:t>Increased transparency</a:t>
            </a:r>
            <a:endParaRPr kumimoji="0" lang="en-US" altLang="en-US" sz="1300" b="0" i="0" u="none" strike="noStrike" cap="none" normalizeH="0" baseline="0" dirty="0">
              <a:ln>
                <a:noFill/>
              </a:ln>
              <a:solidFill>
                <a:srgbClr val="001D35"/>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001D35"/>
                </a:solidFill>
                <a:effectLst/>
                <a:latin typeface="Google Sans"/>
              </a:rPr>
              <a:t>Frequent communication and collaboration helps to improve transparency and visibility into the project status and progress.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1796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23</TotalTime>
  <Words>1317</Words>
  <Application>Microsoft Office PowerPoint</Application>
  <PresentationFormat>Widescreen</PresentationFormat>
  <Paragraphs>72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Century Gothic</vt:lpstr>
      <vt:lpstr>Google Sans</vt:lpstr>
      <vt:lpstr>Nunito</vt:lpstr>
      <vt:lpstr>Wingdings 3</vt:lpstr>
      <vt:lpstr>Ion Boardroom</vt:lpstr>
      <vt:lpstr>Agility has become today’s buzzword when describing a contemporary software method. Everyone is agile. An associate agile team could be a nimble team able to befittingly reply to changes. Modification is what software development is extremely abundant.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Principles of the Agile Model </vt:lpstr>
      <vt:lpstr>Characteristics of the Agile Process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 rajeswari</dc:creator>
  <cp:lastModifiedBy>raja rajeswari</cp:lastModifiedBy>
  <cp:revision>4</cp:revision>
  <dcterms:created xsi:type="dcterms:W3CDTF">2025-01-04T06:07:28Z</dcterms:created>
  <dcterms:modified xsi:type="dcterms:W3CDTF">2025-01-04T06:30:47Z</dcterms:modified>
</cp:coreProperties>
</file>