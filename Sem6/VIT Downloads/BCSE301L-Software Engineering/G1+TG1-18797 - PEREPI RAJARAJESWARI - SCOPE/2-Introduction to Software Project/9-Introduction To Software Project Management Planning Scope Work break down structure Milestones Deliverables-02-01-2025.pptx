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1"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1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6D54FF2-AF3E-4E4E-8932-4B09FFA0DA36}" type="datetimeFigureOut">
              <a:rPr lang="en-IN" smtClean="0"/>
              <a:t>08-08-2022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1980035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54FF2-AF3E-4E4E-8932-4B09FFA0DA36}" type="datetimeFigureOut">
              <a:rPr lang="en-IN" smtClean="0"/>
              <a:t>08-08-2022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1658156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D54FF2-AF3E-4E4E-8932-4B09FFA0DA36}" type="datetimeFigureOut">
              <a:rPr lang="en-IN" smtClean="0"/>
              <a:t>08-08-2022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294557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6D54FF2-AF3E-4E4E-8932-4B09FFA0DA36}" type="datetimeFigureOut">
              <a:rPr lang="en-IN" smtClean="0"/>
              <a:t>08-08-2022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157632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6D54FF2-AF3E-4E4E-8932-4B09FFA0DA36}" type="datetimeFigureOut">
              <a:rPr lang="en-IN" smtClean="0"/>
              <a:t>08-08-2022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28155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6D54FF2-AF3E-4E4E-8932-4B09FFA0DA36}" type="datetimeFigureOut">
              <a:rPr lang="en-IN" smtClean="0"/>
              <a:t>08-08-2022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3507717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D54FF2-AF3E-4E4E-8932-4B09FFA0DA36}" type="datetimeFigureOut">
              <a:rPr lang="en-IN" smtClean="0"/>
              <a:t>08-08-2022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659515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D54FF2-AF3E-4E4E-8932-4B09FFA0DA36}" type="datetimeFigureOut">
              <a:rPr lang="en-IN" smtClean="0"/>
              <a:t>08-08-2022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1291825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D54FF2-AF3E-4E4E-8932-4B09FFA0DA36}" type="datetimeFigureOut">
              <a:rPr lang="en-IN" smtClean="0"/>
              <a:t>08-08-2022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213816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54FF2-AF3E-4E4E-8932-4B09FFA0DA36}" type="datetimeFigureOut">
              <a:rPr lang="en-IN" smtClean="0"/>
              <a:t>08-08-2022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85709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54FF2-AF3E-4E4E-8932-4B09FFA0DA36}" type="datetimeFigureOut">
              <a:rPr lang="en-IN" smtClean="0"/>
              <a:t>08-08-2022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5B2653E-C361-452C-9418-B46C7EE38F39}" type="slidenum">
              <a:rPr lang="en-IN" smtClean="0"/>
              <a:t>‹#›</a:t>
            </a:fld>
            <a:endParaRPr lang="en-IN"/>
          </a:p>
        </p:txBody>
      </p:sp>
    </p:spTree>
    <p:extLst>
      <p:ext uri="{BB962C8B-B14F-4D97-AF65-F5344CB8AC3E}">
        <p14:creationId xmlns:p14="http://schemas.microsoft.com/office/powerpoint/2010/main" val="294349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D54FF2-AF3E-4E4E-8932-4B09FFA0DA36}" type="datetimeFigureOut">
              <a:rPr lang="en-IN" smtClean="0"/>
              <a:t>08-08-2022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B2653E-C361-452C-9418-B46C7EE38F39}" type="slidenum">
              <a:rPr lang="en-IN" smtClean="0"/>
              <a:t>‹#›</a:t>
            </a:fld>
            <a:endParaRPr lang="en-IN"/>
          </a:p>
        </p:txBody>
      </p:sp>
    </p:spTree>
    <p:extLst>
      <p:ext uri="{BB962C8B-B14F-4D97-AF65-F5344CB8AC3E}">
        <p14:creationId xmlns:p14="http://schemas.microsoft.com/office/powerpoint/2010/main" val="587919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2:Introduction to software project management</a:t>
            </a:r>
            <a:endParaRPr lang="en-IN" dirty="0"/>
          </a:p>
        </p:txBody>
      </p:sp>
    </p:spTree>
    <p:extLst>
      <p:ext uri="{BB962C8B-B14F-4D97-AF65-F5344CB8AC3E}">
        <p14:creationId xmlns:p14="http://schemas.microsoft.com/office/powerpoint/2010/main" val="2176367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Module 2:Introduction to software project management</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Software </a:t>
            </a:r>
            <a:r>
              <a:rPr lang="en-US" dirty="0"/>
              <a:t>Project Management</a:t>
            </a:r>
          </a:p>
          <a:p>
            <a:r>
              <a:rPr lang="en-US" dirty="0"/>
              <a:t>A project is well-defined task, which is a collection of several operations done in order to achieve a goal (for example, software development and delivery). A Project can be characterized as:</a:t>
            </a:r>
          </a:p>
          <a:p>
            <a:r>
              <a:rPr lang="en-US" dirty="0"/>
              <a:t>Every project may has a unique and distinct goal.</a:t>
            </a:r>
          </a:p>
          <a:p>
            <a:r>
              <a:rPr lang="en-US" dirty="0"/>
              <a:t>Project is not routine activity or day-to-day operations.</a:t>
            </a:r>
          </a:p>
          <a:p>
            <a:r>
              <a:rPr lang="en-US" dirty="0"/>
              <a:t>Project comes with a start time and end time.</a:t>
            </a:r>
          </a:p>
          <a:p>
            <a:r>
              <a:rPr lang="en-US" dirty="0"/>
              <a:t>Project ends when its goal is achieved hence it is a temporary phase in the lifetime of an organization.</a:t>
            </a:r>
          </a:p>
          <a:p>
            <a:r>
              <a:rPr lang="en-US" dirty="0"/>
              <a:t>Project needs adequate resources in terms of time, manpower, finance, material and knowledge-bank.</a:t>
            </a:r>
          </a:p>
          <a:p>
            <a:endParaRPr lang="en-IN" dirty="0"/>
          </a:p>
        </p:txBody>
      </p:sp>
    </p:spTree>
    <p:extLst>
      <p:ext uri="{BB962C8B-B14F-4D97-AF65-F5344CB8AC3E}">
        <p14:creationId xmlns:p14="http://schemas.microsoft.com/office/powerpoint/2010/main" val="3099457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Software Project</a:t>
            </a:r>
          </a:p>
          <a:p>
            <a:r>
              <a:rPr lang="en-US" dirty="0"/>
              <a:t>A Software Project is the complete procedure of software development from requirement gathering to testing and maintenance, carried out according to the execution methodologies, in a specified period of time to achieve intended software product.</a:t>
            </a:r>
          </a:p>
          <a:p>
            <a:endParaRPr lang="en-IN" dirty="0"/>
          </a:p>
        </p:txBody>
      </p:sp>
    </p:spTree>
    <p:extLst>
      <p:ext uri="{BB962C8B-B14F-4D97-AF65-F5344CB8AC3E}">
        <p14:creationId xmlns:p14="http://schemas.microsoft.com/office/powerpoint/2010/main" val="2103533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b="1" dirty="0"/>
              <a:t>Need of software project management</a:t>
            </a:r>
          </a:p>
          <a:p>
            <a:r>
              <a:rPr lang="en-US" dirty="0"/>
              <a:t>Software is said to be an intangible product</a:t>
            </a:r>
            <a:r>
              <a:rPr lang="en-US" dirty="0" smtClean="0"/>
              <a:t>.</a:t>
            </a:r>
          </a:p>
          <a:p>
            <a:r>
              <a:rPr lang="en-US" dirty="0" smtClean="0"/>
              <a:t> </a:t>
            </a:r>
            <a:r>
              <a:rPr lang="en-US" dirty="0"/>
              <a:t>Software development is a kind of all new stream in world business and there’s very little experience in building software products. </a:t>
            </a:r>
            <a:endParaRPr lang="en-US" dirty="0" smtClean="0"/>
          </a:p>
          <a:p>
            <a:r>
              <a:rPr lang="en-US" dirty="0" smtClean="0"/>
              <a:t>Most </a:t>
            </a:r>
            <a:r>
              <a:rPr lang="en-US" dirty="0"/>
              <a:t>software products are tailor made to fit client’s requirements. The most important is that the underlying technology changes and advances so frequently and rapidly that experience of one product may not be applied to the other one. </a:t>
            </a:r>
            <a:endParaRPr lang="en-US" dirty="0" smtClean="0"/>
          </a:p>
          <a:p>
            <a:r>
              <a:rPr lang="en-US" dirty="0" smtClean="0"/>
              <a:t>All </a:t>
            </a:r>
            <a:r>
              <a:rPr lang="en-US" dirty="0"/>
              <a:t>such business and environmental constraints bring risk in software development hence it is essential to manage software projects efficiently.</a:t>
            </a:r>
          </a:p>
          <a:p>
            <a:endParaRPr lang="en-IN" dirty="0"/>
          </a:p>
        </p:txBody>
      </p:sp>
    </p:spTree>
    <p:extLst>
      <p:ext uri="{BB962C8B-B14F-4D97-AF65-F5344CB8AC3E}">
        <p14:creationId xmlns:p14="http://schemas.microsoft.com/office/powerpoint/2010/main" val="2257184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It is an essential part of software organization to deliver quality product, keeping the cost within client’s budget constrain and deliver the project as per scheduled. There are several factors, both internal and external, which may impact this triple constrain triangle. Any of three factor can severely impact the other two.</a:t>
            </a:r>
          </a:p>
          <a:p>
            <a:r>
              <a:rPr lang="en-US" dirty="0"/>
              <a:t>Therefore, software project management is essential to incorporate user requirements along with budget and time constraints.</a:t>
            </a:r>
          </a:p>
          <a:p>
            <a:endParaRPr lang="en-IN" dirty="0"/>
          </a:p>
        </p:txBody>
      </p:sp>
    </p:spTree>
    <p:extLst>
      <p:ext uri="{BB962C8B-B14F-4D97-AF65-F5344CB8AC3E}">
        <p14:creationId xmlns:p14="http://schemas.microsoft.com/office/powerpoint/2010/main" val="416320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Software Project Manager</a:t>
            </a:r>
          </a:p>
          <a:p>
            <a:r>
              <a:rPr lang="en-US" dirty="0"/>
              <a:t>A software project manager is a person who undertakes the responsibility of executing the software project. Software project manager is thoroughly aware of all the phases of SDLC that the software would go through. Project manager may never directly involve in producing the end product but he controls and manages the activities involved in production.</a:t>
            </a:r>
          </a:p>
          <a:p>
            <a:r>
              <a:rPr lang="en-US" dirty="0"/>
              <a:t>A project manager closely monitors the development process, prepares and executes various plans, arranges necessary and adequate resources, maintains communication among all team members in order to address issues of cost, budget, resources, time, quality and customer satisfaction.</a:t>
            </a:r>
          </a:p>
          <a:p>
            <a:endParaRPr lang="en-IN" dirty="0"/>
          </a:p>
        </p:txBody>
      </p:sp>
    </p:spTree>
    <p:extLst>
      <p:ext uri="{BB962C8B-B14F-4D97-AF65-F5344CB8AC3E}">
        <p14:creationId xmlns:p14="http://schemas.microsoft.com/office/powerpoint/2010/main" val="1484798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Managing People</a:t>
            </a:r>
          </a:p>
          <a:p>
            <a:r>
              <a:rPr lang="en-US" dirty="0"/>
              <a:t>Act as project leader</a:t>
            </a:r>
          </a:p>
          <a:p>
            <a:r>
              <a:rPr lang="en-US" dirty="0"/>
              <a:t>Liaison with stakeholders</a:t>
            </a:r>
          </a:p>
          <a:p>
            <a:r>
              <a:rPr lang="en-US" dirty="0"/>
              <a:t>Managing human resources</a:t>
            </a:r>
          </a:p>
          <a:p>
            <a:r>
              <a:rPr lang="en-US" dirty="0"/>
              <a:t>Setting up reporting hierarchy etc.</a:t>
            </a:r>
          </a:p>
          <a:p>
            <a:r>
              <a:rPr lang="en-US" dirty="0"/>
              <a:t>Managing Project</a:t>
            </a:r>
          </a:p>
          <a:p>
            <a:r>
              <a:rPr lang="en-US" dirty="0"/>
              <a:t>Defining and setting up project scope</a:t>
            </a:r>
          </a:p>
          <a:p>
            <a:r>
              <a:rPr lang="en-US" dirty="0"/>
              <a:t>Managing project management activities</a:t>
            </a:r>
          </a:p>
          <a:p>
            <a:r>
              <a:rPr lang="en-US" dirty="0"/>
              <a:t>Monitoring progress and performance</a:t>
            </a:r>
          </a:p>
          <a:p>
            <a:r>
              <a:rPr lang="en-US" dirty="0"/>
              <a:t>Risk analysis at every phase</a:t>
            </a:r>
          </a:p>
          <a:p>
            <a:r>
              <a:rPr lang="en-US" dirty="0"/>
              <a:t>Take necessary step to avoid or come out of problems</a:t>
            </a:r>
          </a:p>
          <a:p>
            <a:r>
              <a:rPr lang="en-US" dirty="0"/>
              <a:t>Act as project spokesperson</a:t>
            </a:r>
          </a:p>
          <a:p>
            <a:endParaRPr lang="en-IN" dirty="0"/>
          </a:p>
        </p:txBody>
      </p:sp>
    </p:spTree>
    <p:extLst>
      <p:ext uri="{BB962C8B-B14F-4D97-AF65-F5344CB8AC3E}">
        <p14:creationId xmlns:p14="http://schemas.microsoft.com/office/powerpoint/2010/main" val="133474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073427"/>
          </a:xfrm>
        </p:spPr>
        <p:txBody>
          <a:bodyPr>
            <a:normAutofit fontScale="47500" lnSpcReduction="20000"/>
          </a:bodyPr>
          <a:lstStyle/>
          <a:p>
            <a:r>
              <a:rPr lang="en-US" dirty="0"/>
              <a:t>Software Management Activities</a:t>
            </a:r>
          </a:p>
          <a:p>
            <a:r>
              <a:rPr lang="en-US" dirty="0"/>
              <a:t>Software project management comprises of a number of activities, which contains planning of project, deciding scope of software product, estimation of cost in various terms, scheduling of tasks and events, and resource management. Project management activities may include:</a:t>
            </a:r>
          </a:p>
          <a:p>
            <a:r>
              <a:rPr lang="en-US" b="1" dirty="0"/>
              <a:t>Project Planning</a:t>
            </a:r>
            <a:endParaRPr lang="en-US" dirty="0"/>
          </a:p>
          <a:p>
            <a:r>
              <a:rPr lang="en-US" b="1" dirty="0"/>
              <a:t>Scope Management</a:t>
            </a:r>
            <a:endParaRPr lang="en-US" dirty="0"/>
          </a:p>
          <a:p>
            <a:r>
              <a:rPr lang="en-US" b="1" dirty="0"/>
              <a:t>Project Estimation</a:t>
            </a:r>
            <a:endParaRPr lang="en-US" dirty="0"/>
          </a:p>
          <a:p>
            <a:r>
              <a:rPr lang="en-US" dirty="0"/>
              <a:t>Project Planning</a:t>
            </a:r>
          </a:p>
          <a:p>
            <a:r>
              <a:rPr lang="en-US" dirty="0"/>
              <a:t>Software project planning is task, which is performed before the production of software actually starts. It is there for the software production but involves no concrete activity that has any direction connection with software production; rather it is a set of multiple processes, which facilitates software production. Project planning may include the following:</a:t>
            </a:r>
          </a:p>
          <a:p>
            <a:r>
              <a:rPr lang="en-US" dirty="0"/>
              <a:t>Scope Management</a:t>
            </a:r>
          </a:p>
          <a:p>
            <a:r>
              <a:rPr lang="en-US" dirty="0"/>
              <a:t>It defines the scope of project; this includes all the activities, process need to be done in order to make a deliverable software product. Scope management is essential because it creates boundaries of the project by clearly defining what would be done in the project and what would not be done. This makes project to contain limited and quantifiable tasks, which can easily be documented and in turn avoids cost and time overrun.</a:t>
            </a:r>
          </a:p>
          <a:p>
            <a:endParaRPr lang="en-IN" dirty="0"/>
          </a:p>
        </p:txBody>
      </p:sp>
    </p:spTree>
    <p:extLst>
      <p:ext uri="{BB962C8B-B14F-4D97-AF65-F5344CB8AC3E}">
        <p14:creationId xmlns:p14="http://schemas.microsoft.com/office/powerpoint/2010/main" val="395821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During Project Scope management, it is necessary to -</a:t>
            </a:r>
          </a:p>
          <a:p>
            <a:r>
              <a:rPr lang="en-US" dirty="0"/>
              <a:t>Define the scope</a:t>
            </a:r>
          </a:p>
          <a:p>
            <a:r>
              <a:rPr lang="en-US" dirty="0"/>
              <a:t>Decide its verification and control</a:t>
            </a:r>
          </a:p>
          <a:p>
            <a:r>
              <a:rPr lang="en-US" dirty="0"/>
              <a:t>Divide the project into various smaller parts for ease of management.</a:t>
            </a:r>
          </a:p>
          <a:p>
            <a:r>
              <a:rPr lang="en-US" dirty="0"/>
              <a:t>Verify the scope</a:t>
            </a:r>
          </a:p>
          <a:p>
            <a:r>
              <a:rPr lang="en-US" dirty="0"/>
              <a:t>Control the scope by incorporating changes to the scope</a:t>
            </a:r>
          </a:p>
          <a:p>
            <a:endParaRPr lang="en-IN" dirty="0"/>
          </a:p>
        </p:txBody>
      </p:sp>
    </p:spTree>
    <p:extLst>
      <p:ext uri="{BB962C8B-B14F-4D97-AF65-F5344CB8AC3E}">
        <p14:creationId xmlns:p14="http://schemas.microsoft.com/office/powerpoint/2010/main" val="23360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dirty="0"/>
              <a:t>Project Estimation</a:t>
            </a:r>
          </a:p>
          <a:p>
            <a:r>
              <a:rPr lang="en-US" dirty="0"/>
              <a:t>For an effective management accurate estimation of various measures is a must. With correct estimation managers can manage and control the project more efficiently and effectively.</a:t>
            </a:r>
          </a:p>
          <a:p>
            <a:r>
              <a:rPr lang="en-US" dirty="0"/>
              <a:t>Project estimation may involve the following:</a:t>
            </a:r>
          </a:p>
          <a:p>
            <a:r>
              <a:rPr lang="en-US" b="1" dirty="0"/>
              <a:t>Software size </a:t>
            </a:r>
            <a:r>
              <a:rPr lang="en-US" b="1" dirty="0" smtClean="0"/>
              <a:t>estimation: </a:t>
            </a:r>
            <a:r>
              <a:rPr lang="en-US" dirty="0" smtClean="0"/>
              <a:t>Software </a:t>
            </a:r>
            <a:r>
              <a:rPr lang="en-US" dirty="0"/>
              <a:t>size may be estimated either in terms of KLOC (Kilo Line of Code) or by calculating number of function points in the software. Lines of code depend upon coding practices and Function points vary according to the user or software requirement.</a:t>
            </a:r>
          </a:p>
          <a:p>
            <a:r>
              <a:rPr lang="en-US" b="1" dirty="0"/>
              <a:t>Effort </a:t>
            </a:r>
            <a:r>
              <a:rPr lang="en-US" b="1" dirty="0" smtClean="0"/>
              <a:t>estimation: </a:t>
            </a:r>
            <a:r>
              <a:rPr lang="en-US" dirty="0" smtClean="0"/>
              <a:t>The </a:t>
            </a:r>
            <a:r>
              <a:rPr lang="en-US" dirty="0"/>
              <a:t>managers estimate efforts in terms of personnel requirement and man-hour required to produce the software. For effort estimation software size should be known. This can either be derived by managers’ experience, organization’s historical data or software size can be converted into efforts by using some standard formulae.</a:t>
            </a:r>
          </a:p>
          <a:p>
            <a:endParaRPr lang="en-IN" dirty="0"/>
          </a:p>
        </p:txBody>
      </p:sp>
    </p:spTree>
    <p:extLst>
      <p:ext uri="{BB962C8B-B14F-4D97-AF65-F5344CB8AC3E}">
        <p14:creationId xmlns:p14="http://schemas.microsoft.com/office/powerpoint/2010/main" val="1750665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r>
              <a:rPr lang="en-US" b="1" dirty="0"/>
              <a:t>Time </a:t>
            </a:r>
            <a:r>
              <a:rPr lang="en-US" b="1" dirty="0" smtClean="0"/>
              <a:t>estimation: </a:t>
            </a:r>
            <a:r>
              <a:rPr lang="en-US" dirty="0" smtClean="0"/>
              <a:t>Once </a:t>
            </a:r>
            <a:r>
              <a:rPr lang="en-US" dirty="0"/>
              <a:t>size and efforts are estimated, the time required to produce the software can be estimated. Efforts required is segregated into sub categories as per the requirement specifications and interdependency of various components of software. Software tasks are divided into smaller tasks, activities or events by Work Breakthrough Structure (WBS). The tasks are scheduled on day-to-day basis or in calendar months.</a:t>
            </a:r>
          </a:p>
          <a:p>
            <a:r>
              <a:rPr lang="en-US" dirty="0"/>
              <a:t>The sum of time required to complete all tasks in hours or days is the total time invested to complete the project.</a:t>
            </a:r>
          </a:p>
          <a:p>
            <a:r>
              <a:rPr lang="en-US" b="1" dirty="0"/>
              <a:t>Cost </a:t>
            </a:r>
            <a:r>
              <a:rPr lang="en-US" b="1" dirty="0" smtClean="0"/>
              <a:t>estimation: </a:t>
            </a:r>
            <a:r>
              <a:rPr lang="en-US" dirty="0" smtClean="0"/>
              <a:t>This </a:t>
            </a:r>
            <a:r>
              <a:rPr lang="en-US" dirty="0"/>
              <a:t>might be considered as the most difficult of all because it depends on more elements than any of the previous ones. For estimating project cost, it is required to consider -</a:t>
            </a:r>
          </a:p>
          <a:p>
            <a:pPr lvl="1"/>
            <a:r>
              <a:rPr lang="en-US" dirty="0"/>
              <a:t>Size of software</a:t>
            </a:r>
          </a:p>
          <a:p>
            <a:pPr lvl="1"/>
            <a:r>
              <a:rPr lang="en-US" dirty="0"/>
              <a:t>Software quality</a:t>
            </a:r>
          </a:p>
          <a:p>
            <a:pPr lvl="1"/>
            <a:r>
              <a:rPr lang="en-US" dirty="0"/>
              <a:t>Hardware</a:t>
            </a:r>
          </a:p>
          <a:p>
            <a:pPr lvl="1"/>
            <a:r>
              <a:rPr lang="en-US" dirty="0"/>
              <a:t>Additional software or tools, licenses etc.</a:t>
            </a:r>
          </a:p>
          <a:p>
            <a:pPr lvl="1"/>
            <a:r>
              <a:rPr lang="en-US" dirty="0"/>
              <a:t>Skilled personnel with task-specific skills</a:t>
            </a:r>
          </a:p>
          <a:p>
            <a:pPr lvl="1"/>
            <a:r>
              <a:rPr lang="en-US" dirty="0"/>
              <a:t>Travel involved</a:t>
            </a:r>
          </a:p>
          <a:p>
            <a:pPr lvl="1"/>
            <a:r>
              <a:rPr lang="en-US" dirty="0"/>
              <a:t>Communication</a:t>
            </a:r>
          </a:p>
          <a:p>
            <a:pPr lvl="1"/>
            <a:r>
              <a:rPr lang="en-US" dirty="0"/>
              <a:t>Training and support</a:t>
            </a:r>
          </a:p>
          <a:p>
            <a:endParaRPr lang="en-IN" dirty="0"/>
          </a:p>
        </p:txBody>
      </p:sp>
    </p:spTree>
    <p:extLst>
      <p:ext uri="{BB962C8B-B14F-4D97-AF65-F5344CB8AC3E}">
        <p14:creationId xmlns:p14="http://schemas.microsoft.com/office/powerpoint/2010/main" val="349473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1027</Words>
  <Application>Microsoft Office PowerPoint</Application>
  <PresentationFormat>On-screen Show (4:3)</PresentationFormat>
  <Paragraphs>64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Module 2:Introduction to software project management</vt:lpstr>
      <vt:lpstr>Module 2:Introduction to software project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2:Introduction to software project management</dc:title>
  <dc:creator>DELL</dc:creator>
  <cp:lastModifiedBy>DELL</cp:lastModifiedBy>
  <cp:revision>3</cp:revision>
  <dcterms:created xsi:type="dcterms:W3CDTF">2022-08-08T14:25:04Z</dcterms:created>
  <dcterms:modified xsi:type="dcterms:W3CDTF">2022-08-08T14:45:31Z</dcterms:modified>
</cp:coreProperties>
</file>