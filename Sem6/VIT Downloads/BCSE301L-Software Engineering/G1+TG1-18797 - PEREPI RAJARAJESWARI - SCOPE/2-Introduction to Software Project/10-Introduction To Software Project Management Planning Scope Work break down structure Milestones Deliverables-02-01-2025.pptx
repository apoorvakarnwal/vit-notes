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969AF35F-2298-4DAB-B8A5-DFDFDBE9324E}" type="datetimeFigureOut">
              <a:rPr lang="en-IN" smtClean="0"/>
              <a:t>09-11-2022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7732D9C-887A-4518-9FF6-988716308168}" type="slidenum">
              <a:rPr lang="en-IN" smtClean="0"/>
              <a:t>‹#›</a:t>
            </a:fld>
            <a:endParaRPr lang="en-IN"/>
          </a:p>
        </p:txBody>
      </p:sp>
    </p:spTree>
    <p:extLst>
      <p:ext uri="{BB962C8B-B14F-4D97-AF65-F5344CB8AC3E}">
        <p14:creationId xmlns:p14="http://schemas.microsoft.com/office/powerpoint/2010/main" val="28982059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69AF35F-2298-4DAB-B8A5-DFDFDBE9324E}" type="datetimeFigureOut">
              <a:rPr lang="en-IN" smtClean="0"/>
              <a:t>09-11-2022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7732D9C-887A-4518-9FF6-988716308168}" type="slidenum">
              <a:rPr lang="en-IN" smtClean="0"/>
              <a:t>‹#›</a:t>
            </a:fld>
            <a:endParaRPr lang="en-IN"/>
          </a:p>
        </p:txBody>
      </p:sp>
    </p:spTree>
    <p:extLst>
      <p:ext uri="{BB962C8B-B14F-4D97-AF65-F5344CB8AC3E}">
        <p14:creationId xmlns:p14="http://schemas.microsoft.com/office/powerpoint/2010/main" val="2497702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69AF35F-2298-4DAB-B8A5-DFDFDBE9324E}" type="datetimeFigureOut">
              <a:rPr lang="en-IN" smtClean="0"/>
              <a:t>09-11-2022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7732D9C-887A-4518-9FF6-988716308168}" type="slidenum">
              <a:rPr lang="en-IN" smtClean="0"/>
              <a:t>‹#›</a:t>
            </a:fld>
            <a:endParaRPr lang="en-IN"/>
          </a:p>
        </p:txBody>
      </p:sp>
    </p:spTree>
    <p:extLst>
      <p:ext uri="{BB962C8B-B14F-4D97-AF65-F5344CB8AC3E}">
        <p14:creationId xmlns:p14="http://schemas.microsoft.com/office/powerpoint/2010/main" val="1635797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969AF35F-2298-4DAB-B8A5-DFDFDBE9324E}" type="datetimeFigureOut">
              <a:rPr lang="en-IN" smtClean="0"/>
              <a:t>09-11-2022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7732D9C-887A-4518-9FF6-988716308168}" type="slidenum">
              <a:rPr lang="en-IN" smtClean="0"/>
              <a:t>‹#›</a:t>
            </a:fld>
            <a:endParaRPr lang="en-IN"/>
          </a:p>
        </p:txBody>
      </p:sp>
    </p:spTree>
    <p:extLst>
      <p:ext uri="{BB962C8B-B14F-4D97-AF65-F5344CB8AC3E}">
        <p14:creationId xmlns:p14="http://schemas.microsoft.com/office/powerpoint/2010/main" val="3699479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969AF35F-2298-4DAB-B8A5-DFDFDBE9324E}" type="datetimeFigureOut">
              <a:rPr lang="en-IN" smtClean="0"/>
              <a:t>09-11-2022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7732D9C-887A-4518-9FF6-988716308168}" type="slidenum">
              <a:rPr lang="en-IN" smtClean="0"/>
              <a:t>‹#›</a:t>
            </a:fld>
            <a:endParaRPr lang="en-IN"/>
          </a:p>
        </p:txBody>
      </p:sp>
    </p:spTree>
    <p:extLst>
      <p:ext uri="{BB962C8B-B14F-4D97-AF65-F5344CB8AC3E}">
        <p14:creationId xmlns:p14="http://schemas.microsoft.com/office/powerpoint/2010/main" val="6941412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969AF35F-2298-4DAB-B8A5-DFDFDBE9324E}" type="datetimeFigureOut">
              <a:rPr lang="en-IN" smtClean="0"/>
              <a:t>09-11-2022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7732D9C-887A-4518-9FF6-988716308168}" type="slidenum">
              <a:rPr lang="en-IN" smtClean="0"/>
              <a:t>‹#›</a:t>
            </a:fld>
            <a:endParaRPr lang="en-IN"/>
          </a:p>
        </p:txBody>
      </p:sp>
    </p:spTree>
    <p:extLst>
      <p:ext uri="{BB962C8B-B14F-4D97-AF65-F5344CB8AC3E}">
        <p14:creationId xmlns:p14="http://schemas.microsoft.com/office/powerpoint/2010/main" val="41202227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9AF35F-2298-4DAB-B8A5-DFDFDBE9324E}" type="datetimeFigureOut">
              <a:rPr lang="en-IN" smtClean="0"/>
              <a:t>09-11-2022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7732D9C-887A-4518-9FF6-988716308168}" type="slidenum">
              <a:rPr lang="en-IN" smtClean="0"/>
              <a:t>‹#›</a:t>
            </a:fld>
            <a:endParaRPr lang="en-IN"/>
          </a:p>
        </p:txBody>
      </p:sp>
    </p:spTree>
    <p:extLst>
      <p:ext uri="{BB962C8B-B14F-4D97-AF65-F5344CB8AC3E}">
        <p14:creationId xmlns:p14="http://schemas.microsoft.com/office/powerpoint/2010/main" val="122318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69AF35F-2298-4DAB-B8A5-DFDFDBE9324E}" type="datetimeFigureOut">
              <a:rPr lang="en-IN" smtClean="0"/>
              <a:t>09-11-2022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7732D9C-887A-4518-9FF6-988716308168}" type="slidenum">
              <a:rPr lang="en-IN" smtClean="0"/>
              <a:t>‹#›</a:t>
            </a:fld>
            <a:endParaRPr lang="en-IN"/>
          </a:p>
        </p:txBody>
      </p:sp>
    </p:spTree>
    <p:extLst>
      <p:ext uri="{BB962C8B-B14F-4D97-AF65-F5344CB8AC3E}">
        <p14:creationId xmlns:p14="http://schemas.microsoft.com/office/powerpoint/2010/main" val="27172492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69AF35F-2298-4DAB-B8A5-DFDFDBE9324E}" type="datetimeFigureOut">
              <a:rPr lang="en-IN" smtClean="0"/>
              <a:t>09-11-2022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7732D9C-887A-4518-9FF6-988716308168}" type="slidenum">
              <a:rPr lang="en-IN" smtClean="0"/>
              <a:t>‹#›</a:t>
            </a:fld>
            <a:endParaRPr lang="en-IN"/>
          </a:p>
        </p:txBody>
      </p:sp>
    </p:spTree>
    <p:extLst>
      <p:ext uri="{BB962C8B-B14F-4D97-AF65-F5344CB8AC3E}">
        <p14:creationId xmlns:p14="http://schemas.microsoft.com/office/powerpoint/2010/main" val="20075932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69AF35F-2298-4DAB-B8A5-DFDFDBE9324E}" type="datetimeFigureOut">
              <a:rPr lang="en-IN" smtClean="0"/>
              <a:t>09-11-2022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7732D9C-887A-4518-9FF6-988716308168}" type="slidenum">
              <a:rPr lang="en-IN" smtClean="0"/>
              <a:t>‹#›</a:t>
            </a:fld>
            <a:endParaRPr lang="en-IN"/>
          </a:p>
        </p:txBody>
      </p:sp>
    </p:spTree>
    <p:extLst>
      <p:ext uri="{BB962C8B-B14F-4D97-AF65-F5344CB8AC3E}">
        <p14:creationId xmlns:p14="http://schemas.microsoft.com/office/powerpoint/2010/main" val="13641784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69AF35F-2298-4DAB-B8A5-DFDFDBE9324E}" type="datetimeFigureOut">
              <a:rPr lang="en-IN" smtClean="0"/>
              <a:t>09-11-2022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7732D9C-887A-4518-9FF6-988716308168}" type="slidenum">
              <a:rPr lang="en-IN" smtClean="0"/>
              <a:t>‹#›</a:t>
            </a:fld>
            <a:endParaRPr lang="en-IN"/>
          </a:p>
        </p:txBody>
      </p:sp>
    </p:spTree>
    <p:extLst>
      <p:ext uri="{BB962C8B-B14F-4D97-AF65-F5344CB8AC3E}">
        <p14:creationId xmlns:p14="http://schemas.microsoft.com/office/powerpoint/2010/main" val="138181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9AF35F-2298-4DAB-B8A5-DFDFDBE9324E}" type="datetimeFigureOut">
              <a:rPr lang="en-IN" smtClean="0"/>
              <a:t>09-11-2022</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732D9C-887A-4518-9FF6-988716308168}" type="slidenum">
              <a:rPr lang="en-IN" smtClean="0"/>
              <a:t>‹#›</a:t>
            </a:fld>
            <a:endParaRPr lang="en-IN"/>
          </a:p>
        </p:txBody>
      </p:sp>
    </p:spTree>
    <p:extLst>
      <p:ext uri="{BB962C8B-B14F-4D97-AF65-F5344CB8AC3E}">
        <p14:creationId xmlns:p14="http://schemas.microsoft.com/office/powerpoint/2010/main" val="11776023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algn="l"/>
            <a:r>
              <a:rPr lang="en-US" sz="2700" dirty="0" smtClean="0"/>
              <a:t/>
            </a:r>
            <a:br>
              <a:rPr lang="en-US" sz="2700" dirty="0" smtClean="0"/>
            </a:br>
            <a:r>
              <a:rPr lang="en-US" sz="2700" dirty="0"/>
              <a:t/>
            </a:r>
            <a:br>
              <a:rPr lang="en-US" sz="2700" dirty="0"/>
            </a:br>
            <a:r>
              <a:rPr lang="en-US" sz="2700" u="sng" dirty="0" smtClean="0"/>
              <a:t>COCOMO MODEL</a:t>
            </a:r>
            <a:r>
              <a:rPr lang="en-US" sz="2700" dirty="0" smtClean="0"/>
              <a:t/>
            </a:r>
            <a:br>
              <a:rPr lang="en-US" sz="2700" dirty="0" smtClean="0"/>
            </a:br>
            <a:r>
              <a:rPr lang="en-US" sz="2700" dirty="0"/>
              <a:t/>
            </a:r>
            <a:br>
              <a:rPr lang="en-US" sz="2700" dirty="0"/>
            </a:br>
            <a:r>
              <a:rPr lang="en-US" sz="2700" dirty="0" smtClean="0"/>
              <a:t>COCOMO (Constructive Cost Model) is a regression model based on LOC, i.e number of Lines of Code. It is a procedural cost estimate model for software projects and is often used as a process of reliably predicting the various parameters associated with making a project such as size, effort, cost, time, and quality</a:t>
            </a:r>
            <a:r>
              <a:rPr lang="en-US" dirty="0" smtClean="0"/>
              <a:t>. </a:t>
            </a:r>
            <a:endParaRPr lang="en-IN" dirty="0"/>
          </a:p>
        </p:txBody>
      </p:sp>
      <p:sp>
        <p:nvSpPr>
          <p:cNvPr id="6" name="Rectangle 5"/>
          <p:cNvSpPr/>
          <p:nvPr/>
        </p:nvSpPr>
        <p:spPr>
          <a:xfrm>
            <a:off x="5004048" y="5301208"/>
            <a:ext cx="2293385" cy="369332"/>
          </a:xfrm>
          <a:prstGeom prst="rect">
            <a:avLst/>
          </a:prstGeom>
        </p:spPr>
        <p:txBody>
          <a:bodyPr wrap="none">
            <a:spAutoFit/>
          </a:bodyPr>
          <a:lstStyle/>
          <a:p>
            <a:r>
              <a:rPr lang="en-IN" dirty="0" err="1" smtClean="0">
                <a:solidFill>
                  <a:srgbClr val="FF0000"/>
                </a:solidFill>
              </a:rPr>
              <a:t>Dr.Perepi.Rajaraeswari</a:t>
            </a:r>
            <a:endParaRPr lang="en-IN" dirty="0">
              <a:solidFill>
                <a:srgbClr val="FF0000"/>
              </a:solidFill>
            </a:endParaRPr>
          </a:p>
        </p:txBody>
      </p:sp>
    </p:spTree>
    <p:extLst>
      <p:ext uri="{BB962C8B-B14F-4D97-AF65-F5344CB8AC3E}">
        <p14:creationId xmlns:p14="http://schemas.microsoft.com/office/powerpoint/2010/main" val="32502916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pPr fontAlgn="base"/>
            <a:r>
              <a:rPr lang="en-US" b="1" dirty="0"/>
              <a:t>Effort:</a:t>
            </a:r>
            <a:r>
              <a:rPr lang="en-US" dirty="0"/>
              <a:t> Amount of labor that will be required to complete a task. It is measured in person-months units.</a:t>
            </a:r>
          </a:p>
          <a:p>
            <a:pPr fontAlgn="base"/>
            <a:r>
              <a:rPr lang="en-US" b="1" dirty="0"/>
              <a:t>Schedule:</a:t>
            </a:r>
            <a:r>
              <a:rPr lang="en-US" dirty="0"/>
              <a:t> Simply means the amount of time required for the completion of the job, which is, of course, proportional to the effort put in. It is measured in the units of time such as weeks, months.</a:t>
            </a:r>
          </a:p>
          <a:p>
            <a:pPr fontAlgn="base"/>
            <a:r>
              <a:rPr lang="en-US" dirty="0"/>
              <a:t>Different models of Cocomo have been proposed to predict the cost estimation at different levels, based on the amount of accuracy and correctness required. </a:t>
            </a:r>
            <a:endParaRPr lang="en-US" dirty="0" smtClean="0"/>
          </a:p>
          <a:p>
            <a:pPr fontAlgn="base"/>
            <a:r>
              <a:rPr lang="en-US" dirty="0" smtClean="0"/>
              <a:t>All </a:t>
            </a:r>
            <a:r>
              <a:rPr lang="en-US" dirty="0"/>
              <a:t>of these models can be applied to a variety of projects, whose characteristics determine the value of constant to be used in subsequent calculations. These characteristics pertaining to different system types are mentioned below. Boehm’s definition of organic, semidetached, and embedded systems:</a:t>
            </a:r>
          </a:p>
          <a:p>
            <a:endParaRPr lang="en-IN" dirty="0"/>
          </a:p>
        </p:txBody>
      </p:sp>
    </p:spTree>
    <p:extLst>
      <p:ext uri="{BB962C8B-B14F-4D97-AF65-F5344CB8AC3E}">
        <p14:creationId xmlns:p14="http://schemas.microsoft.com/office/powerpoint/2010/main" val="4762064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pPr fontAlgn="base"/>
            <a:r>
              <a:rPr lang="en-US" b="1" dirty="0"/>
              <a:t>Organic –</a:t>
            </a:r>
            <a:r>
              <a:rPr lang="en-US" dirty="0"/>
              <a:t> A software project is said to be an organic type if the team size required is adequately small, the problem is well understood and has been solved in the past and also the team members have a nominal experience regarding the problem</a:t>
            </a:r>
            <a:r>
              <a:rPr lang="en-US" dirty="0" smtClean="0"/>
              <a:t>.</a:t>
            </a:r>
          </a:p>
          <a:p>
            <a:pPr marL="0" indent="0" fontAlgn="base">
              <a:buNone/>
            </a:pPr>
            <a:endParaRPr lang="en-US" dirty="0"/>
          </a:p>
          <a:p>
            <a:pPr fontAlgn="base"/>
            <a:r>
              <a:rPr lang="en-US" b="1" dirty="0"/>
              <a:t>Semi-detached –</a:t>
            </a:r>
            <a:r>
              <a:rPr lang="en-US" dirty="0"/>
              <a:t> A software project is said to be a Semi-detached type if the vital characteristics such as team size, experience, knowledge of the various programming environment lie in between that of organic and Embedded. </a:t>
            </a:r>
            <a:endParaRPr lang="en-US" dirty="0" smtClean="0"/>
          </a:p>
          <a:p>
            <a:pPr fontAlgn="base"/>
            <a:r>
              <a:rPr lang="en-US" dirty="0" smtClean="0"/>
              <a:t>The </a:t>
            </a:r>
            <a:r>
              <a:rPr lang="en-US" dirty="0"/>
              <a:t>projects classified as Semi-Detached are comparatively less familiar and difficult to develop compared to the organic ones and require more experience and better guidance and creativity. </a:t>
            </a:r>
            <a:r>
              <a:rPr lang="en-US" dirty="0" err="1"/>
              <a:t>Eg</a:t>
            </a:r>
            <a:r>
              <a:rPr lang="en-US" dirty="0"/>
              <a:t>: Compilers or different Embedded Systems can be considered of Semi-Detached type.</a:t>
            </a:r>
          </a:p>
          <a:p>
            <a:endParaRPr lang="en-IN" dirty="0"/>
          </a:p>
        </p:txBody>
      </p:sp>
    </p:spTree>
    <p:extLst>
      <p:ext uri="{BB962C8B-B14F-4D97-AF65-F5344CB8AC3E}">
        <p14:creationId xmlns:p14="http://schemas.microsoft.com/office/powerpoint/2010/main" val="541186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fontAlgn="base"/>
            <a:r>
              <a:rPr lang="en-US" b="1" dirty="0"/>
              <a:t>Embedded –</a:t>
            </a:r>
            <a:r>
              <a:rPr lang="en-US" dirty="0"/>
              <a:t> </a:t>
            </a:r>
            <a:r>
              <a:rPr lang="en-US" sz="2600" dirty="0"/>
              <a:t>A software project requiring the highest level of complexity, creativity, and experience requirement fall under this category. Such software requires a larger team size than the other two models and also the developers need to be sufficiently experienced and creative to develop such complex models.</a:t>
            </a:r>
          </a:p>
          <a:p>
            <a:pPr lvl="1" fontAlgn="base"/>
            <a:r>
              <a:rPr lang="en-US" sz="2600" dirty="0"/>
              <a:t>Basic COCOMO Model</a:t>
            </a:r>
          </a:p>
          <a:p>
            <a:pPr lvl="1" fontAlgn="base"/>
            <a:r>
              <a:rPr lang="en-US" sz="2600" dirty="0"/>
              <a:t>Intermediate COCOMO Model</a:t>
            </a:r>
          </a:p>
          <a:p>
            <a:pPr lvl="1" fontAlgn="base"/>
            <a:r>
              <a:rPr lang="en-US" sz="2600" dirty="0"/>
              <a:t>Detailed COCOMO Model</a:t>
            </a:r>
          </a:p>
          <a:p>
            <a:endParaRPr lang="en-IN" dirty="0"/>
          </a:p>
        </p:txBody>
      </p:sp>
    </p:spTree>
    <p:extLst>
      <p:ext uri="{BB962C8B-B14F-4D97-AF65-F5344CB8AC3E}">
        <p14:creationId xmlns:p14="http://schemas.microsoft.com/office/powerpoint/2010/main" val="37331366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47664" y="1052736"/>
            <a:ext cx="4819650" cy="36724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588763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The above formula is used for the cost estimation of for the basic COCOMO model, and also is used in the subsequent models. The constant values </a:t>
            </a:r>
            <a:r>
              <a:rPr lang="en-US" dirty="0" err="1"/>
              <a:t>a,b,c</a:t>
            </a:r>
            <a:r>
              <a:rPr lang="en-US" dirty="0"/>
              <a:t> and d for the Basic Model for the different categories of system:</a:t>
            </a:r>
          </a:p>
          <a:p>
            <a:endParaRPr lang="en-IN" dirty="0"/>
          </a:p>
        </p:txBody>
      </p:sp>
    </p:spTree>
    <p:extLst>
      <p:ext uri="{BB962C8B-B14F-4D97-AF65-F5344CB8AC3E}">
        <p14:creationId xmlns:p14="http://schemas.microsoft.com/office/powerpoint/2010/main" val="1996034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91680" y="1556792"/>
            <a:ext cx="5112568" cy="28803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837203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The effort is measured in Person-Months and as evident from the formula is dependent on Kilo-Lines of code. The development time is measured in months. These formulas are used as such in the Basic Model calculations, as not much consideration of different factors such as reliability, expertise is taken into account, henceforth the estimate is rough. Below is the C++ program for Basic COCOMO </a:t>
            </a:r>
          </a:p>
          <a:p>
            <a:endParaRPr lang="en-IN" dirty="0"/>
          </a:p>
        </p:txBody>
      </p:sp>
    </p:spTree>
    <p:extLst>
      <p:ext uri="{BB962C8B-B14F-4D97-AF65-F5344CB8AC3E}">
        <p14:creationId xmlns:p14="http://schemas.microsoft.com/office/powerpoint/2010/main" val="36397773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r>
              <a:rPr lang="en-US" dirty="0" smtClean="0"/>
              <a:t>Intermediate Model – The basic Cocomo model assumes that the effort is only a function of the number of lines of code and some constants evaluated according to the different software systems. However, in reality, no system’s effort and schedule can be solely calculated on the basis of Lines of Code. </a:t>
            </a:r>
          </a:p>
          <a:p>
            <a:r>
              <a:rPr lang="en-US" dirty="0" smtClean="0"/>
              <a:t>For that, various other factors such as reliability, experience, Capability. These factors are known as Cost Drivers and the Intermediate Model utilizes 15 such drivers for cost estimation. Classification of Cost Drivers and their attributes: </a:t>
            </a:r>
            <a:endParaRPr lang="en-IN" dirty="0"/>
          </a:p>
        </p:txBody>
      </p:sp>
    </p:spTree>
    <p:extLst>
      <p:ext uri="{BB962C8B-B14F-4D97-AF65-F5344CB8AC3E}">
        <p14:creationId xmlns:p14="http://schemas.microsoft.com/office/powerpoint/2010/main" val="18036178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r>
              <a:rPr lang="en-US" dirty="0" smtClean="0"/>
              <a:t>(</a:t>
            </a:r>
            <a:r>
              <a:rPr lang="en-US" dirty="0" err="1" smtClean="0"/>
              <a:t>i</a:t>
            </a:r>
            <a:r>
              <a:rPr lang="en-US" dirty="0" smtClean="0"/>
              <a:t>) Product attributes –</a:t>
            </a:r>
          </a:p>
          <a:p>
            <a:r>
              <a:rPr lang="en-US" dirty="0" smtClean="0"/>
              <a:t>Required software reliability extent</a:t>
            </a:r>
          </a:p>
          <a:p>
            <a:r>
              <a:rPr lang="en-US" dirty="0" smtClean="0"/>
              <a:t>Size of the application database</a:t>
            </a:r>
          </a:p>
          <a:p>
            <a:r>
              <a:rPr lang="en-US" dirty="0" smtClean="0"/>
              <a:t>The complexity of the product</a:t>
            </a:r>
          </a:p>
          <a:p>
            <a:r>
              <a:rPr lang="en-US" dirty="0" smtClean="0"/>
              <a:t>Run-time performance constraints</a:t>
            </a:r>
          </a:p>
          <a:p>
            <a:r>
              <a:rPr lang="en-US" dirty="0" smtClean="0"/>
              <a:t>Memory constraints</a:t>
            </a:r>
          </a:p>
          <a:p>
            <a:r>
              <a:rPr lang="en-US" dirty="0" smtClean="0"/>
              <a:t>The volatility of the virtual machine environment</a:t>
            </a:r>
          </a:p>
          <a:p>
            <a:r>
              <a:rPr lang="en-US" dirty="0" smtClean="0"/>
              <a:t>Required turnabout time</a:t>
            </a:r>
          </a:p>
          <a:p>
            <a:r>
              <a:rPr lang="en-US" dirty="0" smtClean="0"/>
              <a:t>Analyst capability</a:t>
            </a:r>
          </a:p>
          <a:p>
            <a:r>
              <a:rPr lang="en-US" dirty="0" smtClean="0"/>
              <a:t>Software engineering capability</a:t>
            </a:r>
          </a:p>
          <a:p>
            <a:r>
              <a:rPr lang="en-US" dirty="0" smtClean="0"/>
              <a:t>Applications experience</a:t>
            </a:r>
            <a:endParaRPr lang="en-IN" dirty="0"/>
          </a:p>
        </p:txBody>
      </p:sp>
    </p:spTree>
    <p:extLst>
      <p:ext uri="{BB962C8B-B14F-4D97-AF65-F5344CB8AC3E}">
        <p14:creationId xmlns:p14="http://schemas.microsoft.com/office/powerpoint/2010/main" val="35415466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Virtual machine experience</a:t>
            </a:r>
          </a:p>
          <a:p>
            <a:r>
              <a:rPr lang="en-US" dirty="0" smtClean="0"/>
              <a:t>Programming language experience</a:t>
            </a:r>
          </a:p>
          <a:p>
            <a:r>
              <a:rPr lang="en-US" dirty="0" smtClean="0"/>
              <a:t>Use of software tools</a:t>
            </a:r>
          </a:p>
          <a:p>
            <a:r>
              <a:rPr lang="en-US" dirty="0" smtClean="0"/>
              <a:t>Application of software engineering methods</a:t>
            </a:r>
          </a:p>
          <a:p>
            <a:r>
              <a:rPr lang="en-US" dirty="0" smtClean="0"/>
              <a:t>Required development schedule</a:t>
            </a:r>
            <a:endParaRPr lang="en-IN" dirty="0"/>
          </a:p>
        </p:txBody>
      </p:sp>
    </p:spTree>
    <p:extLst>
      <p:ext uri="{BB962C8B-B14F-4D97-AF65-F5344CB8AC3E}">
        <p14:creationId xmlns:p14="http://schemas.microsoft.com/office/powerpoint/2010/main" val="34081161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dirty="0" smtClean="0"/>
              <a:t>Detailed Model – Detailed COCOMO incorporates all characteristics of the intermediate version with an assessment of the cost driver’s impact on each step of the software engineering process. The detailed model uses different effort multipliers for each cost driver attribute. In detailed </a:t>
            </a:r>
            <a:r>
              <a:rPr lang="en-US" dirty="0" err="1" smtClean="0"/>
              <a:t>cocomo</a:t>
            </a:r>
            <a:r>
              <a:rPr lang="en-US" dirty="0" smtClean="0"/>
              <a:t>, the whole software is divided into different modules and then we apply COCOMO in different modules to estimate effort and then sum the effort. The Six phases of detailed COCOMO are:</a:t>
            </a:r>
            <a:endParaRPr lang="en-IN" dirty="0"/>
          </a:p>
        </p:txBody>
      </p:sp>
    </p:spTree>
    <p:extLst>
      <p:ext uri="{BB962C8B-B14F-4D97-AF65-F5344CB8AC3E}">
        <p14:creationId xmlns:p14="http://schemas.microsoft.com/office/powerpoint/2010/main" val="38486802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Planning and requirements</a:t>
            </a:r>
          </a:p>
          <a:p>
            <a:r>
              <a:rPr lang="en-US" dirty="0" smtClean="0"/>
              <a:t>System design</a:t>
            </a:r>
          </a:p>
          <a:p>
            <a:r>
              <a:rPr lang="en-US" dirty="0" smtClean="0"/>
              <a:t>Detailed design</a:t>
            </a:r>
          </a:p>
          <a:p>
            <a:r>
              <a:rPr lang="en-US" dirty="0" smtClean="0"/>
              <a:t>Module code and test</a:t>
            </a:r>
          </a:p>
          <a:p>
            <a:r>
              <a:rPr lang="en-US" dirty="0" smtClean="0"/>
              <a:t>Integration and test</a:t>
            </a:r>
          </a:p>
          <a:p>
            <a:r>
              <a:rPr lang="en-US" dirty="0" smtClean="0"/>
              <a:t>Cost Constructive model</a:t>
            </a:r>
            <a:endParaRPr lang="en-IN" dirty="0"/>
          </a:p>
        </p:txBody>
      </p:sp>
    </p:spTree>
    <p:extLst>
      <p:ext uri="{BB962C8B-B14F-4D97-AF65-F5344CB8AC3E}">
        <p14:creationId xmlns:p14="http://schemas.microsoft.com/office/powerpoint/2010/main" val="13630333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68760"/>
            <a:ext cx="8229600" cy="4857403"/>
          </a:xfrm>
        </p:spPr>
        <p:txBody>
          <a:bodyPr>
            <a:normAutofit fontScale="47500" lnSpcReduction="20000"/>
          </a:bodyPr>
          <a:lstStyle/>
          <a:p>
            <a:r>
              <a:rPr lang="en-IN" dirty="0" smtClean="0"/>
              <a:t>#include&lt;bits/</a:t>
            </a:r>
            <a:r>
              <a:rPr lang="en-IN" dirty="0" err="1" smtClean="0"/>
              <a:t>stdc</a:t>
            </a:r>
            <a:r>
              <a:rPr lang="en-IN" dirty="0" smtClean="0"/>
              <a:t>++.h&gt;</a:t>
            </a:r>
          </a:p>
          <a:p>
            <a:r>
              <a:rPr lang="en-IN" dirty="0" smtClean="0"/>
              <a:t>using namespace </a:t>
            </a:r>
            <a:r>
              <a:rPr lang="en-IN" dirty="0" err="1" smtClean="0"/>
              <a:t>std</a:t>
            </a:r>
            <a:r>
              <a:rPr lang="en-IN" dirty="0" smtClean="0"/>
              <a:t>;</a:t>
            </a:r>
          </a:p>
          <a:p>
            <a:r>
              <a:rPr lang="en-IN" dirty="0" smtClean="0"/>
              <a:t> </a:t>
            </a:r>
          </a:p>
          <a:p>
            <a:r>
              <a:rPr lang="en-IN" dirty="0" smtClean="0"/>
              <a:t>// Function for rounding off float to </a:t>
            </a:r>
            <a:r>
              <a:rPr lang="en-IN" dirty="0" err="1" smtClean="0"/>
              <a:t>int</a:t>
            </a:r>
            <a:endParaRPr lang="en-IN" dirty="0" smtClean="0"/>
          </a:p>
          <a:p>
            <a:r>
              <a:rPr lang="en-IN" dirty="0" err="1" smtClean="0"/>
              <a:t>int</a:t>
            </a:r>
            <a:r>
              <a:rPr lang="en-IN" dirty="0" smtClean="0"/>
              <a:t> </a:t>
            </a:r>
            <a:r>
              <a:rPr lang="en-IN" dirty="0" err="1" smtClean="0"/>
              <a:t>fround</a:t>
            </a:r>
            <a:r>
              <a:rPr lang="en-IN" dirty="0" smtClean="0"/>
              <a:t>(float x)</a:t>
            </a:r>
          </a:p>
          <a:p>
            <a:r>
              <a:rPr lang="en-IN" dirty="0" smtClean="0"/>
              <a:t>{</a:t>
            </a:r>
          </a:p>
          <a:p>
            <a:r>
              <a:rPr lang="en-IN" dirty="0" smtClean="0"/>
              <a:t>    </a:t>
            </a:r>
            <a:r>
              <a:rPr lang="en-IN" dirty="0" err="1" smtClean="0"/>
              <a:t>int</a:t>
            </a:r>
            <a:r>
              <a:rPr lang="en-IN" dirty="0" smtClean="0"/>
              <a:t> a;</a:t>
            </a:r>
          </a:p>
          <a:p>
            <a:r>
              <a:rPr lang="en-IN" dirty="0" smtClean="0"/>
              <a:t>    x=x+0.5;</a:t>
            </a:r>
          </a:p>
          <a:p>
            <a:r>
              <a:rPr lang="en-IN" dirty="0" smtClean="0"/>
              <a:t>    a=x;</a:t>
            </a:r>
          </a:p>
          <a:p>
            <a:r>
              <a:rPr lang="en-IN" dirty="0" smtClean="0"/>
              <a:t>    return(a);</a:t>
            </a:r>
          </a:p>
          <a:p>
            <a:r>
              <a:rPr lang="en-IN" dirty="0" smtClean="0"/>
              <a:t>}</a:t>
            </a:r>
          </a:p>
          <a:p>
            <a:r>
              <a:rPr lang="en-IN" dirty="0" smtClean="0"/>
              <a:t> </a:t>
            </a:r>
          </a:p>
          <a:p>
            <a:r>
              <a:rPr lang="en-IN" dirty="0" smtClean="0"/>
              <a:t>// Function to calculate parameters of Basic COCOMO</a:t>
            </a:r>
          </a:p>
          <a:p>
            <a:r>
              <a:rPr lang="en-IN" dirty="0" smtClean="0"/>
              <a:t>void calculate(float table[][4], </a:t>
            </a:r>
            <a:r>
              <a:rPr lang="en-IN" dirty="0" err="1" smtClean="0"/>
              <a:t>int</a:t>
            </a:r>
            <a:r>
              <a:rPr lang="en-IN" dirty="0" smtClean="0"/>
              <a:t> </a:t>
            </a:r>
            <a:r>
              <a:rPr lang="en-IN" dirty="0" err="1" smtClean="0"/>
              <a:t>n,char</a:t>
            </a:r>
            <a:r>
              <a:rPr lang="en-IN" dirty="0" smtClean="0"/>
              <a:t> mode[][15], </a:t>
            </a:r>
            <a:r>
              <a:rPr lang="en-IN" dirty="0" err="1" smtClean="0"/>
              <a:t>int</a:t>
            </a:r>
            <a:r>
              <a:rPr lang="en-IN" dirty="0" smtClean="0"/>
              <a:t> size)</a:t>
            </a:r>
          </a:p>
          <a:p>
            <a:r>
              <a:rPr lang="en-IN" dirty="0" smtClean="0"/>
              <a:t>{</a:t>
            </a:r>
          </a:p>
          <a:p>
            <a:r>
              <a:rPr lang="en-IN" dirty="0" smtClean="0"/>
              <a:t>    float </a:t>
            </a:r>
            <a:r>
              <a:rPr lang="en-IN" dirty="0" err="1" smtClean="0"/>
              <a:t>effort,time,staff</a:t>
            </a:r>
            <a:r>
              <a:rPr lang="en-IN" dirty="0" smtClean="0"/>
              <a:t>;</a:t>
            </a:r>
          </a:p>
          <a:p>
            <a:r>
              <a:rPr lang="en-IN" dirty="0" smtClean="0"/>
              <a:t> </a:t>
            </a:r>
          </a:p>
          <a:p>
            <a:r>
              <a:rPr lang="en-IN" dirty="0" smtClean="0"/>
              <a:t>    </a:t>
            </a:r>
            <a:r>
              <a:rPr lang="en-IN" dirty="0" err="1" smtClean="0"/>
              <a:t>int</a:t>
            </a:r>
            <a:r>
              <a:rPr lang="en-IN" dirty="0" smtClean="0"/>
              <a:t> model;</a:t>
            </a:r>
          </a:p>
          <a:p>
            <a:r>
              <a:rPr lang="en-IN" dirty="0" smtClean="0"/>
              <a:t> </a:t>
            </a:r>
            <a:endParaRPr lang="en-IN" dirty="0"/>
          </a:p>
        </p:txBody>
      </p:sp>
    </p:spTree>
    <p:extLst>
      <p:ext uri="{BB962C8B-B14F-4D97-AF65-F5344CB8AC3E}">
        <p14:creationId xmlns:p14="http://schemas.microsoft.com/office/powerpoint/2010/main" val="8954978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47500" lnSpcReduction="20000"/>
          </a:bodyPr>
          <a:lstStyle/>
          <a:p>
            <a:r>
              <a:rPr lang="en-US" dirty="0" smtClean="0"/>
              <a:t>Check the mode according to size</a:t>
            </a:r>
          </a:p>
          <a:p>
            <a:r>
              <a:rPr lang="en-US" dirty="0" smtClean="0"/>
              <a:t>     </a:t>
            </a:r>
          </a:p>
          <a:p>
            <a:r>
              <a:rPr lang="en-US" dirty="0" smtClean="0"/>
              <a:t>    if(size&gt;=2 &amp;&amp; size&lt;=50)</a:t>
            </a:r>
          </a:p>
          <a:p>
            <a:r>
              <a:rPr lang="en-US" dirty="0" smtClean="0"/>
              <a:t>        model=0;        //organic</a:t>
            </a:r>
          </a:p>
          <a:p>
            <a:r>
              <a:rPr lang="en-US" dirty="0" smtClean="0"/>
              <a:t>     </a:t>
            </a:r>
          </a:p>
          <a:p>
            <a:r>
              <a:rPr lang="en-US" dirty="0" smtClean="0"/>
              <a:t>    else if(size&gt;50 &amp;&amp; size&lt;=300)</a:t>
            </a:r>
          </a:p>
          <a:p>
            <a:r>
              <a:rPr lang="en-US" dirty="0" smtClean="0"/>
              <a:t>        model=1;        //semi-detached</a:t>
            </a:r>
          </a:p>
          <a:p>
            <a:r>
              <a:rPr lang="en-US" dirty="0" smtClean="0"/>
              <a:t>     </a:t>
            </a:r>
          </a:p>
          <a:p>
            <a:r>
              <a:rPr lang="en-US" dirty="0" smtClean="0"/>
              <a:t>    else if(size&gt;300)</a:t>
            </a:r>
          </a:p>
          <a:p>
            <a:r>
              <a:rPr lang="en-US" dirty="0" smtClean="0"/>
              <a:t>        model=2;        //embedded</a:t>
            </a:r>
          </a:p>
          <a:p>
            <a:r>
              <a:rPr lang="en-US" dirty="0" smtClean="0"/>
              <a:t> </a:t>
            </a:r>
          </a:p>
          <a:p>
            <a:r>
              <a:rPr lang="en-US" dirty="0" smtClean="0"/>
              <a:t>    </a:t>
            </a:r>
            <a:r>
              <a:rPr lang="en-US" dirty="0" err="1" smtClean="0"/>
              <a:t>cout</a:t>
            </a:r>
            <a:r>
              <a:rPr lang="en-US" dirty="0" smtClean="0"/>
              <a:t>&lt;&lt;"The mode is "&lt;&lt;mode[model];</a:t>
            </a:r>
          </a:p>
          <a:p>
            <a:r>
              <a:rPr lang="en-US" dirty="0" smtClean="0"/>
              <a:t> </a:t>
            </a:r>
          </a:p>
          <a:p>
            <a:r>
              <a:rPr lang="en-US" dirty="0" smtClean="0"/>
              <a:t>    // Calculate Effort</a:t>
            </a:r>
          </a:p>
          <a:p>
            <a:r>
              <a:rPr lang="en-US" dirty="0" smtClean="0"/>
              <a:t>    effort = table[model][0]*pow(</a:t>
            </a:r>
            <a:r>
              <a:rPr lang="en-US" dirty="0" err="1" smtClean="0"/>
              <a:t>size,table</a:t>
            </a:r>
            <a:r>
              <a:rPr lang="en-US" dirty="0" smtClean="0"/>
              <a:t>[model][1]);</a:t>
            </a:r>
          </a:p>
          <a:p>
            <a:r>
              <a:rPr lang="en-US" dirty="0" smtClean="0"/>
              <a:t> </a:t>
            </a:r>
          </a:p>
          <a:p>
            <a:r>
              <a:rPr lang="en-US" dirty="0" smtClean="0"/>
              <a:t>    // Calculate Time</a:t>
            </a:r>
          </a:p>
          <a:p>
            <a:r>
              <a:rPr lang="en-US" dirty="0" smtClean="0"/>
              <a:t>    time = table[model][2]*pow(</a:t>
            </a:r>
            <a:r>
              <a:rPr lang="en-US" dirty="0" err="1" smtClean="0"/>
              <a:t>effort,table</a:t>
            </a:r>
            <a:r>
              <a:rPr lang="en-US" dirty="0" smtClean="0"/>
              <a:t>[model][3]);</a:t>
            </a:r>
            <a:endParaRPr lang="en-IN" dirty="0"/>
          </a:p>
        </p:txBody>
      </p:sp>
    </p:spTree>
    <p:extLst>
      <p:ext uri="{BB962C8B-B14F-4D97-AF65-F5344CB8AC3E}">
        <p14:creationId xmlns:p14="http://schemas.microsoft.com/office/powerpoint/2010/main" val="28242638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62500" lnSpcReduction="20000"/>
          </a:bodyPr>
          <a:lstStyle/>
          <a:p>
            <a:pPr fontAlgn="base"/>
            <a:r>
              <a:rPr lang="en-US" dirty="0"/>
              <a:t>Calculate Time</a:t>
            </a:r>
          </a:p>
          <a:p>
            <a:pPr fontAlgn="base"/>
            <a:r>
              <a:rPr lang="en-US" dirty="0"/>
              <a:t>    time = table[model][2]*pow(</a:t>
            </a:r>
            <a:r>
              <a:rPr lang="en-US" dirty="0" err="1"/>
              <a:t>effort,table</a:t>
            </a:r>
            <a:r>
              <a:rPr lang="en-US" dirty="0"/>
              <a:t>[model][3]);</a:t>
            </a:r>
          </a:p>
          <a:p>
            <a:pPr fontAlgn="base"/>
            <a:r>
              <a:rPr lang="en-US" dirty="0"/>
              <a:t> </a:t>
            </a:r>
          </a:p>
          <a:p>
            <a:pPr fontAlgn="base"/>
            <a:r>
              <a:rPr lang="en-US" dirty="0"/>
              <a:t>    //Calculate Persons Required</a:t>
            </a:r>
          </a:p>
          <a:p>
            <a:pPr fontAlgn="base"/>
            <a:r>
              <a:rPr lang="en-US" dirty="0"/>
              <a:t>    staff = effort/time;</a:t>
            </a:r>
          </a:p>
          <a:p>
            <a:pPr fontAlgn="base"/>
            <a:r>
              <a:rPr lang="en-US" dirty="0"/>
              <a:t> </a:t>
            </a:r>
          </a:p>
          <a:p>
            <a:pPr fontAlgn="base"/>
            <a:r>
              <a:rPr lang="en-US" dirty="0"/>
              <a:t>    // Output the values calculated</a:t>
            </a:r>
          </a:p>
          <a:p>
            <a:pPr fontAlgn="base"/>
            <a:r>
              <a:rPr lang="en-US" dirty="0"/>
              <a:t>    </a:t>
            </a:r>
            <a:r>
              <a:rPr lang="en-US" dirty="0" err="1"/>
              <a:t>cout</a:t>
            </a:r>
            <a:r>
              <a:rPr lang="en-US" dirty="0"/>
              <a:t>&lt;&lt;"\</a:t>
            </a:r>
            <a:r>
              <a:rPr lang="en-US" dirty="0" err="1"/>
              <a:t>nEffort</a:t>
            </a:r>
            <a:r>
              <a:rPr lang="en-US" dirty="0"/>
              <a:t> = "&lt;&lt;effort&lt;&lt;" Person-Month";</a:t>
            </a:r>
          </a:p>
          <a:p>
            <a:pPr fontAlgn="base"/>
            <a:r>
              <a:rPr lang="en-US" dirty="0"/>
              <a:t> </a:t>
            </a:r>
          </a:p>
          <a:p>
            <a:pPr fontAlgn="base"/>
            <a:r>
              <a:rPr lang="en-US" dirty="0"/>
              <a:t>    </a:t>
            </a:r>
            <a:r>
              <a:rPr lang="en-US" dirty="0" err="1"/>
              <a:t>cout</a:t>
            </a:r>
            <a:r>
              <a:rPr lang="en-US" dirty="0"/>
              <a:t>&lt;&lt;"\</a:t>
            </a:r>
            <a:r>
              <a:rPr lang="en-US" dirty="0" err="1"/>
              <a:t>nDevelopment</a:t>
            </a:r>
            <a:r>
              <a:rPr lang="en-US" dirty="0"/>
              <a:t> Time = "&lt;&lt;time&lt;&lt;" Months";</a:t>
            </a:r>
          </a:p>
          <a:p>
            <a:pPr fontAlgn="base"/>
            <a:r>
              <a:rPr lang="en-US" dirty="0"/>
              <a:t> </a:t>
            </a:r>
          </a:p>
          <a:p>
            <a:pPr fontAlgn="base"/>
            <a:r>
              <a:rPr lang="en-US" dirty="0"/>
              <a:t>    </a:t>
            </a:r>
            <a:r>
              <a:rPr lang="en-US" dirty="0" err="1"/>
              <a:t>cout</a:t>
            </a:r>
            <a:r>
              <a:rPr lang="en-US" dirty="0"/>
              <a:t>&lt;&lt;"\</a:t>
            </a:r>
            <a:r>
              <a:rPr lang="en-US" dirty="0" err="1"/>
              <a:t>nAverage</a:t>
            </a:r>
            <a:r>
              <a:rPr lang="en-US" dirty="0"/>
              <a:t> Staff Required = "&lt;&lt;</a:t>
            </a:r>
            <a:r>
              <a:rPr lang="en-US" dirty="0" err="1"/>
              <a:t>fround</a:t>
            </a:r>
            <a:r>
              <a:rPr lang="en-US" dirty="0"/>
              <a:t>(staff)&lt;&lt;" Persons";</a:t>
            </a:r>
          </a:p>
          <a:p>
            <a:pPr fontAlgn="base"/>
            <a:r>
              <a:rPr lang="en-US" dirty="0"/>
              <a:t>     </a:t>
            </a:r>
          </a:p>
          <a:p>
            <a:pPr fontAlgn="base"/>
            <a:r>
              <a:rPr lang="en-US" dirty="0"/>
              <a:t>}</a:t>
            </a:r>
          </a:p>
          <a:p>
            <a:endParaRPr lang="en-IN" dirty="0"/>
          </a:p>
        </p:txBody>
      </p:sp>
    </p:spTree>
    <p:extLst>
      <p:ext uri="{BB962C8B-B14F-4D97-AF65-F5344CB8AC3E}">
        <p14:creationId xmlns:p14="http://schemas.microsoft.com/office/powerpoint/2010/main" val="42200406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pPr fontAlgn="base"/>
            <a:r>
              <a:rPr lang="en-IN" dirty="0" err="1"/>
              <a:t>int</a:t>
            </a:r>
            <a:r>
              <a:rPr lang="en-IN" dirty="0"/>
              <a:t> main()</a:t>
            </a:r>
          </a:p>
          <a:p>
            <a:pPr fontAlgn="base"/>
            <a:r>
              <a:rPr lang="en-IN" dirty="0"/>
              <a:t>{</a:t>
            </a:r>
          </a:p>
          <a:p>
            <a:pPr fontAlgn="base"/>
            <a:r>
              <a:rPr lang="en-IN" dirty="0"/>
              <a:t>    float table[3][4]={2.4,1.05,2.5,0.38,3.0,1.12,2.5,0.35,3.6,1.20,2.5,0.32};</a:t>
            </a:r>
          </a:p>
          <a:p>
            <a:pPr fontAlgn="base"/>
            <a:r>
              <a:rPr lang="en-IN" dirty="0"/>
              <a:t> </a:t>
            </a:r>
          </a:p>
          <a:p>
            <a:pPr fontAlgn="base"/>
            <a:r>
              <a:rPr lang="en-IN" dirty="0"/>
              <a:t>    char mode[][15]={"</a:t>
            </a:r>
            <a:r>
              <a:rPr lang="en-IN" dirty="0" err="1"/>
              <a:t>Organic","Semi-Detached","Embedded</a:t>
            </a:r>
            <a:r>
              <a:rPr lang="en-IN" dirty="0"/>
              <a:t>"};</a:t>
            </a:r>
          </a:p>
          <a:p>
            <a:pPr fontAlgn="base"/>
            <a:r>
              <a:rPr lang="en-IN" dirty="0"/>
              <a:t> </a:t>
            </a:r>
          </a:p>
          <a:p>
            <a:pPr fontAlgn="base"/>
            <a:r>
              <a:rPr lang="en-IN" dirty="0"/>
              <a:t>    </a:t>
            </a:r>
            <a:r>
              <a:rPr lang="en-IN" dirty="0" err="1"/>
              <a:t>int</a:t>
            </a:r>
            <a:r>
              <a:rPr lang="en-IN" dirty="0"/>
              <a:t> size = 4;</a:t>
            </a:r>
          </a:p>
          <a:p>
            <a:pPr fontAlgn="base"/>
            <a:r>
              <a:rPr lang="en-IN" dirty="0"/>
              <a:t> </a:t>
            </a:r>
          </a:p>
          <a:p>
            <a:pPr fontAlgn="base"/>
            <a:r>
              <a:rPr lang="en-IN" dirty="0"/>
              <a:t>    calculate(table,3,mode,size);</a:t>
            </a:r>
          </a:p>
          <a:p>
            <a:pPr fontAlgn="base"/>
            <a:r>
              <a:rPr lang="en-IN" dirty="0"/>
              <a:t>     </a:t>
            </a:r>
          </a:p>
          <a:p>
            <a:pPr fontAlgn="base"/>
            <a:r>
              <a:rPr lang="en-IN" dirty="0"/>
              <a:t>    return 0;</a:t>
            </a:r>
          </a:p>
          <a:p>
            <a:pPr fontAlgn="base"/>
            <a:r>
              <a:rPr lang="en-IN" dirty="0"/>
              <a:t>}</a:t>
            </a:r>
          </a:p>
          <a:p>
            <a:endParaRPr lang="en-IN" dirty="0"/>
          </a:p>
        </p:txBody>
      </p:sp>
    </p:spTree>
    <p:extLst>
      <p:ext uri="{BB962C8B-B14F-4D97-AF65-F5344CB8AC3E}">
        <p14:creationId xmlns:p14="http://schemas.microsoft.com/office/powerpoint/2010/main" val="4347652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The mode is Organic Effort = 10.289 Person-Month Development Time = 6.06237 Months Average Staff Required = 2 Persons</a:t>
            </a:r>
            <a:endParaRPr lang="en-IN" dirty="0"/>
          </a:p>
        </p:txBody>
      </p:sp>
      <p:sp>
        <p:nvSpPr>
          <p:cNvPr id="2" name="Rectangle 1"/>
          <p:cNvSpPr/>
          <p:nvPr/>
        </p:nvSpPr>
        <p:spPr>
          <a:xfrm>
            <a:off x="1475656" y="3740728"/>
            <a:ext cx="4572000" cy="646331"/>
          </a:xfrm>
          <a:prstGeom prst="rect">
            <a:avLst/>
          </a:prstGeom>
        </p:spPr>
        <p:txBody>
          <a:bodyPr>
            <a:spAutoFit/>
          </a:bodyPr>
          <a:lstStyle/>
          <a:p>
            <a:r>
              <a:rPr lang="en-IN" dirty="0" err="1" smtClean="0"/>
              <a:t>Ref:https</a:t>
            </a:r>
            <a:r>
              <a:rPr lang="en-IN" dirty="0"/>
              <a:t>://www.geeksforgeeks.org/software-engineering-cocomo-model/</a:t>
            </a:r>
          </a:p>
        </p:txBody>
      </p:sp>
    </p:spTree>
    <p:extLst>
      <p:ext uri="{BB962C8B-B14F-4D97-AF65-F5344CB8AC3E}">
        <p14:creationId xmlns:p14="http://schemas.microsoft.com/office/powerpoint/2010/main" val="6977489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TotalTime>
  <Words>560</Words>
  <Application>Microsoft Office PowerPoint</Application>
  <PresentationFormat>On-screen Show (4:3)</PresentationFormat>
  <Paragraphs>106</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  COCOMO MODEL  COCOMO (Constructive Cost Model) is a regression model based on LOC, i.e number of Lines of Code. It is a procedural cost estimate model for software projects and is often used as a process of reliably predicting the various parameters associated with making a project such as size, effort, cost, time, and quality.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Cocomo (Constructive Cost Model) is a regression model based on LOC, i.e number of Lines of Code. It is a procedural cost estimate model for software projects and is often used as a process of reliably predicting the various parameters associated with making a project such as size, effort, cost, time, and quality.</dc:title>
  <dc:creator>DELL</dc:creator>
  <cp:lastModifiedBy>DELL</cp:lastModifiedBy>
  <cp:revision>8</cp:revision>
  <dcterms:created xsi:type="dcterms:W3CDTF">2022-11-09T06:53:19Z</dcterms:created>
  <dcterms:modified xsi:type="dcterms:W3CDTF">2022-11-09T07:11:25Z</dcterms:modified>
</cp:coreProperties>
</file>