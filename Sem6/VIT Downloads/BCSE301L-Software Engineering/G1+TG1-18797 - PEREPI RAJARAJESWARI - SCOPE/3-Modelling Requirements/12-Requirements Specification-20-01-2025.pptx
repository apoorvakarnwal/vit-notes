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2" r:id="rId12"/>
    <p:sldId id="267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8FBC-CC29-4DAC-9F82-E8260058AE89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63E8-C14F-4EC3-A535-6F559AAAE1D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8FBC-CC29-4DAC-9F82-E8260058AE89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63E8-C14F-4EC3-A535-6F559AAAE1D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8FBC-CC29-4DAC-9F82-E8260058AE89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63E8-C14F-4EC3-A535-6F559AAAE1D6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8FBC-CC29-4DAC-9F82-E8260058AE89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63E8-C14F-4EC3-A535-6F559AAAE1D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8FBC-CC29-4DAC-9F82-E8260058AE89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63E8-C14F-4EC3-A535-6F559AAAE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8FBC-CC29-4DAC-9F82-E8260058AE89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63E8-C14F-4EC3-A535-6F559AAAE1D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8FBC-CC29-4DAC-9F82-E8260058AE89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63E8-C14F-4EC3-A535-6F559AAAE1D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8FBC-CC29-4DAC-9F82-E8260058AE89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63E8-C14F-4EC3-A535-6F559AAAE1D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8FBC-CC29-4DAC-9F82-E8260058AE89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63E8-C14F-4EC3-A535-6F559AAAE1D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8FBC-CC29-4DAC-9F82-E8260058AE89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63E8-C14F-4EC3-A535-6F559AAAE1D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8FBC-CC29-4DAC-9F82-E8260058AE89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63E8-C14F-4EC3-A535-6F559AAAE1D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5AB8FBC-CC29-4DAC-9F82-E8260058AE89}" type="datetimeFigureOut">
              <a:rPr lang="en-IN" smtClean="0"/>
              <a:t>17-08-2022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27563E8-C14F-4EC3-A535-6F559AAAE1D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7632848" cy="4608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92080" y="908720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Prof. Rajarajeswari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1394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Inception / Feasibility </a:t>
            </a:r>
          </a:p>
          <a:p>
            <a:r>
              <a:rPr lang="en-US" dirty="0" smtClean="0"/>
              <a:t>• Identify stakeholders </a:t>
            </a:r>
          </a:p>
          <a:p>
            <a:r>
              <a:rPr lang="en-US" dirty="0" smtClean="0"/>
              <a:t>• Recognize multiple points of view </a:t>
            </a:r>
          </a:p>
          <a:p>
            <a:r>
              <a:rPr lang="en-US" dirty="0" smtClean="0"/>
              <a:t>• Work toward collaboration 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The first questions </a:t>
            </a:r>
          </a:p>
          <a:p>
            <a:r>
              <a:rPr lang="en-US" dirty="0" smtClean="0"/>
              <a:t>Who is behind the request for this work? </a:t>
            </a:r>
          </a:p>
          <a:p>
            <a:r>
              <a:rPr lang="en-US" dirty="0" smtClean="0"/>
              <a:t>Who will use the solution? </a:t>
            </a:r>
          </a:p>
          <a:p>
            <a:r>
              <a:rPr lang="en-US" dirty="0" smtClean="0"/>
              <a:t>What will be the economic benefit of a successful solution </a:t>
            </a:r>
          </a:p>
          <a:p>
            <a:r>
              <a:rPr lang="en-US" dirty="0" smtClean="0"/>
              <a:t>Is there another source for the solution that you need</a:t>
            </a:r>
          </a:p>
        </p:txBody>
      </p:sp>
    </p:spTree>
    <p:extLst>
      <p:ext uri="{BB962C8B-B14F-4D97-AF65-F5344CB8AC3E}">
        <p14:creationId xmlns:p14="http://schemas.microsoft.com/office/powerpoint/2010/main" val="4110477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Feasibility studies </a:t>
            </a:r>
          </a:p>
          <a:p>
            <a:pPr marL="0" indent="0">
              <a:buNone/>
            </a:pPr>
            <a:r>
              <a:rPr lang="en-US" dirty="0"/>
              <a:t>• A feasibility study decides whether or not the proposed system is worthwhile </a:t>
            </a:r>
          </a:p>
          <a:p>
            <a:pPr marL="0" indent="0">
              <a:buNone/>
            </a:pPr>
            <a:r>
              <a:rPr lang="en-US" dirty="0"/>
              <a:t>• A short focused study that checks </a:t>
            </a:r>
          </a:p>
          <a:p>
            <a:r>
              <a:rPr lang="en-US" dirty="0" smtClean="0"/>
              <a:t>If </a:t>
            </a:r>
            <a:r>
              <a:rPr lang="en-US" dirty="0"/>
              <a:t>the system contributes to </a:t>
            </a:r>
            <a:r>
              <a:rPr lang="en-US" dirty="0" smtClean="0"/>
              <a:t>organizational </a:t>
            </a:r>
            <a:r>
              <a:rPr lang="en-US" dirty="0"/>
              <a:t>objectives </a:t>
            </a:r>
          </a:p>
          <a:p>
            <a:r>
              <a:rPr lang="en-US" dirty="0" smtClean="0"/>
              <a:t>If </a:t>
            </a:r>
            <a:r>
              <a:rPr lang="en-US" dirty="0"/>
              <a:t>the system can be engineered using current technology and within budget </a:t>
            </a:r>
          </a:p>
          <a:p>
            <a:r>
              <a:rPr lang="en-US" dirty="0" smtClean="0"/>
              <a:t> </a:t>
            </a:r>
            <a:r>
              <a:rPr lang="en-US" dirty="0"/>
              <a:t>If the system can be integrated with other systems that are used </a:t>
            </a:r>
          </a:p>
          <a:p>
            <a:r>
              <a:rPr lang="en-IN" dirty="0">
                <a:solidFill>
                  <a:srgbClr val="FF0000"/>
                </a:solidFill>
              </a:rPr>
              <a:t>Feasibility study Implementation </a:t>
            </a:r>
          </a:p>
          <a:p>
            <a:r>
              <a:rPr lang="en-US" dirty="0" smtClean="0"/>
              <a:t> </a:t>
            </a:r>
            <a:r>
              <a:rPr lang="en-US" dirty="0"/>
              <a:t>Based on information assessment (what is required), information collection and report writing </a:t>
            </a:r>
          </a:p>
          <a:p>
            <a:r>
              <a:rPr lang="en-US" dirty="0" smtClean="0"/>
              <a:t> </a:t>
            </a:r>
            <a:r>
              <a:rPr lang="en-US" dirty="0"/>
              <a:t>Questions for people in the </a:t>
            </a:r>
            <a:r>
              <a:rPr lang="en-US" dirty="0" smtClean="0"/>
              <a:t>organization </a:t>
            </a:r>
            <a:endParaRPr lang="en-US" dirty="0"/>
          </a:p>
          <a:p>
            <a:r>
              <a:rPr lang="en-US" dirty="0" smtClean="0"/>
              <a:t>What </a:t>
            </a:r>
            <a:r>
              <a:rPr lang="en-US" dirty="0"/>
              <a:t>if the system wasn’t implemented? </a:t>
            </a:r>
          </a:p>
          <a:p>
            <a:r>
              <a:rPr lang="en-US" dirty="0" smtClean="0"/>
              <a:t> </a:t>
            </a:r>
            <a:r>
              <a:rPr lang="en-US" dirty="0"/>
              <a:t>What are current process problems? </a:t>
            </a:r>
          </a:p>
          <a:p>
            <a:r>
              <a:rPr lang="en-US" dirty="0" smtClean="0"/>
              <a:t>How </a:t>
            </a:r>
            <a:r>
              <a:rPr lang="en-US" dirty="0"/>
              <a:t>will the proposed system help?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525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will be the integration problems? </a:t>
            </a:r>
          </a:p>
          <a:p>
            <a:r>
              <a:rPr lang="en-US" dirty="0" smtClean="0"/>
              <a:t>Is </a:t>
            </a:r>
            <a:r>
              <a:rPr lang="en-US" dirty="0"/>
              <a:t>new technology needed? What skills? </a:t>
            </a:r>
          </a:p>
          <a:p>
            <a:r>
              <a:rPr lang="en-US" dirty="0" smtClean="0"/>
              <a:t> </a:t>
            </a:r>
            <a:r>
              <a:rPr lang="en-US" dirty="0"/>
              <a:t>What facilities must be supported by the proposed system? </a:t>
            </a:r>
          </a:p>
          <a:p>
            <a:r>
              <a:rPr lang="en-IN" dirty="0"/>
              <a:t>Eliciting </a:t>
            </a:r>
          </a:p>
        </p:txBody>
      </p:sp>
    </p:spTree>
    <p:extLst>
      <p:ext uri="{BB962C8B-B14F-4D97-AF65-F5344CB8AC3E}">
        <p14:creationId xmlns:p14="http://schemas.microsoft.com/office/powerpoint/2010/main" val="267193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Eliciting Requirements </a:t>
            </a:r>
          </a:p>
          <a:p>
            <a:r>
              <a:rPr lang="en-US" dirty="0"/>
              <a:t>• Meetings are conducted and attended by both software engineers and customers </a:t>
            </a:r>
          </a:p>
          <a:p>
            <a:r>
              <a:rPr lang="en-US" dirty="0"/>
              <a:t>• Rules for preparation and participation are established </a:t>
            </a:r>
          </a:p>
          <a:p>
            <a:r>
              <a:rPr lang="en-IN" dirty="0"/>
              <a:t>• An agenda is suggested </a:t>
            </a:r>
          </a:p>
          <a:p>
            <a:r>
              <a:rPr lang="en-US" dirty="0"/>
              <a:t>• A "facilitator" (can be a customer, a developer, or an outsider) controls the meeting </a:t>
            </a:r>
          </a:p>
          <a:p>
            <a:r>
              <a:rPr lang="en-US" dirty="0"/>
              <a:t>• A "definition mechanism" (can be work sheets, flip charts, or wall stickers or an electronic bulletin board, chat room or virtual forum) is used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15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goal is </a:t>
            </a:r>
          </a:p>
          <a:p>
            <a:r>
              <a:rPr lang="en-IN" dirty="0" smtClean="0"/>
              <a:t>To </a:t>
            </a:r>
            <a:r>
              <a:rPr lang="en-IN" dirty="0"/>
              <a:t>identify the problem </a:t>
            </a:r>
          </a:p>
          <a:p>
            <a:r>
              <a:rPr lang="en-US" dirty="0" smtClean="0"/>
              <a:t> </a:t>
            </a:r>
            <a:r>
              <a:rPr lang="en-US" dirty="0"/>
              <a:t>Propose elements of the solution </a:t>
            </a:r>
          </a:p>
          <a:p>
            <a:r>
              <a:rPr lang="en-IN" dirty="0" smtClean="0"/>
              <a:t> </a:t>
            </a:r>
            <a:r>
              <a:rPr lang="en-IN" dirty="0"/>
              <a:t>Negotiate different approaches, and </a:t>
            </a:r>
          </a:p>
          <a:p>
            <a:r>
              <a:rPr lang="en-US" dirty="0" smtClean="0"/>
              <a:t> </a:t>
            </a:r>
            <a:r>
              <a:rPr lang="en-US" dirty="0"/>
              <a:t>Specify a preliminary set of solution requirements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8952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0"/>
            <a:ext cx="903649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1382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86" y="404664"/>
            <a:ext cx="7969427" cy="5721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174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Problems of Requirements Analysis </a:t>
            </a:r>
          </a:p>
          <a:p>
            <a:r>
              <a:rPr lang="en-US" dirty="0"/>
              <a:t>• Stakeholders don’t know what they really want. </a:t>
            </a:r>
          </a:p>
          <a:p>
            <a:r>
              <a:rPr lang="en-US" dirty="0"/>
              <a:t>• Stakeholders express requirements in their own terms. </a:t>
            </a:r>
          </a:p>
          <a:p>
            <a:r>
              <a:rPr lang="en-US" dirty="0"/>
              <a:t>• Different stakeholders may have conflicting requirements. </a:t>
            </a:r>
          </a:p>
          <a:p>
            <a:r>
              <a:rPr lang="en-US" dirty="0"/>
              <a:t>• </a:t>
            </a:r>
            <a:r>
              <a:rPr lang="en-US" dirty="0" smtClean="0"/>
              <a:t>Organizational </a:t>
            </a:r>
            <a:r>
              <a:rPr lang="en-US" dirty="0"/>
              <a:t>and political factors may influence the system requirements. </a:t>
            </a:r>
          </a:p>
          <a:p>
            <a:r>
              <a:rPr lang="en-US" dirty="0"/>
              <a:t>• The requirements change during the analysis process. New stakeholders may emerge and the business environment change. </a:t>
            </a:r>
          </a:p>
          <a:p>
            <a:endParaRPr lang="en-IN" dirty="0" smtClean="0"/>
          </a:p>
          <a:p>
            <a:r>
              <a:rPr lang="en-IN" dirty="0" smtClean="0"/>
              <a:t>Process </a:t>
            </a:r>
            <a:r>
              <a:rPr lang="en-IN" dirty="0"/>
              <a:t>Activities </a:t>
            </a:r>
          </a:p>
          <a:p>
            <a:r>
              <a:rPr lang="en-IN" dirty="0"/>
              <a:t>• Domain understanding </a:t>
            </a:r>
          </a:p>
          <a:p>
            <a:r>
              <a:rPr lang="en-IN" dirty="0"/>
              <a:t>• Requirements collection </a:t>
            </a:r>
          </a:p>
          <a:p>
            <a:r>
              <a:rPr lang="en-IN" dirty="0"/>
              <a:t>• Classification </a:t>
            </a:r>
          </a:p>
          <a:p>
            <a:r>
              <a:rPr lang="en-IN" dirty="0"/>
              <a:t>• Conflict resolution </a:t>
            </a:r>
          </a:p>
          <a:p>
            <a:r>
              <a:rPr lang="en-IN" dirty="0"/>
              <a:t>• Prioritisation </a:t>
            </a:r>
          </a:p>
          <a:p>
            <a:r>
              <a:rPr lang="en-IN" dirty="0"/>
              <a:t>• Requirements checking </a:t>
            </a:r>
          </a:p>
        </p:txBody>
      </p:sp>
    </p:spTree>
    <p:extLst>
      <p:ext uri="{BB962C8B-B14F-4D97-AF65-F5344CB8AC3E}">
        <p14:creationId xmlns:p14="http://schemas.microsoft.com/office/powerpoint/2010/main" val="1929960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Building the Analysis Model </a:t>
            </a:r>
          </a:p>
          <a:p>
            <a:pPr marL="0" indent="0">
              <a:buNone/>
            </a:pPr>
            <a:r>
              <a:rPr lang="en-US" dirty="0"/>
              <a:t>• Elements of the analysis model </a:t>
            </a:r>
          </a:p>
          <a:p>
            <a:r>
              <a:rPr lang="en-IN" i="1" dirty="0" smtClean="0"/>
              <a:t>Scenario-based </a:t>
            </a:r>
            <a:r>
              <a:rPr lang="en-IN" i="1" dirty="0"/>
              <a:t>elements 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• Functional—processing narratives for software functions </a:t>
            </a:r>
          </a:p>
          <a:p>
            <a:pPr marL="0" indent="0">
              <a:buNone/>
            </a:pPr>
            <a:r>
              <a:rPr lang="en-US" dirty="0"/>
              <a:t>• Use-case—descriptions of the interaction between an “actor” and the system </a:t>
            </a:r>
          </a:p>
          <a:p>
            <a:r>
              <a:rPr lang="en-IN" dirty="0" smtClean="0"/>
              <a:t> </a:t>
            </a:r>
            <a:r>
              <a:rPr lang="en-IN" i="1" dirty="0"/>
              <a:t>Class-based elements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• Implied by scenarios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3009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 err="1"/>
              <a:t>Behavioral</a:t>
            </a:r>
            <a:r>
              <a:rPr lang="en-IN" i="1" dirty="0"/>
              <a:t> elements </a:t>
            </a:r>
            <a:endParaRPr lang="en-IN" dirty="0"/>
          </a:p>
          <a:p>
            <a:r>
              <a:rPr lang="en-IN" dirty="0"/>
              <a:t>• State diagram </a:t>
            </a:r>
          </a:p>
          <a:p>
            <a:r>
              <a:rPr lang="en-IN" i="1" dirty="0" smtClean="0"/>
              <a:t>Flow-oriented </a:t>
            </a:r>
            <a:r>
              <a:rPr lang="en-IN" i="1" dirty="0"/>
              <a:t>elements </a:t>
            </a:r>
            <a:endParaRPr lang="en-IN" dirty="0"/>
          </a:p>
          <a:p>
            <a:r>
              <a:rPr lang="en-IN" dirty="0"/>
              <a:t>• Data flow diagram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675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r>
              <a:rPr lang="en-IN" dirty="0"/>
              <a:t>System Models </a:t>
            </a:r>
          </a:p>
          <a:p>
            <a:pPr marL="0" indent="0">
              <a:buNone/>
            </a:pPr>
            <a:r>
              <a:rPr lang="en-US" dirty="0"/>
              <a:t>• Different models may be produced during the requirements analysis activity </a:t>
            </a:r>
          </a:p>
          <a:p>
            <a:pPr marL="0" indent="0">
              <a:buNone/>
            </a:pPr>
            <a:r>
              <a:rPr lang="en-US" dirty="0"/>
              <a:t>• Requirements analysis may involve three structuring activities which result in these different models </a:t>
            </a:r>
          </a:p>
          <a:p>
            <a:r>
              <a:rPr lang="en-US" dirty="0" smtClean="0"/>
              <a:t>Partitioning</a:t>
            </a:r>
            <a:r>
              <a:rPr lang="en-US" dirty="0"/>
              <a:t>. Identifies the structural (part-of) relationships between entities </a:t>
            </a:r>
          </a:p>
          <a:p>
            <a:r>
              <a:rPr lang="en-IN" dirty="0" smtClean="0"/>
              <a:t> </a:t>
            </a:r>
            <a:r>
              <a:rPr lang="en-IN" dirty="0"/>
              <a:t>Abstraction. Identifies generalities among entities </a:t>
            </a:r>
          </a:p>
          <a:p>
            <a:r>
              <a:rPr lang="en-US" dirty="0" smtClean="0"/>
              <a:t> </a:t>
            </a:r>
            <a:r>
              <a:rPr lang="en-US" dirty="0"/>
              <a:t>Projection. Identifies different ways of looking at a problem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2589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Receivers of services </a:t>
            </a:r>
          </a:p>
          <a:p>
            <a:r>
              <a:rPr lang="en-US" dirty="0" smtClean="0"/>
              <a:t> </a:t>
            </a:r>
            <a:r>
              <a:rPr lang="en-US" dirty="0"/>
              <a:t>Viewpoints are external to the system and receive services from it. Most suited to interactive systems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2145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43</TotalTime>
  <Words>495</Words>
  <Application>Microsoft Office PowerPoint</Application>
  <PresentationFormat>On-screen Show (4:3)</PresentationFormat>
  <Paragraphs>71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</cp:revision>
  <dcterms:created xsi:type="dcterms:W3CDTF">2022-08-17T13:45:20Z</dcterms:created>
  <dcterms:modified xsi:type="dcterms:W3CDTF">2022-08-17T15:22:52Z</dcterms:modified>
</cp:coreProperties>
</file>