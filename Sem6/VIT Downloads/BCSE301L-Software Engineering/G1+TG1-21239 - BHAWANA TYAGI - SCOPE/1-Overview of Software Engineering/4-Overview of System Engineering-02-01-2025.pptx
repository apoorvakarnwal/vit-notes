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4" r:id="rId3"/>
    <p:sldId id="275" r:id="rId4"/>
    <p:sldId id="332" r:id="rId5"/>
    <p:sldId id="327" r:id="rId6"/>
    <p:sldId id="333" r:id="rId7"/>
    <p:sldId id="329" r:id="rId8"/>
    <p:sldId id="322" r:id="rId9"/>
    <p:sldId id="323" r:id="rId10"/>
    <p:sldId id="33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7"/>
    <p:restoredTop sz="94694"/>
  </p:normalViewPr>
  <p:slideViewPr>
    <p:cSldViewPr snapToGrid="0" snapToObjects="1">
      <p:cViewPr varScale="1">
        <p:scale>
          <a:sx n="80" d="100"/>
          <a:sy n="80" d="100"/>
        </p:scale>
        <p:origin x="192" y="10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F7500-61A6-1B46-BFE9-84A47FCBACF4}" type="datetimeFigureOut">
              <a:rPr lang="en-US" smtClean="0"/>
              <a:pPr/>
              <a:t>5/6/25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18564-EF0D-A042-BC27-1B3545FB17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585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3EE0B-1B05-7749-B899-6F74DDE1A0E0}" type="datetimeFigureOut">
              <a:rPr lang="en-US" smtClean="0"/>
              <a:pPr/>
              <a:t>5/6/25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F9A70-B2D4-284A-8EC0-58F351ADC0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9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F9A70-B2D4-284A-8EC0-58F351ADC03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2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9A5F52-F1A7-4B5E-8D1E-AEB9EE8AEC7F}" type="datetime1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D49139-5000-44DB-A6C8-6C99EDAD02EB}" type="datetime1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196489-0142-4FBC-98F7-D02070D7A15C}" type="datetime1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D734B8-FBB0-49BF-8141-C88053AE26F2}" type="datetime1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C3E57AC-50BE-4938-9C00-57FE4E2FD46C}" type="datetime1">
              <a:rPr lang="en-US" smtClean="0"/>
              <a:t>5/6/25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B71537-C63A-421E-BC2B-A8C2B7C17D2B}" type="datetime1">
              <a:rPr lang="en-US" smtClean="0"/>
              <a:t>5/6/25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17CD91-7F9F-4A58-9DFD-51C694205BE1}" type="datetime1">
              <a:rPr lang="en-US" smtClean="0"/>
              <a:t>5/6/25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16515C2-99FC-430F-A335-5DC7B7F40005}" type="datetime1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174513-9BF2-4D99-9F3B-E8AE8198F58B}" type="datetime1">
              <a:rPr lang="en-US" smtClean="0"/>
              <a:t>5/6/25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3E0BC7-E2B2-4452-B800-A828C5665B0C}" type="datetime1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1D199F-C059-4FBC-90B6-67B18F00DD6A}" type="datetime1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F0711B5-147A-4186-9BCD-449E3ECE30F9}" type="datetime1">
              <a:rPr lang="en-US" smtClean="0"/>
              <a:t>5/6/25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Chapter 19 Systems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86F8904-DFC0-E240-BFF8-1216C9CAE37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 ft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Systems Engineering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CF2F-79F2-48E6-B1BA-E872A09326DF}" type="datetime1">
              <a:rPr lang="en-US" smtClean="0"/>
              <a:t>5/6/25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Sociotechnical systems</a:t>
            </a:r>
          </a:p>
          <a:p>
            <a:r>
              <a:rPr lang="en-US" dirty="0"/>
              <a:t>Conceptual design</a:t>
            </a:r>
          </a:p>
          <a:p>
            <a:r>
              <a:rPr lang="en-US" dirty="0"/>
              <a:t>Systems procurement</a:t>
            </a:r>
          </a:p>
          <a:p>
            <a:r>
              <a:rPr lang="en-US" dirty="0"/>
              <a:t>System development</a:t>
            </a:r>
          </a:p>
          <a:p>
            <a:r>
              <a:rPr lang="en-US" dirty="0"/>
              <a:t>System operation and evolution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3F44C-A37B-4B11-BCA3-D2FC722F565E}" type="datetime1">
              <a:rPr lang="en-US" smtClean="0"/>
              <a:t>5/6/25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Software engineering </a:t>
            </a:r>
            <a:r>
              <a:rPr lang="en-US" dirty="0"/>
              <a:t>is not an isolated activity but </a:t>
            </a:r>
            <a:r>
              <a:rPr lang="en-US" b="1" dirty="0"/>
              <a:t>is part of a broader systems engineering process.</a:t>
            </a:r>
          </a:p>
          <a:p>
            <a:pPr algn="just"/>
            <a:r>
              <a:rPr lang="en-US" dirty="0"/>
              <a:t>Software systems are therefore not isolated systems but are </a:t>
            </a:r>
            <a:r>
              <a:rPr lang="en-US" b="1" dirty="0"/>
              <a:t>essential components </a:t>
            </a:r>
            <a:r>
              <a:rPr lang="en-US" dirty="0"/>
              <a:t>of broader systems that have a </a:t>
            </a:r>
            <a:r>
              <a:rPr lang="en-US" b="1" dirty="0"/>
              <a:t>human, social or organizational purpose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Example</a:t>
            </a:r>
          </a:p>
          <a:p>
            <a:pPr lvl="1" algn="just"/>
            <a:r>
              <a:rPr lang="en-US" dirty="0"/>
              <a:t>Wilderness weather system is part of broader weather recording and forecasting systems</a:t>
            </a:r>
          </a:p>
          <a:p>
            <a:pPr lvl="1" algn="just"/>
            <a:r>
              <a:rPr lang="en-US" dirty="0"/>
              <a:t>These include hardware and software, forecasting processes, system users, the organizations that depend on weather forecasts, 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F902F-40F1-484D-9F60-A82EEDFF3A75}" type="datetime1">
              <a:rPr lang="en-US" smtClean="0"/>
              <a:t>5/6/25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computer-based systems</a:t>
            </a:r>
          </a:p>
          <a:p>
            <a:pPr lvl="1"/>
            <a:r>
              <a:rPr lang="en-US" dirty="0"/>
              <a:t>Include hardware and software but not humans or organizational processes.</a:t>
            </a:r>
          </a:p>
          <a:p>
            <a:pPr lvl="1"/>
            <a:r>
              <a:rPr lang="en-US" dirty="0"/>
              <a:t>Off the shelf applications, control systems, etc.</a:t>
            </a:r>
          </a:p>
          <a:p>
            <a:r>
              <a:rPr lang="en-US" dirty="0"/>
              <a:t>Sociotechnical systems</a:t>
            </a:r>
          </a:p>
          <a:p>
            <a:pPr lvl="1"/>
            <a:r>
              <a:rPr lang="en-US" dirty="0"/>
              <a:t>Include technical systems plus people who use and manage these systems and the organizations that own the systems and set policies for their use.</a:t>
            </a:r>
          </a:p>
          <a:p>
            <a:pPr lvl="1"/>
            <a:r>
              <a:rPr lang="en-US" dirty="0"/>
              <a:t>Business systems, command and control systems, etc.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49F-923E-4CE7-9ED5-BB8027864664}" type="datetime1">
              <a:rPr lang="en-US" smtClean="0"/>
              <a:t>5/6/25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96855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Procuring, specifying, designing, implementing, validating, deploying and maintaining sociotechnical systems.</a:t>
            </a:r>
          </a:p>
          <a:p>
            <a:pPr algn="just"/>
            <a:r>
              <a:rPr lang="en-US" dirty="0"/>
              <a:t>Concerned with the services provided by the system, constraints on its construction and operation and the ways in which it is used to fulfil its purpose or purposes.</a:t>
            </a:r>
          </a:p>
          <a:p>
            <a:pPr algn="just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9BFC9-5D9F-484B-8155-3388C901A08E}" type="datetime1">
              <a:rPr lang="en-US" smtClean="0"/>
              <a:t>5/6/25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47111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and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is now the dominant element in all enterprise systems. Software engineers have to play a more active part in high-level systems decision making if the system software is to be dependable and developed on time and to budget.</a:t>
            </a:r>
          </a:p>
          <a:p>
            <a:r>
              <a:rPr lang="en-GB" dirty="0"/>
              <a:t>As a software engineer, it helps if you have a broader awareness of how software interacts with other hardware and software systems, and the human, social and organizational factors that affect the ways in which software is used. 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960D-BE50-460C-ACA5-70AACBAA1C4E}" type="datetime1">
              <a:rPr lang="en-US" smtClean="0"/>
              <a:t>5/6/25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55557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engineering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Conceptual design</a:t>
            </a:r>
          </a:p>
          <a:p>
            <a:pPr lvl="1"/>
            <a:r>
              <a:rPr lang="en-GB" dirty="0"/>
              <a:t>Sets out the purpose of the system, why it is needed and the high-level features that users might expect to see in the system </a:t>
            </a:r>
            <a:endParaRPr lang="en-US" dirty="0"/>
          </a:p>
          <a:p>
            <a:r>
              <a:rPr lang="en-US" dirty="0"/>
              <a:t>Procurement or acquisition</a:t>
            </a:r>
          </a:p>
          <a:p>
            <a:pPr lvl="1"/>
            <a:r>
              <a:rPr lang="en-GB" dirty="0"/>
              <a:t>The conceptual design is developed so that decisions about the contract for the system development can be made. </a:t>
            </a:r>
            <a:endParaRPr lang="en-US" dirty="0"/>
          </a:p>
          <a:p>
            <a:r>
              <a:rPr lang="en-US" dirty="0"/>
              <a:t>Development</a:t>
            </a:r>
          </a:p>
          <a:p>
            <a:pPr lvl="1"/>
            <a:r>
              <a:rPr lang="en-US" dirty="0"/>
              <a:t>Hardware and software is engineered and operational processes defined.</a:t>
            </a:r>
          </a:p>
          <a:p>
            <a:r>
              <a:rPr lang="en-US" dirty="0"/>
              <a:t>Operation</a:t>
            </a:r>
          </a:p>
          <a:p>
            <a:pPr lvl="1"/>
            <a:r>
              <a:rPr lang="en-US" dirty="0"/>
              <a:t>The system is deployed and used for its intended purpose.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51988-600C-42F3-8B2B-B9E4631D22CD}" type="datetime1">
              <a:rPr lang="en-US" smtClean="0"/>
              <a:t>5/6/25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51587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systems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19.1 Systems Eng Stage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05" y="1803398"/>
            <a:ext cx="7008305" cy="4405221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8D18-111F-439D-869B-00390EF90081}" type="datetime1">
              <a:rPr lang="en-US" smtClean="0"/>
              <a:t>5/6/25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12377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Professional disciplines involved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19.2 Disciplines Involved.eps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60" t="54711"/>
          <a:stretch/>
        </p:blipFill>
        <p:spPr>
          <a:xfrm>
            <a:off x="919078" y="1724526"/>
            <a:ext cx="7103091" cy="398379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F9BEB-15F5-463F-8F8C-29C1824EC950}" type="datetime1">
              <a:rPr lang="en-US" smtClean="0"/>
              <a:t>5/6/25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51558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Inter-disciplinary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Communication difficulties</a:t>
            </a:r>
          </a:p>
          <a:p>
            <a:pPr lvl="1"/>
            <a:r>
              <a:rPr lang="en-US" dirty="0"/>
              <a:t>Different disciplines use the same terminology to mean different things. This can lead to misunderstandings about what will be implemented.</a:t>
            </a:r>
          </a:p>
          <a:p>
            <a:r>
              <a:rPr lang="en-US" dirty="0"/>
              <a:t>Differing assumptions</a:t>
            </a:r>
          </a:p>
          <a:p>
            <a:pPr lvl="1"/>
            <a:r>
              <a:rPr lang="en-US" dirty="0"/>
              <a:t>Each discipline makes assumptions about what can and can’t be done by other disciplines. </a:t>
            </a:r>
          </a:p>
          <a:p>
            <a:r>
              <a:rPr lang="en-US" dirty="0"/>
              <a:t>Professional boundaries</a:t>
            </a:r>
          </a:p>
          <a:p>
            <a:pPr lvl="1"/>
            <a:r>
              <a:rPr lang="en-US" dirty="0"/>
              <a:t>Each discipline tries to protect their professional boundaries and expertise and this affects their judgments on the system.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8904-DFC0-E240-BFF8-1216C9CAE37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EFC-C2FE-405D-90A6-2DE9C2876D68}" type="datetime1">
              <a:rPr lang="en-US" smtClean="0"/>
              <a:t>5/6/25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34588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1501</TotalTime>
  <Words>459</Words>
  <Application>Microsoft Macintosh PowerPoint</Application>
  <PresentationFormat>On-screen Show (4:3)</PresentationFormat>
  <Paragraphs>65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SE10 slides</vt:lpstr>
      <vt:lpstr>Systems Engineering</vt:lpstr>
      <vt:lpstr>Topics covered</vt:lpstr>
      <vt:lpstr>Systems</vt:lpstr>
      <vt:lpstr>Types of system</vt:lpstr>
      <vt:lpstr>Systems engineering</vt:lpstr>
      <vt:lpstr>Systems and software engineering</vt:lpstr>
      <vt:lpstr>Systems engineering stages</vt:lpstr>
      <vt:lpstr>Stages of systems engineering</vt:lpstr>
      <vt:lpstr>Professional disciplines involved</vt:lpstr>
      <vt:lpstr>Inter-disciplinary working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10</dc:title>
  <dc:creator>Ian Sommerville</dc:creator>
  <cp:lastModifiedBy>Apoorva Karnwal</cp:lastModifiedBy>
  <cp:revision>31</cp:revision>
  <dcterms:created xsi:type="dcterms:W3CDTF">2009-12-28T09:42:28Z</dcterms:created>
  <dcterms:modified xsi:type="dcterms:W3CDTF">2025-05-06T18:52:57Z</dcterms:modified>
</cp:coreProperties>
</file>