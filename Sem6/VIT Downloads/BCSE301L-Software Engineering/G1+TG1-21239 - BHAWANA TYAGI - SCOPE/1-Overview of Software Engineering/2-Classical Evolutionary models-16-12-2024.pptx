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6"/>
  </p:notesMasterIdLst>
  <p:handoutMasterIdLst>
    <p:handoutMasterId r:id="rId37"/>
  </p:handoutMasterIdLst>
  <p:sldIdLst>
    <p:sldId id="256" r:id="rId2"/>
    <p:sldId id="281" r:id="rId3"/>
    <p:sldId id="318" r:id="rId4"/>
    <p:sldId id="319" r:id="rId5"/>
    <p:sldId id="347" r:id="rId6"/>
    <p:sldId id="257" r:id="rId7"/>
    <p:sldId id="334" r:id="rId8"/>
    <p:sldId id="335" r:id="rId9"/>
    <p:sldId id="284" r:id="rId10"/>
    <p:sldId id="333" r:id="rId11"/>
    <p:sldId id="336" r:id="rId12"/>
    <p:sldId id="258" r:id="rId13"/>
    <p:sldId id="337" r:id="rId14"/>
    <p:sldId id="288" r:id="rId15"/>
    <p:sldId id="320" r:id="rId16"/>
    <p:sldId id="338" r:id="rId17"/>
    <p:sldId id="339" r:id="rId18"/>
    <p:sldId id="359" r:id="rId19"/>
    <p:sldId id="340" r:id="rId20"/>
    <p:sldId id="354" r:id="rId21"/>
    <p:sldId id="355" r:id="rId22"/>
    <p:sldId id="356" r:id="rId23"/>
    <p:sldId id="353" r:id="rId24"/>
    <p:sldId id="342" r:id="rId25"/>
    <p:sldId id="343" r:id="rId26"/>
    <p:sldId id="344" r:id="rId27"/>
    <p:sldId id="345" r:id="rId28"/>
    <p:sldId id="346" r:id="rId29"/>
    <p:sldId id="357" r:id="rId30"/>
    <p:sldId id="348" r:id="rId31"/>
    <p:sldId id="349" r:id="rId32"/>
    <p:sldId id="350" r:id="rId33"/>
    <p:sldId id="351" r:id="rId34"/>
    <p:sldId id="352" r:id="rId35"/>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33"/>
    <p:restoredTop sz="94694"/>
  </p:normalViewPr>
  <p:slideViewPr>
    <p:cSldViewPr snapToGrid="0" snapToObjects="1">
      <p:cViewPr varScale="1">
        <p:scale>
          <a:sx n="121" d="100"/>
          <a:sy n="121" d="100"/>
        </p:scale>
        <p:origin x="296"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2/2/25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extLst>
      <p:ext uri="{BB962C8B-B14F-4D97-AF65-F5344CB8AC3E}">
        <p14:creationId xmlns:p14="http://schemas.microsoft.com/office/powerpoint/2010/main" val="25933657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2/2/25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extLst>
      <p:ext uri="{BB962C8B-B14F-4D97-AF65-F5344CB8AC3E}">
        <p14:creationId xmlns:p14="http://schemas.microsoft.com/office/powerpoint/2010/main" val="319577209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458236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E2ED9B9-13A4-504E-BA28-D5EC11B69577}" type="datetime1">
              <a:rPr lang="en-US" smtClean="0"/>
              <a:pPr>
                <a:defRPr/>
              </a:pPr>
              <a:t>2/2/25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13CAA7-61A2-AE4A-B3AF-B36050DDC1C8}" type="datetime1">
              <a:rPr lang="en-US" smtClean="0"/>
              <a:pPr>
                <a:defRPr/>
              </a:pPr>
              <a:t>2/2/25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1C0BC32D-B13B-FA42-98CD-639D607FC5AE}" type="datetime1">
              <a:rPr lang="en-US" smtClean="0"/>
              <a:pPr>
                <a:defRPr/>
              </a:pPr>
              <a:t>2/2/25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56149FAA-3521-694C-B63B-919B2B8781F3}" type="datetime1">
              <a:rPr lang="en-US" smtClean="0"/>
              <a:pPr>
                <a:defRPr/>
              </a:pPr>
              <a:t>2/2/25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F78921CD-4407-0C4A-86B7-1EEE2D511458}" type="datetime1">
              <a:rPr lang="en-US" smtClean="0"/>
              <a:pPr>
                <a:defRPr/>
              </a:pPr>
              <a:t>2/2/25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6DEA550-1159-5E4A-897B-E65014FF13B6}" type="datetime1">
              <a:rPr lang="en-US" smtClean="0"/>
              <a:pPr>
                <a:defRPr/>
              </a:pPr>
              <a:t>2/2/25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E6F8E3-2B7A-F841-82BB-4253B616347C}" type="datetime1">
              <a:rPr lang="en-US" smtClean="0"/>
              <a:pPr>
                <a:defRPr/>
              </a:pPr>
              <a:t>2/2/25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410F7B03-D8CA-6D41-96B4-1E8B85FC4F7B}" type="datetime1">
              <a:rPr lang="en-US" smtClean="0"/>
              <a:pPr>
                <a:defRPr/>
              </a:pPr>
              <a:t>2/2/25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D746E079-CCB4-B24C-A6D5-8C3056BBF23F}" type="datetime1">
              <a:rPr lang="en-US" smtClean="0"/>
              <a:pPr>
                <a:defRPr/>
              </a:pPr>
              <a:t>2/2/25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CD4142DB-E1BD-C44A-A99A-8EC750C7CC29}" type="datetime1">
              <a:rPr lang="en-US" smtClean="0"/>
              <a:pPr>
                <a:defRPr/>
              </a:pPr>
              <a:t>2/2/25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AF152160-CF35-F945-B8A3-FCCE1C768C40}" type="datetime1">
              <a:rPr lang="en-US" smtClean="0"/>
              <a:pPr>
                <a:defRPr/>
              </a:pPr>
              <a:t>2/2/25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22E93307-8910-7843-A7DC-135F5F13F75F}" type="datetime1">
              <a:rPr lang="en-US" smtClean="0"/>
              <a:pPr>
                <a:defRPr/>
              </a:pPr>
              <a:t>2/2/25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2 Software Processes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algn="ctr" eaLnBrk="1" hangingPunct="1"/>
            <a:r>
              <a:rPr lang="en-US" dirty="0"/>
              <a:t>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t>The software process</a:t>
            </a:r>
            <a:endParaRPr lang="en-GB" dirty="0"/>
          </a:p>
        </p:txBody>
      </p:sp>
      <p:sp>
        <p:nvSpPr>
          <p:cNvPr id="17411" name="Rectangle 3"/>
          <p:cNvSpPr>
            <a:spLocks noGrp="1" noChangeArrowheads="1"/>
          </p:cNvSpPr>
          <p:nvPr>
            <p:ph type="body" idx="1"/>
          </p:nvPr>
        </p:nvSpPr>
        <p:spPr/>
        <p:txBody>
          <a:bodyPr/>
          <a:lstStyle/>
          <a:p>
            <a:pPr algn="just"/>
            <a:r>
              <a:rPr lang="en-GB" dirty="0"/>
              <a:t>A structured set of activities required to develop a </a:t>
            </a:r>
            <a:br>
              <a:rPr lang="en-GB" dirty="0"/>
            </a:br>
            <a:r>
              <a:rPr lang="en-GB" dirty="0"/>
              <a:t>software system. </a:t>
            </a:r>
          </a:p>
          <a:p>
            <a:pPr algn="just"/>
            <a:r>
              <a:rPr lang="en-GB" dirty="0"/>
              <a:t>Many different software processes but all involve:</a:t>
            </a:r>
          </a:p>
          <a:p>
            <a:pPr lvl="1" algn="just"/>
            <a:r>
              <a:rPr lang="en-GB" dirty="0"/>
              <a:t>Specification – defining what the system should do;</a:t>
            </a:r>
          </a:p>
          <a:p>
            <a:pPr lvl="1" algn="just"/>
            <a:r>
              <a:rPr lang="en-GB" dirty="0"/>
              <a:t>Design and implementation – defining the organization of the system and implementing the system;</a:t>
            </a:r>
          </a:p>
          <a:p>
            <a:pPr lvl="1" algn="just"/>
            <a:r>
              <a:rPr lang="en-GB" dirty="0"/>
              <a:t>Validation – checking that it does what the customer wants;</a:t>
            </a:r>
          </a:p>
          <a:p>
            <a:pPr lvl="1" algn="just"/>
            <a:r>
              <a:rPr lang="en-GB" dirty="0"/>
              <a:t>Evolution – changing the system in response to changing customer needs.</a:t>
            </a:r>
          </a:p>
          <a:p>
            <a:pPr algn="just"/>
            <a:r>
              <a:rPr lang="en-GB" b="1" dirty="0"/>
              <a:t>A software process model is an abstract representation of a process</a:t>
            </a:r>
            <a:r>
              <a:rPr lang="en-GB" dirty="0"/>
              <a:t>. It presents a description of a process from some particular perspective.</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Software process descriptions</a:t>
            </a:r>
            <a:endParaRPr lang="en-US" dirty="0"/>
          </a:p>
        </p:txBody>
      </p:sp>
      <p:sp>
        <p:nvSpPr>
          <p:cNvPr id="3" name="Content Placeholder 2"/>
          <p:cNvSpPr>
            <a:spLocks noGrp="1"/>
          </p:cNvSpPr>
          <p:nvPr>
            <p:ph idx="1"/>
          </p:nvPr>
        </p:nvSpPr>
        <p:spPr/>
        <p:txBody>
          <a:bodyPr/>
          <a:lstStyle/>
          <a:p>
            <a:pPr algn="just"/>
            <a:r>
              <a:rPr lang="en-GB" dirty="0"/>
              <a:t>When we describe and discuss processes, we usually talk about the activities in these processes such as </a:t>
            </a:r>
            <a:r>
              <a:rPr lang="en-GB" b="1" dirty="0"/>
              <a:t>specifying a data model,</a:t>
            </a:r>
            <a:r>
              <a:rPr lang="en-GB" dirty="0"/>
              <a:t> </a:t>
            </a:r>
            <a:r>
              <a:rPr lang="en-GB" b="1" dirty="0"/>
              <a:t>designing a user interface</a:t>
            </a:r>
            <a:r>
              <a:rPr lang="en-GB" dirty="0"/>
              <a:t>, etc. and the ordering of these activities.</a:t>
            </a:r>
          </a:p>
          <a:p>
            <a:pPr algn="just"/>
            <a:r>
              <a:rPr lang="en-GB" dirty="0"/>
              <a:t>Process descriptions may also include:</a:t>
            </a:r>
          </a:p>
          <a:p>
            <a:pPr lvl="1" algn="just"/>
            <a:r>
              <a:rPr lang="en-GB" dirty="0"/>
              <a:t>Products, which are </a:t>
            </a:r>
            <a:r>
              <a:rPr lang="en-GB" b="1" dirty="0"/>
              <a:t>the outcomes of a process activity</a:t>
            </a:r>
            <a:r>
              <a:rPr lang="en-GB" dirty="0"/>
              <a:t>; </a:t>
            </a:r>
          </a:p>
          <a:p>
            <a:pPr lvl="1" algn="just"/>
            <a:r>
              <a:rPr lang="en-GB" b="1" dirty="0"/>
              <a:t>Roles</a:t>
            </a:r>
            <a:r>
              <a:rPr lang="en-GB" dirty="0"/>
              <a:t>, which reflect the responsibilities of the people involved in the process;</a:t>
            </a:r>
          </a:p>
          <a:p>
            <a:pPr lvl="1" algn="just"/>
            <a:r>
              <a:rPr lang="en-GB" b="1" dirty="0"/>
              <a:t>Pre- and post-conditions</a:t>
            </a:r>
            <a:r>
              <a:rPr lang="en-GB" dirty="0"/>
              <a:t>, which are statements that are true before and after a process activity has been enacted or a product produced.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processes</a:t>
            </a:r>
          </a:p>
        </p:txBody>
      </p:sp>
      <p:sp>
        <p:nvSpPr>
          <p:cNvPr id="3" name="Content Placeholder 2"/>
          <p:cNvSpPr>
            <a:spLocks noGrp="1"/>
          </p:cNvSpPr>
          <p:nvPr>
            <p:ph idx="1"/>
          </p:nvPr>
        </p:nvSpPr>
        <p:spPr/>
        <p:txBody>
          <a:bodyPr/>
          <a:lstStyle/>
          <a:p>
            <a:pPr algn="just"/>
            <a:r>
              <a:rPr lang="en-GB" b="1" dirty="0">
                <a:highlight>
                  <a:srgbClr val="FFFF00"/>
                </a:highlight>
              </a:rPr>
              <a:t>Plan-driven processes </a:t>
            </a:r>
            <a:r>
              <a:rPr lang="en-GB" dirty="0">
                <a:highlight>
                  <a:srgbClr val="FFFF00"/>
                </a:highlight>
              </a:rPr>
              <a:t>are processes where all of the </a:t>
            </a:r>
            <a:r>
              <a:rPr lang="en-GB" b="1" dirty="0">
                <a:highlight>
                  <a:srgbClr val="FFFF00"/>
                </a:highlight>
              </a:rPr>
              <a:t>process activities are planned in advance</a:t>
            </a:r>
            <a:r>
              <a:rPr lang="en-GB" dirty="0">
                <a:highlight>
                  <a:srgbClr val="FFFF00"/>
                </a:highlight>
              </a:rPr>
              <a:t> and progress is measured against this plan. </a:t>
            </a:r>
          </a:p>
          <a:p>
            <a:pPr algn="just"/>
            <a:r>
              <a:rPr lang="en-GB" dirty="0">
                <a:highlight>
                  <a:srgbClr val="FFFF00"/>
                </a:highlight>
              </a:rPr>
              <a:t>In </a:t>
            </a:r>
            <a:r>
              <a:rPr lang="en-GB" b="1" dirty="0">
                <a:highlight>
                  <a:srgbClr val="FFFF00"/>
                </a:highlight>
              </a:rPr>
              <a:t>agile processes</a:t>
            </a:r>
            <a:r>
              <a:rPr lang="en-GB" dirty="0">
                <a:highlight>
                  <a:srgbClr val="FFFF00"/>
                </a:highlight>
              </a:rPr>
              <a:t>, planning is incremental and it is easier to change the process to reflect changing customer requirements. </a:t>
            </a:r>
          </a:p>
          <a:p>
            <a:pPr algn="just"/>
            <a:r>
              <a:rPr lang="en-GB" b="1" dirty="0"/>
              <a:t>In practice, most practical processes include elements of both plan-driven and agile approaches. </a:t>
            </a:r>
          </a:p>
          <a:p>
            <a:pPr algn="just"/>
            <a:r>
              <a:rPr lang="en-GB" dirty="0"/>
              <a:t>There are no right or wrong software processes.</a:t>
            </a:r>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30198" y="2848155"/>
            <a:ext cx="7293232" cy="1143000"/>
          </a:xfrm>
        </p:spPr>
        <p:txBody>
          <a:bodyPr/>
          <a:lstStyle/>
          <a:p>
            <a:r>
              <a:rPr lang="en-US" sz="7200" dirty="0"/>
              <a:t>Process Models</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spTree>
    <p:extLst>
      <p:ext uri="{BB962C8B-B14F-4D97-AF65-F5344CB8AC3E}">
        <p14:creationId xmlns:p14="http://schemas.microsoft.com/office/powerpoint/2010/main" val="3376821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dirty="0"/>
              <a:t>The waterfall model</a:t>
            </a:r>
            <a:br>
              <a:rPr lang="en-GB" dirty="0"/>
            </a:br>
            <a:endParaRPr lang="en-US" dirty="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pic>
        <p:nvPicPr>
          <p:cNvPr id="2" name="Picture 1"/>
          <p:cNvPicPr>
            <a:picLocks noChangeAspect="1"/>
          </p:cNvPicPr>
          <p:nvPr/>
        </p:nvPicPr>
        <p:blipFill>
          <a:blip r:embed="rId2"/>
          <a:stretch>
            <a:fillRect/>
          </a:stretch>
        </p:blipFill>
        <p:spPr>
          <a:xfrm>
            <a:off x="848412" y="1787410"/>
            <a:ext cx="8015483" cy="44220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stages of the waterfall model</a:t>
            </a:r>
          </a:p>
        </p:txBody>
      </p:sp>
      <p:sp>
        <p:nvSpPr>
          <p:cNvPr id="3" name="Content Placeholder 2"/>
          <p:cNvSpPr>
            <a:spLocks noGrp="1"/>
          </p:cNvSpPr>
          <p:nvPr>
            <p:ph idx="1"/>
          </p:nvPr>
        </p:nvSpPr>
        <p:spPr>
          <a:xfrm>
            <a:off x="457200" y="1600200"/>
            <a:ext cx="8229600" cy="4932575"/>
          </a:xfrm>
        </p:spPr>
        <p:txBody>
          <a:bodyPr/>
          <a:lstStyle/>
          <a:p>
            <a:pPr algn="just"/>
            <a:r>
              <a:rPr lang="en-US" sz="2100" dirty="0"/>
              <a:t>1. </a:t>
            </a:r>
            <a:r>
              <a:rPr lang="en-US" sz="2100" b="1" dirty="0"/>
              <a:t>Requirements analysis and definition: </a:t>
            </a:r>
            <a:r>
              <a:rPr lang="en-US" sz="2100" dirty="0"/>
              <a:t>The system’s services, constraints, and goals are established by consultation with system users. They are then defined in detail and serve as a system specification. </a:t>
            </a:r>
          </a:p>
          <a:p>
            <a:pPr algn="just"/>
            <a:r>
              <a:rPr lang="en-US" sz="2100" dirty="0"/>
              <a:t>2. </a:t>
            </a:r>
            <a:r>
              <a:rPr lang="en-US" sz="2100" b="1" dirty="0"/>
              <a:t>System and software design: </a:t>
            </a:r>
            <a:r>
              <a:rPr lang="en-US" sz="2100" dirty="0"/>
              <a:t>The systems design process allocates the requirements to either hardware or software systems. </a:t>
            </a:r>
            <a:r>
              <a:rPr lang="en-US" sz="2100" b="1" dirty="0"/>
              <a:t>It establishes an overall system architecture. </a:t>
            </a:r>
            <a:r>
              <a:rPr lang="en-US" sz="2100" dirty="0"/>
              <a:t>Software design involves identifying and describing the fundamental software system abstractions and their relationships. </a:t>
            </a:r>
          </a:p>
          <a:p>
            <a:pPr algn="just"/>
            <a:r>
              <a:rPr lang="en-US" sz="2100" dirty="0"/>
              <a:t>3. </a:t>
            </a:r>
            <a:r>
              <a:rPr lang="en-US" sz="2100" b="1" dirty="0"/>
              <a:t>Implementation and unit testing: </a:t>
            </a:r>
            <a:r>
              <a:rPr lang="en-US" sz="2100" dirty="0"/>
              <a:t>During this stage, the software design is realized as a set of programs or program units. </a:t>
            </a:r>
            <a:r>
              <a:rPr lang="en-US" sz="2100" b="1" dirty="0"/>
              <a:t>Unit testing </a:t>
            </a:r>
            <a:r>
              <a:rPr lang="en-US" sz="2100" dirty="0"/>
              <a:t>involves verifying that each unit meets its specification. </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7</a:t>
            </a:fld>
            <a:endParaRPr lang="en-US"/>
          </a:p>
        </p:txBody>
      </p:sp>
    </p:spTree>
    <p:extLst>
      <p:ext uri="{BB962C8B-B14F-4D97-AF65-F5344CB8AC3E}">
        <p14:creationId xmlns:p14="http://schemas.microsoft.com/office/powerpoint/2010/main" val="2526872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a:t>4. Integration and system testing: </a:t>
            </a:r>
            <a:r>
              <a:rPr lang="en-US" dirty="0"/>
              <a:t>The individual program units or programs are integrated and tested as a complete system to ensure that the software requirements have been met. After testing, the software system is delivered to the customer. </a:t>
            </a:r>
          </a:p>
          <a:p>
            <a:pPr algn="just"/>
            <a:r>
              <a:rPr lang="en-US" b="1" dirty="0"/>
              <a:t>5. Operation and maintenance: </a:t>
            </a:r>
            <a:r>
              <a:rPr lang="en-US" dirty="0"/>
              <a:t>Normally, this is the </a:t>
            </a:r>
            <a:r>
              <a:rPr lang="en-US" b="1" dirty="0"/>
              <a:t>longest life-cycle phase</a:t>
            </a:r>
            <a:r>
              <a:rPr lang="en-US" dirty="0"/>
              <a:t>. The system is installed and put into practical use. Maintenance involves correcting errors that were not discovered in earlier stages of the life cycle, improving the implementation of system units, and enhancing the system’s services as new requirements are discovered.</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8</a:t>
            </a:fld>
            <a:endParaRPr lang="en-US"/>
          </a:p>
        </p:txBody>
      </p:sp>
    </p:spTree>
    <p:extLst>
      <p:ext uri="{BB962C8B-B14F-4D97-AF65-F5344CB8AC3E}">
        <p14:creationId xmlns:p14="http://schemas.microsoft.com/office/powerpoint/2010/main" val="1329825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a:t>Waterfall model phases</a:t>
            </a:r>
          </a:p>
        </p:txBody>
      </p:sp>
      <p:sp>
        <p:nvSpPr>
          <p:cNvPr id="29699" name="Rectangle 3"/>
          <p:cNvSpPr>
            <a:spLocks noGrp="1" noChangeArrowheads="1"/>
          </p:cNvSpPr>
          <p:nvPr>
            <p:ph type="body" idx="1"/>
          </p:nvPr>
        </p:nvSpPr>
        <p:spPr/>
        <p:txBody>
          <a:bodyPr/>
          <a:lstStyle/>
          <a:p>
            <a:pPr algn="just"/>
            <a:r>
              <a:rPr lang="en-US" dirty="0"/>
              <a:t>The result of each phase in the waterfall model is one or more documents that are approved (“signed off”). </a:t>
            </a:r>
          </a:p>
          <a:p>
            <a:pPr algn="just"/>
            <a:r>
              <a:rPr lang="en-US" b="1" dirty="0"/>
              <a:t>The following phase should not start until the previous phase has finished.</a:t>
            </a:r>
            <a:endParaRPr lang="en-GB" b="1" dirty="0"/>
          </a:p>
          <a:p>
            <a:pPr algn="just"/>
            <a:r>
              <a:rPr lang="en-GB" dirty="0"/>
              <a:t>The main drawback ?</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9</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dirty="0"/>
              <a:t>Drawback?</a:t>
            </a:r>
          </a:p>
        </p:txBody>
      </p:sp>
      <p:sp>
        <p:nvSpPr>
          <p:cNvPr id="29699" name="Rectangle 3"/>
          <p:cNvSpPr>
            <a:spLocks noGrp="1" noChangeArrowheads="1"/>
          </p:cNvSpPr>
          <p:nvPr>
            <p:ph type="body" idx="1"/>
          </p:nvPr>
        </p:nvSpPr>
        <p:spPr/>
        <p:txBody>
          <a:bodyPr/>
          <a:lstStyle/>
          <a:p>
            <a:pPr algn="just"/>
            <a:r>
              <a:rPr lang="en-GB" dirty="0"/>
              <a:t>The main drawback of the waterfall model is the </a:t>
            </a:r>
            <a:r>
              <a:rPr lang="en-GB" b="1" dirty="0"/>
              <a:t>difficulty of accommodating change</a:t>
            </a:r>
            <a:r>
              <a:rPr lang="en-GB" dirty="0"/>
              <a:t> after the process is underway. </a:t>
            </a:r>
          </a:p>
          <a:p>
            <a:pPr algn="just"/>
            <a:r>
              <a:rPr lang="en-GB" b="1" dirty="0"/>
              <a:t>Inflexible</a:t>
            </a:r>
            <a:r>
              <a:rPr lang="en-GB" dirty="0"/>
              <a:t> partitioning of the project into distinct stages makes it difficult to respond to changing customer requirements</a:t>
            </a:r>
          </a:p>
          <a:p>
            <a:pPr algn="just"/>
            <a:r>
              <a:rPr lang="en-GB" dirty="0"/>
              <a:t>In principle, </a:t>
            </a:r>
            <a:r>
              <a:rPr lang="en-GB" b="1" dirty="0"/>
              <a:t>a phase has to be complete before moving onto the next phase</a:t>
            </a:r>
            <a:r>
              <a:rPr lang="en-GB" dirty="0"/>
              <a:t>.</a:t>
            </a:r>
          </a:p>
          <a:p>
            <a:pPr algn="just"/>
            <a:r>
              <a:rPr lang="en-GB" dirty="0"/>
              <a:t>Costly</a:t>
            </a:r>
          </a:p>
          <a:p>
            <a:pPr algn="just"/>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10</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extLst>
      <p:ext uri="{BB962C8B-B14F-4D97-AF65-F5344CB8AC3E}">
        <p14:creationId xmlns:p14="http://schemas.microsoft.com/office/powerpoint/2010/main" val="104911089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applications</a:t>
            </a:r>
          </a:p>
        </p:txBody>
      </p:sp>
      <p:sp>
        <p:nvSpPr>
          <p:cNvPr id="3" name="Content Placeholder 2"/>
          <p:cNvSpPr>
            <a:spLocks noGrp="1"/>
          </p:cNvSpPr>
          <p:nvPr>
            <p:ph idx="1"/>
          </p:nvPr>
        </p:nvSpPr>
        <p:spPr/>
        <p:txBody>
          <a:bodyPr/>
          <a:lstStyle/>
          <a:p>
            <a:pPr marL="457200" lvl="1" indent="0" algn="just">
              <a:buNone/>
            </a:pPr>
            <a:r>
              <a:rPr lang="en-GB" dirty="0"/>
              <a:t>Therefore, this model is </a:t>
            </a:r>
            <a:r>
              <a:rPr lang="en-GB" b="1" dirty="0"/>
              <a:t>only appropriate when the requirements are well-understood</a:t>
            </a:r>
            <a:r>
              <a:rPr lang="en-GB" dirty="0"/>
              <a:t> and changes will be fairly limited during the design process. </a:t>
            </a:r>
          </a:p>
          <a:p>
            <a:pPr marL="457200" lvl="1" indent="0" algn="just">
              <a:buNone/>
            </a:pPr>
            <a:r>
              <a:rPr lang="en-GB" dirty="0"/>
              <a:t>Few business systems have stable requirements.</a:t>
            </a:r>
          </a:p>
          <a:p>
            <a:pPr marL="0" indent="0" algn="just">
              <a:buNone/>
            </a:pPr>
            <a:r>
              <a:rPr lang="en-GB" dirty="0"/>
              <a:t>		</a:t>
            </a:r>
            <a:r>
              <a:rPr lang="en-US" dirty="0"/>
              <a:t>1. </a:t>
            </a:r>
            <a:r>
              <a:rPr lang="en-US" b="1" dirty="0"/>
              <a:t>Embedded systems</a:t>
            </a:r>
            <a:r>
              <a:rPr lang="en-US" dirty="0"/>
              <a:t>. </a:t>
            </a:r>
          </a:p>
          <a:p>
            <a:pPr marL="0" indent="0">
              <a:buNone/>
            </a:pPr>
            <a:r>
              <a:rPr lang="en-US" dirty="0"/>
              <a:t>		2. </a:t>
            </a:r>
            <a:r>
              <a:rPr lang="en-US" b="1" dirty="0"/>
              <a:t>Critical systems </a:t>
            </a:r>
          </a:p>
          <a:p>
            <a:pPr marL="0" indent="0">
              <a:buNone/>
            </a:pPr>
            <a:r>
              <a:rPr lang="en-US" dirty="0"/>
              <a:t>		3. </a:t>
            </a:r>
            <a:r>
              <a:rPr lang="en-US" b="1" dirty="0"/>
              <a:t>Large software systems</a:t>
            </a:r>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11</a:t>
            </a:fld>
            <a:endParaRPr lang="en-US"/>
          </a:p>
        </p:txBody>
      </p:sp>
    </p:spTree>
    <p:extLst>
      <p:ext uri="{BB962C8B-B14F-4D97-AF65-F5344CB8AC3E}">
        <p14:creationId xmlns:p14="http://schemas.microsoft.com/office/powerpoint/2010/main" val="3990472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dirty="0"/>
              <a:t>Incremental development </a:t>
            </a:r>
            <a:br>
              <a:rPr lang="en-GB" dirty="0"/>
            </a:br>
            <a:endParaRPr lang="en-US" dirty="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12</a:t>
            </a:fld>
            <a:endParaRPr lang="en-US"/>
          </a:p>
        </p:txBody>
      </p:sp>
      <p:sp>
        <p:nvSpPr>
          <p:cNvPr id="8" name="Footer Placeholder 7"/>
          <p:cNvSpPr>
            <a:spLocks noGrp="1"/>
          </p:cNvSpPr>
          <p:nvPr>
            <p:ph type="ftr" sz="quarter" idx="11"/>
          </p:nvPr>
        </p:nvSpPr>
        <p:spPr/>
        <p:txBody>
          <a:bodyPr/>
          <a:lstStyle/>
          <a:p>
            <a:pPr>
              <a:defRPr/>
            </a:pPr>
            <a:r>
              <a:rPr lang="en-US"/>
              <a:t>Chapter 2 Software Processes</a:t>
            </a:r>
          </a:p>
        </p:txBody>
      </p:sp>
      <p:pic>
        <p:nvPicPr>
          <p:cNvPr id="2" name="Picture 1"/>
          <p:cNvPicPr>
            <a:picLocks noChangeAspect="1"/>
          </p:cNvPicPr>
          <p:nvPr/>
        </p:nvPicPr>
        <p:blipFill>
          <a:blip r:embed="rId2"/>
          <a:stretch>
            <a:fillRect/>
          </a:stretch>
        </p:blipFill>
        <p:spPr>
          <a:xfrm>
            <a:off x="728662" y="1796297"/>
            <a:ext cx="7686675" cy="4019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Model</a:t>
            </a:r>
          </a:p>
        </p:txBody>
      </p:sp>
      <p:sp>
        <p:nvSpPr>
          <p:cNvPr id="3" name="Content Placeholder 2"/>
          <p:cNvSpPr>
            <a:spLocks noGrp="1"/>
          </p:cNvSpPr>
          <p:nvPr>
            <p:ph idx="1"/>
          </p:nvPr>
        </p:nvSpPr>
        <p:spPr/>
        <p:txBody>
          <a:bodyPr/>
          <a:lstStyle/>
          <a:p>
            <a:pPr algn="just"/>
            <a:r>
              <a:rPr lang="en-US" dirty="0"/>
              <a:t>Incremental development is based on the idea of </a:t>
            </a:r>
            <a:r>
              <a:rPr lang="en-US" dirty="0">
                <a:highlight>
                  <a:srgbClr val="FFFF00"/>
                </a:highlight>
              </a:rPr>
              <a:t>developing an initial implementation</a:t>
            </a:r>
            <a:r>
              <a:rPr lang="en-US" dirty="0"/>
              <a:t>, </a:t>
            </a:r>
            <a:r>
              <a:rPr lang="en-US" dirty="0">
                <a:highlight>
                  <a:srgbClr val="FFFF00"/>
                </a:highlight>
              </a:rPr>
              <a:t>getting feedback from users and others</a:t>
            </a:r>
            <a:r>
              <a:rPr lang="en-US" dirty="0"/>
              <a:t>, and evolving the software through several versions until the required system has been developed.</a:t>
            </a:r>
          </a:p>
          <a:p>
            <a:pPr algn="just"/>
            <a:r>
              <a:rPr lang="en-US" dirty="0"/>
              <a:t>Specification, development, and validation activities are interleaved rather than separate, with rapid feedback across activities.</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13</a:t>
            </a:fld>
            <a:endParaRPr lang="en-US"/>
          </a:p>
        </p:txBody>
      </p:sp>
    </p:spTree>
    <p:extLst>
      <p:ext uri="{BB962C8B-B14F-4D97-AF65-F5344CB8AC3E}">
        <p14:creationId xmlns:p14="http://schemas.microsoft.com/office/powerpoint/2010/main" val="3983299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a:t>Incremental development benefits</a:t>
            </a:r>
          </a:p>
        </p:txBody>
      </p:sp>
      <p:sp>
        <p:nvSpPr>
          <p:cNvPr id="33795" name="Rectangle 3"/>
          <p:cNvSpPr>
            <a:spLocks noGrp="1" noChangeArrowheads="1"/>
          </p:cNvSpPr>
          <p:nvPr>
            <p:ph type="body" idx="1"/>
          </p:nvPr>
        </p:nvSpPr>
        <p:spPr/>
        <p:txBody>
          <a:bodyPr/>
          <a:lstStyle/>
          <a:p>
            <a:pPr algn="just"/>
            <a:r>
              <a:rPr lang="en-GB" dirty="0"/>
              <a:t>The cost of accommodating changing customer requirements is reduced. </a:t>
            </a:r>
          </a:p>
          <a:p>
            <a:pPr lvl="1" algn="just"/>
            <a:r>
              <a:rPr lang="en-GB" dirty="0"/>
              <a:t>The amount of analysis and documentation that has to be redone is much less than is required with the waterfall model.</a:t>
            </a:r>
          </a:p>
          <a:p>
            <a:pPr algn="just"/>
            <a:r>
              <a:rPr lang="en-GB" dirty="0"/>
              <a:t>It is easier to get customer feedback on the development work that has been done. </a:t>
            </a:r>
          </a:p>
          <a:p>
            <a:pPr lvl="1" algn="just"/>
            <a:r>
              <a:rPr lang="en-GB" dirty="0"/>
              <a:t>Customers can comment on demonstrations of the software and see how much has been implemented. </a:t>
            </a:r>
          </a:p>
          <a:p>
            <a:pPr algn="just"/>
            <a:r>
              <a:rPr lang="en-GB" dirty="0"/>
              <a:t>More rapid delivery and deployment of useful software to the customer is possible. </a:t>
            </a:r>
          </a:p>
          <a:p>
            <a:pPr lvl="1" algn="just"/>
            <a:r>
              <a:rPr lang="en-GB" dirty="0"/>
              <a:t>Customers are able to use and gain value from the software earlier than is possible with a waterfall process. </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development problems</a:t>
            </a:r>
          </a:p>
        </p:txBody>
      </p:sp>
      <p:sp>
        <p:nvSpPr>
          <p:cNvPr id="3" name="Content Placeholder 2"/>
          <p:cNvSpPr>
            <a:spLocks noGrp="1"/>
          </p:cNvSpPr>
          <p:nvPr>
            <p:ph idx="1"/>
          </p:nvPr>
        </p:nvSpPr>
        <p:spPr/>
        <p:txBody>
          <a:bodyPr/>
          <a:lstStyle/>
          <a:p>
            <a:pPr algn="just"/>
            <a:r>
              <a:rPr lang="en-GB" dirty="0"/>
              <a:t>The process is not visible. </a:t>
            </a:r>
          </a:p>
          <a:p>
            <a:pPr lvl="1" algn="just"/>
            <a:r>
              <a:rPr lang="en-GB" dirty="0"/>
              <a:t>Managers need regular deliverables to measure progress. </a:t>
            </a:r>
          </a:p>
          <a:p>
            <a:pPr lvl="1" algn="just"/>
            <a:r>
              <a:rPr lang="en-GB" dirty="0"/>
              <a:t>If systems are developed quickly, it is not cost-effective to produce documents that reflect every version of the system. </a:t>
            </a:r>
          </a:p>
          <a:p>
            <a:pPr algn="just"/>
            <a:r>
              <a:rPr lang="en-GB" dirty="0"/>
              <a:t>System structure tends to degrade as new increments are added</a:t>
            </a:r>
            <a:r>
              <a:rPr lang="en-GB" i="1" dirty="0"/>
              <a:t>. </a:t>
            </a:r>
            <a:r>
              <a:rPr lang="en-GB" dirty="0"/>
              <a:t> </a:t>
            </a:r>
          </a:p>
          <a:p>
            <a:pPr lvl="1" algn="just"/>
            <a:r>
              <a:rPr lang="en-GB" dirty="0"/>
              <a:t>Unless time and money is spent on refactoring to improve the software, regular change tends to corrupt its structure.</a:t>
            </a:r>
          </a:p>
          <a:p>
            <a:pPr lvl="1" algn="just"/>
            <a:r>
              <a:rPr lang="en-GB" dirty="0"/>
              <a:t>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a:t>Chapter 2 Software Processes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a:t>
            </a:r>
          </a:p>
        </p:txBody>
      </p:sp>
      <p:pic>
        <p:nvPicPr>
          <p:cNvPr id="6" name="Content Placeholder 5"/>
          <p:cNvPicPr>
            <a:picLocks noGrp="1" noChangeAspect="1"/>
          </p:cNvPicPr>
          <p:nvPr>
            <p:ph idx="1"/>
          </p:nvPr>
        </p:nvPicPr>
        <p:blipFill>
          <a:blip r:embed="rId2"/>
          <a:stretch>
            <a:fillRect/>
          </a:stretch>
        </p:blipFill>
        <p:spPr>
          <a:xfrm>
            <a:off x="1220261" y="1600200"/>
            <a:ext cx="6703478" cy="4525963"/>
          </a:xfrm>
          <a:prstGeom prst="rect">
            <a:avLst/>
          </a:prstGeom>
        </p:spPr>
      </p:pic>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16</a:t>
            </a:fld>
            <a:endParaRPr lang="en-US"/>
          </a:p>
        </p:txBody>
      </p:sp>
    </p:spTree>
    <p:extLst>
      <p:ext uri="{BB962C8B-B14F-4D97-AF65-F5344CB8AC3E}">
        <p14:creationId xmlns:p14="http://schemas.microsoft.com/office/powerpoint/2010/main" val="732106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a:t>
            </a:r>
          </a:p>
        </p:txBody>
      </p:sp>
      <p:sp>
        <p:nvSpPr>
          <p:cNvPr id="3" name="Content Placeholder 2"/>
          <p:cNvSpPr>
            <a:spLocks noGrp="1"/>
          </p:cNvSpPr>
          <p:nvPr>
            <p:ph idx="1"/>
          </p:nvPr>
        </p:nvSpPr>
        <p:spPr/>
        <p:txBody>
          <a:bodyPr/>
          <a:lstStyle/>
          <a:p>
            <a:pPr algn="just"/>
            <a:r>
              <a:rPr lang="en-US" sz="2000" dirty="0"/>
              <a:t>Barry Boehm (Boehm, 1988) proposed a risk-driven software process framework (the spiral model) that integrates risk management and incremental development. </a:t>
            </a:r>
          </a:p>
          <a:p>
            <a:pPr algn="just"/>
            <a:r>
              <a:rPr lang="en-US" sz="2000" dirty="0">
                <a:highlight>
                  <a:srgbClr val="FFFF00"/>
                </a:highlight>
              </a:rPr>
              <a:t>The software process is represented as a spiral  rather than a sequence of activities with some backtracking from one activity to another. </a:t>
            </a:r>
          </a:p>
          <a:p>
            <a:pPr algn="just"/>
            <a:r>
              <a:rPr lang="en-US" sz="2000" dirty="0"/>
              <a:t>Each loop in the spiral </a:t>
            </a:r>
            <a:r>
              <a:rPr lang="en-US" sz="2000" dirty="0">
                <a:highlight>
                  <a:srgbClr val="FFFF00"/>
                </a:highlight>
              </a:rPr>
              <a:t>represents a phase</a:t>
            </a:r>
            <a:r>
              <a:rPr lang="en-US" sz="2000" dirty="0"/>
              <a:t> of the software process. </a:t>
            </a:r>
          </a:p>
          <a:p>
            <a:pPr algn="just"/>
            <a:r>
              <a:rPr lang="en-US" sz="2000" dirty="0"/>
              <a:t>Thus, the innermost loop might be concerned with system feasibility, the next loop with requirements definition, the next loop with system design and so on. </a:t>
            </a:r>
          </a:p>
          <a:p>
            <a:pPr algn="just"/>
            <a:r>
              <a:rPr lang="en-US" sz="2000" dirty="0"/>
              <a:t>The spiral </a:t>
            </a:r>
            <a:r>
              <a:rPr lang="en-US" sz="2000" dirty="0">
                <a:highlight>
                  <a:srgbClr val="FFFF00"/>
                </a:highlight>
              </a:rPr>
              <a:t>model combines change avoidance with change tolerance</a:t>
            </a:r>
            <a:r>
              <a:rPr lang="en-US" sz="2000" dirty="0"/>
              <a:t>. It assumes that changes are a result of project risks and includes explicit risk management activities to reduce these risk.</a:t>
            </a:r>
          </a:p>
        </p:txBody>
      </p:sp>
      <p:sp>
        <p:nvSpPr>
          <p:cNvPr id="4" name="Footer Placeholder 3"/>
          <p:cNvSpPr>
            <a:spLocks noGrp="1"/>
          </p:cNvSpPr>
          <p:nvPr>
            <p:ph type="ftr" sz="quarter" idx="11"/>
          </p:nvPr>
        </p:nvSpPr>
        <p:spPr/>
        <p:txBody>
          <a:bodyPr/>
          <a:lstStyle/>
          <a:p>
            <a:pPr>
              <a:defRPr/>
            </a:pPr>
            <a:r>
              <a:rPr lang="en-US" dirty="0"/>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17</a:t>
            </a:fld>
            <a:endParaRPr lang="en-US"/>
          </a:p>
        </p:txBody>
      </p:sp>
    </p:spTree>
    <p:extLst>
      <p:ext uri="{BB962C8B-B14F-4D97-AF65-F5344CB8AC3E}">
        <p14:creationId xmlns:p14="http://schemas.microsoft.com/office/powerpoint/2010/main" val="2609293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a:t>Spiral model sectors</a:t>
            </a:r>
          </a:p>
        </p:txBody>
      </p:sp>
      <p:sp>
        <p:nvSpPr>
          <p:cNvPr id="112643" name="Rectangle 3"/>
          <p:cNvSpPr>
            <a:spLocks noGrp="1" noChangeArrowheads="1"/>
          </p:cNvSpPr>
          <p:nvPr>
            <p:ph type="body" idx="1"/>
          </p:nvPr>
        </p:nvSpPr>
        <p:spPr/>
        <p:txBody>
          <a:bodyPr/>
          <a:lstStyle/>
          <a:p>
            <a:r>
              <a:rPr lang="en-GB"/>
              <a:t>Objective setting</a:t>
            </a:r>
          </a:p>
          <a:p>
            <a:pPr lvl="1"/>
            <a:r>
              <a:rPr lang="en-GB"/>
              <a:t>Specific objectives for the phase are identified.</a:t>
            </a:r>
          </a:p>
          <a:p>
            <a:r>
              <a:rPr lang="en-GB"/>
              <a:t>Risk assessment and reduction</a:t>
            </a:r>
          </a:p>
          <a:p>
            <a:pPr lvl="1"/>
            <a:r>
              <a:rPr lang="en-GB"/>
              <a:t>Risks are assessed and activities put in place to reduce the key risks.</a:t>
            </a:r>
          </a:p>
          <a:p>
            <a:r>
              <a:rPr lang="en-GB"/>
              <a:t>Development and validation</a:t>
            </a:r>
          </a:p>
          <a:p>
            <a:pPr lvl="1"/>
            <a:r>
              <a:rPr lang="en-GB"/>
              <a:t>A development model for the system is chosen  which can be any of the generic models.</a:t>
            </a:r>
          </a:p>
          <a:p>
            <a:r>
              <a:rPr lang="en-GB"/>
              <a:t>Planning</a:t>
            </a:r>
          </a:p>
          <a:p>
            <a:pPr lvl="1"/>
            <a:r>
              <a:rPr lang="en-GB"/>
              <a:t>The project is reviewed and the next phase of the spiral is planned.</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18</a:t>
            </a:fld>
            <a:endParaRPr lang="en-US"/>
          </a:p>
        </p:txBody>
      </p:sp>
      <p:sp>
        <p:nvSpPr>
          <p:cNvPr id="7" name="Footer Placeholder 6"/>
          <p:cNvSpPr>
            <a:spLocks noGrp="1"/>
          </p:cNvSpPr>
          <p:nvPr>
            <p:ph type="ftr" sz="quarter" idx="11"/>
          </p:nvPr>
        </p:nvSpPr>
        <p:spPr/>
        <p:txBody>
          <a:bodyPr/>
          <a:lstStyle/>
          <a:p>
            <a:pPr>
              <a:defRPr/>
            </a:pPr>
            <a:r>
              <a:rPr lang="en-US"/>
              <a:t>Chapter 2 Software Processes</a:t>
            </a:r>
          </a:p>
        </p:txBody>
      </p:sp>
    </p:spTree>
    <p:extLst>
      <p:ext uri="{BB962C8B-B14F-4D97-AF65-F5344CB8AC3E}">
        <p14:creationId xmlns:p14="http://schemas.microsoft.com/office/powerpoint/2010/main" val="4030073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Each loop in the spiral is split into four sectors:</a:t>
            </a:r>
          </a:p>
        </p:txBody>
      </p:sp>
      <p:sp>
        <p:nvSpPr>
          <p:cNvPr id="3" name="Content Placeholder 2"/>
          <p:cNvSpPr>
            <a:spLocks noGrp="1"/>
          </p:cNvSpPr>
          <p:nvPr>
            <p:ph idx="1"/>
          </p:nvPr>
        </p:nvSpPr>
        <p:spPr/>
        <p:txBody>
          <a:bodyPr/>
          <a:lstStyle/>
          <a:p>
            <a:pPr algn="just"/>
            <a:r>
              <a:rPr lang="en-US" sz="1600" b="1" i="1" dirty="0"/>
              <a:t>Objective setting</a:t>
            </a:r>
            <a:r>
              <a:rPr lang="en-US" sz="1600" dirty="0"/>
              <a:t> Specific objectives for that phase of the project are defined. Constraints on the process and the product are identified and a detailed management plan is drawn up. Project risks are identified. Alternative strategies, depending on these risks, may be planned.</a:t>
            </a:r>
          </a:p>
          <a:p>
            <a:pPr algn="just"/>
            <a:r>
              <a:rPr lang="en-US" sz="1600" b="1" i="1" dirty="0"/>
              <a:t>Risk assessment and reduction</a:t>
            </a:r>
            <a:r>
              <a:rPr lang="en-US" sz="1600" b="1" dirty="0"/>
              <a:t> </a:t>
            </a:r>
            <a:r>
              <a:rPr lang="en-US" sz="1600" dirty="0"/>
              <a:t>For each of the identified project risks, a detailed analysis is carried out. Steps are taken to reduce the risk. For example, if there is a risk that the requirements are inappropriate, a prototype system may be developed.</a:t>
            </a:r>
          </a:p>
          <a:p>
            <a:pPr algn="just"/>
            <a:r>
              <a:rPr lang="en-US" sz="1600" b="1" i="1" dirty="0"/>
              <a:t>Development and validation</a:t>
            </a:r>
            <a:r>
              <a:rPr lang="en-US" sz="1600" dirty="0"/>
              <a:t> After risk evaluation, a development model for the system is chosen. For example, throw-away prototyping may be the best development approach if user interface risks are dominant. If safety risks are the main consideration, development based on formal transformations may be the most appropriate process, and so on. If the main identified risk is sub-system integration, the waterfall model may be the best development model to use.</a:t>
            </a:r>
          </a:p>
          <a:p>
            <a:pPr algn="just"/>
            <a:r>
              <a:rPr lang="en-US" sz="1600" b="1" i="1" dirty="0"/>
              <a:t>Planning</a:t>
            </a:r>
            <a:r>
              <a:rPr lang="en-US" sz="1600" dirty="0"/>
              <a:t> The project is reviewed and a decision made whether to continue with a further loop of the spiral. If it is decided to continue, plans are drawn up for the next phase of the project.</a:t>
            </a:r>
          </a:p>
          <a:p>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19</a:t>
            </a:fld>
            <a:endParaRPr lang="en-US"/>
          </a:p>
        </p:txBody>
      </p:sp>
    </p:spTree>
    <p:extLst>
      <p:ext uri="{BB962C8B-B14F-4D97-AF65-F5344CB8AC3E}">
        <p14:creationId xmlns:p14="http://schemas.microsoft.com/office/powerpoint/2010/main" val="3167987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Spiral Model</a:t>
            </a:r>
          </a:p>
        </p:txBody>
      </p:sp>
      <p:sp>
        <p:nvSpPr>
          <p:cNvPr id="3" name="Content Placeholder 2"/>
          <p:cNvSpPr>
            <a:spLocks noGrp="1"/>
          </p:cNvSpPr>
          <p:nvPr>
            <p:ph idx="1"/>
          </p:nvPr>
        </p:nvSpPr>
        <p:spPr/>
        <p:txBody>
          <a:bodyPr/>
          <a:lstStyle/>
          <a:p>
            <a:r>
              <a:rPr lang="en-US" dirty="0"/>
              <a:t>High amount of risk analysis hence, avoidance of Risk is enhanced.</a:t>
            </a:r>
          </a:p>
          <a:p>
            <a:r>
              <a:rPr lang="en-US" dirty="0"/>
              <a:t>Good for large and mission-critical projects.</a:t>
            </a:r>
          </a:p>
          <a:p>
            <a:r>
              <a:rPr lang="en-US" dirty="0"/>
              <a:t>Strong approval and documentation control.</a:t>
            </a:r>
          </a:p>
          <a:p>
            <a:r>
              <a:rPr lang="en-US" dirty="0"/>
              <a:t>Additional Functionality can be added at a later date.</a:t>
            </a:r>
          </a:p>
          <a:p>
            <a:r>
              <a:rPr lang="en-US" dirty="0"/>
              <a:t>Software is produced early in the </a:t>
            </a:r>
            <a:r>
              <a:rPr lang="en-US" b="1" dirty="0"/>
              <a:t>software life cycle</a:t>
            </a:r>
            <a:r>
              <a:rPr lang="en-US" dirty="0"/>
              <a:t>.</a:t>
            </a:r>
          </a:p>
          <a:p>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20</a:t>
            </a:fld>
            <a:endParaRPr lang="en-US"/>
          </a:p>
        </p:txBody>
      </p:sp>
    </p:spTree>
    <p:extLst>
      <p:ext uri="{BB962C8B-B14F-4D97-AF65-F5344CB8AC3E}">
        <p14:creationId xmlns:p14="http://schemas.microsoft.com/office/powerpoint/2010/main" val="4034545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Spiral Model</a:t>
            </a:r>
          </a:p>
        </p:txBody>
      </p:sp>
      <p:sp>
        <p:nvSpPr>
          <p:cNvPr id="3" name="Content Placeholder 2"/>
          <p:cNvSpPr>
            <a:spLocks noGrp="1"/>
          </p:cNvSpPr>
          <p:nvPr>
            <p:ph idx="1"/>
          </p:nvPr>
        </p:nvSpPr>
        <p:spPr/>
        <p:txBody>
          <a:bodyPr/>
          <a:lstStyle/>
          <a:p>
            <a:r>
              <a:rPr lang="en-US" dirty="0"/>
              <a:t>Can be a costly model to use.</a:t>
            </a:r>
          </a:p>
          <a:p>
            <a:r>
              <a:rPr lang="en-US" dirty="0"/>
              <a:t>Risk analysis requires highly specific expertise.</a:t>
            </a:r>
          </a:p>
          <a:p>
            <a:r>
              <a:rPr lang="en-US" dirty="0"/>
              <a:t>Project’s success is highly dependent on the risk analysis phase.</a:t>
            </a:r>
          </a:p>
          <a:p>
            <a:r>
              <a:rPr lang="en-US" dirty="0"/>
              <a:t>Doesn’t work well for smaller projects.</a:t>
            </a:r>
          </a:p>
          <a:p>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21</a:t>
            </a:fld>
            <a:endParaRPr lang="en-US"/>
          </a:p>
        </p:txBody>
      </p:sp>
    </p:spTree>
    <p:extLst>
      <p:ext uri="{BB962C8B-B14F-4D97-AF65-F5344CB8AC3E}">
        <p14:creationId xmlns:p14="http://schemas.microsoft.com/office/powerpoint/2010/main" val="4275575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Spiral model:</a:t>
            </a:r>
          </a:p>
        </p:txBody>
      </p:sp>
      <p:sp>
        <p:nvSpPr>
          <p:cNvPr id="3" name="Content Placeholder 2"/>
          <p:cNvSpPr>
            <a:spLocks noGrp="1"/>
          </p:cNvSpPr>
          <p:nvPr>
            <p:ph idx="1"/>
          </p:nvPr>
        </p:nvSpPr>
        <p:spPr/>
        <p:txBody>
          <a:bodyPr/>
          <a:lstStyle/>
          <a:p>
            <a:r>
              <a:rPr lang="en-US" dirty="0"/>
              <a:t>When costs and risk evaluation is important</a:t>
            </a:r>
          </a:p>
          <a:p>
            <a:r>
              <a:rPr lang="en-US" dirty="0"/>
              <a:t>For medium to high-risk projects</a:t>
            </a:r>
          </a:p>
          <a:p>
            <a:r>
              <a:rPr lang="en-US" dirty="0"/>
              <a:t>Long-term project commitment unwise because of potential changes to economic priorities</a:t>
            </a:r>
          </a:p>
          <a:p>
            <a:r>
              <a:rPr lang="en-US" dirty="0"/>
              <a:t>Users are unsure of their needs</a:t>
            </a:r>
          </a:p>
          <a:p>
            <a:r>
              <a:rPr lang="en-US" dirty="0"/>
              <a:t>Requirements are complex</a:t>
            </a:r>
          </a:p>
          <a:p>
            <a:r>
              <a:rPr lang="en-US" dirty="0"/>
              <a:t>New product line</a:t>
            </a:r>
          </a:p>
          <a:p>
            <a:r>
              <a:rPr lang="en-US" dirty="0"/>
              <a:t>Significant changes are expected (research and exploration)</a:t>
            </a:r>
          </a:p>
          <a:p>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22</a:t>
            </a:fld>
            <a:endParaRPr lang="en-US"/>
          </a:p>
        </p:txBody>
      </p:sp>
    </p:spTree>
    <p:extLst>
      <p:ext uri="{BB962C8B-B14F-4D97-AF65-F5344CB8AC3E}">
        <p14:creationId xmlns:p14="http://schemas.microsoft.com/office/powerpoint/2010/main" val="1111734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 of Spiral Model Implementation</a:t>
            </a:r>
          </a:p>
        </p:txBody>
      </p:sp>
      <p:sp>
        <p:nvSpPr>
          <p:cNvPr id="3" name="Content Placeholder 2"/>
          <p:cNvSpPr>
            <a:spLocks noGrp="1"/>
          </p:cNvSpPr>
          <p:nvPr>
            <p:ph idx="1"/>
          </p:nvPr>
        </p:nvSpPr>
        <p:spPr/>
        <p:txBody>
          <a:bodyPr/>
          <a:lstStyle/>
          <a:p>
            <a:r>
              <a:rPr lang="en-US" dirty="0"/>
              <a:t>The following are where programmers use the Spiral Model.  </a:t>
            </a:r>
          </a:p>
          <a:p>
            <a:pPr lvl="1"/>
            <a:r>
              <a:rPr lang="en-US" dirty="0"/>
              <a:t>Developing large-scale gaming applications. </a:t>
            </a:r>
          </a:p>
          <a:p>
            <a:pPr lvl="1"/>
            <a:r>
              <a:rPr lang="en-US" dirty="0"/>
              <a:t>Developing electronic health record systems in the healthcare industry. </a:t>
            </a:r>
          </a:p>
          <a:p>
            <a:pPr lvl="1"/>
            <a:r>
              <a:rPr lang="en-US" dirty="0"/>
              <a:t>In the e-commerce platforms for incorporating new features or improving existing ones without compromising system stability or security. </a:t>
            </a:r>
          </a:p>
          <a:p>
            <a:pPr lvl="1"/>
            <a:r>
              <a:rPr lang="en-US" dirty="0"/>
              <a:t>Development of mobile applications.</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23</a:t>
            </a:fld>
            <a:endParaRPr lang="en-US"/>
          </a:p>
        </p:txBody>
      </p:sp>
    </p:spTree>
    <p:extLst>
      <p:ext uri="{BB962C8B-B14F-4D97-AF65-F5344CB8AC3E}">
        <p14:creationId xmlns:p14="http://schemas.microsoft.com/office/powerpoint/2010/main" val="4173322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Rapid Application Development (RAD) Model</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24</a:t>
            </a:fld>
            <a:endParaRPr lang="en-US"/>
          </a:p>
        </p:txBody>
      </p:sp>
      <p:pic>
        <p:nvPicPr>
          <p:cNvPr id="8" name="Picture 7"/>
          <p:cNvPicPr>
            <a:picLocks noChangeAspect="1"/>
          </p:cNvPicPr>
          <p:nvPr/>
        </p:nvPicPr>
        <p:blipFill>
          <a:blip r:embed="rId2"/>
          <a:stretch>
            <a:fillRect/>
          </a:stretch>
        </p:blipFill>
        <p:spPr>
          <a:xfrm>
            <a:off x="1469025" y="1536569"/>
            <a:ext cx="5403116" cy="5235485"/>
          </a:xfrm>
          <a:prstGeom prst="rect">
            <a:avLst/>
          </a:prstGeom>
        </p:spPr>
      </p:pic>
    </p:spTree>
    <p:extLst>
      <p:ext uri="{BB962C8B-B14F-4D97-AF65-F5344CB8AC3E}">
        <p14:creationId xmlns:p14="http://schemas.microsoft.com/office/powerpoint/2010/main" val="1686459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a:t>
            </a:r>
          </a:p>
        </p:txBody>
      </p:sp>
      <p:sp>
        <p:nvSpPr>
          <p:cNvPr id="3" name="Content Placeholder 2"/>
          <p:cNvSpPr>
            <a:spLocks noGrp="1"/>
          </p:cNvSpPr>
          <p:nvPr>
            <p:ph idx="1"/>
          </p:nvPr>
        </p:nvSpPr>
        <p:spPr>
          <a:xfrm>
            <a:off x="457200" y="1600200"/>
            <a:ext cx="8229600" cy="4756150"/>
          </a:xfrm>
        </p:spPr>
        <p:txBody>
          <a:bodyPr/>
          <a:lstStyle/>
          <a:p>
            <a:pPr algn="just"/>
            <a:r>
              <a:rPr lang="en-US" dirty="0"/>
              <a:t>Rapid application development (RAD) is an incremental software development process model that emphasizes an </a:t>
            </a:r>
            <a:r>
              <a:rPr lang="en-US" dirty="0">
                <a:highlight>
                  <a:srgbClr val="FFFF00"/>
                </a:highlight>
              </a:rPr>
              <a:t>extremely short development cycle</a:t>
            </a:r>
            <a:r>
              <a:rPr lang="en-US" dirty="0"/>
              <a:t>. </a:t>
            </a:r>
          </a:p>
          <a:p>
            <a:pPr algn="just"/>
            <a:r>
              <a:rPr lang="en-US" dirty="0"/>
              <a:t>The RAD model is a </a:t>
            </a:r>
            <a:r>
              <a:rPr lang="en-US" dirty="0">
                <a:highlight>
                  <a:srgbClr val="FFFF00"/>
                </a:highlight>
              </a:rPr>
              <a:t>“high-speed” adaptation of the linear sequential model </a:t>
            </a:r>
            <a:r>
              <a:rPr lang="en-US" dirty="0"/>
              <a:t>in which rapid development is achieved by using component-based construction. </a:t>
            </a:r>
          </a:p>
          <a:p>
            <a:pPr algn="just"/>
            <a:r>
              <a:rPr lang="en-US" dirty="0"/>
              <a:t>If requirements are well under stood and project scope is constrained, the RAD process enables a development team to create a </a:t>
            </a:r>
            <a:r>
              <a:rPr lang="en-US" dirty="0">
                <a:highlight>
                  <a:srgbClr val="FFFF00"/>
                </a:highlight>
              </a:rPr>
              <a:t>“fully functional system” within very short time periods (e.g., 60 to 90 days).</a:t>
            </a:r>
            <a:endParaRPr lang="en-US" sz="4000" dirty="0">
              <a:highlight>
                <a:srgbClr val="FFFF00"/>
              </a:highlight>
            </a:endParaRP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25</a:t>
            </a:fld>
            <a:endParaRPr lang="en-US"/>
          </a:p>
        </p:txBody>
      </p:sp>
    </p:spTree>
    <p:extLst>
      <p:ext uri="{BB962C8B-B14F-4D97-AF65-F5344CB8AC3E}">
        <p14:creationId xmlns:p14="http://schemas.microsoft.com/office/powerpoint/2010/main" val="43223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RAD Model</a:t>
            </a:r>
          </a:p>
        </p:txBody>
      </p:sp>
      <p:sp>
        <p:nvSpPr>
          <p:cNvPr id="3" name="Content Placeholder 2"/>
          <p:cNvSpPr>
            <a:spLocks noGrp="1"/>
          </p:cNvSpPr>
          <p:nvPr>
            <p:ph idx="1"/>
          </p:nvPr>
        </p:nvSpPr>
        <p:spPr/>
        <p:txBody>
          <a:bodyPr/>
          <a:lstStyle/>
          <a:p>
            <a:pPr algn="just"/>
            <a:r>
              <a:rPr lang="en-US" b="1" dirty="0"/>
              <a:t>1. Business modeling. </a:t>
            </a:r>
            <a:r>
              <a:rPr lang="en-US" dirty="0"/>
              <a:t>The information flow among business functions is modeled in a way that answers the following questions: What information drives the business process? What information is generated? Who generates it? Where does the information go? Who processes it? </a:t>
            </a:r>
          </a:p>
          <a:p>
            <a:pPr algn="just"/>
            <a:r>
              <a:rPr lang="en-US" b="1" dirty="0"/>
              <a:t>2. Data modeling. </a:t>
            </a:r>
            <a:r>
              <a:rPr lang="en-US" dirty="0"/>
              <a:t>The information flow defined as part of the business modeling phase is refined into a set of data objects that are needed to support the business. The characteristics (called attributes) of each object are identified and the relationships between these objects defined. </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26</a:t>
            </a:fld>
            <a:endParaRPr lang="en-US"/>
          </a:p>
        </p:txBody>
      </p:sp>
    </p:spTree>
    <p:extLst>
      <p:ext uri="{BB962C8B-B14F-4D97-AF65-F5344CB8AC3E}">
        <p14:creationId xmlns:p14="http://schemas.microsoft.com/office/powerpoint/2010/main" val="1231368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000" dirty="0"/>
              <a:t>3. </a:t>
            </a:r>
            <a:r>
              <a:rPr lang="en-US" sz="2000" b="1" dirty="0"/>
              <a:t>Process modeling. </a:t>
            </a:r>
            <a:r>
              <a:rPr lang="en-US" sz="2000" dirty="0"/>
              <a:t>The data objects defined in the data modeling phase are transformed to achieve the information flow necessary to implement a business function. Processing descriptions are created for adding, modifying, deleting, or retrieving a data object.</a:t>
            </a:r>
          </a:p>
          <a:p>
            <a:pPr algn="just"/>
            <a:r>
              <a:rPr lang="en-US" sz="2000" b="1" dirty="0"/>
              <a:t>4. Application generation</a:t>
            </a:r>
            <a:r>
              <a:rPr lang="en-US" sz="2000" dirty="0"/>
              <a:t>. Rather than creating software using conventional third generation programming languages </a:t>
            </a:r>
            <a:r>
              <a:rPr lang="en-US" sz="2000" b="1" dirty="0"/>
              <a:t>the RAD process works to reuse existing program components </a:t>
            </a:r>
            <a:r>
              <a:rPr lang="en-US" sz="2000" dirty="0"/>
              <a:t>(when possible) or </a:t>
            </a:r>
            <a:r>
              <a:rPr lang="en-US" sz="2000" b="1" dirty="0"/>
              <a:t>create reusable components </a:t>
            </a:r>
            <a:r>
              <a:rPr lang="en-US" sz="2000" dirty="0"/>
              <a:t>(when necessary). In all cases, </a:t>
            </a:r>
            <a:r>
              <a:rPr lang="en-US" sz="2000" b="1" dirty="0"/>
              <a:t>automated tools are used </a:t>
            </a:r>
            <a:r>
              <a:rPr lang="en-US" sz="2000" dirty="0"/>
              <a:t>to facilitate construction of the software. </a:t>
            </a:r>
          </a:p>
          <a:p>
            <a:pPr algn="just"/>
            <a:r>
              <a:rPr lang="en-US" sz="2000" dirty="0"/>
              <a:t>5.</a:t>
            </a:r>
            <a:r>
              <a:rPr lang="en-US" sz="2000" b="1" dirty="0"/>
              <a:t>Testing and turnover. </a:t>
            </a:r>
            <a:r>
              <a:rPr lang="en-US" sz="2000" dirty="0"/>
              <a:t>Since the RAD process emphasizes reuse, many of the program components have already been tested. This reduces overall testing time. However, new components must be tested and all interfaces must be fully exercised.</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27</a:t>
            </a:fld>
            <a:endParaRPr lang="en-US" dirty="0"/>
          </a:p>
        </p:txBody>
      </p:sp>
    </p:spTree>
    <p:extLst>
      <p:ext uri="{BB962C8B-B14F-4D97-AF65-F5344CB8AC3E}">
        <p14:creationId xmlns:p14="http://schemas.microsoft.com/office/powerpoint/2010/main" val="2457123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a:t>
            </a:r>
          </a:p>
        </p:txBody>
      </p:sp>
      <p:sp>
        <p:nvSpPr>
          <p:cNvPr id="3" name="Content Placeholder 2"/>
          <p:cNvSpPr>
            <a:spLocks noGrp="1"/>
          </p:cNvSpPr>
          <p:nvPr>
            <p:ph idx="1"/>
          </p:nvPr>
        </p:nvSpPr>
        <p:spPr/>
        <p:txBody>
          <a:bodyPr/>
          <a:lstStyle/>
          <a:p>
            <a:pPr algn="just"/>
            <a:r>
              <a:rPr lang="en-US" dirty="0">
                <a:highlight>
                  <a:srgbClr val="FFFF00"/>
                </a:highlight>
              </a:rPr>
              <a:t>RAD requires sufficient human resources to create the right number of RAD teams.</a:t>
            </a:r>
          </a:p>
          <a:p>
            <a:pPr algn="just"/>
            <a:r>
              <a:rPr lang="en-US" dirty="0"/>
              <a:t>RAD requires developers and customers who are committed to the rapid-fire activities necessary to get a system complete in a much abbreviated time frame. </a:t>
            </a:r>
          </a:p>
          <a:p>
            <a:pPr algn="just"/>
            <a:r>
              <a:rPr lang="en-US" dirty="0"/>
              <a:t>Not all types of applications are appropriate for RAD. If a system cannot be properly modularized, building the components necessary for RAD will be problematic.</a:t>
            </a:r>
          </a:p>
          <a:p>
            <a:pPr algn="just"/>
            <a:r>
              <a:rPr lang="en-US" dirty="0"/>
              <a:t>RAD is not appropriate when technical risks are high. </a:t>
            </a:r>
          </a:p>
          <a:p>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28</a:t>
            </a:fld>
            <a:endParaRPr lang="en-US"/>
          </a:p>
        </p:txBody>
      </p:sp>
    </p:spTree>
    <p:extLst>
      <p:ext uri="{BB962C8B-B14F-4D97-AF65-F5344CB8AC3E}">
        <p14:creationId xmlns:p14="http://schemas.microsoft.com/office/powerpoint/2010/main" val="299277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Real-life examples of RAD</a:t>
            </a:r>
          </a:p>
        </p:txBody>
      </p:sp>
      <p:sp>
        <p:nvSpPr>
          <p:cNvPr id="3" name="Content Placeholder 2"/>
          <p:cNvSpPr>
            <a:spLocks noGrp="1"/>
          </p:cNvSpPr>
          <p:nvPr>
            <p:ph idx="1"/>
          </p:nvPr>
        </p:nvSpPr>
        <p:spPr/>
        <p:txBody>
          <a:bodyPr/>
          <a:lstStyle/>
          <a:p>
            <a:r>
              <a:rPr lang="en-US" dirty="0"/>
              <a:t>Examples of scenarios where the RAD model in software engineering could be used: </a:t>
            </a:r>
          </a:p>
          <a:p>
            <a:pPr lvl="1"/>
            <a:r>
              <a:rPr lang="en-US" dirty="0"/>
              <a:t>Mobile App Development </a:t>
            </a:r>
          </a:p>
          <a:p>
            <a:pPr lvl="1"/>
            <a:r>
              <a:rPr lang="en-US" dirty="0"/>
              <a:t>E-Commerce Platform </a:t>
            </a:r>
          </a:p>
          <a:p>
            <a:pPr lvl="1"/>
            <a:r>
              <a:rPr lang="en-US" dirty="0"/>
              <a:t>Event Management System </a:t>
            </a:r>
          </a:p>
          <a:p>
            <a:pPr lvl="1"/>
            <a:r>
              <a:rPr lang="en-US" dirty="0"/>
              <a:t>Health Care Information System </a:t>
            </a:r>
          </a:p>
          <a:p>
            <a:pPr lvl="1"/>
            <a:r>
              <a:rPr lang="en-US" dirty="0"/>
              <a:t>Online Learning </a:t>
            </a:r>
            <a:r>
              <a:rPr lang="en-US"/>
              <a:t>Platform etc.</a:t>
            </a:r>
            <a:endParaRPr lang="en-US" dirty="0"/>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29</a:t>
            </a:fld>
            <a:endParaRPr lang="en-US"/>
          </a:p>
        </p:txBody>
      </p:sp>
    </p:spTree>
    <p:extLst>
      <p:ext uri="{BB962C8B-B14F-4D97-AF65-F5344CB8AC3E}">
        <p14:creationId xmlns:p14="http://schemas.microsoft.com/office/powerpoint/2010/main" val="1803384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PROTOTYPING MODEL</a:t>
            </a:r>
          </a:p>
        </p:txBody>
      </p:sp>
      <p:pic>
        <p:nvPicPr>
          <p:cNvPr id="7" name="Content Placeholder 6"/>
          <p:cNvPicPr>
            <a:picLocks noGrp="1" noChangeAspect="1"/>
          </p:cNvPicPr>
          <p:nvPr>
            <p:ph idx="1"/>
          </p:nvPr>
        </p:nvPicPr>
        <p:blipFill>
          <a:blip r:embed="rId2"/>
          <a:stretch>
            <a:fillRect/>
          </a:stretch>
        </p:blipFill>
        <p:spPr>
          <a:xfrm>
            <a:off x="1619250" y="1720056"/>
            <a:ext cx="5905500" cy="4286250"/>
          </a:xfrm>
          <a:prstGeom prst="rect">
            <a:avLst/>
          </a:prstGeom>
        </p:spPr>
      </p:pic>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30</a:t>
            </a:fld>
            <a:endParaRPr lang="en-US"/>
          </a:p>
        </p:txBody>
      </p:sp>
    </p:spTree>
    <p:extLst>
      <p:ext uri="{BB962C8B-B14F-4D97-AF65-F5344CB8AC3E}">
        <p14:creationId xmlns:p14="http://schemas.microsoft.com/office/powerpoint/2010/main" val="2857313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PROTOTYPING MODEL</a:t>
            </a:r>
          </a:p>
        </p:txBody>
      </p:sp>
      <p:sp>
        <p:nvSpPr>
          <p:cNvPr id="3" name="Content Placeholder 2"/>
          <p:cNvSpPr>
            <a:spLocks noGrp="1"/>
          </p:cNvSpPr>
          <p:nvPr>
            <p:ph idx="1"/>
          </p:nvPr>
        </p:nvSpPr>
        <p:spPr/>
        <p:txBody>
          <a:bodyPr/>
          <a:lstStyle/>
          <a:p>
            <a:pPr algn="just"/>
            <a:r>
              <a:rPr lang="en-US" sz="2300" dirty="0"/>
              <a:t>A customer defines a set of general objectives for software </a:t>
            </a:r>
            <a:r>
              <a:rPr lang="en-US" sz="2300" dirty="0">
                <a:highlight>
                  <a:srgbClr val="FFFF00"/>
                </a:highlight>
              </a:rPr>
              <a:t>but does not identify detailed input, processing, or output requirements. </a:t>
            </a:r>
          </a:p>
          <a:p>
            <a:pPr algn="just"/>
            <a:r>
              <a:rPr lang="en-US" sz="2300" dirty="0"/>
              <a:t>The prototyping begins with requirements gathering. </a:t>
            </a:r>
          </a:p>
          <a:p>
            <a:pPr algn="just"/>
            <a:r>
              <a:rPr lang="en-US" sz="2300" dirty="0"/>
              <a:t>Developer and customer meet and define the overall objectives for the software, identify whatever requirements are known, and outline areas where further definition is mandatory. </a:t>
            </a:r>
          </a:p>
          <a:p>
            <a:pPr algn="just"/>
            <a:r>
              <a:rPr lang="en-US" sz="2300" dirty="0"/>
              <a:t>A "quick design" then occurs. The quick design focuses on a representation of those aspects of the software that will be visible to the customer/user. The quick design leads to the construction of a prototype.</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31</a:t>
            </a:fld>
            <a:endParaRPr lang="en-US"/>
          </a:p>
        </p:txBody>
      </p:sp>
    </p:spTree>
    <p:extLst>
      <p:ext uri="{BB962C8B-B14F-4D97-AF65-F5344CB8AC3E}">
        <p14:creationId xmlns:p14="http://schemas.microsoft.com/office/powerpoint/2010/main" val="1951655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 prototype is evaluated by the customer/user and used to refine requirements for the software to be developed. </a:t>
            </a:r>
          </a:p>
          <a:p>
            <a:pPr algn="just"/>
            <a:r>
              <a:rPr lang="en-US" dirty="0"/>
              <a:t>Iteration occurs as the prototype is tuned to satisfy the needs of the customer, while at the same time enabling the developer to better understand what needs to be done.</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32</a:t>
            </a:fld>
            <a:endParaRPr lang="en-US"/>
          </a:p>
        </p:txBody>
      </p:sp>
    </p:spTree>
    <p:extLst>
      <p:ext uri="{BB962C8B-B14F-4D97-AF65-F5344CB8AC3E}">
        <p14:creationId xmlns:p14="http://schemas.microsoft.com/office/powerpoint/2010/main" val="1128615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the prototype model of software development well suited?</a:t>
            </a:r>
          </a:p>
        </p:txBody>
      </p:sp>
      <p:sp>
        <p:nvSpPr>
          <p:cNvPr id="3" name="Content Placeholder 2"/>
          <p:cNvSpPr>
            <a:spLocks noGrp="1"/>
          </p:cNvSpPr>
          <p:nvPr>
            <p:ph idx="1"/>
          </p:nvPr>
        </p:nvSpPr>
        <p:spPr/>
        <p:txBody>
          <a:bodyPr/>
          <a:lstStyle/>
          <a:p>
            <a:pPr algn="just"/>
            <a:r>
              <a:rPr lang="en-US" dirty="0"/>
              <a:t>The answer is when a customer cannot define requirements clearly and when the user is ready to be actively involved and can provide feedback.  </a:t>
            </a:r>
          </a:p>
          <a:p>
            <a:pPr algn="just"/>
            <a:r>
              <a:rPr lang="en-US" dirty="0"/>
              <a:t>Example  </a:t>
            </a:r>
          </a:p>
          <a:p>
            <a:pPr lvl="1" algn="just"/>
            <a:r>
              <a:rPr lang="en-US" dirty="0"/>
              <a:t>Online systems and web interfaces typically </a:t>
            </a:r>
            <a:r>
              <a:rPr lang="en-US" b="1" dirty="0"/>
              <a:t>involve a high degree of end-user interaction</a:t>
            </a:r>
            <a:r>
              <a:rPr lang="en-US" dirty="0"/>
              <a:t> and are best suited for prototype models. </a:t>
            </a:r>
          </a:p>
          <a:p>
            <a:pPr lvl="1" algn="just"/>
            <a:r>
              <a:rPr lang="en-US" dirty="0"/>
              <a:t>A shopping website is also an example where a prototyping approach can be implemented. You can develop various web page prototypes for shopping pages, such as catalog pages, product order pages, etc., and submit them to customers for approval.</a:t>
            </a:r>
          </a:p>
        </p:txBody>
      </p:sp>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33</a:t>
            </a:fld>
            <a:endParaRPr lang="en-US"/>
          </a:p>
        </p:txBody>
      </p:sp>
    </p:spTree>
    <p:extLst>
      <p:ext uri="{BB962C8B-B14F-4D97-AF65-F5344CB8AC3E}">
        <p14:creationId xmlns:p14="http://schemas.microsoft.com/office/powerpoint/2010/main" val="3683646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and Disadvantages of Prototype Model	</a:t>
            </a:r>
          </a:p>
        </p:txBody>
      </p:sp>
      <p:pic>
        <p:nvPicPr>
          <p:cNvPr id="6" name="Content Placeholder 5"/>
          <p:cNvPicPr>
            <a:picLocks noGrp="1" noChangeAspect="1"/>
          </p:cNvPicPr>
          <p:nvPr>
            <p:ph idx="1"/>
          </p:nvPr>
        </p:nvPicPr>
        <p:blipFill>
          <a:blip r:embed="rId2"/>
          <a:stretch>
            <a:fillRect/>
          </a:stretch>
        </p:blipFill>
        <p:spPr>
          <a:xfrm>
            <a:off x="457200" y="1798486"/>
            <a:ext cx="8229600" cy="4129391"/>
          </a:xfrm>
          <a:prstGeom prst="rect">
            <a:avLst/>
          </a:prstGeom>
        </p:spPr>
      </p:pic>
      <p:sp>
        <p:nvSpPr>
          <p:cNvPr id="4" name="Footer Placeholder 3"/>
          <p:cNvSpPr>
            <a:spLocks noGrp="1"/>
          </p:cNvSpPr>
          <p:nvPr>
            <p:ph type="ftr" sz="quarter" idx="11"/>
          </p:nvPr>
        </p:nvSpPr>
        <p:spPr/>
        <p:txBody>
          <a:bodyPr/>
          <a:lstStyle/>
          <a:p>
            <a:pPr>
              <a:defRPr/>
            </a:pPr>
            <a:r>
              <a:rPr lang="en-US"/>
              <a:t>Chapter 2 Software Processes</a:t>
            </a:r>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34</a:t>
            </a:fld>
            <a:endParaRPr lang="en-US"/>
          </a:p>
        </p:txBody>
      </p:sp>
    </p:spTree>
    <p:extLst>
      <p:ext uri="{BB962C8B-B14F-4D97-AF65-F5344CB8AC3E}">
        <p14:creationId xmlns:p14="http://schemas.microsoft.com/office/powerpoint/2010/main" val="3601917711"/>
      </p:ext>
    </p:extLst>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11024</TotalTime>
  <Words>2375</Words>
  <Application>Microsoft Macintosh PowerPoint</Application>
  <PresentationFormat>On-screen Show (4:3)</PresentationFormat>
  <Paragraphs>210</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Wingdings</vt:lpstr>
      <vt:lpstr>SE9</vt:lpstr>
      <vt:lpstr>Software Processes</vt:lpstr>
      <vt:lpstr>The software process</vt:lpstr>
      <vt:lpstr>Software process descriptions</vt:lpstr>
      <vt:lpstr>Plan-driven and agile processes</vt:lpstr>
      <vt:lpstr>Process Models</vt:lpstr>
      <vt:lpstr>The waterfall model </vt:lpstr>
      <vt:lpstr>The stages of the waterfall model</vt:lpstr>
      <vt:lpstr>PowerPoint Presentation</vt:lpstr>
      <vt:lpstr>Waterfall model phases</vt:lpstr>
      <vt:lpstr>Drawback?</vt:lpstr>
      <vt:lpstr>Waterfall model applications</vt:lpstr>
      <vt:lpstr>Incremental development  </vt:lpstr>
      <vt:lpstr>Incremental Model</vt:lpstr>
      <vt:lpstr>Incremental development benefits</vt:lpstr>
      <vt:lpstr>Incremental development problems</vt:lpstr>
      <vt:lpstr>Spiral Model</vt:lpstr>
      <vt:lpstr>Spiral Model</vt:lpstr>
      <vt:lpstr>Spiral model sectors</vt:lpstr>
      <vt:lpstr>Each loop in the spiral is split into four sectors:</vt:lpstr>
      <vt:lpstr>Advantages of Spiral Model</vt:lpstr>
      <vt:lpstr>Disadvantages of Spiral Model</vt:lpstr>
      <vt:lpstr>When to use Spiral model:</vt:lpstr>
      <vt:lpstr>Real-World Examples of Spiral Model Implementation</vt:lpstr>
      <vt:lpstr>Rapid Application Development (RAD) Model</vt:lpstr>
      <vt:lpstr>RAD Model</vt:lpstr>
      <vt:lpstr>Phases of RAD Model</vt:lpstr>
      <vt:lpstr>PowerPoint Presentation</vt:lpstr>
      <vt:lpstr>Disadvantages</vt:lpstr>
      <vt:lpstr>Real-life examples of RAD</vt:lpstr>
      <vt:lpstr>THE PROTOTYPING MODEL</vt:lpstr>
      <vt:lpstr>THE PROTOTYPING MODEL</vt:lpstr>
      <vt:lpstr>PowerPoint Presentation</vt:lpstr>
      <vt:lpstr>Where is the prototype model of software development well suited?</vt:lpstr>
      <vt:lpstr>Advantages and Disadvantages of Prototype Model </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Apoorva Karnwal</cp:lastModifiedBy>
  <cp:revision>50</cp:revision>
  <dcterms:created xsi:type="dcterms:W3CDTF">2010-01-06T19:57:16Z</dcterms:created>
  <dcterms:modified xsi:type="dcterms:W3CDTF">2025-02-02T06:18:52Z</dcterms:modified>
</cp:coreProperties>
</file>