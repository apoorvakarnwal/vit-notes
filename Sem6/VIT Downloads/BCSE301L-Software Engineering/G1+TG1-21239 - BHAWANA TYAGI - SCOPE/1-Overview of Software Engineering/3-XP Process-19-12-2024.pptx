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65"/>
  </p:notesMasterIdLst>
  <p:handoutMasterIdLst>
    <p:handoutMasterId r:id="rId66"/>
  </p:handoutMasterIdLst>
  <p:sldIdLst>
    <p:sldId id="256" r:id="rId2"/>
    <p:sldId id="323" r:id="rId3"/>
    <p:sldId id="258" r:id="rId4"/>
    <p:sldId id="324" r:id="rId5"/>
    <p:sldId id="322" r:id="rId6"/>
    <p:sldId id="268" r:id="rId7"/>
    <p:sldId id="257" r:id="rId8"/>
    <p:sldId id="298" r:id="rId9"/>
    <p:sldId id="320" r:id="rId10"/>
    <p:sldId id="271" r:id="rId11"/>
    <p:sldId id="259" r:id="rId12"/>
    <p:sldId id="260" r:id="rId13"/>
    <p:sldId id="265" r:id="rId14"/>
    <p:sldId id="275" r:id="rId15"/>
    <p:sldId id="330" r:id="rId16"/>
    <p:sldId id="276" r:id="rId17"/>
    <p:sldId id="261" r:id="rId18"/>
    <p:sldId id="262" r:id="rId19"/>
    <p:sldId id="278" r:id="rId20"/>
    <p:sldId id="301" r:id="rId21"/>
    <p:sldId id="303" r:id="rId22"/>
    <p:sldId id="279" r:id="rId23"/>
    <p:sldId id="282" r:id="rId24"/>
    <p:sldId id="305" r:id="rId25"/>
    <p:sldId id="263" r:id="rId26"/>
    <p:sldId id="306" r:id="rId27"/>
    <p:sldId id="307" r:id="rId28"/>
    <p:sldId id="283" r:id="rId29"/>
    <p:sldId id="295" r:id="rId30"/>
    <p:sldId id="318" r:id="rId31"/>
    <p:sldId id="287" r:id="rId32"/>
    <p:sldId id="309" r:id="rId33"/>
    <p:sldId id="331" r:id="rId34"/>
    <p:sldId id="332" r:id="rId35"/>
    <p:sldId id="313" r:id="rId36"/>
    <p:sldId id="293" r:id="rId37"/>
    <p:sldId id="294" r:id="rId38"/>
    <p:sldId id="310" r:id="rId39"/>
    <p:sldId id="311" r:id="rId40"/>
    <p:sldId id="340" r:id="rId41"/>
    <p:sldId id="314" r:id="rId42"/>
    <p:sldId id="341" r:id="rId43"/>
    <p:sldId id="321" r:id="rId44"/>
    <p:sldId id="288" r:id="rId45"/>
    <p:sldId id="312" r:id="rId46"/>
    <p:sldId id="325" r:id="rId47"/>
    <p:sldId id="342" r:id="rId48"/>
    <p:sldId id="326" r:id="rId49"/>
    <p:sldId id="334" r:id="rId50"/>
    <p:sldId id="343" r:id="rId51"/>
    <p:sldId id="327" r:id="rId52"/>
    <p:sldId id="315" r:id="rId53"/>
    <p:sldId id="328" r:id="rId54"/>
    <p:sldId id="329" r:id="rId55"/>
    <p:sldId id="337" r:id="rId56"/>
    <p:sldId id="289" r:id="rId57"/>
    <p:sldId id="292" r:id="rId58"/>
    <p:sldId id="316" r:id="rId59"/>
    <p:sldId id="317" r:id="rId60"/>
    <p:sldId id="291" r:id="rId61"/>
    <p:sldId id="338" r:id="rId62"/>
    <p:sldId id="290" r:id="rId63"/>
    <p:sldId id="339" r:id="rId64"/>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3"/>
    <p:restoredTop sz="94694"/>
  </p:normalViewPr>
  <p:slideViewPr>
    <p:cSldViewPr snapToGrid="0" snapToObjects="1">
      <p:cViewPr varScale="1">
        <p:scale>
          <a:sx n="109" d="100"/>
          <a:sy n="109" d="100"/>
        </p:scale>
        <p:origin x="176" y="448"/>
      </p:cViewPr>
      <p:guideLst>
        <p:guide orient="horz" pos="2160"/>
        <p:guide pos="2880"/>
      </p:guideLst>
    </p:cSldViewPr>
  </p:slideViewPr>
  <p:notesTextViewPr>
    <p:cViewPr>
      <p:scale>
        <a:sx n="100" d="100"/>
        <a:sy n="100" d="100"/>
      </p:scale>
      <p:origin x="0" y="0"/>
    </p:cViewPr>
  </p:notesTextViewPr>
  <p:sorterViewPr>
    <p:cViewPr>
      <p:scale>
        <a:sx n="200" d="100"/>
        <a:sy n="200" d="100"/>
      </p:scale>
      <p:origin x="0" y="969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96019BD-5A9C-D247-A352-90D6F932FC39}" type="datetimeFigureOut">
              <a:rPr lang="en-US" smtClean="0"/>
              <a:t>2/7/25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B8A5312-93A2-4C41-AFD8-B93FA8A91C33}" type="slidenum">
              <a:rPr lang="en-US" smtClean="0"/>
              <a:t>‹#›</a:t>
            </a:fld>
            <a:endParaRPr lang="en-US"/>
          </a:p>
        </p:txBody>
      </p:sp>
    </p:spTree>
    <p:extLst>
      <p:ext uri="{BB962C8B-B14F-4D97-AF65-F5344CB8AC3E}">
        <p14:creationId xmlns:p14="http://schemas.microsoft.com/office/powerpoint/2010/main" val="180251557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984F9F3-EF58-DB4F-B0ED-0B6B850DA2DF}" type="datetimeFigureOut">
              <a:rPr lang="en-US" smtClean="0"/>
              <a:t>2/7/25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ED926C-2523-DB4E-AA42-7803F6FA2B59}" type="slidenum">
              <a:rPr lang="en-US" smtClean="0"/>
              <a:t>‹#›</a:t>
            </a:fld>
            <a:endParaRPr lang="en-US"/>
          </a:p>
        </p:txBody>
      </p:sp>
    </p:spTree>
    <p:extLst>
      <p:ext uri="{BB962C8B-B14F-4D97-AF65-F5344CB8AC3E}">
        <p14:creationId xmlns:p14="http://schemas.microsoft.com/office/powerpoint/2010/main" val="1423510684"/>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6D02920E-879C-4199-8C53-8F73CD02917F}" type="datetime1">
              <a:rPr lang="en-US" smtClean="0"/>
              <a:t>2/7/25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6" name="Slide Number Placeholder 5"/>
          <p:cNvSpPr>
            <a:spLocks noGrp="1"/>
          </p:cNvSpPr>
          <p:nvPr>
            <p:ph type="sldNum" sz="quarter" idx="12"/>
          </p:nvPr>
        </p:nvSpPr>
        <p:spPr/>
        <p:txBody>
          <a:bodyPr/>
          <a:lstStyle>
            <a:lvl1pPr>
              <a:defRPr/>
            </a:lvl1pPr>
          </a:lstStyle>
          <a:p>
            <a:pPr>
              <a:defRPr/>
            </a:pPr>
            <a:fld id="{E973D278-956A-2946-9CE2-9D3773855556}" type="slidenum">
              <a:rPr lang="en-US" smtClean="0"/>
              <a:pPr>
                <a:defRPr/>
              </a:pPr>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397D90F1-0381-457A-A7FC-A15BE0346A6C}" type="datetime1">
              <a:rPr lang="en-US" smtClean="0"/>
              <a:t>2/7/25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6" name="Slide Number Placeholder 5"/>
          <p:cNvSpPr>
            <a:spLocks noGrp="1"/>
          </p:cNvSpPr>
          <p:nvPr>
            <p:ph type="sldNum" sz="quarter" idx="12"/>
          </p:nvPr>
        </p:nvSpPr>
        <p:spPr/>
        <p:txBody>
          <a:bodyPr/>
          <a:lstStyle>
            <a:lvl1pPr>
              <a:defRPr/>
            </a:lvl1pPr>
          </a:lstStyle>
          <a:p>
            <a:pPr>
              <a:defRPr/>
            </a:pPr>
            <a:fld id="{EAB5BBF0-B782-3644-AFE1-10103AC25370}" type="slidenum">
              <a:rPr lang="en-US" smtClean="0"/>
              <a:pPr>
                <a:defRPr/>
              </a:pPr>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fld id="{82E25041-63B2-4FF2-B2E5-9DF2BA32AC19}" type="datetime1">
              <a:rPr lang="en-US" smtClean="0"/>
              <a:t>2/7/25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6" name="Slide Number Placeholder 5"/>
          <p:cNvSpPr>
            <a:spLocks noGrp="1"/>
          </p:cNvSpPr>
          <p:nvPr>
            <p:ph type="sldNum" sz="quarter" idx="12"/>
          </p:nvPr>
        </p:nvSpPr>
        <p:spPr/>
        <p:txBody>
          <a:bodyPr/>
          <a:lstStyle>
            <a:lvl1pPr>
              <a:defRPr/>
            </a:lvl1pPr>
          </a:lstStyle>
          <a:p>
            <a:pPr>
              <a:defRPr/>
            </a:pPr>
            <a:fld id="{EE6C4D99-7786-3A47-A0D2-BD20D34577F0}" type="slidenum">
              <a:rPr lang="en-US" smtClean="0"/>
              <a:pPr>
                <a:defRPr/>
              </a:pPr>
              <a:t>‹#›</a:t>
            </a:fld>
            <a:endParaRPr lang="en-US"/>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fld id="{990EB358-D764-4B09-89E6-278CB5765EFE}" type="datetime1">
              <a:rPr lang="en-US" smtClean="0"/>
              <a:t>2/7/25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7" name="Slide Number Placeholder 5"/>
          <p:cNvSpPr>
            <a:spLocks noGrp="1"/>
          </p:cNvSpPr>
          <p:nvPr>
            <p:ph type="sldNum" sz="quarter" idx="12"/>
          </p:nvPr>
        </p:nvSpPr>
        <p:spPr/>
        <p:txBody>
          <a:bodyPr/>
          <a:lstStyle>
            <a:lvl1pPr>
              <a:defRPr/>
            </a:lvl1pPr>
          </a:lstStyle>
          <a:p>
            <a:pPr>
              <a:defRPr/>
            </a:pPr>
            <a:fld id="{8EFBBB66-3A15-F64E-87CC-B8CCF7F3E7AA}" type="slidenum">
              <a:rPr lang="en-US" smtClean="0"/>
              <a:pPr>
                <a:defRPr/>
              </a:pPr>
              <a:t>‹#›</a:t>
            </a:fld>
            <a:endParaRPr lang="en-US"/>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fld id="{10B4AD73-2E1D-4C44-82EA-2C349627A5EE}" type="datetime1">
              <a:rPr lang="en-US" smtClean="0"/>
              <a:t>2/7/25</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9" name="Slide Number Placeholder 5"/>
          <p:cNvSpPr>
            <a:spLocks noGrp="1"/>
          </p:cNvSpPr>
          <p:nvPr>
            <p:ph type="sldNum" sz="quarter" idx="12"/>
          </p:nvPr>
        </p:nvSpPr>
        <p:spPr/>
        <p:txBody>
          <a:bodyPr/>
          <a:lstStyle>
            <a:lvl1pPr>
              <a:defRPr/>
            </a:lvl1pPr>
          </a:lstStyle>
          <a:p>
            <a:pPr>
              <a:defRPr/>
            </a:pPr>
            <a:fld id="{EE97BCC1-1E15-814C-B2E6-5124192EA274}" type="slidenum">
              <a:rPr lang="en-US" smtClean="0"/>
              <a:pPr>
                <a:defRPr/>
              </a:pPr>
              <a:t>‹#›</a:t>
            </a:fld>
            <a:endParaRPr lang="en-US"/>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377867A5-5634-4824-B3A0-81F6594A4D63}" type="datetime1">
              <a:rPr lang="en-US" smtClean="0"/>
              <a:t>2/7/25</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5" name="Slide Number Placeholder 5"/>
          <p:cNvSpPr>
            <a:spLocks noGrp="1"/>
          </p:cNvSpPr>
          <p:nvPr>
            <p:ph type="sldNum" sz="quarter" idx="12"/>
          </p:nvPr>
        </p:nvSpPr>
        <p:spPr/>
        <p:txBody>
          <a:bodyPr/>
          <a:lstStyle>
            <a:lvl1pPr>
              <a:defRPr/>
            </a:lvl1pPr>
          </a:lstStyle>
          <a:p>
            <a:pPr>
              <a:defRPr/>
            </a:pPr>
            <a:fld id="{4EEF6B7E-89C5-FC4F-92F9-AFC105C69812}" type="slidenum">
              <a:rPr lang="en-US" smtClean="0"/>
              <a:pPr>
                <a:defRPr/>
              </a:pPr>
              <a:t>‹#›</a:t>
            </a:fld>
            <a:endParaRPr lang="en-US"/>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0DC1C0A0-0752-4F02-A1F3-2A1486BA67E1}" type="datetime1">
              <a:rPr lang="en-US" smtClean="0"/>
              <a:t>2/7/25</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4" name="Slide Number Placeholder 5"/>
          <p:cNvSpPr>
            <a:spLocks noGrp="1"/>
          </p:cNvSpPr>
          <p:nvPr>
            <p:ph type="sldNum" sz="quarter" idx="12"/>
          </p:nvPr>
        </p:nvSpPr>
        <p:spPr/>
        <p:txBody>
          <a:bodyPr/>
          <a:lstStyle>
            <a:lvl1pPr>
              <a:defRPr/>
            </a:lvl1pPr>
          </a:lstStyle>
          <a:p>
            <a:pPr>
              <a:defRPr/>
            </a:pPr>
            <a:fld id="{39D8CD3A-6A10-3249-A17B-90B73EF037C9}" type="slidenum">
              <a:rPr lang="en-US" smtClean="0"/>
              <a:pPr>
                <a:defRPr/>
              </a:pPr>
              <a:t>‹#›</a:t>
            </a:fld>
            <a:endParaRPr lang="en-US"/>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9091603D-25DA-4B0A-A145-942F0FAD56DA}" type="datetime1">
              <a:rPr lang="en-US" smtClean="0"/>
              <a:t>2/7/25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7" name="Slide Number Placeholder 5"/>
          <p:cNvSpPr>
            <a:spLocks noGrp="1"/>
          </p:cNvSpPr>
          <p:nvPr>
            <p:ph type="sldNum" sz="quarter" idx="12"/>
          </p:nvPr>
        </p:nvSpPr>
        <p:spPr/>
        <p:txBody>
          <a:bodyPr/>
          <a:lstStyle>
            <a:lvl1pPr>
              <a:defRPr/>
            </a:lvl1pPr>
          </a:lstStyle>
          <a:p>
            <a:pPr>
              <a:defRPr/>
            </a:pPr>
            <a:fld id="{DD50B603-B29B-9F4A-8449-859DA19F67EF}" type="slidenum">
              <a:rPr lang="en-US" smtClean="0"/>
              <a:pPr>
                <a:defRPr/>
              </a:pPr>
              <a:t>‹#›</a:t>
            </a:fld>
            <a:endParaRPr lang="en-US"/>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55585454-15C9-40A4-9170-9B6B9465E116}" type="datetime1">
              <a:rPr lang="en-US" smtClean="0"/>
              <a:t>2/7/25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7" name="Slide Number Placeholder 5"/>
          <p:cNvSpPr>
            <a:spLocks noGrp="1"/>
          </p:cNvSpPr>
          <p:nvPr>
            <p:ph type="sldNum" sz="quarter" idx="12"/>
          </p:nvPr>
        </p:nvSpPr>
        <p:spPr/>
        <p:txBody>
          <a:bodyPr/>
          <a:lstStyle>
            <a:lvl1pPr>
              <a:defRPr/>
            </a:lvl1pPr>
          </a:lstStyle>
          <a:p>
            <a:pPr>
              <a:defRPr/>
            </a:pPr>
            <a:fld id="{1F23E2BA-5D4B-814E-BBF4-D418023BB2FC}" type="slidenum">
              <a:rPr lang="en-US" smtClean="0"/>
              <a:pPr>
                <a:defRPr/>
              </a:pPr>
              <a:t>‹#›</a:t>
            </a:fld>
            <a:endParaRPr lang="en-US"/>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D8A2D9E8-3AA4-4258-B3FF-3F5B5F430998}" type="datetime1">
              <a:rPr lang="en-US" smtClean="0"/>
              <a:t>2/7/25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6" name="Slide Number Placeholder 5"/>
          <p:cNvSpPr>
            <a:spLocks noGrp="1"/>
          </p:cNvSpPr>
          <p:nvPr>
            <p:ph type="sldNum" sz="quarter" idx="12"/>
          </p:nvPr>
        </p:nvSpPr>
        <p:spPr/>
        <p:txBody>
          <a:bodyPr/>
          <a:lstStyle>
            <a:lvl1pPr>
              <a:defRPr/>
            </a:lvl1pPr>
          </a:lstStyle>
          <a:p>
            <a:pPr>
              <a:defRPr/>
            </a:pPr>
            <a:fld id="{EEAA3012-213F-D34C-8A21-808A5790DE6C}" type="slidenum">
              <a:rPr lang="en-US" smtClean="0"/>
              <a:pPr>
                <a:defRPr/>
              </a:pPr>
              <a:t>‹#›</a:t>
            </a:fld>
            <a:endParaRPr lang="en-US"/>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A04F2D47-63C0-40DA-9E1E-A99842A69F0F}" type="datetime1">
              <a:rPr lang="en-US" smtClean="0"/>
              <a:t>2/7/25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6" name="Slide Number Placeholder 5"/>
          <p:cNvSpPr>
            <a:spLocks noGrp="1"/>
          </p:cNvSpPr>
          <p:nvPr>
            <p:ph type="sldNum" sz="quarter" idx="12"/>
          </p:nvPr>
        </p:nvSpPr>
        <p:spPr/>
        <p:txBody>
          <a:bodyPr/>
          <a:lstStyle>
            <a:lvl1pPr>
              <a:defRPr/>
            </a:lvl1pPr>
          </a:lstStyle>
          <a:p>
            <a:pPr>
              <a:defRPr/>
            </a:pPr>
            <a:fld id="{050F93C5-4D62-2844-B9B8-045E9E31D9CE}" type="slidenum">
              <a:rPr lang="en-US" smtClean="0"/>
              <a:pPr>
                <a:defRPr/>
              </a:pPr>
              <a:t>‹#›</a:t>
            </a:fld>
            <a:endParaRPr lang="en-US"/>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1C4F4506-618F-4D26-9B3F-BF94344CEFBB}" type="datetime1">
              <a:rPr lang="en-US" smtClean="0"/>
              <a:t>2/7/25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Chapter 3 Agile Software Development</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B3575804-F645-DB44-9DC0-C97E27A6600F}" type="slidenum">
              <a:rPr lang="en-US" smtClean="0"/>
              <a:pPr>
                <a:defRPr/>
              </a:pPr>
              <a:t>‹#›</a:t>
            </a:fld>
            <a:endParaRPr lang="en-US"/>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med">
    <p:wipe dir="r"/>
  </p:transition>
  <p:hf hdr="0" ftr="0" dt="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algn="ctr"/>
            <a:r>
              <a:rPr lang="en-US" dirty="0"/>
              <a:t> Agile Software Development</a:t>
            </a:r>
          </a:p>
        </p:txBody>
      </p:sp>
      <p:sp>
        <p:nvSpPr>
          <p:cNvPr id="3" name="Subtitle 2"/>
          <p:cNvSpPr>
            <a:spLocks noGrp="1"/>
          </p:cNvSpPr>
          <p:nvPr>
            <p:ph type="subTitle" idx="1"/>
          </p:nvPr>
        </p:nvSpPr>
        <p:spPr/>
        <p:txBody>
          <a:bodyPr/>
          <a:lstStyle/>
          <a:p>
            <a:pPr fontAlgn="auto">
              <a:spcAft>
                <a:spcPts val="0"/>
              </a:spcAft>
              <a:buFont typeface="Arial"/>
              <a:buNone/>
              <a:defRPr/>
            </a:pPr>
            <a:endParaRPr lang="en-US" dirty="0">
              <a:ea typeface="+mn-ea"/>
              <a:cs typeface="+mn-cs"/>
            </a:endParaRPr>
          </a:p>
        </p:txBody>
      </p:sp>
      <p:sp>
        <p:nvSpPr>
          <p:cNvPr id="4" name="Slide Number Placeholder 3"/>
          <p:cNvSpPr>
            <a:spLocks noGrp="1"/>
          </p:cNvSpPr>
          <p:nvPr>
            <p:ph type="sldNum" sz="quarter" idx="12"/>
          </p:nvPr>
        </p:nvSpPr>
        <p:spPr/>
        <p:txBody>
          <a:bodyPr/>
          <a:lstStyle/>
          <a:p>
            <a:pPr>
              <a:defRPr/>
            </a:pPr>
            <a:fld id="{E973D278-956A-2946-9CE2-9D3773855556}" type="slidenum">
              <a:rPr lang="en-US" smtClean="0"/>
              <a:pPr>
                <a:defRPr/>
              </a:pPr>
              <a:t>1</a:t>
            </a:fld>
            <a:endParaRPr lang="en-US"/>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development</a:t>
            </a:r>
          </a:p>
        </p:txBody>
      </p:sp>
      <p:sp>
        <p:nvSpPr>
          <p:cNvPr id="3" name="Content Placeholder 2"/>
          <p:cNvSpPr>
            <a:spLocks noGrp="1"/>
          </p:cNvSpPr>
          <p:nvPr>
            <p:ph idx="1"/>
          </p:nvPr>
        </p:nvSpPr>
        <p:spPr/>
        <p:txBody>
          <a:bodyPr/>
          <a:lstStyle/>
          <a:p>
            <a:pPr algn="just"/>
            <a:r>
              <a:rPr lang="en-US" dirty="0">
                <a:highlight>
                  <a:srgbClr val="FFFF00"/>
                </a:highlight>
              </a:rPr>
              <a:t>Program specification, design and implementation are inter-leaved</a:t>
            </a:r>
          </a:p>
          <a:p>
            <a:pPr algn="just"/>
            <a:r>
              <a:rPr lang="en-US" dirty="0"/>
              <a:t>The system is developed as a series of versions or increments with stakeholders involved in version specification and evaluation</a:t>
            </a:r>
          </a:p>
          <a:p>
            <a:pPr algn="just"/>
            <a:r>
              <a:rPr lang="en-US" dirty="0"/>
              <a:t>Frequent delivery of new versions for evaluation</a:t>
            </a:r>
          </a:p>
          <a:p>
            <a:pPr algn="just"/>
            <a:r>
              <a:rPr lang="en-US" dirty="0"/>
              <a:t>Extensive tool support (e.g. automated testing tools) used to support development.</a:t>
            </a:r>
          </a:p>
          <a:p>
            <a:pPr algn="just"/>
            <a:r>
              <a:rPr lang="en-US" dirty="0"/>
              <a:t>Minimal documentation – focus on working code</a:t>
            </a:r>
          </a:p>
          <a:p>
            <a:pPr algn="just"/>
            <a:endParaRPr lang="en-US" dirty="0"/>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a:t>
            </a:fld>
            <a:endParaRPr lang="en-US"/>
          </a:p>
        </p:txBody>
      </p:sp>
    </p:spTree>
    <p:extLst>
      <p:ext uri="{BB962C8B-B14F-4D97-AF65-F5344CB8AC3E}">
        <p14:creationId xmlns:p14="http://schemas.microsoft.com/office/powerpoint/2010/main" val="1082643685"/>
      </p:ext>
    </p:extLst>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Plan-driven and agile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a:t>
            </a:fld>
            <a:endParaRPr lang="en-US"/>
          </a:p>
        </p:txBody>
      </p:sp>
      <p:pic>
        <p:nvPicPr>
          <p:cNvPr id="4" name="Picture 3" descr="3.2 PlanBasedAgile.eps"/>
          <p:cNvPicPr>
            <a:picLocks noChangeAspect="1"/>
          </p:cNvPicPr>
          <p:nvPr/>
        </p:nvPicPr>
        <p:blipFill>
          <a:blip r:embed="rId2"/>
          <a:stretch>
            <a:fillRect/>
          </a:stretch>
        </p:blipFill>
        <p:spPr>
          <a:xfrm>
            <a:off x="1734750" y="1785249"/>
            <a:ext cx="5731937" cy="4357990"/>
          </a:xfrm>
          <a:prstGeom prst="rect">
            <a:avLst/>
          </a:prstGeom>
        </p:spPr>
      </p:pic>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Plan-driven and agile development</a:t>
            </a:r>
          </a:p>
        </p:txBody>
      </p:sp>
      <p:sp>
        <p:nvSpPr>
          <p:cNvPr id="3" name="Content Placeholder 2"/>
          <p:cNvSpPr>
            <a:spLocks noGrp="1"/>
          </p:cNvSpPr>
          <p:nvPr>
            <p:ph idx="1"/>
          </p:nvPr>
        </p:nvSpPr>
        <p:spPr/>
        <p:txBody>
          <a:bodyPr/>
          <a:lstStyle/>
          <a:p>
            <a:pPr algn="just"/>
            <a:r>
              <a:rPr lang="en-US" dirty="0"/>
              <a:t>Plan-driven development</a:t>
            </a:r>
          </a:p>
          <a:p>
            <a:pPr lvl="1" algn="just"/>
            <a:r>
              <a:rPr lang="en-US" dirty="0"/>
              <a:t>A plan-driven approach to software engineering is based around separate development stages with the outputs to be produced at each of these stages planned in advance.</a:t>
            </a:r>
          </a:p>
          <a:p>
            <a:pPr lvl="1" algn="just"/>
            <a:r>
              <a:rPr lang="en-US" dirty="0"/>
              <a:t>Not necessarily waterfall model – plan-driven, incremental development is possible</a:t>
            </a:r>
          </a:p>
          <a:p>
            <a:pPr lvl="1" algn="just"/>
            <a:r>
              <a:rPr lang="en-US" dirty="0"/>
              <a:t>Iteration occurs within activities. </a:t>
            </a:r>
          </a:p>
          <a:p>
            <a:pPr algn="just"/>
            <a:r>
              <a:rPr lang="en-US" dirty="0"/>
              <a:t>Agile development</a:t>
            </a:r>
          </a:p>
          <a:p>
            <a:pPr lvl="1" algn="just"/>
            <a:r>
              <a:rPr lang="en-US" dirty="0"/>
              <a:t>Specification, design, implementation and testing are inter-leaved and the outputs from the development process are decided through a process of negotiation during the software development process.</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4</a:t>
            </a:fld>
            <a:endParaRPr lang="en-US"/>
          </a:p>
        </p:txBody>
      </p:sp>
    </p:spTree>
    <p:extLst>
      <p:ext uri="{BB962C8B-B14F-4D97-AF65-F5344CB8AC3E}">
        <p14:creationId xmlns:p14="http://schemas.microsoft.com/office/powerpoint/2010/main" val="4250143957"/>
      </p:ext>
    </p:extLst>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55838"/>
            <a:ext cx="8229600" cy="1143000"/>
          </a:xfrm>
        </p:spPr>
        <p:txBody>
          <a:bodyPr/>
          <a:lstStyle/>
          <a:p>
            <a:pPr algn="ctr"/>
            <a:r>
              <a:rPr lang="en-US" dirty="0"/>
              <a:t>Agile methods</a:t>
            </a:r>
          </a:p>
        </p:txBody>
      </p:sp>
      <p:sp>
        <p:nvSpPr>
          <p:cNvPr id="3" name="Content Placeholder 2"/>
          <p:cNvSpPr>
            <a:spLocks noGrp="1"/>
          </p:cNvSpPr>
          <p:nvPr>
            <p:ph idx="1"/>
          </p:nvPr>
        </p:nvSpPr>
        <p:spPr/>
        <p:txBody>
          <a:bodyPr/>
          <a:lstStyle/>
          <a:p>
            <a:endParaRPr lang="en-US" dirty="0"/>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a:t>
            </a:fld>
            <a:endParaRPr lang="en-US"/>
          </a:p>
        </p:txBody>
      </p:sp>
    </p:spTree>
    <p:extLst>
      <p:ext uri="{BB962C8B-B14F-4D97-AF65-F5344CB8AC3E}">
        <p14:creationId xmlns:p14="http://schemas.microsoft.com/office/powerpoint/2010/main" val="3495848978"/>
      </p:ext>
    </p:extLst>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6338" name="Rectangle 2"/>
          <p:cNvSpPr>
            <a:spLocks noGrp="1" noChangeArrowheads="1"/>
          </p:cNvSpPr>
          <p:nvPr>
            <p:ph type="title"/>
          </p:nvPr>
        </p:nvSpPr>
        <p:spPr/>
        <p:txBody>
          <a:bodyPr/>
          <a:lstStyle/>
          <a:p>
            <a:r>
              <a:rPr lang="en-US"/>
              <a:t>Agile methods</a:t>
            </a:r>
          </a:p>
        </p:txBody>
      </p:sp>
      <p:sp>
        <p:nvSpPr>
          <p:cNvPr id="1166339" name="Rectangle 3"/>
          <p:cNvSpPr>
            <a:spLocks noGrp="1" noChangeArrowheads="1"/>
          </p:cNvSpPr>
          <p:nvPr>
            <p:ph idx="1"/>
          </p:nvPr>
        </p:nvSpPr>
        <p:spPr/>
        <p:txBody>
          <a:bodyPr/>
          <a:lstStyle/>
          <a:p>
            <a:pPr algn="just"/>
            <a:r>
              <a:rPr lang="en-US" sz="2400" dirty="0"/>
              <a:t>Dissatisfaction with the overheads involved in software design methods of the 1980s and 1990s led to the creation of agile methods. These methods:</a:t>
            </a:r>
          </a:p>
          <a:p>
            <a:pPr lvl="1" algn="just"/>
            <a:r>
              <a:rPr lang="en-US" sz="2000" dirty="0"/>
              <a:t>Focus on the code rather than the design</a:t>
            </a:r>
          </a:p>
          <a:p>
            <a:pPr lvl="1" algn="just"/>
            <a:r>
              <a:rPr lang="en-US" sz="2000" dirty="0"/>
              <a:t>Are based on an iterative approach to software development</a:t>
            </a:r>
          </a:p>
          <a:p>
            <a:pPr lvl="1" algn="just"/>
            <a:r>
              <a:rPr lang="en-US" sz="2000" dirty="0"/>
              <a:t>Are intended to deliver working software quickly and evolve this quickly to meet changing requirements.</a:t>
            </a:r>
          </a:p>
          <a:p>
            <a:pPr algn="just"/>
            <a:r>
              <a:rPr lang="en-US" sz="2400" dirty="0"/>
              <a:t>The aim of agile methods is to reduce overheads in the software process (e.g. by limiting documentation) and to be able to respond quickly to changing requirements without excessive rework.</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6</a:t>
            </a:fld>
            <a:endParaRPr lang="en-US"/>
          </a:p>
        </p:txBody>
      </p:sp>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a:t>The principles of agile methods</a:t>
            </a:r>
            <a:r>
              <a:rPr lang="en-GB" dirty="0"/>
              <a:t> </a:t>
            </a:r>
            <a:endParaRPr lang="en-US" dirty="0"/>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7</a:t>
            </a:fld>
            <a:endParaRPr lang="en-US"/>
          </a:p>
        </p:txBody>
      </p:sp>
      <p:graphicFrame>
        <p:nvGraphicFramePr>
          <p:cNvPr id="4" name="Table 3"/>
          <p:cNvGraphicFramePr>
            <a:graphicFrameLocks noGrp="1"/>
          </p:cNvGraphicFramePr>
          <p:nvPr/>
        </p:nvGraphicFramePr>
        <p:xfrm>
          <a:off x="457200" y="1661727"/>
          <a:ext cx="8271317" cy="4684509"/>
        </p:xfrm>
        <a:graphic>
          <a:graphicData uri="http://schemas.openxmlformats.org/drawingml/2006/table">
            <a:tbl>
              <a:tblPr/>
              <a:tblGrid>
                <a:gridCol w="2300606">
                  <a:extLst>
                    <a:ext uri="{9D8B030D-6E8A-4147-A177-3AD203B41FA5}">
                      <a16:colId xmlns:a16="http://schemas.microsoft.com/office/drawing/2014/main" val="20000"/>
                    </a:ext>
                  </a:extLst>
                </a:gridCol>
                <a:gridCol w="5844958">
                  <a:extLst>
                    <a:ext uri="{9D8B030D-6E8A-4147-A177-3AD203B41FA5}">
                      <a16:colId xmlns:a16="http://schemas.microsoft.com/office/drawing/2014/main" val="20001"/>
                    </a:ext>
                  </a:extLst>
                </a:gridCol>
                <a:gridCol w="125753">
                  <a:extLst>
                    <a:ext uri="{9D8B030D-6E8A-4147-A177-3AD203B41FA5}">
                      <a16:colId xmlns:a16="http://schemas.microsoft.com/office/drawing/2014/main" val="20002"/>
                    </a:ext>
                  </a:extLst>
                </a:gridCol>
              </a:tblGrid>
              <a:tr h="40315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Principle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extLst>
                  <a:ext uri="{0D108BD9-81ED-4DB2-BD59-A6C34878D82A}">
                    <a16:rowId xmlns:a16="http://schemas.microsoft.com/office/drawing/2014/main" val="10000"/>
                  </a:ext>
                </a:extLst>
              </a:tr>
              <a:tr h="1083542">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Customer involvement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Customers should be closely involved throughout the development process. Their role is provide and prioritize new system requirements and to evaluate the iterations of the system.</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hMerge="1">
                  <a:txBody>
                    <a:bodyPr/>
                    <a:lstStyle/>
                    <a:p>
                      <a:endParaRPr lang="en-US" dirty="0"/>
                    </a:p>
                  </a:txBody>
                  <a:tcPr/>
                </a:tc>
                <a:extLst>
                  <a:ext uri="{0D108BD9-81ED-4DB2-BD59-A6C34878D82A}">
                    <a16:rowId xmlns:a16="http://schemas.microsoft.com/office/drawing/2014/main" val="10001"/>
                  </a:ext>
                </a:extLst>
              </a:tr>
              <a:tr h="72997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Incremental delivery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The software is developed in increments with the customer specifying the requirements to be included in each increment.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hMerge="1">
                  <a:txBody>
                    <a:bodyPr/>
                    <a:lstStyle/>
                    <a:p>
                      <a:endParaRPr lang="en-US"/>
                    </a:p>
                  </a:txBody>
                  <a:tcPr/>
                </a:tc>
                <a:extLst>
                  <a:ext uri="{0D108BD9-81ED-4DB2-BD59-A6C34878D82A}">
                    <a16:rowId xmlns:a16="http://schemas.microsoft.com/office/drawing/2014/main" val="10002"/>
                  </a:ext>
                </a:extLst>
              </a:tr>
              <a:tr h="88195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People not process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The skills of the development team should be recognized and exploited. Team members should be left to develop their own ways of working without prescriptive processes.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hMerge="1">
                  <a:txBody>
                    <a:bodyPr/>
                    <a:lstStyle/>
                    <a:p>
                      <a:endParaRPr lang="en-US"/>
                    </a:p>
                  </a:txBody>
                  <a:tcPr/>
                </a:tc>
                <a:extLst>
                  <a:ext uri="{0D108BD9-81ED-4DB2-BD59-A6C34878D82A}">
                    <a16:rowId xmlns:a16="http://schemas.microsoft.com/office/drawing/2014/main" val="10003"/>
                  </a:ext>
                </a:extLst>
              </a:tr>
              <a:tr h="68036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Embrace change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Expect the system requirements to change and so design the system to accommodate these changes.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hMerge="1">
                  <a:txBody>
                    <a:bodyPr/>
                    <a:lstStyle/>
                    <a:p>
                      <a:endParaRPr lang="en-US"/>
                    </a:p>
                  </a:txBody>
                  <a:tcPr/>
                </a:tc>
                <a:extLst>
                  <a:ext uri="{0D108BD9-81ED-4DB2-BD59-A6C34878D82A}">
                    <a16:rowId xmlns:a16="http://schemas.microsoft.com/office/drawing/2014/main" val="10004"/>
                  </a:ext>
                </a:extLst>
              </a:tr>
              <a:tr h="88195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Maintain simplicity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Focus on simplicity in both the software being developed and in the development process. Wherever possible, actively work to eliminate complexity from the system.</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100" b="0" i="0" u="none" strike="noStrike" cap="none" normalizeH="0" baseline="0" dirty="0">
                          <a:ln>
                            <a:noFill/>
                          </a:ln>
                          <a:solidFill>
                            <a:srgbClr val="000000"/>
                          </a:solidFill>
                          <a:effectLst/>
                          <a:latin typeface="Times New Roman" charset="0"/>
                          <a:ea typeface="Calibri" charset="0"/>
                          <a:cs typeface="Times New Roman" charset="0"/>
                        </a:rPr>
                        <a:t> </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 applicability</a:t>
            </a:r>
          </a:p>
        </p:txBody>
      </p:sp>
      <p:sp>
        <p:nvSpPr>
          <p:cNvPr id="3" name="Content Placeholder 2"/>
          <p:cNvSpPr>
            <a:spLocks noGrp="1"/>
          </p:cNvSpPr>
          <p:nvPr>
            <p:ph idx="1"/>
          </p:nvPr>
        </p:nvSpPr>
        <p:spPr/>
        <p:txBody>
          <a:bodyPr/>
          <a:lstStyle/>
          <a:p>
            <a:pPr algn="just"/>
            <a:r>
              <a:rPr lang="en-GB" dirty="0"/>
              <a:t>Product development where a software company is developing a small or medium-sized product for sale. </a:t>
            </a:r>
          </a:p>
          <a:p>
            <a:pPr lvl="1" algn="just"/>
            <a:r>
              <a:rPr lang="en-GB" dirty="0"/>
              <a:t>Virtually all software products and apps are now developed using an agile approach</a:t>
            </a:r>
          </a:p>
          <a:p>
            <a:pPr algn="just"/>
            <a:r>
              <a:rPr lang="en-GB" dirty="0"/>
              <a:t>Custom system development within an organization, where there is a clear commitment from the customer to become involved in the development process and where there are few external rules and regulations that affect the software.</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8</a:t>
            </a:fld>
            <a:endParaRPr lang="en-US"/>
          </a:p>
        </p:txBody>
      </p:sp>
    </p:spTree>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4238"/>
            <a:ext cx="8229600" cy="1143000"/>
          </a:xfrm>
        </p:spPr>
        <p:txBody>
          <a:bodyPr/>
          <a:lstStyle/>
          <a:p>
            <a:pPr algn="ctr"/>
            <a:r>
              <a:rPr lang="en-US" dirty="0"/>
              <a:t>Agile development techniques</a:t>
            </a:r>
          </a:p>
        </p:txBody>
      </p:sp>
      <p:sp>
        <p:nvSpPr>
          <p:cNvPr id="3" name="Content Placeholder 2"/>
          <p:cNvSpPr>
            <a:spLocks noGrp="1"/>
          </p:cNvSpPr>
          <p:nvPr>
            <p:ph idx="1"/>
          </p:nvPr>
        </p:nvSpPr>
        <p:spPr/>
        <p:txBody>
          <a:bodyPr/>
          <a:lstStyle/>
          <a:p>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9</a:t>
            </a:fld>
            <a:endParaRPr lang="en-US"/>
          </a:p>
        </p:txBody>
      </p:sp>
    </p:spTree>
    <p:extLst>
      <p:ext uri="{BB962C8B-B14F-4D97-AF65-F5344CB8AC3E}">
        <p14:creationId xmlns:p14="http://schemas.microsoft.com/office/powerpoint/2010/main" val="2013893865"/>
      </p:ext>
    </p:extLst>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8386" name="Rectangle 2"/>
          <p:cNvSpPr>
            <a:spLocks noGrp="1" noChangeArrowheads="1"/>
          </p:cNvSpPr>
          <p:nvPr>
            <p:ph type="title"/>
          </p:nvPr>
        </p:nvSpPr>
        <p:spPr/>
        <p:txBody>
          <a:bodyPr/>
          <a:lstStyle/>
          <a:p>
            <a:r>
              <a:rPr lang="en-US"/>
              <a:t>Extreme programming</a:t>
            </a:r>
          </a:p>
        </p:txBody>
      </p:sp>
      <p:sp>
        <p:nvSpPr>
          <p:cNvPr id="1168387" name="Rectangle 3"/>
          <p:cNvSpPr>
            <a:spLocks noGrp="1" noChangeArrowheads="1"/>
          </p:cNvSpPr>
          <p:nvPr>
            <p:ph idx="1"/>
          </p:nvPr>
        </p:nvSpPr>
        <p:spPr/>
        <p:txBody>
          <a:bodyPr/>
          <a:lstStyle/>
          <a:p>
            <a:pPr algn="just">
              <a:lnSpc>
                <a:spcPct val="90000"/>
              </a:lnSpc>
            </a:pPr>
            <a:r>
              <a:rPr lang="en-US" dirty="0"/>
              <a:t>A very influential agile method, developed in the late 1990s, that introduced a range of agile development techniques.</a:t>
            </a:r>
          </a:p>
          <a:p>
            <a:pPr algn="just">
              <a:lnSpc>
                <a:spcPct val="90000"/>
              </a:lnSpc>
            </a:pPr>
            <a:r>
              <a:rPr lang="en-US" dirty="0"/>
              <a:t>Extreme Programming (XP) takes an ‘extreme’ approach to iterative development. </a:t>
            </a:r>
          </a:p>
          <a:p>
            <a:pPr lvl="1" algn="just">
              <a:lnSpc>
                <a:spcPct val="90000"/>
              </a:lnSpc>
            </a:pPr>
            <a:r>
              <a:rPr lang="en-US" dirty="0"/>
              <a:t>New versions may be built several times per day;</a:t>
            </a:r>
          </a:p>
          <a:p>
            <a:pPr lvl="1" algn="just">
              <a:lnSpc>
                <a:spcPct val="90000"/>
              </a:lnSpc>
            </a:pPr>
            <a:r>
              <a:rPr lang="en-US" dirty="0"/>
              <a:t>Increments are delivered to customers every 2 weeks;</a:t>
            </a:r>
          </a:p>
          <a:p>
            <a:pPr lvl="1" algn="just">
              <a:lnSpc>
                <a:spcPct val="90000"/>
              </a:lnSpc>
            </a:pPr>
            <a:r>
              <a:rPr lang="en-US" dirty="0"/>
              <a:t>All tests must be run for every build and the build is only accepted if tests run successfully.</a:t>
            </a:r>
          </a:p>
          <a:p>
            <a:pPr algn="just">
              <a:lnSpc>
                <a:spcPct val="90000"/>
              </a:lnSpc>
            </a:pPr>
            <a:endParaRPr lang="en-US"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10</a:t>
            </a:fld>
            <a:endParaRPr lang="en-US"/>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a:t>The extreme programming release cycle</a:t>
            </a:r>
            <a:r>
              <a:rPr lang="en-GB" dirty="0"/>
              <a:t> </a:t>
            </a:r>
            <a:endParaRPr lang="en-US" dirty="0"/>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11</a:t>
            </a:fld>
            <a:endParaRPr lang="en-US"/>
          </a:p>
        </p:txBody>
      </p:sp>
      <p:pic>
        <p:nvPicPr>
          <p:cNvPr id="4" name="Picture 3" descr="3.3-XP-ReleaseCycle.eps"/>
          <p:cNvPicPr>
            <a:picLocks noChangeAspect="1"/>
          </p:cNvPicPr>
          <p:nvPr/>
        </p:nvPicPr>
        <p:blipFill>
          <a:blip r:embed="rId2"/>
          <a:stretch>
            <a:fillRect/>
          </a:stretch>
        </p:blipFill>
        <p:spPr>
          <a:xfrm>
            <a:off x="1192427" y="2372086"/>
            <a:ext cx="6558005" cy="2856274"/>
          </a:xfrm>
          <a:prstGeom prst="rect">
            <a:avLst/>
          </a:prstGeom>
        </p:spPr>
      </p:pic>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a:t>Extreme programming practices (a)</a:t>
            </a:r>
            <a:r>
              <a:rPr lang="en-GB" dirty="0"/>
              <a:t> </a:t>
            </a:r>
            <a:endParaRPr lang="en-US" dirty="0"/>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12</a:t>
            </a:fld>
            <a:endParaRPr lang="en-US"/>
          </a:p>
        </p:txBody>
      </p:sp>
      <p:graphicFrame>
        <p:nvGraphicFramePr>
          <p:cNvPr id="4" name="Table 3"/>
          <p:cNvGraphicFramePr>
            <a:graphicFrameLocks noGrp="1"/>
          </p:cNvGraphicFramePr>
          <p:nvPr>
            <p:extLst>
              <p:ext uri="{D42A27DB-BD31-4B8C-83A1-F6EECF244321}">
                <p14:modId xmlns:p14="http://schemas.microsoft.com/office/powerpoint/2010/main" val="2613462519"/>
              </p:ext>
            </p:extLst>
          </p:nvPr>
        </p:nvGraphicFramePr>
        <p:xfrm>
          <a:off x="457200" y="1580272"/>
          <a:ext cx="8325364" cy="4826016"/>
        </p:xfrm>
        <a:graphic>
          <a:graphicData uri="http://schemas.openxmlformats.org/drawingml/2006/table">
            <a:tbl>
              <a:tblPr/>
              <a:tblGrid>
                <a:gridCol w="2359628">
                  <a:extLst>
                    <a:ext uri="{9D8B030D-6E8A-4147-A177-3AD203B41FA5}">
                      <a16:colId xmlns:a16="http://schemas.microsoft.com/office/drawing/2014/main" val="20000"/>
                    </a:ext>
                  </a:extLst>
                </a:gridCol>
                <a:gridCol w="5965736">
                  <a:extLst>
                    <a:ext uri="{9D8B030D-6E8A-4147-A177-3AD203B41FA5}">
                      <a16:colId xmlns:a16="http://schemas.microsoft.com/office/drawing/2014/main" val="20001"/>
                    </a:ext>
                  </a:extLst>
                </a:gridCol>
              </a:tblGrid>
              <a:tr h="471672">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Principle or practice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17384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Incremental planning</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Requirements are recorded on story cards and the stories to be included in a release are determined by the time available and their relative priority. The developers break these stories into development ‘Tasks’.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95545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Small releases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The minimal useful set of functionality that provides business value is developed first. Releases of the system are frequent and incrementally add functionality to the first release.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518676">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Simple design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Enough design is carried out to meet the current requirements and no more.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73706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Test-first development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An automated unit test framework is used to write tests for a new piece of functionality before that functionality itself is implemented.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73706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Refactoring</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All developers are expected to </a:t>
                      </a:r>
                      <a:r>
                        <a:rPr kumimoji="0" lang="en-GB" sz="1600" b="0" i="0" u="none" strike="noStrike" cap="none" normalizeH="0" baseline="0" dirty="0" err="1">
                          <a:ln>
                            <a:noFill/>
                          </a:ln>
                          <a:solidFill>
                            <a:srgbClr val="000000"/>
                          </a:solidFill>
                          <a:effectLst/>
                          <a:latin typeface="Arial"/>
                          <a:ea typeface="Times New Roman" charset="0"/>
                          <a:cs typeface="Arial"/>
                        </a:rPr>
                        <a:t>refactor</a:t>
                      </a:r>
                      <a:r>
                        <a:rPr kumimoji="0" lang="en-GB" sz="1600" b="0" i="0" u="none" strike="noStrike" cap="none" normalizeH="0" baseline="0" dirty="0">
                          <a:ln>
                            <a:noFill/>
                          </a:ln>
                          <a:solidFill>
                            <a:srgbClr val="000000"/>
                          </a:solidFill>
                          <a:effectLst/>
                          <a:latin typeface="Arial"/>
                          <a:ea typeface="Times New Roman" charset="0"/>
                          <a:cs typeface="Arial"/>
                        </a:rPr>
                        <a:t> the code continuously as soon as possible code improvements are found. This keeps the code simple and maintainable.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a:t>Extreme programming practices (</a:t>
            </a:r>
            <a:r>
              <a:rPr lang="en-US" dirty="0" err="1"/>
              <a:t>b</a:t>
            </a:r>
            <a:r>
              <a:rPr lang="en-US" dirty="0"/>
              <a: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13</a:t>
            </a:fld>
            <a:endParaRPr lang="en-US"/>
          </a:p>
        </p:txBody>
      </p:sp>
      <p:graphicFrame>
        <p:nvGraphicFramePr>
          <p:cNvPr id="4" name="Table 3"/>
          <p:cNvGraphicFramePr>
            <a:graphicFrameLocks noGrp="1"/>
          </p:cNvGraphicFramePr>
          <p:nvPr/>
        </p:nvGraphicFramePr>
        <p:xfrm>
          <a:off x="457199" y="1990725"/>
          <a:ext cx="8217271" cy="4413534"/>
        </p:xfrm>
        <a:graphic>
          <a:graphicData uri="http://schemas.openxmlformats.org/drawingml/2006/table">
            <a:tbl>
              <a:tblPr firstRow="1" bandRow="1">
                <a:tableStyleId>{69CF1AB2-1976-4502-BF36-3FF5EA218861}</a:tableStyleId>
              </a:tblPr>
              <a:tblGrid>
                <a:gridCol w="2285663">
                  <a:extLst>
                    <a:ext uri="{9D8B030D-6E8A-4147-A177-3AD203B41FA5}">
                      <a16:colId xmlns:a16="http://schemas.microsoft.com/office/drawing/2014/main" val="20000"/>
                    </a:ext>
                  </a:extLst>
                </a:gridCol>
                <a:gridCol w="5931608">
                  <a:extLst>
                    <a:ext uri="{9D8B030D-6E8A-4147-A177-3AD203B41FA5}">
                      <a16:colId xmlns:a16="http://schemas.microsoft.com/office/drawing/2014/main" val="20001"/>
                    </a:ext>
                  </a:extLst>
                </a:gridCol>
              </a:tblGrid>
              <a:tr h="612192">
                <a:tc>
                  <a:txBody>
                    <a:bodyPr/>
                    <a:lstStyle/>
                    <a:p>
                      <a:pPr algn="just">
                        <a:spcAft>
                          <a:spcPts val="0"/>
                        </a:spcAft>
                      </a:pPr>
                      <a:r>
                        <a:rPr lang="en-GB" sz="1600" b="0" dirty="0">
                          <a:latin typeface="Arial"/>
                          <a:cs typeface="Arial"/>
                        </a:rPr>
                        <a:t>Pair programming</a:t>
                      </a:r>
                      <a:endParaRPr lang="en-GB" sz="1600" b="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b="0" dirty="0">
                          <a:latin typeface="Arial"/>
                          <a:cs typeface="Arial"/>
                        </a:rPr>
                        <a:t>Developers work in pairs, checking each other’s work and providing the support to always do a good job.</a:t>
                      </a:r>
                      <a:endParaRPr lang="en-GB" sz="1600" b="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0"/>
                  </a:ext>
                </a:extLst>
              </a:tr>
              <a:tr h="830234">
                <a:tc>
                  <a:txBody>
                    <a:bodyPr/>
                    <a:lstStyle/>
                    <a:p>
                      <a:pPr algn="just">
                        <a:spcAft>
                          <a:spcPts val="0"/>
                        </a:spcAft>
                      </a:pPr>
                      <a:r>
                        <a:rPr lang="en-GB" sz="1600" dirty="0">
                          <a:latin typeface="Arial"/>
                          <a:cs typeface="Arial"/>
                        </a:rPr>
                        <a:t>Collective ownership</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The pairs of developers work on all areas of the system, so that no islands of expertise develop and all the developers take responsibility for all of the code. Anyone can change anything.</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1"/>
                  </a:ext>
                </a:extLst>
              </a:tr>
              <a:tr h="830234">
                <a:tc>
                  <a:txBody>
                    <a:bodyPr/>
                    <a:lstStyle/>
                    <a:p>
                      <a:pPr algn="just">
                        <a:spcAft>
                          <a:spcPts val="0"/>
                        </a:spcAft>
                      </a:pPr>
                      <a:r>
                        <a:rPr lang="en-GB" sz="1600" dirty="0">
                          <a:latin typeface="Arial"/>
                          <a:cs typeface="Arial"/>
                        </a:rPr>
                        <a:t>Continuous integration</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a:latin typeface="Arial"/>
                          <a:cs typeface="Arial"/>
                        </a:rPr>
                        <a:t>As soon as the work on a task is complete, it is integrated into the whole system. After any such integration, all the unit tests in the system must pass.</a:t>
                      </a:r>
                      <a:endParaRPr lang="en-GB" sz="160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2"/>
                  </a:ext>
                </a:extLst>
              </a:tr>
              <a:tr h="830234">
                <a:tc>
                  <a:txBody>
                    <a:bodyPr/>
                    <a:lstStyle/>
                    <a:p>
                      <a:pPr algn="just">
                        <a:spcAft>
                          <a:spcPts val="0"/>
                        </a:spcAft>
                      </a:pPr>
                      <a:r>
                        <a:rPr lang="en-GB" sz="1600" dirty="0">
                          <a:latin typeface="Arial"/>
                          <a:cs typeface="Arial"/>
                        </a:rPr>
                        <a:t>Sustainable pace</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Large amounts of overtime are not considered acceptable as the net effect is often to reduce code quality and medium term productivity</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3"/>
                  </a:ext>
                </a:extLst>
              </a:tr>
              <a:tr h="1283088">
                <a:tc>
                  <a:txBody>
                    <a:bodyPr/>
                    <a:lstStyle/>
                    <a:p>
                      <a:pPr algn="just">
                        <a:spcAft>
                          <a:spcPts val="0"/>
                        </a:spcAft>
                      </a:pPr>
                      <a:r>
                        <a:rPr lang="en-GB" sz="1600">
                          <a:latin typeface="Arial"/>
                          <a:cs typeface="Arial"/>
                        </a:rPr>
                        <a:t>On-site customer</a:t>
                      </a:r>
                      <a:endParaRPr lang="en-GB" sz="160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A representative of the end-user of the system (the customer) should be available full time for the use of the XP team. In an extreme programming process, the customer is a member of the development team and is responsible for bringing system requirements to the team for implementation.</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4"/>
                  </a:ext>
                </a:extLst>
              </a:tr>
            </a:tbl>
          </a:graphicData>
        </a:graphic>
      </p:graphicFrame>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9410" name="Rectangle 2"/>
          <p:cNvSpPr>
            <a:spLocks noGrp="1" noChangeArrowheads="1"/>
          </p:cNvSpPr>
          <p:nvPr>
            <p:ph type="title"/>
          </p:nvPr>
        </p:nvSpPr>
        <p:spPr/>
        <p:txBody>
          <a:bodyPr/>
          <a:lstStyle/>
          <a:p>
            <a:r>
              <a:rPr lang="en-US"/>
              <a:t>XP and agile principles</a:t>
            </a:r>
          </a:p>
        </p:txBody>
      </p:sp>
      <p:sp>
        <p:nvSpPr>
          <p:cNvPr id="1169411" name="Rectangle 3"/>
          <p:cNvSpPr>
            <a:spLocks noGrp="1" noChangeArrowheads="1"/>
          </p:cNvSpPr>
          <p:nvPr>
            <p:ph idx="1"/>
          </p:nvPr>
        </p:nvSpPr>
        <p:spPr/>
        <p:txBody>
          <a:bodyPr/>
          <a:lstStyle/>
          <a:p>
            <a:pPr algn="just"/>
            <a:r>
              <a:rPr lang="en-US" sz="2400" dirty="0"/>
              <a:t>Incremental development is supported through small, frequent system releases.</a:t>
            </a:r>
          </a:p>
          <a:p>
            <a:pPr algn="just"/>
            <a:r>
              <a:rPr lang="en-US" sz="2400" dirty="0"/>
              <a:t>Customer involvement means full-time customer engagement with the team.</a:t>
            </a:r>
          </a:p>
          <a:p>
            <a:pPr algn="just"/>
            <a:r>
              <a:rPr lang="en-US" sz="2400" dirty="0"/>
              <a:t>People not process through pair programming, collective ownership and a process that avoids long working hours.</a:t>
            </a:r>
          </a:p>
          <a:p>
            <a:pPr algn="just"/>
            <a:r>
              <a:rPr lang="en-US" sz="2400" dirty="0"/>
              <a:t>Change supported through regular system releases.</a:t>
            </a:r>
          </a:p>
          <a:p>
            <a:pPr algn="just"/>
            <a:r>
              <a:rPr lang="en-US" sz="2400" dirty="0"/>
              <a:t>Maintaining simplicity through constant refactoring of code.</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14</a:t>
            </a:fld>
            <a:endParaRPr lang="en-US"/>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Influential XP practices</a:t>
            </a:r>
          </a:p>
        </p:txBody>
      </p:sp>
      <p:sp>
        <p:nvSpPr>
          <p:cNvPr id="3" name="Content Placeholder 2"/>
          <p:cNvSpPr>
            <a:spLocks noGrp="1"/>
          </p:cNvSpPr>
          <p:nvPr>
            <p:ph idx="1"/>
          </p:nvPr>
        </p:nvSpPr>
        <p:spPr/>
        <p:txBody>
          <a:bodyPr/>
          <a:lstStyle/>
          <a:p>
            <a:pPr algn="just"/>
            <a:r>
              <a:rPr lang="en-US" dirty="0"/>
              <a:t>Extreme programming has a technical focus and is not easy to integrate with management practice in most organizations.</a:t>
            </a:r>
          </a:p>
          <a:p>
            <a:pPr algn="just"/>
            <a:r>
              <a:rPr lang="en-US" dirty="0"/>
              <a:t>Consequently, while agile development uses practices from XP, the method as originally defined is not widely used.</a:t>
            </a:r>
          </a:p>
          <a:p>
            <a:pPr algn="just"/>
            <a:r>
              <a:rPr lang="en-US" dirty="0"/>
              <a:t>Key practices</a:t>
            </a:r>
          </a:p>
          <a:p>
            <a:pPr lvl="1" algn="just"/>
            <a:r>
              <a:rPr lang="en-US" dirty="0"/>
              <a:t>User stories for specification</a:t>
            </a:r>
          </a:p>
          <a:p>
            <a:pPr lvl="1" algn="just"/>
            <a:r>
              <a:rPr lang="en-US" dirty="0"/>
              <a:t>Refactoring</a:t>
            </a:r>
          </a:p>
          <a:p>
            <a:pPr lvl="1" algn="just"/>
            <a:r>
              <a:rPr lang="en-US" dirty="0"/>
              <a:t>Test-first development</a:t>
            </a:r>
          </a:p>
          <a:p>
            <a:pPr lvl="1" algn="just"/>
            <a:r>
              <a:rPr lang="en-US" dirty="0"/>
              <a:t>Pair programming</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15</a:t>
            </a:fld>
            <a:endParaRPr lang="en-US"/>
          </a:p>
        </p:txBody>
      </p:sp>
    </p:spTree>
    <p:extLst>
      <p:ext uri="{BB962C8B-B14F-4D97-AF65-F5344CB8AC3E}">
        <p14:creationId xmlns:p14="http://schemas.microsoft.com/office/powerpoint/2010/main" val="324664539"/>
      </p:ext>
    </p:extLst>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0434" name="Rectangle 2"/>
          <p:cNvSpPr>
            <a:spLocks noGrp="1" noChangeArrowheads="1"/>
          </p:cNvSpPr>
          <p:nvPr>
            <p:ph type="title"/>
          </p:nvPr>
        </p:nvSpPr>
        <p:spPr/>
        <p:txBody>
          <a:bodyPr/>
          <a:lstStyle/>
          <a:p>
            <a:r>
              <a:rPr lang="en-US" dirty="0"/>
              <a:t>User stories for requirements</a:t>
            </a:r>
          </a:p>
        </p:txBody>
      </p:sp>
      <p:sp>
        <p:nvSpPr>
          <p:cNvPr id="1170435" name="Rectangle 3"/>
          <p:cNvSpPr>
            <a:spLocks noGrp="1" noChangeArrowheads="1"/>
          </p:cNvSpPr>
          <p:nvPr>
            <p:ph idx="1"/>
          </p:nvPr>
        </p:nvSpPr>
        <p:spPr/>
        <p:txBody>
          <a:bodyPr/>
          <a:lstStyle/>
          <a:p>
            <a:pPr algn="just"/>
            <a:r>
              <a:rPr lang="en-US" dirty="0"/>
              <a:t>In XP, a customer or user is part of the XP team and is </a:t>
            </a:r>
            <a:r>
              <a:rPr lang="en-US" dirty="0">
                <a:highlight>
                  <a:srgbClr val="FFFF00"/>
                </a:highlight>
              </a:rPr>
              <a:t>responsible for making decisions on requirements.</a:t>
            </a:r>
          </a:p>
          <a:p>
            <a:pPr algn="just"/>
            <a:r>
              <a:rPr lang="en-US" dirty="0"/>
              <a:t>User requirements are </a:t>
            </a:r>
            <a:r>
              <a:rPr lang="en-US" dirty="0">
                <a:highlight>
                  <a:srgbClr val="FFFF00"/>
                </a:highlight>
              </a:rPr>
              <a:t>expressed as user stories</a:t>
            </a:r>
            <a:r>
              <a:rPr lang="en-US" dirty="0"/>
              <a:t> or scenarios.</a:t>
            </a:r>
          </a:p>
          <a:p>
            <a:pPr algn="just"/>
            <a:r>
              <a:rPr lang="en-US" dirty="0"/>
              <a:t>These are written on cards and the development team break them down into implementation tasks. These tasks are the basis of schedule and cost estimates.</a:t>
            </a:r>
          </a:p>
          <a:p>
            <a:pPr algn="just"/>
            <a:r>
              <a:rPr lang="en-US" dirty="0"/>
              <a:t>The customer chooses the stories for inclusion in the next release based on their priorities and the schedule estimates.</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16</a:t>
            </a:fld>
            <a:endParaRPr lang="en-US"/>
          </a:p>
        </p:txBody>
      </p:sp>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a:t>A ‘prescribing medication’ story</a:t>
            </a:r>
            <a:r>
              <a:rPr lang="en-GB" dirty="0"/>
              <a:t> </a:t>
            </a:r>
            <a:endParaRPr lang="en-US" dirty="0"/>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17</a:t>
            </a:fld>
            <a:endParaRPr lang="en-US"/>
          </a:p>
        </p:txBody>
      </p:sp>
      <p:pic>
        <p:nvPicPr>
          <p:cNvPr id="4" name="Picture 3" descr="3.5 StoryCard.eps"/>
          <p:cNvPicPr>
            <a:picLocks noChangeAspect="1"/>
          </p:cNvPicPr>
          <p:nvPr/>
        </p:nvPicPr>
        <p:blipFill>
          <a:blip r:embed="rId2"/>
          <a:stretch>
            <a:fillRect/>
          </a:stretch>
        </p:blipFill>
        <p:spPr>
          <a:xfrm>
            <a:off x="457200" y="1566747"/>
            <a:ext cx="8451130" cy="5060296"/>
          </a:xfrm>
          <a:prstGeom prst="rect">
            <a:avLst/>
          </a:prstGeom>
        </p:spPr>
      </p:pic>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a:t>Examples of task cards for prescribing medication </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18</a:t>
            </a:fld>
            <a:endParaRPr lang="en-US"/>
          </a:p>
        </p:txBody>
      </p:sp>
      <p:pic>
        <p:nvPicPr>
          <p:cNvPr id="4" name="Picture 3" descr="3.6 TaskCards.eps"/>
          <p:cNvPicPr>
            <a:picLocks noChangeAspect="1"/>
          </p:cNvPicPr>
          <p:nvPr/>
        </p:nvPicPr>
        <p:blipFill>
          <a:blip r:embed="rId2"/>
          <a:stretch>
            <a:fillRect/>
          </a:stretch>
        </p:blipFill>
        <p:spPr>
          <a:xfrm>
            <a:off x="1333382" y="1760870"/>
            <a:ext cx="6417050" cy="4518673"/>
          </a:xfrm>
          <a:prstGeom prst="rect">
            <a:avLst/>
          </a:prstGeom>
        </p:spPr>
      </p:pic>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1458" name="Rectangle 2"/>
          <p:cNvSpPr>
            <a:spLocks noGrp="1" noChangeArrowheads="1"/>
          </p:cNvSpPr>
          <p:nvPr>
            <p:ph type="title"/>
          </p:nvPr>
        </p:nvSpPr>
        <p:spPr/>
        <p:txBody>
          <a:bodyPr/>
          <a:lstStyle/>
          <a:p>
            <a:r>
              <a:rPr lang="en-US" dirty="0"/>
              <a:t>Refactoring</a:t>
            </a:r>
          </a:p>
        </p:txBody>
      </p:sp>
      <p:sp>
        <p:nvSpPr>
          <p:cNvPr id="1171459" name="Rectangle 3"/>
          <p:cNvSpPr>
            <a:spLocks noGrp="1" noChangeArrowheads="1"/>
          </p:cNvSpPr>
          <p:nvPr>
            <p:ph idx="1"/>
          </p:nvPr>
        </p:nvSpPr>
        <p:spPr/>
        <p:txBody>
          <a:bodyPr/>
          <a:lstStyle/>
          <a:p>
            <a:pPr algn="just">
              <a:lnSpc>
                <a:spcPct val="90000"/>
              </a:lnSpc>
            </a:pPr>
            <a:r>
              <a:rPr lang="en-US" dirty="0"/>
              <a:t>Conventional wisdom in software engineering is to </a:t>
            </a:r>
            <a:r>
              <a:rPr lang="en-US" dirty="0">
                <a:highlight>
                  <a:srgbClr val="FFFF00"/>
                </a:highlight>
              </a:rPr>
              <a:t>design for change</a:t>
            </a:r>
            <a:r>
              <a:rPr lang="en-US" dirty="0"/>
              <a:t>. It is worth spending time and effort </a:t>
            </a:r>
            <a:r>
              <a:rPr lang="en-US" dirty="0">
                <a:highlight>
                  <a:srgbClr val="FFFF00"/>
                </a:highlight>
              </a:rPr>
              <a:t>anticipating changes as this reduces costs later </a:t>
            </a:r>
            <a:r>
              <a:rPr lang="en-US" dirty="0"/>
              <a:t>in the life cycle.</a:t>
            </a:r>
          </a:p>
          <a:p>
            <a:pPr algn="just">
              <a:lnSpc>
                <a:spcPct val="90000"/>
              </a:lnSpc>
            </a:pPr>
            <a:r>
              <a:rPr lang="en-US" dirty="0"/>
              <a:t>XP, however, maintains that this is not worthwhile as changes cannot be reliably anticipated.</a:t>
            </a:r>
          </a:p>
          <a:p>
            <a:pPr algn="just">
              <a:lnSpc>
                <a:spcPct val="90000"/>
              </a:lnSpc>
            </a:pPr>
            <a:r>
              <a:rPr lang="en-US" dirty="0"/>
              <a:t>Rather, it proposes constant code improvement (refactoring) to make changes easier when they have to be implemented.</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19</a:t>
            </a:fld>
            <a:endParaRPr lang="en-US"/>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Refactoring</a:t>
            </a:r>
          </a:p>
        </p:txBody>
      </p:sp>
      <p:sp>
        <p:nvSpPr>
          <p:cNvPr id="3" name="Content Placeholder 2"/>
          <p:cNvSpPr>
            <a:spLocks noGrp="1"/>
          </p:cNvSpPr>
          <p:nvPr>
            <p:ph idx="1"/>
          </p:nvPr>
        </p:nvSpPr>
        <p:spPr/>
        <p:txBody>
          <a:bodyPr/>
          <a:lstStyle/>
          <a:p>
            <a:pPr algn="just"/>
            <a:r>
              <a:rPr lang="en-US" dirty="0"/>
              <a:t>Programming team look for possible software improvements and make these improvements even where there is no immediate need for them.</a:t>
            </a:r>
          </a:p>
          <a:p>
            <a:pPr algn="just"/>
            <a:r>
              <a:rPr lang="en-US" dirty="0"/>
              <a:t>This improves the understandability of the software and so reduces the need for documentation.</a:t>
            </a:r>
          </a:p>
          <a:p>
            <a:pPr algn="just"/>
            <a:r>
              <a:rPr lang="en-US" dirty="0">
                <a:highlight>
                  <a:srgbClr val="FFFF00"/>
                </a:highlight>
              </a:rPr>
              <a:t>Changes are easier to make because the code is well-structured and clear.</a:t>
            </a:r>
          </a:p>
          <a:p>
            <a:pPr algn="just"/>
            <a:r>
              <a:rPr lang="en-US" dirty="0"/>
              <a:t>However, some changes requires architecture refactoring and this is much more expensive.</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20</a:t>
            </a:fld>
            <a:endParaRPr lang="en-US"/>
          </a:p>
        </p:txBody>
      </p:sp>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refactoring</a:t>
            </a:r>
          </a:p>
        </p:txBody>
      </p:sp>
      <p:sp>
        <p:nvSpPr>
          <p:cNvPr id="3" name="Content Placeholder 2"/>
          <p:cNvSpPr>
            <a:spLocks noGrp="1"/>
          </p:cNvSpPr>
          <p:nvPr>
            <p:ph idx="1"/>
          </p:nvPr>
        </p:nvSpPr>
        <p:spPr/>
        <p:txBody>
          <a:bodyPr/>
          <a:lstStyle/>
          <a:p>
            <a:pPr algn="just"/>
            <a:r>
              <a:rPr lang="en-US" dirty="0"/>
              <a:t>Re-organization of a class hierarchy to remove duplicate code.</a:t>
            </a:r>
          </a:p>
          <a:p>
            <a:pPr algn="just"/>
            <a:r>
              <a:rPr lang="en-US" dirty="0"/>
              <a:t>Tidying up and renaming attributes and methods to make them easier to understand.</a:t>
            </a:r>
          </a:p>
          <a:p>
            <a:pPr algn="just"/>
            <a:r>
              <a:rPr lang="en-US" dirty="0"/>
              <a:t>The replacement of inline code with calls to methods that have been included in a program library.</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21</a:t>
            </a:fld>
            <a:endParaRPr lang="en-US"/>
          </a:p>
        </p:txBody>
      </p:sp>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2482" name="Rectangle 2"/>
          <p:cNvSpPr>
            <a:spLocks noGrp="1" noChangeArrowheads="1"/>
          </p:cNvSpPr>
          <p:nvPr>
            <p:ph type="title"/>
          </p:nvPr>
        </p:nvSpPr>
        <p:spPr/>
        <p:txBody>
          <a:bodyPr/>
          <a:lstStyle/>
          <a:p>
            <a:r>
              <a:rPr lang="en-US" dirty="0"/>
              <a:t>Test-first development</a:t>
            </a:r>
          </a:p>
        </p:txBody>
      </p:sp>
      <p:sp>
        <p:nvSpPr>
          <p:cNvPr id="1172483" name="Rectangle 3"/>
          <p:cNvSpPr>
            <a:spLocks noGrp="1" noChangeArrowheads="1"/>
          </p:cNvSpPr>
          <p:nvPr>
            <p:ph idx="1"/>
          </p:nvPr>
        </p:nvSpPr>
        <p:spPr/>
        <p:txBody>
          <a:bodyPr/>
          <a:lstStyle/>
          <a:p>
            <a:pPr algn="just"/>
            <a:r>
              <a:rPr lang="en-US" dirty="0"/>
              <a:t>Testing is central to XP and XP has developed an approach where the program is tested after every change has been made.</a:t>
            </a:r>
          </a:p>
          <a:p>
            <a:pPr algn="just"/>
            <a:r>
              <a:rPr lang="en-US" dirty="0"/>
              <a:t>XP testing features:</a:t>
            </a:r>
          </a:p>
          <a:p>
            <a:pPr lvl="1" algn="just"/>
            <a:r>
              <a:rPr lang="en-US" dirty="0"/>
              <a:t>Test-first development.</a:t>
            </a:r>
          </a:p>
          <a:p>
            <a:pPr lvl="1" algn="just"/>
            <a:r>
              <a:rPr lang="en-US" dirty="0"/>
              <a:t>Incremental test development from scenarios.</a:t>
            </a:r>
          </a:p>
          <a:p>
            <a:pPr lvl="1" algn="just"/>
            <a:r>
              <a:rPr lang="en-US" dirty="0"/>
              <a:t>User involvement in test development and validation.</a:t>
            </a:r>
          </a:p>
          <a:p>
            <a:pPr lvl="1" algn="just"/>
            <a:r>
              <a:rPr lang="en-US" dirty="0"/>
              <a:t>Automated test harnesses are used to run all component tests each time that a new release is built.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22</a:t>
            </a:fld>
            <a:endParaRPr lang="en-US"/>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3506" name="Rectangle 2"/>
          <p:cNvSpPr>
            <a:spLocks noGrp="1" noChangeArrowheads="1"/>
          </p:cNvSpPr>
          <p:nvPr>
            <p:ph type="title"/>
          </p:nvPr>
        </p:nvSpPr>
        <p:spPr/>
        <p:txBody>
          <a:bodyPr/>
          <a:lstStyle/>
          <a:p>
            <a:r>
              <a:rPr lang="en-US" dirty="0"/>
              <a:t>Test-driven development</a:t>
            </a:r>
          </a:p>
        </p:txBody>
      </p:sp>
      <p:sp>
        <p:nvSpPr>
          <p:cNvPr id="1173507" name="Rectangle 3"/>
          <p:cNvSpPr>
            <a:spLocks noGrp="1" noChangeArrowheads="1"/>
          </p:cNvSpPr>
          <p:nvPr>
            <p:ph idx="1"/>
          </p:nvPr>
        </p:nvSpPr>
        <p:spPr/>
        <p:txBody>
          <a:bodyPr/>
          <a:lstStyle/>
          <a:p>
            <a:pPr algn="just">
              <a:lnSpc>
                <a:spcPct val="90000"/>
              </a:lnSpc>
            </a:pPr>
            <a:r>
              <a:rPr lang="en-US" dirty="0"/>
              <a:t>Writing tests before code clarifies the requirements to be implemented.</a:t>
            </a:r>
          </a:p>
          <a:p>
            <a:pPr algn="just">
              <a:lnSpc>
                <a:spcPct val="90000"/>
              </a:lnSpc>
            </a:pPr>
            <a:r>
              <a:rPr lang="en-US" dirty="0"/>
              <a:t>Tests are written as programs rather than data so that they can be executed automatically. The test includes a check that it has executed correctly.</a:t>
            </a:r>
          </a:p>
          <a:p>
            <a:pPr lvl="1" algn="just">
              <a:lnSpc>
                <a:spcPct val="90000"/>
              </a:lnSpc>
            </a:pPr>
            <a:r>
              <a:rPr lang="en-US" dirty="0"/>
              <a:t>Usually relies on a testing framework such as </a:t>
            </a:r>
            <a:r>
              <a:rPr lang="en-US" dirty="0" err="1"/>
              <a:t>Junit</a:t>
            </a:r>
            <a:r>
              <a:rPr lang="en-US" dirty="0"/>
              <a:t>.</a:t>
            </a:r>
          </a:p>
          <a:p>
            <a:pPr algn="just">
              <a:lnSpc>
                <a:spcPct val="90000"/>
              </a:lnSpc>
            </a:pPr>
            <a:r>
              <a:rPr lang="en-US" dirty="0"/>
              <a:t>All previous and new tests are run automatically when new functionality is added, thus checking that the new functionality has not introduced errors.</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23</a:t>
            </a:fld>
            <a:endParaRPr lang="en-US"/>
          </a:p>
        </p:txBody>
      </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Customer involvement</a:t>
            </a:r>
          </a:p>
        </p:txBody>
      </p:sp>
      <p:sp>
        <p:nvSpPr>
          <p:cNvPr id="3" name="Content Placeholder 2"/>
          <p:cNvSpPr>
            <a:spLocks noGrp="1"/>
          </p:cNvSpPr>
          <p:nvPr>
            <p:ph idx="1"/>
          </p:nvPr>
        </p:nvSpPr>
        <p:spPr/>
        <p:txBody>
          <a:bodyPr/>
          <a:lstStyle/>
          <a:p>
            <a:pPr algn="just"/>
            <a:r>
              <a:rPr lang="en-GB" dirty="0"/>
              <a:t>The role of the customer in the testing process is to help develop acceptance tests for the stories that are to be implemented in the next release of the system. </a:t>
            </a:r>
          </a:p>
          <a:p>
            <a:pPr algn="just"/>
            <a:r>
              <a:rPr lang="en-GB" dirty="0"/>
              <a:t>The customer who is part of the team writes tests as development proceeds. All new code is therefore validated to ensure that it is what the customer needs. </a:t>
            </a:r>
          </a:p>
          <a:p>
            <a:pPr algn="just"/>
            <a:r>
              <a:rPr lang="en-GB" dirty="0"/>
              <a:t>However, people adopting the customer role have limited time available and so cannot work full-time with the development team. They may feel that providing the requirements was enough of a contribution and so may be reluctant to get involved in the testing process. </a:t>
            </a:r>
            <a:endParaRPr lang="en-US" dirty="0"/>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24</a:t>
            </a:fld>
            <a:endParaRPr lang="en-US"/>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a:t>Test case description for dose checking</a:t>
            </a:r>
            <a:r>
              <a:rPr lang="en-GB" dirty="0"/>
              <a:t> </a:t>
            </a:r>
            <a:endParaRPr lang="en-US" dirty="0"/>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25</a:t>
            </a:fld>
            <a:endParaRPr lang="en-US"/>
          </a:p>
        </p:txBody>
      </p:sp>
      <p:pic>
        <p:nvPicPr>
          <p:cNvPr id="4" name="Picture 3" descr="3.7 DoseChecking.eps"/>
          <p:cNvPicPr>
            <a:picLocks noChangeAspect="1"/>
          </p:cNvPicPr>
          <p:nvPr/>
        </p:nvPicPr>
        <p:blipFill>
          <a:blip r:embed="rId2"/>
          <a:stretch>
            <a:fillRect/>
          </a:stretch>
        </p:blipFill>
        <p:spPr>
          <a:xfrm>
            <a:off x="805735" y="1950230"/>
            <a:ext cx="7436363" cy="4049252"/>
          </a:xfrm>
          <a:prstGeom prst="rect">
            <a:avLst/>
          </a:prstGeom>
        </p:spPr>
      </p:pic>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 automation</a:t>
            </a:r>
          </a:p>
        </p:txBody>
      </p:sp>
      <p:sp>
        <p:nvSpPr>
          <p:cNvPr id="3" name="Content Placeholder 2"/>
          <p:cNvSpPr>
            <a:spLocks noGrp="1"/>
          </p:cNvSpPr>
          <p:nvPr>
            <p:ph idx="1"/>
          </p:nvPr>
        </p:nvSpPr>
        <p:spPr/>
        <p:txBody>
          <a:bodyPr/>
          <a:lstStyle/>
          <a:p>
            <a:pPr algn="just"/>
            <a:r>
              <a:rPr lang="en-GB" dirty="0"/>
              <a:t>Test automation means that tests are written as executable components before the task is implemented </a:t>
            </a:r>
          </a:p>
          <a:p>
            <a:pPr lvl="1" algn="just"/>
            <a:r>
              <a:rPr lang="en-GB" dirty="0"/>
              <a:t>These testing components should be stand-alone, should simulate the submission of input to be tested and should check that the result meets the output specification. An automated test framework (e.g. </a:t>
            </a:r>
            <a:r>
              <a:rPr lang="en-GB" dirty="0" err="1"/>
              <a:t>Junit</a:t>
            </a:r>
            <a:r>
              <a:rPr lang="en-GB" dirty="0"/>
              <a:t>) is a system that makes it easy to write executable tests and submit a set of tests for execution. </a:t>
            </a:r>
          </a:p>
          <a:p>
            <a:pPr algn="just"/>
            <a:r>
              <a:rPr lang="en-GB" dirty="0"/>
              <a:t>As testing is automated, there is always a set of tests that can be quickly and easily executed</a:t>
            </a:r>
          </a:p>
          <a:p>
            <a:pPr lvl="1" algn="just"/>
            <a:r>
              <a:rPr lang="en-GB" dirty="0"/>
              <a:t>Whenever any functionality is added to the system, the tests can be run and problems that the new code has introduced can be caught immediately.  </a:t>
            </a:r>
          </a:p>
          <a:p>
            <a:endParaRPr lang="en-US" dirty="0"/>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26</a:t>
            </a:fld>
            <a:endParaRPr lang="en-US"/>
          </a:p>
        </p:txBody>
      </p:sp>
    </p:spTree>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with test-first development</a:t>
            </a:r>
          </a:p>
        </p:txBody>
      </p:sp>
      <p:sp>
        <p:nvSpPr>
          <p:cNvPr id="3" name="Content Placeholder 2"/>
          <p:cNvSpPr>
            <a:spLocks noGrp="1"/>
          </p:cNvSpPr>
          <p:nvPr>
            <p:ph idx="1"/>
          </p:nvPr>
        </p:nvSpPr>
        <p:spPr/>
        <p:txBody>
          <a:bodyPr/>
          <a:lstStyle/>
          <a:p>
            <a:pPr algn="just"/>
            <a:r>
              <a:rPr lang="en-GB" dirty="0"/>
              <a:t>Programmers prefer programming to testing and sometimes they take short cuts when writing tests. For example, they may write incomplete tests that do not check for all possible exceptions that may occur. </a:t>
            </a:r>
          </a:p>
          <a:p>
            <a:pPr algn="just"/>
            <a:r>
              <a:rPr lang="en-GB" dirty="0"/>
              <a:t>Some tests can be very difficult to write incrementally. For example, in a complex user interface, it is often difficult to write unit tests for the code that implements the ‘display logic’ and workflow between screens. </a:t>
            </a:r>
          </a:p>
          <a:p>
            <a:pPr algn="just"/>
            <a:r>
              <a:rPr lang="en-GB" dirty="0"/>
              <a:t>It difficult to judge the completeness of a set of tests. Although you may have a lot of system tests, your test set may not provide complete coverage.  </a:t>
            </a:r>
          </a:p>
          <a:p>
            <a:endParaRPr lang="en-US" dirty="0"/>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27</a:t>
            </a:fld>
            <a:endParaRPr lang="en-US"/>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4530" name="Rectangle 2"/>
          <p:cNvSpPr>
            <a:spLocks noGrp="1" noChangeArrowheads="1"/>
          </p:cNvSpPr>
          <p:nvPr>
            <p:ph type="title"/>
          </p:nvPr>
        </p:nvSpPr>
        <p:spPr/>
        <p:txBody>
          <a:bodyPr/>
          <a:lstStyle/>
          <a:p>
            <a:r>
              <a:rPr lang="en-US"/>
              <a:t>Pair programming</a:t>
            </a:r>
          </a:p>
        </p:txBody>
      </p:sp>
      <p:sp>
        <p:nvSpPr>
          <p:cNvPr id="1174531" name="Rectangle 3"/>
          <p:cNvSpPr>
            <a:spLocks noGrp="1" noChangeArrowheads="1"/>
          </p:cNvSpPr>
          <p:nvPr>
            <p:ph idx="1"/>
          </p:nvPr>
        </p:nvSpPr>
        <p:spPr/>
        <p:txBody>
          <a:bodyPr/>
          <a:lstStyle/>
          <a:p>
            <a:pPr algn="just">
              <a:lnSpc>
                <a:spcPct val="90000"/>
              </a:lnSpc>
            </a:pPr>
            <a:r>
              <a:rPr lang="en-US" sz="2400" dirty="0"/>
              <a:t>Pair </a:t>
            </a:r>
            <a:r>
              <a:rPr lang="en-US" dirty="0"/>
              <a:t>programming involves </a:t>
            </a:r>
            <a:r>
              <a:rPr lang="en-US" sz="2400" dirty="0"/>
              <a:t>programmers working in pairs, developing code together.</a:t>
            </a:r>
          </a:p>
          <a:p>
            <a:pPr algn="just">
              <a:lnSpc>
                <a:spcPct val="90000"/>
              </a:lnSpc>
            </a:pPr>
            <a:r>
              <a:rPr lang="en-US" sz="2400" dirty="0"/>
              <a:t>This helps develop common ownership of code and spreads knowledge across the team.</a:t>
            </a:r>
          </a:p>
          <a:p>
            <a:pPr algn="just">
              <a:lnSpc>
                <a:spcPct val="90000"/>
              </a:lnSpc>
            </a:pPr>
            <a:r>
              <a:rPr lang="en-US" sz="2400" dirty="0"/>
              <a:t>It serves as an informal review process as each line of code is looked at by more than 1 person.</a:t>
            </a:r>
          </a:p>
          <a:p>
            <a:pPr algn="just">
              <a:lnSpc>
                <a:spcPct val="90000"/>
              </a:lnSpc>
            </a:pPr>
            <a:r>
              <a:rPr lang="en-US" sz="2400" dirty="0"/>
              <a:t>It encourages refactoring as the whole team can benefit from </a:t>
            </a:r>
            <a:r>
              <a:rPr lang="en-US" dirty="0"/>
              <a:t>improving the system code.</a:t>
            </a:r>
            <a:endParaRPr lang="en-US" sz="2400"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28</a:t>
            </a:fld>
            <a:endParaRPr lang="en-US"/>
          </a:p>
        </p:txBody>
      </p:sp>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Pair programming</a:t>
            </a:r>
          </a:p>
        </p:txBody>
      </p:sp>
      <p:sp>
        <p:nvSpPr>
          <p:cNvPr id="3" name="Content Placeholder 2"/>
          <p:cNvSpPr>
            <a:spLocks noGrp="1"/>
          </p:cNvSpPr>
          <p:nvPr>
            <p:ph idx="1"/>
          </p:nvPr>
        </p:nvSpPr>
        <p:spPr/>
        <p:txBody>
          <a:bodyPr/>
          <a:lstStyle/>
          <a:p>
            <a:pPr algn="just"/>
            <a:r>
              <a:rPr lang="en-GB" dirty="0"/>
              <a:t>In pair programming, programmers sit together at the same computer to develop the software.</a:t>
            </a:r>
          </a:p>
          <a:p>
            <a:pPr algn="just"/>
            <a:r>
              <a:rPr lang="en-GB" dirty="0"/>
              <a:t>Pairs are created dynamically so that all team members work with each other during the development process.</a:t>
            </a:r>
          </a:p>
          <a:p>
            <a:pPr algn="just"/>
            <a:r>
              <a:rPr lang="en-GB" dirty="0"/>
              <a:t>The sharing of knowledge that happens during pair programming is very important as it reduces the overall risks to a project when team members leave.</a:t>
            </a:r>
          </a:p>
          <a:p>
            <a:pPr algn="just"/>
            <a:r>
              <a:rPr lang="en-GB" dirty="0"/>
              <a:t>Pair programming is not necessarily inefficient and there is some evidence that suggests that a pair working together is more efficient than 2 programmers working separately. </a:t>
            </a:r>
            <a:endParaRPr lang="en-US" dirty="0"/>
          </a:p>
          <a:p>
            <a:endParaRPr lang="en-GB"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29</a:t>
            </a:fld>
            <a:endParaRPr lang="en-US"/>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92338"/>
            <a:ext cx="8229600" cy="1143000"/>
          </a:xfrm>
        </p:spPr>
        <p:txBody>
          <a:bodyPr/>
          <a:lstStyle/>
          <a:p>
            <a:pPr algn="ctr"/>
            <a:r>
              <a:rPr lang="en-US" dirty="0"/>
              <a:t>Agile project management</a:t>
            </a:r>
          </a:p>
        </p:txBody>
      </p:sp>
      <p:sp>
        <p:nvSpPr>
          <p:cNvPr id="3" name="Content Placeholder 2"/>
          <p:cNvSpPr>
            <a:spLocks noGrp="1"/>
          </p:cNvSpPr>
          <p:nvPr>
            <p:ph idx="1"/>
          </p:nvPr>
        </p:nvSpPr>
        <p:spPr/>
        <p:txBody>
          <a:bodyPr/>
          <a:lstStyle/>
          <a:p>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30</a:t>
            </a:fld>
            <a:endParaRPr lang="en-US"/>
          </a:p>
        </p:txBody>
      </p:sp>
    </p:spTree>
    <p:extLst>
      <p:ext uri="{BB962C8B-B14F-4D97-AF65-F5344CB8AC3E}">
        <p14:creationId xmlns:p14="http://schemas.microsoft.com/office/powerpoint/2010/main" val="982006760"/>
      </p:ext>
    </p:extLst>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project management</a:t>
            </a:r>
          </a:p>
        </p:txBody>
      </p:sp>
      <p:sp>
        <p:nvSpPr>
          <p:cNvPr id="3" name="Content Placeholder 2"/>
          <p:cNvSpPr>
            <a:spLocks noGrp="1"/>
          </p:cNvSpPr>
          <p:nvPr>
            <p:ph idx="1"/>
          </p:nvPr>
        </p:nvSpPr>
        <p:spPr/>
        <p:txBody>
          <a:bodyPr/>
          <a:lstStyle/>
          <a:p>
            <a:pPr algn="just"/>
            <a:r>
              <a:rPr lang="en-GB" dirty="0"/>
              <a:t>The principal responsibility of software project managers is to manage the project so that the software is delivered on time and within the planned budget for the project. </a:t>
            </a:r>
          </a:p>
          <a:p>
            <a:pPr algn="just"/>
            <a:r>
              <a:rPr lang="en-GB" dirty="0"/>
              <a:t>The standard approach to project management is plan-driven. Managers draw up a plan for the project showing what should be delivered, when it should be delivered and who will work on the development of the project deliverables. </a:t>
            </a:r>
          </a:p>
          <a:p>
            <a:pPr algn="just"/>
            <a:r>
              <a:rPr lang="en-GB" b="1" dirty="0"/>
              <a:t>Agile project management requires a different approach, which is adapted to incremental development and the practices used in agile methods</a:t>
            </a:r>
            <a:r>
              <a:rPr lang="en-GB" dirty="0"/>
              <a:t>. </a:t>
            </a:r>
            <a:endParaRPr lang="en-US"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31</a:t>
            </a:fld>
            <a:endParaRPr lang="en-US"/>
          </a:p>
        </p:txBody>
      </p:sp>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a:t>
            </a:r>
          </a:p>
        </p:txBody>
      </p:sp>
      <p:sp>
        <p:nvSpPr>
          <p:cNvPr id="3" name="Content Placeholder 2"/>
          <p:cNvSpPr>
            <a:spLocks noGrp="1"/>
          </p:cNvSpPr>
          <p:nvPr>
            <p:ph idx="1"/>
          </p:nvPr>
        </p:nvSpPr>
        <p:spPr/>
        <p:txBody>
          <a:bodyPr/>
          <a:lstStyle/>
          <a:p>
            <a:pPr algn="just"/>
            <a:r>
              <a:rPr lang="en-GB" b="1" dirty="0"/>
              <a:t>Scrum is an agile method </a:t>
            </a:r>
            <a:r>
              <a:rPr lang="en-GB" dirty="0"/>
              <a:t>that focuses on managing iterative development rather than specific agile practices.</a:t>
            </a:r>
          </a:p>
          <a:p>
            <a:pPr algn="just"/>
            <a:r>
              <a:rPr lang="en-GB" dirty="0"/>
              <a:t>There are </a:t>
            </a:r>
            <a:r>
              <a:rPr lang="en-GB" b="1" dirty="0"/>
              <a:t>three phases </a:t>
            </a:r>
            <a:r>
              <a:rPr lang="en-GB" dirty="0"/>
              <a:t>in Scrum. </a:t>
            </a:r>
          </a:p>
          <a:p>
            <a:pPr lvl="1" algn="just"/>
            <a:r>
              <a:rPr lang="en-GB" dirty="0"/>
              <a:t>The </a:t>
            </a:r>
            <a:r>
              <a:rPr lang="en-GB" b="1" dirty="0"/>
              <a:t>initial phase is an outline planning phase </a:t>
            </a:r>
            <a:r>
              <a:rPr lang="en-GB" dirty="0"/>
              <a:t>where you establish the general objectives for the project and design the software architecture. </a:t>
            </a:r>
          </a:p>
          <a:p>
            <a:pPr lvl="1" algn="just"/>
            <a:r>
              <a:rPr lang="en-GB" dirty="0"/>
              <a:t>This is followed by a series of </a:t>
            </a:r>
            <a:r>
              <a:rPr lang="en-GB" b="1" dirty="0"/>
              <a:t>sprint cycles</a:t>
            </a:r>
            <a:r>
              <a:rPr lang="en-GB" dirty="0"/>
              <a:t>, where each cycle develops an increment of the system. </a:t>
            </a:r>
          </a:p>
          <a:p>
            <a:pPr lvl="1" algn="just"/>
            <a:r>
              <a:rPr lang="en-GB" dirty="0"/>
              <a:t>The </a:t>
            </a:r>
            <a:r>
              <a:rPr lang="en-GB" b="1" dirty="0"/>
              <a:t>project closure phase </a:t>
            </a:r>
            <a:r>
              <a:rPr lang="en-GB" dirty="0"/>
              <a:t>wraps up the project, completes required documentation such as system help frames and user manuals and assesses the lessons learned from the project.</a:t>
            </a:r>
          </a:p>
          <a:p>
            <a:pPr marL="0" indent="0">
              <a:buNone/>
            </a:pPr>
            <a:endParaRPr lang="en-GB" dirty="0"/>
          </a:p>
          <a:p>
            <a:pPr marL="0" indent="0">
              <a:buNone/>
            </a:pPr>
            <a:endParaRPr lang="en-US" dirty="0"/>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32</a:t>
            </a:fld>
            <a:endParaRPr lang="en-US"/>
          </a:p>
        </p:txBody>
      </p:sp>
    </p:spTree>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 terminology (a)</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780441228"/>
              </p:ext>
            </p:extLst>
          </p:nvPr>
        </p:nvGraphicFramePr>
        <p:xfrm>
          <a:off x="457200" y="1809750"/>
          <a:ext cx="8229600" cy="4731123"/>
        </p:xfrm>
        <a:graphic>
          <a:graphicData uri="http://schemas.openxmlformats.org/drawingml/2006/table">
            <a:tbl>
              <a:tblPr firstRow="1" bandRow="1">
                <a:tableStyleId>{5C22544A-7EE6-4342-B048-85BDC9FD1C3A}</a:tableStyleId>
              </a:tblPr>
              <a:tblGrid>
                <a:gridCol w="1955800">
                  <a:extLst>
                    <a:ext uri="{9D8B030D-6E8A-4147-A177-3AD203B41FA5}">
                      <a16:colId xmlns:a16="http://schemas.microsoft.com/office/drawing/2014/main" val="20000"/>
                    </a:ext>
                  </a:extLst>
                </a:gridCol>
                <a:gridCol w="6273800">
                  <a:extLst>
                    <a:ext uri="{9D8B030D-6E8A-4147-A177-3AD203B41FA5}">
                      <a16:colId xmlns:a16="http://schemas.microsoft.com/office/drawing/2014/main" val="20001"/>
                    </a:ext>
                  </a:extLst>
                </a:gridCol>
              </a:tblGrid>
              <a:tr h="571500">
                <a:tc>
                  <a:txBody>
                    <a:bodyPr/>
                    <a:lstStyle/>
                    <a:p>
                      <a:r>
                        <a:rPr lang="en-US" dirty="0"/>
                        <a:t>Scrum term</a:t>
                      </a:r>
                    </a:p>
                  </a:txBody>
                  <a:tcPr/>
                </a:tc>
                <a:tc>
                  <a:txBody>
                    <a:bodyPr/>
                    <a:lstStyle/>
                    <a:p>
                      <a:r>
                        <a:rPr lang="en-US" dirty="0"/>
                        <a:t>Definition</a:t>
                      </a:r>
                    </a:p>
                  </a:txBody>
                  <a:tcPr/>
                </a:tc>
                <a:extLst>
                  <a:ext uri="{0D108BD9-81ED-4DB2-BD59-A6C34878D82A}">
                    <a16:rowId xmlns:a16="http://schemas.microsoft.com/office/drawing/2014/main" val="10000"/>
                  </a:ext>
                </a:extLst>
              </a:tr>
              <a:tr h="745863">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Development team</a:t>
                      </a:r>
                    </a:p>
                  </a:txBody>
                  <a:tcPr marL="68580" marR="68580" marT="0" marB="0"/>
                </a:tc>
                <a:tc>
                  <a:txBody>
                    <a:bodyPr/>
                    <a:lstStyle/>
                    <a:p>
                      <a:pPr indent="0" algn="just">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A self-organizing group of software developers, </a:t>
                      </a:r>
                      <a:r>
                        <a:rPr lang="en-GB" sz="1400" b="1" dirty="0">
                          <a:solidFill>
                            <a:srgbClr val="000000"/>
                          </a:solidFill>
                          <a:effectLst/>
                          <a:latin typeface="Arial"/>
                          <a:ea typeface="Times New Roman"/>
                          <a:cs typeface="Times New Roman"/>
                        </a:rPr>
                        <a:t>which should be no more than 7 people.</a:t>
                      </a:r>
                      <a:r>
                        <a:rPr lang="en-GB" sz="1400" dirty="0">
                          <a:solidFill>
                            <a:srgbClr val="000000"/>
                          </a:solidFill>
                          <a:effectLst/>
                          <a:latin typeface="Arial"/>
                          <a:ea typeface="Times New Roman"/>
                          <a:cs typeface="Times New Roman"/>
                        </a:rPr>
                        <a:t> They are responsible for </a:t>
                      </a:r>
                      <a:r>
                        <a:rPr lang="en-GB" sz="1400" b="1" dirty="0">
                          <a:solidFill>
                            <a:srgbClr val="000000"/>
                          </a:solidFill>
                          <a:effectLst/>
                          <a:latin typeface="Arial"/>
                          <a:ea typeface="Times New Roman"/>
                          <a:cs typeface="Times New Roman"/>
                        </a:rPr>
                        <a:t>developing the software</a:t>
                      </a:r>
                      <a:r>
                        <a:rPr lang="en-GB" sz="1400" dirty="0">
                          <a:solidFill>
                            <a:srgbClr val="000000"/>
                          </a:solidFill>
                          <a:effectLst/>
                          <a:latin typeface="Arial"/>
                          <a:ea typeface="Times New Roman"/>
                          <a:cs typeface="Times New Roman"/>
                        </a:rPr>
                        <a:t> and other essential </a:t>
                      </a:r>
                      <a:r>
                        <a:rPr lang="en-GB" sz="1400" b="1" dirty="0">
                          <a:solidFill>
                            <a:srgbClr val="000000"/>
                          </a:solidFill>
                          <a:effectLst/>
                          <a:latin typeface="Arial"/>
                          <a:ea typeface="Times New Roman"/>
                          <a:cs typeface="Times New Roman"/>
                        </a:rPr>
                        <a:t>project documents</a:t>
                      </a:r>
                      <a:r>
                        <a:rPr lang="en-GB" sz="1400" dirty="0">
                          <a:solidFill>
                            <a:srgbClr val="000000"/>
                          </a:solidFill>
                          <a:effectLst/>
                          <a:latin typeface="Arial"/>
                          <a:ea typeface="Times New Roman"/>
                          <a:cs typeface="Times New Roman"/>
                        </a:rPr>
                        <a:t>.</a:t>
                      </a:r>
                    </a:p>
                  </a:txBody>
                  <a:tcPr marL="68580" marR="68580" marT="0" marB="0"/>
                </a:tc>
                <a:extLst>
                  <a:ext uri="{0D108BD9-81ED-4DB2-BD59-A6C34878D82A}">
                    <a16:rowId xmlns:a16="http://schemas.microsoft.com/office/drawing/2014/main" val="10001"/>
                  </a:ext>
                </a:extLst>
              </a:tr>
              <a:tr h="827601">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Potentially shippable product increment</a:t>
                      </a:r>
                    </a:p>
                  </a:txBody>
                  <a:tcPr marL="68580" marR="68580" marT="0" marB="0"/>
                </a:tc>
                <a:tc>
                  <a:txBody>
                    <a:bodyPr/>
                    <a:lstStyle/>
                    <a:p>
                      <a:pPr indent="0" algn="just">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The </a:t>
                      </a:r>
                      <a:r>
                        <a:rPr lang="en-GB" sz="1400" b="1" dirty="0">
                          <a:solidFill>
                            <a:srgbClr val="000000"/>
                          </a:solidFill>
                          <a:effectLst/>
                          <a:latin typeface="Arial"/>
                          <a:ea typeface="Times New Roman"/>
                          <a:cs typeface="Times New Roman"/>
                        </a:rPr>
                        <a:t>software increment that is delivered from a sprint</a:t>
                      </a:r>
                      <a:r>
                        <a:rPr lang="en-GB" sz="1400" dirty="0">
                          <a:solidFill>
                            <a:srgbClr val="000000"/>
                          </a:solidFill>
                          <a:effectLst/>
                          <a:latin typeface="Arial"/>
                          <a:ea typeface="Times New Roman"/>
                          <a:cs typeface="Times New Roman"/>
                        </a:rPr>
                        <a:t>. The idea is that this should be ‘potentially shippable’ which means that it is in a finished state and no further work, such as testing, is needed to  incorporate it into the final product. </a:t>
                      </a:r>
                      <a:r>
                        <a:rPr lang="en-GB" sz="1400" b="1" dirty="0">
                          <a:solidFill>
                            <a:srgbClr val="000000"/>
                          </a:solidFill>
                          <a:effectLst/>
                          <a:latin typeface="Arial"/>
                          <a:ea typeface="Times New Roman"/>
                          <a:cs typeface="Times New Roman"/>
                        </a:rPr>
                        <a:t>In practice, this is not always achievable</a:t>
                      </a:r>
                      <a:r>
                        <a:rPr lang="en-GB" sz="1400" dirty="0">
                          <a:solidFill>
                            <a:srgbClr val="000000"/>
                          </a:solidFill>
                          <a:effectLst/>
                          <a:latin typeface="Arial"/>
                          <a:ea typeface="Times New Roman"/>
                          <a:cs typeface="Times New Roman"/>
                        </a:rPr>
                        <a:t>.</a:t>
                      </a:r>
                    </a:p>
                    <a:p>
                      <a:pPr indent="0" algn="just">
                        <a:spcAft>
                          <a:spcPts val="0"/>
                        </a:spcAft>
                        <a:tabLst>
                          <a:tab pos="342900" algn="l"/>
                          <a:tab pos="685800" algn="l"/>
                          <a:tab pos="1028700" algn="l"/>
                        </a:tabLst>
                      </a:pPr>
                      <a:endParaRPr lang="en-GB" sz="140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2"/>
                  </a:ext>
                </a:extLst>
              </a:tr>
              <a:tr h="827601">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Product backlog</a:t>
                      </a:r>
                    </a:p>
                  </a:txBody>
                  <a:tcPr marL="68580" marR="68580" marT="0" marB="0"/>
                </a:tc>
                <a:tc>
                  <a:txBody>
                    <a:bodyPr/>
                    <a:lstStyle/>
                    <a:p>
                      <a:pPr indent="0" algn="just">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This is a </a:t>
                      </a:r>
                      <a:r>
                        <a:rPr lang="en-GB" sz="1400" b="1" dirty="0">
                          <a:solidFill>
                            <a:srgbClr val="000000"/>
                          </a:solidFill>
                          <a:effectLst/>
                          <a:latin typeface="Arial"/>
                          <a:ea typeface="Times New Roman"/>
                          <a:cs typeface="Times New Roman"/>
                        </a:rPr>
                        <a:t>list of ‘to do’ items which the Scrum team must tackle</a:t>
                      </a:r>
                      <a:r>
                        <a:rPr lang="en-GB" sz="1400" dirty="0">
                          <a:solidFill>
                            <a:srgbClr val="000000"/>
                          </a:solidFill>
                          <a:effectLst/>
                          <a:latin typeface="Arial"/>
                          <a:ea typeface="Times New Roman"/>
                          <a:cs typeface="Times New Roman"/>
                        </a:rPr>
                        <a:t>. They may be feature definitions for the software, software requirements, user stories or descriptions of supplementary tasks that are needed, such as architecture definition or user documentation.</a:t>
                      </a:r>
                    </a:p>
                    <a:p>
                      <a:pPr indent="0" algn="just">
                        <a:spcAft>
                          <a:spcPts val="0"/>
                        </a:spcAft>
                        <a:tabLst>
                          <a:tab pos="342900" algn="l"/>
                          <a:tab pos="685800" algn="l"/>
                          <a:tab pos="1028700" algn="l"/>
                        </a:tabLst>
                      </a:pPr>
                      <a:endParaRPr lang="en-GB" sz="140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3"/>
                  </a:ext>
                </a:extLst>
              </a:tr>
              <a:tr h="1103468">
                <a:tc>
                  <a:txBody>
                    <a:bodyPr/>
                    <a:lstStyle/>
                    <a:p>
                      <a:pPr indent="0" algn="l">
                        <a:spcAft>
                          <a:spcPts val="0"/>
                        </a:spcAft>
                        <a:tabLst>
                          <a:tab pos="342900" algn="l"/>
                          <a:tab pos="685800" algn="l"/>
                          <a:tab pos="1028700" algn="l"/>
                          <a:tab pos="1170305" algn="l"/>
                        </a:tabLst>
                      </a:pPr>
                      <a:r>
                        <a:rPr lang="en-GB" sz="1400" dirty="0">
                          <a:solidFill>
                            <a:srgbClr val="000000"/>
                          </a:solidFill>
                          <a:effectLst/>
                          <a:latin typeface="Arial"/>
                          <a:ea typeface="Times New Roman"/>
                          <a:cs typeface="Times New Roman"/>
                        </a:rPr>
                        <a:t>Product owner</a:t>
                      </a:r>
                    </a:p>
                  </a:txBody>
                  <a:tcPr marL="68580" marR="68580" marT="0" marB="0"/>
                </a:tc>
                <a:tc>
                  <a:txBody>
                    <a:bodyPr/>
                    <a:lstStyle/>
                    <a:p>
                      <a:pPr indent="0" algn="just">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An individual (or possibly a small group) whose job is to </a:t>
                      </a:r>
                      <a:r>
                        <a:rPr lang="en-GB" sz="1400" b="1" dirty="0">
                          <a:solidFill>
                            <a:srgbClr val="000000"/>
                          </a:solidFill>
                          <a:effectLst/>
                          <a:latin typeface="Arial"/>
                          <a:ea typeface="Times New Roman"/>
                          <a:cs typeface="Times New Roman"/>
                        </a:rPr>
                        <a:t>identify product features </a:t>
                      </a:r>
                      <a:r>
                        <a:rPr lang="en-GB" sz="1400" dirty="0">
                          <a:solidFill>
                            <a:srgbClr val="000000"/>
                          </a:solidFill>
                          <a:effectLst/>
                          <a:latin typeface="Arial"/>
                          <a:ea typeface="Times New Roman"/>
                          <a:cs typeface="Times New Roman"/>
                        </a:rPr>
                        <a:t>or requirements, </a:t>
                      </a:r>
                      <a:r>
                        <a:rPr lang="en-GB" sz="1400" b="1" dirty="0">
                          <a:solidFill>
                            <a:srgbClr val="000000"/>
                          </a:solidFill>
                          <a:effectLst/>
                          <a:latin typeface="Arial"/>
                          <a:ea typeface="Times New Roman"/>
                          <a:cs typeface="Times New Roman"/>
                        </a:rPr>
                        <a:t>prioritize </a:t>
                      </a:r>
                      <a:r>
                        <a:rPr lang="en-GB" sz="1400" dirty="0">
                          <a:solidFill>
                            <a:srgbClr val="000000"/>
                          </a:solidFill>
                          <a:effectLst/>
                          <a:latin typeface="Arial"/>
                          <a:ea typeface="Times New Roman"/>
                          <a:cs typeface="Times New Roman"/>
                        </a:rPr>
                        <a:t>these for development and continuously </a:t>
                      </a:r>
                      <a:r>
                        <a:rPr lang="en-GB" sz="1400" b="1" dirty="0">
                          <a:solidFill>
                            <a:srgbClr val="000000"/>
                          </a:solidFill>
                          <a:effectLst/>
                          <a:latin typeface="Arial"/>
                          <a:ea typeface="Times New Roman"/>
                          <a:cs typeface="Times New Roman"/>
                        </a:rPr>
                        <a:t>review the product backlog </a:t>
                      </a:r>
                      <a:r>
                        <a:rPr lang="en-GB" sz="1400" dirty="0">
                          <a:solidFill>
                            <a:srgbClr val="000000"/>
                          </a:solidFill>
                          <a:effectLst/>
                          <a:latin typeface="Arial"/>
                          <a:ea typeface="Times New Roman"/>
                          <a:cs typeface="Times New Roman"/>
                        </a:rPr>
                        <a:t>to ensure that the project continues to meet critical business needs. The Product Owner can be a customer but might also be a product manager in a software company or other stakeholder representative.</a:t>
                      </a:r>
                    </a:p>
                  </a:txBody>
                  <a:tcPr marL="68580" marR="68580" marT="0" marB="0"/>
                </a:tc>
                <a:extLst>
                  <a:ext uri="{0D108BD9-81ED-4DB2-BD59-A6C34878D82A}">
                    <a16:rowId xmlns:a16="http://schemas.microsoft.com/office/drawing/2014/main" val="10004"/>
                  </a:ext>
                </a:extLst>
              </a:tr>
            </a:tbl>
          </a:graphicData>
        </a:graphic>
      </p:graphicFrame>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33</a:t>
            </a:fld>
            <a:endParaRPr lang="en-US"/>
          </a:p>
        </p:txBody>
      </p:sp>
    </p:spTree>
    <p:extLst>
      <p:ext uri="{BB962C8B-B14F-4D97-AF65-F5344CB8AC3E}">
        <p14:creationId xmlns:p14="http://schemas.microsoft.com/office/powerpoint/2010/main" val="4279845486"/>
      </p:ext>
    </p:extLst>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 terminology (b)</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189273990"/>
              </p:ext>
            </p:extLst>
          </p:nvPr>
        </p:nvGraphicFramePr>
        <p:xfrm>
          <a:off x="342900" y="1778000"/>
          <a:ext cx="8229600" cy="4445000"/>
        </p:xfrm>
        <a:graphic>
          <a:graphicData uri="http://schemas.openxmlformats.org/drawingml/2006/table">
            <a:tbl>
              <a:tblPr firstRow="1" bandRow="1">
                <a:tableStyleId>{5C22544A-7EE6-4342-B048-85BDC9FD1C3A}</a:tableStyleId>
              </a:tblPr>
              <a:tblGrid>
                <a:gridCol w="2324100">
                  <a:extLst>
                    <a:ext uri="{9D8B030D-6E8A-4147-A177-3AD203B41FA5}">
                      <a16:colId xmlns:a16="http://schemas.microsoft.com/office/drawing/2014/main" val="20000"/>
                    </a:ext>
                  </a:extLst>
                </a:gridCol>
                <a:gridCol w="5905500">
                  <a:extLst>
                    <a:ext uri="{9D8B030D-6E8A-4147-A177-3AD203B41FA5}">
                      <a16:colId xmlns:a16="http://schemas.microsoft.com/office/drawing/2014/main" val="20001"/>
                    </a:ext>
                  </a:extLst>
                </a:gridCol>
              </a:tblGrid>
              <a:tr h="370840">
                <a:tc>
                  <a:txBody>
                    <a:bodyPr/>
                    <a:lstStyle/>
                    <a:p>
                      <a:r>
                        <a:rPr lang="en-US" dirty="0"/>
                        <a:t>Scrum term</a:t>
                      </a:r>
                    </a:p>
                  </a:txBody>
                  <a:tcPr/>
                </a:tc>
                <a:tc>
                  <a:txBody>
                    <a:bodyPr/>
                    <a:lstStyle/>
                    <a:p>
                      <a:r>
                        <a:rPr lang="en-US" dirty="0"/>
                        <a:t>Definition</a:t>
                      </a:r>
                    </a:p>
                  </a:txBody>
                  <a:tcPr/>
                </a:tc>
                <a:extLst>
                  <a:ext uri="{0D108BD9-81ED-4DB2-BD59-A6C34878D82A}">
                    <a16:rowId xmlns:a16="http://schemas.microsoft.com/office/drawing/2014/main" val="10000"/>
                  </a:ext>
                </a:extLst>
              </a:tr>
              <a:tr h="370840">
                <a:tc>
                  <a:txBody>
                    <a:bodyPr/>
                    <a:lstStyle/>
                    <a:p>
                      <a:pPr indent="347345" algn="l">
                        <a:spcAft>
                          <a:spcPts val="600"/>
                        </a:spcAft>
                        <a:tabLst>
                          <a:tab pos="342900" algn="l"/>
                          <a:tab pos="685800" algn="l"/>
                          <a:tab pos="1028700" algn="l"/>
                        </a:tabLst>
                      </a:pPr>
                      <a:r>
                        <a:rPr lang="en-GB" sz="1400" baseline="0" dirty="0">
                          <a:solidFill>
                            <a:srgbClr val="000000"/>
                          </a:solidFill>
                          <a:effectLst/>
                          <a:latin typeface="Arial"/>
                          <a:ea typeface="Times New Roman"/>
                          <a:cs typeface="Times New Roman"/>
                        </a:rPr>
                        <a:t>Scrum</a:t>
                      </a:r>
                    </a:p>
                  </a:txBody>
                  <a:tcPr marL="68580" marR="68580" marT="0" marB="0"/>
                </a:tc>
                <a:tc>
                  <a:txBody>
                    <a:bodyPr/>
                    <a:lstStyle/>
                    <a:p>
                      <a:pPr indent="0" algn="just">
                        <a:spcAft>
                          <a:spcPts val="600"/>
                        </a:spcAft>
                        <a:tabLst>
                          <a:tab pos="342900" algn="l"/>
                          <a:tab pos="685800" algn="l"/>
                          <a:tab pos="1028700" algn="l"/>
                        </a:tabLst>
                      </a:pPr>
                      <a:r>
                        <a:rPr lang="en-GB" sz="1400" baseline="0" dirty="0">
                          <a:solidFill>
                            <a:srgbClr val="000000"/>
                          </a:solidFill>
                          <a:effectLst/>
                          <a:latin typeface="Arial"/>
                          <a:ea typeface="Times New Roman"/>
                          <a:cs typeface="Times New Roman"/>
                        </a:rPr>
                        <a:t>A </a:t>
                      </a:r>
                      <a:r>
                        <a:rPr lang="en-GB" sz="1400" b="1" baseline="0" dirty="0">
                          <a:solidFill>
                            <a:srgbClr val="000000"/>
                          </a:solidFill>
                          <a:effectLst/>
                          <a:latin typeface="Arial"/>
                          <a:ea typeface="Times New Roman"/>
                          <a:cs typeface="Times New Roman"/>
                        </a:rPr>
                        <a:t>daily meeting </a:t>
                      </a:r>
                      <a:r>
                        <a:rPr lang="en-GB" sz="1400" baseline="0" dirty="0">
                          <a:solidFill>
                            <a:srgbClr val="000000"/>
                          </a:solidFill>
                          <a:effectLst/>
                          <a:latin typeface="Arial"/>
                          <a:ea typeface="Times New Roman"/>
                          <a:cs typeface="Times New Roman"/>
                        </a:rPr>
                        <a:t>of the Scrum team that reviews progress and prioritizes work to be done that day. Ideally, this should be a short face-to-face meeting that includes the whole team.</a:t>
                      </a:r>
                    </a:p>
                    <a:p>
                      <a:pPr indent="0" algn="just">
                        <a:spcAft>
                          <a:spcPts val="600"/>
                        </a:spcAft>
                        <a:tabLst>
                          <a:tab pos="342900" algn="l"/>
                          <a:tab pos="685800" algn="l"/>
                          <a:tab pos="1028700" algn="l"/>
                        </a:tabLst>
                      </a:pPr>
                      <a:endParaRPr lang="en-GB" sz="1400" baseline="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indent="347345" algn="l">
                        <a:spcAft>
                          <a:spcPts val="0"/>
                        </a:spcAft>
                        <a:tabLst>
                          <a:tab pos="342900" algn="l"/>
                          <a:tab pos="685800" algn="l"/>
                          <a:tab pos="1028700" algn="l"/>
                        </a:tabLst>
                      </a:pPr>
                      <a:r>
                        <a:rPr lang="en-GB" sz="1400" baseline="0" dirty="0" err="1">
                          <a:solidFill>
                            <a:srgbClr val="000000"/>
                          </a:solidFill>
                          <a:effectLst/>
                          <a:latin typeface="Arial"/>
                          <a:ea typeface="Times New Roman"/>
                          <a:cs typeface="Times New Roman"/>
                        </a:rPr>
                        <a:t>ScrumMaster</a:t>
                      </a:r>
                      <a:endParaRPr lang="en-GB" sz="1400" baseline="0" dirty="0">
                        <a:solidFill>
                          <a:srgbClr val="000000"/>
                        </a:solidFill>
                        <a:effectLst/>
                        <a:latin typeface="Arial"/>
                        <a:ea typeface="Times New Roman"/>
                        <a:cs typeface="Times New Roman"/>
                      </a:endParaRPr>
                    </a:p>
                  </a:txBody>
                  <a:tcPr marL="68580" marR="68580" marT="0" marB="0"/>
                </a:tc>
                <a:tc>
                  <a:txBody>
                    <a:bodyPr/>
                    <a:lstStyle/>
                    <a:p>
                      <a:pPr indent="0" algn="just">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The </a:t>
                      </a:r>
                      <a:r>
                        <a:rPr lang="en-GB" sz="1400" baseline="0" dirty="0" err="1">
                          <a:solidFill>
                            <a:srgbClr val="000000"/>
                          </a:solidFill>
                          <a:effectLst/>
                          <a:latin typeface="Arial"/>
                          <a:ea typeface="Times New Roman"/>
                          <a:cs typeface="Times New Roman"/>
                        </a:rPr>
                        <a:t>ScrumMaster</a:t>
                      </a:r>
                      <a:r>
                        <a:rPr lang="en-GB" sz="1400" baseline="0" dirty="0">
                          <a:solidFill>
                            <a:srgbClr val="000000"/>
                          </a:solidFill>
                          <a:effectLst/>
                          <a:latin typeface="Arial"/>
                          <a:ea typeface="Times New Roman"/>
                          <a:cs typeface="Times New Roman"/>
                        </a:rPr>
                        <a:t> is responsible for ensuring that the Scrum process is followed and guides the team in the effective use of Scrum. He or she is responsible for interfacing with the rest of the company and for ensuring that the Scrum team is not diverted by outside interference. The Scrum developers are adamant that the </a:t>
                      </a:r>
                      <a:r>
                        <a:rPr lang="en-GB" sz="1400" baseline="0" dirty="0" err="1">
                          <a:solidFill>
                            <a:srgbClr val="000000"/>
                          </a:solidFill>
                          <a:effectLst/>
                          <a:latin typeface="Arial"/>
                          <a:ea typeface="Times New Roman"/>
                          <a:cs typeface="Times New Roman"/>
                        </a:rPr>
                        <a:t>ScrumMaster</a:t>
                      </a:r>
                      <a:r>
                        <a:rPr lang="en-GB" sz="1400" baseline="0" dirty="0">
                          <a:solidFill>
                            <a:srgbClr val="000000"/>
                          </a:solidFill>
                          <a:effectLst/>
                          <a:latin typeface="Arial"/>
                          <a:ea typeface="Times New Roman"/>
                          <a:cs typeface="Times New Roman"/>
                        </a:rPr>
                        <a:t> should not be thought of as a project manager. Others, however, may not always find it easy to see the difference.</a:t>
                      </a:r>
                    </a:p>
                    <a:p>
                      <a:pPr indent="0" algn="just">
                        <a:spcAft>
                          <a:spcPts val="0"/>
                        </a:spcAft>
                        <a:tabLst>
                          <a:tab pos="342900" algn="l"/>
                          <a:tab pos="685800" algn="l"/>
                          <a:tab pos="1028700" algn="l"/>
                        </a:tabLst>
                      </a:pPr>
                      <a:endParaRPr lang="en-GB" sz="1400" baseline="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2"/>
                  </a:ext>
                </a:extLst>
              </a:tr>
              <a:tr h="370840">
                <a:tc>
                  <a:txBody>
                    <a:bodyPr/>
                    <a:lstStyle/>
                    <a:p>
                      <a:pPr indent="347345"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Sprint</a:t>
                      </a:r>
                    </a:p>
                  </a:txBody>
                  <a:tcPr marL="68580" marR="68580" marT="0" marB="0"/>
                </a:tc>
                <a:tc>
                  <a:txBody>
                    <a:bodyPr/>
                    <a:lstStyle/>
                    <a:p>
                      <a:pPr indent="0" algn="just">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A </a:t>
                      </a:r>
                      <a:r>
                        <a:rPr lang="en-GB" sz="1400" b="1" baseline="0" dirty="0">
                          <a:solidFill>
                            <a:srgbClr val="000000"/>
                          </a:solidFill>
                          <a:effectLst/>
                          <a:latin typeface="Arial"/>
                          <a:ea typeface="Times New Roman"/>
                          <a:cs typeface="Times New Roman"/>
                        </a:rPr>
                        <a:t>development iteration</a:t>
                      </a:r>
                      <a:r>
                        <a:rPr lang="en-GB" sz="1400" baseline="0" dirty="0">
                          <a:solidFill>
                            <a:srgbClr val="000000"/>
                          </a:solidFill>
                          <a:effectLst/>
                          <a:latin typeface="Arial"/>
                          <a:ea typeface="Times New Roman"/>
                          <a:cs typeface="Times New Roman"/>
                        </a:rPr>
                        <a:t>. Sprints are usually </a:t>
                      </a:r>
                      <a:r>
                        <a:rPr lang="en-GB" sz="1400" b="1" baseline="0" dirty="0">
                          <a:solidFill>
                            <a:srgbClr val="000000"/>
                          </a:solidFill>
                          <a:effectLst/>
                          <a:latin typeface="Arial"/>
                          <a:ea typeface="Times New Roman"/>
                          <a:cs typeface="Times New Roman"/>
                        </a:rPr>
                        <a:t>2-4 weeks long</a:t>
                      </a:r>
                      <a:r>
                        <a:rPr lang="en-GB" sz="1400" baseline="0" dirty="0">
                          <a:solidFill>
                            <a:srgbClr val="000000"/>
                          </a:solidFill>
                          <a:effectLst/>
                          <a:latin typeface="Arial"/>
                          <a:ea typeface="Times New Roman"/>
                          <a:cs typeface="Times New Roman"/>
                        </a:rPr>
                        <a:t>.</a:t>
                      </a:r>
                    </a:p>
                  </a:txBody>
                  <a:tcPr marL="68580" marR="68580" marT="0" marB="0"/>
                </a:tc>
                <a:extLst>
                  <a:ext uri="{0D108BD9-81ED-4DB2-BD59-A6C34878D82A}">
                    <a16:rowId xmlns:a16="http://schemas.microsoft.com/office/drawing/2014/main" val="10003"/>
                  </a:ext>
                </a:extLst>
              </a:tr>
              <a:tr h="370840">
                <a:tc>
                  <a:txBody>
                    <a:bodyPr/>
                    <a:lstStyle/>
                    <a:p>
                      <a:pPr indent="347345"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Velocity</a:t>
                      </a:r>
                    </a:p>
                  </a:txBody>
                  <a:tcPr marL="68580" marR="68580" marT="0" marB="0"/>
                </a:tc>
                <a:tc>
                  <a:txBody>
                    <a:bodyPr/>
                    <a:lstStyle/>
                    <a:p>
                      <a:pPr indent="0" algn="just">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An estimate of how much product backlog effort that a team can cover in a single sprint.  Understanding a team’s velocity helps them estimate </a:t>
                      </a:r>
                      <a:r>
                        <a:rPr lang="en-GB" sz="1400" b="1" baseline="0" dirty="0">
                          <a:solidFill>
                            <a:srgbClr val="000000"/>
                          </a:solidFill>
                          <a:effectLst/>
                          <a:latin typeface="Arial"/>
                          <a:ea typeface="Times New Roman"/>
                          <a:cs typeface="Times New Roman"/>
                        </a:rPr>
                        <a:t>what can be covered in a sprint </a:t>
                      </a:r>
                      <a:r>
                        <a:rPr lang="en-GB" sz="1400" baseline="0" dirty="0">
                          <a:solidFill>
                            <a:srgbClr val="000000"/>
                          </a:solidFill>
                          <a:effectLst/>
                          <a:latin typeface="Arial"/>
                          <a:ea typeface="Times New Roman"/>
                          <a:cs typeface="Times New Roman"/>
                        </a:rPr>
                        <a:t>and provides a basis for measuring improving performance.</a:t>
                      </a:r>
                    </a:p>
                    <a:p>
                      <a:pPr indent="0" algn="just">
                        <a:spcAft>
                          <a:spcPts val="0"/>
                        </a:spcAft>
                        <a:tabLst>
                          <a:tab pos="342900" algn="l"/>
                          <a:tab pos="685800" algn="l"/>
                          <a:tab pos="1028700" algn="l"/>
                        </a:tabLst>
                      </a:pPr>
                      <a:endParaRPr lang="en-GB" sz="1400" baseline="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4"/>
                  </a:ext>
                </a:extLst>
              </a:tr>
            </a:tbl>
          </a:graphicData>
        </a:graphic>
      </p:graphicFrame>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34</a:t>
            </a:fld>
            <a:endParaRPr lang="en-US"/>
          </a:p>
        </p:txBody>
      </p:sp>
    </p:spTree>
    <p:extLst>
      <p:ext uri="{BB962C8B-B14F-4D97-AF65-F5344CB8AC3E}">
        <p14:creationId xmlns:p14="http://schemas.microsoft.com/office/powerpoint/2010/main" val="1815401261"/>
      </p:ext>
    </p:extLst>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 sprint cycle</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35</a:t>
            </a:fld>
            <a:endParaRPr lang="en-US"/>
          </a:p>
        </p:txBody>
      </p:sp>
      <p:pic>
        <p:nvPicPr>
          <p:cNvPr id="7" name="Picture 6" descr="3.9 Scrum sprint cycl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2235200"/>
            <a:ext cx="8159750" cy="3263900"/>
          </a:xfrm>
          <a:prstGeom prst="rect">
            <a:avLst/>
          </a:prstGeom>
        </p:spPr>
      </p:pic>
    </p:spTree>
    <p:extLst>
      <p:ext uri="{BB962C8B-B14F-4D97-AF65-F5344CB8AC3E}">
        <p14:creationId xmlns:p14="http://schemas.microsoft.com/office/powerpoint/2010/main" val="1660574033"/>
      </p:ext>
    </p:extLst>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Scrum sprint cycle</a:t>
            </a:r>
          </a:p>
        </p:txBody>
      </p:sp>
      <p:sp>
        <p:nvSpPr>
          <p:cNvPr id="3" name="Content Placeholder 2"/>
          <p:cNvSpPr>
            <a:spLocks noGrp="1"/>
          </p:cNvSpPr>
          <p:nvPr>
            <p:ph idx="1"/>
          </p:nvPr>
        </p:nvSpPr>
        <p:spPr/>
        <p:txBody>
          <a:bodyPr/>
          <a:lstStyle/>
          <a:p>
            <a:pPr algn="just"/>
            <a:r>
              <a:rPr lang="en-GB" dirty="0"/>
              <a:t>Sprints are fixed length, normally 2–4 weeks.  </a:t>
            </a:r>
          </a:p>
          <a:p>
            <a:pPr algn="just"/>
            <a:r>
              <a:rPr lang="en-GB" dirty="0"/>
              <a:t>The </a:t>
            </a:r>
            <a:r>
              <a:rPr lang="en-GB" b="1" dirty="0"/>
              <a:t>starting point for planning is the product backlog</a:t>
            </a:r>
            <a:r>
              <a:rPr lang="en-GB" dirty="0"/>
              <a:t>, which is the </a:t>
            </a:r>
            <a:r>
              <a:rPr lang="en-GB" b="1" dirty="0"/>
              <a:t>list of work to be done </a:t>
            </a:r>
            <a:r>
              <a:rPr lang="en-GB" dirty="0"/>
              <a:t>on the project.</a:t>
            </a:r>
          </a:p>
          <a:p>
            <a:pPr algn="just"/>
            <a:r>
              <a:rPr lang="en-GB" dirty="0"/>
              <a:t>The selection phase involves all of the project team who work with the customer to select the features and functionality from the product backlog to be developed during the sprint. </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36</a:t>
            </a:fld>
            <a:endParaRPr lang="en-US"/>
          </a:p>
        </p:txBody>
      </p:sp>
    </p:spTree>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Sprint cycle</a:t>
            </a:r>
          </a:p>
        </p:txBody>
      </p:sp>
      <p:sp>
        <p:nvSpPr>
          <p:cNvPr id="3" name="Content Placeholder 2"/>
          <p:cNvSpPr>
            <a:spLocks noGrp="1"/>
          </p:cNvSpPr>
          <p:nvPr>
            <p:ph idx="1"/>
          </p:nvPr>
        </p:nvSpPr>
        <p:spPr/>
        <p:txBody>
          <a:bodyPr/>
          <a:lstStyle/>
          <a:p>
            <a:pPr algn="just"/>
            <a:r>
              <a:rPr lang="en-GB" dirty="0"/>
              <a:t>Once these are agreed, the team organize themselves to develop the software. </a:t>
            </a:r>
          </a:p>
          <a:p>
            <a:pPr algn="just"/>
            <a:r>
              <a:rPr lang="en-GB" dirty="0"/>
              <a:t>During this stage the team is </a:t>
            </a:r>
            <a:r>
              <a:rPr lang="en-GB" b="1" dirty="0"/>
              <a:t>isolated from the customer and the organization</a:t>
            </a:r>
            <a:r>
              <a:rPr lang="en-GB" dirty="0"/>
              <a:t>, with all communications channelled through the so-called ‘Scrum master’. </a:t>
            </a:r>
          </a:p>
          <a:p>
            <a:pPr algn="just"/>
            <a:r>
              <a:rPr lang="en-GB" dirty="0"/>
              <a:t>The role of the Scrum master is to protect the development team from external distractions. </a:t>
            </a:r>
          </a:p>
          <a:p>
            <a:pPr algn="just"/>
            <a:r>
              <a:rPr lang="en-GB" dirty="0"/>
              <a:t> </a:t>
            </a:r>
            <a:r>
              <a:rPr lang="en-GB" b="1" dirty="0"/>
              <a:t>At the end </a:t>
            </a:r>
            <a:r>
              <a:rPr lang="en-GB" dirty="0"/>
              <a:t>of the sprint, the work done is </a:t>
            </a:r>
            <a:r>
              <a:rPr lang="en-GB" b="1" dirty="0"/>
              <a:t>reviewed and presented to stakeholders</a:t>
            </a:r>
            <a:r>
              <a:rPr lang="en-GB" dirty="0"/>
              <a:t>. The next sprint cycle then begins.</a:t>
            </a:r>
            <a:endParaRPr lang="en-US" dirty="0"/>
          </a:p>
          <a:p>
            <a:endParaRPr lang="en-US"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37</a:t>
            </a:fld>
            <a:endParaRPr lang="en-US"/>
          </a:p>
        </p:txBody>
      </p:sp>
    </p:spTree>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Teamwork in Scrum</a:t>
            </a:r>
          </a:p>
        </p:txBody>
      </p:sp>
      <p:sp>
        <p:nvSpPr>
          <p:cNvPr id="3" name="Content Placeholder 2"/>
          <p:cNvSpPr>
            <a:spLocks noGrp="1"/>
          </p:cNvSpPr>
          <p:nvPr>
            <p:ph idx="1"/>
          </p:nvPr>
        </p:nvSpPr>
        <p:spPr/>
        <p:txBody>
          <a:bodyPr/>
          <a:lstStyle/>
          <a:p>
            <a:pPr algn="just"/>
            <a:r>
              <a:rPr lang="en-GB" dirty="0"/>
              <a:t>The ‘</a:t>
            </a:r>
            <a:r>
              <a:rPr lang="en-GB" b="1" dirty="0"/>
              <a:t>Scrum master</a:t>
            </a:r>
            <a:r>
              <a:rPr lang="en-GB" dirty="0"/>
              <a:t>’ is a facilitator who arranges daily meetings, tracks the backlog of work to be done, records decisions, measures progress against the backlog and communicates with customers and management outside of the team.</a:t>
            </a:r>
          </a:p>
          <a:p>
            <a:pPr algn="just"/>
            <a:r>
              <a:rPr lang="en-GB" dirty="0"/>
              <a:t>The </a:t>
            </a:r>
            <a:r>
              <a:rPr lang="en-GB" b="1" dirty="0"/>
              <a:t>whole team </a:t>
            </a:r>
            <a:r>
              <a:rPr lang="en-GB" dirty="0"/>
              <a:t>attends short daily meetings (Scrums) where all team members share information, describe their progress since the last meeting, problems that have arisen and what is planned for the following day. </a:t>
            </a:r>
          </a:p>
          <a:p>
            <a:pPr lvl="1" algn="just"/>
            <a:r>
              <a:rPr lang="en-GB" dirty="0"/>
              <a:t>This means that everyone on the team knows what is going on and, if problems arise, can re-plan short-term work to cope with them. </a:t>
            </a:r>
          </a:p>
          <a:p>
            <a:endParaRPr lang="en-US" dirty="0"/>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38</a:t>
            </a:fld>
            <a:endParaRPr lang="en-US"/>
          </a:p>
        </p:txBody>
      </p:sp>
    </p:spTree>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 benefits</a:t>
            </a:r>
          </a:p>
        </p:txBody>
      </p:sp>
      <p:sp>
        <p:nvSpPr>
          <p:cNvPr id="3" name="Content Placeholder 2"/>
          <p:cNvSpPr>
            <a:spLocks noGrp="1"/>
          </p:cNvSpPr>
          <p:nvPr>
            <p:ph idx="1"/>
          </p:nvPr>
        </p:nvSpPr>
        <p:spPr/>
        <p:txBody>
          <a:bodyPr/>
          <a:lstStyle/>
          <a:p>
            <a:endParaRPr lang="en-US" dirty="0"/>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39</a:t>
            </a:fld>
            <a:endParaRPr lang="en-US"/>
          </a:p>
        </p:txBody>
      </p:sp>
    </p:spTree>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 benefits</a:t>
            </a:r>
          </a:p>
        </p:txBody>
      </p:sp>
      <p:sp>
        <p:nvSpPr>
          <p:cNvPr id="3" name="Content Placeholder 2"/>
          <p:cNvSpPr>
            <a:spLocks noGrp="1"/>
          </p:cNvSpPr>
          <p:nvPr>
            <p:ph idx="1"/>
          </p:nvPr>
        </p:nvSpPr>
        <p:spPr/>
        <p:txBody>
          <a:bodyPr/>
          <a:lstStyle/>
          <a:p>
            <a:pPr algn="just"/>
            <a:r>
              <a:rPr lang="en-GB" dirty="0"/>
              <a:t>The product is broken down into a set of manageable and understandable chunks.</a:t>
            </a:r>
          </a:p>
          <a:p>
            <a:pPr algn="just"/>
            <a:r>
              <a:rPr lang="en-GB" dirty="0"/>
              <a:t>Unstable requirements do not hold up progress.</a:t>
            </a:r>
          </a:p>
          <a:p>
            <a:pPr algn="just"/>
            <a:r>
              <a:rPr lang="en-GB" dirty="0"/>
              <a:t>The whole team have visibility of everything and consequently team communication is improved.</a:t>
            </a:r>
          </a:p>
          <a:p>
            <a:pPr algn="just"/>
            <a:r>
              <a:rPr lang="en-GB" dirty="0"/>
              <a:t>Customers see on-time delivery of increments and gain feedback on how the product works.</a:t>
            </a:r>
          </a:p>
          <a:p>
            <a:pPr algn="just"/>
            <a:r>
              <a:rPr lang="en-GB" dirty="0"/>
              <a:t>Trust between customers and developers is established and a positive culture is created in which everyone expects the project to succeed.</a:t>
            </a:r>
          </a:p>
          <a:p>
            <a:endParaRPr lang="en-US" dirty="0"/>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40</a:t>
            </a:fld>
            <a:endParaRPr lang="en-US"/>
          </a:p>
        </p:txBody>
      </p:sp>
    </p:spTree>
    <p:extLst>
      <p:ext uri="{BB962C8B-B14F-4D97-AF65-F5344CB8AC3E}">
        <p14:creationId xmlns:p14="http://schemas.microsoft.com/office/powerpoint/2010/main" val="3775354655"/>
      </p:ext>
    </p:extLst>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Distributed Scrum</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41</a:t>
            </a:fld>
            <a:endParaRPr lang="en-US"/>
          </a:p>
        </p:txBody>
      </p:sp>
    </p:spTree>
    <p:extLst>
      <p:ext uri="{BB962C8B-B14F-4D97-AF65-F5344CB8AC3E}">
        <p14:creationId xmlns:p14="http://schemas.microsoft.com/office/powerpoint/2010/main" val="2057772794"/>
      </p:ext>
    </p:extLst>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Distributed Scrum</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42</a:t>
            </a:fld>
            <a:endParaRPr lang="en-US"/>
          </a:p>
        </p:txBody>
      </p:sp>
      <p:pic>
        <p:nvPicPr>
          <p:cNvPr id="9" name="Picture 8" descr="3.10 Distributed Scrum.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3682" y="788679"/>
            <a:ext cx="8287770" cy="5604195"/>
          </a:xfrm>
          <a:prstGeom prst="rect">
            <a:avLst/>
          </a:prstGeom>
        </p:spPr>
      </p:pic>
    </p:spTree>
    <p:extLst>
      <p:ext uri="{BB962C8B-B14F-4D97-AF65-F5344CB8AC3E}">
        <p14:creationId xmlns:p14="http://schemas.microsoft.com/office/powerpoint/2010/main" val="435586593"/>
      </p:ext>
    </p:extLst>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43138"/>
            <a:ext cx="8229600" cy="1143000"/>
          </a:xfrm>
        </p:spPr>
        <p:txBody>
          <a:bodyPr/>
          <a:lstStyle/>
          <a:p>
            <a:pPr algn="ctr"/>
            <a:r>
              <a:rPr lang="en-US" dirty="0"/>
              <a:t>Scaling agile methods</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43</a:t>
            </a:fld>
            <a:endParaRPr lang="en-US"/>
          </a:p>
        </p:txBody>
      </p:sp>
    </p:spTree>
    <p:extLst>
      <p:ext uri="{BB962C8B-B14F-4D97-AF65-F5344CB8AC3E}">
        <p14:creationId xmlns:p14="http://schemas.microsoft.com/office/powerpoint/2010/main" val="2177855473"/>
      </p:ext>
    </p:extLst>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Scaling agile methods</a:t>
            </a:r>
          </a:p>
        </p:txBody>
      </p:sp>
      <p:sp>
        <p:nvSpPr>
          <p:cNvPr id="3" name="Content Placeholder 2"/>
          <p:cNvSpPr>
            <a:spLocks noGrp="1"/>
          </p:cNvSpPr>
          <p:nvPr>
            <p:ph idx="1"/>
          </p:nvPr>
        </p:nvSpPr>
        <p:spPr/>
        <p:txBody>
          <a:bodyPr/>
          <a:lstStyle/>
          <a:p>
            <a:pPr algn="just"/>
            <a:r>
              <a:rPr lang="en-US" dirty="0"/>
              <a:t>Agile methods have proved to be successful for small and medium sized projects that can be developed by a small co-located team.</a:t>
            </a:r>
          </a:p>
          <a:p>
            <a:pPr algn="just"/>
            <a:r>
              <a:rPr lang="en-US" dirty="0"/>
              <a:t>It is sometimes argued that the success of these methods comes because of improved communications which is possible when everyone is working together.</a:t>
            </a:r>
          </a:p>
          <a:p>
            <a:pPr algn="just"/>
            <a:r>
              <a:rPr lang="en-US" b="1" dirty="0"/>
              <a:t>Scaling up agile methods </a:t>
            </a:r>
            <a:r>
              <a:rPr lang="en-US" dirty="0"/>
              <a:t>involves changing these to cope with </a:t>
            </a:r>
            <a:r>
              <a:rPr lang="en-US" b="1" dirty="0"/>
              <a:t>larger, longer projects </a:t>
            </a:r>
            <a:r>
              <a:rPr lang="en-US" dirty="0"/>
              <a:t>where there are </a:t>
            </a:r>
            <a:r>
              <a:rPr lang="en-US" b="1" dirty="0"/>
              <a:t>multiple development teams</a:t>
            </a:r>
            <a:r>
              <a:rPr lang="en-US" dirty="0"/>
              <a:t>, perhaps </a:t>
            </a:r>
            <a:r>
              <a:rPr lang="en-US" b="1" dirty="0"/>
              <a:t>working in different locations.</a:t>
            </a:r>
          </a:p>
          <a:p>
            <a:pPr>
              <a:buNone/>
            </a:pPr>
            <a:endParaRPr lang="en-US"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44</a:t>
            </a:fld>
            <a:endParaRPr lang="en-US"/>
          </a:p>
        </p:txBody>
      </p:sp>
    </p:spTree>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Scaling out and scaling up</a:t>
            </a:r>
          </a:p>
        </p:txBody>
      </p:sp>
      <p:sp>
        <p:nvSpPr>
          <p:cNvPr id="3" name="Content Placeholder 2"/>
          <p:cNvSpPr>
            <a:spLocks noGrp="1"/>
          </p:cNvSpPr>
          <p:nvPr>
            <p:ph idx="1"/>
          </p:nvPr>
        </p:nvSpPr>
        <p:spPr/>
        <p:txBody>
          <a:bodyPr/>
          <a:lstStyle/>
          <a:p>
            <a:pPr algn="just"/>
            <a:r>
              <a:rPr lang="en-GB" dirty="0"/>
              <a:t>‘</a:t>
            </a:r>
            <a:r>
              <a:rPr lang="en-GB" b="1" dirty="0"/>
              <a:t>Scaling up</a:t>
            </a:r>
            <a:r>
              <a:rPr lang="en-GB" dirty="0"/>
              <a:t>’ is concerned with using agile methods for developing large software systems that cannot be developed by a small team.</a:t>
            </a:r>
          </a:p>
          <a:p>
            <a:pPr algn="just"/>
            <a:r>
              <a:rPr lang="en-GB" dirty="0"/>
              <a:t>‘</a:t>
            </a:r>
            <a:r>
              <a:rPr lang="en-GB" b="1" dirty="0"/>
              <a:t>Scaling out</a:t>
            </a:r>
            <a:r>
              <a:rPr lang="en-GB" dirty="0"/>
              <a:t>’ is concerned with how agile methods can be introduced across a large organization with many years of software development experience.</a:t>
            </a:r>
          </a:p>
          <a:p>
            <a:pPr algn="just"/>
            <a:r>
              <a:rPr lang="en-GB" b="1" dirty="0"/>
              <a:t>When scaling </a:t>
            </a:r>
            <a:r>
              <a:rPr lang="en-GB" dirty="0"/>
              <a:t>agile methods it is important to </a:t>
            </a:r>
            <a:r>
              <a:rPr lang="en-GB" b="1" dirty="0"/>
              <a:t>maintain agile fundamentals</a:t>
            </a:r>
            <a:r>
              <a:rPr lang="en-GB" dirty="0"/>
              <a:t>:</a:t>
            </a:r>
          </a:p>
          <a:p>
            <a:pPr lvl="1" algn="just"/>
            <a:r>
              <a:rPr lang="en-GB" dirty="0"/>
              <a:t>Flexible planning, frequent system releases, continuous integration, test-driven development and good team communications. </a:t>
            </a:r>
          </a:p>
          <a:p>
            <a:endParaRPr lang="en-US" dirty="0"/>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45</a:t>
            </a:fld>
            <a:endParaRPr lang="en-US"/>
          </a:p>
        </p:txBody>
      </p:sp>
    </p:spTree>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62" name="Rectangle 2"/>
          <p:cNvSpPr>
            <a:spLocks noGrp="1" noChangeArrowheads="1"/>
          </p:cNvSpPr>
          <p:nvPr>
            <p:ph type="title"/>
          </p:nvPr>
        </p:nvSpPr>
        <p:spPr/>
        <p:txBody>
          <a:bodyPr/>
          <a:lstStyle/>
          <a:p>
            <a:r>
              <a:rPr lang="en-US" dirty="0"/>
              <a:t>Practical problems with agile methods</a:t>
            </a:r>
          </a:p>
        </p:txBody>
      </p:sp>
      <p:sp>
        <p:nvSpPr>
          <p:cNvPr id="1167363" name="Rectangle 3"/>
          <p:cNvSpPr>
            <a:spLocks noGrp="1" noChangeArrowheads="1"/>
          </p:cNvSpPr>
          <p:nvPr>
            <p:ph idx="1"/>
          </p:nvPr>
        </p:nvSpPr>
        <p:spPr/>
        <p:txBody>
          <a:bodyPr/>
          <a:lstStyle/>
          <a:p>
            <a:pPr algn="just"/>
            <a:endParaRPr lang="en-US" sz="2400"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46</a:t>
            </a:fld>
            <a:endParaRPr lang="en-US"/>
          </a:p>
        </p:txBody>
      </p:sp>
    </p:spTree>
    <p:extLst>
      <p:ext uri="{BB962C8B-B14F-4D97-AF65-F5344CB8AC3E}">
        <p14:creationId xmlns:p14="http://schemas.microsoft.com/office/powerpoint/2010/main" val="1518837956"/>
      </p:ext>
    </p:extLst>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62" name="Rectangle 2"/>
          <p:cNvSpPr>
            <a:spLocks noGrp="1" noChangeArrowheads="1"/>
          </p:cNvSpPr>
          <p:nvPr>
            <p:ph type="title"/>
          </p:nvPr>
        </p:nvSpPr>
        <p:spPr/>
        <p:txBody>
          <a:bodyPr/>
          <a:lstStyle/>
          <a:p>
            <a:r>
              <a:rPr lang="en-US" dirty="0"/>
              <a:t>Practical problems with agile methods</a:t>
            </a:r>
          </a:p>
        </p:txBody>
      </p:sp>
      <p:sp>
        <p:nvSpPr>
          <p:cNvPr id="1167363" name="Rectangle 3"/>
          <p:cNvSpPr>
            <a:spLocks noGrp="1" noChangeArrowheads="1"/>
          </p:cNvSpPr>
          <p:nvPr>
            <p:ph idx="1"/>
          </p:nvPr>
        </p:nvSpPr>
        <p:spPr/>
        <p:txBody>
          <a:bodyPr/>
          <a:lstStyle/>
          <a:p>
            <a:pPr algn="just"/>
            <a:r>
              <a:rPr lang="en-GB" dirty="0"/>
              <a:t>The informality of agile development is incompatible with the legal approach to contract definition that is commonly used in large companies.</a:t>
            </a:r>
          </a:p>
          <a:p>
            <a:pPr algn="just"/>
            <a:r>
              <a:rPr lang="en-GB" dirty="0"/>
              <a:t>Agile methods are </a:t>
            </a:r>
            <a:r>
              <a:rPr lang="en-GB" b="1" dirty="0"/>
              <a:t>most appropriate for new software development rather than software maintenance</a:t>
            </a:r>
            <a:r>
              <a:rPr lang="en-GB" dirty="0"/>
              <a:t>. Yet the majority of software costs in large companies come from maintaining their existing software systems.</a:t>
            </a:r>
          </a:p>
          <a:p>
            <a:pPr algn="just"/>
            <a:r>
              <a:rPr lang="en-GB" dirty="0"/>
              <a:t>Agile methods are </a:t>
            </a:r>
            <a:r>
              <a:rPr lang="en-GB" b="1" dirty="0"/>
              <a:t>designed for small co-located teams </a:t>
            </a:r>
            <a:r>
              <a:rPr lang="en-GB" dirty="0"/>
              <a:t>yet much software development now involves worldwide distributed teams.  </a:t>
            </a:r>
          </a:p>
          <a:p>
            <a:pPr algn="just"/>
            <a:endParaRPr lang="en-US" sz="2400"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47</a:t>
            </a:fld>
            <a:endParaRPr lang="en-US"/>
          </a:p>
        </p:txBody>
      </p:sp>
    </p:spTree>
    <p:extLst>
      <p:ext uri="{BB962C8B-B14F-4D97-AF65-F5344CB8AC3E}">
        <p14:creationId xmlns:p14="http://schemas.microsoft.com/office/powerpoint/2010/main" val="3239216544"/>
      </p:ext>
    </p:extLst>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methods and software maintenance</a:t>
            </a:r>
          </a:p>
        </p:txBody>
      </p:sp>
      <p:sp>
        <p:nvSpPr>
          <p:cNvPr id="3" name="Content Placeholder 2"/>
          <p:cNvSpPr>
            <a:spLocks noGrp="1"/>
          </p:cNvSpPr>
          <p:nvPr>
            <p:ph idx="1"/>
          </p:nvPr>
        </p:nvSpPr>
        <p:spPr/>
        <p:txBody>
          <a:bodyPr/>
          <a:lstStyle/>
          <a:p>
            <a:pPr algn="just"/>
            <a:r>
              <a:rPr lang="en-US" dirty="0"/>
              <a:t>Most organizations spend more on maintaining existing software than they do on new software development. So, if agile methods are to be successful, they have to support maintenance as well as original development.</a:t>
            </a:r>
          </a:p>
          <a:p>
            <a:pPr algn="just"/>
            <a:r>
              <a:rPr lang="en-US" dirty="0"/>
              <a:t>Two key issues:</a:t>
            </a:r>
          </a:p>
          <a:p>
            <a:pPr lvl="1" algn="just"/>
            <a:r>
              <a:rPr lang="en-GB" dirty="0"/>
              <a:t>Are systems that are developed using an agile approach maintainable, given the emphasis in the development process of minimizing formal documentation?</a:t>
            </a:r>
          </a:p>
          <a:p>
            <a:pPr lvl="1" algn="just"/>
            <a:r>
              <a:rPr lang="en-GB" dirty="0"/>
              <a:t>Can agile methods be used effectively for evolving a system in response to customer change requests?</a:t>
            </a:r>
          </a:p>
          <a:p>
            <a:pPr algn="just"/>
            <a:r>
              <a:rPr lang="en-GB" dirty="0"/>
              <a:t>Problems may arise if original development team cannot be maintained.</a:t>
            </a:r>
          </a:p>
          <a:p>
            <a:pPr lvl="1"/>
            <a:endParaRPr lang="en-US" dirty="0"/>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48</a:t>
            </a:fld>
            <a:endParaRPr lang="en-US"/>
          </a:p>
        </p:txBody>
      </p:sp>
    </p:spTree>
    <p:extLst>
      <p:ext uri="{BB962C8B-B14F-4D97-AF65-F5344CB8AC3E}">
        <p14:creationId xmlns:p14="http://schemas.microsoft.com/office/powerpoint/2010/main" val="3951079482"/>
      </p:ext>
    </p:extLst>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maintenance</a:t>
            </a:r>
          </a:p>
        </p:txBody>
      </p:sp>
      <p:sp>
        <p:nvSpPr>
          <p:cNvPr id="3" name="Content Placeholder 2"/>
          <p:cNvSpPr>
            <a:spLocks noGrp="1"/>
          </p:cNvSpPr>
          <p:nvPr>
            <p:ph idx="1"/>
          </p:nvPr>
        </p:nvSpPr>
        <p:spPr/>
        <p:txBody>
          <a:bodyPr/>
          <a:lstStyle/>
          <a:p>
            <a:endParaRPr lang="en-US" dirty="0"/>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49</a:t>
            </a:fld>
            <a:endParaRPr lang="en-US"/>
          </a:p>
        </p:txBody>
      </p:sp>
    </p:spTree>
    <p:extLst>
      <p:ext uri="{BB962C8B-B14F-4D97-AF65-F5344CB8AC3E}">
        <p14:creationId xmlns:p14="http://schemas.microsoft.com/office/powerpoint/2010/main" val="481702709"/>
      </p:ext>
    </p:extLst>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maintenance</a:t>
            </a:r>
          </a:p>
        </p:txBody>
      </p:sp>
      <p:sp>
        <p:nvSpPr>
          <p:cNvPr id="3" name="Content Placeholder 2"/>
          <p:cNvSpPr>
            <a:spLocks noGrp="1"/>
          </p:cNvSpPr>
          <p:nvPr>
            <p:ph idx="1"/>
          </p:nvPr>
        </p:nvSpPr>
        <p:spPr/>
        <p:txBody>
          <a:bodyPr/>
          <a:lstStyle/>
          <a:p>
            <a:pPr algn="just"/>
            <a:r>
              <a:rPr lang="en-US" dirty="0"/>
              <a:t>Key problems are:</a:t>
            </a:r>
          </a:p>
          <a:p>
            <a:pPr lvl="1" algn="just"/>
            <a:r>
              <a:rPr lang="en-US" dirty="0"/>
              <a:t>Lack of product documentation</a:t>
            </a:r>
          </a:p>
          <a:p>
            <a:pPr lvl="1" algn="just"/>
            <a:r>
              <a:rPr lang="en-US" dirty="0"/>
              <a:t>Keeping customers involved in the development process</a:t>
            </a:r>
          </a:p>
          <a:p>
            <a:pPr lvl="1" algn="just"/>
            <a:r>
              <a:rPr lang="en-US" dirty="0"/>
              <a:t>Maintaining the continuity of the development team</a:t>
            </a:r>
          </a:p>
          <a:p>
            <a:pPr algn="just"/>
            <a:r>
              <a:rPr lang="en-US" dirty="0"/>
              <a:t>Agile development relies on the development team knowing and understanding what has to be done. </a:t>
            </a:r>
          </a:p>
          <a:p>
            <a:pPr algn="just"/>
            <a:r>
              <a:rPr lang="en-US" dirty="0"/>
              <a:t>For long-lifetime systems, this is a real problem as the original developers will not always work on the system.</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50</a:t>
            </a:fld>
            <a:endParaRPr lang="en-US"/>
          </a:p>
        </p:txBody>
      </p:sp>
    </p:spTree>
    <p:extLst>
      <p:ext uri="{BB962C8B-B14F-4D97-AF65-F5344CB8AC3E}">
        <p14:creationId xmlns:p14="http://schemas.microsoft.com/office/powerpoint/2010/main" val="1110191386"/>
      </p:ext>
    </p:extLst>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and plan-driven methods</a:t>
            </a:r>
          </a:p>
        </p:txBody>
      </p:sp>
      <p:sp>
        <p:nvSpPr>
          <p:cNvPr id="3" name="Content Placeholder 2"/>
          <p:cNvSpPr>
            <a:spLocks noGrp="1"/>
          </p:cNvSpPr>
          <p:nvPr>
            <p:ph idx="1"/>
          </p:nvPr>
        </p:nvSpPr>
        <p:spPr>
          <a:xfrm>
            <a:off x="457200" y="1600200"/>
            <a:ext cx="8420100" cy="4525963"/>
          </a:xfrm>
        </p:spPr>
        <p:txBody>
          <a:bodyPr/>
          <a:lstStyle/>
          <a:p>
            <a:pPr algn="just"/>
            <a:r>
              <a:rPr lang="en-US" dirty="0"/>
              <a:t>Most projects include elements of plan-driven and agile processes. Deciding on the balance depends on:</a:t>
            </a:r>
          </a:p>
          <a:p>
            <a:pPr lvl="1" algn="just"/>
            <a:r>
              <a:rPr lang="en-GB" dirty="0"/>
              <a:t>Is it important to have a very detailed specification and design before moving to implementation? If so, you probably need to use a plan-driven approach.</a:t>
            </a:r>
          </a:p>
          <a:p>
            <a:pPr lvl="1" algn="just"/>
            <a:r>
              <a:rPr lang="en-GB" dirty="0"/>
              <a:t>Is an incremental delivery strategy, where you deliver the software to customers and get rapid feedback from them, realistic? If so, consider using agile methods.</a:t>
            </a:r>
          </a:p>
          <a:p>
            <a:pPr lvl="1" algn="just"/>
            <a:r>
              <a:rPr lang="en-GB" dirty="0"/>
              <a:t>How large is the system that is being developed? Agile methods are most effective when the system can be developed with a small co-located team who can communicate informally. This may not be possible for large systems that require larger development teams so a plan-driven approach may have to be used. </a:t>
            </a:r>
          </a:p>
          <a:p>
            <a:pPr lvl="1"/>
            <a:endParaRPr lang="en-US"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51</a:t>
            </a:fld>
            <a:endParaRPr lang="en-US"/>
          </a:p>
        </p:txBody>
      </p:sp>
    </p:spTree>
    <p:extLst>
      <p:ext uri="{BB962C8B-B14F-4D97-AF65-F5344CB8AC3E}">
        <p14:creationId xmlns:p14="http://schemas.microsoft.com/office/powerpoint/2010/main" val="3231500397"/>
      </p:ext>
    </p:extLst>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and plan-based factors</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52</a:t>
            </a:fld>
            <a:endParaRPr lang="en-US"/>
          </a:p>
        </p:txBody>
      </p:sp>
      <p:pic>
        <p:nvPicPr>
          <p:cNvPr id="6" name="Picture 5" descr="3.12 Agile-plan-based-factor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249" y="2362200"/>
            <a:ext cx="8469607" cy="2730500"/>
          </a:xfrm>
          <a:prstGeom prst="rect">
            <a:avLst/>
          </a:prstGeom>
        </p:spPr>
      </p:pic>
    </p:spTree>
    <p:extLst>
      <p:ext uri="{BB962C8B-B14F-4D97-AF65-F5344CB8AC3E}">
        <p14:creationId xmlns:p14="http://schemas.microsoft.com/office/powerpoint/2010/main" val="3099963659"/>
      </p:ext>
    </p:extLst>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issues</a:t>
            </a:r>
          </a:p>
        </p:txBody>
      </p:sp>
      <p:sp>
        <p:nvSpPr>
          <p:cNvPr id="3" name="Content Placeholder 2"/>
          <p:cNvSpPr>
            <a:spLocks noGrp="1"/>
          </p:cNvSpPr>
          <p:nvPr>
            <p:ph idx="1"/>
          </p:nvPr>
        </p:nvSpPr>
        <p:spPr>
          <a:xfrm>
            <a:off x="457200" y="1600200"/>
            <a:ext cx="8470900" cy="4525963"/>
          </a:xfrm>
        </p:spPr>
        <p:txBody>
          <a:bodyPr/>
          <a:lstStyle/>
          <a:p>
            <a:r>
              <a:rPr lang="en-GB" dirty="0"/>
              <a:t>How large is the system being developed?</a:t>
            </a:r>
          </a:p>
          <a:p>
            <a:pPr lvl="1"/>
            <a:r>
              <a:rPr lang="en-GB" dirty="0"/>
              <a:t>Agile methods are most effective a relatively small co-located team who can communicate informally. </a:t>
            </a:r>
          </a:p>
          <a:p>
            <a:r>
              <a:rPr lang="en-GB" dirty="0"/>
              <a:t>What type of system is being developed?</a:t>
            </a:r>
          </a:p>
          <a:p>
            <a:pPr lvl="1"/>
            <a:r>
              <a:rPr lang="en-GB" dirty="0"/>
              <a:t>Systems that require a lot of analysis before implementation need a fairly detailed design to carry out this analysis. </a:t>
            </a:r>
          </a:p>
          <a:p>
            <a:r>
              <a:rPr lang="en-GB" dirty="0"/>
              <a:t>What is the expected system lifetime?</a:t>
            </a:r>
          </a:p>
          <a:p>
            <a:pPr lvl="1"/>
            <a:r>
              <a:rPr lang="en-GB" dirty="0"/>
              <a:t>Long-lifetime systems require documentation to communicate the intentions of the system developers to the support team. </a:t>
            </a:r>
          </a:p>
          <a:p>
            <a:r>
              <a:rPr lang="en-GB" dirty="0"/>
              <a:t>Is the system subject to external regulation?</a:t>
            </a:r>
          </a:p>
          <a:p>
            <a:pPr lvl="1"/>
            <a:r>
              <a:rPr lang="en-GB" dirty="0"/>
              <a:t>If a system is regulated you will probably be required to produce detailed documentation as part of the system safety case. </a:t>
            </a:r>
          </a:p>
          <a:p>
            <a:pPr lvl="1">
              <a:buNone/>
            </a:pPr>
            <a:r>
              <a:rPr lang="en-GB" dirty="0"/>
              <a:t> </a:t>
            </a:r>
          </a:p>
          <a:p>
            <a:pPr lvl="1"/>
            <a:endParaRPr lang="en-US"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53</a:t>
            </a:fld>
            <a:endParaRPr lang="en-US"/>
          </a:p>
        </p:txBody>
      </p:sp>
    </p:spTree>
    <p:extLst>
      <p:ext uri="{BB962C8B-B14F-4D97-AF65-F5344CB8AC3E}">
        <p14:creationId xmlns:p14="http://schemas.microsoft.com/office/powerpoint/2010/main" val="2495282264"/>
      </p:ext>
    </p:extLst>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People and teams</a:t>
            </a:r>
          </a:p>
        </p:txBody>
      </p:sp>
      <p:sp>
        <p:nvSpPr>
          <p:cNvPr id="3" name="Content Placeholder 2"/>
          <p:cNvSpPr>
            <a:spLocks noGrp="1"/>
          </p:cNvSpPr>
          <p:nvPr>
            <p:ph idx="1"/>
          </p:nvPr>
        </p:nvSpPr>
        <p:spPr/>
        <p:txBody>
          <a:bodyPr/>
          <a:lstStyle/>
          <a:p>
            <a:pPr algn="just"/>
            <a:r>
              <a:rPr lang="en-GB" dirty="0"/>
              <a:t>How good are the designers and programmers in the development team?</a:t>
            </a:r>
          </a:p>
          <a:p>
            <a:pPr lvl="1" algn="just"/>
            <a:r>
              <a:rPr lang="en-GB" dirty="0"/>
              <a:t> It is sometimes argued that agile methods require higher skill levels than plan-based approaches in which programmers simply translate a detailed design into code.</a:t>
            </a:r>
          </a:p>
          <a:p>
            <a:pPr algn="just"/>
            <a:r>
              <a:rPr lang="en-GB" dirty="0"/>
              <a:t>How is the development team organized?</a:t>
            </a:r>
          </a:p>
          <a:p>
            <a:pPr lvl="1" algn="just"/>
            <a:r>
              <a:rPr lang="en-GB" dirty="0"/>
              <a:t>Design documents may be required if the team is distributed.</a:t>
            </a:r>
          </a:p>
          <a:p>
            <a:pPr algn="just"/>
            <a:r>
              <a:rPr lang="en-GB" dirty="0"/>
              <a:t>What support technologies are available?</a:t>
            </a:r>
          </a:p>
          <a:p>
            <a:pPr lvl="1" algn="just"/>
            <a:r>
              <a:rPr lang="en-GB" dirty="0"/>
              <a:t>IDE support for visualisation and program analysis is essential if design documentation is not available.</a:t>
            </a:r>
          </a:p>
          <a:p>
            <a:pPr lvl="1" algn="just"/>
            <a:endParaRPr lang="en-GB" dirty="0"/>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54</a:t>
            </a:fld>
            <a:endParaRPr lang="en-US"/>
          </a:p>
        </p:txBody>
      </p:sp>
    </p:spTree>
    <p:extLst>
      <p:ext uri="{BB962C8B-B14F-4D97-AF65-F5344CB8AC3E}">
        <p14:creationId xmlns:p14="http://schemas.microsoft.com/office/powerpoint/2010/main" val="2280503184"/>
      </p:ext>
    </p:extLst>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Organizational issues</a:t>
            </a:r>
          </a:p>
        </p:txBody>
      </p:sp>
      <p:sp>
        <p:nvSpPr>
          <p:cNvPr id="3" name="Content Placeholder 2"/>
          <p:cNvSpPr>
            <a:spLocks noGrp="1"/>
          </p:cNvSpPr>
          <p:nvPr>
            <p:ph idx="1"/>
          </p:nvPr>
        </p:nvSpPr>
        <p:spPr/>
        <p:txBody>
          <a:bodyPr/>
          <a:lstStyle/>
          <a:p>
            <a:pPr algn="just"/>
            <a:r>
              <a:rPr lang="en-GB" dirty="0"/>
              <a:t>Traditional engineering organizations have a culture of plan-based development, as this is the norm in engineering.</a:t>
            </a:r>
          </a:p>
          <a:p>
            <a:pPr algn="just"/>
            <a:r>
              <a:rPr lang="en-GB" dirty="0"/>
              <a:t>Is it standard organizational practice to develop a detailed system specification?</a:t>
            </a:r>
          </a:p>
          <a:p>
            <a:pPr algn="just"/>
            <a:r>
              <a:rPr lang="en-GB" dirty="0"/>
              <a:t>Will customer representatives be available to provide feedback of system increments?</a:t>
            </a:r>
          </a:p>
          <a:p>
            <a:pPr algn="just"/>
            <a:r>
              <a:rPr lang="en-GB" dirty="0"/>
              <a:t>Can informal agile development fit into the organizational culture of detailed documentation?</a:t>
            </a:r>
          </a:p>
          <a:p>
            <a:pPr algn="just"/>
            <a:endParaRPr lang="en-US" dirty="0"/>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55</a:t>
            </a:fld>
            <a:endParaRPr lang="en-US"/>
          </a:p>
        </p:txBody>
      </p:sp>
    </p:spTree>
    <p:extLst>
      <p:ext uri="{BB962C8B-B14F-4D97-AF65-F5344CB8AC3E}">
        <p14:creationId xmlns:p14="http://schemas.microsoft.com/office/powerpoint/2010/main" val="2964070785"/>
      </p:ext>
    </p:extLst>
  </p:cSld>
  <p:clrMapOvr>
    <a:masterClrMapping/>
  </p:clrMapOvr>
  <p:transition spd="med">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methods for large systems</a:t>
            </a:r>
          </a:p>
        </p:txBody>
      </p:sp>
      <p:sp>
        <p:nvSpPr>
          <p:cNvPr id="3" name="Content Placeholder 2"/>
          <p:cNvSpPr>
            <a:spLocks noGrp="1"/>
          </p:cNvSpPr>
          <p:nvPr>
            <p:ph idx="1"/>
          </p:nvPr>
        </p:nvSpPr>
        <p:spPr/>
        <p:txBody>
          <a:bodyPr/>
          <a:lstStyle/>
          <a:p>
            <a:pPr algn="just"/>
            <a:r>
              <a:rPr lang="en-GB" sz="2200" dirty="0"/>
              <a:t>Large systems are usually collections of separate, communicating systems, where separate teams develop each system. Frequently, these teams are working in different places, sometimes in different time zones. </a:t>
            </a:r>
          </a:p>
          <a:p>
            <a:pPr algn="just"/>
            <a:r>
              <a:rPr lang="en-GB" sz="2200" dirty="0"/>
              <a:t>Large systems are ‘</a:t>
            </a:r>
            <a:r>
              <a:rPr lang="en-GB" sz="2200" b="1" dirty="0" err="1"/>
              <a:t>brownfield</a:t>
            </a:r>
            <a:r>
              <a:rPr lang="en-GB" sz="2200" b="1" dirty="0"/>
              <a:t> systems</a:t>
            </a:r>
            <a:r>
              <a:rPr lang="en-GB" sz="2200" dirty="0"/>
              <a:t>’, that is they include and interact with a number of existing systems. Many of the system requirements are concerned with this interaction and so don’t really lend themselves to flexibility and incremental development. </a:t>
            </a:r>
          </a:p>
          <a:p>
            <a:pPr algn="just"/>
            <a:r>
              <a:rPr lang="en-GB" sz="2200" dirty="0"/>
              <a:t>Where several systems are integrated to create a system, a significant fraction of the development is concerned with system configuration rather than original code development. </a:t>
            </a:r>
            <a:endParaRPr lang="en-US" sz="2200"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56</a:t>
            </a:fld>
            <a:endParaRPr lang="en-US"/>
          </a:p>
        </p:txBody>
      </p:sp>
    </p:spTree>
  </p:cSld>
  <p:clrMapOvr>
    <a:masterClrMapping/>
  </p:clrMapOvr>
  <p:transition spd="med">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Large system development</a:t>
            </a:r>
          </a:p>
        </p:txBody>
      </p:sp>
      <p:sp>
        <p:nvSpPr>
          <p:cNvPr id="3" name="Content Placeholder 2"/>
          <p:cNvSpPr>
            <a:spLocks noGrp="1"/>
          </p:cNvSpPr>
          <p:nvPr>
            <p:ph idx="1"/>
          </p:nvPr>
        </p:nvSpPr>
        <p:spPr/>
        <p:txBody>
          <a:bodyPr/>
          <a:lstStyle/>
          <a:p>
            <a:pPr algn="just"/>
            <a:r>
              <a:rPr lang="en-GB" dirty="0"/>
              <a:t>Large systems and their development processes are often constrained by external rules and regulations limiting the way that they can be developed.</a:t>
            </a:r>
          </a:p>
          <a:p>
            <a:pPr algn="just"/>
            <a:r>
              <a:rPr lang="en-GB" dirty="0"/>
              <a:t>Large systems have a long procurement and development time. It is difficult to maintain coherent teams who know about the system over that period as, inevitably, people move on to other jobs and projects. </a:t>
            </a:r>
          </a:p>
          <a:p>
            <a:pPr algn="just"/>
            <a:r>
              <a:rPr lang="en-GB" dirty="0"/>
              <a:t>Large systems usually have a diverse set of stakeholders. It is practically impossible to involve all of these different stakeholders in the development process. </a:t>
            </a:r>
            <a:endParaRPr lang="en-US"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57</a:t>
            </a:fld>
            <a:endParaRPr lang="en-US"/>
          </a:p>
        </p:txBody>
      </p:sp>
    </p:spTree>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Factors in large systems</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58</a:t>
            </a:fld>
            <a:endParaRPr lang="en-US"/>
          </a:p>
        </p:txBody>
      </p:sp>
      <p:pic>
        <p:nvPicPr>
          <p:cNvPr id="6" name="Picture 5" descr="3.13 Factors in large system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7900" y="1943099"/>
            <a:ext cx="7150100" cy="4120397"/>
          </a:xfrm>
          <a:prstGeom prst="rect">
            <a:avLst/>
          </a:prstGeom>
        </p:spPr>
      </p:pic>
    </p:spTree>
    <p:extLst>
      <p:ext uri="{BB962C8B-B14F-4D97-AF65-F5344CB8AC3E}">
        <p14:creationId xmlns:p14="http://schemas.microsoft.com/office/powerpoint/2010/main" val="2913230988"/>
      </p:ext>
    </p:extLst>
  </p:cSld>
  <p:clrMapOvr>
    <a:masterClrMapping/>
  </p:clrMapOvr>
  <p:transition spd="med">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IBM’s agility at scale model</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59</a:t>
            </a:fld>
            <a:endParaRPr lang="en-US"/>
          </a:p>
        </p:txBody>
      </p:sp>
      <p:pic>
        <p:nvPicPr>
          <p:cNvPr id="6" name="Picture 5" descr="3.14 IBM's agility at scale model.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3983" y="1282700"/>
            <a:ext cx="7241249" cy="4838700"/>
          </a:xfrm>
          <a:prstGeom prst="rect">
            <a:avLst/>
          </a:prstGeom>
        </p:spPr>
      </p:pic>
    </p:spTree>
    <p:extLst>
      <p:ext uri="{BB962C8B-B14F-4D97-AF65-F5344CB8AC3E}">
        <p14:creationId xmlns:p14="http://schemas.microsoft.com/office/powerpoint/2010/main" val="1863397935"/>
      </p:ext>
    </p:extLst>
  </p:cSld>
  <p:clrMapOvr>
    <a:masterClrMapping/>
  </p:clrMapOvr>
  <p:transition spd="med">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Scaling up to large systems</a:t>
            </a:r>
          </a:p>
        </p:txBody>
      </p:sp>
      <p:sp>
        <p:nvSpPr>
          <p:cNvPr id="3" name="Content Placeholder 2"/>
          <p:cNvSpPr>
            <a:spLocks noGrp="1"/>
          </p:cNvSpPr>
          <p:nvPr>
            <p:ph idx="1"/>
          </p:nvPr>
        </p:nvSpPr>
        <p:spPr/>
        <p:txBody>
          <a:bodyPr/>
          <a:lstStyle/>
          <a:p>
            <a:pPr algn="just"/>
            <a:r>
              <a:rPr lang="en-GB" sz="2200" dirty="0"/>
              <a:t>A completely incremental approach to requirements engineering is impossible.</a:t>
            </a:r>
          </a:p>
          <a:p>
            <a:pPr algn="just"/>
            <a:r>
              <a:rPr lang="en-GB" sz="2200" dirty="0"/>
              <a:t>There cannot be a single product owner or customer representative.</a:t>
            </a:r>
          </a:p>
          <a:p>
            <a:pPr algn="just"/>
            <a:r>
              <a:rPr lang="en-GB" sz="2200" dirty="0"/>
              <a:t>For large systems development, it is not possible to focus only on the code of the system.  </a:t>
            </a:r>
          </a:p>
          <a:p>
            <a:pPr algn="just"/>
            <a:r>
              <a:rPr lang="en-GB" sz="2200" dirty="0"/>
              <a:t>Cross-team communication mechanisms have to be designed and used. </a:t>
            </a:r>
          </a:p>
          <a:p>
            <a:pPr algn="just"/>
            <a:r>
              <a:rPr lang="en-GB" sz="2200" dirty="0"/>
              <a:t>Continuous integration is practically impossible. However, it is essential to maintain frequent system builds and regular releases of the system. </a:t>
            </a:r>
            <a:endParaRPr lang="en-US" sz="2200"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60</a:t>
            </a:fld>
            <a:endParaRPr lang="en-US"/>
          </a:p>
        </p:txBody>
      </p:sp>
    </p:spTree>
  </p:cSld>
  <p:clrMapOvr>
    <a:masterClrMapping/>
  </p:clrMapOvr>
  <p:transition spd="med">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Multi-team Scrum</a:t>
            </a:r>
          </a:p>
        </p:txBody>
      </p:sp>
      <p:sp>
        <p:nvSpPr>
          <p:cNvPr id="3" name="Content Placeholder 2"/>
          <p:cNvSpPr>
            <a:spLocks noGrp="1"/>
          </p:cNvSpPr>
          <p:nvPr>
            <p:ph idx="1"/>
          </p:nvPr>
        </p:nvSpPr>
        <p:spPr/>
        <p:txBody>
          <a:bodyPr/>
          <a:lstStyle/>
          <a:p>
            <a:pPr algn="just"/>
            <a:r>
              <a:rPr lang="en-GB" i="1" dirty="0"/>
              <a:t>Role replication</a:t>
            </a:r>
            <a:r>
              <a:rPr lang="en-GB" dirty="0"/>
              <a:t> </a:t>
            </a:r>
          </a:p>
          <a:p>
            <a:pPr lvl="1" algn="just"/>
            <a:r>
              <a:rPr lang="en-GB" dirty="0"/>
              <a:t>Each team has a Product Owner for their work component and </a:t>
            </a:r>
            <a:r>
              <a:rPr lang="en-GB" dirty="0" err="1"/>
              <a:t>ScrumMaster</a:t>
            </a:r>
            <a:r>
              <a:rPr lang="en-GB" dirty="0"/>
              <a:t>. </a:t>
            </a:r>
          </a:p>
          <a:p>
            <a:pPr algn="just"/>
            <a:r>
              <a:rPr lang="en-GB" i="1" dirty="0"/>
              <a:t>Product architects</a:t>
            </a:r>
            <a:r>
              <a:rPr lang="en-GB" dirty="0"/>
              <a:t> </a:t>
            </a:r>
          </a:p>
          <a:p>
            <a:pPr lvl="1" algn="just"/>
            <a:r>
              <a:rPr lang="en-GB" dirty="0"/>
              <a:t>Each team chooses a product architect and these architects collaborate to design and evolve the overall system architecture.</a:t>
            </a:r>
          </a:p>
          <a:p>
            <a:pPr algn="just"/>
            <a:r>
              <a:rPr lang="en-GB" i="1" dirty="0"/>
              <a:t>Release alignment</a:t>
            </a:r>
            <a:r>
              <a:rPr lang="en-GB" dirty="0"/>
              <a:t> </a:t>
            </a:r>
          </a:p>
          <a:p>
            <a:pPr lvl="1" algn="just"/>
            <a:r>
              <a:rPr lang="en-GB" dirty="0"/>
              <a:t>The dates of product releases from each team are aligned so that a demonstrable and complete system is produced.</a:t>
            </a:r>
          </a:p>
          <a:p>
            <a:pPr algn="just"/>
            <a:r>
              <a:rPr lang="en-GB" i="1" dirty="0"/>
              <a:t>Scrum of Scrums</a:t>
            </a:r>
            <a:r>
              <a:rPr lang="en-GB" dirty="0"/>
              <a:t> </a:t>
            </a:r>
          </a:p>
          <a:p>
            <a:pPr lvl="1" algn="just"/>
            <a:r>
              <a:rPr lang="en-GB" dirty="0"/>
              <a:t>There is a daily Scrum of Scrums where representatives from each team meet to discuss progress and plan work to be done.</a:t>
            </a:r>
          </a:p>
          <a:p>
            <a:endParaRPr lang="en-US" dirty="0"/>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61</a:t>
            </a:fld>
            <a:endParaRPr lang="en-US"/>
          </a:p>
        </p:txBody>
      </p:sp>
    </p:spTree>
    <p:extLst>
      <p:ext uri="{BB962C8B-B14F-4D97-AF65-F5344CB8AC3E}">
        <p14:creationId xmlns:p14="http://schemas.microsoft.com/office/powerpoint/2010/main" val="1835549426"/>
      </p:ext>
    </p:extLst>
  </p:cSld>
  <p:clrMapOvr>
    <a:masterClrMapping/>
  </p:clrMapOvr>
  <p:transition spd="med">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methods across organizations</a:t>
            </a:r>
          </a:p>
        </p:txBody>
      </p:sp>
      <p:sp>
        <p:nvSpPr>
          <p:cNvPr id="3" name="Content Placeholder 2"/>
          <p:cNvSpPr>
            <a:spLocks noGrp="1"/>
          </p:cNvSpPr>
          <p:nvPr>
            <p:ph idx="1"/>
          </p:nvPr>
        </p:nvSpPr>
        <p:spPr>
          <a:xfrm>
            <a:off x="457200" y="1600200"/>
            <a:ext cx="8407400" cy="4525963"/>
          </a:xfrm>
        </p:spPr>
        <p:txBody>
          <a:bodyPr/>
          <a:lstStyle/>
          <a:p>
            <a:pPr algn="just"/>
            <a:r>
              <a:rPr lang="en-GB" sz="2200" dirty="0"/>
              <a:t>Project managers who do not have experience of agile methods may be reluctant to accept the risk of a new approach.</a:t>
            </a:r>
          </a:p>
          <a:p>
            <a:pPr algn="just"/>
            <a:r>
              <a:rPr lang="en-GB" sz="2200" dirty="0"/>
              <a:t>Large organizations often have quality procedures and standards that all projects are expected to follow and, because of their bureaucratic nature, these are likely to be incompatible with agile methods. </a:t>
            </a:r>
          </a:p>
          <a:p>
            <a:pPr algn="just"/>
            <a:r>
              <a:rPr lang="en-GB" sz="2200" dirty="0"/>
              <a:t>Agile methods seem to work best when team members have a relatively high skill level. However, within large organizations, there are likely to be a wide range of skills and abilities. </a:t>
            </a:r>
          </a:p>
          <a:p>
            <a:pPr algn="just"/>
            <a:r>
              <a:rPr lang="en-GB" sz="2200" dirty="0"/>
              <a:t>There may be cultural resistance to agile methods, especially in those organizations that have a long history of using conventional systems engineering processes.</a:t>
            </a:r>
          </a:p>
          <a:p>
            <a:endParaRPr lang="en-US"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62</a:t>
            </a:fld>
            <a:endParaRPr lang="en-US"/>
          </a:p>
        </p:txBody>
      </p:sp>
    </p:spTree>
  </p:cSld>
  <p:clrMapOvr>
    <a:masterClrMapping/>
  </p:clrMapOvr>
  <p:transition spd="med">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lgn="ctr">
              <a:buNone/>
            </a:pPr>
            <a:endParaRPr lang="en-US" sz="6000" dirty="0"/>
          </a:p>
          <a:p>
            <a:pPr marL="0" indent="0" algn="ctr">
              <a:buNone/>
            </a:pPr>
            <a:endParaRPr lang="en-US" sz="6000" dirty="0"/>
          </a:p>
          <a:p>
            <a:pPr marL="0" indent="0" algn="ctr">
              <a:buNone/>
            </a:pPr>
            <a:r>
              <a:rPr lang="en-US" sz="6000" dirty="0"/>
              <a:t>Thank You</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63</a:t>
            </a:fld>
            <a:endParaRPr lang="en-US"/>
          </a:p>
        </p:txBody>
      </p:sp>
    </p:spTree>
    <p:extLst>
      <p:ext uri="{BB962C8B-B14F-4D97-AF65-F5344CB8AC3E}">
        <p14:creationId xmlns:p14="http://schemas.microsoft.com/office/powerpoint/2010/main" val="1906926952"/>
      </p:ext>
    </p:extLst>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2221</TotalTime>
  <Words>4167</Words>
  <Application>Microsoft Macintosh PowerPoint</Application>
  <PresentationFormat>On-screen Show (4:3)</PresentationFormat>
  <Paragraphs>351</Paragraphs>
  <Slides>63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63</vt:i4>
      </vt:variant>
    </vt:vector>
  </HeadingPairs>
  <TitlesOfParts>
    <vt:vector size="68" baseType="lpstr">
      <vt:lpstr>Arial</vt:lpstr>
      <vt:lpstr>Calibri</vt:lpstr>
      <vt:lpstr>Times New Roman</vt:lpstr>
      <vt:lpstr>Wingdings</vt:lpstr>
      <vt:lpstr>SE10 slides</vt:lpstr>
      <vt:lpstr> Agile Software Development</vt:lpstr>
      <vt:lpstr>Agile development</vt:lpstr>
      <vt:lpstr>Plan-driven and agile development</vt:lpstr>
      <vt:lpstr>Plan-driven and agile development</vt:lpstr>
      <vt:lpstr>Agile methods</vt:lpstr>
      <vt:lpstr>Agile methods</vt:lpstr>
      <vt:lpstr>The principles of agile methods </vt:lpstr>
      <vt:lpstr>Agile method applicability</vt:lpstr>
      <vt:lpstr>Agile development techniques</vt:lpstr>
      <vt:lpstr>Extreme programming</vt:lpstr>
      <vt:lpstr>The extreme programming release cycle </vt:lpstr>
      <vt:lpstr>Extreme programming practices (a) </vt:lpstr>
      <vt:lpstr>Extreme programming practices (b)</vt:lpstr>
      <vt:lpstr>XP and agile principles</vt:lpstr>
      <vt:lpstr>Influential XP practices</vt:lpstr>
      <vt:lpstr>User stories for requirements</vt:lpstr>
      <vt:lpstr>A ‘prescribing medication’ story </vt:lpstr>
      <vt:lpstr>Examples of task cards for prescribing medication </vt:lpstr>
      <vt:lpstr>Refactoring</vt:lpstr>
      <vt:lpstr>Refactoring</vt:lpstr>
      <vt:lpstr>Examples of refactoring</vt:lpstr>
      <vt:lpstr>Test-first development</vt:lpstr>
      <vt:lpstr>Test-driven development</vt:lpstr>
      <vt:lpstr>Customer involvement</vt:lpstr>
      <vt:lpstr>Test case description for dose checking </vt:lpstr>
      <vt:lpstr>Test automation</vt:lpstr>
      <vt:lpstr>Problems with test-first development</vt:lpstr>
      <vt:lpstr>Pair programming</vt:lpstr>
      <vt:lpstr>Pair programming</vt:lpstr>
      <vt:lpstr>Agile project management</vt:lpstr>
      <vt:lpstr>Agile project management</vt:lpstr>
      <vt:lpstr>Scrum</vt:lpstr>
      <vt:lpstr>Scrum terminology (a)</vt:lpstr>
      <vt:lpstr>Scrum terminology (b)</vt:lpstr>
      <vt:lpstr>Scrum sprint cycle</vt:lpstr>
      <vt:lpstr>The Scrum sprint cycle</vt:lpstr>
      <vt:lpstr>The Sprint cycle</vt:lpstr>
      <vt:lpstr>Teamwork in Scrum</vt:lpstr>
      <vt:lpstr>Scrum benefits</vt:lpstr>
      <vt:lpstr>Scrum benefits</vt:lpstr>
      <vt:lpstr>Distributed Scrum</vt:lpstr>
      <vt:lpstr>Distributed Scrum</vt:lpstr>
      <vt:lpstr>Scaling agile methods</vt:lpstr>
      <vt:lpstr>Scaling agile methods</vt:lpstr>
      <vt:lpstr>Scaling out and scaling up</vt:lpstr>
      <vt:lpstr>Practical problems with agile methods</vt:lpstr>
      <vt:lpstr>Practical problems with agile methods</vt:lpstr>
      <vt:lpstr>Agile methods and software maintenance</vt:lpstr>
      <vt:lpstr>Agile maintenance</vt:lpstr>
      <vt:lpstr>Agile maintenance</vt:lpstr>
      <vt:lpstr>Agile and plan-driven methods</vt:lpstr>
      <vt:lpstr>Agile and plan-based factors</vt:lpstr>
      <vt:lpstr>System issues</vt:lpstr>
      <vt:lpstr>People and teams</vt:lpstr>
      <vt:lpstr>Organizational issues</vt:lpstr>
      <vt:lpstr>Agile methods for large systems</vt:lpstr>
      <vt:lpstr>Large system development</vt:lpstr>
      <vt:lpstr>Factors in large systems</vt:lpstr>
      <vt:lpstr>IBM’s agility at scale model</vt:lpstr>
      <vt:lpstr>Scaling up to large systems</vt:lpstr>
      <vt:lpstr>Multi-team Scrum</vt:lpstr>
      <vt:lpstr>Agile methods across organizations</vt:lpstr>
      <vt:lpstr>PowerPoint Presentation</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3</dc:title>
  <dc:creator>Ian Sommerville</dc:creator>
  <cp:lastModifiedBy>Apoorva Karnwal</cp:lastModifiedBy>
  <cp:revision>71</cp:revision>
  <dcterms:created xsi:type="dcterms:W3CDTF">2010-01-06T20:28:26Z</dcterms:created>
  <dcterms:modified xsi:type="dcterms:W3CDTF">2025-02-07T13:28:40Z</dcterms:modified>
</cp:coreProperties>
</file>