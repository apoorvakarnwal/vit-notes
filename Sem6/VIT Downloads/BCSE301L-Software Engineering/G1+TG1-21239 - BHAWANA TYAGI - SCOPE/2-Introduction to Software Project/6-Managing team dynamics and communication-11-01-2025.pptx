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328" r:id="rId2"/>
    <p:sldId id="318" r:id="rId3"/>
    <p:sldId id="319" r:id="rId4"/>
    <p:sldId id="292" r:id="rId5"/>
    <p:sldId id="263" r:id="rId6"/>
    <p:sldId id="294" r:id="rId7"/>
    <p:sldId id="299" r:id="rId8"/>
    <p:sldId id="264" r:id="rId9"/>
    <p:sldId id="334" r:id="rId10"/>
    <p:sldId id="296" r:id="rId11"/>
    <p:sldId id="298" r:id="rId12"/>
    <p:sldId id="330" r:id="rId13"/>
    <p:sldId id="300" r:id="rId14"/>
    <p:sldId id="320" r:id="rId15"/>
    <p:sldId id="265" r:id="rId16"/>
    <p:sldId id="321" r:id="rId17"/>
    <p:sldId id="322" r:id="rId18"/>
    <p:sldId id="291" r:id="rId19"/>
    <p:sldId id="302" r:id="rId20"/>
    <p:sldId id="266" r:id="rId21"/>
    <p:sldId id="323" r:id="rId22"/>
    <p:sldId id="311" r:id="rId23"/>
    <p:sldId id="312" r:id="rId24"/>
    <p:sldId id="309" r:id="rId25"/>
    <p:sldId id="31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96" autoAdjust="0"/>
    <p:restoredTop sz="94660"/>
  </p:normalViewPr>
  <p:slideViewPr>
    <p:cSldViewPr snapToGrid="0">
      <p:cViewPr varScale="1">
        <p:scale>
          <a:sx n="71" d="100"/>
          <a:sy n="71" d="100"/>
        </p:scale>
        <p:origin x="192" y="1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D65FC8-DAD5-42E6-BCAE-C566B5FE017A}" type="datetimeFigureOut">
              <a:rPr lang="en-IN" smtClean="0"/>
              <a:t>07/02/25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5E97C3-6822-48E1-8849-55427230A373}" type="slidenum">
              <a:rPr lang="en-IN" smtClean="0"/>
              <a:t>‹#›</a:t>
            </a:fld>
            <a:endParaRPr lang="en-IN"/>
          </a:p>
        </p:txBody>
      </p:sp>
    </p:spTree>
    <p:extLst>
      <p:ext uri="{BB962C8B-B14F-4D97-AF65-F5344CB8AC3E}">
        <p14:creationId xmlns:p14="http://schemas.microsoft.com/office/powerpoint/2010/main" val="3574853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ln/>
        </p:spPr>
        <p:txBody>
          <a:bodyPr/>
          <a:lstStyle/>
          <a:p>
            <a:endParaRPr lang="en-US"/>
          </a:p>
        </p:txBody>
      </p:sp>
      <p:sp>
        <p:nvSpPr>
          <p:cNvPr id="921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982113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ln/>
        </p:spPr>
        <p:txBody>
          <a:bodyPr/>
          <a:lstStyle/>
          <a:p>
            <a:endParaRPr lang="en-US"/>
          </a:p>
        </p:txBody>
      </p:sp>
      <p:sp>
        <p:nvSpPr>
          <p:cNvPr id="1126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276472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ln/>
        </p:spPr>
        <p:txBody>
          <a:bodyPr/>
          <a:lstStyle/>
          <a:p>
            <a:endParaRPr lang="en-US"/>
          </a:p>
        </p:txBody>
      </p:sp>
      <p:sp>
        <p:nvSpPr>
          <p:cNvPr id="4710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951215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Just let student’s read this. Don’t try to read it out in class.  Talk around the issues discussed in the book.</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BFC5C8D-D3DB-A946-B900-2FF2453738A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4793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body" idx="1"/>
          </p:nvPr>
        </p:nvSpPr>
        <p:spPr>
          <a:ln/>
        </p:spPr>
        <p:txBody>
          <a:bodyPr/>
          <a:lstStyle/>
          <a:p>
            <a:endParaRPr lang="en-US"/>
          </a:p>
        </p:txBody>
      </p:sp>
      <p:sp>
        <p:nvSpPr>
          <p:cNvPr id="3891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150357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Same as before – best not to read this out. Talk around the issues after</a:t>
            </a:r>
            <a:r>
              <a:rPr lang="en-US" baseline="0" dirty="0"/>
              <a:t> students have had 2 minutes to read it.</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BFC5C8D-D3DB-A946-B900-2FF2453738A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20952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a:ln/>
        </p:spPr>
        <p:txBody>
          <a:bodyPr/>
          <a:lstStyle/>
          <a:p>
            <a:endParaRPr lang="en-US"/>
          </a:p>
        </p:txBody>
      </p:sp>
      <p:sp>
        <p:nvSpPr>
          <p:cNvPr id="5427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410296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Same as before – discuss</a:t>
            </a:r>
            <a:r>
              <a:rPr lang="en-US" baseline="0" dirty="0"/>
              <a:t> the issues around this rather than reading it out.</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BFC5C8D-D3DB-A946-B900-2FF2453738A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20480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a:ln/>
        </p:spPr>
        <p:txBody>
          <a:bodyPr/>
          <a:lstStyle/>
          <a:p>
            <a:endParaRPr lang="en-US"/>
          </a:p>
        </p:txBody>
      </p:sp>
      <p:sp>
        <p:nvSpPr>
          <p:cNvPr id="6144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099157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r>
              <a:rPr lang="en-GB"/>
              <a:t>04/12/2014</a:t>
            </a:r>
            <a:endParaRPr lang="en-US"/>
          </a:p>
        </p:txBody>
      </p:sp>
      <p:sp>
        <p:nvSpPr>
          <p:cNvPr id="5" name="Footer Placeholder 4"/>
          <p:cNvSpPr>
            <a:spLocks noGrp="1"/>
          </p:cNvSpPr>
          <p:nvPr>
            <p:ph type="ftr" sz="quarter" idx="11"/>
          </p:nvPr>
        </p:nvSpPr>
        <p:spPr/>
        <p:txBody>
          <a:bodyPr/>
          <a:lstStyle>
            <a:lvl1pPr>
              <a:defRPr/>
            </a:lvl1pPr>
          </a:lstStyle>
          <a:p>
            <a:r>
              <a:rPr lang="en-US"/>
              <a:t>Chapter 22 Project management</a:t>
            </a:r>
          </a:p>
        </p:txBody>
      </p:sp>
      <p:sp>
        <p:nvSpPr>
          <p:cNvPr id="6"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518777332"/>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r>
              <a:rPr lang="en-GB"/>
              <a:t>04/12/2014</a:t>
            </a:r>
            <a:endParaRPr lang="en-US"/>
          </a:p>
        </p:txBody>
      </p:sp>
      <p:sp>
        <p:nvSpPr>
          <p:cNvPr id="5" name="Footer Placeholder 4"/>
          <p:cNvSpPr>
            <a:spLocks noGrp="1"/>
          </p:cNvSpPr>
          <p:nvPr>
            <p:ph type="ftr" sz="quarter" idx="11"/>
          </p:nvPr>
        </p:nvSpPr>
        <p:spPr/>
        <p:txBody>
          <a:bodyPr/>
          <a:lstStyle>
            <a:lvl1pPr>
              <a:defRPr/>
            </a:lvl1pPr>
          </a:lstStyle>
          <a:p>
            <a:r>
              <a:rPr lang="en-US"/>
              <a:t>Chapter 22 Project management</a:t>
            </a:r>
          </a:p>
        </p:txBody>
      </p:sp>
      <p:sp>
        <p:nvSpPr>
          <p:cNvPr id="6"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1069891096"/>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r>
              <a:rPr lang="en-GB"/>
              <a:t>04/12/2014</a:t>
            </a:r>
            <a:endParaRPr lang="en-US"/>
          </a:p>
        </p:txBody>
      </p:sp>
      <p:sp>
        <p:nvSpPr>
          <p:cNvPr id="5" name="Footer Placeholder 4"/>
          <p:cNvSpPr>
            <a:spLocks noGrp="1"/>
          </p:cNvSpPr>
          <p:nvPr>
            <p:ph type="ftr" sz="quarter" idx="11"/>
          </p:nvPr>
        </p:nvSpPr>
        <p:spPr/>
        <p:txBody>
          <a:bodyPr/>
          <a:lstStyle>
            <a:lvl1pPr>
              <a:defRPr/>
            </a:lvl1pPr>
          </a:lstStyle>
          <a:p>
            <a:r>
              <a:rPr lang="en-US"/>
              <a:t>Chapter 22 Project management</a:t>
            </a:r>
          </a:p>
        </p:txBody>
      </p:sp>
      <p:sp>
        <p:nvSpPr>
          <p:cNvPr id="6"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132519785"/>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r>
              <a:rPr lang="en-GB"/>
              <a:t>04/12/2014</a:t>
            </a:r>
            <a:endParaRPr lang="en-US"/>
          </a:p>
        </p:txBody>
      </p:sp>
      <p:sp>
        <p:nvSpPr>
          <p:cNvPr id="6" name="Footer Placeholder 4"/>
          <p:cNvSpPr>
            <a:spLocks noGrp="1"/>
          </p:cNvSpPr>
          <p:nvPr>
            <p:ph type="ftr" sz="quarter" idx="11"/>
          </p:nvPr>
        </p:nvSpPr>
        <p:spPr/>
        <p:txBody>
          <a:bodyPr/>
          <a:lstStyle>
            <a:lvl1pPr>
              <a:defRPr/>
            </a:lvl1pPr>
          </a:lstStyle>
          <a:p>
            <a:r>
              <a:rPr lang="en-US"/>
              <a:t>Chapter 22 Project management</a:t>
            </a:r>
          </a:p>
        </p:txBody>
      </p:sp>
      <p:sp>
        <p:nvSpPr>
          <p:cNvPr id="7"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4247760596"/>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r>
              <a:rPr lang="en-GB"/>
              <a:t>04/12/2014</a:t>
            </a:r>
            <a:endParaRPr lang="en-US"/>
          </a:p>
        </p:txBody>
      </p:sp>
      <p:sp>
        <p:nvSpPr>
          <p:cNvPr id="8" name="Footer Placeholder 4"/>
          <p:cNvSpPr>
            <a:spLocks noGrp="1"/>
          </p:cNvSpPr>
          <p:nvPr>
            <p:ph type="ftr" sz="quarter" idx="11"/>
          </p:nvPr>
        </p:nvSpPr>
        <p:spPr/>
        <p:txBody>
          <a:bodyPr/>
          <a:lstStyle>
            <a:lvl1pPr>
              <a:defRPr/>
            </a:lvl1pPr>
          </a:lstStyle>
          <a:p>
            <a:r>
              <a:rPr lang="en-US"/>
              <a:t>Chapter 22 Project management</a:t>
            </a:r>
          </a:p>
        </p:txBody>
      </p:sp>
      <p:sp>
        <p:nvSpPr>
          <p:cNvPr id="9"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3607674157"/>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r>
              <a:rPr lang="en-GB"/>
              <a:t>04/12/2014</a:t>
            </a:r>
            <a:endParaRPr lang="en-US"/>
          </a:p>
        </p:txBody>
      </p:sp>
      <p:sp>
        <p:nvSpPr>
          <p:cNvPr id="4" name="Footer Placeholder 4"/>
          <p:cNvSpPr>
            <a:spLocks noGrp="1"/>
          </p:cNvSpPr>
          <p:nvPr>
            <p:ph type="ftr" sz="quarter" idx="11"/>
          </p:nvPr>
        </p:nvSpPr>
        <p:spPr/>
        <p:txBody>
          <a:bodyPr/>
          <a:lstStyle>
            <a:lvl1pPr>
              <a:defRPr/>
            </a:lvl1pPr>
          </a:lstStyle>
          <a:p>
            <a:r>
              <a:rPr lang="en-US"/>
              <a:t>Chapter 22 Project management</a:t>
            </a:r>
          </a:p>
        </p:txBody>
      </p:sp>
      <p:sp>
        <p:nvSpPr>
          <p:cNvPr id="5"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158245615"/>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r>
              <a:rPr lang="en-GB"/>
              <a:t>04/12/2014</a:t>
            </a:r>
            <a:endParaRPr lang="en-US"/>
          </a:p>
        </p:txBody>
      </p:sp>
      <p:sp>
        <p:nvSpPr>
          <p:cNvPr id="3" name="Footer Placeholder 4"/>
          <p:cNvSpPr>
            <a:spLocks noGrp="1"/>
          </p:cNvSpPr>
          <p:nvPr>
            <p:ph type="ftr" sz="quarter" idx="11"/>
          </p:nvPr>
        </p:nvSpPr>
        <p:spPr/>
        <p:txBody>
          <a:bodyPr/>
          <a:lstStyle>
            <a:lvl1pPr>
              <a:defRPr/>
            </a:lvl1pPr>
          </a:lstStyle>
          <a:p>
            <a:r>
              <a:rPr lang="en-US"/>
              <a:t>Chapter 22 Project management</a:t>
            </a:r>
          </a:p>
        </p:txBody>
      </p:sp>
      <p:sp>
        <p:nvSpPr>
          <p:cNvPr id="4"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3024710923"/>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r>
              <a:rPr lang="en-GB"/>
              <a:t>04/12/2014</a:t>
            </a:r>
            <a:endParaRPr lang="en-US"/>
          </a:p>
        </p:txBody>
      </p:sp>
      <p:sp>
        <p:nvSpPr>
          <p:cNvPr id="6" name="Footer Placeholder 4"/>
          <p:cNvSpPr>
            <a:spLocks noGrp="1"/>
          </p:cNvSpPr>
          <p:nvPr>
            <p:ph type="ftr" sz="quarter" idx="11"/>
          </p:nvPr>
        </p:nvSpPr>
        <p:spPr/>
        <p:txBody>
          <a:bodyPr/>
          <a:lstStyle>
            <a:lvl1pPr>
              <a:defRPr/>
            </a:lvl1pPr>
          </a:lstStyle>
          <a:p>
            <a:r>
              <a:rPr lang="en-US"/>
              <a:t>Chapter 22 Project management</a:t>
            </a:r>
          </a:p>
        </p:txBody>
      </p:sp>
      <p:sp>
        <p:nvSpPr>
          <p:cNvPr id="7"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693280720"/>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r>
              <a:rPr lang="en-GB"/>
              <a:t>04/12/2014</a:t>
            </a:r>
            <a:endParaRPr lang="en-US"/>
          </a:p>
        </p:txBody>
      </p:sp>
      <p:sp>
        <p:nvSpPr>
          <p:cNvPr id="6" name="Footer Placeholder 4"/>
          <p:cNvSpPr>
            <a:spLocks noGrp="1"/>
          </p:cNvSpPr>
          <p:nvPr>
            <p:ph type="ftr" sz="quarter" idx="11"/>
          </p:nvPr>
        </p:nvSpPr>
        <p:spPr/>
        <p:txBody>
          <a:bodyPr/>
          <a:lstStyle>
            <a:lvl1pPr>
              <a:defRPr/>
            </a:lvl1pPr>
          </a:lstStyle>
          <a:p>
            <a:r>
              <a:rPr lang="en-US"/>
              <a:t>Chapter 22 Project management</a:t>
            </a:r>
          </a:p>
        </p:txBody>
      </p:sp>
      <p:sp>
        <p:nvSpPr>
          <p:cNvPr id="7"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4288663645"/>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r>
              <a:rPr lang="en-GB"/>
              <a:t>04/12/2014</a:t>
            </a:r>
            <a:endParaRPr lang="en-US"/>
          </a:p>
        </p:txBody>
      </p:sp>
      <p:sp>
        <p:nvSpPr>
          <p:cNvPr id="5" name="Footer Placeholder 4"/>
          <p:cNvSpPr>
            <a:spLocks noGrp="1"/>
          </p:cNvSpPr>
          <p:nvPr>
            <p:ph type="ftr" sz="quarter" idx="11"/>
          </p:nvPr>
        </p:nvSpPr>
        <p:spPr/>
        <p:txBody>
          <a:bodyPr/>
          <a:lstStyle>
            <a:lvl1pPr>
              <a:defRPr/>
            </a:lvl1pPr>
          </a:lstStyle>
          <a:p>
            <a:r>
              <a:rPr lang="en-US"/>
              <a:t>Chapter 22 Project management</a:t>
            </a:r>
          </a:p>
        </p:txBody>
      </p:sp>
      <p:sp>
        <p:nvSpPr>
          <p:cNvPr id="6"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4046957789"/>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r>
              <a:rPr lang="en-GB"/>
              <a:t>04/12/2014</a:t>
            </a:r>
            <a:endParaRPr lang="en-US"/>
          </a:p>
        </p:txBody>
      </p:sp>
      <p:sp>
        <p:nvSpPr>
          <p:cNvPr id="5" name="Footer Placeholder 4"/>
          <p:cNvSpPr>
            <a:spLocks noGrp="1"/>
          </p:cNvSpPr>
          <p:nvPr>
            <p:ph type="ftr" sz="quarter" idx="11"/>
          </p:nvPr>
        </p:nvSpPr>
        <p:spPr/>
        <p:txBody>
          <a:bodyPr/>
          <a:lstStyle>
            <a:lvl1pPr>
              <a:defRPr/>
            </a:lvl1pPr>
          </a:lstStyle>
          <a:p>
            <a:r>
              <a:rPr lang="en-US"/>
              <a:t>Chapter 22 Project management</a:t>
            </a:r>
          </a:p>
        </p:txBody>
      </p:sp>
      <p:sp>
        <p:nvSpPr>
          <p:cNvPr id="6" name="Slide Number Placeholder 5"/>
          <p:cNvSpPr>
            <a:spLocks noGrp="1"/>
          </p:cNvSpPr>
          <p:nvPr>
            <p:ph type="sldNum" sz="quarter" idx="12"/>
          </p:nvPr>
        </p:nvSpPr>
        <p:spPr/>
        <p:txBody>
          <a:bodyPr/>
          <a:lstStyle>
            <a:lvl1pPr>
              <a:defRPr/>
            </a:lvl1pPr>
          </a:lstStyle>
          <a:p>
            <a:fld id="{A41DB566-6001-1B4F-A74B-7213F33DBA30}" type="slidenum">
              <a:rPr lang="en-US" smtClean="0"/>
              <a:pPr/>
              <a:t>‹#›</a:t>
            </a:fld>
            <a:endParaRPr lang="en-US"/>
          </a:p>
        </p:txBody>
      </p:sp>
    </p:spTree>
    <p:extLst>
      <p:ext uri="{BB962C8B-B14F-4D97-AF65-F5344CB8AC3E}">
        <p14:creationId xmlns:p14="http://schemas.microsoft.com/office/powerpoint/2010/main" val="2368004502"/>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9724309"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r>
              <a:rPr lang="en-GB"/>
              <a:t>04/12/2014</a:t>
            </a:r>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22 Project management</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A41DB566-6001-1B4F-A74B-7213F33DBA30}" type="slidenum">
              <a:rPr lang="en-US" smtClean="0"/>
              <a:pPr/>
              <a:t>‹#›</a:t>
            </a:fld>
            <a:endParaRPr lang="en-US"/>
          </a:p>
        </p:txBody>
      </p:sp>
      <p:cxnSp>
        <p:nvCxnSpPr>
          <p:cNvPr id="9" name="Straight Connector 8"/>
          <p:cNvCxnSpPr/>
          <p:nvPr/>
        </p:nvCxnSpPr>
        <p:spPr>
          <a:xfrm>
            <a:off x="609601" y="1419226"/>
            <a:ext cx="9741073"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333910" y="213186"/>
            <a:ext cx="1231725" cy="1219356"/>
          </a:xfrm>
          <a:prstGeom prst="rect">
            <a:avLst/>
          </a:prstGeom>
        </p:spPr>
      </p:pic>
      <p:cxnSp>
        <p:nvCxnSpPr>
          <p:cNvPr id="11" name="Straight Connector 10"/>
          <p:cNvCxnSpPr/>
          <p:nvPr/>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92096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95595"/>
            <a:ext cx="8229600" cy="1143000"/>
          </a:xfrm>
        </p:spPr>
        <p:txBody>
          <a:bodyPr/>
          <a:lstStyle/>
          <a:p>
            <a:pPr algn="ctr"/>
            <a:r>
              <a:rPr lang="en-US" dirty="0"/>
              <a:t>Managing team dynamics and communication</a:t>
            </a:r>
          </a:p>
        </p:txBody>
      </p:sp>
      <p:sp>
        <p:nvSpPr>
          <p:cNvPr id="4" name="Date Placeholder 3"/>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6" name="Slide Number Placeholder 5"/>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a:t>
            </a:fld>
            <a:endParaRPr lang="en-US">
              <a:solidFill>
                <a:prstClr val="black">
                  <a:tint val="75000"/>
                </a:prstClr>
              </a:solidFill>
              <a:latin typeface="Calibri"/>
            </a:endParaRPr>
          </a:p>
        </p:txBody>
      </p:sp>
    </p:spTree>
    <p:extLst>
      <p:ext uri="{BB962C8B-B14F-4D97-AF65-F5344CB8AC3E}">
        <p14:creationId xmlns:p14="http://schemas.microsoft.com/office/powerpoint/2010/main" val="1480364693"/>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vert="horz" wrap="square" lIns="90840" tIns="44623" rIns="90840" bIns="44623" numCol="1" anchor="ctr" anchorCtr="0" compatLnSpc="1">
            <a:prstTxWarp prst="textNoShape">
              <a:avLst/>
            </a:prstTxWarp>
          </a:bodyPr>
          <a:lstStyle/>
          <a:p>
            <a:r>
              <a:rPr lang="en-GB" dirty="0"/>
              <a:t>Managing people</a:t>
            </a:r>
          </a:p>
        </p:txBody>
      </p:sp>
      <p:sp>
        <p:nvSpPr>
          <p:cNvPr id="8195" name="Rectangle 3"/>
          <p:cNvSpPr>
            <a:spLocks noGrp="1" noChangeArrowheads="1"/>
          </p:cNvSpPr>
          <p:nvPr>
            <p:ph idx="1"/>
          </p:nvPr>
        </p:nvSpPr>
        <p:spPr>
          <a:noFill/>
          <a:ln/>
        </p:spPr>
        <p:txBody>
          <a:bodyPr lIns="90840" tIns="44623" rIns="90840" bIns="44623"/>
          <a:lstStyle/>
          <a:p>
            <a:r>
              <a:rPr lang="en-GB"/>
              <a:t>People are an organisation’s most important assets.</a:t>
            </a:r>
          </a:p>
          <a:p>
            <a:r>
              <a:rPr lang="en-GB"/>
              <a:t>The tasks of a manager are essentially people-oriented. Unless there is some understanding of people, management will be unsuccessful.</a:t>
            </a:r>
          </a:p>
          <a:p>
            <a:r>
              <a:rPr lang="en-GB"/>
              <a:t>Poor people management is an important contributor to project failure.</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2</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vert="horz" wrap="square" lIns="90840" tIns="44623" rIns="90840" bIns="44623" numCol="1" anchor="ctr" anchorCtr="0" compatLnSpc="1">
            <a:prstTxWarp prst="textNoShape">
              <a:avLst/>
            </a:prstTxWarp>
          </a:bodyPr>
          <a:lstStyle/>
          <a:p>
            <a:r>
              <a:rPr lang="en-GB"/>
              <a:t>People management factors</a:t>
            </a:r>
          </a:p>
        </p:txBody>
      </p:sp>
      <p:sp>
        <p:nvSpPr>
          <p:cNvPr id="10243" name="Rectangle 3"/>
          <p:cNvSpPr>
            <a:spLocks noGrp="1" noChangeArrowheads="1"/>
          </p:cNvSpPr>
          <p:nvPr>
            <p:ph idx="1"/>
          </p:nvPr>
        </p:nvSpPr>
        <p:spPr>
          <a:noFill/>
          <a:ln/>
        </p:spPr>
        <p:txBody>
          <a:bodyPr lIns="90840" tIns="44623" rIns="90840" bIns="44623"/>
          <a:lstStyle/>
          <a:p>
            <a:pPr>
              <a:lnSpc>
                <a:spcPct val="90000"/>
              </a:lnSpc>
            </a:pPr>
            <a:r>
              <a:rPr lang="en-GB"/>
              <a:t>Consistency</a:t>
            </a:r>
          </a:p>
          <a:p>
            <a:pPr lvl="1">
              <a:lnSpc>
                <a:spcPct val="90000"/>
              </a:lnSpc>
            </a:pPr>
            <a:r>
              <a:rPr lang="en-GB"/>
              <a:t>Team members should all be treated in a comparable way without favourites or discrimination.</a:t>
            </a:r>
          </a:p>
          <a:p>
            <a:pPr>
              <a:lnSpc>
                <a:spcPct val="90000"/>
              </a:lnSpc>
            </a:pPr>
            <a:r>
              <a:rPr lang="en-GB"/>
              <a:t>Respect</a:t>
            </a:r>
          </a:p>
          <a:p>
            <a:pPr lvl="1">
              <a:lnSpc>
                <a:spcPct val="90000"/>
              </a:lnSpc>
            </a:pPr>
            <a:r>
              <a:rPr lang="en-GB"/>
              <a:t>Different team members have different skills and these differences should be respected.</a:t>
            </a:r>
          </a:p>
          <a:p>
            <a:pPr>
              <a:lnSpc>
                <a:spcPct val="90000"/>
              </a:lnSpc>
            </a:pPr>
            <a:r>
              <a:rPr lang="en-GB"/>
              <a:t>Inclusion</a:t>
            </a:r>
          </a:p>
          <a:p>
            <a:pPr lvl="1">
              <a:lnSpc>
                <a:spcPct val="90000"/>
              </a:lnSpc>
            </a:pPr>
            <a:r>
              <a:rPr lang="en-GB"/>
              <a:t>Involve all team members and make sure that people’s views are considered.</a:t>
            </a:r>
          </a:p>
          <a:p>
            <a:pPr>
              <a:lnSpc>
                <a:spcPct val="90000"/>
              </a:lnSpc>
            </a:pPr>
            <a:r>
              <a:rPr lang="en-GB"/>
              <a:t>Honesty</a:t>
            </a:r>
          </a:p>
          <a:p>
            <a:pPr lvl="1">
              <a:lnSpc>
                <a:spcPct val="90000"/>
              </a:lnSpc>
            </a:pPr>
            <a:r>
              <a:rPr lang="en-GB"/>
              <a:t>You should always be honest about what is going well and what is going badly in a project.</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3</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t>Motivating people</a:t>
            </a:r>
          </a:p>
        </p:txBody>
      </p:sp>
      <p:sp>
        <p:nvSpPr>
          <p:cNvPr id="90115" name="Rectangle 3"/>
          <p:cNvSpPr>
            <a:spLocks noGrp="1" noChangeArrowheads="1"/>
          </p:cNvSpPr>
          <p:nvPr>
            <p:ph idx="1"/>
          </p:nvPr>
        </p:nvSpPr>
        <p:spPr/>
        <p:txBody>
          <a:bodyPr/>
          <a:lstStyle/>
          <a:p>
            <a:pPr algn="just">
              <a:lnSpc>
                <a:spcPct val="90000"/>
              </a:lnSpc>
            </a:pPr>
            <a:r>
              <a:rPr lang="en-GB" dirty="0"/>
              <a:t>An important role of a manager is to </a:t>
            </a:r>
            <a:r>
              <a:rPr lang="en-GB" b="1" dirty="0"/>
              <a:t>motivate</a:t>
            </a:r>
            <a:r>
              <a:rPr lang="en-GB" dirty="0"/>
              <a:t> the people working on a project.</a:t>
            </a:r>
          </a:p>
          <a:p>
            <a:pPr algn="just">
              <a:lnSpc>
                <a:spcPct val="90000"/>
              </a:lnSpc>
            </a:pPr>
            <a:r>
              <a:rPr lang="en-GB" dirty="0"/>
              <a:t>Motivation </a:t>
            </a:r>
            <a:r>
              <a:rPr lang="en-GB" b="1" dirty="0"/>
              <a:t>means organizing the work and the working environment to encourage people to work effectively</a:t>
            </a:r>
            <a:r>
              <a:rPr lang="en-GB" dirty="0"/>
              <a:t>. </a:t>
            </a:r>
          </a:p>
          <a:p>
            <a:pPr lvl="1" algn="just">
              <a:lnSpc>
                <a:spcPct val="90000"/>
              </a:lnSpc>
            </a:pPr>
            <a:r>
              <a:rPr lang="en-GB" dirty="0"/>
              <a:t>If people are not motivated, they will not be interested in the work they are doing. They will work slowly, be more likely to make mistakes and will not contribute to the broader goals of the team or the organization. </a:t>
            </a:r>
          </a:p>
          <a:p>
            <a:pPr algn="just">
              <a:lnSpc>
                <a:spcPct val="90000"/>
              </a:lnSpc>
            </a:pPr>
            <a:r>
              <a:rPr lang="en-GB" dirty="0"/>
              <a:t>Motivation is a complex issue but it appears that their are different types of motivation based on:</a:t>
            </a:r>
          </a:p>
          <a:p>
            <a:pPr lvl="1" algn="just">
              <a:lnSpc>
                <a:spcPct val="90000"/>
              </a:lnSpc>
            </a:pPr>
            <a:r>
              <a:rPr lang="en-GB" b="1" dirty="0"/>
              <a:t>Basic needs </a:t>
            </a:r>
            <a:r>
              <a:rPr lang="en-GB" dirty="0"/>
              <a:t>(e.g. food, sleep, etc.);</a:t>
            </a:r>
          </a:p>
          <a:p>
            <a:pPr lvl="1" algn="just">
              <a:lnSpc>
                <a:spcPct val="90000"/>
              </a:lnSpc>
            </a:pPr>
            <a:r>
              <a:rPr lang="en-GB" b="1" dirty="0"/>
              <a:t>Personal needs </a:t>
            </a:r>
            <a:r>
              <a:rPr lang="en-GB" dirty="0"/>
              <a:t>(e.g. respect, self-esteem);</a:t>
            </a:r>
          </a:p>
          <a:p>
            <a:pPr lvl="1" algn="just">
              <a:lnSpc>
                <a:spcPct val="90000"/>
              </a:lnSpc>
            </a:pPr>
            <a:r>
              <a:rPr lang="en-GB" b="1" dirty="0"/>
              <a:t>Social needs </a:t>
            </a:r>
            <a:r>
              <a:rPr lang="en-GB" dirty="0"/>
              <a:t>(e.g. to be accepted as part of a group).</a:t>
            </a:r>
          </a:p>
          <a:p>
            <a:pPr algn="just">
              <a:lnSpc>
                <a:spcPct val="90000"/>
              </a:lnSpc>
            </a:pPr>
            <a:endParaRPr lang="en-US" dirty="0"/>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4</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needs hierarchy </a:t>
            </a:r>
            <a:r>
              <a:rPr lang="en-GB" dirty="0"/>
              <a:t> </a:t>
            </a:r>
            <a:endParaRPr lang="en-US" dirty="0"/>
          </a:p>
        </p:txBody>
      </p:sp>
      <p:pic>
        <p:nvPicPr>
          <p:cNvPr id="4" name="Content Placeholder 3" descr="22.7 Needs-hierarchy.eps"/>
          <p:cNvPicPr>
            <a:picLocks noGrp="1" noChangeAspect="1"/>
          </p:cNvPicPr>
          <p:nvPr>
            <p:ph idx="1"/>
          </p:nvPr>
        </p:nvPicPr>
        <p:blipFill>
          <a:blip r:embed="rId2"/>
          <a:srcRect l="-9445" r="-9445"/>
          <a:stretch>
            <a:fillRect/>
          </a:stretch>
        </p:blipFill>
        <p:spPr>
          <a:xfrm>
            <a:off x="3035108" y="1883910"/>
            <a:ext cx="6285107" cy="3456567"/>
          </a:xfrm>
        </p:spPr>
      </p:pic>
      <p:sp>
        <p:nvSpPr>
          <p:cNvPr id="3" name="Date Placeholder 2"/>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5" name="Slide Number Placeholder 4"/>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5</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noFill/>
          <a:ln/>
        </p:spPr>
        <p:txBody>
          <a:bodyPr vert="horz" wrap="square" lIns="90840" tIns="44623" rIns="90840" bIns="44623" numCol="1" anchor="ctr" anchorCtr="0" compatLnSpc="1">
            <a:prstTxWarp prst="textNoShape">
              <a:avLst/>
            </a:prstTxWarp>
          </a:bodyPr>
          <a:lstStyle/>
          <a:p>
            <a:r>
              <a:rPr lang="en-GB"/>
              <a:t>Need satisfaction</a:t>
            </a:r>
          </a:p>
        </p:txBody>
      </p:sp>
      <p:sp>
        <p:nvSpPr>
          <p:cNvPr id="46083" name="Rectangle 3"/>
          <p:cNvSpPr>
            <a:spLocks noGrp="1" noChangeArrowheads="1"/>
          </p:cNvSpPr>
          <p:nvPr>
            <p:ph idx="1"/>
          </p:nvPr>
        </p:nvSpPr>
        <p:spPr>
          <a:noFill/>
          <a:ln/>
        </p:spPr>
        <p:txBody>
          <a:bodyPr lIns="90840" tIns="44623" rIns="90840" bIns="44623"/>
          <a:lstStyle/>
          <a:p>
            <a:pPr>
              <a:lnSpc>
                <a:spcPct val="90000"/>
              </a:lnSpc>
            </a:pPr>
            <a:r>
              <a:rPr lang="en-GB" dirty="0"/>
              <a:t>In software development groups, basic physiological and safety needs are not an issue.</a:t>
            </a:r>
          </a:p>
          <a:p>
            <a:pPr>
              <a:lnSpc>
                <a:spcPct val="90000"/>
              </a:lnSpc>
            </a:pPr>
            <a:r>
              <a:rPr lang="en-GB" b="1" dirty="0"/>
              <a:t>Social</a:t>
            </a:r>
          </a:p>
          <a:p>
            <a:pPr lvl="1">
              <a:lnSpc>
                <a:spcPct val="90000"/>
              </a:lnSpc>
            </a:pPr>
            <a:r>
              <a:rPr lang="en-GB" dirty="0"/>
              <a:t>Provide communal facilities;</a:t>
            </a:r>
          </a:p>
          <a:p>
            <a:pPr lvl="1">
              <a:lnSpc>
                <a:spcPct val="90000"/>
              </a:lnSpc>
            </a:pPr>
            <a:r>
              <a:rPr lang="en-GB" dirty="0"/>
              <a:t>Allow informal communications e.g. via social networking</a:t>
            </a:r>
          </a:p>
          <a:p>
            <a:pPr>
              <a:lnSpc>
                <a:spcPct val="90000"/>
              </a:lnSpc>
            </a:pPr>
            <a:r>
              <a:rPr lang="en-GB" b="1" dirty="0"/>
              <a:t>Esteem</a:t>
            </a:r>
          </a:p>
          <a:p>
            <a:pPr lvl="1">
              <a:lnSpc>
                <a:spcPct val="90000"/>
              </a:lnSpc>
            </a:pPr>
            <a:r>
              <a:rPr lang="en-GB" dirty="0"/>
              <a:t>Recognition of achievements;</a:t>
            </a:r>
          </a:p>
          <a:p>
            <a:pPr lvl="1">
              <a:lnSpc>
                <a:spcPct val="90000"/>
              </a:lnSpc>
            </a:pPr>
            <a:r>
              <a:rPr lang="en-GB" dirty="0"/>
              <a:t>Appropriate rewards.</a:t>
            </a:r>
          </a:p>
          <a:p>
            <a:pPr>
              <a:lnSpc>
                <a:spcPct val="90000"/>
              </a:lnSpc>
            </a:pPr>
            <a:r>
              <a:rPr lang="en-GB" dirty="0"/>
              <a:t>Self-realization</a:t>
            </a:r>
          </a:p>
          <a:p>
            <a:pPr lvl="1">
              <a:lnSpc>
                <a:spcPct val="90000"/>
              </a:lnSpc>
            </a:pPr>
            <a:r>
              <a:rPr lang="en-GB" dirty="0"/>
              <a:t>Training - people want to learn more;</a:t>
            </a:r>
          </a:p>
          <a:p>
            <a:pPr lvl="1">
              <a:lnSpc>
                <a:spcPct val="90000"/>
              </a:lnSpc>
            </a:pPr>
            <a:r>
              <a:rPr lang="en-GB" dirty="0"/>
              <a:t>Responsibility.</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6</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Individual motivation </a:t>
            </a:r>
          </a:p>
        </p:txBody>
      </p:sp>
      <p:sp>
        <p:nvSpPr>
          <p:cNvPr id="3" name="Date Placeholder 2"/>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5" name="Slide Number Placeholder 4"/>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7</a:t>
            </a:fld>
            <a:endParaRPr lang="en-US">
              <a:solidFill>
                <a:prstClr val="black">
                  <a:tint val="75000"/>
                </a:prstClr>
              </a:solidFill>
              <a:latin typeface="Calibri"/>
            </a:endParaRPr>
          </a:p>
        </p:txBody>
      </p:sp>
      <p:sp>
        <p:nvSpPr>
          <p:cNvPr id="4" name="TextBox 3"/>
          <p:cNvSpPr txBox="1"/>
          <p:nvPr/>
        </p:nvSpPr>
        <p:spPr>
          <a:xfrm>
            <a:off x="1821260" y="1719402"/>
            <a:ext cx="8484125" cy="4462760"/>
          </a:xfrm>
          <a:prstGeom prst="rect">
            <a:avLst/>
          </a:prstGeom>
          <a:solidFill>
            <a:srgbClr val="FFFF00">
              <a:alpha val="34000"/>
            </a:srgbClr>
          </a:solidFill>
        </p:spPr>
        <p:txBody>
          <a:bodyPr wrap="square" rtlCol="0">
            <a:spAutoFit/>
          </a:bodyPr>
          <a:lstStyle/>
          <a:p>
            <a:pPr defTabSz="457200"/>
            <a:r>
              <a:rPr lang="en-GB" sz="1600" dirty="0">
                <a:solidFill>
                  <a:prstClr val="black"/>
                </a:solidFill>
                <a:latin typeface="Arial"/>
                <a:cs typeface="Arial"/>
              </a:rPr>
              <a:t>Alice is a software project manager working in a company that develops alarm systems. This company wishes to enter the growing market of assistive technology to help elderly and disabled people live independently. Alice has been asked to lead a team of 6 developers than can develop new products based around the company’s alarm technology.  </a:t>
            </a:r>
          </a:p>
          <a:p>
            <a:pPr defTabSz="457200"/>
            <a:endParaRPr lang="en-GB" sz="1600" dirty="0">
              <a:solidFill>
                <a:prstClr val="black"/>
              </a:solidFill>
              <a:latin typeface="Arial"/>
              <a:cs typeface="Arial"/>
            </a:endParaRPr>
          </a:p>
          <a:p>
            <a:pPr defTabSz="457200"/>
            <a:r>
              <a:rPr lang="en-GB" sz="1600" dirty="0">
                <a:solidFill>
                  <a:prstClr val="black"/>
                </a:solidFill>
                <a:latin typeface="Arial"/>
                <a:cs typeface="Arial"/>
              </a:rPr>
              <a:t>Alice’s assistive technology project starts well. Good working relationships develop within the team and creative new ideas are developed. The team decides to develop a peer-to-peer messaging system using digital televisions linked to the alarm network for communications. However, some months into the project, Alice notices that Dorothy, a hardware design expert, starts coming into work late, the quality of her work deteriorates and, increasingly, that she does not appear to be communicating with other members of the team.</a:t>
            </a:r>
          </a:p>
          <a:p>
            <a:pPr defTabSz="457200"/>
            <a:r>
              <a:rPr lang="en-GB" sz="1600" dirty="0">
                <a:solidFill>
                  <a:prstClr val="black"/>
                </a:solidFill>
                <a:latin typeface="Arial"/>
                <a:cs typeface="Arial"/>
              </a:rPr>
              <a:t>Alice talks about the problem informally with other team members to try to find out if Dorothy’s personal circumstances have changed, and if this might be affecting her work. They don’t know of anything, so Alice decides to talk with Dorothy to try to understand the problem.</a:t>
            </a:r>
          </a:p>
          <a:p>
            <a:pPr defTabSz="457200"/>
            <a:endParaRPr lang="en-GB" sz="1400" dirty="0">
              <a:solidFill>
                <a:prstClr val="black"/>
              </a:solidFill>
              <a:latin typeface="Calibri"/>
            </a:endParaRPr>
          </a:p>
          <a:p>
            <a:pPr defTabSz="457200"/>
            <a:endParaRPr lang="en-US" sz="1400" dirty="0">
              <a:solidFill>
                <a:prstClr val="black"/>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Individual motivation </a:t>
            </a:r>
          </a:p>
        </p:txBody>
      </p:sp>
      <p:sp>
        <p:nvSpPr>
          <p:cNvPr id="3" name="Date Placeholder 2"/>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5" name="Slide Number Placeholder 4"/>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8</a:t>
            </a:fld>
            <a:endParaRPr lang="en-US">
              <a:solidFill>
                <a:prstClr val="black">
                  <a:tint val="75000"/>
                </a:prstClr>
              </a:solidFill>
              <a:latin typeface="Calibri"/>
            </a:endParaRPr>
          </a:p>
        </p:txBody>
      </p:sp>
      <p:sp>
        <p:nvSpPr>
          <p:cNvPr id="4" name="TextBox 3"/>
          <p:cNvSpPr txBox="1"/>
          <p:nvPr/>
        </p:nvSpPr>
        <p:spPr>
          <a:xfrm>
            <a:off x="1981201" y="1999477"/>
            <a:ext cx="7987573" cy="3262431"/>
          </a:xfrm>
          <a:prstGeom prst="rect">
            <a:avLst/>
          </a:prstGeom>
          <a:solidFill>
            <a:srgbClr val="FFFF00">
              <a:alpha val="34000"/>
            </a:srgbClr>
          </a:solidFill>
        </p:spPr>
        <p:txBody>
          <a:bodyPr wrap="square" rtlCol="0">
            <a:spAutoFit/>
          </a:bodyPr>
          <a:lstStyle/>
          <a:p>
            <a:pPr defTabSz="457200"/>
            <a:endParaRPr lang="en-GB" sz="1600" dirty="0">
              <a:solidFill>
                <a:prstClr val="black"/>
              </a:solidFill>
              <a:latin typeface="Arial"/>
              <a:cs typeface="Arial"/>
            </a:endParaRPr>
          </a:p>
          <a:p>
            <a:pPr defTabSz="457200"/>
            <a:r>
              <a:rPr lang="en-GB" sz="1600" dirty="0">
                <a:solidFill>
                  <a:prstClr val="black"/>
                </a:solidFill>
                <a:latin typeface="Arial"/>
                <a:cs typeface="Arial"/>
              </a:rPr>
              <a:t>After some initial denials that there is a problem, Dorothy admits that she has lost interest in the job. She expected that she would be able to develop and use her hardware interfacing skills. However, because of the product direction that has been chosen, she has little opportunity for this. Basically, she is working as a C programmer with other team members. </a:t>
            </a:r>
          </a:p>
          <a:p>
            <a:pPr defTabSz="457200"/>
            <a:endParaRPr lang="en-GB" sz="1600" dirty="0">
              <a:solidFill>
                <a:prstClr val="black"/>
              </a:solidFill>
              <a:latin typeface="Arial"/>
              <a:cs typeface="Arial"/>
            </a:endParaRPr>
          </a:p>
          <a:p>
            <a:pPr defTabSz="457200"/>
            <a:r>
              <a:rPr lang="en-GB" sz="1600" dirty="0">
                <a:solidFill>
                  <a:prstClr val="black"/>
                </a:solidFill>
                <a:latin typeface="Arial"/>
                <a:cs typeface="Arial"/>
              </a:rPr>
              <a:t>Although she admits that the work is challenging, she is concerned that she is not developing her interfacing skills. She is worried that finding a job that involves hardware interfacing will be difficult after this project. Because she does not want to upset the team by revealing that she is thinking about the next project, she has decided that it is best to minimize conversation with them.</a:t>
            </a:r>
          </a:p>
          <a:p>
            <a:pPr defTabSz="457200"/>
            <a:endParaRPr lang="en-US" sz="1400" dirty="0">
              <a:solidFill>
                <a:prstClr val="black"/>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Comments on case study</a:t>
            </a:r>
          </a:p>
        </p:txBody>
      </p:sp>
      <p:sp>
        <p:nvSpPr>
          <p:cNvPr id="3" name="Content Placeholder 2"/>
          <p:cNvSpPr>
            <a:spLocks noGrp="1"/>
          </p:cNvSpPr>
          <p:nvPr>
            <p:ph idx="1"/>
          </p:nvPr>
        </p:nvSpPr>
        <p:spPr/>
        <p:txBody>
          <a:bodyPr/>
          <a:lstStyle/>
          <a:p>
            <a:pPr algn="just"/>
            <a:r>
              <a:rPr lang="en-GB" dirty="0"/>
              <a:t>If you don’t sort out the problem of unacceptable work, the other group members will become dissatisfied and feel that they are doing an unfair share of the work. </a:t>
            </a:r>
          </a:p>
          <a:p>
            <a:pPr algn="just"/>
            <a:r>
              <a:rPr lang="en-GB" b="1" dirty="0"/>
              <a:t>Personal difficulties affect motivation </a:t>
            </a:r>
            <a:r>
              <a:rPr lang="en-GB" dirty="0"/>
              <a:t>because people can’t concentrate on their work. </a:t>
            </a:r>
            <a:r>
              <a:rPr lang="en-GB" b="1" dirty="0"/>
              <a:t>They need time and support to resolve these issues</a:t>
            </a:r>
            <a:r>
              <a:rPr lang="en-GB" dirty="0"/>
              <a:t>, although you have to make clear that they still have a responsibility to their employer. </a:t>
            </a:r>
          </a:p>
          <a:p>
            <a:pPr algn="just"/>
            <a:r>
              <a:rPr lang="en-GB" dirty="0"/>
              <a:t>Alice gives Dorothy </a:t>
            </a:r>
            <a:r>
              <a:rPr lang="en-GB" b="1" dirty="0"/>
              <a:t>more design autonomy </a:t>
            </a:r>
            <a:r>
              <a:rPr lang="en-GB" dirty="0"/>
              <a:t>and o</a:t>
            </a:r>
            <a:r>
              <a:rPr lang="en-GB" b="1" dirty="0"/>
              <a:t>rganizes training courses </a:t>
            </a:r>
            <a:r>
              <a:rPr lang="en-GB" dirty="0"/>
              <a:t>in software engineering that will give her more opportunities after her current project has finished. </a:t>
            </a:r>
          </a:p>
          <a:p>
            <a:pPr algn="just"/>
            <a:endParaRPr lang="en-US" dirty="0"/>
          </a:p>
        </p:txBody>
      </p:sp>
      <p:sp>
        <p:nvSpPr>
          <p:cNvPr id="4" name="Date Placeholder 3"/>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6" name="Slide Number Placeholder 5"/>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9</a:t>
            </a:fld>
            <a:endParaRPr lang="en-US">
              <a:solidFill>
                <a:prstClr val="black">
                  <a:tint val="75000"/>
                </a:prstClr>
              </a:solidFill>
              <a:latin typeface="Calibri"/>
            </a:endParaRPr>
          </a:p>
        </p:txBody>
      </p:sp>
    </p:spTree>
    <p:extLst>
      <p:ext uri="{BB962C8B-B14F-4D97-AF65-F5344CB8AC3E}">
        <p14:creationId xmlns:p14="http://schemas.microsoft.com/office/powerpoint/2010/main" val="219381673"/>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a:ln/>
        </p:spPr>
        <p:txBody>
          <a:bodyPr vert="horz" wrap="square" lIns="90840" tIns="44623" rIns="90840" bIns="44623" numCol="1" anchor="ctr" anchorCtr="0" compatLnSpc="1">
            <a:prstTxWarp prst="textNoShape">
              <a:avLst/>
            </a:prstTxWarp>
          </a:bodyPr>
          <a:lstStyle/>
          <a:p>
            <a:r>
              <a:rPr lang="en-GB"/>
              <a:t>Personality types</a:t>
            </a:r>
          </a:p>
        </p:txBody>
      </p:sp>
      <p:sp>
        <p:nvSpPr>
          <p:cNvPr id="34819" name="Rectangle 3"/>
          <p:cNvSpPr>
            <a:spLocks noGrp="1" noChangeArrowheads="1"/>
          </p:cNvSpPr>
          <p:nvPr>
            <p:ph idx="1"/>
          </p:nvPr>
        </p:nvSpPr>
        <p:spPr>
          <a:noFill/>
          <a:ln/>
        </p:spPr>
        <p:txBody>
          <a:bodyPr lIns="90840" tIns="44623" rIns="90840" bIns="44623"/>
          <a:lstStyle/>
          <a:p>
            <a:pPr algn="just"/>
            <a:r>
              <a:rPr lang="en-GB" dirty="0"/>
              <a:t>The needs hierarchy is almost certainly an over-simplification of motivation in practice.</a:t>
            </a:r>
          </a:p>
          <a:p>
            <a:pPr algn="just"/>
            <a:r>
              <a:rPr lang="en-GB" dirty="0"/>
              <a:t>Motivation should also take into account different personality types:</a:t>
            </a:r>
          </a:p>
          <a:p>
            <a:pPr lvl="1" algn="just"/>
            <a:r>
              <a:rPr lang="en-GB" b="1" dirty="0"/>
              <a:t>Task-oriented people</a:t>
            </a:r>
            <a:r>
              <a:rPr lang="en-GB" dirty="0"/>
              <a:t>, who are motivated by the work they do.</a:t>
            </a:r>
          </a:p>
          <a:p>
            <a:pPr lvl="1" algn="just"/>
            <a:r>
              <a:rPr lang="en-GB" b="1" dirty="0"/>
              <a:t>Interaction-oriented</a:t>
            </a:r>
            <a:r>
              <a:rPr lang="en-GB" b="1" i="1" dirty="0"/>
              <a:t> </a:t>
            </a:r>
            <a:r>
              <a:rPr lang="en-GB" b="1" dirty="0"/>
              <a:t>people</a:t>
            </a:r>
            <a:r>
              <a:rPr lang="en-GB" dirty="0"/>
              <a:t>, who are motivated by the presence and actions of co-workers. </a:t>
            </a:r>
          </a:p>
          <a:p>
            <a:pPr lvl="1" algn="just"/>
            <a:r>
              <a:rPr lang="en-GB" b="1" dirty="0"/>
              <a:t>Self-oriented</a:t>
            </a:r>
            <a:r>
              <a:rPr lang="en-GB" b="1" i="1" dirty="0"/>
              <a:t> </a:t>
            </a:r>
            <a:r>
              <a:rPr lang="en-GB" b="1" dirty="0"/>
              <a:t>people</a:t>
            </a:r>
            <a:r>
              <a:rPr lang="en-GB" dirty="0"/>
              <a:t>, who are principally motivated by personal success and recognition. </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10</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vert="horz" wrap="square" lIns="90840" tIns="44623" rIns="90840" bIns="44623" numCol="1" anchor="ctr" anchorCtr="0" compatLnSpc="1">
            <a:prstTxWarp prst="textNoShape">
              <a:avLst/>
            </a:prstTxWarp>
          </a:bodyPr>
          <a:lstStyle/>
          <a:p>
            <a:r>
              <a:rPr lang="en-GB"/>
              <a:t>Motivation balance</a:t>
            </a:r>
          </a:p>
        </p:txBody>
      </p:sp>
      <p:sp>
        <p:nvSpPr>
          <p:cNvPr id="37891" name="Rectangle 3"/>
          <p:cNvSpPr>
            <a:spLocks noGrp="1" noChangeArrowheads="1"/>
          </p:cNvSpPr>
          <p:nvPr>
            <p:ph idx="1"/>
          </p:nvPr>
        </p:nvSpPr>
        <p:spPr>
          <a:noFill/>
          <a:ln/>
        </p:spPr>
        <p:txBody>
          <a:bodyPr lIns="90840" tIns="44623" rIns="90840" bIns="44623"/>
          <a:lstStyle/>
          <a:p>
            <a:pPr algn="just"/>
            <a:r>
              <a:rPr lang="en-GB" dirty="0"/>
              <a:t>Individual motivations are made up of elements </a:t>
            </a:r>
            <a:br>
              <a:rPr lang="en-GB" dirty="0"/>
            </a:br>
            <a:r>
              <a:rPr lang="en-GB" dirty="0"/>
              <a:t>of each class.</a:t>
            </a:r>
          </a:p>
          <a:p>
            <a:pPr algn="just"/>
            <a:r>
              <a:rPr lang="en-GB" dirty="0"/>
              <a:t>The balance can change depending on personal </a:t>
            </a:r>
            <a:br>
              <a:rPr lang="en-GB" dirty="0"/>
            </a:br>
            <a:r>
              <a:rPr lang="en-GB" dirty="0"/>
              <a:t>circumstances and external events.</a:t>
            </a:r>
          </a:p>
          <a:p>
            <a:pPr algn="just"/>
            <a:r>
              <a:rPr lang="en-GB" dirty="0"/>
              <a:t>However, people are not just motivated by personal factors but also by being part of a group and culture. </a:t>
            </a:r>
          </a:p>
          <a:p>
            <a:pPr algn="just"/>
            <a:r>
              <a:rPr lang="en-GB" dirty="0"/>
              <a:t>People go to work because they are motivated by the people that they work with.</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11</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52029"/>
            <a:ext cx="8229600" cy="1143000"/>
          </a:xfrm>
        </p:spPr>
        <p:txBody>
          <a:bodyPr/>
          <a:lstStyle/>
          <a:p>
            <a:pPr algn="ctr"/>
            <a:r>
              <a:rPr lang="en-US" dirty="0"/>
              <a:t>Teamwork</a:t>
            </a:r>
          </a:p>
        </p:txBody>
      </p:sp>
      <p:sp>
        <p:nvSpPr>
          <p:cNvPr id="4" name="Date Placeholder 3"/>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6" name="Slide Number Placeholder 5"/>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12</a:t>
            </a:fld>
            <a:endParaRPr lang="en-US">
              <a:solidFill>
                <a:prstClr val="black">
                  <a:tint val="75000"/>
                </a:prstClr>
              </a:solidFill>
              <a:latin typeface="Calibri"/>
            </a:endParaRPr>
          </a:p>
        </p:txBody>
      </p:sp>
    </p:spTree>
    <p:extLst>
      <p:ext uri="{BB962C8B-B14F-4D97-AF65-F5344CB8AC3E}">
        <p14:creationId xmlns:p14="http://schemas.microsoft.com/office/powerpoint/2010/main" val="406544866"/>
      </p:ext>
    </p:extLst>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dirty="0"/>
              <a:t>Teamwork</a:t>
            </a:r>
          </a:p>
        </p:txBody>
      </p:sp>
      <p:sp>
        <p:nvSpPr>
          <p:cNvPr id="89091" name="Rectangle 3"/>
          <p:cNvSpPr>
            <a:spLocks noGrp="1" noChangeArrowheads="1"/>
          </p:cNvSpPr>
          <p:nvPr>
            <p:ph idx="1"/>
          </p:nvPr>
        </p:nvSpPr>
        <p:spPr/>
        <p:txBody>
          <a:bodyPr/>
          <a:lstStyle/>
          <a:p>
            <a:pPr algn="just">
              <a:lnSpc>
                <a:spcPct val="90000"/>
              </a:lnSpc>
            </a:pPr>
            <a:r>
              <a:rPr lang="en-GB" dirty="0"/>
              <a:t>Most software engineering is a </a:t>
            </a:r>
            <a:r>
              <a:rPr lang="en-GB" b="1" dirty="0"/>
              <a:t>group activity</a:t>
            </a:r>
          </a:p>
          <a:p>
            <a:pPr lvl="1" algn="just">
              <a:lnSpc>
                <a:spcPct val="90000"/>
              </a:lnSpc>
            </a:pPr>
            <a:r>
              <a:rPr lang="en-GB" dirty="0"/>
              <a:t>The development schedule for most non-trivial software projects is such that they cannot be completed by one person working alone.</a:t>
            </a:r>
          </a:p>
          <a:p>
            <a:pPr algn="just">
              <a:lnSpc>
                <a:spcPct val="90000"/>
              </a:lnSpc>
            </a:pPr>
            <a:r>
              <a:rPr lang="en-GB" dirty="0"/>
              <a:t> A good group is </a:t>
            </a:r>
            <a:r>
              <a:rPr lang="en-GB" b="1" dirty="0"/>
              <a:t>cohesive</a:t>
            </a:r>
            <a:r>
              <a:rPr lang="en-GB" dirty="0"/>
              <a:t> and has a </a:t>
            </a:r>
            <a:r>
              <a:rPr lang="en-GB" b="1" dirty="0"/>
              <a:t>team spirit</a:t>
            </a:r>
            <a:r>
              <a:rPr lang="en-GB" dirty="0"/>
              <a:t>. The people involved are motivated by the success of the group as well as by their own personal goals. </a:t>
            </a:r>
          </a:p>
          <a:p>
            <a:pPr algn="just">
              <a:lnSpc>
                <a:spcPct val="90000"/>
              </a:lnSpc>
            </a:pPr>
            <a:r>
              <a:rPr lang="en-GB" b="1" dirty="0"/>
              <a:t>Group interaction </a:t>
            </a:r>
            <a:r>
              <a:rPr lang="en-GB" dirty="0"/>
              <a:t>is a key determinant of group performance.</a:t>
            </a:r>
          </a:p>
          <a:p>
            <a:pPr algn="just">
              <a:lnSpc>
                <a:spcPct val="90000"/>
              </a:lnSpc>
            </a:pPr>
            <a:r>
              <a:rPr lang="en-GB" dirty="0"/>
              <a:t>Flexibility in group composition is limited</a:t>
            </a:r>
          </a:p>
          <a:p>
            <a:pPr lvl="1" algn="just">
              <a:lnSpc>
                <a:spcPct val="90000"/>
              </a:lnSpc>
            </a:pPr>
            <a:r>
              <a:rPr lang="en-GB" dirty="0"/>
              <a:t>Managers must do the best they can with available people.</a:t>
            </a:r>
          </a:p>
          <a:p>
            <a:pPr>
              <a:lnSpc>
                <a:spcPct val="90000"/>
              </a:lnSpc>
            </a:pPr>
            <a:endParaRPr lang="en-US" dirty="0"/>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13</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vert="horz" wrap="square" lIns="90840" tIns="44623" rIns="90840" bIns="44623" numCol="1" anchor="ctr" anchorCtr="0" compatLnSpc="1">
            <a:prstTxWarp prst="textNoShape">
              <a:avLst/>
            </a:prstTxWarp>
          </a:bodyPr>
          <a:lstStyle/>
          <a:p>
            <a:r>
              <a:rPr lang="en-GB" dirty="0"/>
              <a:t>Group cohesiveness</a:t>
            </a:r>
          </a:p>
        </p:txBody>
      </p:sp>
      <p:sp>
        <p:nvSpPr>
          <p:cNvPr id="57347" name="Rectangle 3"/>
          <p:cNvSpPr>
            <a:spLocks noGrp="1" noChangeArrowheads="1"/>
          </p:cNvSpPr>
          <p:nvPr>
            <p:ph idx="1"/>
          </p:nvPr>
        </p:nvSpPr>
        <p:spPr>
          <a:noFill/>
          <a:ln/>
        </p:spPr>
        <p:txBody>
          <a:bodyPr lIns="90840" tIns="44623" rIns="90840" bIns="44623"/>
          <a:lstStyle/>
          <a:p>
            <a:pPr algn="just">
              <a:lnSpc>
                <a:spcPct val="90000"/>
              </a:lnSpc>
            </a:pPr>
            <a:r>
              <a:rPr lang="en-GB" dirty="0"/>
              <a:t>In a </a:t>
            </a:r>
            <a:r>
              <a:rPr lang="en-GB" b="1" dirty="0"/>
              <a:t>cohesive group</a:t>
            </a:r>
            <a:r>
              <a:rPr lang="en-GB" dirty="0"/>
              <a:t>, members consider the group to be more important than any individual in it.</a:t>
            </a:r>
          </a:p>
          <a:p>
            <a:pPr algn="just">
              <a:lnSpc>
                <a:spcPct val="90000"/>
              </a:lnSpc>
            </a:pPr>
            <a:r>
              <a:rPr lang="en-GB" dirty="0"/>
              <a:t>The advantages of a cohesive group are:</a:t>
            </a:r>
          </a:p>
          <a:p>
            <a:pPr lvl="1" algn="just">
              <a:lnSpc>
                <a:spcPct val="90000"/>
              </a:lnSpc>
            </a:pPr>
            <a:r>
              <a:rPr lang="en-GB" dirty="0"/>
              <a:t>Group quality standards can be developed by the group members.</a:t>
            </a:r>
          </a:p>
          <a:p>
            <a:pPr lvl="1" algn="just">
              <a:lnSpc>
                <a:spcPct val="90000"/>
              </a:lnSpc>
            </a:pPr>
            <a:r>
              <a:rPr lang="en-GB" dirty="0"/>
              <a:t>Team members  learn from each other and get to know each other’s work; Inhibitions caused by ignorance are reduced.</a:t>
            </a:r>
          </a:p>
          <a:p>
            <a:pPr lvl="1" algn="just">
              <a:lnSpc>
                <a:spcPct val="90000"/>
              </a:lnSpc>
            </a:pPr>
            <a:r>
              <a:rPr lang="en-GB" dirty="0"/>
              <a:t>Knowledge is shared. Continuity can be maintained if a group member leaves.</a:t>
            </a:r>
          </a:p>
          <a:p>
            <a:pPr lvl="1" algn="just">
              <a:lnSpc>
                <a:spcPct val="90000"/>
              </a:lnSpc>
            </a:pPr>
            <a:r>
              <a:rPr lang="en-GB" dirty="0"/>
              <a:t>Refactoring and continual improvement is encouraged. </a:t>
            </a:r>
          </a:p>
          <a:p>
            <a:pPr lvl="1" algn="just">
              <a:lnSpc>
                <a:spcPct val="90000"/>
              </a:lnSpc>
            </a:pPr>
            <a:r>
              <a:rPr lang="en-GB" dirty="0"/>
              <a:t>Group members work collectively to deliver high quality results and fix problems, irrespective of the individuals who originally created the design or program. </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14</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Team spirit</a:t>
            </a:r>
            <a:endParaRPr lang="en-US" dirty="0"/>
          </a:p>
        </p:txBody>
      </p:sp>
      <p:sp>
        <p:nvSpPr>
          <p:cNvPr id="3" name="Date Placeholder 2"/>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15</a:t>
            </a:fld>
            <a:endParaRPr lang="en-US">
              <a:solidFill>
                <a:prstClr val="black">
                  <a:tint val="75000"/>
                </a:prstClr>
              </a:solidFill>
              <a:latin typeface="Calibri"/>
            </a:endParaRPr>
          </a:p>
        </p:txBody>
      </p:sp>
      <p:sp>
        <p:nvSpPr>
          <p:cNvPr id="6" name="TextBox 5"/>
          <p:cNvSpPr txBox="1"/>
          <p:nvPr/>
        </p:nvSpPr>
        <p:spPr>
          <a:xfrm>
            <a:off x="2008225" y="1756297"/>
            <a:ext cx="8229600" cy="4493538"/>
          </a:xfrm>
          <a:prstGeom prst="rect">
            <a:avLst/>
          </a:prstGeom>
          <a:solidFill>
            <a:srgbClr val="FFFF00">
              <a:alpha val="33000"/>
            </a:srgbClr>
          </a:solidFill>
        </p:spPr>
        <p:txBody>
          <a:bodyPr wrap="square" rtlCol="0">
            <a:spAutoFit/>
          </a:bodyPr>
          <a:lstStyle/>
          <a:p>
            <a:pPr defTabSz="457200"/>
            <a:r>
              <a:rPr lang="en-GB" sz="1600" dirty="0">
                <a:solidFill>
                  <a:prstClr val="black"/>
                </a:solidFill>
                <a:latin typeface="Arial"/>
                <a:cs typeface="Arial"/>
              </a:rPr>
              <a:t>Alice, an experienced project manager, understands the importance of creating a cohesive group. As they are developing a new product, she takes the opportunity of involving all group members in the product specification and design by getting them to discuss possible technology with elderly members of their families. She also encourages them to bring these family members to meet other members of the development group. </a:t>
            </a:r>
          </a:p>
          <a:p>
            <a:pPr defTabSz="457200"/>
            <a:endParaRPr lang="en-GB" sz="1600" dirty="0">
              <a:solidFill>
                <a:prstClr val="black"/>
              </a:solidFill>
              <a:latin typeface="Arial"/>
              <a:cs typeface="Arial"/>
            </a:endParaRPr>
          </a:p>
          <a:p>
            <a:pPr defTabSz="457200"/>
            <a:r>
              <a:rPr lang="en-GB" sz="1600" dirty="0">
                <a:solidFill>
                  <a:prstClr val="black"/>
                </a:solidFill>
                <a:latin typeface="Arial"/>
                <a:cs typeface="Arial"/>
              </a:rPr>
              <a:t>Alice also arranges monthly lunches for everyone in the group. These lunches are an opportunity for all team members to meet informally, talk around issues of concern, and get to know each other. At the lunch, Alice tells the group what she knows about organizational news, policies, strategies, and so forth. Each team member then briefly summarizes what they have been doing and the group discusses a general topic, such as new product ideas from elderly relatives.</a:t>
            </a:r>
          </a:p>
          <a:p>
            <a:pPr defTabSz="457200"/>
            <a:endParaRPr lang="en-GB" sz="1600" dirty="0">
              <a:solidFill>
                <a:prstClr val="black"/>
              </a:solidFill>
              <a:latin typeface="Arial"/>
              <a:cs typeface="Arial"/>
            </a:endParaRPr>
          </a:p>
          <a:p>
            <a:pPr defTabSz="457200"/>
            <a:r>
              <a:rPr lang="en-GB" sz="1600" dirty="0">
                <a:solidFill>
                  <a:prstClr val="black"/>
                </a:solidFill>
                <a:latin typeface="Arial"/>
                <a:cs typeface="Arial"/>
              </a:rPr>
              <a:t>Every few months, Alice organizes an ‘away day’ for the group where the team spends two days on ‘technology updating’. Each team member prepares an update on a relevant technology and presents it to the group. This is an off-site meeting in a good hotel and plenty of time is scheduled for discussion and social interaction. </a:t>
            </a:r>
          </a:p>
          <a:p>
            <a:pPr defTabSz="457200"/>
            <a:endParaRPr lang="en-US" sz="1400" dirty="0">
              <a:solidFill>
                <a:prstClr val="black"/>
              </a:solidFill>
              <a:latin typeface="Arial"/>
              <a:cs typeface="Arial"/>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effectiveness of a team</a:t>
            </a:r>
          </a:p>
        </p:txBody>
      </p:sp>
      <p:sp>
        <p:nvSpPr>
          <p:cNvPr id="3" name="Content Placeholder 2"/>
          <p:cNvSpPr>
            <a:spLocks noGrp="1"/>
          </p:cNvSpPr>
          <p:nvPr>
            <p:ph idx="1"/>
          </p:nvPr>
        </p:nvSpPr>
        <p:spPr/>
        <p:txBody>
          <a:bodyPr/>
          <a:lstStyle/>
          <a:p>
            <a:r>
              <a:rPr lang="en-GB" dirty="0"/>
              <a:t>The people in the group </a:t>
            </a:r>
          </a:p>
          <a:p>
            <a:pPr lvl="1"/>
            <a:r>
              <a:rPr lang="en-GB" dirty="0"/>
              <a:t>You </a:t>
            </a:r>
            <a:r>
              <a:rPr lang="en-GB" b="1" dirty="0"/>
              <a:t>need a mix of people </a:t>
            </a:r>
            <a:r>
              <a:rPr lang="en-GB" dirty="0"/>
              <a:t>in a project group as software development involves diverse activities such as negotiating with clients, programming, testing and documentation.  </a:t>
            </a:r>
          </a:p>
          <a:p>
            <a:r>
              <a:rPr lang="en-GB" dirty="0"/>
              <a:t>The group organization </a:t>
            </a:r>
          </a:p>
          <a:p>
            <a:pPr lvl="1"/>
            <a:r>
              <a:rPr lang="en-GB" dirty="0"/>
              <a:t>A </a:t>
            </a:r>
            <a:r>
              <a:rPr lang="en-GB" b="1" dirty="0"/>
              <a:t>group should be organized </a:t>
            </a:r>
            <a:r>
              <a:rPr lang="en-GB" dirty="0"/>
              <a:t>so that individuals can contribute to the best of their abilities and tasks can be completed as expected.</a:t>
            </a:r>
          </a:p>
          <a:p>
            <a:r>
              <a:rPr lang="en-GB" dirty="0"/>
              <a:t>Technical and managerial communications </a:t>
            </a:r>
          </a:p>
          <a:p>
            <a:pPr lvl="1"/>
            <a:r>
              <a:rPr lang="en-GB" b="1" dirty="0"/>
              <a:t>Good communications </a:t>
            </a:r>
            <a:r>
              <a:rPr lang="en-GB" dirty="0"/>
              <a:t>between group members, and between the software engineering team and other project stakeholders, is essential.</a:t>
            </a:r>
          </a:p>
          <a:p>
            <a:endParaRPr lang="en-US" dirty="0"/>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5" name="Slide Number Placeholder 4"/>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16</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group members</a:t>
            </a:r>
          </a:p>
        </p:txBody>
      </p:sp>
      <p:sp>
        <p:nvSpPr>
          <p:cNvPr id="3" name="Content Placeholder 2"/>
          <p:cNvSpPr>
            <a:spLocks noGrp="1"/>
          </p:cNvSpPr>
          <p:nvPr>
            <p:ph idx="1"/>
          </p:nvPr>
        </p:nvSpPr>
        <p:spPr/>
        <p:txBody>
          <a:bodyPr/>
          <a:lstStyle/>
          <a:p>
            <a:r>
              <a:rPr lang="en-GB" dirty="0"/>
              <a:t>A manager or team leader’s job is to create a cohesive group and organize their group so that they can work together effectively. </a:t>
            </a:r>
          </a:p>
          <a:p>
            <a:r>
              <a:rPr lang="en-GB" dirty="0"/>
              <a:t>This involves creating a group with the right balance of technical skills and personalities, and organizing that group so that the members work together effectively. </a:t>
            </a:r>
            <a:endParaRPr lang="en-US" dirty="0"/>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5" name="Slide Number Placeholder 4"/>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17</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a:ln/>
        </p:spPr>
        <p:txBody>
          <a:bodyPr vert="horz" wrap="square" lIns="90840" tIns="44623" rIns="90840" bIns="44623" numCol="1" anchor="ctr" anchorCtr="0" compatLnSpc="1">
            <a:prstTxWarp prst="textNoShape">
              <a:avLst/>
            </a:prstTxWarp>
          </a:bodyPr>
          <a:lstStyle/>
          <a:p>
            <a:r>
              <a:rPr lang="en-GB" dirty="0">
                <a:solidFill>
                  <a:schemeClr val="tx1"/>
                </a:solidFill>
              </a:rPr>
              <a:t>Assembling a team</a:t>
            </a:r>
          </a:p>
        </p:txBody>
      </p:sp>
      <p:sp>
        <p:nvSpPr>
          <p:cNvPr id="18435" name="Rectangle 3"/>
          <p:cNvSpPr>
            <a:spLocks noGrp="1" noChangeArrowheads="1"/>
          </p:cNvSpPr>
          <p:nvPr>
            <p:ph idx="1"/>
          </p:nvPr>
        </p:nvSpPr>
        <p:spPr>
          <a:noFill/>
          <a:ln/>
        </p:spPr>
        <p:txBody>
          <a:bodyPr lIns="90840" tIns="44623" rIns="90840" bIns="44623"/>
          <a:lstStyle/>
          <a:p>
            <a:pPr algn="just"/>
            <a:r>
              <a:rPr lang="en-GB" sz="2300" dirty="0"/>
              <a:t>May not be possible to appoint the ideal people to work on a project</a:t>
            </a:r>
          </a:p>
          <a:p>
            <a:pPr lvl="1" algn="just"/>
            <a:r>
              <a:rPr lang="en-GB" sz="2100" dirty="0"/>
              <a:t>Project budget may not allow for the use of highly-paid staff;</a:t>
            </a:r>
          </a:p>
          <a:p>
            <a:pPr lvl="1" algn="just"/>
            <a:r>
              <a:rPr lang="en-GB" sz="2100" dirty="0"/>
              <a:t>Staff with the appropriate experience may not be available;</a:t>
            </a:r>
          </a:p>
          <a:p>
            <a:pPr lvl="1" algn="just"/>
            <a:r>
              <a:rPr lang="en-GB" sz="2100" dirty="0"/>
              <a:t>An organisation may wish to develop employee skills on a software project.</a:t>
            </a:r>
          </a:p>
          <a:p>
            <a:pPr algn="just"/>
            <a:r>
              <a:rPr lang="en-GB" sz="2300" b="1" dirty="0"/>
              <a:t>Managers have to work within these constraints especially when there are shortages of trained staff</a:t>
            </a:r>
            <a:r>
              <a:rPr lang="en-GB" sz="2300" dirty="0"/>
              <a:t>.</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18</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noFill/>
          <a:ln/>
        </p:spPr>
        <p:txBody>
          <a:bodyPr vert="horz" wrap="square" lIns="90840" tIns="44623" rIns="90840" bIns="44623" numCol="1" anchor="ctr" anchorCtr="0" compatLnSpc="1">
            <a:prstTxWarp prst="textNoShape">
              <a:avLst/>
            </a:prstTxWarp>
          </a:bodyPr>
          <a:lstStyle/>
          <a:p>
            <a:r>
              <a:rPr lang="en-GB"/>
              <a:t>Group composition</a:t>
            </a:r>
          </a:p>
        </p:txBody>
      </p:sp>
      <p:sp>
        <p:nvSpPr>
          <p:cNvPr id="53251" name="Rectangle 3"/>
          <p:cNvSpPr>
            <a:spLocks noGrp="1" noChangeArrowheads="1"/>
          </p:cNvSpPr>
          <p:nvPr>
            <p:ph idx="1"/>
          </p:nvPr>
        </p:nvSpPr>
        <p:spPr>
          <a:xfrm>
            <a:off x="609600" y="1676401"/>
            <a:ext cx="9709150" cy="4505325"/>
          </a:xfrm>
          <a:noFill/>
          <a:ln/>
        </p:spPr>
        <p:txBody>
          <a:bodyPr lIns="90840" tIns="44623" rIns="90840" bIns="44623"/>
          <a:lstStyle/>
          <a:p>
            <a:pPr algn="just"/>
            <a:r>
              <a:rPr lang="en-GB" dirty="0"/>
              <a:t>Group composed of members who share the </a:t>
            </a:r>
            <a:br>
              <a:rPr lang="en-GB" dirty="0"/>
            </a:br>
            <a:r>
              <a:rPr lang="en-GB" dirty="0"/>
              <a:t>same motivation can be problematic</a:t>
            </a:r>
          </a:p>
          <a:p>
            <a:pPr lvl="1" algn="just"/>
            <a:r>
              <a:rPr lang="en-GB" dirty="0"/>
              <a:t>Task-oriented - everyone wants to do their own thing;</a:t>
            </a:r>
          </a:p>
          <a:p>
            <a:pPr lvl="1" algn="just"/>
            <a:r>
              <a:rPr lang="en-GB" dirty="0"/>
              <a:t>Self-oriented - everyone wants to be the boss;</a:t>
            </a:r>
          </a:p>
          <a:p>
            <a:pPr lvl="1" algn="just"/>
            <a:r>
              <a:rPr lang="en-GB" dirty="0"/>
              <a:t>Interaction-oriented - too much chatting, not enough work.</a:t>
            </a:r>
          </a:p>
          <a:p>
            <a:pPr algn="just"/>
            <a:r>
              <a:rPr lang="en-GB" dirty="0"/>
              <a:t>An </a:t>
            </a:r>
            <a:r>
              <a:rPr lang="en-GB" b="1" dirty="0"/>
              <a:t>effective group has a balance of all types</a:t>
            </a:r>
            <a:r>
              <a:rPr lang="en-GB" dirty="0"/>
              <a:t>.</a:t>
            </a:r>
          </a:p>
          <a:p>
            <a:pPr algn="just"/>
            <a:r>
              <a:rPr lang="en-GB" dirty="0"/>
              <a:t>This can be difficult to achieve software engineers are often task-oriented.</a:t>
            </a:r>
          </a:p>
          <a:p>
            <a:pPr algn="just"/>
            <a:r>
              <a:rPr lang="en-GB" dirty="0"/>
              <a:t>Interaction-oriented people are very important as they can detect and defuse tensions that arise.</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19</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a:t>
            </a:r>
            <a:r>
              <a:rPr lang="en-US" b="1" dirty="0"/>
              <a:t> </a:t>
            </a:r>
            <a:r>
              <a:rPr lang="en-US" dirty="0"/>
              <a:t>composition</a:t>
            </a:r>
            <a:r>
              <a:rPr lang="en-GB" dirty="0"/>
              <a:t> </a:t>
            </a:r>
            <a:endParaRPr lang="en-US" dirty="0"/>
          </a:p>
        </p:txBody>
      </p:sp>
      <p:sp>
        <p:nvSpPr>
          <p:cNvPr id="3" name="Date Placeholder 2"/>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5" name="Slide Number Placeholder 4"/>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20</a:t>
            </a:fld>
            <a:endParaRPr lang="en-US">
              <a:solidFill>
                <a:prstClr val="black">
                  <a:tint val="75000"/>
                </a:prstClr>
              </a:solidFill>
              <a:latin typeface="Calibri"/>
            </a:endParaRPr>
          </a:p>
        </p:txBody>
      </p:sp>
      <p:sp>
        <p:nvSpPr>
          <p:cNvPr id="4" name="TextBox 3"/>
          <p:cNvSpPr txBox="1"/>
          <p:nvPr/>
        </p:nvSpPr>
        <p:spPr>
          <a:xfrm>
            <a:off x="2049772" y="1715768"/>
            <a:ext cx="8161028" cy="4247317"/>
          </a:xfrm>
          <a:prstGeom prst="rect">
            <a:avLst/>
          </a:prstGeom>
          <a:solidFill>
            <a:srgbClr val="FFFF00">
              <a:alpha val="34000"/>
            </a:srgbClr>
          </a:solidFill>
        </p:spPr>
        <p:txBody>
          <a:bodyPr wrap="square" rtlCol="0">
            <a:spAutoFit/>
          </a:bodyPr>
          <a:lstStyle/>
          <a:p>
            <a:pPr defTabSz="457200"/>
            <a:r>
              <a:rPr lang="en-GB" sz="1600" dirty="0">
                <a:solidFill>
                  <a:prstClr val="black"/>
                </a:solidFill>
                <a:latin typeface="Arial"/>
                <a:cs typeface="Arial"/>
              </a:rPr>
              <a:t>In creating a group for assistive technology development, Alice is aware of the importance of selecting members with complementary personalities. When interviewing potential group members, she tried to assess whether they were task-oriented, self-oriented, or interaction-oriented. She felt that she was primarily a self-oriented type because she considered the project to be a way of getting noticed by senior management and possibly promoted. She therefore looked for one or perhaps two interaction-oriented personalities, with task-oriented individuals to complete the team. The final assessment that she arrived at was:</a:t>
            </a:r>
          </a:p>
          <a:p>
            <a:pPr defTabSz="457200"/>
            <a:endParaRPr lang="en-GB" sz="1600" dirty="0">
              <a:solidFill>
                <a:prstClr val="black"/>
              </a:solidFill>
              <a:latin typeface="Arial"/>
              <a:cs typeface="Arial"/>
            </a:endParaRPr>
          </a:p>
          <a:p>
            <a:pPr defTabSz="457200"/>
            <a:r>
              <a:rPr lang="en-GB" sz="1600" dirty="0">
                <a:solidFill>
                  <a:prstClr val="black"/>
                </a:solidFill>
                <a:latin typeface="Arial"/>
                <a:cs typeface="Arial"/>
              </a:rPr>
              <a:t>	Alice—self-oriented</a:t>
            </a:r>
          </a:p>
          <a:p>
            <a:pPr defTabSz="457200"/>
            <a:r>
              <a:rPr lang="en-GB" sz="1600" dirty="0">
                <a:solidFill>
                  <a:prstClr val="black"/>
                </a:solidFill>
                <a:latin typeface="Arial"/>
                <a:cs typeface="Arial"/>
              </a:rPr>
              <a:t>	Brian—task-oriented</a:t>
            </a:r>
          </a:p>
          <a:p>
            <a:pPr defTabSz="457200"/>
            <a:r>
              <a:rPr lang="en-GB" sz="1600" dirty="0">
                <a:solidFill>
                  <a:prstClr val="black"/>
                </a:solidFill>
                <a:latin typeface="Arial"/>
                <a:cs typeface="Arial"/>
              </a:rPr>
              <a:t>	Bob—task-oriented</a:t>
            </a:r>
          </a:p>
          <a:p>
            <a:pPr defTabSz="457200"/>
            <a:r>
              <a:rPr lang="en-GB" sz="1600" dirty="0">
                <a:solidFill>
                  <a:prstClr val="black"/>
                </a:solidFill>
                <a:latin typeface="Arial"/>
                <a:cs typeface="Arial"/>
              </a:rPr>
              <a:t>	Carol—interaction-oriented</a:t>
            </a:r>
          </a:p>
          <a:p>
            <a:pPr defTabSz="457200"/>
            <a:r>
              <a:rPr lang="en-GB" sz="1600" dirty="0">
                <a:solidFill>
                  <a:prstClr val="black"/>
                </a:solidFill>
                <a:latin typeface="Arial"/>
                <a:cs typeface="Arial"/>
              </a:rPr>
              <a:t>	Dorothy—self-oriented</a:t>
            </a:r>
          </a:p>
          <a:p>
            <a:pPr defTabSz="457200"/>
            <a:r>
              <a:rPr lang="en-GB" sz="1600" dirty="0">
                <a:solidFill>
                  <a:prstClr val="black"/>
                </a:solidFill>
                <a:latin typeface="Arial"/>
                <a:cs typeface="Arial"/>
              </a:rPr>
              <a:t>	Ed—interaction-oriented</a:t>
            </a:r>
          </a:p>
          <a:p>
            <a:pPr defTabSz="457200"/>
            <a:r>
              <a:rPr lang="en-GB" sz="1600" dirty="0">
                <a:solidFill>
                  <a:prstClr val="black"/>
                </a:solidFill>
                <a:latin typeface="Arial"/>
                <a:cs typeface="Arial"/>
              </a:rPr>
              <a:t>	Fred—task-oriented</a:t>
            </a:r>
          </a:p>
          <a:p>
            <a:pPr defTabSz="457200"/>
            <a:endParaRPr lang="en-US" sz="1400" dirty="0">
              <a:solidFill>
                <a:prstClr val="black"/>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organization</a:t>
            </a:r>
          </a:p>
        </p:txBody>
      </p:sp>
      <p:sp>
        <p:nvSpPr>
          <p:cNvPr id="3" name="Content Placeholder 2"/>
          <p:cNvSpPr>
            <a:spLocks noGrp="1"/>
          </p:cNvSpPr>
          <p:nvPr>
            <p:ph idx="1"/>
          </p:nvPr>
        </p:nvSpPr>
        <p:spPr/>
        <p:txBody>
          <a:bodyPr/>
          <a:lstStyle/>
          <a:p>
            <a:r>
              <a:rPr lang="en-GB" dirty="0"/>
              <a:t>The way that a group is organized affects the decisions that are made by that group, the ways that information is exchanged and the interactions between the development group and external project stakeholders. </a:t>
            </a:r>
          </a:p>
          <a:p>
            <a:pPr lvl="1"/>
            <a:r>
              <a:rPr lang="en-GB" dirty="0"/>
              <a:t>Key questions include:</a:t>
            </a:r>
          </a:p>
          <a:p>
            <a:pPr lvl="2"/>
            <a:r>
              <a:rPr lang="en-GB" dirty="0"/>
              <a:t>Should the project manager be the technical leader of the group? </a:t>
            </a:r>
          </a:p>
          <a:p>
            <a:pPr lvl="2"/>
            <a:r>
              <a:rPr lang="en-GB" dirty="0"/>
              <a:t>Who will be involved in making critical technical decisions, and how will these be made? </a:t>
            </a:r>
          </a:p>
          <a:p>
            <a:pPr lvl="2"/>
            <a:r>
              <a:rPr lang="en-GB" dirty="0"/>
              <a:t>How will interactions with external stakeholders and senior company management be handled? </a:t>
            </a:r>
          </a:p>
          <a:p>
            <a:pPr lvl="2"/>
            <a:r>
              <a:rPr lang="en-GB" dirty="0"/>
              <a:t>How can groups integrate people who are not co-located? </a:t>
            </a:r>
          </a:p>
          <a:p>
            <a:pPr lvl="2"/>
            <a:r>
              <a:rPr lang="en-GB" dirty="0"/>
              <a:t>How can knowledge be shared across the group? </a:t>
            </a:r>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5" name="Slide Number Placeholder 4"/>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21</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noFill/>
          <a:ln/>
        </p:spPr>
        <p:txBody>
          <a:bodyPr vert="horz" wrap="square" lIns="90840" tIns="44623" rIns="90840" bIns="44623" numCol="1" anchor="ctr" anchorCtr="0" compatLnSpc="1">
            <a:prstTxWarp prst="textNoShape">
              <a:avLst/>
            </a:prstTxWarp>
          </a:bodyPr>
          <a:lstStyle/>
          <a:p>
            <a:r>
              <a:rPr lang="en-GB" dirty="0"/>
              <a:t>Group organization</a:t>
            </a:r>
          </a:p>
        </p:txBody>
      </p:sp>
      <p:sp>
        <p:nvSpPr>
          <p:cNvPr id="62467" name="Rectangle 3"/>
          <p:cNvSpPr>
            <a:spLocks noGrp="1" noChangeArrowheads="1"/>
          </p:cNvSpPr>
          <p:nvPr>
            <p:ph idx="1"/>
          </p:nvPr>
        </p:nvSpPr>
        <p:spPr>
          <a:noFill/>
          <a:ln/>
        </p:spPr>
        <p:txBody>
          <a:bodyPr lIns="90840" tIns="44623" rIns="90840" bIns="44623"/>
          <a:lstStyle/>
          <a:p>
            <a:pPr algn="just"/>
            <a:r>
              <a:rPr lang="en-GB" b="1" dirty="0"/>
              <a:t>Small software engineering groups </a:t>
            </a:r>
            <a:r>
              <a:rPr lang="en-GB" dirty="0"/>
              <a:t>are usually organised informally without a rigid structure.</a:t>
            </a:r>
          </a:p>
          <a:p>
            <a:pPr algn="just"/>
            <a:r>
              <a:rPr lang="en-GB" b="1" dirty="0"/>
              <a:t>For large projects</a:t>
            </a:r>
            <a:r>
              <a:rPr lang="en-GB" dirty="0"/>
              <a:t>, there may be a </a:t>
            </a:r>
            <a:r>
              <a:rPr lang="en-GB" b="1" dirty="0"/>
              <a:t>hierarchical structure </a:t>
            </a:r>
            <a:r>
              <a:rPr lang="en-GB" dirty="0"/>
              <a:t>where different groups are responsible for different sub-projects.</a:t>
            </a:r>
          </a:p>
          <a:p>
            <a:pPr algn="just"/>
            <a:r>
              <a:rPr lang="en-GB" b="1" dirty="0"/>
              <a:t>Agile development </a:t>
            </a:r>
            <a:r>
              <a:rPr lang="en-GB" dirty="0"/>
              <a:t>is always based around an </a:t>
            </a:r>
            <a:r>
              <a:rPr lang="en-GB" b="1" dirty="0"/>
              <a:t>informal group </a:t>
            </a:r>
            <a:r>
              <a:rPr lang="en-GB" dirty="0"/>
              <a:t>on the principle that formal structure inhibits information exchange</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22</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GB"/>
              <a:t>Informal groups</a:t>
            </a:r>
          </a:p>
        </p:txBody>
      </p:sp>
      <p:sp>
        <p:nvSpPr>
          <p:cNvPr id="81923" name="Rectangle 3"/>
          <p:cNvSpPr>
            <a:spLocks noGrp="1" noChangeArrowheads="1"/>
          </p:cNvSpPr>
          <p:nvPr>
            <p:ph idx="1"/>
          </p:nvPr>
        </p:nvSpPr>
        <p:spPr/>
        <p:txBody>
          <a:bodyPr/>
          <a:lstStyle/>
          <a:p>
            <a:r>
              <a:rPr lang="en-GB" dirty="0"/>
              <a:t>The group acts as a whole and comes to a consensus on decisions affecting the system.</a:t>
            </a:r>
          </a:p>
          <a:p>
            <a:r>
              <a:rPr lang="en-GB" dirty="0"/>
              <a:t>The </a:t>
            </a:r>
            <a:r>
              <a:rPr lang="en-GB" b="1" dirty="0"/>
              <a:t>group leader serves as the external interface</a:t>
            </a:r>
            <a:r>
              <a:rPr lang="en-GB" dirty="0"/>
              <a:t> of the group but does not allocate specific work items.</a:t>
            </a:r>
          </a:p>
          <a:p>
            <a:r>
              <a:rPr lang="en-GB" dirty="0"/>
              <a:t>Rather, </a:t>
            </a:r>
            <a:r>
              <a:rPr lang="en-GB" b="1" dirty="0"/>
              <a:t>work is discussed by the group </a:t>
            </a:r>
            <a:r>
              <a:rPr lang="en-GB" dirty="0"/>
              <a:t>as a whole and tasks are allocated according to ability and experience.</a:t>
            </a:r>
          </a:p>
          <a:p>
            <a:r>
              <a:rPr lang="en-GB" dirty="0"/>
              <a:t>This approach is successful for groups where all members are experienced and competent.</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23</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GB"/>
              <a:t>Group communications</a:t>
            </a:r>
          </a:p>
        </p:txBody>
      </p:sp>
      <p:sp>
        <p:nvSpPr>
          <p:cNvPr id="80899" name="Rectangle 3"/>
          <p:cNvSpPr>
            <a:spLocks noGrp="1" noChangeArrowheads="1"/>
          </p:cNvSpPr>
          <p:nvPr>
            <p:ph idx="1"/>
          </p:nvPr>
        </p:nvSpPr>
        <p:spPr/>
        <p:txBody>
          <a:bodyPr/>
          <a:lstStyle/>
          <a:p>
            <a:r>
              <a:rPr lang="en-GB"/>
              <a:t>Good communications are essential for effective group working.</a:t>
            </a:r>
          </a:p>
          <a:p>
            <a:r>
              <a:rPr lang="en-GB"/>
              <a:t>Information must be exchanged on the status of work, design decisions and changes to previous decisions.</a:t>
            </a:r>
          </a:p>
          <a:p>
            <a:r>
              <a:rPr lang="en-GB"/>
              <a:t>Good communications also strengthens group cohesion as it promotes understanding.</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24</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title"/>
          </p:nvPr>
        </p:nvSpPr>
        <p:spPr>
          <a:xfrm>
            <a:off x="1905001" y="263526"/>
            <a:ext cx="8399463" cy="1108075"/>
          </a:xfrm>
          <a:noFill/>
          <a:ln/>
        </p:spPr>
        <p:txBody>
          <a:bodyPr vert="horz" wrap="square" lIns="90840" tIns="44623" rIns="90840" bIns="44623" numCol="1" anchor="ctr" anchorCtr="0" compatLnSpc="1">
            <a:prstTxWarp prst="textNoShape">
              <a:avLst/>
            </a:prstTxWarp>
          </a:bodyPr>
          <a:lstStyle/>
          <a:p>
            <a:r>
              <a:rPr lang="en-GB"/>
              <a:t>Group communications</a:t>
            </a:r>
          </a:p>
        </p:txBody>
      </p:sp>
      <p:sp>
        <p:nvSpPr>
          <p:cNvPr id="60418" name="Rectangle 2"/>
          <p:cNvSpPr>
            <a:spLocks noGrp="1" noChangeArrowheads="1"/>
          </p:cNvSpPr>
          <p:nvPr>
            <p:ph idx="1"/>
          </p:nvPr>
        </p:nvSpPr>
        <p:spPr>
          <a:noFill/>
          <a:ln/>
        </p:spPr>
        <p:txBody>
          <a:bodyPr lIns="90840" tIns="44623" rIns="90840" bIns="44623"/>
          <a:lstStyle/>
          <a:p>
            <a:pPr>
              <a:lnSpc>
                <a:spcPct val="90000"/>
              </a:lnSpc>
            </a:pPr>
            <a:r>
              <a:rPr lang="en-GB"/>
              <a:t>Group size</a:t>
            </a:r>
          </a:p>
          <a:p>
            <a:pPr lvl="1">
              <a:lnSpc>
                <a:spcPct val="90000"/>
              </a:lnSpc>
            </a:pPr>
            <a:r>
              <a:rPr lang="en-GB"/>
              <a:t>The larger the group, the harder it is for people to communicate with other group members.</a:t>
            </a:r>
          </a:p>
          <a:p>
            <a:pPr>
              <a:lnSpc>
                <a:spcPct val="90000"/>
              </a:lnSpc>
            </a:pPr>
            <a:r>
              <a:rPr lang="en-GB"/>
              <a:t>Group structure</a:t>
            </a:r>
          </a:p>
          <a:p>
            <a:pPr lvl="1">
              <a:lnSpc>
                <a:spcPct val="90000"/>
              </a:lnSpc>
            </a:pPr>
            <a:r>
              <a:rPr lang="en-GB"/>
              <a:t>Communication is better in informally structured groups than in hierarchically structured groups.</a:t>
            </a:r>
          </a:p>
          <a:p>
            <a:pPr>
              <a:lnSpc>
                <a:spcPct val="90000"/>
              </a:lnSpc>
            </a:pPr>
            <a:r>
              <a:rPr lang="en-GB"/>
              <a:t>Group composition</a:t>
            </a:r>
          </a:p>
          <a:p>
            <a:pPr lvl="1">
              <a:lnSpc>
                <a:spcPct val="90000"/>
              </a:lnSpc>
            </a:pPr>
            <a:r>
              <a:rPr lang="en-GB"/>
              <a:t>Communication is better when there are different personality types in a group and when groups are mixed rather than single sex.</a:t>
            </a:r>
          </a:p>
          <a:p>
            <a:pPr>
              <a:lnSpc>
                <a:spcPct val="90000"/>
              </a:lnSpc>
            </a:pPr>
            <a:r>
              <a:rPr lang="en-GB"/>
              <a:t>The physical work environment</a:t>
            </a:r>
          </a:p>
          <a:p>
            <a:pPr lvl="1">
              <a:lnSpc>
                <a:spcPct val="90000"/>
              </a:lnSpc>
            </a:pPr>
            <a:r>
              <a:rPr lang="en-GB"/>
              <a:t>Good workplace organisation can help encourage communications.</a:t>
            </a: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04/12/2014</a:t>
            </a:r>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22 Project management</a:t>
            </a:r>
          </a:p>
        </p:txBody>
      </p:sp>
      <p:sp>
        <p:nvSpPr>
          <p:cNvPr id="4" name="Slide Number Placeholder 3"/>
          <p:cNvSpPr>
            <a:spLocks noGrp="1"/>
          </p:cNvSpPr>
          <p:nvPr>
            <p:ph type="sldNum" sz="quarter" idx="12"/>
          </p:nvPr>
        </p:nvSpPr>
        <p:spPr/>
        <p:txBody>
          <a:bodyPr/>
          <a:lstStyle/>
          <a:p>
            <a:pPr defTabSz="457200"/>
            <a:fld id="{A41DB566-6001-1B4F-A74B-7213F33DBA30}" type="slidenum">
              <a:rPr lang="en-US">
                <a:solidFill>
                  <a:prstClr val="black">
                    <a:tint val="75000"/>
                  </a:prstClr>
                </a:solidFill>
                <a:latin typeface="Calibri"/>
              </a:rPr>
              <a:pPr defTabSz="457200"/>
              <a:t>25</a:t>
            </a:fld>
            <a:endParaRPr lang="en-US">
              <a:solidFill>
                <a:prstClr val="black">
                  <a:tint val="75000"/>
                </a:prstClr>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3750">
        <p:wipe dir="r"/>
      </p:transition>
    </mc:Choice>
    <mc:Fallback xmlns="">
      <p:transition spd="slow">
        <p:wipe dir="r"/>
      </p:transition>
    </mc:Fallback>
  </mc:AlternateContent>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436</TotalTime>
  <Words>2280</Words>
  <Application>Microsoft Macintosh PowerPoint</Application>
  <PresentationFormat>Widescreen</PresentationFormat>
  <Paragraphs>226</Paragraphs>
  <Slides>25</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Arial</vt:lpstr>
      <vt:lpstr>Calibri</vt:lpstr>
      <vt:lpstr>Wingdings</vt:lpstr>
      <vt:lpstr>SE10 slides</vt:lpstr>
      <vt:lpstr>Managing team dynamics and communication</vt:lpstr>
      <vt:lpstr>Managing people</vt:lpstr>
      <vt:lpstr>People management factors</vt:lpstr>
      <vt:lpstr>Motivating people</vt:lpstr>
      <vt:lpstr>Human needs hierarchy  </vt:lpstr>
      <vt:lpstr>Need satisfaction</vt:lpstr>
      <vt:lpstr>Case study: Individual motivation </vt:lpstr>
      <vt:lpstr>Case study: Individual motivation </vt:lpstr>
      <vt:lpstr>Comments on case study</vt:lpstr>
      <vt:lpstr>Personality types</vt:lpstr>
      <vt:lpstr>Motivation balance</vt:lpstr>
      <vt:lpstr>Teamwork</vt:lpstr>
      <vt:lpstr>Teamwork</vt:lpstr>
      <vt:lpstr>Group cohesiveness</vt:lpstr>
      <vt:lpstr>Team spirit</vt:lpstr>
      <vt:lpstr>The effectiveness of a team</vt:lpstr>
      <vt:lpstr>Selecting group members</vt:lpstr>
      <vt:lpstr>Assembling a team</vt:lpstr>
      <vt:lpstr>Group composition</vt:lpstr>
      <vt:lpstr>Group composition </vt:lpstr>
      <vt:lpstr>Group organization</vt:lpstr>
      <vt:lpstr>Group organization</vt:lpstr>
      <vt:lpstr>Informal groups</vt:lpstr>
      <vt:lpstr>Group communications</vt:lpstr>
      <vt:lpstr>Group communications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team dynamics and communication</dc:title>
  <dc:creator>Baskaran P</dc:creator>
  <cp:lastModifiedBy>Apoorva Karnwal</cp:lastModifiedBy>
  <cp:revision>8</cp:revision>
  <dcterms:created xsi:type="dcterms:W3CDTF">2024-02-01T13:56:47Z</dcterms:created>
  <dcterms:modified xsi:type="dcterms:W3CDTF">2025-02-07T13:28:34Z</dcterms:modified>
</cp:coreProperties>
</file>