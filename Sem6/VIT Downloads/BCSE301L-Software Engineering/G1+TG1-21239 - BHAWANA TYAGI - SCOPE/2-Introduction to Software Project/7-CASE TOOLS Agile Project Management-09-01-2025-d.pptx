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38"/>
    <p:restoredTop sz="94694"/>
  </p:normalViewPr>
  <p:slideViewPr>
    <p:cSldViewPr snapToGrid="0">
      <p:cViewPr>
        <p:scale>
          <a:sx n="84" d="100"/>
          <a:sy n="84" d="100"/>
        </p:scale>
        <p:origin x="-1384" y="9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5E6FB0-3D14-4BBC-B07B-FDFA9341AA3F}"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2065579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5E6FB0-3D14-4BBC-B07B-FDFA9341AA3F}"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114910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5E6FB0-3D14-4BBC-B07B-FDFA9341AA3F}"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2977941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5E6FB0-3D14-4BBC-B07B-FDFA9341AA3F}"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3095202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5E6FB0-3D14-4BBC-B07B-FDFA9341AA3F}" type="datetimeFigureOut">
              <a:rPr lang="en-US" smtClean="0"/>
              <a:t>3/25/25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1745983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5E6FB0-3D14-4BBC-B07B-FDFA9341AA3F}" type="datetimeFigureOut">
              <a:rPr lang="en-US" smtClean="0"/>
              <a:t>3/25/25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325867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E6FB0-3D14-4BBC-B07B-FDFA9341AA3F}" type="datetimeFigureOut">
              <a:rPr lang="en-US" smtClean="0"/>
              <a:t>3/25/25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2795999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5E6FB0-3D14-4BBC-B07B-FDFA9341AA3F}"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892674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5E6FB0-3D14-4BBC-B07B-FDFA9341AA3F}"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2844070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5E6FB0-3D14-4BBC-B07B-FDFA9341AA3F}"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2486995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5E6FB0-3D14-4BBC-B07B-FDFA9341AA3F}"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C36B0BF-030B-4F15-82C1-19361E0AC6B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63858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05E6FB0-3D14-4BBC-B07B-FDFA9341AA3F}"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2114985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05E6FB0-3D14-4BBC-B07B-FDFA9341AA3F}"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C36B0BF-030B-4F15-82C1-19361E0AC6B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141822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05E6FB0-3D14-4BBC-B07B-FDFA9341AA3F}" type="datetimeFigureOut">
              <a:rPr lang="en-US" smtClean="0"/>
              <a:t>3/25/25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738044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5E6FB0-3D14-4BBC-B07B-FDFA9341AA3F}"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21276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5E6FB0-3D14-4BBC-B07B-FDFA9341AA3F}" type="datetimeFigureOut">
              <a:rPr lang="en-US" smtClean="0"/>
              <a:t>3/25/25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C36B0BF-030B-4F15-82C1-19361E0AC6BB}" type="slidenum">
              <a:rPr lang="en-US" smtClean="0"/>
              <a:t>‹#›</a:t>
            </a:fld>
            <a:endParaRPr lang="en-US"/>
          </a:p>
        </p:txBody>
      </p:sp>
    </p:spTree>
    <p:extLst>
      <p:ext uri="{BB962C8B-B14F-4D97-AF65-F5344CB8AC3E}">
        <p14:creationId xmlns:p14="http://schemas.microsoft.com/office/powerpoint/2010/main" val="1070826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05E6FB0-3D14-4BBC-B07B-FDFA9341AA3F}" type="datetimeFigureOut">
              <a:rPr lang="en-US" smtClean="0"/>
              <a:t>3/25/25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C36B0BF-030B-4F15-82C1-19361E0AC6BB}" type="slidenum">
              <a:rPr lang="en-US" smtClean="0"/>
              <a:t>‹#›</a:t>
            </a:fld>
            <a:endParaRPr lang="en-US"/>
          </a:p>
        </p:txBody>
      </p:sp>
    </p:spTree>
    <p:extLst>
      <p:ext uri="{BB962C8B-B14F-4D97-AF65-F5344CB8AC3E}">
        <p14:creationId xmlns:p14="http://schemas.microsoft.com/office/powerpoint/2010/main" val="21662607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CASE TOOLS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62964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Case Tools </a:t>
            </a:r>
            <a:endParaRPr lang="en-US" dirty="0"/>
          </a:p>
        </p:txBody>
      </p:sp>
      <p:sp>
        <p:nvSpPr>
          <p:cNvPr id="3" name="Content Placeholder 2"/>
          <p:cNvSpPr>
            <a:spLocks noGrp="1"/>
          </p:cNvSpPr>
          <p:nvPr>
            <p:ph idx="1"/>
          </p:nvPr>
        </p:nvSpPr>
        <p:spPr>
          <a:xfrm>
            <a:off x="2589212" y="2133599"/>
            <a:ext cx="8915400" cy="4465163"/>
          </a:xfrm>
        </p:spPr>
        <p:txBody>
          <a:bodyPr>
            <a:normAutofit lnSpcReduction="10000"/>
          </a:bodyPr>
          <a:lstStyle/>
          <a:p>
            <a:pPr algn="just"/>
            <a:r>
              <a:rPr lang="en-US" dirty="0"/>
              <a:t>CASE stands for </a:t>
            </a:r>
            <a:r>
              <a:rPr lang="en-US" b="1" dirty="0"/>
              <a:t>C</a:t>
            </a:r>
            <a:r>
              <a:rPr lang="en-US" dirty="0"/>
              <a:t>omputer </a:t>
            </a:r>
            <a:r>
              <a:rPr lang="en-US" b="1" dirty="0"/>
              <a:t>A</a:t>
            </a:r>
            <a:r>
              <a:rPr lang="en-US" dirty="0"/>
              <a:t>ided </a:t>
            </a:r>
            <a:r>
              <a:rPr lang="en-US" b="1" dirty="0"/>
              <a:t>S</a:t>
            </a:r>
            <a:r>
              <a:rPr lang="en-US" dirty="0"/>
              <a:t>oftware </a:t>
            </a:r>
            <a:r>
              <a:rPr lang="en-US" b="1" dirty="0"/>
              <a:t>E</a:t>
            </a:r>
            <a:r>
              <a:rPr lang="en-US" dirty="0"/>
              <a:t>ngineering. </a:t>
            </a:r>
          </a:p>
          <a:p>
            <a:pPr algn="just"/>
            <a:r>
              <a:rPr lang="en-US" dirty="0"/>
              <a:t>It means, development and maintenance of software projects with help of various automated software tools.</a:t>
            </a:r>
          </a:p>
          <a:p>
            <a:pPr algn="just"/>
            <a:r>
              <a:rPr lang="en-US" dirty="0"/>
              <a:t>CASE tools are set of software application programs, which are used to automate SDLC activities. </a:t>
            </a:r>
          </a:p>
          <a:p>
            <a:pPr algn="just"/>
            <a:r>
              <a:rPr lang="en-US" dirty="0"/>
              <a:t>CASE tools are used by software project managers, analysts and engineers to develop software system.</a:t>
            </a:r>
          </a:p>
          <a:p>
            <a:pPr algn="just"/>
            <a:r>
              <a:rPr lang="en-US" dirty="0"/>
              <a:t>There are number of CASE tools available to simplify various stages of Software Development Life Cycle such as Analysis tools, Design tools, Project management tools, Database Management tools, Documentation tools are to name a few.</a:t>
            </a:r>
          </a:p>
          <a:p>
            <a:pPr algn="just"/>
            <a:r>
              <a:rPr lang="en-US" dirty="0"/>
              <a:t>Use of CASE tools accelerates the development of project to produce desired result and helps to uncover flaws before moving ahead with next stage in software development.</a:t>
            </a:r>
          </a:p>
          <a:p>
            <a:pPr algn="just"/>
            <a:endParaRPr lang="en-US" dirty="0"/>
          </a:p>
        </p:txBody>
      </p:sp>
    </p:spTree>
    <p:extLst>
      <p:ext uri="{BB962C8B-B14F-4D97-AF65-F5344CB8AC3E}">
        <p14:creationId xmlns:p14="http://schemas.microsoft.com/office/powerpoint/2010/main" val="700698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CASE Tools</a:t>
            </a:r>
          </a:p>
        </p:txBody>
      </p:sp>
      <p:pic>
        <p:nvPicPr>
          <p:cNvPr id="12" name="Content Placeholder 11"/>
          <p:cNvPicPr>
            <a:picLocks noGrp="1" noChangeAspect="1"/>
          </p:cNvPicPr>
          <p:nvPr>
            <p:ph sz="half" idx="1"/>
          </p:nvPr>
        </p:nvPicPr>
        <p:blipFill>
          <a:blip r:embed="rId2"/>
          <a:stretch>
            <a:fillRect/>
          </a:stretch>
        </p:blipFill>
        <p:spPr>
          <a:xfrm>
            <a:off x="1023324" y="1905000"/>
            <a:ext cx="3448050" cy="3419475"/>
          </a:xfrm>
          <a:prstGeom prst="rect">
            <a:avLst/>
          </a:prstGeom>
        </p:spPr>
      </p:pic>
      <p:sp>
        <p:nvSpPr>
          <p:cNvPr id="11" name="Content Placeholder 10"/>
          <p:cNvSpPr>
            <a:spLocks noGrp="1"/>
          </p:cNvSpPr>
          <p:nvPr>
            <p:ph sz="half" idx="2"/>
          </p:nvPr>
        </p:nvSpPr>
        <p:spPr>
          <a:xfrm>
            <a:off x="5305386" y="1905000"/>
            <a:ext cx="6515825" cy="3777622"/>
          </a:xfrm>
        </p:spPr>
        <p:txBody>
          <a:bodyPr>
            <a:normAutofit fontScale="70000" lnSpcReduction="20000"/>
          </a:bodyPr>
          <a:lstStyle/>
          <a:p>
            <a:pPr algn="just"/>
            <a:r>
              <a:rPr lang="en-US" dirty="0"/>
              <a:t>CASE tools can be broadly divided into the following parts based on their use at a particular SDLC stage:</a:t>
            </a:r>
          </a:p>
          <a:p>
            <a:pPr algn="just"/>
            <a:r>
              <a:rPr lang="en-US" b="1" dirty="0"/>
              <a:t>Central Repository</a:t>
            </a:r>
            <a:r>
              <a:rPr lang="en-US" dirty="0"/>
              <a:t> - </a:t>
            </a:r>
          </a:p>
          <a:p>
            <a:pPr lvl="1" algn="just"/>
            <a:r>
              <a:rPr lang="en-US" dirty="0"/>
              <a:t>CASE tools require a central repository, which can serve as a source of common, integrated and consistent information. </a:t>
            </a:r>
          </a:p>
          <a:p>
            <a:pPr lvl="1" algn="just"/>
            <a:r>
              <a:rPr lang="en-US" dirty="0"/>
              <a:t>Central repository is a central place of storage where product specifications, requirement documents, related reports and diagrams, other useful information regarding management is stored. </a:t>
            </a:r>
          </a:p>
          <a:p>
            <a:pPr lvl="1" algn="just"/>
            <a:r>
              <a:rPr lang="en-US" dirty="0"/>
              <a:t>Central repository also serves as data dictionary.</a:t>
            </a:r>
          </a:p>
          <a:p>
            <a:pPr algn="just"/>
            <a:r>
              <a:rPr lang="en-US" b="1" dirty="0"/>
              <a:t>Upper Case Tools</a:t>
            </a:r>
            <a:r>
              <a:rPr lang="en-US" dirty="0"/>
              <a:t> - </a:t>
            </a:r>
          </a:p>
          <a:p>
            <a:pPr lvl="1" algn="just"/>
            <a:r>
              <a:rPr lang="en-US" dirty="0"/>
              <a:t>Upper CASE tools are used in planning, analysis and design stages of SDLC.</a:t>
            </a:r>
          </a:p>
          <a:p>
            <a:pPr algn="just"/>
            <a:r>
              <a:rPr lang="en-US" b="1" dirty="0"/>
              <a:t>Lower Case Tools</a:t>
            </a:r>
            <a:r>
              <a:rPr lang="en-US" dirty="0"/>
              <a:t> - </a:t>
            </a:r>
          </a:p>
          <a:p>
            <a:pPr lvl="1" algn="just"/>
            <a:r>
              <a:rPr lang="en-US" dirty="0"/>
              <a:t>Lower CASE tools are used in implementation, testing and maintenance.</a:t>
            </a:r>
          </a:p>
          <a:p>
            <a:pPr algn="just"/>
            <a:r>
              <a:rPr lang="en-US" b="1" dirty="0"/>
              <a:t>Integrated Case Tools</a:t>
            </a:r>
            <a:r>
              <a:rPr lang="en-US" dirty="0"/>
              <a:t> - </a:t>
            </a:r>
          </a:p>
          <a:p>
            <a:pPr lvl="1" algn="just"/>
            <a:r>
              <a:rPr lang="en-US" dirty="0"/>
              <a:t>Integrated CASE tools are helpful in all the stages of SDLC, from Requirement gathering to Testing and documentation.</a:t>
            </a:r>
          </a:p>
          <a:p>
            <a:pPr algn="just"/>
            <a:endParaRPr lang="en-US" dirty="0"/>
          </a:p>
          <a:p>
            <a:pPr algn="just"/>
            <a:endParaRPr lang="en-US" dirty="0"/>
          </a:p>
        </p:txBody>
      </p:sp>
    </p:spTree>
    <p:extLst>
      <p:ext uri="{BB962C8B-B14F-4D97-AF65-F5344CB8AC3E}">
        <p14:creationId xmlns:p14="http://schemas.microsoft.com/office/powerpoint/2010/main" val="405530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CASE Tools</a:t>
            </a:r>
            <a:endParaRPr lang="en-US" dirty="0"/>
          </a:p>
        </p:txBody>
      </p:sp>
      <p:sp>
        <p:nvSpPr>
          <p:cNvPr id="5" name="Content Placeholder 4"/>
          <p:cNvSpPr>
            <a:spLocks noGrp="1"/>
          </p:cNvSpPr>
          <p:nvPr>
            <p:ph idx="1"/>
          </p:nvPr>
        </p:nvSpPr>
        <p:spPr>
          <a:xfrm>
            <a:off x="2589212" y="1329179"/>
            <a:ext cx="8915400" cy="5203596"/>
          </a:xfrm>
        </p:spPr>
        <p:txBody>
          <a:bodyPr>
            <a:normAutofit fontScale="92500" lnSpcReduction="20000"/>
          </a:bodyPr>
          <a:lstStyle/>
          <a:p>
            <a:pPr algn="just" fontAlgn="base"/>
            <a:r>
              <a:rPr lang="en-US" b="1" dirty="0"/>
              <a:t>Diagramming Tools:</a:t>
            </a:r>
            <a:r>
              <a:rPr lang="en-US" dirty="0"/>
              <a:t> </a:t>
            </a:r>
          </a:p>
          <a:p>
            <a:pPr lvl="1" algn="just" fontAlgn="base"/>
            <a:r>
              <a:rPr lang="en-US" dirty="0"/>
              <a:t>It helps in diagrammatic and graphical representations of the data and system processes. </a:t>
            </a:r>
          </a:p>
          <a:p>
            <a:pPr lvl="1" algn="just" fontAlgn="base"/>
            <a:r>
              <a:rPr lang="en-US" dirty="0"/>
              <a:t>It represents system elements, control flow and data flow among different software components and system structures in a pictorial form. </a:t>
            </a:r>
          </a:p>
          <a:p>
            <a:pPr lvl="1" algn="just" fontAlgn="base"/>
            <a:r>
              <a:rPr lang="en-US" dirty="0"/>
              <a:t>For example, Flow Chart Maker tool for making state-of-the-art flowcharts.  </a:t>
            </a:r>
          </a:p>
          <a:p>
            <a:pPr algn="just"/>
            <a:r>
              <a:rPr lang="en-US" b="1" dirty="0"/>
              <a:t>Process Modeling Tools</a:t>
            </a:r>
          </a:p>
          <a:p>
            <a:pPr lvl="1" algn="just"/>
            <a:r>
              <a:rPr lang="en-US" dirty="0"/>
              <a:t>Process modeling is method to create software process model, which is used to develop the software. </a:t>
            </a:r>
          </a:p>
          <a:p>
            <a:pPr lvl="1" algn="just"/>
            <a:r>
              <a:rPr lang="en-US" dirty="0"/>
              <a:t>Process modeling tools help the managers to choose a process model or modify it as per the requirement of software product.</a:t>
            </a:r>
          </a:p>
          <a:p>
            <a:pPr lvl="1" algn="just"/>
            <a:r>
              <a:rPr lang="en-US" dirty="0"/>
              <a:t>For example, EPF Composer</a:t>
            </a:r>
          </a:p>
          <a:p>
            <a:pPr algn="just" fontAlgn="base"/>
            <a:r>
              <a:rPr lang="en-US" b="1" dirty="0"/>
              <a:t>Analysis Tools:</a:t>
            </a:r>
            <a:r>
              <a:rPr lang="en-US" dirty="0"/>
              <a:t> </a:t>
            </a:r>
          </a:p>
          <a:p>
            <a:pPr lvl="1" algn="just" fontAlgn="base"/>
            <a:r>
              <a:rPr lang="en-US" dirty="0"/>
              <a:t>It focuses on inconsistent, incorrect specifications involved in the diagram and data flow. It helps in collecting requirements, automatically check for any irregularity, imprecision in the diagrams, data redundancies, or erroneous omissions. </a:t>
            </a:r>
            <a:br>
              <a:rPr lang="en-US" dirty="0"/>
            </a:br>
            <a:r>
              <a:rPr lang="en-US" dirty="0"/>
              <a:t>For example:</a:t>
            </a:r>
          </a:p>
          <a:p>
            <a:pPr lvl="2" algn="just" fontAlgn="base"/>
            <a:r>
              <a:rPr lang="en-US" dirty="0"/>
              <a:t>(</a:t>
            </a:r>
            <a:r>
              <a:rPr lang="en-US" dirty="0" err="1"/>
              <a:t>i</a:t>
            </a:r>
            <a:r>
              <a:rPr lang="en-US" dirty="0"/>
              <a:t>) Accept 360, </a:t>
            </a:r>
            <a:r>
              <a:rPr lang="en-US" dirty="0" err="1"/>
              <a:t>Accompa</a:t>
            </a:r>
            <a:r>
              <a:rPr lang="en-US" dirty="0"/>
              <a:t>, </a:t>
            </a:r>
            <a:r>
              <a:rPr lang="en-US" dirty="0" err="1"/>
              <a:t>CaseComplete</a:t>
            </a:r>
            <a:r>
              <a:rPr lang="en-US" dirty="0"/>
              <a:t> for requirement analysis. </a:t>
            </a:r>
          </a:p>
          <a:p>
            <a:pPr lvl="2" algn="just" fontAlgn="base"/>
            <a:r>
              <a:rPr lang="en-US" dirty="0"/>
              <a:t>(ii) Visible Analyst for total analysis. </a:t>
            </a:r>
          </a:p>
          <a:p>
            <a:pPr algn="just"/>
            <a:endParaRPr lang="en-US" dirty="0"/>
          </a:p>
        </p:txBody>
      </p:sp>
    </p:spTree>
    <p:extLst>
      <p:ext uri="{BB962C8B-B14F-4D97-AF65-F5344CB8AC3E}">
        <p14:creationId xmlns:p14="http://schemas.microsoft.com/office/powerpoint/2010/main" val="3777472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32651" y="424207"/>
            <a:ext cx="8915400" cy="6052008"/>
          </a:xfrm>
        </p:spPr>
        <p:txBody>
          <a:bodyPr>
            <a:normAutofit/>
          </a:bodyPr>
          <a:lstStyle/>
          <a:p>
            <a:pPr algn="just"/>
            <a:r>
              <a:rPr lang="en-US" b="1" dirty="0"/>
              <a:t>Project Management Tools</a:t>
            </a:r>
          </a:p>
          <a:p>
            <a:pPr lvl="1" algn="just"/>
            <a:r>
              <a:rPr lang="en-US" dirty="0"/>
              <a:t>These tools are used for project planning, cost and effort estimation, project scheduling and resource planning. </a:t>
            </a:r>
          </a:p>
          <a:p>
            <a:pPr lvl="1" algn="just"/>
            <a:r>
              <a:rPr lang="en-US" dirty="0"/>
              <a:t>Managers have to strictly comply project execution with every mentioned step in software project management. </a:t>
            </a:r>
          </a:p>
          <a:p>
            <a:pPr lvl="1" algn="just"/>
            <a:r>
              <a:rPr lang="en-US" dirty="0"/>
              <a:t>Project management tools help in storing and sharing project information in real-time throughout the organization. </a:t>
            </a:r>
          </a:p>
          <a:p>
            <a:pPr lvl="1" algn="just"/>
            <a:r>
              <a:rPr lang="en-US" dirty="0"/>
              <a:t>For example, Creative Pro Office, </a:t>
            </a:r>
            <a:r>
              <a:rPr lang="en-US" dirty="0" err="1"/>
              <a:t>Trac</a:t>
            </a:r>
            <a:r>
              <a:rPr lang="en-US" dirty="0"/>
              <a:t> Project, Basecamp.</a:t>
            </a:r>
          </a:p>
          <a:p>
            <a:pPr algn="just"/>
            <a:r>
              <a:rPr lang="en-US" b="1" dirty="0"/>
              <a:t>Documentation Tools</a:t>
            </a:r>
          </a:p>
          <a:p>
            <a:pPr lvl="1" algn="just"/>
            <a:r>
              <a:rPr lang="en-US" dirty="0"/>
              <a:t>Documentation in a software project starts prior to the software process, goes throughout all phases of SDLC and after the completion of the project.</a:t>
            </a:r>
          </a:p>
          <a:p>
            <a:pPr lvl="1" algn="just"/>
            <a:r>
              <a:rPr lang="en-US" dirty="0"/>
              <a:t>Documentation tools generate documents for technical users and end users. </a:t>
            </a:r>
          </a:p>
          <a:p>
            <a:pPr lvl="1" algn="just"/>
            <a:r>
              <a:rPr lang="en-US" dirty="0"/>
              <a:t>Technical users are mostly in-house professionals of the development team who refer to system manual, reference manual, training manual, installation manuals etc. </a:t>
            </a:r>
          </a:p>
          <a:p>
            <a:pPr lvl="1" algn="just"/>
            <a:r>
              <a:rPr lang="en-US" dirty="0"/>
              <a:t>The end user documents describe the functioning and how-to of the system such as user manual. </a:t>
            </a:r>
          </a:p>
          <a:p>
            <a:pPr lvl="1" algn="just"/>
            <a:r>
              <a:rPr lang="en-US" dirty="0"/>
              <a:t>For example, </a:t>
            </a:r>
            <a:r>
              <a:rPr lang="en-US" dirty="0" err="1"/>
              <a:t>Doxygen</a:t>
            </a:r>
            <a:r>
              <a:rPr lang="en-US" dirty="0"/>
              <a:t>, </a:t>
            </a:r>
            <a:r>
              <a:rPr lang="en-US" dirty="0" err="1"/>
              <a:t>DrExplain</a:t>
            </a:r>
            <a:r>
              <a:rPr lang="en-US" dirty="0"/>
              <a:t>, Adobe </a:t>
            </a:r>
            <a:r>
              <a:rPr lang="en-US" dirty="0" err="1"/>
              <a:t>RoboHelp</a:t>
            </a:r>
            <a:r>
              <a:rPr lang="en-US" dirty="0"/>
              <a:t> for documentation.</a:t>
            </a:r>
          </a:p>
          <a:p>
            <a:pPr algn="just"/>
            <a:endParaRPr lang="en-US" dirty="0"/>
          </a:p>
        </p:txBody>
      </p:sp>
    </p:spTree>
    <p:extLst>
      <p:ext uri="{BB962C8B-B14F-4D97-AF65-F5344CB8AC3E}">
        <p14:creationId xmlns:p14="http://schemas.microsoft.com/office/powerpoint/2010/main" val="308910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584462"/>
            <a:ext cx="8915400" cy="6070862"/>
          </a:xfrm>
        </p:spPr>
        <p:txBody>
          <a:bodyPr>
            <a:normAutofit fontScale="92500" lnSpcReduction="10000"/>
          </a:bodyPr>
          <a:lstStyle/>
          <a:p>
            <a:pPr algn="just"/>
            <a:r>
              <a:rPr lang="en-US" b="1" dirty="0"/>
              <a:t>Design Tools</a:t>
            </a:r>
          </a:p>
          <a:p>
            <a:pPr lvl="1" algn="just"/>
            <a:r>
              <a:rPr lang="en-US" dirty="0"/>
              <a:t>These tools help software designers to design the block structure of the software, which may further be broken down in smaller modules using refinement techniques. </a:t>
            </a:r>
          </a:p>
          <a:p>
            <a:pPr lvl="1" algn="just"/>
            <a:r>
              <a:rPr lang="en-US" dirty="0"/>
              <a:t>These tools provides detailing of each module and interconnections among modules. </a:t>
            </a:r>
          </a:p>
          <a:p>
            <a:pPr lvl="1" algn="just"/>
            <a:r>
              <a:rPr lang="en-US" dirty="0"/>
              <a:t>For example, Animated Software Design</a:t>
            </a:r>
          </a:p>
          <a:p>
            <a:pPr algn="just"/>
            <a:r>
              <a:rPr lang="en-US" b="1" dirty="0"/>
              <a:t>Configuration Management Tools</a:t>
            </a:r>
          </a:p>
          <a:p>
            <a:pPr lvl="1" algn="just"/>
            <a:r>
              <a:rPr lang="en-US" dirty="0"/>
              <a:t>An instance of software is released under one version. Configuration Management tools deal with –</a:t>
            </a:r>
          </a:p>
          <a:p>
            <a:pPr lvl="2" algn="just"/>
            <a:r>
              <a:rPr lang="en-US" dirty="0"/>
              <a:t>Version and revision management</a:t>
            </a:r>
          </a:p>
          <a:p>
            <a:pPr lvl="2" algn="just"/>
            <a:r>
              <a:rPr lang="en-US" dirty="0"/>
              <a:t>Baseline configuration management</a:t>
            </a:r>
          </a:p>
          <a:p>
            <a:pPr lvl="2" algn="just"/>
            <a:r>
              <a:rPr lang="en-US" dirty="0"/>
              <a:t>Change control management</a:t>
            </a:r>
          </a:p>
          <a:p>
            <a:pPr lvl="1" algn="just"/>
            <a:r>
              <a:rPr lang="en-US" dirty="0"/>
              <a:t>CASE tools help in this by automatic tracking, version management and release management. </a:t>
            </a:r>
          </a:p>
          <a:p>
            <a:pPr lvl="1" algn="just"/>
            <a:r>
              <a:rPr lang="en-US" dirty="0"/>
              <a:t>For example, Fossil, </a:t>
            </a:r>
            <a:r>
              <a:rPr lang="en-US" dirty="0" err="1"/>
              <a:t>Git</a:t>
            </a:r>
            <a:r>
              <a:rPr lang="en-US" dirty="0"/>
              <a:t>, </a:t>
            </a:r>
            <a:r>
              <a:rPr lang="en-US" dirty="0" err="1"/>
              <a:t>Accu</a:t>
            </a:r>
            <a:r>
              <a:rPr lang="en-US" dirty="0"/>
              <a:t> REV.</a:t>
            </a:r>
          </a:p>
          <a:p>
            <a:pPr algn="just"/>
            <a:r>
              <a:rPr lang="en-US" b="1" dirty="0"/>
              <a:t>Change Control Tools</a:t>
            </a:r>
          </a:p>
          <a:p>
            <a:pPr lvl="1" algn="just"/>
            <a:r>
              <a:rPr lang="en-US" dirty="0"/>
              <a:t>These tools are considered as a part of configuration management tools. </a:t>
            </a:r>
          </a:p>
          <a:p>
            <a:pPr lvl="1" algn="just"/>
            <a:r>
              <a:rPr lang="en-US" dirty="0"/>
              <a:t>They deal with changes made to the software after its baseline is fixed or when the software is first released. </a:t>
            </a:r>
          </a:p>
          <a:p>
            <a:pPr lvl="1" algn="just"/>
            <a:r>
              <a:rPr lang="en-US" dirty="0"/>
              <a:t>CASE tools automate change tracking, file management, code management and more. It also helps in enforcing change policy of the organization.</a:t>
            </a:r>
          </a:p>
          <a:p>
            <a:pPr algn="just"/>
            <a:endParaRPr lang="en-US" dirty="0"/>
          </a:p>
        </p:txBody>
      </p:sp>
    </p:spTree>
    <p:extLst>
      <p:ext uri="{BB962C8B-B14F-4D97-AF65-F5344CB8AC3E}">
        <p14:creationId xmlns:p14="http://schemas.microsoft.com/office/powerpoint/2010/main" val="2639888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348792"/>
            <a:ext cx="8915400" cy="6381946"/>
          </a:xfrm>
        </p:spPr>
        <p:txBody>
          <a:bodyPr>
            <a:normAutofit fontScale="92500" lnSpcReduction="10000"/>
          </a:bodyPr>
          <a:lstStyle/>
          <a:p>
            <a:pPr algn="just"/>
            <a:r>
              <a:rPr lang="en-US" b="1" dirty="0"/>
              <a:t>Programming Tools</a:t>
            </a:r>
          </a:p>
          <a:p>
            <a:pPr lvl="1" algn="just"/>
            <a:r>
              <a:rPr lang="en-US" dirty="0"/>
              <a:t>These tools consist of programming environments like IDE (Integrated Development Environment), in-built modules library and simulation tools. </a:t>
            </a:r>
          </a:p>
          <a:p>
            <a:pPr lvl="1" algn="just"/>
            <a:r>
              <a:rPr lang="en-US" dirty="0"/>
              <a:t>These tools provide comprehensive aid in building software product and include features for simulation and testing. </a:t>
            </a:r>
          </a:p>
          <a:p>
            <a:pPr lvl="1" algn="just"/>
            <a:r>
              <a:rPr lang="en-US" dirty="0"/>
              <a:t>For example, </a:t>
            </a:r>
            <a:r>
              <a:rPr lang="en-US" dirty="0" err="1"/>
              <a:t>Cscope</a:t>
            </a:r>
            <a:r>
              <a:rPr lang="en-US" dirty="0"/>
              <a:t> to search code in C, Eclipse.</a:t>
            </a:r>
          </a:p>
          <a:p>
            <a:pPr algn="just"/>
            <a:r>
              <a:rPr lang="en-US" b="1" dirty="0"/>
              <a:t>Prototyping Tools</a:t>
            </a:r>
          </a:p>
          <a:p>
            <a:pPr lvl="1" algn="just"/>
            <a:r>
              <a:rPr lang="en-US" dirty="0"/>
              <a:t>Software prototype is simulated version of the intended software product. </a:t>
            </a:r>
          </a:p>
          <a:p>
            <a:pPr lvl="1" algn="just"/>
            <a:r>
              <a:rPr lang="en-US" dirty="0"/>
              <a:t>Prototype provides initial look and feel of the product and simulates few aspect of actual product.</a:t>
            </a:r>
          </a:p>
          <a:p>
            <a:pPr lvl="1" algn="just"/>
            <a:r>
              <a:rPr lang="en-US" dirty="0"/>
              <a:t>Prototyping CASE tools essentially come with graphical libraries. </a:t>
            </a:r>
          </a:p>
          <a:p>
            <a:pPr lvl="1" algn="just"/>
            <a:r>
              <a:rPr lang="en-US" dirty="0"/>
              <a:t>They can create hardware independent user interfaces and design. </a:t>
            </a:r>
          </a:p>
          <a:p>
            <a:pPr lvl="1" algn="just"/>
            <a:r>
              <a:rPr lang="en-US" dirty="0"/>
              <a:t>These tools help us to build rapid prototypes based on existing information. In addition, they provide simulation of software prototype. </a:t>
            </a:r>
          </a:p>
          <a:p>
            <a:pPr lvl="1" algn="just"/>
            <a:r>
              <a:rPr lang="en-US" dirty="0"/>
              <a:t>For example, Serena prototype composer, Mockup Builder.</a:t>
            </a:r>
          </a:p>
          <a:p>
            <a:pPr algn="just"/>
            <a:r>
              <a:rPr lang="en-US" b="1" dirty="0"/>
              <a:t>Web Development Tools</a:t>
            </a:r>
          </a:p>
          <a:p>
            <a:pPr lvl="1" algn="just"/>
            <a:r>
              <a:rPr lang="en-US" dirty="0"/>
              <a:t>These tools assist in designing web pages with all allied elements like forms, text, script, graphic and so on. </a:t>
            </a:r>
          </a:p>
          <a:p>
            <a:pPr lvl="1" algn="just"/>
            <a:r>
              <a:rPr lang="en-US" dirty="0"/>
              <a:t>Web tools also provide live preview of what is being developed and how will it look after completion. </a:t>
            </a:r>
          </a:p>
          <a:p>
            <a:pPr lvl="1" algn="just"/>
            <a:r>
              <a:rPr lang="en-US" dirty="0"/>
              <a:t>For example, </a:t>
            </a:r>
            <a:r>
              <a:rPr lang="en-US" dirty="0" err="1"/>
              <a:t>Fontello</a:t>
            </a:r>
            <a:r>
              <a:rPr lang="en-US" dirty="0"/>
              <a:t>, Adobe Edge Inspect, Foundation 3, Brackets.</a:t>
            </a:r>
          </a:p>
          <a:p>
            <a:pPr algn="just"/>
            <a:endParaRPr lang="en-US" dirty="0"/>
          </a:p>
        </p:txBody>
      </p:sp>
    </p:spTree>
    <p:extLst>
      <p:ext uri="{BB962C8B-B14F-4D97-AF65-F5344CB8AC3E}">
        <p14:creationId xmlns:p14="http://schemas.microsoft.com/office/powerpoint/2010/main" val="3679907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829559"/>
            <a:ext cx="8915400" cy="5081663"/>
          </a:xfrm>
        </p:spPr>
        <p:txBody>
          <a:bodyPr>
            <a:normAutofit/>
          </a:bodyPr>
          <a:lstStyle/>
          <a:p>
            <a:pPr algn="just"/>
            <a:r>
              <a:rPr lang="en-US" b="1" dirty="0"/>
              <a:t>Quality Assurance Tools</a:t>
            </a:r>
          </a:p>
          <a:p>
            <a:pPr lvl="1" algn="just"/>
            <a:r>
              <a:rPr lang="en-US" dirty="0"/>
              <a:t>Quality assurance in a software organization is monitoring the engineering process and methods adopted to develop the software product in order to ensure conformance of quality as per organization standards. </a:t>
            </a:r>
          </a:p>
          <a:p>
            <a:pPr lvl="1" algn="just"/>
            <a:r>
              <a:rPr lang="en-US" dirty="0"/>
              <a:t>QA tools consist of configuration and change control tools and software testing tools. </a:t>
            </a:r>
          </a:p>
          <a:p>
            <a:pPr lvl="1" algn="just"/>
            <a:r>
              <a:rPr lang="en-US" dirty="0"/>
              <a:t>For example, </a:t>
            </a:r>
            <a:r>
              <a:rPr lang="en-US" dirty="0" err="1"/>
              <a:t>SoapTest</a:t>
            </a:r>
            <a:r>
              <a:rPr lang="en-US" dirty="0"/>
              <a:t>, </a:t>
            </a:r>
            <a:r>
              <a:rPr lang="en-US" dirty="0" err="1"/>
              <a:t>AppsWatch</a:t>
            </a:r>
            <a:r>
              <a:rPr lang="en-US" dirty="0"/>
              <a:t>, </a:t>
            </a:r>
            <a:r>
              <a:rPr lang="en-US" dirty="0" err="1"/>
              <a:t>JMeter</a:t>
            </a:r>
            <a:r>
              <a:rPr lang="en-US" dirty="0"/>
              <a:t>.</a:t>
            </a:r>
          </a:p>
          <a:p>
            <a:pPr algn="just"/>
            <a:r>
              <a:rPr lang="en-US" b="1" dirty="0"/>
              <a:t>Maintenance Tools</a:t>
            </a:r>
          </a:p>
          <a:p>
            <a:pPr lvl="1" algn="just"/>
            <a:r>
              <a:rPr lang="en-US" dirty="0"/>
              <a:t>Software maintenance includes modifications in the software product after it is delivered. </a:t>
            </a:r>
          </a:p>
          <a:p>
            <a:pPr lvl="1" algn="just"/>
            <a:r>
              <a:rPr lang="en-US" dirty="0"/>
              <a:t>Automatic logging and error reporting techniques, automatic error ticket generation and root cause Analysis are few CASE tools, which help software organization in maintenance phase of SDLC. </a:t>
            </a:r>
          </a:p>
          <a:p>
            <a:pPr lvl="1" algn="just"/>
            <a:r>
              <a:rPr lang="en-US" dirty="0"/>
              <a:t>For example, </a:t>
            </a:r>
            <a:r>
              <a:rPr lang="en-US" dirty="0" err="1"/>
              <a:t>Bugzilla</a:t>
            </a:r>
            <a:r>
              <a:rPr lang="en-US" dirty="0"/>
              <a:t> for defect tracking, HP Quality Center.</a:t>
            </a:r>
          </a:p>
          <a:p>
            <a:pPr algn="just"/>
            <a:endParaRPr lang="en-US" dirty="0"/>
          </a:p>
        </p:txBody>
      </p:sp>
    </p:spTree>
    <p:extLst>
      <p:ext uri="{BB962C8B-B14F-4D97-AF65-F5344CB8AC3E}">
        <p14:creationId xmlns:p14="http://schemas.microsoft.com/office/powerpoint/2010/main" val="399093914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704</TotalTime>
  <Words>1074</Words>
  <Application>Microsoft Macintosh PowerPoint</Application>
  <PresentationFormat>Widescreen</PresentationFormat>
  <Paragraphs>82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Wisp</vt:lpstr>
      <vt:lpstr>CASE TOOLS</vt:lpstr>
      <vt:lpstr>Software Case Tools </vt:lpstr>
      <vt:lpstr>Components of CASE Tools</vt:lpstr>
      <vt:lpstr>Types of CASE Tools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TOOLS</dc:title>
  <dc:creator>dell</dc:creator>
  <cp:lastModifiedBy>Apoorva Karnwal</cp:lastModifiedBy>
  <cp:revision>7</cp:revision>
  <dcterms:created xsi:type="dcterms:W3CDTF">2025-03-10T11:31:08Z</dcterms:created>
  <dcterms:modified xsi:type="dcterms:W3CDTF">2025-03-25T19:57:28Z</dcterms:modified>
</cp:coreProperties>
</file>