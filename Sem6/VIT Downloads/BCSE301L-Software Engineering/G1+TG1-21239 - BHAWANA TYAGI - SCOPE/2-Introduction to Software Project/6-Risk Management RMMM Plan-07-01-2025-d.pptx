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60" r:id="rId3"/>
    <p:sldId id="261" r:id="rId4"/>
    <p:sldId id="262" r:id="rId5"/>
    <p:sldId id="275" r:id="rId6"/>
    <p:sldId id="276" r:id="rId7"/>
    <p:sldId id="263" r:id="rId8"/>
    <p:sldId id="277" r:id="rId9"/>
    <p:sldId id="278" r:id="rId10"/>
    <p:sldId id="264" r:id="rId11"/>
    <p:sldId id="265" r:id="rId12"/>
    <p:sldId id="279" r:id="rId13"/>
    <p:sldId id="280" r:id="rId14"/>
    <p:sldId id="281" r:id="rId15"/>
    <p:sldId id="282" r:id="rId16"/>
    <p:sldId id="283" r:id="rId17"/>
    <p:sldId id="284" r:id="rId18"/>
    <p:sldId id="285" r:id="rId19"/>
    <p:sldId id="267" r:id="rId20"/>
    <p:sldId id="268" r:id="rId21"/>
    <p:sldId id="269" r:id="rId22"/>
    <p:sldId id="270" r:id="rId23"/>
    <p:sldId id="271" r:id="rId24"/>
    <p:sldId id="272" r:id="rId25"/>
    <p:sldId id="273" r:id="rId26"/>
    <p:sldId id="259" r:id="rId27"/>
    <p:sldId id="286" r:id="rId28"/>
    <p:sldId id="287" r:id="rId29"/>
    <p:sldId id="288" r:id="rId30"/>
    <p:sldId id="289" r:id="rId31"/>
    <p:sldId id="290" r:id="rId32"/>
    <p:sldId id="291" r:id="rId33"/>
    <p:sldId id="25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34"/>
    <p:restoredTop sz="94694"/>
  </p:normalViewPr>
  <p:slideViewPr>
    <p:cSldViewPr snapToGrid="0">
      <p:cViewPr>
        <p:scale>
          <a:sx n="78" d="100"/>
          <a:sy n="78" d="100"/>
        </p:scale>
        <p:origin x="352" y="1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BD810BC-B3FF-42AA-AE4F-BBFB31E91A85}" type="datetimeFigureOut">
              <a:rPr lang="en-US" smtClean="0"/>
              <a:t>3/25/25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C47E33C-40E0-4214-926D-EA56DEEA1F6D}" type="slidenum">
              <a:rPr lang="en-US" smtClean="0"/>
              <a:t>‹#›</a:t>
            </a:fld>
            <a:endParaRPr lang="en-US"/>
          </a:p>
        </p:txBody>
      </p:sp>
    </p:spTree>
    <p:extLst>
      <p:ext uri="{BB962C8B-B14F-4D97-AF65-F5344CB8AC3E}">
        <p14:creationId xmlns:p14="http://schemas.microsoft.com/office/powerpoint/2010/main" val="38780501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D810BC-B3FF-42AA-AE4F-BBFB31E91A85}" type="datetimeFigureOut">
              <a:rPr lang="en-US" smtClean="0"/>
              <a:t>3/25/25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C47E33C-40E0-4214-926D-EA56DEEA1F6D}" type="slidenum">
              <a:rPr lang="en-US" smtClean="0"/>
              <a:t>‹#›</a:t>
            </a:fld>
            <a:endParaRPr lang="en-US"/>
          </a:p>
        </p:txBody>
      </p:sp>
    </p:spTree>
    <p:extLst>
      <p:ext uri="{BB962C8B-B14F-4D97-AF65-F5344CB8AC3E}">
        <p14:creationId xmlns:p14="http://schemas.microsoft.com/office/powerpoint/2010/main" val="42753230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D810BC-B3FF-42AA-AE4F-BBFB31E91A85}" type="datetimeFigureOut">
              <a:rPr lang="en-US" smtClean="0"/>
              <a:t>3/25/25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C47E33C-40E0-4214-926D-EA56DEEA1F6D}" type="slidenum">
              <a:rPr lang="en-US" smtClean="0"/>
              <a:t>‹#›</a:t>
            </a:fld>
            <a:endParaRPr lang="en-US"/>
          </a:p>
        </p:txBody>
      </p:sp>
    </p:spTree>
    <p:extLst>
      <p:ext uri="{BB962C8B-B14F-4D97-AF65-F5344CB8AC3E}">
        <p14:creationId xmlns:p14="http://schemas.microsoft.com/office/powerpoint/2010/main" val="1226575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BD810BC-B3FF-42AA-AE4F-BBFB31E91A85}" type="datetimeFigureOut">
              <a:rPr lang="en-US" smtClean="0"/>
              <a:t>3/25/25</a:t>
            </a:fld>
            <a:endParaRPr lang="en-US"/>
          </a:p>
        </p:txBody>
      </p:sp>
      <p:sp>
        <p:nvSpPr>
          <p:cNvPr id="6" name="Footer Placeholder 5"/>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C47E33C-40E0-4214-926D-EA56DEEA1F6D}" type="slidenum">
              <a:rPr lang="en-US" smtClean="0"/>
              <a:t>‹#›</a:t>
            </a:fld>
            <a:endParaRPr lang="en-US"/>
          </a:p>
        </p:txBody>
      </p:sp>
    </p:spTree>
    <p:extLst>
      <p:ext uri="{BB962C8B-B14F-4D97-AF65-F5344CB8AC3E}">
        <p14:creationId xmlns:p14="http://schemas.microsoft.com/office/powerpoint/2010/main" val="635926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D810BC-B3FF-42AA-AE4F-BBFB31E91A85}" type="datetimeFigureOut">
              <a:rPr lang="en-US" smtClean="0"/>
              <a:t>3/25/25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C47E33C-40E0-4214-926D-EA56DEEA1F6D}" type="slidenum">
              <a:rPr lang="en-US" smtClean="0"/>
              <a:t>‹#›</a:t>
            </a:fld>
            <a:endParaRPr lang="en-US"/>
          </a:p>
        </p:txBody>
      </p:sp>
    </p:spTree>
    <p:extLst>
      <p:ext uri="{BB962C8B-B14F-4D97-AF65-F5344CB8AC3E}">
        <p14:creationId xmlns:p14="http://schemas.microsoft.com/office/powerpoint/2010/main" val="2955119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BD810BC-B3FF-42AA-AE4F-BBFB31E91A85}" type="datetimeFigureOut">
              <a:rPr lang="en-US" smtClean="0"/>
              <a:t>3/25/25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C47E33C-40E0-4214-926D-EA56DEEA1F6D}" type="slidenum">
              <a:rPr lang="en-US" smtClean="0"/>
              <a:t>‹#›</a:t>
            </a:fld>
            <a:endParaRPr lang="en-US"/>
          </a:p>
        </p:txBody>
      </p:sp>
    </p:spTree>
    <p:extLst>
      <p:ext uri="{BB962C8B-B14F-4D97-AF65-F5344CB8AC3E}">
        <p14:creationId xmlns:p14="http://schemas.microsoft.com/office/powerpoint/2010/main" val="3886784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D810BC-B3FF-42AA-AE4F-BBFB31E91A85}" type="datetimeFigureOut">
              <a:rPr lang="en-US" smtClean="0"/>
              <a:t>3/25/25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C47E33C-40E0-4214-926D-EA56DEEA1F6D}" type="slidenum">
              <a:rPr lang="en-US" smtClean="0"/>
              <a:t>‹#›</a:t>
            </a:fld>
            <a:endParaRPr lang="en-US"/>
          </a:p>
        </p:txBody>
      </p:sp>
    </p:spTree>
    <p:extLst>
      <p:ext uri="{BB962C8B-B14F-4D97-AF65-F5344CB8AC3E}">
        <p14:creationId xmlns:p14="http://schemas.microsoft.com/office/powerpoint/2010/main" val="1125598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D810BC-B3FF-42AA-AE4F-BBFB31E91A85}" type="datetimeFigureOut">
              <a:rPr lang="en-US" smtClean="0"/>
              <a:t>3/25/25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C47E33C-40E0-4214-926D-EA56DEEA1F6D}" type="slidenum">
              <a:rPr lang="en-US" smtClean="0"/>
              <a:t>‹#›</a:t>
            </a:fld>
            <a:endParaRPr lang="en-US"/>
          </a:p>
        </p:txBody>
      </p:sp>
    </p:spTree>
    <p:extLst>
      <p:ext uri="{BB962C8B-B14F-4D97-AF65-F5344CB8AC3E}">
        <p14:creationId xmlns:p14="http://schemas.microsoft.com/office/powerpoint/2010/main" val="2743883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D810BC-B3FF-42AA-AE4F-BBFB31E91A85}" type="datetimeFigureOut">
              <a:rPr lang="en-US" smtClean="0"/>
              <a:t>3/25/25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C47E33C-40E0-4214-926D-EA56DEEA1F6D}" type="slidenum">
              <a:rPr lang="en-US" smtClean="0"/>
              <a:t>‹#›</a:t>
            </a:fld>
            <a:endParaRPr lang="en-US"/>
          </a:p>
        </p:txBody>
      </p:sp>
    </p:spTree>
    <p:extLst>
      <p:ext uri="{BB962C8B-B14F-4D97-AF65-F5344CB8AC3E}">
        <p14:creationId xmlns:p14="http://schemas.microsoft.com/office/powerpoint/2010/main" val="2365948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D810BC-B3FF-42AA-AE4F-BBFB31E91A85}" type="datetimeFigureOut">
              <a:rPr lang="en-US" smtClean="0"/>
              <a:t>3/25/25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C47E33C-40E0-4214-926D-EA56DEEA1F6D}" type="slidenum">
              <a:rPr lang="en-US" smtClean="0"/>
              <a:t>‹#›</a:t>
            </a:fld>
            <a:endParaRPr lang="en-US"/>
          </a:p>
        </p:txBody>
      </p:sp>
    </p:spTree>
    <p:extLst>
      <p:ext uri="{BB962C8B-B14F-4D97-AF65-F5344CB8AC3E}">
        <p14:creationId xmlns:p14="http://schemas.microsoft.com/office/powerpoint/2010/main" val="2971321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D810BC-B3FF-42AA-AE4F-BBFB31E91A85}" type="datetimeFigureOut">
              <a:rPr lang="en-US" smtClean="0"/>
              <a:t>3/25/25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C47E33C-40E0-4214-926D-EA56DEEA1F6D}"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94811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BD810BC-B3FF-42AA-AE4F-BBFB31E91A85}" type="datetimeFigureOut">
              <a:rPr lang="en-US" smtClean="0"/>
              <a:t>3/25/25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C47E33C-40E0-4214-926D-EA56DEEA1F6D}" type="slidenum">
              <a:rPr lang="en-US" smtClean="0"/>
              <a:t>‹#›</a:t>
            </a:fld>
            <a:endParaRPr lang="en-US"/>
          </a:p>
        </p:txBody>
      </p:sp>
    </p:spTree>
    <p:extLst>
      <p:ext uri="{BB962C8B-B14F-4D97-AF65-F5344CB8AC3E}">
        <p14:creationId xmlns:p14="http://schemas.microsoft.com/office/powerpoint/2010/main" val="1691259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BD810BC-B3FF-42AA-AE4F-BBFB31E91A85}" type="datetimeFigureOut">
              <a:rPr lang="en-US" smtClean="0"/>
              <a:t>3/25/25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C47E33C-40E0-4214-926D-EA56DEEA1F6D}"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3864443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BD810BC-B3FF-42AA-AE4F-BBFB31E91A85}" type="datetimeFigureOut">
              <a:rPr lang="en-US" smtClean="0"/>
              <a:t>3/25/25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C47E33C-40E0-4214-926D-EA56DEEA1F6D}" type="slidenum">
              <a:rPr lang="en-US" smtClean="0"/>
              <a:t>‹#›</a:t>
            </a:fld>
            <a:endParaRPr lang="en-US"/>
          </a:p>
        </p:txBody>
      </p:sp>
    </p:spTree>
    <p:extLst>
      <p:ext uri="{BB962C8B-B14F-4D97-AF65-F5344CB8AC3E}">
        <p14:creationId xmlns:p14="http://schemas.microsoft.com/office/powerpoint/2010/main" val="33773298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D810BC-B3FF-42AA-AE4F-BBFB31E91A85}" type="datetimeFigureOut">
              <a:rPr lang="en-US" smtClean="0"/>
              <a:t>3/25/25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C47E33C-40E0-4214-926D-EA56DEEA1F6D}" type="slidenum">
              <a:rPr lang="en-US" smtClean="0"/>
              <a:t>‹#›</a:t>
            </a:fld>
            <a:endParaRPr lang="en-US"/>
          </a:p>
        </p:txBody>
      </p:sp>
    </p:spTree>
    <p:extLst>
      <p:ext uri="{BB962C8B-B14F-4D97-AF65-F5344CB8AC3E}">
        <p14:creationId xmlns:p14="http://schemas.microsoft.com/office/powerpoint/2010/main" val="39014475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D810BC-B3FF-42AA-AE4F-BBFB31E91A85}" type="datetimeFigureOut">
              <a:rPr lang="en-US" smtClean="0"/>
              <a:t>3/25/25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C47E33C-40E0-4214-926D-EA56DEEA1F6D}" type="slidenum">
              <a:rPr lang="en-US" smtClean="0"/>
              <a:t>‹#›</a:t>
            </a:fld>
            <a:endParaRPr lang="en-US"/>
          </a:p>
        </p:txBody>
      </p:sp>
    </p:spTree>
    <p:extLst>
      <p:ext uri="{BB962C8B-B14F-4D97-AF65-F5344CB8AC3E}">
        <p14:creationId xmlns:p14="http://schemas.microsoft.com/office/powerpoint/2010/main" val="454435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BD810BC-B3FF-42AA-AE4F-BBFB31E91A85}" type="datetimeFigureOut">
              <a:rPr lang="en-US" smtClean="0"/>
              <a:t>3/25/25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C47E33C-40E0-4214-926D-EA56DEEA1F6D}" type="slidenum">
              <a:rPr lang="en-US" smtClean="0"/>
              <a:t>‹#›</a:t>
            </a:fld>
            <a:endParaRPr lang="en-US"/>
          </a:p>
        </p:txBody>
      </p:sp>
    </p:spTree>
    <p:extLst>
      <p:ext uri="{BB962C8B-B14F-4D97-AF65-F5344CB8AC3E}">
        <p14:creationId xmlns:p14="http://schemas.microsoft.com/office/powerpoint/2010/main" val="424851600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Risk Management</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0813092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9000" y="224060"/>
            <a:ext cx="8911687" cy="1280890"/>
          </a:xfrm>
        </p:spPr>
        <p:txBody>
          <a:bodyPr/>
          <a:lstStyle/>
          <a:p>
            <a:r>
              <a:rPr lang="en-US" dirty="0"/>
              <a:t>Risk</a:t>
            </a:r>
          </a:p>
        </p:txBody>
      </p:sp>
      <p:sp>
        <p:nvSpPr>
          <p:cNvPr id="3" name="Content Placeholder 2"/>
          <p:cNvSpPr>
            <a:spLocks noGrp="1"/>
          </p:cNvSpPr>
          <p:nvPr>
            <p:ph idx="1"/>
          </p:nvPr>
        </p:nvSpPr>
        <p:spPr/>
        <p:txBody>
          <a:bodyPr>
            <a:normAutofit lnSpcReduction="10000"/>
          </a:bodyPr>
          <a:lstStyle/>
          <a:p>
            <a:r>
              <a:rPr lang="en-US" dirty="0"/>
              <a:t>Risk always involves two characteristics:</a:t>
            </a:r>
          </a:p>
          <a:p>
            <a:r>
              <a:rPr lang="en-US" dirty="0"/>
              <a:t>Uncertainty—the risk may or may not happen; that is, there are no 100% probable risks </a:t>
            </a:r>
          </a:p>
          <a:p>
            <a:r>
              <a:rPr lang="en-US" dirty="0"/>
              <a:t>Loss—if the risk becomes a reality, unwanted consequences or losses will occur .</a:t>
            </a:r>
          </a:p>
          <a:p>
            <a:r>
              <a:rPr lang="en-US" dirty="0"/>
              <a:t>When risks are analyzed, it is important to quantify the level of uncertainty and the degree of loss associated with each risk. </a:t>
            </a:r>
          </a:p>
          <a:p>
            <a:r>
              <a:rPr lang="en-US" dirty="0"/>
              <a:t>To accomplish this, different categories of risks are considered:</a:t>
            </a:r>
          </a:p>
          <a:p>
            <a:pPr lvl="1"/>
            <a:r>
              <a:rPr lang="en-US" dirty="0"/>
              <a:t>Project risks</a:t>
            </a:r>
          </a:p>
          <a:p>
            <a:pPr lvl="1"/>
            <a:r>
              <a:rPr lang="en-US" dirty="0"/>
              <a:t>Technical risks</a:t>
            </a:r>
          </a:p>
          <a:p>
            <a:pPr lvl="1"/>
            <a:r>
              <a:rPr lang="en-US" dirty="0"/>
              <a:t>Business risks</a:t>
            </a:r>
          </a:p>
        </p:txBody>
      </p:sp>
      <p:pic>
        <p:nvPicPr>
          <p:cNvPr id="4" name="Picture 3"/>
          <p:cNvPicPr>
            <a:picLocks noChangeAspect="1"/>
          </p:cNvPicPr>
          <p:nvPr/>
        </p:nvPicPr>
        <p:blipFill>
          <a:blip r:embed="rId2"/>
          <a:stretch>
            <a:fillRect/>
          </a:stretch>
        </p:blipFill>
        <p:spPr>
          <a:xfrm>
            <a:off x="1475001" y="1280867"/>
            <a:ext cx="10256857" cy="5076000"/>
          </a:xfrm>
          <a:prstGeom prst="rect">
            <a:avLst/>
          </a:prstGeom>
        </p:spPr>
      </p:pic>
    </p:spTree>
    <p:extLst>
      <p:ext uri="{BB962C8B-B14F-4D97-AF65-F5344CB8AC3E}">
        <p14:creationId xmlns:p14="http://schemas.microsoft.com/office/powerpoint/2010/main" val="2400702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Risks</a:t>
            </a:r>
          </a:p>
        </p:txBody>
      </p:sp>
      <p:sp>
        <p:nvSpPr>
          <p:cNvPr id="3" name="Content Placeholder 2"/>
          <p:cNvSpPr>
            <a:spLocks noGrp="1"/>
          </p:cNvSpPr>
          <p:nvPr>
            <p:ph idx="1"/>
          </p:nvPr>
        </p:nvSpPr>
        <p:spPr>
          <a:xfrm>
            <a:off x="2589212" y="1376313"/>
            <a:ext cx="8915400" cy="5203595"/>
          </a:xfrm>
        </p:spPr>
        <p:txBody>
          <a:bodyPr>
            <a:normAutofit lnSpcReduction="10000"/>
          </a:bodyPr>
          <a:lstStyle/>
          <a:p>
            <a:pPr algn="just"/>
            <a:r>
              <a:rPr lang="en-US" b="1" dirty="0"/>
              <a:t>Project risks </a:t>
            </a:r>
            <a:r>
              <a:rPr lang="en-US" dirty="0"/>
              <a:t>threaten the project plan. </a:t>
            </a:r>
          </a:p>
          <a:p>
            <a:pPr lvl="1" algn="just"/>
            <a:r>
              <a:rPr lang="en-US" dirty="0"/>
              <a:t>That is, if project risks become real, it is likely that project schedule will slip and that costs will increase. </a:t>
            </a:r>
          </a:p>
          <a:p>
            <a:pPr lvl="1" algn="just"/>
            <a:r>
              <a:rPr lang="en-US" dirty="0"/>
              <a:t>Project risks identify potential budgetary, schedule, personnel (staffing and organization), resource, customer, and requirements problems and their impact on a software project. </a:t>
            </a:r>
          </a:p>
          <a:p>
            <a:pPr algn="just"/>
            <a:r>
              <a:rPr lang="en-US" b="1" dirty="0"/>
              <a:t>Technical risks </a:t>
            </a:r>
            <a:r>
              <a:rPr lang="en-US" dirty="0"/>
              <a:t>threaten the quality and timeliness of the software to be produced. </a:t>
            </a:r>
          </a:p>
          <a:p>
            <a:pPr lvl="1" algn="just"/>
            <a:r>
              <a:rPr lang="en-US" dirty="0"/>
              <a:t>If a technical risk becomes a reality, implementation may become difficult or impossible. </a:t>
            </a:r>
          </a:p>
          <a:p>
            <a:pPr lvl="1" algn="just"/>
            <a:r>
              <a:rPr lang="en-US" dirty="0"/>
              <a:t>Technical risks identify potential design, implementation, interface, verification, and maintenance problems. </a:t>
            </a:r>
          </a:p>
          <a:p>
            <a:pPr lvl="1" algn="just"/>
            <a:r>
              <a:rPr lang="en-US" dirty="0"/>
              <a:t>In addition, specification ambiguity, technical uncertainty, technical obsolescence, and "leading-edge" technology are also risk factors. </a:t>
            </a:r>
          </a:p>
          <a:p>
            <a:pPr lvl="1" algn="just"/>
            <a:r>
              <a:rPr lang="en-US" dirty="0"/>
              <a:t>Technical risks occur because the problem is harder to solve than we thought it would be. </a:t>
            </a:r>
          </a:p>
          <a:p>
            <a:pPr marL="0" indent="0" algn="just">
              <a:buNone/>
            </a:pPr>
            <a:r>
              <a:rPr lang="en-US" dirty="0"/>
              <a:t>. </a:t>
            </a:r>
          </a:p>
        </p:txBody>
      </p:sp>
    </p:spTree>
    <p:extLst>
      <p:ext uri="{BB962C8B-B14F-4D97-AF65-F5344CB8AC3E}">
        <p14:creationId xmlns:p14="http://schemas.microsoft.com/office/powerpoint/2010/main" val="2148633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695325"/>
            <a:ext cx="8915400" cy="5215897"/>
          </a:xfrm>
        </p:spPr>
        <p:txBody>
          <a:bodyPr>
            <a:normAutofit/>
          </a:bodyPr>
          <a:lstStyle/>
          <a:p>
            <a:pPr algn="just"/>
            <a:r>
              <a:rPr lang="en-US" sz="2400" b="1" dirty="0"/>
              <a:t>Business risks </a:t>
            </a:r>
            <a:r>
              <a:rPr lang="en-US" sz="2400" dirty="0"/>
              <a:t>threaten the viability of the software to be built. </a:t>
            </a:r>
          </a:p>
          <a:p>
            <a:pPr lvl="1" algn="just"/>
            <a:r>
              <a:rPr lang="en-US" sz="2000" dirty="0"/>
              <a:t>Business risks often jeopardize the project or the product. Candidates for the top five business risks are </a:t>
            </a:r>
          </a:p>
          <a:p>
            <a:pPr lvl="2" algn="just"/>
            <a:r>
              <a:rPr lang="en-US" sz="1800" dirty="0"/>
              <a:t>(1) building a excellent product or system that no one really wants (market risk), </a:t>
            </a:r>
          </a:p>
          <a:p>
            <a:pPr lvl="2" algn="just"/>
            <a:r>
              <a:rPr lang="en-US" sz="1800" dirty="0"/>
              <a:t>(2) building a product that no longer fits into the overall business strategy for the company (strategic risk), </a:t>
            </a:r>
          </a:p>
          <a:p>
            <a:pPr lvl="2" algn="just"/>
            <a:r>
              <a:rPr lang="en-US" sz="1800" dirty="0"/>
              <a:t>(3) building a product that the sales force doesn't understand how to sell, </a:t>
            </a:r>
          </a:p>
          <a:p>
            <a:pPr lvl="2" algn="just"/>
            <a:r>
              <a:rPr lang="en-US" sz="1800" dirty="0"/>
              <a:t>(4) losing the support of senior management due to a change in focus or a change in people (management risk), and </a:t>
            </a:r>
          </a:p>
          <a:p>
            <a:pPr lvl="2" algn="just"/>
            <a:r>
              <a:rPr lang="en-US" sz="1800" dirty="0"/>
              <a:t>(5) losing budgetary or personnel commitment (budget risks). It is extremely important to note that simple categorization won't always work. Some risks are simply unpredictable in advance.</a:t>
            </a:r>
          </a:p>
        </p:txBody>
      </p:sp>
    </p:spTree>
    <p:extLst>
      <p:ext uri="{BB962C8B-B14F-4D97-AF65-F5344CB8AC3E}">
        <p14:creationId xmlns:p14="http://schemas.microsoft.com/office/powerpoint/2010/main" val="819549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 name="Picture 4"/>
          <p:cNvPicPr>
            <a:picLocks noChangeAspect="1"/>
          </p:cNvPicPr>
          <p:nvPr/>
        </p:nvPicPr>
        <p:blipFill>
          <a:blip r:embed="rId2"/>
          <a:stretch>
            <a:fillRect/>
          </a:stretch>
        </p:blipFill>
        <p:spPr>
          <a:xfrm>
            <a:off x="457200" y="247650"/>
            <a:ext cx="11281322" cy="6364800"/>
          </a:xfrm>
          <a:prstGeom prst="rect">
            <a:avLst/>
          </a:prstGeom>
        </p:spPr>
      </p:pic>
    </p:spTree>
    <p:extLst>
      <p:ext uri="{BB962C8B-B14F-4D97-AF65-F5344CB8AC3E}">
        <p14:creationId xmlns:p14="http://schemas.microsoft.com/office/powerpoint/2010/main" val="1732147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0" y="761999"/>
            <a:ext cx="9599612" cy="5648325"/>
          </a:xfrm>
        </p:spPr>
        <p:txBody>
          <a:bodyPr>
            <a:noAutofit/>
          </a:bodyPr>
          <a:lstStyle/>
          <a:p>
            <a:r>
              <a:rPr lang="en-US" sz="2400" dirty="0"/>
              <a:t>Business risk can be further categorized into the following: </a:t>
            </a:r>
          </a:p>
          <a:p>
            <a:pPr lvl="1"/>
            <a:r>
              <a:rPr lang="en-US" sz="2000" b="1" dirty="0"/>
              <a:t>Market risk </a:t>
            </a:r>
            <a:r>
              <a:rPr lang="en-US" sz="2000" dirty="0"/>
              <a:t>: Building an excellent product or system that no one really wants. </a:t>
            </a:r>
          </a:p>
          <a:p>
            <a:pPr lvl="1"/>
            <a:r>
              <a:rPr lang="en-US" sz="2000" b="1" dirty="0"/>
              <a:t>Strategic risk: </a:t>
            </a:r>
            <a:r>
              <a:rPr lang="en-US" sz="2000" dirty="0"/>
              <a:t>Building a product that no longer fits into the overall business strategy for the company. </a:t>
            </a:r>
          </a:p>
          <a:p>
            <a:pPr lvl="1"/>
            <a:r>
              <a:rPr lang="en-US" sz="2000" b="1" dirty="0"/>
              <a:t>Sales risk </a:t>
            </a:r>
            <a:r>
              <a:rPr lang="en-US" sz="2000" dirty="0"/>
              <a:t>: Building a product that the sales force doesn’t understand how to sell. </a:t>
            </a:r>
          </a:p>
          <a:p>
            <a:pPr lvl="1"/>
            <a:r>
              <a:rPr lang="en-US" sz="2000" b="1" dirty="0"/>
              <a:t>Management risk: </a:t>
            </a:r>
            <a:r>
              <a:rPr lang="en-US" sz="2000" dirty="0"/>
              <a:t>Losing the support of senior management due to a change in focus or a change in people. </a:t>
            </a:r>
          </a:p>
          <a:p>
            <a:pPr lvl="1"/>
            <a:r>
              <a:rPr lang="en-US" sz="2000" b="1" dirty="0"/>
              <a:t>Budget risk : </a:t>
            </a:r>
            <a:r>
              <a:rPr lang="en-US" sz="2000" dirty="0"/>
              <a:t>Losing budgetary or personnel commitment. </a:t>
            </a:r>
          </a:p>
          <a:p>
            <a:pPr marL="457200" lvl="1" indent="0">
              <a:buNone/>
            </a:pPr>
            <a:r>
              <a:rPr lang="en-US" sz="2000" dirty="0"/>
              <a:t>Risk management involves anticipating risks that might affect the project schedule or the quality of the software being developed, and then taking action to avoid these risks.</a:t>
            </a:r>
            <a:endParaRPr lang="en-US" sz="2000" b="1" dirty="0"/>
          </a:p>
        </p:txBody>
      </p:sp>
    </p:spTree>
    <p:extLst>
      <p:ext uri="{BB962C8B-B14F-4D97-AF65-F5344CB8AC3E}">
        <p14:creationId xmlns:p14="http://schemas.microsoft.com/office/powerpoint/2010/main" val="1088906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Categorization of Risks</a:t>
            </a:r>
          </a:p>
        </p:txBody>
      </p:sp>
      <p:sp>
        <p:nvSpPr>
          <p:cNvPr id="3" name="Content Placeholder 2"/>
          <p:cNvSpPr>
            <a:spLocks noGrp="1"/>
          </p:cNvSpPr>
          <p:nvPr>
            <p:ph idx="1"/>
          </p:nvPr>
        </p:nvSpPr>
        <p:spPr/>
        <p:txBody>
          <a:bodyPr/>
          <a:lstStyle/>
          <a:p>
            <a:pPr algn="just"/>
            <a:r>
              <a:rPr lang="en-US" b="1" dirty="0"/>
              <a:t>Known risks </a:t>
            </a:r>
            <a:r>
              <a:rPr lang="en-US" dirty="0"/>
              <a:t>are those that can be uncovered after careful evaluation of the project plan, the business and technical environment in which the project is being developed, and other reliable information sources (e.g., unrealistic delivery date, lack of documented requirements or software scope, poor development environment). </a:t>
            </a:r>
          </a:p>
          <a:p>
            <a:pPr algn="just"/>
            <a:r>
              <a:rPr lang="en-US" b="1" dirty="0"/>
              <a:t>Predictable risks </a:t>
            </a:r>
            <a:r>
              <a:rPr lang="en-US" dirty="0"/>
              <a:t>are extrapolated from past project experience (e.g., staff turnover, poor communication with the customer, dilution of staff effort as ongoing maintenance requests are serviced). </a:t>
            </a:r>
          </a:p>
          <a:p>
            <a:pPr algn="just"/>
            <a:r>
              <a:rPr lang="en-US" b="1" dirty="0"/>
              <a:t>Unpredictable risks </a:t>
            </a:r>
            <a:r>
              <a:rPr lang="en-US" dirty="0"/>
              <a:t>are the joker in the deck. They can and do occur, but they are extremely difficult to identify in advance</a:t>
            </a:r>
          </a:p>
        </p:txBody>
      </p:sp>
    </p:spTree>
    <p:extLst>
      <p:ext uri="{BB962C8B-B14F-4D97-AF65-F5344CB8AC3E}">
        <p14:creationId xmlns:p14="http://schemas.microsoft.com/office/powerpoint/2010/main" val="1096513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452437" y="295275"/>
            <a:ext cx="11287125" cy="6219826"/>
          </a:xfrm>
          <a:prstGeom prst="rect">
            <a:avLst/>
          </a:prstGeom>
        </p:spPr>
      </p:pic>
    </p:spTree>
    <p:extLst>
      <p:ext uri="{BB962C8B-B14F-4D97-AF65-F5344CB8AC3E}">
        <p14:creationId xmlns:p14="http://schemas.microsoft.com/office/powerpoint/2010/main" val="3361723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Management Process</a:t>
            </a:r>
          </a:p>
        </p:txBody>
      </p:sp>
      <p:pic>
        <p:nvPicPr>
          <p:cNvPr id="4" name="Content Placeholder 3"/>
          <p:cNvPicPr>
            <a:picLocks noGrp="1" noChangeAspect="1"/>
          </p:cNvPicPr>
          <p:nvPr>
            <p:ph idx="1"/>
          </p:nvPr>
        </p:nvPicPr>
        <p:blipFill>
          <a:blip r:embed="rId2"/>
          <a:stretch>
            <a:fillRect/>
          </a:stretch>
        </p:blipFill>
        <p:spPr>
          <a:xfrm>
            <a:off x="2589213" y="2606699"/>
            <a:ext cx="8915400" cy="2832051"/>
          </a:xfrm>
          <a:prstGeom prst="rect">
            <a:avLst/>
          </a:prstGeom>
        </p:spPr>
      </p:pic>
    </p:spTree>
    <p:extLst>
      <p:ext uri="{BB962C8B-B14F-4D97-AF65-F5344CB8AC3E}">
        <p14:creationId xmlns:p14="http://schemas.microsoft.com/office/powerpoint/2010/main" val="2470369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Identification</a:t>
            </a:r>
          </a:p>
        </p:txBody>
      </p:sp>
      <p:sp>
        <p:nvSpPr>
          <p:cNvPr id="3" name="Content Placeholder 2"/>
          <p:cNvSpPr>
            <a:spLocks noGrp="1"/>
          </p:cNvSpPr>
          <p:nvPr>
            <p:ph idx="1"/>
          </p:nvPr>
        </p:nvSpPr>
        <p:spPr>
          <a:xfrm>
            <a:off x="2589212" y="1476375"/>
            <a:ext cx="8915400" cy="5044447"/>
          </a:xfrm>
        </p:spPr>
        <p:txBody>
          <a:bodyPr>
            <a:noAutofit/>
          </a:bodyPr>
          <a:lstStyle/>
          <a:p>
            <a:pPr algn="just"/>
            <a:r>
              <a:rPr lang="en-US" sz="2000" dirty="0"/>
              <a:t>Risk identification is a systematic attempt to specify threats to the project plan (estimates, schedule, resource loading, etc.). </a:t>
            </a:r>
          </a:p>
          <a:p>
            <a:pPr algn="just"/>
            <a:r>
              <a:rPr lang="en-US" sz="2000" dirty="0"/>
              <a:t>By identifying known and predictable risks, the project manager takes a first step toward avoiding them when possible and controlling them when necessary.</a:t>
            </a:r>
          </a:p>
          <a:p>
            <a:pPr algn="just"/>
            <a:r>
              <a:rPr lang="en-US" sz="2000" b="1" dirty="0"/>
              <a:t>Generic risks </a:t>
            </a:r>
            <a:r>
              <a:rPr lang="en-US" sz="2000" dirty="0"/>
              <a:t>are a potential threat to every software project. </a:t>
            </a:r>
          </a:p>
          <a:p>
            <a:pPr algn="just"/>
            <a:r>
              <a:rPr lang="en-US" sz="2000" b="1" dirty="0"/>
              <a:t>Product-specific risks</a:t>
            </a:r>
            <a:r>
              <a:rPr lang="en-US" sz="2000" dirty="0"/>
              <a:t> can be identified only by those with a clear understanding of the technology, the people, and the environment that is specific to the project at hand. </a:t>
            </a:r>
          </a:p>
          <a:p>
            <a:pPr lvl="1" algn="just"/>
            <a:r>
              <a:rPr lang="en-US" sz="1800" dirty="0"/>
              <a:t>To identify product-specific risks, the project plan and the software statement of scope are examined and an answer to the following question is developed: "What special characteristics of this product may threaten our project plan?</a:t>
            </a:r>
          </a:p>
        </p:txBody>
      </p:sp>
    </p:spTree>
    <p:extLst>
      <p:ext uri="{BB962C8B-B14F-4D97-AF65-F5344CB8AC3E}">
        <p14:creationId xmlns:p14="http://schemas.microsoft.com/office/powerpoint/2010/main" val="4009869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Generic Risk Identification </a:t>
            </a:r>
          </a:p>
        </p:txBody>
      </p:sp>
      <p:sp>
        <p:nvSpPr>
          <p:cNvPr id="3" name="Content Placeholder 2"/>
          <p:cNvSpPr>
            <a:spLocks noGrp="1"/>
          </p:cNvSpPr>
          <p:nvPr>
            <p:ph idx="1"/>
          </p:nvPr>
        </p:nvSpPr>
        <p:spPr>
          <a:xfrm>
            <a:off x="2428875" y="1495425"/>
            <a:ext cx="9079450" cy="4724400"/>
          </a:xfrm>
        </p:spPr>
        <p:txBody>
          <a:bodyPr>
            <a:normAutofit lnSpcReduction="10000"/>
          </a:bodyPr>
          <a:lstStyle/>
          <a:p>
            <a:pPr algn="just"/>
            <a:r>
              <a:rPr lang="en-US" dirty="0"/>
              <a:t>The checklist can be used for risk identification and focuses on some subset of known and predictable risks in the following generic subcategories: </a:t>
            </a:r>
          </a:p>
          <a:p>
            <a:pPr lvl="1" algn="just"/>
            <a:r>
              <a:rPr lang="en-US" b="1" dirty="0"/>
              <a:t>Product size</a:t>
            </a:r>
            <a:r>
              <a:rPr lang="en-US" dirty="0"/>
              <a:t>: risks associated with the overall size of the software to be built or modified. </a:t>
            </a:r>
          </a:p>
          <a:p>
            <a:pPr lvl="1" algn="just"/>
            <a:r>
              <a:rPr lang="en-US" b="1" dirty="0"/>
              <a:t>Business impact</a:t>
            </a:r>
            <a:r>
              <a:rPr lang="en-US" dirty="0"/>
              <a:t>: risks associated with constraints imposed by management or the marketplace. </a:t>
            </a:r>
          </a:p>
          <a:p>
            <a:pPr lvl="1" algn="just"/>
            <a:r>
              <a:rPr lang="en-US" b="1" dirty="0"/>
              <a:t>Customer characteristics: </a:t>
            </a:r>
            <a:r>
              <a:rPr lang="en-US" dirty="0"/>
              <a:t>risks associated with the sophistication of the customer and the developer's ability to communicate with the customer in a timely manner. </a:t>
            </a:r>
          </a:p>
          <a:p>
            <a:pPr lvl="1" algn="just"/>
            <a:r>
              <a:rPr lang="en-US" b="1" dirty="0"/>
              <a:t>Process definition: </a:t>
            </a:r>
            <a:r>
              <a:rPr lang="en-US" dirty="0"/>
              <a:t>risks associated with the degree to which the software process has been defined and is followed by the development organization. </a:t>
            </a:r>
          </a:p>
          <a:p>
            <a:pPr lvl="1" algn="just"/>
            <a:r>
              <a:rPr lang="en-US" b="1" dirty="0"/>
              <a:t>Development environment: </a:t>
            </a:r>
            <a:r>
              <a:rPr lang="en-US" dirty="0"/>
              <a:t>risks associated with the availability and quality of the tools to be used to build the product. </a:t>
            </a:r>
          </a:p>
          <a:p>
            <a:pPr lvl="1" algn="just"/>
            <a:r>
              <a:rPr lang="en-US" b="1" dirty="0"/>
              <a:t>Technology to be built: </a:t>
            </a:r>
            <a:r>
              <a:rPr lang="en-US" dirty="0"/>
              <a:t>risks associated with the complexity of the system to be built and the "newness" of the technology that is packaged by the system. </a:t>
            </a:r>
          </a:p>
          <a:p>
            <a:pPr lvl="1" algn="just"/>
            <a:r>
              <a:rPr lang="en-US" b="1" dirty="0"/>
              <a:t>Staff size and experience:</a:t>
            </a:r>
            <a:r>
              <a:rPr lang="en-US" dirty="0"/>
              <a:t> risks associated with the overall technical and project experience of the software engineers who will do the work</a:t>
            </a:r>
          </a:p>
        </p:txBody>
      </p:sp>
    </p:spTree>
    <p:extLst>
      <p:ext uri="{BB962C8B-B14F-4D97-AF65-F5344CB8AC3E}">
        <p14:creationId xmlns:p14="http://schemas.microsoft.com/office/powerpoint/2010/main" val="988569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471487" y="157162"/>
            <a:ext cx="11249025" cy="6543675"/>
          </a:xfrm>
          <a:prstGeom prst="rect">
            <a:avLst/>
          </a:prstGeom>
        </p:spPr>
      </p:pic>
    </p:spTree>
    <p:extLst>
      <p:ext uri="{BB962C8B-B14F-4D97-AF65-F5344CB8AC3E}">
        <p14:creationId xmlns:p14="http://schemas.microsoft.com/office/powerpoint/2010/main" val="3058082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471487" y="133349"/>
            <a:ext cx="11268075" cy="6619875"/>
          </a:xfrm>
          <a:prstGeom prst="rect">
            <a:avLst/>
          </a:prstGeom>
        </p:spPr>
      </p:pic>
    </p:spTree>
    <p:extLst>
      <p:ext uri="{BB962C8B-B14F-4D97-AF65-F5344CB8AC3E}">
        <p14:creationId xmlns:p14="http://schemas.microsoft.com/office/powerpoint/2010/main" val="4173005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Analysis</a:t>
            </a:r>
          </a:p>
        </p:txBody>
      </p:sp>
      <p:sp>
        <p:nvSpPr>
          <p:cNvPr id="3" name="Content Placeholder 2"/>
          <p:cNvSpPr>
            <a:spLocks noGrp="1"/>
          </p:cNvSpPr>
          <p:nvPr>
            <p:ph idx="1"/>
          </p:nvPr>
        </p:nvSpPr>
        <p:spPr>
          <a:xfrm>
            <a:off x="2038350" y="1428750"/>
            <a:ext cx="9466262" cy="5219700"/>
          </a:xfrm>
        </p:spPr>
        <p:txBody>
          <a:bodyPr>
            <a:normAutofit/>
          </a:bodyPr>
          <a:lstStyle/>
          <a:p>
            <a:r>
              <a:rPr lang="en-US" dirty="0"/>
              <a:t>During the risk analysis process, you have to consider each identified risk and make a judgment about the probability and seriousness of that risk. </a:t>
            </a:r>
          </a:p>
          <a:p>
            <a:r>
              <a:rPr lang="en-US" dirty="0"/>
              <a:t>Risk can be assigned to any one of a number of bands: </a:t>
            </a:r>
          </a:p>
          <a:p>
            <a:pPr lvl="1"/>
            <a:r>
              <a:rPr lang="en-US" dirty="0"/>
              <a:t>1. The probability of the risk might be assessed as –</a:t>
            </a:r>
          </a:p>
          <a:p>
            <a:pPr lvl="2"/>
            <a:r>
              <a:rPr lang="en-US" dirty="0"/>
              <a:t>Insignificant : Tolerable Risk (No harm) </a:t>
            </a:r>
          </a:p>
          <a:p>
            <a:pPr lvl="2"/>
            <a:r>
              <a:rPr lang="en-US" dirty="0"/>
              <a:t>Low : Minor Effect </a:t>
            </a:r>
          </a:p>
          <a:p>
            <a:pPr lvl="2"/>
            <a:r>
              <a:rPr lang="en-US" dirty="0"/>
              <a:t>Moderate : Impact on time </a:t>
            </a:r>
          </a:p>
          <a:p>
            <a:pPr lvl="2"/>
            <a:r>
              <a:rPr lang="en-US" dirty="0"/>
              <a:t>High : Impact on Time and Budget </a:t>
            </a:r>
          </a:p>
          <a:p>
            <a:pPr lvl="2"/>
            <a:r>
              <a:rPr lang="en-US" dirty="0"/>
              <a:t>Very high : Impact on Output time, Budget and Performance </a:t>
            </a:r>
          </a:p>
          <a:p>
            <a:pPr lvl="1"/>
            <a:r>
              <a:rPr lang="en-US" dirty="0"/>
              <a:t>2. The effects of the risk might be assessed as </a:t>
            </a:r>
          </a:p>
          <a:p>
            <a:pPr lvl="2"/>
            <a:r>
              <a:rPr lang="en-US" dirty="0"/>
              <a:t>Catastrophic (threaten the survival of the project) </a:t>
            </a:r>
          </a:p>
          <a:p>
            <a:pPr lvl="2"/>
            <a:r>
              <a:rPr lang="en-US" dirty="0"/>
              <a:t>Serious (would cause major delays) </a:t>
            </a:r>
          </a:p>
          <a:p>
            <a:pPr lvl="2"/>
            <a:r>
              <a:rPr lang="en-US" dirty="0"/>
              <a:t>Tolerable (delays are within allowed possibility) </a:t>
            </a:r>
          </a:p>
          <a:p>
            <a:pPr lvl="2"/>
            <a:r>
              <a:rPr lang="en-US" dirty="0"/>
              <a:t>Insignificant</a:t>
            </a:r>
          </a:p>
        </p:txBody>
      </p:sp>
    </p:spTree>
    <p:extLst>
      <p:ext uri="{BB962C8B-B14F-4D97-AF65-F5344CB8AC3E}">
        <p14:creationId xmlns:p14="http://schemas.microsoft.com/office/powerpoint/2010/main" val="39524398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766887" y="66675"/>
            <a:ext cx="8658225" cy="6724650"/>
          </a:xfrm>
          <a:prstGeom prst="rect">
            <a:avLst/>
          </a:prstGeom>
        </p:spPr>
      </p:pic>
    </p:spTree>
    <p:extLst>
      <p:ext uri="{BB962C8B-B14F-4D97-AF65-F5344CB8AC3E}">
        <p14:creationId xmlns:p14="http://schemas.microsoft.com/office/powerpoint/2010/main" val="3205080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Planning</a:t>
            </a:r>
          </a:p>
        </p:txBody>
      </p:sp>
      <p:pic>
        <p:nvPicPr>
          <p:cNvPr id="4" name="Content Placeholder 3"/>
          <p:cNvPicPr>
            <a:picLocks noGrp="1" noChangeAspect="1"/>
          </p:cNvPicPr>
          <p:nvPr>
            <p:ph idx="1"/>
          </p:nvPr>
        </p:nvPicPr>
        <p:blipFill>
          <a:blip r:embed="rId2"/>
          <a:stretch>
            <a:fillRect/>
          </a:stretch>
        </p:blipFill>
        <p:spPr>
          <a:xfrm>
            <a:off x="1085850" y="1552575"/>
            <a:ext cx="10763249" cy="4676775"/>
          </a:xfrm>
          <a:prstGeom prst="rect">
            <a:avLst/>
          </a:prstGeom>
        </p:spPr>
      </p:pic>
    </p:spTree>
    <p:extLst>
      <p:ext uri="{BB962C8B-B14F-4D97-AF65-F5344CB8AC3E}">
        <p14:creationId xmlns:p14="http://schemas.microsoft.com/office/powerpoint/2010/main" val="3658959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781050" y="80962"/>
            <a:ext cx="10629900" cy="6696075"/>
          </a:xfrm>
          <a:prstGeom prst="rect">
            <a:avLst/>
          </a:prstGeom>
        </p:spPr>
      </p:pic>
    </p:spTree>
    <p:extLst>
      <p:ext uri="{BB962C8B-B14F-4D97-AF65-F5344CB8AC3E}">
        <p14:creationId xmlns:p14="http://schemas.microsoft.com/office/powerpoint/2010/main" val="9110250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Monitoring</a:t>
            </a:r>
          </a:p>
        </p:txBody>
      </p:sp>
      <p:pic>
        <p:nvPicPr>
          <p:cNvPr id="4" name="Content Placeholder 3"/>
          <p:cNvPicPr>
            <a:picLocks noGrp="1" noChangeAspect="1"/>
          </p:cNvPicPr>
          <p:nvPr>
            <p:ph idx="1"/>
          </p:nvPr>
        </p:nvPicPr>
        <p:blipFill>
          <a:blip r:embed="rId2"/>
          <a:stretch>
            <a:fillRect/>
          </a:stretch>
        </p:blipFill>
        <p:spPr>
          <a:xfrm>
            <a:off x="1885951" y="1449917"/>
            <a:ext cx="9105900" cy="4953000"/>
          </a:xfrm>
          <a:prstGeom prst="rect">
            <a:avLst/>
          </a:prstGeom>
        </p:spPr>
      </p:pic>
    </p:spTree>
    <p:extLst>
      <p:ext uri="{BB962C8B-B14F-4D97-AF65-F5344CB8AC3E}">
        <p14:creationId xmlns:p14="http://schemas.microsoft.com/office/powerpoint/2010/main" val="9284069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Components</a:t>
            </a:r>
          </a:p>
        </p:txBody>
      </p:sp>
      <p:sp>
        <p:nvSpPr>
          <p:cNvPr id="3" name="Content Placeholder 2"/>
          <p:cNvSpPr>
            <a:spLocks noGrp="1"/>
          </p:cNvSpPr>
          <p:nvPr>
            <p:ph idx="1"/>
          </p:nvPr>
        </p:nvSpPr>
        <p:spPr>
          <a:xfrm>
            <a:off x="2589212" y="1581150"/>
            <a:ext cx="8915400" cy="4330072"/>
          </a:xfrm>
        </p:spPr>
        <p:txBody>
          <a:bodyPr>
            <a:normAutofit lnSpcReduction="10000"/>
          </a:bodyPr>
          <a:lstStyle/>
          <a:p>
            <a:pPr algn="just"/>
            <a:r>
              <a:rPr lang="en-US" dirty="0"/>
              <a:t>The U.S. Air Force [AFC88] has written a pamphlet that contains excellent guidelines for software risk identification and abatement.</a:t>
            </a:r>
          </a:p>
          <a:p>
            <a:pPr algn="just"/>
            <a:r>
              <a:rPr lang="en-US" dirty="0"/>
              <a:t>The Air Force approach requires that the project manager identify the risk drivers that affect software risk components—performance, cost, support, and schedule. </a:t>
            </a:r>
          </a:p>
          <a:p>
            <a:pPr algn="just"/>
            <a:r>
              <a:rPr lang="en-US" dirty="0"/>
              <a:t>In the context of this discussion, the risk components are defined in the following manner: </a:t>
            </a:r>
          </a:p>
          <a:p>
            <a:pPr lvl="1" algn="just"/>
            <a:r>
              <a:rPr lang="en-US" b="1" dirty="0"/>
              <a:t>Performance risk</a:t>
            </a:r>
            <a:r>
              <a:rPr lang="en-US" dirty="0"/>
              <a:t>—the degree of uncertainty that the product will meet its requirements and be fit for its intended use. </a:t>
            </a:r>
          </a:p>
          <a:p>
            <a:pPr lvl="1" algn="just"/>
            <a:r>
              <a:rPr lang="en-US" b="1" dirty="0"/>
              <a:t>Cost risk</a:t>
            </a:r>
            <a:r>
              <a:rPr lang="en-US" dirty="0"/>
              <a:t>—the degree of uncertainty that the project budget will be maintained. </a:t>
            </a:r>
          </a:p>
          <a:p>
            <a:pPr lvl="1" algn="just"/>
            <a:r>
              <a:rPr lang="en-US" b="1" dirty="0"/>
              <a:t>Support risk</a:t>
            </a:r>
            <a:r>
              <a:rPr lang="en-US" dirty="0"/>
              <a:t>—the degree of uncertainty that the resultant software will be easy to correct, adapt, and enhance. </a:t>
            </a:r>
          </a:p>
          <a:p>
            <a:pPr lvl="1" algn="just"/>
            <a:r>
              <a:rPr lang="en-US" b="1" dirty="0"/>
              <a:t>Schedule risk</a:t>
            </a:r>
            <a:r>
              <a:rPr lang="en-US" dirty="0"/>
              <a:t>—the degree of uncertainty that the project schedule will be maintained and that the product will be delivered on time</a:t>
            </a:r>
          </a:p>
        </p:txBody>
      </p:sp>
    </p:spTree>
    <p:extLst>
      <p:ext uri="{BB962C8B-B14F-4D97-AF65-F5344CB8AC3E}">
        <p14:creationId xmlns:p14="http://schemas.microsoft.com/office/powerpoint/2010/main" val="30038939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21500" y="119285"/>
            <a:ext cx="8911687" cy="1280890"/>
          </a:xfrm>
        </p:spPr>
        <p:txBody>
          <a:bodyPr/>
          <a:lstStyle/>
          <a:p>
            <a:r>
              <a:rPr lang="en-US" dirty="0"/>
              <a:t>Impact Assessment</a:t>
            </a:r>
          </a:p>
        </p:txBody>
      </p:sp>
      <p:pic>
        <p:nvPicPr>
          <p:cNvPr id="4" name="Content Placeholder 3"/>
          <p:cNvPicPr>
            <a:picLocks noGrp="1" noChangeAspect="1"/>
          </p:cNvPicPr>
          <p:nvPr>
            <p:ph idx="1"/>
          </p:nvPr>
        </p:nvPicPr>
        <p:blipFill>
          <a:blip r:embed="rId2"/>
          <a:stretch>
            <a:fillRect/>
          </a:stretch>
        </p:blipFill>
        <p:spPr>
          <a:xfrm>
            <a:off x="1905001" y="1285875"/>
            <a:ext cx="8724900" cy="5572125"/>
          </a:xfrm>
          <a:prstGeom prst="rect">
            <a:avLst/>
          </a:prstGeom>
        </p:spPr>
      </p:pic>
    </p:spTree>
    <p:extLst>
      <p:ext uri="{BB962C8B-B14F-4D97-AF65-F5344CB8AC3E}">
        <p14:creationId xmlns:p14="http://schemas.microsoft.com/office/powerpoint/2010/main" val="34957918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Projection</a:t>
            </a:r>
          </a:p>
        </p:txBody>
      </p:sp>
      <p:sp>
        <p:nvSpPr>
          <p:cNvPr id="3" name="Content Placeholder 2"/>
          <p:cNvSpPr>
            <a:spLocks noGrp="1"/>
          </p:cNvSpPr>
          <p:nvPr>
            <p:ph idx="1"/>
          </p:nvPr>
        </p:nvSpPr>
        <p:spPr>
          <a:xfrm>
            <a:off x="2038350" y="1562100"/>
            <a:ext cx="9466262" cy="5067300"/>
          </a:xfrm>
        </p:spPr>
        <p:txBody>
          <a:bodyPr>
            <a:normAutofit/>
          </a:bodyPr>
          <a:lstStyle/>
          <a:p>
            <a:pPr algn="just"/>
            <a:r>
              <a:rPr lang="en-US" sz="2400" dirty="0"/>
              <a:t>Risk projection, also called risk estimation, attempts to rate each risk in two ways—the likelihood or probability that the risk is real and the consequences of the problems associated with the risk, should it occur. </a:t>
            </a:r>
          </a:p>
          <a:p>
            <a:pPr algn="just"/>
            <a:r>
              <a:rPr lang="en-US" sz="2400" dirty="0"/>
              <a:t>The project planner, along with other managers and technical staff, performs four risk projection activities: </a:t>
            </a:r>
          </a:p>
          <a:p>
            <a:pPr lvl="1" algn="just"/>
            <a:r>
              <a:rPr lang="en-US" sz="2000" dirty="0"/>
              <a:t>(1) establish a scale that reflects the perceived likelihood of a risk, </a:t>
            </a:r>
          </a:p>
          <a:p>
            <a:pPr lvl="1" algn="just"/>
            <a:r>
              <a:rPr lang="en-US" sz="2000" dirty="0"/>
              <a:t>(2) delineate the consequences of the risk, </a:t>
            </a:r>
          </a:p>
          <a:p>
            <a:pPr lvl="1" algn="just"/>
            <a:r>
              <a:rPr lang="en-US" sz="2000" dirty="0"/>
              <a:t>(3) estimate the impact of the risk on the project and the product, and </a:t>
            </a:r>
          </a:p>
          <a:p>
            <a:pPr lvl="1" algn="just"/>
            <a:r>
              <a:rPr lang="en-US" sz="2000" dirty="0"/>
              <a:t>(4) note the overall accuracy of the risk projection so that there will be no misunderstandings.</a:t>
            </a:r>
          </a:p>
        </p:txBody>
      </p:sp>
    </p:spTree>
    <p:extLst>
      <p:ext uri="{BB962C8B-B14F-4D97-AF65-F5344CB8AC3E}">
        <p14:creationId xmlns:p14="http://schemas.microsoft.com/office/powerpoint/2010/main" val="28288068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Table</a:t>
            </a:r>
          </a:p>
        </p:txBody>
      </p:sp>
      <p:pic>
        <p:nvPicPr>
          <p:cNvPr id="4" name="Content Placeholder 3"/>
          <p:cNvPicPr>
            <a:picLocks noGrp="1" noChangeAspect="1"/>
          </p:cNvPicPr>
          <p:nvPr>
            <p:ph idx="1"/>
          </p:nvPr>
        </p:nvPicPr>
        <p:blipFill>
          <a:blip r:embed="rId2"/>
          <a:stretch>
            <a:fillRect/>
          </a:stretch>
        </p:blipFill>
        <p:spPr>
          <a:xfrm>
            <a:off x="2028825" y="1333499"/>
            <a:ext cx="9277350" cy="5362575"/>
          </a:xfrm>
          <a:prstGeom prst="rect">
            <a:avLst/>
          </a:prstGeom>
        </p:spPr>
      </p:pic>
    </p:spTree>
    <p:extLst>
      <p:ext uri="{BB962C8B-B14F-4D97-AF65-F5344CB8AC3E}">
        <p14:creationId xmlns:p14="http://schemas.microsoft.com/office/powerpoint/2010/main" val="15990362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and Management Concern</a:t>
            </a:r>
          </a:p>
        </p:txBody>
      </p:sp>
      <p:pic>
        <p:nvPicPr>
          <p:cNvPr id="4" name="Content Placeholder 3"/>
          <p:cNvPicPr>
            <a:picLocks noGrp="1" noChangeAspect="1"/>
          </p:cNvPicPr>
          <p:nvPr>
            <p:ph idx="1"/>
          </p:nvPr>
        </p:nvPicPr>
        <p:blipFill>
          <a:blip r:embed="rId2"/>
          <a:stretch>
            <a:fillRect/>
          </a:stretch>
        </p:blipFill>
        <p:spPr>
          <a:xfrm>
            <a:off x="3619500" y="1685925"/>
            <a:ext cx="6219825" cy="5010150"/>
          </a:xfrm>
          <a:prstGeom prst="rect">
            <a:avLst/>
          </a:prstGeom>
        </p:spPr>
      </p:pic>
    </p:spTree>
    <p:extLst>
      <p:ext uri="{BB962C8B-B14F-4D97-AF65-F5344CB8AC3E}">
        <p14:creationId xmlns:p14="http://schemas.microsoft.com/office/powerpoint/2010/main" val="18877353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Assessing the Risk Impact</a:t>
            </a:r>
          </a:p>
        </p:txBody>
      </p:sp>
      <p:sp>
        <p:nvSpPr>
          <p:cNvPr id="3" name="Content Placeholder 2"/>
          <p:cNvSpPr>
            <a:spLocks noGrp="1"/>
          </p:cNvSpPr>
          <p:nvPr>
            <p:ph idx="1"/>
          </p:nvPr>
        </p:nvSpPr>
        <p:spPr>
          <a:xfrm>
            <a:off x="2589211" y="1743075"/>
            <a:ext cx="9117013" cy="4676775"/>
          </a:xfrm>
        </p:spPr>
        <p:txBody>
          <a:bodyPr>
            <a:normAutofit lnSpcReduction="10000"/>
          </a:bodyPr>
          <a:lstStyle/>
          <a:p>
            <a:pPr algn="just"/>
            <a:r>
              <a:rPr lang="en-US" dirty="0"/>
              <a:t>Three factors affect the consequences that are likely if a risk does occur: its nature, its scope, and its timing. </a:t>
            </a:r>
          </a:p>
          <a:p>
            <a:pPr algn="just"/>
            <a:r>
              <a:rPr lang="en-US" dirty="0"/>
              <a:t>The nature of the risk indicates the problems that are likely if it occurs. </a:t>
            </a:r>
          </a:p>
          <a:p>
            <a:pPr algn="just"/>
            <a:r>
              <a:rPr lang="en-US" dirty="0"/>
              <a:t>For example, a poorly defined external interface to customer hardware (a technical risk) will preclude early design and testing and will likely lead to system integration problems late in a project. </a:t>
            </a:r>
          </a:p>
          <a:p>
            <a:pPr algn="just"/>
            <a:r>
              <a:rPr lang="en-US" dirty="0"/>
              <a:t>The scope of a risk combines the severity (just how serious is it?) with its overall distribution (how much of the project will be affected or how many customers are harmed?). </a:t>
            </a:r>
          </a:p>
          <a:p>
            <a:pPr algn="just"/>
            <a:r>
              <a:rPr lang="en-US" dirty="0"/>
              <a:t>Finally, the timing of a risk considers when and for how long the impact will be felt.</a:t>
            </a:r>
          </a:p>
          <a:p>
            <a:pPr algn="just"/>
            <a:r>
              <a:rPr lang="en-US" dirty="0"/>
              <a:t>The overall risk exposure, RE, is determined using the following relationship [HAL98]: RE = P x C</a:t>
            </a:r>
          </a:p>
          <a:p>
            <a:pPr lvl="1" algn="just"/>
            <a:r>
              <a:rPr lang="en-US" dirty="0"/>
              <a:t>where P is the probability of occurrence for a risk, and C is the </a:t>
            </a:r>
            <a:r>
              <a:rPr lang="en-US" dirty="0" err="1"/>
              <a:t>the</a:t>
            </a:r>
            <a:r>
              <a:rPr lang="en-US" dirty="0"/>
              <a:t> cost to the project should the risk occur</a:t>
            </a:r>
          </a:p>
        </p:txBody>
      </p:sp>
    </p:spTree>
    <p:extLst>
      <p:ext uri="{BB962C8B-B14F-4D97-AF65-F5344CB8AC3E}">
        <p14:creationId xmlns:p14="http://schemas.microsoft.com/office/powerpoint/2010/main" val="28449310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125547" y="673098"/>
            <a:ext cx="11761654" cy="5287112"/>
          </a:xfrm>
          <a:prstGeom prst="rect">
            <a:avLst/>
          </a:prstGeom>
        </p:spPr>
      </p:pic>
    </p:spTree>
    <p:extLst>
      <p:ext uri="{BB962C8B-B14F-4D97-AF65-F5344CB8AC3E}">
        <p14:creationId xmlns:p14="http://schemas.microsoft.com/office/powerpoint/2010/main" val="35587610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MITIGATION, MONITORING, AND MANAGEMENT (RMMM Plan)</a:t>
            </a:r>
          </a:p>
        </p:txBody>
      </p:sp>
      <p:sp>
        <p:nvSpPr>
          <p:cNvPr id="3" name="Content Placeholder 2"/>
          <p:cNvSpPr>
            <a:spLocks noGrp="1"/>
          </p:cNvSpPr>
          <p:nvPr>
            <p:ph idx="1"/>
          </p:nvPr>
        </p:nvSpPr>
        <p:spPr/>
        <p:txBody>
          <a:bodyPr/>
          <a:lstStyle/>
          <a:p>
            <a:pPr algn="just"/>
            <a:r>
              <a:rPr lang="en-US" dirty="0"/>
              <a:t>A risk management strategy can be included in the software project plan or the risk management steps can be organized into a separate </a:t>
            </a:r>
            <a:r>
              <a:rPr lang="en-US" b="1" dirty="0"/>
              <a:t>Risk Mitigation, Monitoring and Management Plan. </a:t>
            </a:r>
          </a:p>
          <a:p>
            <a:pPr algn="just"/>
            <a:r>
              <a:rPr lang="en-US" dirty="0"/>
              <a:t>All of the risk analysis activities presented to this point have a single goal—to assist the project team in developing a strategy for dealing with risk. </a:t>
            </a:r>
          </a:p>
          <a:p>
            <a:pPr algn="just"/>
            <a:r>
              <a:rPr lang="en-US" dirty="0"/>
              <a:t>An effective strategy must consider three issues: </a:t>
            </a:r>
          </a:p>
          <a:p>
            <a:pPr lvl="1" algn="just"/>
            <a:r>
              <a:rPr lang="en-US" dirty="0"/>
              <a:t>risk avoidance </a:t>
            </a:r>
          </a:p>
          <a:p>
            <a:pPr lvl="1" algn="just"/>
            <a:r>
              <a:rPr lang="en-US" dirty="0"/>
              <a:t>risk monitoring</a:t>
            </a:r>
          </a:p>
          <a:p>
            <a:pPr lvl="1" algn="just"/>
            <a:r>
              <a:rPr lang="en-US" dirty="0"/>
              <a:t>risk management and contingency planning</a:t>
            </a:r>
          </a:p>
        </p:txBody>
      </p:sp>
    </p:spTree>
    <p:extLst>
      <p:ext uri="{BB962C8B-B14F-4D97-AF65-F5344CB8AC3E}">
        <p14:creationId xmlns:p14="http://schemas.microsoft.com/office/powerpoint/2010/main" val="36577872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Mitigation</a:t>
            </a:r>
          </a:p>
        </p:txBody>
      </p:sp>
      <p:sp>
        <p:nvSpPr>
          <p:cNvPr id="3" name="Content Placeholder 2"/>
          <p:cNvSpPr>
            <a:spLocks noGrp="1"/>
          </p:cNvSpPr>
          <p:nvPr>
            <p:ph idx="1"/>
          </p:nvPr>
        </p:nvSpPr>
        <p:spPr/>
        <p:txBody>
          <a:bodyPr/>
          <a:lstStyle/>
          <a:p>
            <a:pPr fontAlgn="base"/>
            <a:r>
              <a:rPr lang="en-US" dirty="0"/>
              <a:t>It is an activity used to avoid problems (Risk Avoidance). </a:t>
            </a:r>
            <a:br>
              <a:rPr lang="en-US" dirty="0"/>
            </a:br>
            <a:endParaRPr lang="en-US" dirty="0"/>
          </a:p>
          <a:p>
            <a:pPr fontAlgn="base"/>
            <a:r>
              <a:rPr lang="en-US" dirty="0"/>
              <a:t>Steps for mitigating the risks as follows. </a:t>
            </a:r>
          </a:p>
          <a:p>
            <a:pPr lvl="1" fontAlgn="base"/>
            <a:r>
              <a:rPr lang="en-US" dirty="0"/>
              <a:t>Finding out the risk. </a:t>
            </a:r>
          </a:p>
          <a:p>
            <a:pPr lvl="1" fontAlgn="base"/>
            <a:r>
              <a:rPr lang="en-US" dirty="0"/>
              <a:t>Removing causes that are the reason for risk creation. </a:t>
            </a:r>
          </a:p>
          <a:p>
            <a:pPr lvl="1" fontAlgn="base"/>
            <a:r>
              <a:rPr lang="en-US" dirty="0"/>
              <a:t>Controlling the corresponding documents from time to time. </a:t>
            </a:r>
          </a:p>
          <a:p>
            <a:pPr lvl="1" fontAlgn="base"/>
            <a:r>
              <a:rPr lang="en-US" dirty="0"/>
              <a:t>Conducting timely reviews to speed up the work.</a:t>
            </a:r>
          </a:p>
          <a:p>
            <a:endParaRPr lang="en-US" dirty="0"/>
          </a:p>
        </p:txBody>
      </p:sp>
    </p:spTree>
    <p:extLst>
      <p:ext uri="{BB962C8B-B14F-4D97-AF65-F5344CB8AC3E}">
        <p14:creationId xmlns:p14="http://schemas.microsoft.com/office/powerpoint/2010/main" val="7511819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Monitoring</a:t>
            </a:r>
            <a:r>
              <a:rPr lang="en-US" b="1" dirty="0"/>
              <a:t> </a:t>
            </a:r>
            <a:endParaRPr lang="en-US" dirty="0"/>
          </a:p>
        </p:txBody>
      </p:sp>
      <p:sp>
        <p:nvSpPr>
          <p:cNvPr id="3" name="Content Placeholder 2"/>
          <p:cNvSpPr>
            <a:spLocks noGrp="1"/>
          </p:cNvSpPr>
          <p:nvPr>
            <p:ph idx="1"/>
          </p:nvPr>
        </p:nvSpPr>
        <p:spPr/>
        <p:txBody>
          <a:bodyPr/>
          <a:lstStyle/>
          <a:p>
            <a:pPr fontAlgn="base"/>
            <a:r>
              <a:rPr lang="en-US" dirty="0"/>
              <a:t>It is an activity used for project tracking. </a:t>
            </a:r>
            <a:br>
              <a:rPr lang="en-US" dirty="0"/>
            </a:br>
            <a:endParaRPr lang="en-US" dirty="0"/>
          </a:p>
          <a:p>
            <a:pPr fontAlgn="base"/>
            <a:r>
              <a:rPr lang="en-US" dirty="0"/>
              <a:t>It has the following primary objectives as follows. </a:t>
            </a:r>
            <a:br>
              <a:rPr lang="en-US" dirty="0"/>
            </a:br>
            <a:r>
              <a:rPr lang="en-US" dirty="0"/>
              <a:t> </a:t>
            </a:r>
          </a:p>
          <a:p>
            <a:pPr lvl="1" fontAlgn="base"/>
            <a:r>
              <a:rPr lang="en-US" dirty="0"/>
              <a:t>To check if predicted risks occur or not. </a:t>
            </a:r>
          </a:p>
          <a:p>
            <a:pPr lvl="1" fontAlgn="base"/>
            <a:r>
              <a:rPr lang="en-US" dirty="0"/>
              <a:t>To ensure proper application of risk aversion steps defined for risk. </a:t>
            </a:r>
          </a:p>
          <a:p>
            <a:pPr lvl="1" fontAlgn="base"/>
            <a:r>
              <a:rPr lang="en-US" dirty="0"/>
              <a:t>To collect data for future risk analysis. </a:t>
            </a:r>
          </a:p>
          <a:p>
            <a:pPr lvl="1" fontAlgn="base"/>
            <a:r>
              <a:rPr lang="en-US" dirty="0"/>
              <a:t>To allocate what problems are caused by which risks throughout the project.</a:t>
            </a:r>
          </a:p>
          <a:p>
            <a:endParaRPr lang="en-US" dirty="0"/>
          </a:p>
        </p:txBody>
      </p:sp>
    </p:spTree>
    <p:extLst>
      <p:ext uri="{BB962C8B-B14F-4D97-AF65-F5344CB8AC3E}">
        <p14:creationId xmlns:p14="http://schemas.microsoft.com/office/powerpoint/2010/main" val="37037826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Management and planning </a:t>
            </a:r>
          </a:p>
        </p:txBody>
      </p:sp>
      <p:sp>
        <p:nvSpPr>
          <p:cNvPr id="3" name="Content Placeholder 2"/>
          <p:cNvSpPr>
            <a:spLocks noGrp="1"/>
          </p:cNvSpPr>
          <p:nvPr>
            <p:ph idx="1"/>
          </p:nvPr>
        </p:nvSpPr>
        <p:spPr/>
        <p:txBody>
          <a:bodyPr/>
          <a:lstStyle/>
          <a:p>
            <a:pPr algn="just"/>
            <a:r>
              <a:rPr lang="en-US" dirty="0"/>
              <a:t>It assumes that the mitigation activity failed and the risk is a reality. </a:t>
            </a:r>
          </a:p>
          <a:p>
            <a:pPr algn="just"/>
            <a:r>
              <a:rPr lang="en-US" dirty="0"/>
              <a:t>This task is done by Project manager when risk becomes reality and causes severe problems. </a:t>
            </a:r>
          </a:p>
          <a:p>
            <a:pPr algn="just"/>
            <a:r>
              <a:rPr lang="en-US" dirty="0"/>
              <a:t>If the project manager effectively uses project mitigation to remove risks successfully then it is easier to manage the risks. </a:t>
            </a:r>
          </a:p>
          <a:p>
            <a:pPr algn="just"/>
            <a:r>
              <a:rPr lang="en-US" dirty="0"/>
              <a:t>This shows that the response that will be taken for each risk by a manager. </a:t>
            </a:r>
          </a:p>
          <a:p>
            <a:pPr algn="just"/>
            <a:r>
              <a:rPr lang="en-US" dirty="0"/>
              <a:t>The main objective of the risk management plan is the risk register. </a:t>
            </a:r>
          </a:p>
          <a:p>
            <a:pPr algn="just"/>
            <a:r>
              <a:rPr lang="en-US" dirty="0"/>
              <a:t>This risk register describes and focuses on the predicted threats to a software project.</a:t>
            </a:r>
          </a:p>
        </p:txBody>
      </p:sp>
    </p:spTree>
    <p:extLst>
      <p:ext uri="{BB962C8B-B14F-4D97-AF65-F5344CB8AC3E}">
        <p14:creationId xmlns:p14="http://schemas.microsoft.com/office/powerpoint/2010/main" val="29357061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RMMM for high staff turnover?</a:t>
            </a:r>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24866674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476250"/>
            <a:ext cx="8915400" cy="6153150"/>
          </a:xfrm>
        </p:spPr>
        <p:txBody>
          <a:bodyPr>
            <a:normAutofit fontScale="92500" lnSpcReduction="20000"/>
          </a:bodyPr>
          <a:lstStyle/>
          <a:p>
            <a:pPr algn="just" fontAlgn="base"/>
            <a:r>
              <a:rPr lang="en-US" b="1" dirty="0"/>
              <a:t>Risk Mitigation:</a:t>
            </a:r>
            <a:endParaRPr lang="en-US" dirty="0"/>
          </a:p>
          <a:p>
            <a:pPr lvl="1" algn="just" fontAlgn="base"/>
            <a:r>
              <a:rPr lang="en-US" dirty="0"/>
              <a:t>To mitigate this risk, project management must develop a strategy for reducing turnover. The possible steps to be taken are:</a:t>
            </a:r>
          </a:p>
          <a:p>
            <a:pPr lvl="1" algn="just" fontAlgn="base"/>
            <a:r>
              <a:rPr lang="en-US" dirty="0"/>
              <a:t>Meet the current staff to determine causes for turnover (e.g., poor working conditions, low pay, competitive job market).</a:t>
            </a:r>
          </a:p>
          <a:p>
            <a:pPr lvl="1" algn="just" fontAlgn="base"/>
            <a:r>
              <a:rPr lang="en-US" dirty="0"/>
              <a:t>Mitigate those causes that are under our control before the project starts.</a:t>
            </a:r>
          </a:p>
          <a:p>
            <a:pPr lvl="1" algn="just" fontAlgn="base"/>
            <a:r>
              <a:rPr lang="en-US" dirty="0"/>
              <a:t>Once the project commences, assume turnover will occur and develop techniques to ensure continuity when people leave.</a:t>
            </a:r>
          </a:p>
          <a:p>
            <a:pPr lvl="1" algn="just" fontAlgn="base"/>
            <a:r>
              <a:rPr lang="en-US" dirty="0"/>
              <a:t>Organize project teams so that information about each development activity is widely dispersed.</a:t>
            </a:r>
          </a:p>
          <a:p>
            <a:pPr lvl="1" algn="just" fontAlgn="base"/>
            <a:r>
              <a:rPr lang="en-US" dirty="0"/>
              <a:t>Define documentation standards and establish mechanisms to ensure that documents are developed in a timely manner.</a:t>
            </a:r>
          </a:p>
          <a:p>
            <a:pPr lvl="1" algn="just" fontAlgn="base"/>
            <a:r>
              <a:rPr lang="en-US" dirty="0"/>
              <a:t>Assign a backup staff member for every critical technologist.</a:t>
            </a:r>
          </a:p>
          <a:p>
            <a:pPr algn="just" fontAlgn="base"/>
            <a:r>
              <a:rPr lang="en-US" b="1" dirty="0"/>
              <a:t>Risk Monitoring:</a:t>
            </a:r>
            <a:endParaRPr lang="en-US" dirty="0"/>
          </a:p>
          <a:p>
            <a:pPr algn="just" fontAlgn="base"/>
            <a:r>
              <a:rPr lang="en-US" dirty="0"/>
              <a:t>As the project proceeds, risk monitoring activities commence. The project manager monitors factors that may provide an indication of whether the risk is becoming more or less likely. In the case of high staff turnover, the following factors can be monitored:</a:t>
            </a:r>
          </a:p>
          <a:p>
            <a:pPr lvl="1" algn="just" fontAlgn="base"/>
            <a:r>
              <a:rPr lang="en-US" dirty="0"/>
              <a:t>General attitude of team members based on project pressures.</a:t>
            </a:r>
          </a:p>
          <a:p>
            <a:pPr lvl="1" algn="just" fontAlgn="base"/>
            <a:r>
              <a:rPr lang="en-US" dirty="0"/>
              <a:t>Interpersonal relationships among team members.</a:t>
            </a:r>
          </a:p>
          <a:p>
            <a:pPr lvl="1" algn="just" fontAlgn="base"/>
            <a:r>
              <a:rPr lang="en-US" dirty="0"/>
              <a:t>Potential problems with compensation and benefits.</a:t>
            </a:r>
          </a:p>
          <a:p>
            <a:pPr lvl="1" algn="just" fontAlgn="base"/>
            <a:r>
              <a:rPr lang="en-US" dirty="0"/>
              <a:t>The availability of jobs within the company and outside it.</a:t>
            </a:r>
          </a:p>
          <a:p>
            <a:pPr algn="just" fontAlgn="base"/>
            <a:endParaRPr lang="en-US" dirty="0"/>
          </a:p>
          <a:p>
            <a:pPr algn="just"/>
            <a:endParaRPr lang="en-US" dirty="0"/>
          </a:p>
        </p:txBody>
      </p:sp>
    </p:spTree>
    <p:extLst>
      <p:ext uri="{BB962C8B-B14F-4D97-AF65-F5344CB8AC3E}">
        <p14:creationId xmlns:p14="http://schemas.microsoft.com/office/powerpoint/2010/main" val="35479562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504825"/>
            <a:ext cx="8915400" cy="5406397"/>
          </a:xfrm>
        </p:spPr>
        <p:txBody>
          <a:bodyPr>
            <a:normAutofit lnSpcReduction="10000"/>
          </a:bodyPr>
          <a:lstStyle/>
          <a:p>
            <a:pPr algn="just" fontAlgn="base"/>
            <a:r>
              <a:rPr lang="en-US" b="1" dirty="0"/>
              <a:t>Risk Management:</a:t>
            </a:r>
            <a:endParaRPr lang="en-US" dirty="0"/>
          </a:p>
          <a:p>
            <a:pPr lvl="1" algn="just" fontAlgn="base"/>
            <a:r>
              <a:rPr lang="en-US" dirty="0"/>
              <a:t>Risk management and contingency planning assumes that mitigation efforts have failed and that the risk has become a reality.</a:t>
            </a:r>
          </a:p>
          <a:p>
            <a:pPr lvl="1" algn="just" fontAlgn="base"/>
            <a:r>
              <a:rPr lang="en-US" dirty="0"/>
              <a:t>Continuing the example, the project is well underway, and a number of people announce that they will be leaving. </a:t>
            </a:r>
          </a:p>
          <a:p>
            <a:pPr lvl="1" algn="just" fontAlgn="base"/>
            <a:r>
              <a:rPr lang="en-US" dirty="0"/>
              <a:t>If the mitigation strategy has been followed, backup is available, information is documented, and knowledge has been dispersed across the team. </a:t>
            </a:r>
          </a:p>
          <a:p>
            <a:pPr lvl="1" algn="just" fontAlgn="base"/>
            <a:r>
              <a:rPr lang="en-US" dirty="0"/>
              <a:t>In addition, the project manager may temporarily refocus resources (and readjust the project schedule) to those functions that are fully staffed, enabling newcomers who must be added to the team to “get up to the speed</a:t>
            </a:r>
            <a:r>
              <a:rPr lang="en-US" b="1" dirty="0"/>
              <a:t>“.</a:t>
            </a:r>
            <a:endParaRPr lang="en-US" dirty="0"/>
          </a:p>
          <a:p>
            <a:pPr fontAlgn="base"/>
            <a:r>
              <a:rPr lang="en-US" b="1" dirty="0"/>
              <a:t>Drawbacks of RMMM:</a:t>
            </a:r>
            <a:endParaRPr lang="en-US" dirty="0"/>
          </a:p>
          <a:p>
            <a:pPr lvl="1" fontAlgn="base"/>
            <a:r>
              <a:rPr lang="en-US" dirty="0"/>
              <a:t>It incurs additional project costs.</a:t>
            </a:r>
          </a:p>
          <a:p>
            <a:pPr lvl="1" fontAlgn="base"/>
            <a:r>
              <a:rPr lang="en-US" dirty="0"/>
              <a:t>It takes additional time.</a:t>
            </a:r>
          </a:p>
          <a:p>
            <a:pPr lvl="1" fontAlgn="base"/>
            <a:r>
              <a:rPr lang="en-US" dirty="0"/>
              <a:t>For larger projects, implementing an RMMM may itself turn out to be another tedious project.</a:t>
            </a:r>
          </a:p>
          <a:p>
            <a:pPr lvl="1" fontAlgn="base"/>
            <a:r>
              <a:rPr lang="en-US" dirty="0"/>
              <a:t>RMMM does not guarantee a risk-free project, </a:t>
            </a:r>
            <a:r>
              <a:rPr lang="en-US" dirty="0" err="1"/>
              <a:t>infact</a:t>
            </a:r>
            <a:r>
              <a:rPr lang="en-US" dirty="0"/>
              <a:t>, risks may also come up after the project is delivered.</a:t>
            </a:r>
          </a:p>
          <a:p>
            <a:pPr algn="just"/>
            <a:endParaRPr lang="en-US" dirty="0"/>
          </a:p>
        </p:txBody>
      </p:sp>
    </p:spTree>
    <p:extLst>
      <p:ext uri="{BB962C8B-B14F-4D97-AF65-F5344CB8AC3E}">
        <p14:creationId xmlns:p14="http://schemas.microsoft.com/office/powerpoint/2010/main" val="16193623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5" name="Picture 4"/>
          <p:cNvPicPr>
            <a:picLocks noChangeAspect="1"/>
          </p:cNvPicPr>
          <p:nvPr/>
        </p:nvPicPr>
        <p:blipFill>
          <a:blip r:embed="rId2"/>
          <a:stretch>
            <a:fillRect/>
          </a:stretch>
        </p:blipFill>
        <p:spPr>
          <a:xfrm>
            <a:off x="2804160" y="0"/>
            <a:ext cx="7030402" cy="6751320"/>
          </a:xfrm>
          <a:prstGeom prst="rect">
            <a:avLst/>
          </a:prstGeom>
        </p:spPr>
      </p:pic>
    </p:spTree>
    <p:extLst>
      <p:ext uri="{BB962C8B-B14F-4D97-AF65-F5344CB8AC3E}">
        <p14:creationId xmlns:p14="http://schemas.microsoft.com/office/powerpoint/2010/main" val="316283974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5178</TotalTime>
  <Words>2201</Words>
  <Application>Microsoft Macintosh PowerPoint</Application>
  <PresentationFormat>Widescreen</PresentationFormat>
  <Paragraphs>149</Paragraphs>
  <Slides>33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Century Gothic</vt:lpstr>
      <vt:lpstr>Wingdings 3</vt:lpstr>
      <vt:lpstr>Wisp</vt:lpstr>
      <vt:lpstr>Risk Management</vt:lpstr>
      <vt:lpstr>Risk</vt:lpstr>
      <vt:lpstr>Risks</vt:lpstr>
      <vt:lpstr>PowerPoint Presentation</vt:lpstr>
      <vt:lpstr>PowerPoint Presentation</vt:lpstr>
      <vt:lpstr>PowerPoint Presentation</vt:lpstr>
      <vt:lpstr>Categorization of Risks</vt:lpstr>
      <vt:lpstr>PowerPoint Presentation</vt:lpstr>
      <vt:lpstr>Risk Management Process</vt:lpstr>
      <vt:lpstr>Risk Identification</vt:lpstr>
      <vt:lpstr>Generic Risk Identification </vt:lpstr>
      <vt:lpstr>PowerPoint Presentation</vt:lpstr>
      <vt:lpstr>PowerPoint Presentation</vt:lpstr>
      <vt:lpstr>Risk Analysis</vt:lpstr>
      <vt:lpstr>PowerPoint Presentation</vt:lpstr>
      <vt:lpstr>Risk Planning</vt:lpstr>
      <vt:lpstr>PowerPoint Presentation</vt:lpstr>
      <vt:lpstr>Risk Monitoring</vt:lpstr>
      <vt:lpstr>Risk Components</vt:lpstr>
      <vt:lpstr>Impact Assessment</vt:lpstr>
      <vt:lpstr>Risk Projection</vt:lpstr>
      <vt:lpstr>Risk Table</vt:lpstr>
      <vt:lpstr>Risk and Management Concern</vt:lpstr>
      <vt:lpstr>Assessing the Risk Impact</vt:lpstr>
      <vt:lpstr>PowerPoint Presentation</vt:lpstr>
      <vt:lpstr>RISK MITIGATION, MONITORING, AND MANAGEMENT (RMMM Plan)</vt:lpstr>
      <vt:lpstr>Risk Mitigation</vt:lpstr>
      <vt:lpstr>Risk Monitoring </vt:lpstr>
      <vt:lpstr>Risk Management and planning </vt:lpstr>
      <vt:lpstr>RMMM for high staff turnover?</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Management</dc:title>
  <dc:creator>dell</dc:creator>
  <cp:lastModifiedBy>Apoorva Karnwal</cp:lastModifiedBy>
  <cp:revision>33</cp:revision>
  <dcterms:created xsi:type="dcterms:W3CDTF">2025-03-07T10:46:23Z</dcterms:created>
  <dcterms:modified xsi:type="dcterms:W3CDTF">2025-03-26T14:17:08Z</dcterms:modified>
</cp:coreProperties>
</file>