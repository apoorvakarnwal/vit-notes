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103"/>
  </p:notesMasterIdLst>
  <p:handoutMasterIdLst>
    <p:handoutMasterId r:id="rId104"/>
  </p:handoutMasterIdLst>
  <p:sldIdLst>
    <p:sldId id="256" r:id="rId2"/>
    <p:sldId id="401" r:id="rId3"/>
    <p:sldId id="404" r:id="rId4"/>
    <p:sldId id="277" r:id="rId5"/>
    <p:sldId id="278" r:id="rId6"/>
    <p:sldId id="279" r:id="rId7"/>
    <p:sldId id="280" r:id="rId8"/>
    <p:sldId id="257" r:id="rId9"/>
    <p:sldId id="258" r:id="rId10"/>
    <p:sldId id="378" r:id="rId11"/>
    <p:sldId id="402" r:id="rId12"/>
    <p:sldId id="380" r:id="rId13"/>
    <p:sldId id="381" r:id="rId14"/>
    <p:sldId id="351" r:id="rId15"/>
    <p:sldId id="281" r:id="rId16"/>
    <p:sldId id="282" r:id="rId17"/>
    <p:sldId id="405" r:id="rId18"/>
    <p:sldId id="403" r:id="rId19"/>
    <p:sldId id="285" r:id="rId20"/>
    <p:sldId id="286" r:id="rId21"/>
    <p:sldId id="287" r:id="rId22"/>
    <p:sldId id="406" r:id="rId23"/>
    <p:sldId id="259" r:id="rId24"/>
    <p:sldId id="310" r:id="rId25"/>
    <p:sldId id="288" r:id="rId26"/>
    <p:sldId id="260" r:id="rId27"/>
    <p:sldId id="289" r:id="rId28"/>
    <p:sldId id="311" r:id="rId29"/>
    <p:sldId id="261" r:id="rId30"/>
    <p:sldId id="407" r:id="rId31"/>
    <p:sldId id="408" r:id="rId32"/>
    <p:sldId id="353" r:id="rId33"/>
    <p:sldId id="302" r:id="rId34"/>
    <p:sldId id="269" r:id="rId35"/>
    <p:sldId id="409" r:id="rId36"/>
    <p:sldId id="382" r:id="rId37"/>
    <p:sldId id="303" r:id="rId38"/>
    <p:sldId id="333" r:id="rId39"/>
    <p:sldId id="304" r:id="rId40"/>
    <p:sldId id="270" r:id="rId41"/>
    <p:sldId id="340" r:id="rId42"/>
    <p:sldId id="335" r:id="rId43"/>
    <p:sldId id="410" r:id="rId44"/>
    <p:sldId id="336" r:id="rId45"/>
    <p:sldId id="345" r:id="rId46"/>
    <p:sldId id="383" r:id="rId47"/>
    <p:sldId id="413" r:id="rId48"/>
    <p:sldId id="414" r:id="rId49"/>
    <p:sldId id="415" r:id="rId50"/>
    <p:sldId id="416" r:id="rId51"/>
    <p:sldId id="411" r:id="rId52"/>
    <p:sldId id="412" r:id="rId53"/>
    <p:sldId id="417" r:id="rId54"/>
    <p:sldId id="384" r:id="rId55"/>
    <p:sldId id="385" r:id="rId56"/>
    <p:sldId id="386" r:id="rId57"/>
    <p:sldId id="387" r:id="rId58"/>
    <p:sldId id="346" r:id="rId59"/>
    <p:sldId id="398" r:id="rId60"/>
    <p:sldId id="395" r:id="rId61"/>
    <p:sldId id="396" r:id="rId62"/>
    <p:sldId id="397" r:id="rId63"/>
    <p:sldId id="358" r:id="rId64"/>
    <p:sldId id="365" r:id="rId65"/>
    <p:sldId id="366" r:id="rId66"/>
    <p:sldId id="367" r:id="rId67"/>
    <p:sldId id="368" r:id="rId68"/>
    <p:sldId id="369" r:id="rId69"/>
    <p:sldId id="370" r:id="rId70"/>
    <p:sldId id="371" r:id="rId71"/>
    <p:sldId id="372" r:id="rId72"/>
    <p:sldId id="373" r:id="rId73"/>
    <p:sldId id="374" r:id="rId74"/>
    <p:sldId id="375" r:id="rId75"/>
    <p:sldId id="376" r:id="rId76"/>
    <p:sldId id="377" r:id="rId77"/>
    <p:sldId id="388" r:id="rId78"/>
    <p:sldId id="389" r:id="rId79"/>
    <p:sldId id="390" r:id="rId80"/>
    <p:sldId id="391" r:id="rId81"/>
    <p:sldId id="392" r:id="rId82"/>
    <p:sldId id="393" r:id="rId83"/>
    <p:sldId id="394" r:id="rId84"/>
    <p:sldId id="356" r:id="rId85"/>
    <p:sldId id="295" r:id="rId86"/>
    <p:sldId id="296" r:id="rId87"/>
    <p:sldId id="297" r:id="rId88"/>
    <p:sldId id="298" r:id="rId89"/>
    <p:sldId id="299" r:id="rId90"/>
    <p:sldId id="355" r:id="rId91"/>
    <p:sldId id="347" r:id="rId92"/>
    <p:sldId id="348" r:id="rId93"/>
    <p:sldId id="274" r:id="rId94"/>
    <p:sldId id="399" r:id="rId95"/>
    <p:sldId id="349" r:id="rId96"/>
    <p:sldId id="350" r:id="rId97"/>
    <p:sldId id="275" r:id="rId98"/>
    <p:sldId id="352" r:id="rId99"/>
    <p:sldId id="354" r:id="rId100"/>
    <p:sldId id="400" r:id="rId101"/>
    <p:sldId id="309" r:id="rId102"/>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89"/>
    <p:restoredTop sz="94694"/>
  </p:normalViewPr>
  <p:slideViewPr>
    <p:cSldViewPr snapToObjects="1">
      <p:cViewPr varScale="1">
        <p:scale>
          <a:sx n="104" d="100"/>
          <a:sy n="104" d="100"/>
        </p:scale>
        <p:origin x="208" y="568"/>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5/7/25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5/7/25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2</a:t>
            </a:fld>
            <a:endParaRPr lang="en-US"/>
          </a:p>
        </p:txBody>
      </p:sp>
    </p:spTree>
    <p:extLst>
      <p:ext uri="{BB962C8B-B14F-4D97-AF65-F5344CB8AC3E}">
        <p14:creationId xmlns:p14="http://schemas.microsoft.com/office/powerpoint/2010/main" val="184457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94</a:t>
            </a:fld>
            <a:endParaRPr lang="en-US"/>
          </a:p>
        </p:txBody>
      </p:sp>
    </p:spTree>
    <p:extLst>
      <p:ext uri="{BB962C8B-B14F-4D97-AF65-F5344CB8AC3E}">
        <p14:creationId xmlns:p14="http://schemas.microsoft.com/office/powerpoint/2010/main" val="1576909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pPr>
              <a:defRPr/>
            </a:pPr>
            <a:fld id="{460DBBD1-181E-744E-89E7-45F0EE4D9123}" type="slidenum">
              <a:rPr lang="en-US" smtClean="0"/>
              <a:pPr>
                <a:defRPr/>
              </a:pPr>
              <a:t>96</a:t>
            </a:fld>
            <a:endParaRPr lang="en-US"/>
          </a:p>
        </p:txBody>
      </p:sp>
    </p:spTree>
    <p:extLst>
      <p:ext uri="{BB962C8B-B14F-4D97-AF65-F5344CB8AC3E}">
        <p14:creationId xmlns:p14="http://schemas.microsoft.com/office/powerpoint/2010/main" val="841652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E82D686-5E51-48F8-9F8F-949F26672C1B}" type="datetime1">
              <a:rPr lang="en-US" smtClean="0"/>
              <a:t>5/7/25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A2ADFCB8-7A36-4528-9F99-12F656E21A83}" type="datetime1">
              <a:rPr lang="en-US" smtClean="0"/>
              <a:t>5/7/25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9DE6BA79-F905-446E-9323-6912FAA608EE}" type="datetime1">
              <a:rPr lang="en-US" smtClean="0"/>
              <a:t>5/7/25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205B10AB-8F64-4CC4-9C30-62E00BFB29B0}" type="datetime1">
              <a:rPr lang="en-US" smtClean="0"/>
              <a:t>5/7/25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ACC06FF1-6379-4F84-B7AE-4318E2C9EEBA}" type="datetime1">
              <a:rPr lang="en-US" smtClean="0"/>
              <a:t>5/7/25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A2F3A50B-DDB2-44DA-89D2-EA1A4D2447A2}" type="datetime1">
              <a:rPr lang="en-US" smtClean="0"/>
              <a:t>5/7/25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8DC42B-33AC-4B75-8CF4-3C118BD93D76}" type="datetime1">
              <a:rPr lang="en-US" smtClean="0"/>
              <a:t>5/7/25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CD818802-C637-4AF1-B119-3B9608D18E91}" type="datetime1">
              <a:rPr lang="en-US" smtClean="0"/>
              <a:t>5/7/25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4B0F0960-4683-4C95-A00D-6DA6C05529D9}" type="datetime1">
              <a:rPr lang="en-US" smtClean="0"/>
              <a:t>5/7/25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42BC8520-BC45-49F8-8E68-8D521DA5713E}" type="datetime1">
              <a:rPr lang="en-US" smtClean="0"/>
              <a:t>5/7/25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09CA765E-2CBA-40E7-9FDC-B11461DDAE02}" type="datetime1">
              <a:rPr lang="en-US" smtClean="0"/>
              <a:t>5/7/25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4 Requirements Engineering</a:t>
            </a:r>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3B530CBD-9FF6-4571-B19C-CEF2C707E30D}" type="datetime1">
              <a:rPr lang="en-US" smtClean="0"/>
              <a:t>5/7/25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4 Requirements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hf hdr="0" ft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package" Target="../embeddings/Microsoft_Word_Document1.docx"/><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a:t>Module 3</a:t>
            </a:r>
            <a:br>
              <a:rPr lang="en-US" dirty="0"/>
            </a:br>
            <a:r>
              <a:rPr lang="en-US" dirty="0"/>
              <a:t>Requirements Engineering</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fld id="{64DC0642-A7CC-4187-911C-DD1DEC2A0CA3}" type="datetime1">
              <a:rPr lang="en-US" smtClean="0"/>
              <a:t>5/7/25</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(Module 3)</a:t>
            </a:r>
          </a:p>
        </p:txBody>
      </p:sp>
      <p:sp>
        <p:nvSpPr>
          <p:cNvPr id="3" name="Content Placeholder 2"/>
          <p:cNvSpPr>
            <a:spLocks noGrp="1"/>
          </p:cNvSpPr>
          <p:nvPr>
            <p:ph idx="1"/>
          </p:nvPr>
        </p:nvSpPr>
        <p:spPr/>
        <p:txBody>
          <a:bodyPr/>
          <a:lstStyle/>
          <a:p>
            <a:r>
              <a:rPr lang="en-US" dirty="0"/>
              <a:t>Software requirements and its types, </a:t>
            </a:r>
          </a:p>
          <a:p>
            <a:r>
              <a:rPr lang="en-US" dirty="0"/>
              <a:t>Requirements Engineering process, </a:t>
            </a:r>
          </a:p>
          <a:p>
            <a:r>
              <a:rPr lang="en-US" dirty="0"/>
              <a:t>Requirement Elicitation, </a:t>
            </a:r>
          </a:p>
          <a:p>
            <a:r>
              <a:rPr lang="en-US" dirty="0"/>
              <a:t>System Modeling – Requirements Specification and Requirement Validation, </a:t>
            </a:r>
          </a:p>
          <a:p>
            <a:r>
              <a:rPr lang="en-US" dirty="0"/>
              <a:t>Requirements Elicitation techniques, </a:t>
            </a:r>
          </a:p>
          <a:p>
            <a:r>
              <a:rPr lang="en-US" dirty="0"/>
              <a:t>Requirements management in Agile.</a:t>
            </a:r>
          </a:p>
        </p:txBody>
      </p:sp>
      <p:sp>
        <p:nvSpPr>
          <p:cNvPr id="4" name="Date Placeholder 3"/>
          <p:cNvSpPr>
            <a:spLocks noGrp="1"/>
          </p:cNvSpPr>
          <p:nvPr>
            <p:ph type="dt" sz="half" idx="10"/>
          </p:nvPr>
        </p:nvSpPr>
        <p:spPr/>
        <p:txBody>
          <a:bodyPr/>
          <a:lstStyle/>
          <a:p>
            <a:pPr>
              <a:defRPr/>
            </a:pPr>
            <a:fld id="{4A4BA4F4-D0B1-40FB-9A0C-F6519CBC3048}" type="datetime1">
              <a:rPr lang="en-US" smtClean="0"/>
              <a:t>5/7/25</a:t>
            </a:fld>
            <a:endParaRPr lang="en-US"/>
          </a:p>
        </p:txBody>
      </p:sp>
      <p:sp>
        <p:nvSpPr>
          <p:cNvPr id="6" name="Slide Number Placeholder 5"/>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Tree>
    <p:extLst>
      <p:ext uri="{BB962C8B-B14F-4D97-AF65-F5344CB8AC3E}">
        <p14:creationId xmlns:p14="http://schemas.microsoft.com/office/powerpoint/2010/main" val="3448860201"/>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Requirements</a:t>
            </a:r>
          </a:p>
        </p:txBody>
      </p:sp>
      <p:sp>
        <p:nvSpPr>
          <p:cNvPr id="3" name="Content Placeholder 2"/>
          <p:cNvSpPr>
            <a:spLocks noGrp="1"/>
          </p:cNvSpPr>
          <p:nvPr>
            <p:ph idx="1"/>
          </p:nvPr>
        </p:nvSpPr>
        <p:spPr/>
        <p:txBody>
          <a:bodyPr/>
          <a:lstStyle/>
          <a:p>
            <a:pPr algn="just"/>
            <a:r>
              <a:rPr lang="en-US" dirty="0"/>
              <a:t>A condition or capability needed by a user to solve a problem or achieve an objective</a:t>
            </a:r>
          </a:p>
          <a:p>
            <a:pPr algn="just"/>
            <a:r>
              <a:rPr lang="en-US" dirty="0"/>
              <a:t>A condition or capability that must be met or possessed by a system or system component to satisfy a contract, standard, specification or other formally imposed documents</a:t>
            </a:r>
          </a:p>
          <a:p>
            <a:pPr algn="just"/>
            <a:r>
              <a:rPr lang="en-US" dirty="0"/>
              <a:t>A documented representation of a condition or capability, as in 1 and 2.</a:t>
            </a:r>
          </a:p>
          <a:p>
            <a:pPr algn="just"/>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Tree>
    <p:extLst>
      <p:ext uri="{BB962C8B-B14F-4D97-AF65-F5344CB8AC3E}">
        <p14:creationId xmlns:p14="http://schemas.microsoft.com/office/powerpoint/2010/main" val="127186334"/>
      </p:ext>
    </p:extLst>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pPr algn="just"/>
            <a:r>
              <a:rPr lang="en-GB" dirty="0"/>
              <a:t>The process of establishing the services:</a:t>
            </a:r>
          </a:p>
          <a:p>
            <a:pPr lvl="1" algn="just"/>
            <a:r>
              <a:rPr lang="en-GB" dirty="0"/>
              <a:t>that a customer requires from a system and </a:t>
            </a:r>
          </a:p>
          <a:p>
            <a:pPr lvl="1" algn="just"/>
            <a:r>
              <a:rPr lang="en-GB" dirty="0"/>
              <a:t>the constraints under which it operates and is developed.</a:t>
            </a:r>
          </a:p>
          <a:p>
            <a:pPr algn="just"/>
            <a:r>
              <a:rPr lang="en-GB" dirty="0"/>
              <a:t>The system requirements are the descriptions of the system services and constraints that are generated during the requirements engineering process.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fld id="{BBF222B3-2930-45C0-9F35-77435AF8CC5D}" type="datetime1">
              <a:rPr lang="en-US" smtClean="0"/>
              <a:t>5/7/25</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gn="just">
              <a:lnSpc>
                <a:spcPct val="90000"/>
              </a:lnSpc>
            </a:pPr>
            <a:r>
              <a:rPr lang="en-GB" dirty="0"/>
              <a:t>It may range from a high-level abstract statement of a service or of a system constraint to a detailed mathematical functional specification.</a:t>
            </a:r>
          </a:p>
          <a:p>
            <a:pPr algn="just">
              <a:lnSpc>
                <a:spcPct val="90000"/>
              </a:lnSpc>
            </a:pPr>
            <a:r>
              <a:rPr lang="en-GB" dirty="0"/>
              <a:t>This is inevitable as requirements may serve a dual function</a:t>
            </a:r>
          </a:p>
          <a:p>
            <a:pPr lvl="1" algn="just">
              <a:lnSpc>
                <a:spcPct val="90000"/>
              </a:lnSpc>
            </a:pPr>
            <a:r>
              <a:rPr lang="en-GB" b="1" dirty="0"/>
              <a:t>May be the basis for a bid for a contract </a:t>
            </a:r>
            <a:r>
              <a:rPr lang="en-GB" dirty="0"/>
              <a:t>- therefore must be open to interpretation;</a:t>
            </a:r>
          </a:p>
          <a:p>
            <a:pPr lvl="1" algn="just">
              <a:lnSpc>
                <a:spcPct val="90000"/>
              </a:lnSpc>
            </a:pPr>
            <a:r>
              <a:rPr lang="en-GB" b="1" dirty="0"/>
              <a:t>May be the basis for the contract itself </a:t>
            </a:r>
            <a:r>
              <a:rPr lang="en-GB" dirty="0"/>
              <a:t>- therefore must be defined in detail;</a:t>
            </a:r>
          </a:p>
          <a:p>
            <a:pPr lvl="1" algn="just">
              <a:lnSpc>
                <a:spcPct val="90000"/>
              </a:lnSpc>
            </a:pPr>
            <a:r>
              <a:rPr lang="en-GB" dirty="0"/>
              <a:t>Both these statements may be called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2" name="Date Placeholder 1"/>
          <p:cNvSpPr>
            <a:spLocks noGrp="1"/>
          </p:cNvSpPr>
          <p:nvPr>
            <p:ph type="dt" sz="half" idx="10"/>
          </p:nvPr>
        </p:nvSpPr>
        <p:spPr/>
        <p:txBody>
          <a:bodyPr/>
          <a:lstStyle/>
          <a:p>
            <a:pPr>
              <a:defRPr/>
            </a:pPr>
            <a:fld id="{17738E82-9E83-4D19-8F2A-F9E67824A1BD}" type="datetime1">
              <a:rPr lang="en-US" smtClean="0"/>
              <a:t>5/7/25</a:t>
            </a:fld>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t>Requirements abstraction (Davis)</a:t>
            </a:r>
          </a:p>
        </p:txBody>
      </p:sp>
      <p:sp>
        <p:nvSpPr>
          <p:cNvPr id="7" name="Slide Number Placeholder 6"/>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6" name="Rectangle 5"/>
          <p:cNvSpPr/>
          <p:nvPr/>
        </p:nvSpPr>
        <p:spPr>
          <a:xfrm>
            <a:off x="457200" y="1951673"/>
            <a:ext cx="8305800" cy="3477875"/>
          </a:xfrm>
          <a:prstGeom prst="rect">
            <a:avLst/>
          </a:prstGeom>
        </p:spPr>
        <p:txBody>
          <a:bodyPr wrap="square">
            <a:spAutoFit/>
          </a:bodyPr>
          <a:lstStyle/>
          <a:p>
            <a:pPr algn="just"/>
            <a:r>
              <a:rPr lang="en-US" sz="2000" dirty="0">
                <a:solidFill>
                  <a:srgbClr val="000000"/>
                </a:solidFill>
                <a:latin typeface="Arial"/>
                <a:ea typeface="Times New Roman"/>
                <a:cs typeface="Arial"/>
              </a:rPr>
              <a:t>“If a company wishes to let a contract for a large software development project, it must define its needs in a sufficiently abstract way that a solution is not pre-defined. </a:t>
            </a:r>
          </a:p>
          <a:p>
            <a:pPr algn="just"/>
            <a:r>
              <a:rPr lang="en-US" sz="2000" dirty="0">
                <a:solidFill>
                  <a:srgbClr val="000000"/>
                </a:solidFill>
                <a:latin typeface="Arial"/>
                <a:ea typeface="Times New Roman"/>
                <a:cs typeface="Arial"/>
              </a:rPr>
              <a:t>The requirements must be written so that several contractors can bid for the contract, offering, perhaps, different ways of meeting the client organization’s needs. </a:t>
            </a:r>
          </a:p>
          <a:p>
            <a:pPr algn="just"/>
            <a:r>
              <a:rPr lang="en-US" sz="2000" dirty="0">
                <a:solidFill>
                  <a:srgbClr val="000000"/>
                </a:solidFill>
                <a:latin typeface="Arial"/>
                <a:ea typeface="Times New Roman"/>
                <a:cs typeface="Arial"/>
              </a:rPr>
              <a:t>Once a contract has been awarded, the contractor must write a system definition for the client in more detail so that the client understands and can validate what the software will do. </a:t>
            </a:r>
          </a:p>
          <a:p>
            <a:pPr algn="just"/>
            <a:r>
              <a:rPr lang="en-US" sz="2000" dirty="0">
                <a:solidFill>
                  <a:srgbClr val="000000"/>
                </a:solidFill>
                <a:latin typeface="Arial"/>
                <a:ea typeface="Times New Roman"/>
                <a:cs typeface="Arial"/>
              </a:rPr>
              <a:t>Both of these documents may be called the requirements document for the system.”</a:t>
            </a:r>
            <a:endParaRPr lang="en-US" sz="2000" dirty="0">
              <a:latin typeface="Arial"/>
              <a:cs typeface="Arial"/>
            </a:endParaRPr>
          </a:p>
        </p:txBody>
      </p:sp>
      <p:sp>
        <p:nvSpPr>
          <p:cNvPr id="2" name="Date Placeholder 1"/>
          <p:cNvSpPr>
            <a:spLocks noGrp="1"/>
          </p:cNvSpPr>
          <p:nvPr>
            <p:ph type="dt" sz="half" idx="10"/>
          </p:nvPr>
        </p:nvSpPr>
        <p:spPr/>
        <p:txBody>
          <a:bodyPr/>
          <a:lstStyle/>
          <a:p>
            <a:pPr>
              <a:defRPr/>
            </a:pPr>
            <a:fld id="{21FA03FA-C0FF-49AB-BC32-5A845D722E28}" type="datetime1">
              <a:rPr lang="en-US" smtClean="0"/>
              <a:t>5/7/25</a:t>
            </a:fld>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xfrm>
            <a:off x="457200" y="1600200"/>
            <a:ext cx="8229600" cy="4997152"/>
          </a:xfrm>
          <a:noFill/>
          <a:ln/>
        </p:spPr>
        <p:txBody>
          <a:bodyPr lIns="90487" tIns="44450" rIns="90487" bIns="44450"/>
          <a:lstStyle/>
          <a:p>
            <a:pPr marL="0" indent="0" algn="just">
              <a:buNone/>
            </a:pPr>
            <a:r>
              <a:rPr lang="en-GB" sz="2000" dirty="0"/>
              <a:t>User requirements</a:t>
            </a:r>
          </a:p>
          <a:p>
            <a:pPr lvl="1" algn="just"/>
            <a:r>
              <a:rPr lang="en-US" sz="1800" dirty="0"/>
              <a:t>User requirement refer to the high level abstract requirements. </a:t>
            </a:r>
          </a:p>
          <a:p>
            <a:pPr lvl="1" algn="just"/>
            <a:r>
              <a:rPr lang="en-US" sz="1800" dirty="0"/>
              <a:t>These are the statement in a natural language plus diagrams, of what services the system is expected to provide and the constraints under which it must operate. </a:t>
            </a:r>
          </a:p>
          <a:p>
            <a:pPr lvl="1" algn="just"/>
            <a:r>
              <a:rPr lang="en-US" sz="1800" dirty="0"/>
              <a:t>So user requirement definition is stated so the software must provide a means of representing and accessing external files created by other tools.</a:t>
            </a:r>
          </a:p>
          <a:p>
            <a:pPr marL="0" lvl="1" indent="0" algn="just">
              <a:buNone/>
            </a:pPr>
            <a:r>
              <a:rPr lang="en-GB" dirty="0"/>
              <a:t>System requirements</a:t>
            </a:r>
          </a:p>
          <a:p>
            <a:pPr lvl="1" algn="just"/>
            <a:r>
              <a:rPr lang="en-US" sz="1800" dirty="0"/>
              <a:t>System requirement mean the detailed description of what the system should do. </a:t>
            </a:r>
          </a:p>
          <a:p>
            <a:pPr lvl="1" algn="just"/>
            <a:r>
              <a:rPr lang="en-US" sz="1800" dirty="0"/>
              <a:t>These requirements set out the system services and constraints in detail. </a:t>
            </a:r>
          </a:p>
          <a:p>
            <a:pPr lvl="1" algn="just"/>
            <a:r>
              <a:rPr lang="en-US" sz="1800" dirty="0"/>
              <a:t>The system requirement document, which is sometimes called a functional specification, should be precise; it may serve as a contract between the system buyer and software developer.</a:t>
            </a:r>
            <a:endParaRPr lang="en-GB" sz="18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sp>
        <p:nvSpPr>
          <p:cNvPr id="2" name="Date Placeholder 1"/>
          <p:cNvSpPr>
            <a:spLocks noGrp="1"/>
          </p:cNvSpPr>
          <p:nvPr>
            <p:ph type="dt" sz="half" idx="10"/>
          </p:nvPr>
        </p:nvSpPr>
        <p:spPr/>
        <p:txBody>
          <a:bodyPr/>
          <a:lstStyle/>
          <a:p>
            <a:pPr>
              <a:defRPr/>
            </a:pPr>
            <a:fld id="{24E08149-E27C-4F72-8ACC-0478504F6DA9}" type="datetime1">
              <a:rPr lang="en-US" smtClean="0"/>
              <a:t>5/7/25</a:t>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a:t>User and system requirements</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622491"/>
            <a:ext cx="6262207" cy="4830845"/>
          </a:xfrm>
          <a:prstGeom prst="rect">
            <a:avLst/>
          </a:prstGeom>
        </p:spPr>
      </p:pic>
      <p:sp>
        <p:nvSpPr>
          <p:cNvPr id="3" name="Date Placeholder 2"/>
          <p:cNvSpPr>
            <a:spLocks noGrp="1"/>
          </p:cNvSpPr>
          <p:nvPr>
            <p:ph type="dt" sz="half" idx="10"/>
          </p:nvPr>
        </p:nvSpPr>
        <p:spPr/>
        <p:txBody>
          <a:bodyPr/>
          <a:lstStyle/>
          <a:p>
            <a:pPr>
              <a:defRPr/>
            </a:pPr>
            <a:fld id="{E30FE79D-FA0E-4CBA-864A-2ECB5E8B0E90}" type="datetime1">
              <a:rPr lang="en-US" smtClean="0"/>
              <a:t>5/7/25</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dirty="0"/>
              <a:t>Readers of different types of requirements specification</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pic>
        <p:nvPicPr>
          <p:cNvPr id="4" name="Picture 3" descr="4.2 ReqReaders.eps"/>
          <p:cNvPicPr>
            <a:picLocks noChangeAspect="1"/>
          </p:cNvPicPr>
          <p:nvPr/>
        </p:nvPicPr>
        <p:blipFill>
          <a:blip r:embed="rId2"/>
          <a:stretch>
            <a:fillRect/>
          </a:stretch>
        </p:blipFill>
        <p:spPr>
          <a:xfrm>
            <a:off x="1219200" y="2057400"/>
            <a:ext cx="6531232" cy="3651553"/>
          </a:xfrm>
          <a:prstGeom prst="rect">
            <a:avLst/>
          </a:prstGeom>
        </p:spPr>
      </p:pic>
      <p:sp>
        <p:nvSpPr>
          <p:cNvPr id="2" name="Date Placeholder 1"/>
          <p:cNvSpPr>
            <a:spLocks noGrp="1"/>
          </p:cNvSpPr>
          <p:nvPr>
            <p:ph type="dt" sz="half" idx="10"/>
          </p:nvPr>
        </p:nvSpPr>
        <p:spPr/>
        <p:txBody>
          <a:bodyPr/>
          <a:lstStyle/>
          <a:p>
            <a:pPr>
              <a:defRPr/>
            </a:pPr>
            <a:fld id="{82CC6C28-EAF9-4A6B-8CAF-19A319D2809D}" type="datetime1">
              <a:rPr lang="en-US" smtClean="0"/>
              <a:t>5/7/25</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stakeholders</a:t>
            </a:r>
          </a:p>
        </p:txBody>
      </p:sp>
      <p:sp>
        <p:nvSpPr>
          <p:cNvPr id="3" name="Content Placeholder 2"/>
          <p:cNvSpPr>
            <a:spLocks noGrp="1"/>
          </p:cNvSpPr>
          <p:nvPr>
            <p:ph idx="1"/>
          </p:nvPr>
        </p:nvSpPr>
        <p:spPr/>
        <p:txBody>
          <a:bodyPr/>
          <a:lstStyle/>
          <a:p>
            <a:pPr algn="just"/>
            <a:r>
              <a:rPr lang="en-US" dirty="0"/>
              <a:t>Any person or organization who is affected by the system in some way and so who has a legitimate interest</a:t>
            </a:r>
          </a:p>
          <a:p>
            <a:pPr algn="just"/>
            <a:r>
              <a:rPr lang="en-US" dirty="0"/>
              <a:t>Stakeholder types</a:t>
            </a:r>
          </a:p>
          <a:p>
            <a:pPr lvl="1" algn="just"/>
            <a:r>
              <a:rPr lang="en-US" dirty="0"/>
              <a:t>End users</a:t>
            </a:r>
          </a:p>
          <a:p>
            <a:pPr lvl="1" algn="just"/>
            <a:r>
              <a:rPr lang="en-US" dirty="0"/>
              <a:t>System managers</a:t>
            </a:r>
          </a:p>
          <a:p>
            <a:pPr lvl="1" algn="just"/>
            <a:r>
              <a:rPr lang="en-US" dirty="0"/>
              <a:t>System owners</a:t>
            </a:r>
          </a:p>
          <a:p>
            <a:pPr lvl="1" algn="just"/>
            <a:r>
              <a:rPr lang="en-US" dirty="0"/>
              <a:t>External stakeholders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fld id="{1B846463-8645-4AF6-88F5-92B8A50E4B8C}" type="datetime1">
              <a:rPr lang="en-US" smtClean="0"/>
              <a:t>5/7/25</a:t>
            </a:fld>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pPr algn="just"/>
            <a:r>
              <a:rPr lang="en-US" dirty="0"/>
              <a:t>Patients</a:t>
            </a:r>
            <a:r>
              <a:rPr lang="en-US" i="1" dirty="0"/>
              <a:t> </a:t>
            </a:r>
            <a:r>
              <a:rPr lang="en-US" dirty="0"/>
              <a:t>whose information is recorded in the system.</a:t>
            </a:r>
            <a:endParaRPr lang="en-GB" dirty="0"/>
          </a:p>
          <a:p>
            <a:pPr algn="just"/>
            <a:r>
              <a:rPr lang="en-US" dirty="0"/>
              <a:t>Doctors</a:t>
            </a:r>
            <a:r>
              <a:rPr lang="en-US" i="1" dirty="0"/>
              <a:t> </a:t>
            </a:r>
            <a:r>
              <a:rPr lang="en-US" dirty="0"/>
              <a:t>who are responsible for assessing and treating patients.</a:t>
            </a:r>
            <a:endParaRPr lang="en-GB" dirty="0"/>
          </a:p>
          <a:p>
            <a:pPr algn="just"/>
            <a:r>
              <a:rPr lang="en-US" dirty="0"/>
              <a:t>Nurses who coordinate the consultations with doctors and administer some treatments.</a:t>
            </a:r>
            <a:endParaRPr lang="en-GB" dirty="0"/>
          </a:p>
          <a:p>
            <a:pPr algn="just"/>
            <a:r>
              <a:rPr lang="en-US" dirty="0"/>
              <a:t>Medical receptionists</a:t>
            </a:r>
            <a:r>
              <a:rPr lang="en-US" i="1" dirty="0"/>
              <a:t> </a:t>
            </a:r>
            <a:r>
              <a:rPr lang="en-US" dirty="0"/>
              <a:t>who manage patients’ appointments.</a:t>
            </a:r>
            <a:endParaRPr lang="en-GB" dirty="0"/>
          </a:p>
          <a:p>
            <a:pPr algn="just"/>
            <a:r>
              <a:rPr lang="en-US" dirty="0"/>
              <a:t>IT staff who are responsible for installing and maintaining the system.</a:t>
            </a:r>
            <a:endParaRPr lang="en-GB" dirty="0"/>
          </a:p>
          <a:p>
            <a:pPr>
              <a:buNone/>
            </a:pPr>
            <a:r>
              <a:rPr lang="en-US" dirty="0"/>
              <a:t>	</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fld id="{828383BF-97BA-4907-A729-04F68120B9A5}" type="datetime1">
              <a:rPr lang="en-US" smtClean="0"/>
              <a:t>5/7/25</a:t>
            </a:fld>
            <a:endParaRPr lang="en-US"/>
          </a:p>
        </p:txBody>
      </p:sp>
    </p:spTree>
    <p:extLst>
      <p:ext uri="{BB962C8B-B14F-4D97-AF65-F5344CB8AC3E}">
        <p14:creationId xmlns:p14="http://schemas.microsoft.com/office/powerpoint/2010/main" val="3977774909"/>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Mentcare system</a:t>
            </a:r>
          </a:p>
        </p:txBody>
      </p:sp>
      <p:sp>
        <p:nvSpPr>
          <p:cNvPr id="3" name="Content Placeholder 2"/>
          <p:cNvSpPr>
            <a:spLocks noGrp="1"/>
          </p:cNvSpPr>
          <p:nvPr>
            <p:ph idx="1"/>
          </p:nvPr>
        </p:nvSpPr>
        <p:spPr/>
        <p:txBody>
          <a:bodyPr/>
          <a:lstStyle/>
          <a:p>
            <a:pPr algn="just"/>
            <a:r>
              <a:rPr lang="en-US" dirty="0"/>
              <a:t>A medical ethics manager who must ensure that the system meets current ethical guidelines for patient care.</a:t>
            </a:r>
            <a:endParaRPr lang="en-GB" dirty="0"/>
          </a:p>
          <a:p>
            <a:pPr algn="just"/>
            <a:r>
              <a:rPr lang="en-US" dirty="0"/>
              <a:t>Health care managers</a:t>
            </a:r>
            <a:r>
              <a:rPr lang="en-US" i="1" dirty="0"/>
              <a:t> </a:t>
            </a:r>
            <a:r>
              <a:rPr lang="en-US" dirty="0"/>
              <a:t>who obtain management information from the system.</a:t>
            </a:r>
            <a:endParaRPr lang="en-GB" dirty="0"/>
          </a:p>
          <a:p>
            <a:pPr algn="just"/>
            <a:r>
              <a:rPr lang="en-US" dirty="0"/>
              <a:t>Medical records staff</a:t>
            </a:r>
            <a:r>
              <a:rPr lang="en-US" i="1" dirty="0"/>
              <a:t> </a:t>
            </a:r>
            <a:r>
              <a:rPr lang="en-US" dirty="0"/>
              <a:t>who are responsible for ensuring that system information can be maintained and preserved, and that record keeping procedures have been properly implemented.</a:t>
            </a:r>
            <a:endParaRPr lang="en-GB" dirty="0"/>
          </a:p>
          <a:p>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fld id="{B82EE661-8D2E-4C00-88D5-68D1A2796603}" type="datetime1">
              <a:rPr lang="en-US" smtClean="0"/>
              <a:t>5/7/25</a:t>
            </a:fld>
            <a:endParaRPr lang="en-US"/>
          </a:p>
        </p:txBody>
      </p:sp>
    </p:spTree>
    <p:extLst>
      <p:ext uri="{BB962C8B-B14F-4D97-AF65-F5344CB8AC3E}">
        <p14:creationId xmlns:p14="http://schemas.microsoft.com/office/powerpoint/2010/main" val="3743196010"/>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3" name="Content Placeholder 2"/>
          <p:cNvSpPr>
            <a:spLocks noGrp="1"/>
          </p:cNvSpPr>
          <p:nvPr>
            <p:ph idx="1"/>
          </p:nvPr>
        </p:nvSpPr>
        <p:spPr/>
        <p:txBody>
          <a:bodyPr/>
          <a:lstStyle/>
          <a:p>
            <a:pPr algn="just"/>
            <a:r>
              <a:rPr lang="en-US" dirty="0"/>
              <a:t>Many agile methods argue that producing detailed system requirements is a waste of time as requirements change so quickly.</a:t>
            </a:r>
          </a:p>
          <a:p>
            <a:pPr algn="just"/>
            <a:r>
              <a:rPr lang="en-US" dirty="0"/>
              <a:t>The requirements document is therefore always out of date.</a:t>
            </a:r>
          </a:p>
          <a:p>
            <a:pPr algn="just"/>
            <a:r>
              <a:rPr lang="en-US" dirty="0"/>
              <a:t>Agile methods usually use incremental requirements engineering and may express requirements as ‘user stories’.</a:t>
            </a:r>
          </a:p>
          <a:p>
            <a:pPr algn="just"/>
            <a:r>
              <a:rPr lang="en-US" dirty="0"/>
              <a:t>This is practical for business systems but problematic for systems that require pre-delivery analysis (e.g. critical systems) or systems developed by several teams.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6" name="Date Placeholder 5"/>
          <p:cNvSpPr>
            <a:spLocks noGrp="1"/>
          </p:cNvSpPr>
          <p:nvPr>
            <p:ph type="dt" sz="half" idx="10"/>
          </p:nvPr>
        </p:nvSpPr>
        <p:spPr/>
        <p:txBody>
          <a:bodyPr/>
          <a:lstStyle/>
          <a:p>
            <a:pPr>
              <a:defRPr/>
            </a:pPr>
            <a:fld id="{B427B0B9-A50C-40F5-8267-DEE686940F65}" type="datetime1">
              <a:rPr lang="en-US" smtClean="0"/>
              <a:t>5/7/25</a:t>
            </a:fld>
            <a:endParaRPr lang="en-US"/>
          </a:p>
        </p:txBody>
      </p:sp>
    </p:spTree>
    <p:extLst>
      <p:ext uri="{BB962C8B-B14F-4D97-AF65-F5344CB8AC3E}">
        <p14:creationId xmlns:p14="http://schemas.microsoft.com/office/powerpoint/2010/main" val="3036408685"/>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Functional and non-functional requirements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sp>
        <p:nvSpPr>
          <p:cNvPr id="3" name="Date Placeholder 2"/>
          <p:cNvSpPr>
            <a:spLocks noGrp="1"/>
          </p:cNvSpPr>
          <p:nvPr>
            <p:ph type="dt" sz="half" idx="10"/>
          </p:nvPr>
        </p:nvSpPr>
        <p:spPr/>
        <p:txBody>
          <a:bodyPr/>
          <a:lstStyle/>
          <a:p>
            <a:pPr>
              <a:defRPr/>
            </a:pPr>
            <a:fld id="{B39F0B12-4448-42F2-9D04-388190296F83}" type="datetime1">
              <a:rPr lang="en-US" smtClean="0"/>
              <a:t>5/7/25</a:t>
            </a:fld>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gn="just">
              <a:lnSpc>
                <a:spcPct val="90000"/>
              </a:lnSpc>
            </a:pPr>
            <a:r>
              <a:rPr lang="en-GB" sz="2400" dirty="0"/>
              <a:t>Functional requirements</a:t>
            </a:r>
          </a:p>
          <a:p>
            <a:pPr lvl="1" algn="just">
              <a:lnSpc>
                <a:spcPct val="90000"/>
              </a:lnSpc>
            </a:pPr>
            <a:r>
              <a:rPr lang="en-GB" sz="2000" dirty="0"/>
              <a:t>Statements of services the system should provide, </a:t>
            </a:r>
          </a:p>
          <a:p>
            <a:pPr lvl="1" algn="just">
              <a:lnSpc>
                <a:spcPct val="90000"/>
              </a:lnSpc>
            </a:pPr>
            <a:r>
              <a:rPr lang="en-GB" sz="2000" dirty="0"/>
              <a:t>how the system should react to particular inputs and how the system should behave in particular situations.</a:t>
            </a:r>
          </a:p>
          <a:p>
            <a:pPr lvl="1" algn="just">
              <a:lnSpc>
                <a:spcPct val="90000"/>
              </a:lnSpc>
            </a:pPr>
            <a:r>
              <a:rPr lang="en-GB" dirty="0"/>
              <a:t>May state what the system should not do.</a:t>
            </a:r>
            <a:endParaRPr lang="en-GB" sz="2000" dirty="0"/>
          </a:p>
          <a:p>
            <a:pPr algn="just">
              <a:lnSpc>
                <a:spcPct val="90000"/>
              </a:lnSpc>
            </a:pPr>
            <a:r>
              <a:rPr lang="en-GB" sz="2400" dirty="0"/>
              <a:t>Non-functional requirements</a:t>
            </a:r>
          </a:p>
          <a:p>
            <a:pPr lvl="1" algn="just">
              <a:lnSpc>
                <a:spcPct val="90000"/>
              </a:lnSpc>
            </a:pPr>
            <a:r>
              <a:rPr lang="en-GB" dirty="0"/>
              <a:t>C</a:t>
            </a:r>
            <a:r>
              <a:rPr lang="en-GB" sz="2000" dirty="0"/>
              <a:t>onstraints on the services or functions offered by the system such as timing constraints, constraints on the development process, standards, etc.</a:t>
            </a:r>
          </a:p>
          <a:p>
            <a:pPr lvl="1" algn="just">
              <a:lnSpc>
                <a:spcPct val="90000"/>
              </a:lnSpc>
            </a:pPr>
            <a:r>
              <a:rPr lang="en-GB" dirty="0"/>
              <a:t>Often apply to the system as a whole rather than individual features or services.</a:t>
            </a:r>
          </a:p>
          <a:p>
            <a:pPr algn="just">
              <a:lnSpc>
                <a:spcPct val="90000"/>
              </a:lnSpc>
            </a:pPr>
            <a:r>
              <a:rPr lang="en-GB" sz="2400" dirty="0"/>
              <a:t>Domain requirements</a:t>
            </a:r>
          </a:p>
          <a:p>
            <a:pPr lvl="1" algn="just">
              <a:lnSpc>
                <a:spcPct val="90000"/>
              </a:lnSpc>
            </a:pPr>
            <a:r>
              <a:rPr lang="en-GB" sz="2000" dirty="0"/>
              <a:t>Constraints on the system from the domain </a:t>
            </a:r>
            <a:r>
              <a:rPr lang="en-GB" dirty="0"/>
              <a:t>of operation</a:t>
            </a:r>
            <a:endParaRPr lang="en-GB" sz="20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2" name="Date Placeholder 1"/>
          <p:cNvSpPr>
            <a:spLocks noGrp="1"/>
          </p:cNvSpPr>
          <p:nvPr>
            <p:ph type="dt" sz="half" idx="10"/>
          </p:nvPr>
        </p:nvSpPr>
        <p:spPr/>
        <p:txBody>
          <a:bodyPr/>
          <a:lstStyle/>
          <a:p>
            <a:pPr>
              <a:defRPr/>
            </a:pPr>
            <a:fld id="{3A2646F4-501D-4C0E-BE36-2DF4F6E88446}" type="datetime1">
              <a:rPr lang="en-US" smtClean="0"/>
              <a:t>5/7/25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pPr algn="just"/>
            <a:r>
              <a:rPr lang="en-US" dirty="0"/>
              <a:t>Functional requirements describe what the software should do. They define the functions or features that the system must have.</a:t>
            </a:r>
            <a:endParaRPr lang="en-GB" dirty="0"/>
          </a:p>
          <a:p>
            <a:pPr algn="just"/>
            <a:r>
              <a:rPr lang="en-GB" dirty="0"/>
              <a:t>Describe functionality or system services.</a:t>
            </a:r>
          </a:p>
          <a:p>
            <a:pPr algn="just"/>
            <a:r>
              <a:rPr lang="en-GB" dirty="0"/>
              <a:t>Depend on the type of software, expected users and the type of system where the software is used.</a:t>
            </a:r>
          </a:p>
          <a:p>
            <a:pPr algn="just"/>
            <a:r>
              <a:rPr lang="en-GB" dirty="0"/>
              <a:t>Functional user requirements may be high-level statements of what the system should do.</a:t>
            </a:r>
          </a:p>
          <a:p>
            <a:pPr algn="just"/>
            <a:r>
              <a:rPr lang="en-GB" dirty="0"/>
              <a:t>Functional system requirements should describe the system services in detail.</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fld id="{CC6F5120-2896-48C8-AC13-88735BDFFADA}" type="datetime1">
              <a:rPr lang="en-US" smtClean="0"/>
              <a:t>5/7/25</a:t>
            </a:fld>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Requirements</a:t>
            </a:r>
          </a:p>
        </p:txBody>
      </p:sp>
      <p:sp>
        <p:nvSpPr>
          <p:cNvPr id="3" name="Content Placeholder 2"/>
          <p:cNvSpPr>
            <a:spLocks noGrp="1"/>
          </p:cNvSpPr>
          <p:nvPr>
            <p:ph idx="1"/>
          </p:nvPr>
        </p:nvSpPr>
        <p:spPr/>
        <p:txBody>
          <a:bodyPr/>
          <a:lstStyle/>
          <a:p>
            <a:r>
              <a:rPr lang="en-US" b="1" dirty="0"/>
              <a:t>Examples</a:t>
            </a:r>
            <a:r>
              <a:rPr lang="en-US" dirty="0"/>
              <a:t>:</a:t>
            </a:r>
          </a:p>
          <a:p>
            <a:r>
              <a:rPr lang="en-US" b="1" dirty="0"/>
              <a:t>User Authentication</a:t>
            </a:r>
            <a:r>
              <a:rPr lang="en-US" dirty="0"/>
              <a:t>: The system must allow users to log in using a username and password.</a:t>
            </a:r>
          </a:p>
          <a:p>
            <a:r>
              <a:rPr lang="en-US" b="1" dirty="0"/>
              <a:t>Search Functionality</a:t>
            </a:r>
            <a:r>
              <a:rPr lang="en-US" dirty="0"/>
              <a:t>: The software should enable users to search for products by name or category.</a:t>
            </a:r>
          </a:p>
          <a:p>
            <a:r>
              <a:rPr lang="en-US" b="1" dirty="0"/>
              <a:t>Report Generation</a:t>
            </a:r>
            <a:r>
              <a:rPr lang="en-US" dirty="0"/>
              <a:t>: The system should be able to generate sales reports for a specified date range.</a:t>
            </a:r>
          </a:p>
          <a:p>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Tree>
    <p:extLst>
      <p:ext uri="{BB962C8B-B14F-4D97-AF65-F5344CB8AC3E}">
        <p14:creationId xmlns:p14="http://schemas.microsoft.com/office/powerpoint/2010/main" val="3558201866"/>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dirty="0"/>
              <a:t>Mentcare system: functional requirements</a:t>
            </a:r>
          </a:p>
        </p:txBody>
      </p:sp>
      <p:sp>
        <p:nvSpPr>
          <p:cNvPr id="77827" name="Rectangle 3"/>
          <p:cNvSpPr>
            <a:spLocks noGrp="1" noChangeArrowheads="1"/>
          </p:cNvSpPr>
          <p:nvPr>
            <p:ph idx="1"/>
          </p:nvPr>
        </p:nvSpPr>
        <p:spPr/>
        <p:txBody>
          <a:bodyPr/>
          <a:lstStyle/>
          <a:p>
            <a:pPr algn="just"/>
            <a:r>
              <a:rPr lang="en-US" dirty="0"/>
              <a:t>A user shall be able to search the appointments lists for all clinics.</a:t>
            </a:r>
            <a:endParaRPr lang="en-GB" dirty="0"/>
          </a:p>
          <a:p>
            <a:pPr algn="just"/>
            <a:r>
              <a:rPr lang="en-US" dirty="0"/>
              <a:t>The system shall generate each day, for each clinic, a list of patients who are expected to attend appointments that day. </a:t>
            </a:r>
            <a:endParaRPr lang="en-GB" dirty="0"/>
          </a:p>
          <a:p>
            <a:pPr algn="just"/>
            <a:r>
              <a:rPr lang="en-US" dirty="0"/>
              <a:t>Each staff member using the system shall be uniquely identified by his or her 8-digit employee number.</a:t>
            </a:r>
            <a:r>
              <a:rPr lang="en-GB" dirty="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sp>
        <p:nvSpPr>
          <p:cNvPr id="2" name="Date Placeholder 1"/>
          <p:cNvSpPr>
            <a:spLocks noGrp="1"/>
          </p:cNvSpPr>
          <p:nvPr>
            <p:ph type="dt" sz="half" idx="10"/>
          </p:nvPr>
        </p:nvSpPr>
        <p:spPr/>
        <p:txBody>
          <a:bodyPr/>
          <a:lstStyle/>
          <a:p>
            <a:pPr>
              <a:defRPr/>
            </a:pPr>
            <a:fld id="{0723FA41-4D8E-4A46-BCAD-7F4534B49186}" type="datetime1">
              <a:rPr lang="en-US" smtClean="0"/>
              <a:t>5/7/25</a:t>
            </a:fld>
            <a:endParaRPr lang="en-US"/>
          </a:p>
        </p:txBody>
      </p:sp>
    </p:spTree>
    <p:extLst>
      <p:ext uri="{BB962C8B-B14F-4D97-AF65-F5344CB8AC3E}">
        <p14:creationId xmlns:p14="http://schemas.microsoft.com/office/powerpoint/2010/main" val="553260334"/>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dirty="0"/>
              <a:t>Requirements imprecision</a:t>
            </a:r>
          </a:p>
        </p:txBody>
      </p:sp>
      <p:sp>
        <p:nvSpPr>
          <p:cNvPr id="41987" name="Rectangle 3"/>
          <p:cNvSpPr>
            <a:spLocks noGrp="1" noChangeArrowheads="1"/>
          </p:cNvSpPr>
          <p:nvPr>
            <p:ph idx="1"/>
          </p:nvPr>
        </p:nvSpPr>
        <p:spPr/>
        <p:txBody>
          <a:bodyPr/>
          <a:lstStyle/>
          <a:p>
            <a:pPr algn="just"/>
            <a:r>
              <a:rPr lang="en-GB" dirty="0"/>
              <a:t>Problems arise when functional requirements are not precisely stated.</a:t>
            </a:r>
          </a:p>
          <a:p>
            <a:pPr algn="just"/>
            <a:r>
              <a:rPr lang="en-GB" dirty="0"/>
              <a:t>Ambiguous requirements may be interpreted in different ways by developers and users.</a:t>
            </a:r>
          </a:p>
          <a:p>
            <a:pPr algn="just"/>
            <a:r>
              <a:rPr lang="en-GB" dirty="0"/>
              <a:t>Consider the term ‘search’ in requirement 1</a:t>
            </a:r>
          </a:p>
          <a:p>
            <a:pPr lvl="1" algn="just"/>
            <a:r>
              <a:rPr lang="en-GB" dirty="0"/>
              <a:t>User intention – search for a patient name across all appointments in all clinics;</a:t>
            </a:r>
          </a:p>
          <a:p>
            <a:pPr lvl="1" algn="just"/>
            <a:r>
              <a:rPr lang="en-GB" dirty="0"/>
              <a:t>Developer interpretation – search for a patient name in an individual clinic. User chooses clinic then search.</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fld id="{57ED71FF-F6FD-4E0D-AED1-A0F266112FF7}" type="datetime1">
              <a:rPr lang="en-US" smtClean="0"/>
              <a:t>5/7/25</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pPr algn="just"/>
            <a:r>
              <a:rPr lang="en-GB" sz="2400" dirty="0"/>
              <a:t>In principle, requirements should be both complete and consistent.</a:t>
            </a:r>
          </a:p>
          <a:p>
            <a:pPr algn="just"/>
            <a:r>
              <a:rPr lang="en-GB" sz="2400" dirty="0"/>
              <a:t>Complete</a:t>
            </a:r>
          </a:p>
          <a:p>
            <a:pPr lvl="1" algn="just"/>
            <a:r>
              <a:rPr lang="en-GB" dirty="0"/>
              <a:t>They should include descriptions of all facilities required.</a:t>
            </a:r>
          </a:p>
          <a:p>
            <a:pPr algn="just"/>
            <a:r>
              <a:rPr lang="en-GB" sz="2400" dirty="0"/>
              <a:t>Consistent</a:t>
            </a:r>
          </a:p>
          <a:p>
            <a:pPr lvl="1" algn="just"/>
            <a:r>
              <a:rPr lang="en-GB" dirty="0"/>
              <a:t>There should be no conflicts or contradictions in the descriptions of the system facilities.</a:t>
            </a:r>
          </a:p>
          <a:p>
            <a:pPr algn="just"/>
            <a:r>
              <a:rPr lang="en-GB" sz="2400" dirty="0"/>
              <a:t>In practice, because of system and environmental complexity, it is impossible to produce a complete and consistent requirements document.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20</a:t>
            </a:fld>
            <a:endParaRPr lang="en-US"/>
          </a:p>
        </p:txBody>
      </p:sp>
      <p:sp>
        <p:nvSpPr>
          <p:cNvPr id="2" name="Date Placeholder 1"/>
          <p:cNvSpPr>
            <a:spLocks noGrp="1"/>
          </p:cNvSpPr>
          <p:nvPr>
            <p:ph type="dt" sz="half" idx="10"/>
          </p:nvPr>
        </p:nvSpPr>
        <p:spPr/>
        <p:txBody>
          <a:bodyPr/>
          <a:lstStyle/>
          <a:p>
            <a:pPr>
              <a:defRPr/>
            </a:pPr>
            <a:fld id="{A0A58B34-FD17-4A1E-AAE9-A2EC1FCCF5EC}" type="datetime1">
              <a:rPr lang="en-US" smtClean="0"/>
              <a:t>5/7/25</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gn="just">
              <a:lnSpc>
                <a:spcPct val="90000"/>
              </a:lnSpc>
            </a:pPr>
            <a:r>
              <a:rPr lang="en-US" dirty="0"/>
              <a:t>Non-functional requirements describe how the software performs a task rather than what it should do. They define the quality attributes, performance criteria, and constraints.</a:t>
            </a:r>
            <a:endParaRPr lang="en-GB" dirty="0"/>
          </a:p>
          <a:p>
            <a:pPr algn="just">
              <a:lnSpc>
                <a:spcPct val="90000"/>
              </a:lnSpc>
            </a:pPr>
            <a:r>
              <a:rPr lang="en-GB" dirty="0"/>
              <a:t>These define system properties and constraints e.g. reliability, response time and storage requirements. Constraints are I/O device capability, system representations, etc.</a:t>
            </a:r>
          </a:p>
          <a:p>
            <a:pPr algn="just">
              <a:lnSpc>
                <a:spcPct val="90000"/>
              </a:lnSpc>
            </a:pPr>
            <a:r>
              <a:rPr lang="en-GB" dirty="0"/>
              <a:t>Process requirements may also be specified mandating a particular IDE, programming language or development method.</a:t>
            </a:r>
          </a:p>
          <a:p>
            <a:pPr algn="just">
              <a:lnSpc>
                <a:spcPct val="90000"/>
              </a:lnSpc>
            </a:pPr>
            <a:r>
              <a:rPr lang="en-GB" dirty="0"/>
              <a:t>Non-functional requirements may be more critical than functional requirements. If these are not met, the system may be useless.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21</a:t>
            </a:fld>
            <a:endParaRPr lang="en-US"/>
          </a:p>
        </p:txBody>
      </p:sp>
      <p:sp>
        <p:nvSpPr>
          <p:cNvPr id="2" name="Date Placeholder 1"/>
          <p:cNvSpPr>
            <a:spLocks noGrp="1"/>
          </p:cNvSpPr>
          <p:nvPr>
            <p:ph type="dt" sz="half" idx="10"/>
          </p:nvPr>
        </p:nvSpPr>
        <p:spPr/>
        <p:txBody>
          <a:bodyPr/>
          <a:lstStyle/>
          <a:p>
            <a:pPr>
              <a:defRPr/>
            </a:pPr>
            <a:fld id="{AEC2C557-DC20-4530-AB3F-02CC058D8F16}" type="datetime1">
              <a:rPr lang="en-US" smtClean="0"/>
              <a:t>5/7/25</a:t>
            </a:fld>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 Functional Requirements</a:t>
            </a:r>
          </a:p>
        </p:txBody>
      </p:sp>
      <p:sp>
        <p:nvSpPr>
          <p:cNvPr id="3" name="Content Placeholder 2"/>
          <p:cNvSpPr>
            <a:spLocks noGrp="1"/>
          </p:cNvSpPr>
          <p:nvPr>
            <p:ph idx="1"/>
          </p:nvPr>
        </p:nvSpPr>
        <p:spPr/>
        <p:txBody>
          <a:bodyPr/>
          <a:lstStyle/>
          <a:p>
            <a:pPr algn="just"/>
            <a:r>
              <a:rPr lang="en-US" b="1" dirty="0"/>
              <a:t>Examples</a:t>
            </a:r>
            <a:r>
              <a:rPr lang="en-US" dirty="0"/>
              <a:t>:</a:t>
            </a:r>
          </a:p>
          <a:p>
            <a:pPr algn="just"/>
            <a:r>
              <a:rPr lang="en-US" b="1" dirty="0"/>
              <a:t>Performance</a:t>
            </a:r>
            <a:r>
              <a:rPr lang="en-US" dirty="0"/>
              <a:t>: The system should process 1,000 transactions per second.</a:t>
            </a:r>
          </a:p>
          <a:p>
            <a:pPr algn="just"/>
            <a:r>
              <a:rPr lang="en-US" b="1" dirty="0"/>
              <a:t>Usability</a:t>
            </a:r>
            <a:r>
              <a:rPr lang="en-US" dirty="0"/>
              <a:t>: The software should be easy to use and have a user-friendly interface.</a:t>
            </a:r>
          </a:p>
          <a:p>
            <a:pPr algn="just"/>
            <a:r>
              <a:rPr lang="en-US" b="1" dirty="0"/>
              <a:t>Reliability</a:t>
            </a:r>
            <a:r>
              <a:rPr lang="en-US" dirty="0"/>
              <a:t>: The system must have 99.9% uptime.</a:t>
            </a:r>
          </a:p>
          <a:p>
            <a:pPr algn="just"/>
            <a:r>
              <a:rPr lang="en-US" b="1" dirty="0"/>
              <a:t>Security</a:t>
            </a:r>
            <a:r>
              <a:rPr lang="en-US" dirty="0"/>
              <a:t>: Data must be encrypted during transmission and storage.</a:t>
            </a:r>
          </a:p>
          <a:p>
            <a:pPr algn="just"/>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22</a:t>
            </a:fld>
            <a:endParaRPr lang="en-US"/>
          </a:p>
        </p:txBody>
      </p:sp>
    </p:spTree>
    <p:extLst>
      <p:ext uri="{BB962C8B-B14F-4D97-AF65-F5344CB8AC3E}">
        <p14:creationId xmlns:p14="http://schemas.microsoft.com/office/powerpoint/2010/main" val="4036385099"/>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a:t>Types of nonfunctional requirement</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23</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fld id="{189C29BF-226A-4254-AD17-E99A080CD776}" type="datetime1">
              <a:rPr lang="en-US" smtClean="0"/>
              <a:t>5/7/25</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Non-functional requirements implementation</a:t>
            </a:r>
          </a:p>
        </p:txBody>
      </p:sp>
      <p:sp>
        <p:nvSpPr>
          <p:cNvPr id="3" name="Content Placeholder 2"/>
          <p:cNvSpPr>
            <a:spLocks noGrp="1"/>
          </p:cNvSpPr>
          <p:nvPr>
            <p:ph idx="1"/>
          </p:nvPr>
        </p:nvSpPr>
        <p:spPr/>
        <p:txBody>
          <a:bodyPr/>
          <a:lstStyle/>
          <a:p>
            <a:pPr algn="just"/>
            <a:r>
              <a:rPr lang="en-US" dirty="0"/>
              <a:t>Non-functional requirements may affect the overall architecture of a system rather than the individual components. </a:t>
            </a:r>
          </a:p>
          <a:p>
            <a:pPr lvl="1" algn="just"/>
            <a:r>
              <a:rPr lang="en-US" dirty="0"/>
              <a:t>For example, to ensure that performance requirements are met, you may have to organize the system to minimize communications between components.</a:t>
            </a:r>
            <a:endParaRPr lang="en-GB" dirty="0"/>
          </a:p>
          <a:p>
            <a:pPr algn="just"/>
            <a:r>
              <a:rPr lang="en-US" dirty="0"/>
              <a:t>A single non-functional requirement, such as a security requirement, may generate a number of related functional requirements that define system services that are required. </a:t>
            </a:r>
          </a:p>
          <a:p>
            <a:pPr lvl="1" algn="just"/>
            <a:r>
              <a:rPr lang="en-US" dirty="0"/>
              <a:t>It may also generate requirements that restrict existing requirements. </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fld id="{C26110F9-7E48-4BD4-9E24-E48B4F5CE068}" type="datetime1">
              <a:rPr lang="en-US" smtClean="0"/>
              <a:t>5/7/25</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Non-functional classifications</a:t>
            </a:r>
          </a:p>
        </p:txBody>
      </p:sp>
      <p:sp>
        <p:nvSpPr>
          <p:cNvPr id="36867" name="Rectangle 3"/>
          <p:cNvSpPr>
            <a:spLocks noGrp="1" noChangeArrowheads="1"/>
          </p:cNvSpPr>
          <p:nvPr>
            <p:ph idx="1"/>
          </p:nvPr>
        </p:nvSpPr>
        <p:spPr>
          <a:noFill/>
          <a:ln/>
        </p:spPr>
        <p:txBody>
          <a:bodyPr lIns="90487" tIns="44450" rIns="90487" bIns="44450"/>
          <a:lstStyle/>
          <a:p>
            <a:pPr algn="just"/>
            <a:r>
              <a:rPr lang="en-GB" sz="2400" dirty="0"/>
              <a:t>Product requirements</a:t>
            </a:r>
          </a:p>
          <a:p>
            <a:pPr lvl="1" algn="just"/>
            <a:r>
              <a:rPr lang="en-GB" sz="2000" dirty="0"/>
              <a:t>Requirements which specify that the delivered product must behave in a particular way e.g. execution speed, reliability, etc.</a:t>
            </a:r>
          </a:p>
          <a:p>
            <a:pPr algn="just"/>
            <a:r>
              <a:rPr lang="en-GB" sz="2400" dirty="0"/>
              <a:t>Organisational requirements</a:t>
            </a:r>
          </a:p>
          <a:p>
            <a:pPr lvl="1" algn="just"/>
            <a:r>
              <a:rPr lang="en-GB" sz="2000" dirty="0"/>
              <a:t>Requirements which are a consequence of organisational policies and procedures e.g. process standards used, implementation requirements, etc.</a:t>
            </a:r>
          </a:p>
          <a:p>
            <a:pPr algn="just"/>
            <a:r>
              <a:rPr lang="en-GB" sz="2400" dirty="0"/>
              <a:t>External requirements</a:t>
            </a:r>
          </a:p>
          <a:p>
            <a:pPr lvl="1" algn="just"/>
            <a:r>
              <a:rPr lang="en-GB" sz="2000" dirty="0"/>
              <a:t>Requirements which arise from factors which are external to the system and its development process e.g. interoperability requirements, legislative requirements, etc.</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25</a:t>
            </a:fld>
            <a:endParaRPr lang="en-US"/>
          </a:p>
        </p:txBody>
      </p:sp>
      <p:sp>
        <p:nvSpPr>
          <p:cNvPr id="2" name="Date Placeholder 1"/>
          <p:cNvSpPr>
            <a:spLocks noGrp="1"/>
          </p:cNvSpPr>
          <p:nvPr>
            <p:ph type="dt" sz="half" idx="10"/>
          </p:nvPr>
        </p:nvSpPr>
        <p:spPr/>
        <p:txBody>
          <a:bodyPr/>
          <a:lstStyle/>
          <a:p>
            <a:pPr>
              <a:defRPr/>
            </a:pPr>
            <a:fld id="{7FAE8170-531F-4924-A8F8-FE02AFDF19A5}" type="datetime1">
              <a:rPr lang="en-US" smtClean="0"/>
              <a:t>5/7/25</a:t>
            </a:fld>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lstStyle/>
          <a:p>
            <a:pPr eaLnBrk="1" hangingPunct="1"/>
            <a:r>
              <a:rPr lang="en-US" dirty="0"/>
              <a:t>Examples of nonfunctional requirements in the </a:t>
            </a:r>
            <a:r>
              <a:rPr lang="en-GB" dirty="0"/>
              <a:t>Mentcare system</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26</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121060128"/>
              </p:ext>
            </p:extLst>
          </p:nvPr>
        </p:nvGraphicFramePr>
        <p:xfrm>
          <a:off x="968632" y="1905000"/>
          <a:ext cx="6781800" cy="4495800"/>
        </p:xfrm>
        <a:graphic>
          <a:graphicData uri="http://schemas.openxmlformats.org/drawingml/2006/table">
            <a:tbl>
              <a:tblPr firstRow="1" bandRow="1">
                <a:tableStyleId>{69CF1AB2-1976-4502-BF36-3FF5EA218861}</a:tableStyleId>
              </a:tblPr>
              <a:tblGrid>
                <a:gridCol w="6781800">
                  <a:extLst>
                    <a:ext uri="{9D8B030D-6E8A-4147-A177-3AD203B41FA5}">
                      <a16:colId xmlns:a16="http://schemas.microsoft.com/office/drawing/2014/main" val="20000"/>
                    </a:ext>
                  </a:extLst>
                </a:gridCol>
              </a:tblGrid>
              <a:tr h="4495800">
                <a:tc>
                  <a:txBody>
                    <a:bodyPr/>
                    <a:lstStyle/>
                    <a:p>
                      <a:pPr algn="just"/>
                      <a:r>
                        <a:rPr lang="en-GB" sz="1800" b="1" kern="1200" dirty="0"/>
                        <a:t>Product requirement</a:t>
                      </a:r>
                    </a:p>
                    <a:p>
                      <a:pPr algn="just"/>
                      <a:r>
                        <a:rPr lang="en-GB" sz="1800" b="0" kern="1200" dirty="0"/>
                        <a:t>The Mentcare system shall be available to all clinics during normal working hours (Mon–Fri, 0830–17.30). Downtime within normal working hours shall not exceed five seconds in any one day.</a:t>
                      </a:r>
                    </a:p>
                    <a:p>
                      <a:pPr algn="just"/>
                      <a:endParaRPr lang="en-GB" sz="1800" b="0" kern="1200" dirty="0"/>
                    </a:p>
                    <a:p>
                      <a:pPr algn="just"/>
                      <a:r>
                        <a:rPr lang="en-GB" sz="1800" b="1" kern="1200" dirty="0"/>
                        <a:t>Organizational requirement</a:t>
                      </a:r>
                    </a:p>
                    <a:p>
                      <a:pPr algn="just"/>
                      <a:r>
                        <a:rPr lang="en-GB" sz="1800" b="0" kern="1200" dirty="0"/>
                        <a:t>Users of the Mentcare system shall authenticate themselves using their health authority identity card.</a:t>
                      </a:r>
                    </a:p>
                    <a:p>
                      <a:pPr algn="just"/>
                      <a:endParaRPr lang="en-GB" sz="1800" b="0" kern="1200" dirty="0"/>
                    </a:p>
                    <a:p>
                      <a:pPr algn="just"/>
                      <a:r>
                        <a:rPr lang="en-GB" sz="1800" b="1" kern="1200" dirty="0"/>
                        <a:t>External requirement</a:t>
                      </a:r>
                    </a:p>
                    <a:p>
                      <a:pPr algn="just"/>
                      <a:r>
                        <a:rPr lang="en-GB" sz="1800" b="0" kern="1200" dirty="0"/>
                        <a:t>The system shall implement patient privacy provisions as set out in HStan-03-2006-priv. </a:t>
                      </a:r>
                    </a:p>
                    <a:p>
                      <a:endParaRPr lang="en-US" b="0"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fld id="{C39E218D-7FBE-4ED0-B1B4-8F0A2C95112F}" type="datetime1">
              <a:rPr lang="en-US" smtClean="0"/>
              <a:t>5/7/25</a:t>
            </a:fld>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idx="1"/>
          </p:nvPr>
        </p:nvSpPr>
        <p:spPr/>
        <p:txBody>
          <a:bodyPr/>
          <a:lstStyle/>
          <a:p>
            <a:pPr algn="just"/>
            <a:r>
              <a:rPr lang="en-GB" sz="2400" dirty="0"/>
              <a:t>Non-functional requirements may be very difficult to state precisely and imprecise requirements may be difficult to verify. </a:t>
            </a:r>
          </a:p>
          <a:p>
            <a:pPr algn="just"/>
            <a:r>
              <a:rPr lang="en-GB" sz="2400" dirty="0"/>
              <a:t>Goal</a:t>
            </a:r>
          </a:p>
          <a:p>
            <a:pPr lvl="1" algn="just"/>
            <a:r>
              <a:rPr lang="en-GB" sz="2000" dirty="0"/>
              <a:t>A general intention of the user such as ease of use.</a:t>
            </a:r>
          </a:p>
          <a:p>
            <a:pPr algn="just"/>
            <a:r>
              <a:rPr lang="en-GB" sz="2400" dirty="0"/>
              <a:t>Verifiable non-functional requirement</a:t>
            </a:r>
          </a:p>
          <a:p>
            <a:pPr lvl="1" algn="just"/>
            <a:r>
              <a:rPr lang="en-GB" sz="2000" dirty="0"/>
              <a:t>A statement using some measure that can be objectively tested.</a:t>
            </a:r>
          </a:p>
          <a:p>
            <a:pPr algn="just"/>
            <a:r>
              <a:rPr lang="en-GB" sz="2400" dirty="0"/>
              <a:t>Goals are helpful to developers as they convey the intentions of the system users.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27</a:t>
            </a:fld>
            <a:endParaRPr lang="en-US"/>
          </a:p>
        </p:txBody>
      </p:sp>
      <p:sp>
        <p:nvSpPr>
          <p:cNvPr id="2" name="Date Placeholder 1"/>
          <p:cNvSpPr>
            <a:spLocks noGrp="1"/>
          </p:cNvSpPr>
          <p:nvPr>
            <p:ph type="dt" sz="half" idx="10"/>
          </p:nvPr>
        </p:nvSpPr>
        <p:spPr/>
        <p:txBody>
          <a:bodyPr/>
          <a:lstStyle/>
          <a:p>
            <a:pPr>
              <a:defRPr/>
            </a:pPr>
            <a:fld id="{886BD072-E46B-4E2D-B63A-D09509560446}" type="datetime1">
              <a:rPr lang="en-US" smtClean="0"/>
              <a:t>5/7/25</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Usability requirements</a:t>
            </a:r>
          </a:p>
        </p:txBody>
      </p:sp>
      <p:sp>
        <p:nvSpPr>
          <p:cNvPr id="3" name="Content Placeholder 2"/>
          <p:cNvSpPr>
            <a:spLocks noGrp="1"/>
          </p:cNvSpPr>
          <p:nvPr>
            <p:ph idx="1"/>
          </p:nvPr>
        </p:nvSpPr>
        <p:spPr/>
        <p:txBody>
          <a:bodyPr/>
          <a:lstStyle/>
          <a:p>
            <a:pPr algn="just"/>
            <a:r>
              <a:rPr lang="en-US" dirty="0"/>
              <a:t>The system should be easy to use by medical staff and should be organized in such a way that user errors are minimized. (Goal)</a:t>
            </a:r>
          </a:p>
          <a:p>
            <a:pPr algn="just"/>
            <a:r>
              <a:rPr lang="en-US" dirty="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28</a:t>
            </a:fld>
            <a:endParaRPr lang="en-US"/>
          </a:p>
        </p:txBody>
      </p:sp>
      <p:sp>
        <p:nvSpPr>
          <p:cNvPr id="6" name="Date Placeholder 5"/>
          <p:cNvSpPr>
            <a:spLocks noGrp="1"/>
          </p:cNvSpPr>
          <p:nvPr>
            <p:ph type="dt" sz="half" idx="10"/>
          </p:nvPr>
        </p:nvSpPr>
        <p:spPr/>
        <p:txBody>
          <a:bodyPr/>
          <a:lstStyle/>
          <a:p>
            <a:pPr>
              <a:defRPr/>
            </a:pPr>
            <a:fld id="{1E7CD40B-8F4C-48C1-BE56-EA03089DED09}" type="datetime1">
              <a:rPr lang="en-US" smtClean="0"/>
              <a:t>5/7/25</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a:t>Metrics for specifying nonfunctional requirements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29</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fld id="{1EC46B03-386B-4F5F-8E8D-D202007E393B}" type="datetime1">
              <a:rPr lang="en-US" smtClean="0"/>
              <a:t>5/7/25</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Domain Requirements</a:t>
            </a:r>
          </a:p>
        </p:txBody>
      </p:sp>
      <p:sp>
        <p:nvSpPr>
          <p:cNvPr id="3" name="Content Placeholder 2"/>
          <p:cNvSpPr>
            <a:spLocks noGrp="1"/>
          </p:cNvSpPr>
          <p:nvPr>
            <p:ph idx="1"/>
          </p:nvPr>
        </p:nvSpPr>
        <p:spPr/>
        <p:txBody>
          <a:bodyPr/>
          <a:lstStyle/>
          <a:p>
            <a:pPr algn="just"/>
            <a:r>
              <a:rPr lang="en-US" dirty="0"/>
              <a:t>Domain requirements are specific to the domain or industry in which the software operates. They include terminology, rules, and standards relevant to that particular domain.</a:t>
            </a:r>
          </a:p>
          <a:p>
            <a:pPr algn="just"/>
            <a:r>
              <a:rPr lang="en-US" b="1" dirty="0"/>
              <a:t>Examples</a:t>
            </a:r>
            <a:r>
              <a:rPr lang="en-US" dirty="0"/>
              <a:t>:</a:t>
            </a:r>
          </a:p>
          <a:p>
            <a:pPr lvl="1" algn="just"/>
            <a:r>
              <a:rPr lang="en-US" b="1" dirty="0"/>
              <a:t>Healthcare</a:t>
            </a:r>
            <a:r>
              <a:rPr lang="en-US" dirty="0"/>
              <a:t>: The software must comply with HIPAA (Health Insurance Portability and Accountability Act) regulations for handling patient data.</a:t>
            </a:r>
          </a:p>
          <a:p>
            <a:pPr lvl="1" algn="just"/>
            <a:r>
              <a:rPr lang="en-US" b="1" dirty="0"/>
              <a:t>Finance</a:t>
            </a:r>
            <a:r>
              <a:rPr lang="en-US" dirty="0"/>
              <a:t>: The system should adhere to GAAP (generally accepted accounting principles) standards for financial reporting.</a:t>
            </a:r>
          </a:p>
          <a:p>
            <a:pPr lvl="1" algn="just"/>
            <a:r>
              <a:rPr lang="en-US" b="1" dirty="0"/>
              <a:t>E-commerce</a:t>
            </a:r>
            <a:r>
              <a:rPr lang="en-US" dirty="0"/>
              <a:t>: The software should support various payment gateways like PayPal, Stripe, and credit cards.</a:t>
            </a:r>
          </a:p>
          <a:p>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30</a:t>
            </a:fld>
            <a:endParaRPr lang="en-US"/>
          </a:p>
        </p:txBody>
      </p:sp>
    </p:spTree>
    <p:extLst>
      <p:ext uri="{BB962C8B-B14F-4D97-AF65-F5344CB8AC3E}">
        <p14:creationId xmlns:p14="http://schemas.microsoft.com/office/powerpoint/2010/main" val="2141270400"/>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a:t>
            </a:r>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31</a:t>
            </a:fld>
            <a:endParaRPr lang="en-US"/>
          </a:p>
        </p:txBody>
      </p:sp>
      <p:pic>
        <p:nvPicPr>
          <p:cNvPr id="6" name="Content Placeholder 5">
            <a:extLst>
              <a:ext uri="{FF2B5EF4-FFF2-40B4-BE49-F238E27FC236}">
                <a16:creationId xmlns:a16="http://schemas.microsoft.com/office/drawing/2014/main" id="{DD84DE7E-D3CD-CD5D-0F03-24346B765988}"/>
              </a:ext>
            </a:extLst>
          </p:cNvPr>
          <p:cNvPicPr>
            <a:picLocks noGrp="1" noChangeAspect="1"/>
          </p:cNvPicPr>
          <p:nvPr>
            <p:ph idx="1"/>
          </p:nvPr>
        </p:nvPicPr>
        <p:blipFill>
          <a:blip r:embed="rId2"/>
          <a:stretch>
            <a:fillRect/>
          </a:stretch>
        </p:blipFill>
        <p:spPr>
          <a:xfrm>
            <a:off x="372538" y="1628800"/>
            <a:ext cx="8447933" cy="4727550"/>
          </a:xfrm>
          <a:prstGeom prst="rect">
            <a:avLst/>
          </a:prstGeom>
        </p:spPr>
      </p:pic>
    </p:spTree>
    <p:extLst>
      <p:ext uri="{BB962C8B-B14F-4D97-AF65-F5344CB8AC3E}">
        <p14:creationId xmlns:p14="http://schemas.microsoft.com/office/powerpoint/2010/main" val="1394454316"/>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engineering processes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32</a:t>
            </a:fld>
            <a:endParaRPr lang="en-US"/>
          </a:p>
        </p:txBody>
      </p:sp>
      <p:sp>
        <p:nvSpPr>
          <p:cNvPr id="3" name="Date Placeholder 2"/>
          <p:cNvSpPr>
            <a:spLocks noGrp="1"/>
          </p:cNvSpPr>
          <p:nvPr>
            <p:ph type="dt" sz="half" idx="10"/>
          </p:nvPr>
        </p:nvSpPr>
        <p:spPr/>
        <p:txBody>
          <a:bodyPr/>
          <a:lstStyle/>
          <a:p>
            <a:pPr>
              <a:defRPr/>
            </a:pPr>
            <a:fld id="{876EA798-3592-4875-9A3A-58FCD48A47DA}" type="datetime1">
              <a:rPr lang="en-US" smtClean="0"/>
              <a:t>5/7/25</a:t>
            </a:fld>
            <a:endParaRPr lang="en-US"/>
          </a:p>
        </p:txBody>
      </p:sp>
    </p:spTree>
    <p:extLst>
      <p:ext uri="{BB962C8B-B14F-4D97-AF65-F5344CB8AC3E}">
        <p14:creationId xmlns:p14="http://schemas.microsoft.com/office/powerpoint/2010/main" val="2668724760"/>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dirty="0"/>
              <a:t>Requirements engineering processes</a:t>
            </a:r>
          </a:p>
        </p:txBody>
      </p:sp>
      <p:sp>
        <p:nvSpPr>
          <p:cNvPr id="44035" name="Rectangle 3"/>
          <p:cNvSpPr>
            <a:spLocks noGrp="1" noChangeArrowheads="1"/>
          </p:cNvSpPr>
          <p:nvPr>
            <p:ph idx="1"/>
          </p:nvPr>
        </p:nvSpPr>
        <p:spPr/>
        <p:txBody>
          <a:bodyPr/>
          <a:lstStyle/>
          <a:p>
            <a:pPr algn="just">
              <a:lnSpc>
                <a:spcPct val="90000"/>
              </a:lnSpc>
            </a:pPr>
            <a:r>
              <a:rPr lang="en-GB" dirty="0"/>
              <a:t>The processes used for RE vary widely depending on the </a:t>
            </a:r>
            <a:r>
              <a:rPr lang="en-GB" dirty="0">
                <a:solidFill>
                  <a:srgbClr val="FF0000"/>
                </a:solidFill>
              </a:rPr>
              <a:t>application domain</a:t>
            </a:r>
            <a:r>
              <a:rPr lang="en-GB" dirty="0"/>
              <a:t>, </a:t>
            </a:r>
            <a:r>
              <a:rPr lang="en-GB" dirty="0">
                <a:solidFill>
                  <a:srgbClr val="FF0000"/>
                </a:solidFill>
              </a:rPr>
              <a:t>the people involved </a:t>
            </a:r>
            <a:r>
              <a:rPr lang="en-GB" dirty="0"/>
              <a:t>and the </a:t>
            </a:r>
            <a:r>
              <a:rPr lang="en-GB" dirty="0">
                <a:solidFill>
                  <a:srgbClr val="FF0000"/>
                </a:solidFill>
              </a:rPr>
              <a:t>organisation developing the requirements</a:t>
            </a:r>
            <a:r>
              <a:rPr lang="en-GB" dirty="0"/>
              <a:t>.</a:t>
            </a:r>
          </a:p>
          <a:p>
            <a:pPr algn="just">
              <a:lnSpc>
                <a:spcPct val="90000"/>
              </a:lnSpc>
            </a:pPr>
            <a:r>
              <a:rPr lang="en-GB" dirty="0"/>
              <a:t>However, there are a number of generic activities common to all processes</a:t>
            </a:r>
          </a:p>
          <a:p>
            <a:pPr lvl="1" algn="just">
              <a:lnSpc>
                <a:spcPct val="90000"/>
              </a:lnSpc>
            </a:pPr>
            <a:r>
              <a:rPr lang="en-GB" dirty="0">
                <a:solidFill>
                  <a:srgbClr val="FF0000"/>
                </a:solidFill>
              </a:rPr>
              <a:t>Requirements elicitation;</a:t>
            </a:r>
          </a:p>
          <a:p>
            <a:pPr lvl="1" algn="just">
              <a:lnSpc>
                <a:spcPct val="90000"/>
              </a:lnSpc>
            </a:pPr>
            <a:r>
              <a:rPr lang="en-GB" dirty="0">
                <a:solidFill>
                  <a:srgbClr val="FF0000"/>
                </a:solidFill>
              </a:rPr>
              <a:t>Requirements analysis;</a:t>
            </a:r>
          </a:p>
          <a:p>
            <a:pPr lvl="1" algn="just">
              <a:lnSpc>
                <a:spcPct val="90000"/>
              </a:lnSpc>
            </a:pPr>
            <a:r>
              <a:rPr lang="en-GB" dirty="0">
                <a:solidFill>
                  <a:srgbClr val="FF0000"/>
                </a:solidFill>
              </a:rPr>
              <a:t>Requirements validation;</a:t>
            </a:r>
          </a:p>
          <a:p>
            <a:pPr lvl="1" algn="just">
              <a:lnSpc>
                <a:spcPct val="90000"/>
              </a:lnSpc>
            </a:pPr>
            <a:r>
              <a:rPr lang="en-GB" dirty="0">
                <a:solidFill>
                  <a:srgbClr val="FF0000"/>
                </a:solidFill>
              </a:rPr>
              <a:t>Requirements management</a:t>
            </a:r>
            <a:r>
              <a:rPr lang="en-GB" dirty="0"/>
              <a:t>.</a:t>
            </a:r>
          </a:p>
          <a:p>
            <a:pPr algn="just">
              <a:lnSpc>
                <a:spcPct val="90000"/>
              </a:lnSpc>
            </a:pPr>
            <a:r>
              <a:rPr lang="en-GB" dirty="0"/>
              <a:t>In practice, RE is an iterative activity in which these processes are interleaved.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33</a:t>
            </a:fld>
            <a:endParaRPr lang="en-US"/>
          </a:p>
        </p:txBody>
      </p:sp>
      <p:sp>
        <p:nvSpPr>
          <p:cNvPr id="2" name="Date Placeholder 1"/>
          <p:cNvSpPr>
            <a:spLocks noGrp="1"/>
          </p:cNvSpPr>
          <p:nvPr>
            <p:ph type="dt" sz="half" idx="10"/>
          </p:nvPr>
        </p:nvSpPr>
        <p:spPr/>
        <p:txBody>
          <a:bodyPr/>
          <a:lstStyle/>
          <a:p>
            <a:pPr>
              <a:defRPr/>
            </a:pPr>
            <a:fld id="{E774BBF0-80EA-4318-8C19-5E5B9295431B}" type="datetime1">
              <a:rPr lang="en-US" smtClean="0"/>
              <a:t>5/7/25</a:t>
            </a:fld>
            <a:endParaRPr lang="en-US"/>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dirty="0"/>
              <a:t>A spiral view of the requirements engineering process</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34</a:t>
            </a:fld>
            <a:endParaRPr lang="en-US"/>
          </a:p>
        </p:txBody>
      </p:sp>
      <p:pic>
        <p:nvPicPr>
          <p:cNvPr id="4" name="Picture 3" descr="4.12 ReqEngSpiral.eps"/>
          <p:cNvPicPr>
            <a:picLocks noChangeAspect="1"/>
          </p:cNvPicPr>
          <p:nvPr/>
        </p:nvPicPr>
        <p:blipFill>
          <a:blip r:embed="rId2"/>
          <a:stretch>
            <a:fillRect/>
          </a:stretch>
        </p:blipFill>
        <p:spPr>
          <a:xfrm>
            <a:off x="1974849" y="1600200"/>
            <a:ext cx="5510667" cy="4756150"/>
          </a:xfrm>
          <a:prstGeom prst="rect">
            <a:avLst/>
          </a:prstGeom>
        </p:spPr>
      </p:pic>
      <p:sp>
        <p:nvSpPr>
          <p:cNvPr id="2" name="Date Placeholder 1"/>
          <p:cNvSpPr>
            <a:spLocks noGrp="1"/>
          </p:cNvSpPr>
          <p:nvPr>
            <p:ph type="dt" sz="half" idx="10"/>
          </p:nvPr>
        </p:nvSpPr>
        <p:spPr/>
        <p:txBody>
          <a:bodyPr/>
          <a:lstStyle/>
          <a:p>
            <a:pPr>
              <a:defRPr/>
            </a:pPr>
            <a:fld id="{9CF02D2E-626F-40F9-A397-239D36CBDE5F}" type="datetime1">
              <a:rPr lang="en-US" smtClean="0"/>
              <a:t>5/7/25</a:t>
            </a:fld>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Feasibility Study</a:t>
            </a:r>
          </a:p>
        </p:txBody>
      </p:sp>
      <p:sp>
        <p:nvSpPr>
          <p:cNvPr id="3" name="Content Placeholder 2"/>
          <p:cNvSpPr>
            <a:spLocks noGrp="1"/>
          </p:cNvSpPr>
          <p:nvPr>
            <p:ph idx="1"/>
          </p:nvPr>
        </p:nvSpPr>
        <p:spPr/>
        <p:txBody>
          <a:bodyPr/>
          <a:lstStyle/>
          <a:p>
            <a:pPr marL="0" indent="0" algn="just">
              <a:buNone/>
            </a:pPr>
            <a:r>
              <a:rPr lang="en-US" dirty="0"/>
              <a:t>A Feasibility should answer three questions</a:t>
            </a:r>
          </a:p>
          <a:p>
            <a:pPr marL="457200" indent="-457200" algn="just">
              <a:buFont typeface="+mj-lt"/>
              <a:buAutoNum type="alphaLcParenR"/>
            </a:pPr>
            <a:r>
              <a:rPr lang="en-US" dirty="0"/>
              <a:t>Does the system contribute to the </a:t>
            </a:r>
            <a:r>
              <a:rPr lang="en-US" b="1" dirty="0">
                <a:solidFill>
                  <a:srgbClr val="FF0000"/>
                </a:solidFill>
              </a:rPr>
              <a:t>overall</a:t>
            </a:r>
            <a:r>
              <a:rPr lang="en-US" dirty="0"/>
              <a:t> objectives of the organization?</a:t>
            </a:r>
          </a:p>
          <a:p>
            <a:pPr marL="457200" indent="-457200" algn="just">
              <a:buFont typeface="+mj-lt"/>
              <a:buAutoNum type="alphaLcParenR"/>
            </a:pPr>
            <a:r>
              <a:rPr lang="en-US" dirty="0"/>
              <a:t>Can the system be implemented within </a:t>
            </a:r>
            <a:r>
              <a:rPr lang="en-US" b="1" dirty="0">
                <a:solidFill>
                  <a:srgbClr val="FF0000"/>
                </a:solidFill>
              </a:rPr>
              <a:t>schedule</a:t>
            </a:r>
            <a:r>
              <a:rPr lang="en-US" dirty="0">
                <a:solidFill>
                  <a:srgbClr val="FF0000"/>
                </a:solidFill>
              </a:rPr>
              <a:t> and </a:t>
            </a:r>
            <a:r>
              <a:rPr lang="en-US" b="1" dirty="0">
                <a:solidFill>
                  <a:srgbClr val="FF0000"/>
                </a:solidFill>
              </a:rPr>
              <a:t>budget</a:t>
            </a:r>
            <a:r>
              <a:rPr lang="en-US" dirty="0"/>
              <a:t> using current technology?</a:t>
            </a:r>
          </a:p>
          <a:p>
            <a:pPr marL="457200" indent="-457200" algn="just">
              <a:buFont typeface="+mj-lt"/>
              <a:buAutoNum type="alphaLcParenR"/>
            </a:pPr>
            <a:r>
              <a:rPr lang="en-US" dirty="0"/>
              <a:t>Can the system be </a:t>
            </a:r>
            <a:r>
              <a:rPr lang="en-US" b="1" dirty="0">
                <a:solidFill>
                  <a:srgbClr val="FF0000"/>
                </a:solidFill>
              </a:rPr>
              <a:t>integrated</a:t>
            </a:r>
            <a:r>
              <a:rPr lang="en-US" dirty="0"/>
              <a:t> with other systems that are used?</a:t>
            </a:r>
          </a:p>
          <a:p>
            <a:pPr marL="0" indent="0" algn="just">
              <a:buNone/>
            </a:pPr>
            <a:r>
              <a:rPr lang="en-US" dirty="0"/>
              <a:t>If these questions are satisfied only we have to go ahead with the project.</a:t>
            </a:r>
          </a:p>
          <a:p>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35</a:t>
            </a:fld>
            <a:endParaRPr lang="en-US"/>
          </a:p>
        </p:txBody>
      </p:sp>
    </p:spTree>
    <p:extLst>
      <p:ext uri="{BB962C8B-B14F-4D97-AF65-F5344CB8AC3E}">
        <p14:creationId xmlns:p14="http://schemas.microsoft.com/office/powerpoint/2010/main" val="1943033485"/>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Elicitation</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36</a:t>
            </a:fld>
            <a:endParaRPr lang="en-US"/>
          </a:p>
        </p:txBody>
      </p:sp>
      <p:sp>
        <p:nvSpPr>
          <p:cNvPr id="3" name="Date Placeholder 2"/>
          <p:cNvSpPr>
            <a:spLocks noGrp="1"/>
          </p:cNvSpPr>
          <p:nvPr>
            <p:ph type="dt" sz="half" idx="10"/>
          </p:nvPr>
        </p:nvSpPr>
        <p:spPr/>
        <p:txBody>
          <a:bodyPr/>
          <a:lstStyle/>
          <a:p>
            <a:pPr>
              <a:defRPr/>
            </a:pPr>
            <a:fld id="{B0B70F01-1748-4E5A-B17C-8643FB7DB697}" type="datetime1">
              <a:rPr lang="en-US" smtClean="0"/>
              <a:t>5/7/25</a:t>
            </a:fld>
            <a:endParaRPr lang="en-US"/>
          </a:p>
        </p:txBody>
      </p:sp>
    </p:spTree>
    <p:extLst>
      <p:ext uri="{BB962C8B-B14F-4D97-AF65-F5344CB8AC3E}">
        <p14:creationId xmlns:p14="http://schemas.microsoft.com/office/powerpoint/2010/main" val="1007080811"/>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Requirements elicitation and analysis</a:t>
            </a:r>
          </a:p>
        </p:txBody>
      </p:sp>
      <p:sp>
        <p:nvSpPr>
          <p:cNvPr id="7171" name="Rectangle 3"/>
          <p:cNvSpPr>
            <a:spLocks noGrp="1" noChangeArrowheads="1"/>
          </p:cNvSpPr>
          <p:nvPr>
            <p:ph idx="1"/>
          </p:nvPr>
        </p:nvSpPr>
        <p:spPr>
          <a:noFill/>
          <a:ln/>
        </p:spPr>
        <p:txBody>
          <a:bodyPr lIns="90487" tIns="44450" rIns="90487" bIns="44450"/>
          <a:lstStyle/>
          <a:p>
            <a:pPr algn="just"/>
            <a:r>
              <a:rPr lang="en-GB" sz="2400" dirty="0"/>
              <a:t>Sometimes called </a:t>
            </a:r>
            <a:r>
              <a:rPr lang="en-GB" sz="2400" dirty="0">
                <a:solidFill>
                  <a:srgbClr val="FF0000"/>
                </a:solidFill>
              </a:rPr>
              <a:t>requirements elicitation </a:t>
            </a:r>
            <a:r>
              <a:rPr lang="en-GB" sz="2400" dirty="0"/>
              <a:t>or </a:t>
            </a:r>
            <a:r>
              <a:rPr lang="en-GB" sz="2400" dirty="0">
                <a:solidFill>
                  <a:srgbClr val="FF0000"/>
                </a:solidFill>
              </a:rPr>
              <a:t>requirements discovery</a:t>
            </a:r>
            <a:r>
              <a:rPr lang="en-GB" sz="2400" dirty="0"/>
              <a:t>.</a:t>
            </a:r>
          </a:p>
          <a:p>
            <a:pPr algn="just"/>
            <a:r>
              <a:rPr lang="en-GB" sz="2400" dirty="0"/>
              <a:t>Involves technical staff working with customers to find out about the </a:t>
            </a:r>
            <a:r>
              <a:rPr lang="en-GB" sz="2400" dirty="0">
                <a:solidFill>
                  <a:srgbClr val="FF0000"/>
                </a:solidFill>
              </a:rPr>
              <a:t>application domain</a:t>
            </a:r>
            <a:r>
              <a:rPr lang="en-GB" sz="2400" dirty="0"/>
              <a:t>, the </a:t>
            </a:r>
            <a:r>
              <a:rPr lang="en-GB" sz="2400" dirty="0">
                <a:solidFill>
                  <a:srgbClr val="FF0000"/>
                </a:solidFill>
              </a:rPr>
              <a:t>services</a:t>
            </a:r>
            <a:r>
              <a:rPr lang="en-GB" sz="2400" dirty="0"/>
              <a:t> that the system should provide and the </a:t>
            </a:r>
            <a:r>
              <a:rPr lang="en-GB" sz="2400" dirty="0">
                <a:solidFill>
                  <a:srgbClr val="FF0000"/>
                </a:solidFill>
              </a:rPr>
              <a:t>system’s operational constraints.</a:t>
            </a:r>
          </a:p>
          <a:p>
            <a:pPr algn="just"/>
            <a:r>
              <a:rPr lang="en-GB" sz="2400" dirty="0"/>
              <a:t>May involve end-users, managers, engineers involved in maintenance, domain experts, trade unions, etc. These are called </a:t>
            </a:r>
            <a:r>
              <a:rPr lang="en-GB" sz="2400" i="1" dirty="0">
                <a:solidFill>
                  <a:srgbClr val="FF0000"/>
                </a:solidFill>
              </a:rPr>
              <a:t>stakeholders</a:t>
            </a:r>
            <a:r>
              <a:rPr lang="en-GB" sz="2400" i="1" dirty="0"/>
              <a: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37</a:t>
            </a:fld>
            <a:endParaRPr lang="en-US"/>
          </a:p>
        </p:txBody>
      </p:sp>
      <p:sp>
        <p:nvSpPr>
          <p:cNvPr id="2" name="Date Placeholder 1"/>
          <p:cNvSpPr>
            <a:spLocks noGrp="1"/>
          </p:cNvSpPr>
          <p:nvPr>
            <p:ph type="dt" sz="half" idx="10"/>
          </p:nvPr>
        </p:nvSpPr>
        <p:spPr/>
        <p:txBody>
          <a:bodyPr/>
          <a:lstStyle/>
          <a:p>
            <a:pPr>
              <a:defRPr/>
            </a:pPr>
            <a:fld id="{33C2B931-644F-473A-BC1F-CD9FA069E989}" type="datetime1">
              <a:rPr lang="en-US" smtClean="0"/>
              <a:t>5/7/25</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elicitation</a:t>
            </a:r>
          </a:p>
        </p:txBody>
      </p:sp>
      <p:sp>
        <p:nvSpPr>
          <p:cNvPr id="3" name="Content Placeholder 2"/>
          <p:cNvSpPr>
            <a:spLocks noGrp="1"/>
          </p:cNvSpPr>
          <p:nvPr>
            <p:ph idx="1"/>
          </p:nvPr>
        </p:nvSpPr>
        <p:spPr/>
        <p:txBody>
          <a:bodyPr/>
          <a:lstStyle/>
          <a:p>
            <a:pPr algn="just"/>
            <a:r>
              <a:rPr lang="en-US" dirty="0"/>
              <a:t>Software engineers work with a range of system stakeholders to find out about the </a:t>
            </a:r>
            <a:r>
              <a:rPr lang="en-US" dirty="0">
                <a:solidFill>
                  <a:srgbClr val="FF0000"/>
                </a:solidFill>
              </a:rPr>
              <a:t>application domain</a:t>
            </a:r>
            <a:r>
              <a:rPr lang="en-US" dirty="0"/>
              <a:t>, the </a:t>
            </a:r>
            <a:r>
              <a:rPr lang="en-US" dirty="0">
                <a:solidFill>
                  <a:srgbClr val="FF0000"/>
                </a:solidFill>
              </a:rPr>
              <a:t>services</a:t>
            </a:r>
            <a:r>
              <a:rPr lang="en-US" dirty="0"/>
              <a:t> that the system should provide, the required </a:t>
            </a:r>
            <a:r>
              <a:rPr lang="en-US" dirty="0">
                <a:solidFill>
                  <a:srgbClr val="FF0000"/>
                </a:solidFill>
              </a:rPr>
              <a:t>system performance, hardware constraints,</a:t>
            </a:r>
            <a:r>
              <a:rPr lang="en-US" dirty="0"/>
              <a:t> other systems, etc.</a:t>
            </a:r>
          </a:p>
          <a:p>
            <a:pPr algn="just"/>
            <a:r>
              <a:rPr lang="en-US" dirty="0"/>
              <a:t>Stages include:</a:t>
            </a:r>
          </a:p>
          <a:p>
            <a:pPr lvl="1" algn="just"/>
            <a:r>
              <a:rPr lang="en-US" dirty="0"/>
              <a:t>Requirements discovery,</a:t>
            </a:r>
          </a:p>
          <a:p>
            <a:pPr lvl="1" algn="just"/>
            <a:r>
              <a:rPr lang="en-US" dirty="0"/>
              <a:t>Requirements classification and organization,</a:t>
            </a:r>
          </a:p>
          <a:p>
            <a:pPr lvl="1" algn="just"/>
            <a:r>
              <a:rPr lang="en-US" dirty="0"/>
              <a:t>Requirements prioritization and negotiation,</a:t>
            </a:r>
          </a:p>
          <a:p>
            <a:pPr lvl="1" algn="just"/>
            <a:r>
              <a:rPr lang="en-US" dirty="0"/>
              <a:t>Requirements specification.</a:t>
            </a:r>
          </a:p>
          <a:p>
            <a:pPr algn="just"/>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38</a:t>
            </a:fld>
            <a:endParaRPr lang="en-US"/>
          </a:p>
        </p:txBody>
      </p:sp>
      <p:sp>
        <p:nvSpPr>
          <p:cNvPr id="6" name="Date Placeholder 5"/>
          <p:cNvSpPr>
            <a:spLocks noGrp="1"/>
          </p:cNvSpPr>
          <p:nvPr>
            <p:ph type="dt" sz="half" idx="10"/>
          </p:nvPr>
        </p:nvSpPr>
        <p:spPr/>
        <p:txBody>
          <a:bodyPr/>
          <a:lstStyle/>
          <a:p>
            <a:pPr>
              <a:defRPr/>
            </a:pPr>
            <a:fld id="{B369E78E-4951-4360-B7A7-4F29A7AFCCA7}" type="datetime1">
              <a:rPr lang="en-US" smtClean="0"/>
              <a:t>5/7/25</a:t>
            </a:fld>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266700"/>
            <a:ext cx="8458200" cy="1104900"/>
          </a:xfrm>
          <a:noFill/>
          <a:ln/>
        </p:spPr>
        <p:txBody>
          <a:bodyPr lIns="90487" tIns="44450" rIns="90487" bIns="44450"/>
          <a:lstStyle/>
          <a:p>
            <a:r>
              <a:rPr lang="en-GB" dirty="0"/>
              <a:t>Problems of requirements elicitation</a:t>
            </a:r>
          </a:p>
        </p:txBody>
      </p:sp>
      <p:sp>
        <p:nvSpPr>
          <p:cNvPr id="8195" name="Rectangle 3"/>
          <p:cNvSpPr>
            <a:spLocks noGrp="1" noChangeArrowheads="1"/>
          </p:cNvSpPr>
          <p:nvPr>
            <p:ph idx="1"/>
          </p:nvPr>
        </p:nvSpPr>
        <p:spPr>
          <a:noFill/>
          <a:ln/>
        </p:spPr>
        <p:txBody>
          <a:bodyPr lIns="90487" tIns="44450" rIns="90487" bIns="44450"/>
          <a:lstStyle/>
          <a:p>
            <a:pPr algn="just"/>
            <a:r>
              <a:rPr lang="en-GB" sz="2400" dirty="0"/>
              <a:t>Stakeholders </a:t>
            </a:r>
            <a:r>
              <a:rPr lang="en-GB" sz="2400" dirty="0">
                <a:solidFill>
                  <a:srgbClr val="FF0000"/>
                </a:solidFill>
              </a:rPr>
              <a:t>don’t know </a:t>
            </a:r>
            <a:r>
              <a:rPr lang="en-GB" sz="2400" dirty="0"/>
              <a:t>what they really want.</a:t>
            </a:r>
          </a:p>
          <a:p>
            <a:pPr algn="just"/>
            <a:r>
              <a:rPr lang="en-GB" sz="2400" dirty="0"/>
              <a:t>Stakeholders express requirements in their </a:t>
            </a:r>
            <a:r>
              <a:rPr lang="en-GB" sz="2400" dirty="0">
                <a:solidFill>
                  <a:srgbClr val="FF0000"/>
                </a:solidFill>
              </a:rPr>
              <a:t>own terms</a:t>
            </a:r>
            <a:r>
              <a:rPr lang="en-GB" sz="2400" dirty="0"/>
              <a:t>.</a:t>
            </a:r>
          </a:p>
          <a:p>
            <a:pPr algn="just"/>
            <a:r>
              <a:rPr lang="en-GB" sz="2400" dirty="0"/>
              <a:t>Different stakeholders may have </a:t>
            </a:r>
            <a:r>
              <a:rPr lang="en-GB" sz="2400" dirty="0">
                <a:solidFill>
                  <a:srgbClr val="FF0000"/>
                </a:solidFill>
              </a:rPr>
              <a:t>conflicting requirements</a:t>
            </a:r>
            <a:r>
              <a:rPr lang="en-GB" sz="2400" dirty="0"/>
              <a:t>.</a:t>
            </a:r>
          </a:p>
          <a:p>
            <a:pPr algn="just"/>
            <a:r>
              <a:rPr lang="en-GB" sz="2400" dirty="0">
                <a:solidFill>
                  <a:srgbClr val="FF0000"/>
                </a:solidFill>
              </a:rPr>
              <a:t>Organisational</a:t>
            </a:r>
            <a:r>
              <a:rPr lang="en-GB" sz="2400" dirty="0"/>
              <a:t> and </a:t>
            </a:r>
            <a:r>
              <a:rPr lang="en-GB" sz="2400" dirty="0">
                <a:solidFill>
                  <a:srgbClr val="FF0000"/>
                </a:solidFill>
              </a:rPr>
              <a:t>political</a:t>
            </a:r>
            <a:r>
              <a:rPr lang="en-GB" sz="2400" dirty="0"/>
              <a:t> factors may influence the system requirements.</a:t>
            </a:r>
          </a:p>
          <a:p>
            <a:pPr algn="just"/>
            <a:r>
              <a:rPr lang="en-GB" sz="2400" dirty="0"/>
              <a:t>The </a:t>
            </a:r>
            <a:r>
              <a:rPr lang="en-GB" sz="2400" dirty="0">
                <a:solidFill>
                  <a:srgbClr val="FF0000"/>
                </a:solidFill>
              </a:rPr>
              <a:t>requirements change </a:t>
            </a:r>
            <a:r>
              <a:rPr lang="en-GB" sz="2400" dirty="0"/>
              <a:t>during the analysis process. New stakeholders may emerge and the business environment may change.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39</a:t>
            </a:fld>
            <a:endParaRPr lang="en-US"/>
          </a:p>
        </p:txBody>
      </p:sp>
      <p:sp>
        <p:nvSpPr>
          <p:cNvPr id="2" name="Date Placeholder 1"/>
          <p:cNvSpPr>
            <a:spLocks noGrp="1"/>
          </p:cNvSpPr>
          <p:nvPr>
            <p:ph type="dt" sz="half" idx="10"/>
          </p:nvPr>
        </p:nvSpPr>
        <p:spPr/>
        <p:txBody>
          <a:bodyPr/>
          <a:lstStyle/>
          <a:p>
            <a:pPr>
              <a:defRPr/>
            </a:pPr>
            <a:fld id="{32742875-66E1-4F5A-93DD-1BADE5272067}" type="datetime1">
              <a:rPr lang="en-US" smtClean="0"/>
              <a:t>5/7/25</a:t>
            </a:fld>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a:t>The</a:t>
            </a:r>
            <a:r>
              <a:rPr lang="en-US" b="1" dirty="0"/>
              <a:t> </a:t>
            </a:r>
            <a:r>
              <a:rPr lang="en-US" dirty="0"/>
              <a:t>requirements elicitation and analysis process</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40</a:t>
            </a:fld>
            <a:endParaRPr lang="en-US"/>
          </a:p>
        </p:txBody>
      </p:sp>
      <p:pic>
        <p:nvPicPr>
          <p:cNvPr id="4" name="Picture 3" descr="4.13 RequirementsElicitation.eps"/>
          <p:cNvPicPr>
            <a:picLocks noChangeAspect="1"/>
          </p:cNvPicPr>
          <p:nvPr/>
        </p:nvPicPr>
        <p:blipFill>
          <a:blip r:embed="rId2"/>
          <a:stretch>
            <a:fillRect/>
          </a:stretch>
        </p:blipFill>
        <p:spPr>
          <a:xfrm>
            <a:off x="1547664" y="1916832"/>
            <a:ext cx="5950107" cy="3908648"/>
          </a:xfrm>
          <a:prstGeom prst="rect">
            <a:avLst/>
          </a:prstGeom>
        </p:spPr>
      </p:pic>
      <p:sp>
        <p:nvSpPr>
          <p:cNvPr id="2" name="Date Placeholder 1"/>
          <p:cNvSpPr>
            <a:spLocks noGrp="1"/>
          </p:cNvSpPr>
          <p:nvPr>
            <p:ph type="dt" sz="half" idx="10"/>
          </p:nvPr>
        </p:nvSpPr>
        <p:spPr/>
        <p:txBody>
          <a:bodyPr/>
          <a:lstStyle/>
          <a:p>
            <a:pPr>
              <a:defRPr/>
            </a:pPr>
            <a:fld id="{EA2999CB-38C5-4EAD-8CED-E05479A46C40}" type="datetime1">
              <a:rPr lang="en-US" smtClean="0"/>
              <a:t>5/7/25</a:t>
            </a:fld>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lIns="90487" tIns="44450" rIns="90487" bIns="44450"/>
          <a:lstStyle/>
          <a:p>
            <a:r>
              <a:rPr lang="en-GB"/>
              <a:t>Process activities</a:t>
            </a:r>
          </a:p>
        </p:txBody>
      </p:sp>
      <p:sp>
        <p:nvSpPr>
          <p:cNvPr id="10243" name="Rectangle 3"/>
          <p:cNvSpPr>
            <a:spLocks noGrp="1" noChangeArrowheads="1"/>
          </p:cNvSpPr>
          <p:nvPr>
            <p:ph idx="1"/>
          </p:nvPr>
        </p:nvSpPr>
        <p:spPr>
          <a:xfrm>
            <a:off x="457200" y="1600200"/>
            <a:ext cx="8229600" cy="4925144"/>
          </a:xfrm>
          <a:noFill/>
          <a:ln/>
        </p:spPr>
        <p:txBody>
          <a:bodyPr lIns="90487" tIns="44450" rIns="90487" bIns="44450"/>
          <a:lstStyle/>
          <a:p>
            <a:pPr algn="just">
              <a:lnSpc>
                <a:spcPct val="90000"/>
              </a:lnSpc>
            </a:pPr>
            <a:r>
              <a:rPr lang="en-GB" sz="2400" dirty="0"/>
              <a:t>Requirements discovery</a:t>
            </a:r>
          </a:p>
          <a:p>
            <a:pPr lvl="1" algn="just">
              <a:lnSpc>
                <a:spcPct val="90000"/>
              </a:lnSpc>
            </a:pPr>
            <a:r>
              <a:rPr lang="en-GB" sz="2000" dirty="0"/>
              <a:t>Interacting with stakeholders to </a:t>
            </a:r>
            <a:r>
              <a:rPr lang="en-GB" sz="2000" dirty="0">
                <a:solidFill>
                  <a:srgbClr val="FF0000"/>
                </a:solidFill>
              </a:rPr>
              <a:t>discover their requirements</a:t>
            </a:r>
            <a:r>
              <a:rPr lang="en-GB" sz="2000" dirty="0"/>
              <a:t>. Domain requirements are also discovered at this stage.</a:t>
            </a:r>
          </a:p>
          <a:p>
            <a:pPr algn="just">
              <a:lnSpc>
                <a:spcPct val="90000"/>
              </a:lnSpc>
            </a:pPr>
            <a:r>
              <a:rPr lang="en-GB" sz="2400" dirty="0"/>
              <a:t>Requirements classification and organisation</a:t>
            </a:r>
          </a:p>
          <a:p>
            <a:pPr lvl="1" algn="just">
              <a:lnSpc>
                <a:spcPct val="90000"/>
              </a:lnSpc>
            </a:pPr>
            <a:r>
              <a:rPr lang="en-GB" sz="2000" dirty="0">
                <a:solidFill>
                  <a:srgbClr val="FF0000"/>
                </a:solidFill>
              </a:rPr>
              <a:t>Groups</a:t>
            </a:r>
            <a:r>
              <a:rPr lang="en-GB" sz="2000" dirty="0"/>
              <a:t> related requirements and </a:t>
            </a:r>
            <a:r>
              <a:rPr lang="en-GB" sz="2000" dirty="0">
                <a:solidFill>
                  <a:srgbClr val="FF0000"/>
                </a:solidFill>
              </a:rPr>
              <a:t>organises them </a:t>
            </a:r>
            <a:r>
              <a:rPr lang="en-GB" sz="2000" dirty="0"/>
              <a:t>into coherent clusters.</a:t>
            </a:r>
          </a:p>
          <a:p>
            <a:pPr algn="just">
              <a:lnSpc>
                <a:spcPct val="90000"/>
              </a:lnSpc>
            </a:pPr>
            <a:r>
              <a:rPr lang="en-GB" sz="2400" dirty="0"/>
              <a:t>Prioritisation and negotiation</a:t>
            </a:r>
          </a:p>
          <a:p>
            <a:pPr lvl="1" algn="just">
              <a:lnSpc>
                <a:spcPct val="90000"/>
              </a:lnSpc>
            </a:pPr>
            <a:r>
              <a:rPr lang="en-GB" sz="2000" dirty="0">
                <a:solidFill>
                  <a:srgbClr val="FF0000"/>
                </a:solidFill>
              </a:rPr>
              <a:t>Prioritising</a:t>
            </a:r>
            <a:r>
              <a:rPr lang="en-GB" sz="2000" dirty="0"/>
              <a:t> requirements and </a:t>
            </a:r>
            <a:r>
              <a:rPr lang="en-GB" sz="2000" dirty="0">
                <a:solidFill>
                  <a:srgbClr val="FF0000"/>
                </a:solidFill>
              </a:rPr>
              <a:t>resolving</a:t>
            </a:r>
            <a:r>
              <a:rPr lang="en-GB" sz="2000" dirty="0"/>
              <a:t> requirements </a:t>
            </a:r>
            <a:r>
              <a:rPr lang="en-GB" sz="2000" dirty="0">
                <a:solidFill>
                  <a:srgbClr val="FF0000"/>
                </a:solidFill>
              </a:rPr>
              <a:t>conflicts.</a:t>
            </a:r>
          </a:p>
          <a:p>
            <a:pPr algn="just">
              <a:lnSpc>
                <a:spcPct val="90000"/>
              </a:lnSpc>
            </a:pPr>
            <a:r>
              <a:rPr lang="en-GB" sz="2400" dirty="0"/>
              <a:t>Requirements specification</a:t>
            </a:r>
          </a:p>
          <a:p>
            <a:pPr lvl="1" algn="just">
              <a:lnSpc>
                <a:spcPct val="90000"/>
              </a:lnSpc>
            </a:pPr>
            <a:r>
              <a:rPr lang="en-GB" sz="2000" dirty="0"/>
              <a:t>Requirements are </a:t>
            </a:r>
            <a:r>
              <a:rPr lang="en-GB" sz="2000" dirty="0">
                <a:solidFill>
                  <a:srgbClr val="FF0000"/>
                </a:solidFill>
              </a:rPr>
              <a:t>documented</a:t>
            </a:r>
            <a:r>
              <a:rPr lang="en-GB" sz="2000" dirty="0"/>
              <a:t> and </a:t>
            </a:r>
            <a:r>
              <a:rPr lang="en-GB" sz="2000" dirty="0">
                <a:solidFill>
                  <a:srgbClr val="FF0000"/>
                </a:solidFill>
              </a:rPr>
              <a:t>input into the next round </a:t>
            </a:r>
            <a:r>
              <a:rPr lang="en-GB" sz="2000" dirty="0"/>
              <a:t>of the spiral.</a:t>
            </a:r>
          </a:p>
        </p:txBody>
      </p:sp>
      <p:sp>
        <p:nvSpPr>
          <p:cNvPr id="2" name="Date Placeholder 1"/>
          <p:cNvSpPr>
            <a:spLocks noGrp="1"/>
          </p:cNvSpPr>
          <p:nvPr>
            <p:ph type="dt" sz="half" idx="10"/>
          </p:nvPr>
        </p:nvSpPr>
        <p:spPr/>
        <p:txBody>
          <a:bodyPr/>
          <a:lstStyle/>
          <a:p>
            <a:pPr>
              <a:defRPr/>
            </a:pPr>
            <a:fld id="{F55BF009-DED5-4DAA-BE1A-0517CA2CCA49}"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41</a:t>
            </a:fld>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discovery</a:t>
            </a:r>
          </a:p>
        </p:txBody>
      </p:sp>
      <p:sp>
        <p:nvSpPr>
          <p:cNvPr id="3" name="Content Placeholder 2"/>
          <p:cNvSpPr>
            <a:spLocks noGrp="1"/>
          </p:cNvSpPr>
          <p:nvPr>
            <p:ph idx="1"/>
          </p:nvPr>
        </p:nvSpPr>
        <p:spPr/>
        <p:txBody>
          <a:bodyPr/>
          <a:lstStyle/>
          <a:p>
            <a:pPr algn="just"/>
            <a:r>
              <a:rPr lang="en-US" dirty="0"/>
              <a:t>The </a:t>
            </a:r>
            <a:r>
              <a:rPr lang="en-US" dirty="0">
                <a:solidFill>
                  <a:srgbClr val="FF0000"/>
                </a:solidFill>
              </a:rPr>
              <a:t>process of gathering information </a:t>
            </a:r>
            <a:r>
              <a:rPr lang="en-US" dirty="0"/>
              <a:t>about the required and existing systems and </a:t>
            </a:r>
            <a:r>
              <a:rPr lang="en-US" dirty="0">
                <a:solidFill>
                  <a:srgbClr val="FF0000"/>
                </a:solidFill>
              </a:rPr>
              <a:t>distilling the user and system requirements</a:t>
            </a:r>
            <a:r>
              <a:rPr lang="en-US" dirty="0"/>
              <a:t> from this information.</a:t>
            </a:r>
          </a:p>
          <a:p>
            <a:pPr algn="just"/>
            <a:r>
              <a:rPr lang="en-US" dirty="0"/>
              <a:t>Interaction is with system stakeholders from managers to external regulators.</a:t>
            </a:r>
          </a:p>
          <a:p>
            <a:pPr algn="just"/>
            <a:r>
              <a:rPr lang="en-US" dirty="0"/>
              <a:t>Systems normally have a range of stakeholders.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42</a:t>
            </a:fld>
            <a:endParaRPr lang="en-US"/>
          </a:p>
        </p:txBody>
      </p:sp>
      <p:sp>
        <p:nvSpPr>
          <p:cNvPr id="6" name="Date Placeholder 5"/>
          <p:cNvSpPr>
            <a:spLocks noGrp="1"/>
          </p:cNvSpPr>
          <p:nvPr>
            <p:ph type="dt" sz="half" idx="10"/>
          </p:nvPr>
        </p:nvSpPr>
        <p:spPr/>
        <p:txBody>
          <a:bodyPr/>
          <a:lstStyle/>
          <a:p>
            <a:pPr>
              <a:defRPr/>
            </a:pPr>
            <a:fld id="{C08702E3-712A-4AA9-929C-A62F0AA388EE}" type="datetime1">
              <a:rPr lang="en-US" smtClean="0"/>
              <a:t>5/7/25</a:t>
            </a:fld>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Elicitation Techniques</a:t>
            </a:r>
          </a:p>
        </p:txBody>
      </p:sp>
      <p:sp>
        <p:nvSpPr>
          <p:cNvPr id="3" name="Content Placeholder 2"/>
          <p:cNvSpPr>
            <a:spLocks noGrp="1"/>
          </p:cNvSpPr>
          <p:nvPr>
            <p:ph idx="1"/>
          </p:nvPr>
        </p:nvSpPr>
        <p:spPr/>
        <p:txBody>
          <a:bodyPr/>
          <a:lstStyle/>
          <a:p>
            <a:pPr algn="just"/>
            <a:r>
              <a:rPr lang="en-US" dirty="0"/>
              <a:t>Requirements elicitation involves </a:t>
            </a:r>
            <a:r>
              <a:rPr lang="en-US" dirty="0">
                <a:solidFill>
                  <a:srgbClr val="FF0000"/>
                </a:solidFill>
              </a:rPr>
              <a:t>meeting with stakeholders</a:t>
            </a:r>
            <a:r>
              <a:rPr lang="en-US" dirty="0"/>
              <a:t> of different kinds </a:t>
            </a:r>
            <a:r>
              <a:rPr lang="en-US" dirty="0">
                <a:solidFill>
                  <a:srgbClr val="FF0000"/>
                </a:solidFill>
              </a:rPr>
              <a:t>to discover information </a:t>
            </a:r>
            <a:r>
              <a:rPr lang="en-US" dirty="0"/>
              <a:t>about the proposed system.</a:t>
            </a:r>
          </a:p>
          <a:p>
            <a:pPr algn="just"/>
            <a:r>
              <a:rPr lang="en-US" dirty="0"/>
              <a:t>Requirement Elicitation techniques:</a:t>
            </a:r>
          </a:p>
          <a:p>
            <a:pPr lvl="1" algn="just"/>
            <a:r>
              <a:rPr lang="en-US" dirty="0"/>
              <a:t>Interviewing</a:t>
            </a:r>
          </a:p>
          <a:p>
            <a:pPr lvl="1" algn="just"/>
            <a:r>
              <a:rPr lang="en-US" dirty="0"/>
              <a:t>Brain Storming</a:t>
            </a:r>
          </a:p>
          <a:p>
            <a:pPr lvl="1" algn="just"/>
            <a:r>
              <a:rPr lang="en-US" dirty="0"/>
              <a:t>Facilitated Application Specification Techniques</a:t>
            </a:r>
          </a:p>
          <a:p>
            <a:pPr lvl="1" algn="just"/>
            <a:r>
              <a:rPr lang="en-US" dirty="0"/>
              <a:t>Quality Function Deployment</a:t>
            </a:r>
          </a:p>
          <a:p>
            <a:pPr lvl="1" algn="just"/>
            <a:r>
              <a:rPr lang="en-US" dirty="0"/>
              <a:t>Ethnography</a:t>
            </a:r>
          </a:p>
          <a:p>
            <a:pPr lvl="1" algn="just"/>
            <a:r>
              <a:rPr lang="en-US" dirty="0"/>
              <a:t>Stories and Scenarios</a:t>
            </a:r>
          </a:p>
          <a:p>
            <a:pPr lvl="1" algn="just"/>
            <a:r>
              <a:rPr lang="en-US" dirty="0"/>
              <a:t>Usage Scenarios</a:t>
            </a:r>
          </a:p>
          <a:p>
            <a:pPr lvl="1" algn="just"/>
            <a:endParaRPr lang="en-IN" dirty="0"/>
          </a:p>
          <a:p>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43</a:t>
            </a:fld>
            <a:endParaRPr lang="en-US"/>
          </a:p>
        </p:txBody>
      </p:sp>
    </p:spTree>
    <p:extLst>
      <p:ext uri="{BB962C8B-B14F-4D97-AF65-F5344CB8AC3E}">
        <p14:creationId xmlns:p14="http://schemas.microsoft.com/office/powerpoint/2010/main" val="2688117541"/>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Interviewing</a:t>
            </a:r>
          </a:p>
        </p:txBody>
      </p:sp>
      <p:sp>
        <p:nvSpPr>
          <p:cNvPr id="3" name="Content Placeholder 2"/>
          <p:cNvSpPr>
            <a:spLocks noGrp="1"/>
          </p:cNvSpPr>
          <p:nvPr>
            <p:ph idx="1"/>
          </p:nvPr>
        </p:nvSpPr>
        <p:spPr/>
        <p:txBody>
          <a:bodyPr/>
          <a:lstStyle/>
          <a:p>
            <a:pPr algn="just"/>
            <a:r>
              <a:rPr lang="en-US" dirty="0">
                <a:solidFill>
                  <a:srgbClr val="FF0000"/>
                </a:solidFill>
              </a:rPr>
              <a:t>Formal</a:t>
            </a:r>
            <a:r>
              <a:rPr lang="en-US" dirty="0"/>
              <a:t> or </a:t>
            </a:r>
            <a:r>
              <a:rPr lang="en-US" dirty="0">
                <a:solidFill>
                  <a:srgbClr val="FF0000"/>
                </a:solidFill>
              </a:rPr>
              <a:t>informal</a:t>
            </a:r>
            <a:r>
              <a:rPr lang="en-US" dirty="0"/>
              <a:t> interviews with stakeholders are part of most RE processes.</a:t>
            </a:r>
          </a:p>
          <a:p>
            <a:pPr algn="just"/>
            <a:r>
              <a:rPr lang="en-US" dirty="0"/>
              <a:t>Types of interview</a:t>
            </a:r>
          </a:p>
          <a:p>
            <a:pPr lvl="1" algn="just"/>
            <a:r>
              <a:rPr lang="en-US" dirty="0">
                <a:solidFill>
                  <a:srgbClr val="FF0000"/>
                </a:solidFill>
              </a:rPr>
              <a:t>Closed interviews </a:t>
            </a:r>
            <a:r>
              <a:rPr lang="en-US" dirty="0"/>
              <a:t>based on </a:t>
            </a:r>
            <a:r>
              <a:rPr lang="en-US" dirty="0">
                <a:solidFill>
                  <a:srgbClr val="FF0000"/>
                </a:solidFill>
              </a:rPr>
              <a:t>pre-determined list of questions</a:t>
            </a:r>
          </a:p>
          <a:p>
            <a:pPr lvl="1" algn="just"/>
            <a:r>
              <a:rPr lang="en-US" dirty="0">
                <a:solidFill>
                  <a:srgbClr val="FF0000"/>
                </a:solidFill>
              </a:rPr>
              <a:t>Open interviews </a:t>
            </a:r>
            <a:r>
              <a:rPr lang="en-US" dirty="0"/>
              <a:t>where various issues are explored with stakeholders.</a:t>
            </a:r>
          </a:p>
          <a:p>
            <a:pPr algn="just"/>
            <a:r>
              <a:rPr lang="en-US" dirty="0"/>
              <a:t>Effective interviewing</a:t>
            </a:r>
          </a:p>
          <a:p>
            <a:pPr lvl="1" algn="just"/>
            <a:r>
              <a:rPr lang="en-US" dirty="0"/>
              <a:t>Be </a:t>
            </a:r>
            <a:r>
              <a:rPr lang="en-US" dirty="0">
                <a:solidFill>
                  <a:srgbClr val="FF0000"/>
                </a:solidFill>
              </a:rPr>
              <a:t>open-minded</a:t>
            </a:r>
            <a:r>
              <a:rPr lang="en-US" dirty="0"/>
              <a:t>, </a:t>
            </a:r>
            <a:r>
              <a:rPr lang="en-US" dirty="0">
                <a:solidFill>
                  <a:srgbClr val="FF0000"/>
                </a:solidFill>
              </a:rPr>
              <a:t>avoid pre-conceived ideas </a:t>
            </a:r>
            <a:r>
              <a:rPr lang="en-US" dirty="0"/>
              <a:t>about the requirements and are willing to </a:t>
            </a:r>
            <a:r>
              <a:rPr lang="en-US" dirty="0">
                <a:solidFill>
                  <a:srgbClr val="FF0000"/>
                </a:solidFill>
              </a:rPr>
              <a:t>listen to stakeholders</a:t>
            </a:r>
            <a:r>
              <a:rPr lang="en-US" dirty="0"/>
              <a:t>. </a:t>
            </a:r>
            <a:endParaRPr lang="en-GB" dirty="0"/>
          </a:p>
          <a:p>
            <a:pPr lvl="1" algn="just"/>
            <a:r>
              <a:rPr lang="en-US" dirty="0"/>
              <a:t>Prompt the interviewee to get discussions going using a springboard question, a requirements proposal, or by working together on a prototype system. </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44</a:t>
            </a:fld>
            <a:endParaRPr lang="en-US" dirty="0"/>
          </a:p>
        </p:txBody>
      </p:sp>
      <p:sp>
        <p:nvSpPr>
          <p:cNvPr id="6" name="Date Placeholder 5"/>
          <p:cNvSpPr>
            <a:spLocks noGrp="1"/>
          </p:cNvSpPr>
          <p:nvPr>
            <p:ph type="dt" sz="half" idx="10"/>
          </p:nvPr>
        </p:nvSpPr>
        <p:spPr/>
        <p:txBody>
          <a:bodyPr/>
          <a:lstStyle/>
          <a:p>
            <a:pPr>
              <a:defRPr/>
            </a:pPr>
            <a:fld id="{57C966AC-AD65-4FD4-A2FF-694138182419}" type="datetime1">
              <a:rPr lang="en-US" smtClean="0"/>
              <a:t>5/7/25</a:t>
            </a:fld>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t>Interviews in practice</a:t>
            </a:r>
          </a:p>
        </p:txBody>
      </p:sp>
      <p:sp>
        <p:nvSpPr>
          <p:cNvPr id="94211" name="Rectangle 3"/>
          <p:cNvSpPr>
            <a:spLocks noGrp="1" noChangeArrowheads="1"/>
          </p:cNvSpPr>
          <p:nvPr>
            <p:ph idx="1"/>
          </p:nvPr>
        </p:nvSpPr>
        <p:spPr/>
        <p:txBody>
          <a:bodyPr/>
          <a:lstStyle/>
          <a:p>
            <a:pPr algn="just">
              <a:lnSpc>
                <a:spcPct val="90000"/>
              </a:lnSpc>
            </a:pPr>
            <a:r>
              <a:rPr lang="en-US" sz="2400" dirty="0"/>
              <a:t>Normally a </a:t>
            </a:r>
            <a:r>
              <a:rPr lang="en-US" sz="2400" dirty="0">
                <a:solidFill>
                  <a:srgbClr val="FF0000"/>
                </a:solidFill>
              </a:rPr>
              <a:t>mix </a:t>
            </a:r>
            <a:r>
              <a:rPr lang="en-US" sz="2400" dirty="0"/>
              <a:t>of </a:t>
            </a:r>
            <a:r>
              <a:rPr lang="en-US" sz="2400" dirty="0">
                <a:solidFill>
                  <a:srgbClr val="FF0000"/>
                </a:solidFill>
              </a:rPr>
              <a:t>closed and open-ended interviewing</a:t>
            </a:r>
            <a:r>
              <a:rPr lang="en-US" sz="2400" dirty="0"/>
              <a:t>.</a:t>
            </a:r>
          </a:p>
          <a:p>
            <a:pPr algn="just">
              <a:lnSpc>
                <a:spcPct val="90000"/>
              </a:lnSpc>
            </a:pPr>
            <a:r>
              <a:rPr lang="en-US" sz="2400" dirty="0"/>
              <a:t>Interviews are </a:t>
            </a:r>
            <a:r>
              <a:rPr lang="en-US" sz="2400" dirty="0">
                <a:solidFill>
                  <a:srgbClr val="FF0000"/>
                </a:solidFill>
              </a:rPr>
              <a:t>good for </a:t>
            </a:r>
            <a:r>
              <a:rPr lang="en-US" sz="2400" dirty="0"/>
              <a:t>getting an </a:t>
            </a:r>
            <a:r>
              <a:rPr lang="en-US" sz="2400" dirty="0">
                <a:solidFill>
                  <a:srgbClr val="FF0000"/>
                </a:solidFill>
              </a:rPr>
              <a:t>overall understanding </a:t>
            </a:r>
            <a:r>
              <a:rPr lang="en-US" sz="2400" dirty="0"/>
              <a:t>of what stakeholders do and how they might interact with the system.</a:t>
            </a:r>
          </a:p>
          <a:p>
            <a:pPr algn="just">
              <a:lnSpc>
                <a:spcPct val="90000"/>
              </a:lnSpc>
            </a:pPr>
            <a:r>
              <a:rPr lang="en-US" dirty="0"/>
              <a:t>Interviewers need to be </a:t>
            </a:r>
            <a:r>
              <a:rPr lang="en-US" dirty="0">
                <a:solidFill>
                  <a:srgbClr val="FF0000"/>
                </a:solidFill>
              </a:rPr>
              <a:t>open-minded without pre-conceived ideas</a:t>
            </a:r>
            <a:r>
              <a:rPr lang="en-US" dirty="0"/>
              <a:t> of what the system should do</a:t>
            </a:r>
          </a:p>
          <a:p>
            <a:pPr algn="just">
              <a:lnSpc>
                <a:spcPct val="90000"/>
              </a:lnSpc>
            </a:pPr>
            <a:r>
              <a:rPr lang="en-US" sz="2400" dirty="0"/>
              <a:t>You need to prompt the use to talk about the system by </a:t>
            </a:r>
            <a:r>
              <a:rPr lang="en-US" sz="2400" dirty="0">
                <a:solidFill>
                  <a:srgbClr val="FF0000"/>
                </a:solidFill>
              </a:rPr>
              <a:t>suggesting requirements </a:t>
            </a:r>
            <a:r>
              <a:rPr lang="en-US" sz="2400" dirty="0"/>
              <a:t>rather than simply asking them what they want.</a:t>
            </a:r>
          </a:p>
        </p:txBody>
      </p:sp>
      <p:sp>
        <p:nvSpPr>
          <p:cNvPr id="2" name="Date Placeholder 1"/>
          <p:cNvSpPr>
            <a:spLocks noGrp="1"/>
          </p:cNvSpPr>
          <p:nvPr>
            <p:ph type="dt" sz="half" idx="10"/>
          </p:nvPr>
        </p:nvSpPr>
        <p:spPr/>
        <p:txBody>
          <a:bodyPr/>
          <a:lstStyle/>
          <a:p>
            <a:pPr>
              <a:defRPr/>
            </a:pPr>
            <a:fld id="{5A44182C-A1A0-4259-81E7-71193A25F2CD}"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45</a:t>
            </a:fld>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Problems with interviews</a:t>
            </a:r>
          </a:p>
        </p:txBody>
      </p:sp>
      <p:sp>
        <p:nvSpPr>
          <p:cNvPr id="3" name="Content Placeholder 2"/>
          <p:cNvSpPr>
            <a:spLocks noGrp="1"/>
          </p:cNvSpPr>
          <p:nvPr>
            <p:ph idx="1"/>
          </p:nvPr>
        </p:nvSpPr>
        <p:spPr/>
        <p:txBody>
          <a:bodyPr/>
          <a:lstStyle/>
          <a:p>
            <a:pPr algn="just">
              <a:lnSpc>
                <a:spcPct val="90000"/>
              </a:lnSpc>
            </a:pPr>
            <a:r>
              <a:rPr lang="en-US" dirty="0"/>
              <a:t>Application specialists may </a:t>
            </a:r>
            <a:r>
              <a:rPr lang="en-US" dirty="0">
                <a:solidFill>
                  <a:srgbClr val="FF0000"/>
                </a:solidFill>
              </a:rPr>
              <a:t>use language to describe their work that isn’t easy for the requirements engineer to understand.</a:t>
            </a:r>
          </a:p>
          <a:p>
            <a:pPr algn="just">
              <a:lnSpc>
                <a:spcPct val="90000"/>
              </a:lnSpc>
            </a:pPr>
            <a:r>
              <a:rPr lang="en-US" dirty="0"/>
              <a:t>Interviews are not good for understanding domain requirements</a:t>
            </a:r>
          </a:p>
          <a:p>
            <a:pPr lvl="1" algn="just">
              <a:lnSpc>
                <a:spcPct val="90000"/>
              </a:lnSpc>
            </a:pPr>
            <a:r>
              <a:rPr lang="en-US" dirty="0"/>
              <a:t>Requirements engineers cannot understand </a:t>
            </a:r>
            <a:r>
              <a:rPr lang="en-US" dirty="0">
                <a:solidFill>
                  <a:srgbClr val="FF0000"/>
                </a:solidFill>
              </a:rPr>
              <a:t>specific domain terminology;</a:t>
            </a:r>
          </a:p>
          <a:p>
            <a:pPr lvl="1" algn="just">
              <a:lnSpc>
                <a:spcPct val="90000"/>
              </a:lnSpc>
            </a:pPr>
            <a:r>
              <a:rPr lang="en-US" dirty="0"/>
              <a:t>Some domain knowledge is so familiar that people find it hard to articulate or think that it isn’t worth articulating.</a:t>
            </a:r>
          </a:p>
          <a:p>
            <a:pPr algn="just"/>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46</a:t>
            </a:fld>
            <a:endParaRPr lang="en-US"/>
          </a:p>
        </p:txBody>
      </p:sp>
      <p:sp>
        <p:nvSpPr>
          <p:cNvPr id="6" name="Date Placeholder 5"/>
          <p:cNvSpPr>
            <a:spLocks noGrp="1"/>
          </p:cNvSpPr>
          <p:nvPr>
            <p:ph type="dt" sz="half" idx="10"/>
          </p:nvPr>
        </p:nvSpPr>
        <p:spPr/>
        <p:txBody>
          <a:bodyPr/>
          <a:lstStyle/>
          <a:p>
            <a:pPr>
              <a:defRPr/>
            </a:pPr>
            <a:fld id="{1A0DBF02-1E45-4D83-9B7B-3C60F4C0678A}" type="datetime1">
              <a:rPr lang="en-US" smtClean="0"/>
              <a:t>5/7/25</a:t>
            </a:fld>
            <a:endParaRPr lang="en-US"/>
          </a:p>
        </p:txBody>
      </p:sp>
    </p:spTree>
    <p:extLst>
      <p:ext uri="{BB962C8B-B14F-4D97-AF65-F5344CB8AC3E}">
        <p14:creationId xmlns:p14="http://schemas.microsoft.com/office/powerpoint/2010/main" val="501127493"/>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Brainstorming</a:t>
            </a:r>
          </a:p>
        </p:txBody>
      </p:sp>
      <p:sp>
        <p:nvSpPr>
          <p:cNvPr id="3" name="Content Placeholder 2"/>
          <p:cNvSpPr>
            <a:spLocks noGrp="1"/>
          </p:cNvSpPr>
          <p:nvPr>
            <p:ph idx="1"/>
          </p:nvPr>
        </p:nvSpPr>
        <p:spPr/>
        <p:txBody>
          <a:bodyPr/>
          <a:lstStyle/>
          <a:p>
            <a:pPr algn="just"/>
            <a:r>
              <a:rPr lang="en-US" dirty="0"/>
              <a:t>Brainstorming Sessions is a </a:t>
            </a:r>
            <a:r>
              <a:rPr lang="en-US" dirty="0">
                <a:solidFill>
                  <a:srgbClr val="FF0000"/>
                </a:solidFill>
              </a:rPr>
              <a:t>group technique</a:t>
            </a:r>
          </a:p>
          <a:p>
            <a:pPr algn="just"/>
            <a:r>
              <a:rPr lang="en-US" dirty="0"/>
              <a:t>It is intended to generate lots of new ideas hence providing a platform to share views</a:t>
            </a:r>
          </a:p>
          <a:p>
            <a:pPr algn="just"/>
            <a:r>
              <a:rPr lang="en-US" dirty="0"/>
              <a:t>A </a:t>
            </a:r>
            <a:r>
              <a:rPr lang="en-US" dirty="0">
                <a:solidFill>
                  <a:srgbClr val="FF0000"/>
                </a:solidFill>
              </a:rPr>
              <a:t>highly trained facilitator </a:t>
            </a:r>
            <a:r>
              <a:rPr lang="en-US" dirty="0"/>
              <a:t>is required to handle group bias and conflicts.</a:t>
            </a:r>
          </a:p>
          <a:p>
            <a:pPr algn="just"/>
            <a:r>
              <a:rPr lang="en-US" dirty="0"/>
              <a:t>Every idea is </a:t>
            </a:r>
            <a:r>
              <a:rPr lang="en-US" dirty="0">
                <a:solidFill>
                  <a:srgbClr val="FF0000"/>
                </a:solidFill>
              </a:rPr>
              <a:t>documented </a:t>
            </a:r>
            <a:r>
              <a:rPr lang="en-US" dirty="0"/>
              <a:t>so that everyone can see it.</a:t>
            </a:r>
          </a:p>
          <a:p>
            <a:pPr algn="just"/>
            <a:r>
              <a:rPr lang="en-US" dirty="0"/>
              <a:t>Finally, a document is prepared which consists of the list of requirements and their priority if possible.</a:t>
            </a:r>
          </a:p>
          <a:p>
            <a:pPr algn="just"/>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47</a:t>
            </a:fld>
            <a:endParaRPr lang="en-US"/>
          </a:p>
        </p:txBody>
      </p:sp>
    </p:spTree>
    <p:extLst>
      <p:ext uri="{BB962C8B-B14F-4D97-AF65-F5344CB8AC3E}">
        <p14:creationId xmlns:p14="http://schemas.microsoft.com/office/powerpoint/2010/main" val="88941803"/>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Brainstorming</a:t>
            </a:r>
          </a:p>
        </p:txBody>
      </p:sp>
      <p:sp>
        <p:nvSpPr>
          <p:cNvPr id="3" name="Content Placeholder 2"/>
          <p:cNvSpPr>
            <a:spLocks noGrp="1"/>
          </p:cNvSpPr>
          <p:nvPr>
            <p:ph idx="1"/>
          </p:nvPr>
        </p:nvSpPr>
        <p:spPr/>
        <p:txBody>
          <a:bodyPr/>
          <a:lstStyle/>
          <a:p>
            <a:pPr algn="just"/>
            <a:r>
              <a:rPr lang="en-US" b="1" dirty="0"/>
              <a:t>Creates Unique Identity: </a:t>
            </a:r>
            <a:r>
              <a:rPr lang="en-US" dirty="0"/>
              <a:t>Brainstorming helps brands develop a distinct identity that sets them apart from competitors, giving them a </a:t>
            </a:r>
            <a:r>
              <a:rPr lang="en-US" b="1" dirty="0"/>
              <a:t>competitive advantage</a:t>
            </a:r>
            <a:r>
              <a:rPr lang="en-US" dirty="0"/>
              <a:t>.</a:t>
            </a:r>
          </a:p>
          <a:p>
            <a:pPr algn="just"/>
            <a:r>
              <a:rPr lang="en-US" b="1" dirty="0"/>
              <a:t>Effective Problem-Solving: </a:t>
            </a:r>
            <a:r>
              <a:rPr lang="en-US" dirty="0"/>
              <a:t>When a problem is too challenging for an individual, a team can combine their unique perspectives to find the best solution.</a:t>
            </a:r>
          </a:p>
          <a:p>
            <a:pPr algn="just"/>
            <a:r>
              <a:rPr lang="en-US" b="1" dirty="0"/>
              <a:t>Encourages Diverse Approaches: </a:t>
            </a:r>
            <a:r>
              <a:rPr lang="en-US" dirty="0"/>
              <a:t>The flexibility of brainstorming allows for various approaches and ideas, leading to innovative and unique solutions.</a:t>
            </a:r>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48</a:t>
            </a:fld>
            <a:endParaRPr lang="en-US"/>
          </a:p>
        </p:txBody>
      </p:sp>
    </p:spTree>
    <p:extLst>
      <p:ext uri="{BB962C8B-B14F-4D97-AF65-F5344CB8AC3E}">
        <p14:creationId xmlns:p14="http://schemas.microsoft.com/office/powerpoint/2010/main" val="1163371619"/>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sz="2000" b="1" dirty="0"/>
              <a:t>Enhances Team Collaboration: </a:t>
            </a:r>
            <a:r>
              <a:rPr lang="en-US" sz="2000" dirty="0"/>
              <a:t>Fosters teamwork and collective thinking, improving overall team dynamics and productivity.</a:t>
            </a:r>
          </a:p>
          <a:p>
            <a:pPr algn="just"/>
            <a:r>
              <a:rPr lang="en-US" sz="2000" b="1" dirty="0"/>
              <a:t>Promotes Innovation: </a:t>
            </a:r>
            <a:r>
              <a:rPr lang="en-US" sz="2000" dirty="0"/>
              <a:t>Encourages out-of-the-box thinking, driving fresh and creative ideas that can propel the brand forward.</a:t>
            </a:r>
          </a:p>
          <a:p>
            <a:pPr algn="just"/>
            <a:r>
              <a:rPr lang="en-US" sz="2000" b="1" dirty="0"/>
              <a:t>Improves Decision Making: </a:t>
            </a:r>
            <a:r>
              <a:rPr lang="en-US" sz="2000" dirty="0"/>
              <a:t>By considering multiple viewpoints, brainstorming helps in making more informed and well-rounded decisions.</a:t>
            </a:r>
          </a:p>
          <a:p>
            <a:pPr algn="just"/>
            <a:r>
              <a:rPr lang="en-US" sz="2000" b="1" dirty="0"/>
              <a:t>Boosts Engagement: </a:t>
            </a:r>
            <a:r>
              <a:rPr lang="en-US" sz="2000" dirty="0"/>
              <a:t>Engages team members by valuing their input and ideas, leading to higher morale and motivation.</a:t>
            </a:r>
          </a:p>
          <a:p>
            <a:pPr algn="just"/>
            <a:r>
              <a:rPr lang="en-US" sz="2000" b="1" dirty="0"/>
              <a:t>Increases Efficiency: </a:t>
            </a:r>
            <a:r>
              <a:rPr lang="en-US" sz="2000" dirty="0"/>
              <a:t>Rapid idea generation during brainstorming sessions saves time and accelerates the problem-solving process.</a:t>
            </a:r>
          </a:p>
          <a:p>
            <a:pPr algn="just"/>
            <a:endParaRPr lang="en-US" sz="2000" dirty="0"/>
          </a:p>
          <a:p>
            <a:pPr algn="just"/>
            <a:endParaRPr lang="en-US" sz="2000"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49</a:t>
            </a:fld>
            <a:endParaRPr lang="en-US"/>
          </a:p>
        </p:txBody>
      </p:sp>
    </p:spTree>
    <p:extLst>
      <p:ext uri="{BB962C8B-B14F-4D97-AF65-F5344CB8AC3E}">
        <p14:creationId xmlns:p14="http://schemas.microsoft.com/office/powerpoint/2010/main" val="2953855662"/>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a:t>
            </a:r>
          </a:p>
        </p:txBody>
      </p:sp>
      <p:sp>
        <p:nvSpPr>
          <p:cNvPr id="3" name="Content Placeholder 2"/>
          <p:cNvSpPr>
            <a:spLocks noGrp="1"/>
          </p:cNvSpPr>
          <p:nvPr>
            <p:ph idx="1"/>
          </p:nvPr>
        </p:nvSpPr>
        <p:spPr/>
        <p:txBody>
          <a:bodyPr/>
          <a:lstStyle/>
          <a:p>
            <a:pPr algn="just"/>
            <a:r>
              <a:rPr lang="en-US" b="1" dirty="0"/>
              <a:t>Peer pressure</a:t>
            </a:r>
            <a:r>
              <a:rPr lang="en-US" dirty="0"/>
              <a:t>: Peer pressure can make it difficult for participants to share ideas.</a:t>
            </a:r>
          </a:p>
          <a:p>
            <a:pPr algn="just"/>
            <a:r>
              <a:rPr lang="en-US" b="1" dirty="0"/>
              <a:t>Disengagement</a:t>
            </a:r>
            <a:r>
              <a:rPr lang="en-US" dirty="0"/>
              <a:t>: Some participants may not be engaged in the brainstorming process.</a:t>
            </a:r>
          </a:p>
          <a:p>
            <a:pPr algn="just"/>
            <a:r>
              <a:rPr lang="en-US" b="1" dirty="0"/>
              <a:t>Working remotely</a:t>
            </a:r>
            <a:r>
              <a:rPr lang="en-US" dirty="0"/>
              <a:t>: Working remotely can make it difficult to collaborate with other participants.</a:t>
            </a:r>
          </a:p>
          <a:p>
            <a:pPr algn="just"/>
            <a:r>
              <a:rPr lang="en-US" b="1" dirty="0"/>
              <a:t>Personality differences</a:t>
            </a:r>
            <a:r>
              <a:rPr lang="en-US" dirty="0"/>
              <a:t>: Personality differences can make it difficult for participants to work together.</a:t>
            </a:r>
          </a:p>
          <a:p>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50</a:t>
            </a:fld>
            <a:endParaRPr lang="en-US"/>
          </a:p>
        </p:txBody>
      </p:sp>
    </p:spTree>
    <p:extLst>
      <p:ext uri="{BB962C8B-B14F-4D97-AF65-F5344CB8AC3E}">
        <p14:creationId xmlns:p14="http://schemas.microsoft.com/office/powerpoint/2010/main" val="470195062"/>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Facilitated Application Specification Techniques</a:t>
            </a:r>
          </a:p>
        </p:txBody>
      </p:sp>
      <p:sp>
        <p:nvSpPr>
          <p:cNvPr id="3" name="Content Placeholder 2"/>
          <p:cNvSpPr>
            <a:spLocks noGrp="1"/>
          </p:cNvSpPr>
          <p:nvPr>
            <p:ph idx="1"/>
          </p:nvPr>
        </p:nvSpPr>
        <p:spPr/>
        <p:txBody>
          <a:bodyPr/>
          <a:lstStyle/>
          <a:p>
            <a:pPr algn="just"/>
            <a:r>
              <a:rPr lang="en-US" dirty="0"/>
              <a:t>This approach encourages the </a:t>
            </a:r>
            <a:r>
              <a:rPr lang="en-US" dirty="0">
                <a:solidFill>
                  <a:srgbClr val="FF0000"/>
                </a:solidFill>
              </a:rPr>
              <a:t>creation of a joint team of customers and developers </a:t>
            </a:r>
            <a:r>
              <a:rPr lang="en-US" dirty="0"/>
              <a:t>who work together to identify the problem, propose elements of the solution, negotiate different approaches and specify a preliminary set of solution requirements .</a:t>
            </a:r>
          </a:p>
          <a:p>
            <a:pPr algn="just"/>
            <a:r>
              <a:rPr lang="en-US" dirty="0"/>
              <a:t>A </a:t>
            </a:r>
            <a:r>
              <a:rPr lang="en-US" dirty="0">
                <a:solidFill>
                  <a:srgbClr val="FF0000"/>
                </a:solidFill>
              </a:rPr>
              <a:t>meeting </a:t>
            </a:r>
            <a:r>
              <a:rPr lang="en-US" dirty="0"/>
              <a:t>is conducted at a </a:t>
            </a:r>
            <a:r>
              <a:rPr lang="en-US" dirty="0">
                <a:solidFill>
                  <a:srgbClr val="FF0000"/>
                </a:solidFill>
              </a:rPr>
              <a:t>neutral site </a:t>
            </a:r>
            <a:r>
              <a:rPr lang="en-US" dirty="0"/>
              <a:t>and attended by both software engineers and customers. </a:t>
            </a:r>
          </a:p>
          <a:p>
            <a:pPr algn="just"/>
            <a:r>
              <a:rPr lang="en-US" dirty="0">
                <a:solidFill>
                  <a:srgbClr val="FF0000"/>
                </a:solidFill>
              </a:rPr>
              <a:t>Rules</a:t>
            </a:r>
            <a:r>
              <a:rPr lang="en-US" dirty="0"/>
              <a:t> for preparation and participation are </a:t>
            </a:r>
            <a:r>
              <a:rPr lang="en-US" dirty="0">
                <a:solidFill>
                  <a:srgbClr val="FF0000"/>
                </a:solidFill>
              </a:rPr>
              <a:t>established</a:t>
            </a:r>
            <a:r>
              <a:rPr lang="en-US" dirty="0"/>
              <a:t>. </a:t>
            </a:r>
          </a:p>
          <a:p>
            <a:pPr algn="just"/>
            <a:r>
              <a:rPr lang="en-US" dirty="0"/>
              <a:t>An agenda is suggested that is </a:t>
            </a:r>
            <a:r>
              <a:rPr lang="en-US" dirty="0">
                <a:solidFill>
                  <a:srgbClr val="FF0000"/>
                </a:solidFill>
              </a:rPr>
              <a:t>formal enough </a:t>
            </a:r>
            <a:r>
              <a:rPr lang="en-US" dirty="0"/>
              <a:t>to </a:t>
            </a:r>
            <a:r>
              <a:rPr lang="en-US" dirty="0">
                <a:solidFill>
                  <a:srgbClr val="FF0000"/>
                </a:solidFill>
              </a:rPr>
              <a:t>cover all important points</a:t>
            </a:r>
            <a:r>
              <a:rPr lang="en-US" dirty="0"/>
              <a:t> but </a:t>
            </a:r>
            <a:r>
              <a:rPr lang="en-US" dirty="0">
                <a:solidFill>
                  <a:srgbClr val="FF0000"/>
                </a:solidFill>
              </a:rPr>
              <a:t>informal enough </a:t>
            </a:r>
            <a:r>
              <a:rPr lang="en-US" dirty="0"/>
              <a:t>to </a:t>
            </a:r>
            <a:r>
              <a:rPr lang="en-US" dirty="0">
                <a:solidFill>
                  <a:srgbClr val="FF0000"/>
                </a:solidFill>
              </a:rPr>
              <a:t>encourage the free flow of ideas</a:t>
            </a:r>
            <a:r>
              <a:rPr lang="en-US" dirty="0"/>
              <a:t>.</a:t>
            </a:r>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51</a:t>
            </a:fld>
            <a:endParaRPr lang="en-US"/>
          </a:p>
        </p:txBody>
      </p:sp>
    </p:spTree>
    <p:extLst>
      <p:ext uri="{BB962C8B-B14F-4D97-AF65-F5344CB8AC3E}">
        <p14:creationId xmlns:p14="http://schemas.microsoft.com/office/powerpoint/2010/main" val="28537648"/>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Facilitated Application Specification Techniques</a:t>
            </a:r>
          </a:p>
        </p:txBody>
      </p:sp>
      <p:sp>
        <p:nvSpPr>
          <p:cNvPr id="3" name="Content Placeholder 2"/>
          <p:cNvSpPr>
            <a:spLocks noGrp="1"/>
          </p:cNvSpPr>
          <p:nvPr>
            <p:ph idx="1"/>
          </p:nvPr>
        </p:nvSpPr>
        <p:spPr/>
        <p:txBody>
          <a:bodyPr/>
          <a:lstStyle/>
          <a:p>
            <a:pPr algn="just"/>
            <a:r>
              <a:rPr lang="en-US" dirty="0"/>
              <a:t>A "</a:t>
            </a:r>
            <a:r>
              <a:rPr lang="en-US" dirty="0">
                <a:solidFill>
                  <a:srgbClr val="FF0000"/>
                </a:solidFill>
              </a:rPr>
              <a:t>facilitator</a:t>
            </a:r>
            <a:r>
              <a:rPr lang="en-US" dirty="0"/>
              <a:t>" (can be a customer, a developer, or an outsider) </a:t>
            </a:r>
            <a:r>
              <a:rPr lang="en-US" dirty="0">
                <a:solidFill>
                  <a:srgbClr val="FF0000"/>
                </a:solidFill>
              </a:rPr>
              <a:t>controls the meeting</a:t>
            </a:r>
            <a:r>
              <a:rPr lang="en-US" dirty="0"/>
              <a:t>. </a:t>
            </a:r>
          </a:p>
          <a:p>
            <a:pPr algn="just"/>
            <a:r>
              <a:rPr lang="en-US" dirty="0"/>
              <a:t>A "</a:t>
            </a:r>
            <a:r>
              <a:rPr lang="en-US" dirty="0">
                <a:solidFill>
                  <a:srgbClr val="FF0000"/>
                </a:solidFill>
              </a:rPr>
              <a:t>definition mechanism</a:t>
            </a:r>
            <a:r>
              <a:rPr lang="en-US" dirty="0"/>
              <a:t>" (can be work sheets, flip charts, or wall stickers or an electronic bulletin board, chat room or virtual forum) is used. </a:t>
            </a:r>
          </a:p>
          <a:p>
            <a:pPr algn="just"/>
            <a:r>
              <a:rPr lang="en-US" dirty="0"/>
              <a:t>The goal is to identify the problem, propose elements of the solution, negotiate different approaches, and specify a preliminary set of solution requirements in an atmosphere that is conducive to the accomplishment of the goal.</a:t>
            </a:r>
          </a:p>
          <a:p>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52</a:t>
            </a:fld>
            <a:endParaRPr lang="en-US"/>
          </a:p>
        </p:txBody>
      </p:sp>
    </p:spTree>
    <p:extLst>
      <p:ext uri="{BB962C8B-B14F-4D97-AF65-F5344CB8AC3E}">
        <p14:creationId xmlns:p14="http://schemas.microsoft.com/office/powerpoint/2010/main" val="3569656762"/>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Function Deployment</a:t>
            </a:r>
          </a:p>
        </p:txBody>
      </p:sp>
      <p:sp>
        <p:nvSpPr>
          <p:cNvPr id="3" name="Content Placeholder 2"/>
          <p:cNvSpPr>
            <a:spLocks noGrp="1"/>
          </p:cNvSpPr>
          <p:nvPr>
            <p:ph idx="1"/>
          </p:nvPr>
        </p:nvSpPr>
        <p:spPr>
          <a:xfrm>
            <a:off x="457200" y="1427163"/>
            <a:ext cx="8229600" cy="5294312"/>
          </a:xfrm>
        </p:spPr>
        <p:txBody>
          <a:bodyPr/>
          <a:lstStyle/>
          <a:p>
            <a:pPr algn="just"/>
            <a:r>
              <a:rPr lang="en-US" dirty="0"/>
              <a:t>In this technique </a:t>
            </a:r>
            <a:r>
              <a:rPr lang="en-US" dirty="0">
                <a:solidFill>
                  <a:srgbClr val="FF0000"/>
                </a:solidFill>
              </a:rPr>
              <a:t>customer satisfaction is of prime </a:t>
            </a:r>
            <a:r>
              <a:rPr lang="en-US" dirty="0"/>
              <a:t>concern, hence it </a:t>
            </a:r>
            <a:r>
              <a:rPr lang="en-US" dirty="0">
                <a:solidFill>
                  <a:srgbClr val="FF0000"/>
                </a:solidFill>
              </a:rPr>
              <a:t>emphasizes the requirements </a:t>
            </a:r>
            <a:r>
              <a:rPr lang="en-US" dirty="0"/>
              <a:t>that are valuable to the customer.</a:t>
            </a:r>
          </a:p>
          <a:p>
            <a:pPr algn="just"/>
            <a:r>
              <a:rPr lang="en-US" dirty="0"/>
              <a:t>3 types of requirements are identified:</a:t>
            </a:r>
          </a:p>
          <a:p>
            <a:pPr lvl="1" algn="just"/>
            <a:r>
              <a:rPr lang="en-US" b="1" dirty="0"/>
              <a:t>Normal requirements: </a:t>
            </a:r>
            <a:r>
              <a:rPr lang="en-US" dirty="0"/>
              <a:t>In this the objective and goals of the proposed software are discussed with the customer. For example – normal requirements for a result management system may be entry of marks, calculation of results, etc.</a:t>
            </a:r>
          </a:p>
          <a:p>
            <a:pPr lvl="1" algn="just"/>
            <a:r>
              <a:rPr lang="en-US" b="1" dirty="0"/>
              <a:t>Expected requirements: </a:t>
            </a:r>
            <a:r>
              <a:rPr lang="en-US" dirty="0"/>
              <a:t>These requirements are so obvious that the customer need not explicitly state them. Example – protection from unauthorized access.</a:t>
            </a:r>
          </a:p>
          <a:p>
            <a:pPr lvl="1" algn="just"/>
            <a:r>
              <a:rPr lang="en-US" b="1" dirty="0"/>
              <a:t>Exciting requirements: </a:t>
            </a:r>
            <a:r>
              <a:rPr lang="en-US" dirty="0"/>
              <a:t>It includes features that are beyond customer’s expectations and prove to be very satisfying when present. For example – when unauthorized access is detected, it should back up and shut down all processes.</a:t>
            </a:r>
          </a:p>
          <a:p>
            <a:pPr algn="just"/>
            <a:endParaRPr lang="en-US" dirty="0"/>
          </a:p>
        </p:txBody>
      </p:sp>
      <p:sp>
        <p:nvSpPr>
          <p:cNvPr id="4" name="Date Placeholder 3"/>
          <p:cNvSpPr>
            <a:spLocks noGrp="1"/>
          </p:cNvSpPr>
          <p:nvPr>
            <p:ph type="dt" sz="half" idx="10"/>
          </p:nvPr>
        </p:nvSpPr>
        <p:spPr/>
        <p:txBody>
          <a:bodyPr/>
          <a:lstStyle/>
          <a:p>
            <a:pPr>
              <a:defRPr/>
            </a:pPr>
            <a:fld id="{A2ADFCB8-7A36-4528-9F99-12F656E21A83}" type="datetime1">
              <a:rPr lang="en-US" smtClean="0"/>
              <a:t>5/7/25</a:t>
            </a:fld>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53</a:t>
            </a:fld>
            <a:endParaRPr lang="en-US"/>
          </a:p>
        </p:txBody>
      </p:sp>
    </p:spTree>
    <p:extLst>
      <p:ext uri="{BB962C8B-B14F-4D97-AF65-F5344CB8AC3E}">
        <p14:creationId xmlns:p14="http://schemas.microsoft.com/office/powerpoint/2010/main" val="2013744730"/>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a:ln/>
        </p:spPr>
        <p:txBody>
          <a:bodyPr lIns="90487" tIns="44450" rIns="90487" bIns="44450"/>
          <a:lstStyle/>
          <a:p>
            <a:r>
              <a:rPr lang="en-GB"/>
              <a:t>Ethnography</a:t>
            </a:r>
          </a:p>
        </p:txBody>
      </p:sp>
      <p:sp>
        <p:nvSpPr>
          <p:cNvPr id="36867" name="Rectangle 3"/>
          <p:cNvSpPr>
            <a:spLocks noGrp="1" noChangeArrowheads="1"/>
          </p:cNvSpPr>
          <p:nvPr>
            <p:ph idx="1"/>
          </p:nvPr>
        </p:nvSpPr>
        <p:spPr>
          <a:noFill/>
          <a:ln/>
        </p:spPr>
        <p:txBody>
          <a:bodyPr lIns="90487" tIns="44450" rIns="90487" bIns="44450"/>
          <a:lstStyle/>
          <a:p>
            <a:pPr algn="just"/>
            <a:r>
              <a:rPr lang="en-GB" sz="2400" dirty="0"/>
              <a:t>A </a:t>
            </a:r>
            <a:r>
              <a:rPr lang="en-GB" sz="2400" dirty="0">
                <a:solidFill>
                  <a:srgbClr val="FF0000"/>
                </a:solidFill>
              </a:rPr>
              <a:t>social scientist </a:t>
            </a:r>
            <a:r>
              <a:rPr lang="en-GB" sz="2400" dirty="0"/>
              <a:t>spends a considerable time </a:t>
            </a:r>
            <a:r>
              <a:rPr lang="en-GB" sz="2400" dirty="0">
                <a:solidFill>
                  <a:srgbClr val="FF0000"/>
                </a:solidFill>
              </a:rPr>
              <a:t>observing and analysing how people actually work</a:t>
            </a:r>
            <a:r>
              <a:rPr lang="en-GB" sz="2400" dirty="0"/>
              <a:t>.</a:t>
            </a:r>
          </a:p>
          <a:p>
            <a:pPr algn="just"/>
            <a:r>
              <a:rPr lang="en-GB" sz="2400" dirty="0"/>
              <a:t>People do not have to explain or articulate their work.</a:t>
            </a:r>
          </a:p>
          <a:p>
            <a:pPr algn="just"/>
            <a:r>
              <a:rPr lang="en-GB" sz="2400" dirty="0">
                <a:solidFill>
                  <a:srgbClr val="FF0000"/>
                </a:solidFill>
              </a:rPr>
              <a:t>Social</a:t>
            </a:r>
            <a:r>
              <a:rPr lang="en-GB" sz="2400" dirty="0"/>
              <a:t> and </a:t>
            </a:r>
            <a:r>
              <a:rPr lang="en-GB" sz="2400" dirty="0">
                <a:solidFill>
                  <a:srgbClr val="FF0000"/>
                </a:solidFill>
              </a:rPr>
              <a:t>organisational factors</a:t>
            </a:r>
            <a:r>
              <a:rPr lang="en-GB" sz="2400" dirty="0"/>
              <a:t> of importance may be </a:t>
            </a:r>
            <a:r>
              <a:rPr lang="en-GB" sz="2400" dirty="0">
                <a:solidFill>
                  <a:srgbClr val="FF0000"/>
                </a:solidFill>
              </a:rPr>
              <a:t>observed</a:t>
            </a:r>
            <a:r>
              <a:rPr lang="en-GB" sz="2400" dirty="0"/>
              <a:t>.</a:t>
            </a:r>
          </a:p>
          <a:p>
            <a:pPr algn="just"/>
            <a:r>
              <a:rPr lang="en-GB" sz="2400" dirty="0"/>
              <a:t>Ethnographic studies have shown that work is usually richer and more complex than suggested by simple system models.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54</a:t>
            </a:fld>
            <a:endParaRPr lang="en-US"/>
          </a:p>
        </p:txBody>
      </p:sp>
      <p:sp>
        <p:nvSpPr>
          <p:cNvPr id="2" name="Date Placeholder 1"/>
          <p:cNvSpPr>
            <a:spLocks noGrp="1"/>
          </p:cNvSpPr>
          <p:nvPr>
            <p:ph type="dt" sz="half" idx="10"/>
          </p:nvPr>
        </p:nvSpPr>
        <p:spPr/>
        <p:txBody>
          <a:bodyPr/>
          <a:lstStyle/>
          <a:p>
            <a:pPr>
              <a:defRPr/>
            </a:pPr>
            <a:fld id="{53386B8E-FBF7-489B-84AB-971A1D5F1F50}" type="datetime1">
              <a:rPr lang="en-US" smtClean="0"/>
              <a:t>5/7/25</a:t>
            </a:fld>
            <a:endParaRPr lang="en-US"/>
          </a:p>
        </p:txBody>
      </p:sp>
    </p:spTree>
    <p:extLst>
      <p:ext uri="{BB962C8B-B14F-4D97-AF65-F5344CB8AC3E}">
        <p14:creationId xmlns:p14="http://schemas.microsoft.com/office/powerpoint/2010/main" val="389149296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GB"/>
              <a:t>Scope of ethnography</a:t>
            </a:r>
          </a:p>
        </p:txBody>
      </p:sp>
      <p:sp>
        <p:nvSpPr>
          <p:cNvPr id="76803" name="Rectangle 3"/>
          <p:cNvSpPr>
            <a:spLocks noGrp="1" noChangeArrowheads="1"/>
          </p:cNvSpPr>
          <p:nvPr>
            <p:ph idx="1"/>
          </p:nvPr>
        </p:nvSpPr>
        <p:spPr/>
        <p:txBody>
          <a:bodyPr/>
          <a:lstStyle/>
          <a:p>
            <a:pPr algn="just"/>
            <a:r>
              <a:rPr lang="en-GB" dirty="0"/>
              <a:t>Requirements that are </a:t>
            </a:r>
            <a:r>
              <a:rPr lang="en-GB" dirty="0">
                <a:solidFill>
                  <a:srgbClr val="FF0000"/>
                </a:solidFill>
              </a:rPr>
              <a:t>derived from the way that people actually work</a:t>
            </a:r>
            <a:r>
              <a:rPr lang="en-GB" dirty="0"/>
              <a:t> rather than the way in which process definitions suggest that they ought to work.</a:t>
            </a:r>
          </a:p>
          <a:p>
            <a:pPr algn="just"/>
            <a:r>
              <a:rPr lang="en-GB" dirty="0"/>
              <a:t>Requirements that are </a:t>
            </a:r>
            <a:r>
              <a:rPr lang="en-GB" dirty="0">
                <a:solidFill>
                  <a:srgbClr val="FF0000"/>
                </a:solidFill>
              </a:rPr>
              <a:t>derived from cooperation and awareness of other people’s activities</a:t>
            </a:r>
            <a:r>
              <a:rPr lang="en-GB" dirty="0"/>
              <a:t>.</a:t>
            </a:r>
          </a:p>
          <a:p>
            <a:pPr lvl="1" algn="just"/>
            <a:r>
              <a:rPr lang="en-GB" dirty="0"/>
              <a:t>Awareness of what other people are doing leads to changes in the ways in which we do things.</a:t>
            </a:r>
          </a:p>
          <a:p>
            <a:pPr algn="just"/>
            <a:r>
              <a:rPr lang="en-GB" dirty="0"/>
              <a:t>Ethnography is </a:t>
            </a:r>
            <a:r>
              <a:rPr lang="en-GB" dirty="0">
                <a:solidFill>
                  <a:srgbClr val="FF0000"/>
                </a:solidFill>
              </a:rPr>
              <a:t>effective for understanding existing processes</a:t>
            </a:r>
            <a:r>
              <a:rPr lang="en-GB" dirty="0"/>
              <a:t> but </a:t>
            </a:r>
            <a:r>
              <a:rPr lang="en-GB" dirty="0">
                <a:solidFill>
                  <a:srgbClr val="FF0000"/>
                </a:solidFill>
              </a:rPr>
              <a:t>cannot identify new features </a:t>
            </a:r>
            <a:r>
              <a:rPr lang="en-GB" dirty="0"/>
              <a:t>that should be added to a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55</a:t>
            </a:fld>
            <a:endParaRPr lang="en-US"/>
          </a:p>
        </p:txBody>
      </p:sp>
      <p:sp>
        <p:nvSpPr>
          <p:cNvPr id="2" name="Date Placeholder 1"/>
          <p:cNvSpPr>
            <a:spLocks noGrp="1"/>
          </p:cNvSpPr>
          <p:nvPr>
            <p:ph type="dt" sz="half" idx="10"/>
          </p:nvPr>
        </p:nvSpPr>
        <p:spPr/>
        <p:txBody>
          <a:bodyPr/>
          <a:lstStyle/>
          <a:p>
            <a:pPr>
              <a:defRPr/>
            </a:pPr>
            <a:fld id="{448A9FBE-6F5E-4B44-B3DC-A50FE4B71311}" type="datetime1">
              <a:rPr lang="en-US" smtClean="0"/>
              <a:t>5/7/25</a:t>
            </a:fld>
            <a:endParaRPr lang="en-US"/>
          </a:p>
        </p:txBody>
      </p:sp>
    </p:spTree>
    <p:extLst>
      <p:ext uri="{BB962C8B-B14F-4D97-AF65-F5344CB8AC3E}">
        <p14:creationId xmlns:p14="http://schemas.microsoft.com/office/powerpoint/2010/main" val="2107369606"/>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p:spPr>
        <p:txBody>
          <a:bodyPr lIns="90487" tIns="44450" rIns="90487" bIns="44450"/>
          <a:lstStyle/>
          <a:p>
            <a:r>
              <a:rPr lang="en-GB"/>
              <a:t>Focused ethnography</a:t>
            </a:r>
          </a:p>
        </p:txBody>
      </p:sp>
      <p:sp>
        <p:nvSpPr>
          <p:cNvPr id="37891" name="Rectangle 3"/>
          <p:cNvSpPr>
            <a:spLocks noGrp="1" noChangeArrowheads="1"/>
          </p:cNvSpPr>
          <p:nvPr>
            <p:ph idx="1"/>
          </p:nvPr>
        </p:nvSpPr>
        <p:spPr>
          <a:noFill/>
          <a:ln/>
        </p:spPr>
        <p:txBody>
          <a:bodyPr lIns="90487" tIns="44450" rIns="90487" bIns="44450"/>
          <a:lstStyle/>
          <a:p>
            <a:pPr algn="just">
              <a:lnSpc>
                <a:spcPct val="90000"/>
              </a:lnSpc>
            </a:pPr>
            <a:r>
              <a:rPr lang="en-GB" dirty="0"/>
              <a:t>Developed in a project studying the air traffic control process</a:t>
            </a:r>
          </a:p>
          <a:p>
            <a:pPr algn="just">
              <a:lnSpc>
                <a:spcPct val="90000"/>
              </a:lnSpc>
            </a:pPr>
            <a:r>
              <a:rPr lang="en-GB" dirty="0"/>
              <a:t>Combines ethnography with prototyping</a:t>
            </a:r>
          </a:p>
          <a:p>
            <a:pPr algn="just">
              <a:lnSpc>
                <a:spcPct val="90000"/>
              </a:lnSpc>
            </a:pPr>
            <a:r>
              <a:rPr lang="en-GB" dirty="0"/>
              <a:t>Prototype development results in unanswered questions which focus the ethnographic analysis.</a:t>
            </a:r>
          </a:p>
          <a:p>
            <a:pPr algn="just">
              <a:lnSpc>
                <a:spcPct val="90000"/>
              </a:lnSpc>
            </a:pPr>
            <a:r>
              <a:rPr lang="en-GB" dirty="0"/>
              <a:t>The </a:t>
            </a:r>
            <a:r>
              <a:rPr lang="en-GB" dirty="0">
                <a:solidFill>
                  <a:srgbClr val="FF0000"/>
                </a:solidFill>
              </a:rPr>
              <a:t>problem</a:t>
            </a:r>
            <a:r>
              <a:rPr lang="en-GB" dirty="0"/>
              <a:t> with ethnography is that it </a:t>
            </a:r>
            <a:r>
              <a:rPr lang="en-GB" dirty="0">
                <a:solidFill>
                  <a:srgbClr val="FF0000"/>
                </a:solidFill>
              </a:rPr>
              <a:t>studies existing practices </a:t>
            </a:r>
            <a:r>
              <a:rPr lang="en-GB" dirty="0"/>
              <a:t>which may have some historical basis </a:t>
            </a:r>
            <a:r>
              <a:rPr lang="en-GB" dirty="0">
                <a:solidFill>
                  <a:srgbClr val="FF0000"/>
                </a:solidFill>
              </a:rPr>
              <a:t>which is no longer relevant</a:t>
            </a:r>
            <a:r>
              <a:rPr lang="en-GB" dirty="0"/>
              <a:t>.</a:t>
            </a:r>
            <a:endParaRPr lang="en-GB" sz="24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56</a:t>
            </a:fld>
            <a:endParaRPr lang="en-US"/>
          </a:p>
        </p:txBody>
      </p:sp>
      <p:sp>
        <p:nvSpPr>
          <p:cNvPr id="2" name="Date Placeholder 1"/>
          <p:cNvSpPr>
            <a:spLocks noGrp="1"/>
          </p:cNvSpPr>
          <p:nvPr>
            <p:ph type="dt" sz="half" idx="10"/>
          </p:nvPr>
        </p:nvSpPr>
        <p:spPr/>
        <p:txBody>
          <a:bodyPr/>
          <a:lstStyle/>
          <a:p>
            <a:pPr>
              <a:defRPr/>
            </a:pPr>
            <a:fld id="{A74E588F-16D3-4F71-8886-D23B5CDC61ED}" type="datetime1">
              <a:rPr lang="en-US" smtClean="0"/>
              <a:t>5/7/25</a:t>
            </a:fld>
            <a:endParaRPr lang="en-US"/>
          </a:p>
        </p:txBody>
      </p:sp>
    </p:spTree>
    <p:extLst>
      <p:ext uri="{BB962C8B-B14F-4D97-AF65-F5344CB8AC3E}">
        <p14:creationId xmlns:p14="http://schemas.microsoft.com/office/powerpoint/2010/main" val="3371123536"/>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dirty="0"/>
              <a:t>Ethnography and prototyping for requirements analysis</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57</a:t>
            </a:fld>
            <a:endParaRPr lang="en-US"/>
          </a:p>
        </p:txBody>
      </p:sp>
      <p:pic>
        <p:nvPicPr>
          <p:cNvPr id="4" name="Picture 3" descr="4.16 Ethno-prototyping.eps"/>
          <p:cNvPicPr>
            <a:picLocks noChangeAspect="1"/>
          </p:cNvPicPr>
          <p:nvPr/>
        </p:nvPicPr>
        <p:blipFill>
          <a:blip r:embed="rId2"/>
          <a:stretch>
            <a:fillRect/>
          </a:stretch>
        </p:blipFill>
        <p:spPr>
          <a:xfrm>
            <a:off x="1143000" y="2819400"/>
            <a:ext cx="7394864" cy="1936750"/>
          </a:xfrm>
          <a:prstGeom prst="rect">
            <a:avLst/>
          </a:prstGeom>
        </p:spPr>
      </p:pic>
      <p:sp>
        <p:nvSpPr>
          <p:cNvPr id="2" name="Date Placeholder 1"/>
          <p:cNvSpPr>
            <a:spLocks noGrp="1"/>
          </p:cNvSpPr>
          <p:nvPr>
            <p:ph type="dt" sz="half" idx="10"/>
          </p:nvPr>
        </p:nvSpPr>
        <p:spPr/>
        <p:txBody>
          <a:bodyPr/>
          <a:lstStyle/>
          <a:p>
            <a:pPr>
              <a:defRPr/>
            </a:pPr>
            <a:fld id="{98E40E7F-6F29-4265-BEE2-85B738352954}" type="datetime1">
              <a:rPr lang="en-US" smtClean="0"/>
              <a:t>5/7/25</a:t>
            </a:fld>
            <a:endParaRPr lang="en-US"/>
          </a:p>
        </p:txBody>
      </p:sp>
    </p:spTree>
    <p:extLst>
      <p:ext uri="{BB962C8B-B14F-4D97-AF65-F5344CB8AC3E}">
        <p14:creationId xmlns:p14="http://schemas.microsoft.com/office/powerpoint/2010/main" val="2911646379"/>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Stories and scenarios</a:t>
            </a:r>
          </a:p>
        </p:txBody>
      </p:sp>
      <p:sp>
        <p:nvSpPr>
          <p:cNvPr id="90115" name="Rectangle 3"/>
          <p:cNvSpPr>
            <a:spLocks noGrp="1" noChangeArrowheads="1"/>
          </p:cNvSpPr>
          <p:nvPr>
            <p:ph idx="1"/>
          </p:nvPr>
        </p:nvSpPr>
        <p:spPr/>
        <p:txBody>
          <a:bodyPr/>
          <a:lstStyle/>
          <a:p>
            <a:pPr algn="just"/>
            <a:r>
              <a:rPr lang="en-US" dirty="0"/>
              <a:t>Scenarios and user stories are real-life examples of how a system can be used.</a:t>
            </a:r>
          </a:p>
          <a:p>
            <a:pPr algn="just"/>
            <a:r>
              <a:rPr lang="en-US" dirty="0"/>
              <a:t>Stories and scenarios are a description of how a system may be used for a particular task.</a:t>
            </a:r>
          </a:p>
          <a:p>
            <a:pPr algn="just"/>
            <a:r>
              <a:rPr lang="en-US" dirty="0"/>
              <a:t>Because they are based on a practical situation, stakeholders can relate to them and can comment on their situation with respect to the story.</a:t>
            </a:r>
          </a:p>
        </p:txBody>
      </p:sp>
      <p:sp>
        <p:nvSpPr>
          <p:cNvPr id="2" name="Date Placeholder 1"/>
          <p:cNvSpPr>
            <a:spLocks noGrp="1"/>
          </p:cNvSpPr>
          <p:nvPr>
            <p:ph type="dt" sz="half" idx="10"/>
          </p:nvPr>
        </p:nvSpPr>
        <p:spPr/>
        <p:txBody>
          <a:bodyPr/>
          <a:lstStyle/>
          <a:p>
            <a:pPr>
              <a:defRPr/>
            </a:pPr>
            <a:fld id="{025CE269-394A-4560-A233-547E37F9B4F2}"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58</a:t>
            </a:fld>
            <a:endParaRPr lang="en-US"/>
          </a:p>
        </p:txBody>
      </p:sp>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Photo sharing in the classroom (</a:t>
            </a:r>
            <a:r>
              <a:rPr lang="en-US" dirty="0" err="1"/>
              <a:t>iLearn</a:t>
            </a:r>
            <a:r>
              <a:rPr lang="en-US" dirty="0"/>
              <a:t>)</a:t>
            </a:r>
          </a:p>
        </p:txBody>
      </p:sp>
      <p:sp>
        <p:nvSpPr>
          <p:cNvPr id="3" name="Content Placeholder 2"/>
          <p:cNvSpPr>
            <a:spLocks noGrp="1"/>
          </p:cNvSpPr>
          <p:nvPr>
            <p:ph idx="1"/>
          </p:nvPr>
        </p:nvSpPr>
        <p:spPr/>
        <p:txBody>
          <a:bodyPr/>
          <a:lstStyle/>
          <a:p>
            <a:pPr algn="just"/>
            <a:r>
              <a:rPr lang="en-GB" sz="1600" dirty="0"/>
              <a:t>Jack is a primary school teacher in Ullapool (a village in northern Scotland). He has decided that a class project should be focused around the fishing industry in the area, looking at the history, development and economic impact of fishing. As part of this, pupils are asked to gather and share reminiscences from relatives, use newspaper archives and collect old photographs related to fishing and fishing communities in the area. Pupils use an </a:t>
            </a:r>
            <a:r>
              <a:rPr lang="en-GB" sz="1600" dirty="0" err="1"/>
              <a:t>iLearn</a:t>
            </a:r>
            <a:r>
              <a:rPr lang="en-GB" sz="1600" dirty="0"/>
              <a:t> wiki to gather together fishing stories and SCRAN (a history resources site) to access newspaper archives and photographs. However, Jack also needs a photo sharing site as he wants pupils to take and comment on each others’ photos and to upload scans of old photographs that they may have in their families.</a:t>
            </a:r>
          </a:p>
          <a:p>
            <a:pPr algn="just"/>
            <a:r>
              <a:rPr lang="en-GB" sz="1600" dirty="0"/>
              <a:t>Jack sends an email to a primary school teachers group, which he is a member of to see if anyone can recommend an appropriate system. Two teachers reply and both suggest that he uses </a:t>
            </a:r>
            <a:r>
              <a:rPr lang="en-GB" sz="1600" dirty="0" err="1"/>
              <a:t>KidsTakePics</a:t>
            </a:r>
            <a:r>
              <a:rPr lang="en-GB" sz="1600" dirty="0"/>
              <a:t>, a photo sharing site that allows teachers to check and moderate content. As </a:t>
            </a:r>
            <a:r>
              <a:rPr lang="en-GB" sz="1600" dirty="0" err="1"/>
              <a:t>KidsTakePics</a:t>
            </a:r>
            <a:r>
              <a:rPr lang="en-GB" sz="1600" dirty="0"/>
              <a:t> is not integrated with the </a:t>
            </a:r>
            <a:r>
              <a:rPr lang="en-GB" sz="1600" dirty="0" err="1"/>
              <a:t>iLearn</a:t>
            </a:r>
            <a:r>
              <a:rPr lang="en-GB" sz="1600" dirty="0"/>
              <a:t> authentication service, he sets up a teacher and a class account. He uses the </a:t>
            </a:r>
            <a:r>
              <a:rPr lang="en-GB" sz="1600" dirty="0" err="1"/>
              <a:t>iLearn</a:t>
            </a:r>
            <a:r>
              <a:rPr lang="en-GB" sz="1600" dirty="0"/>
              <a:t> setup service to add </a:t>
            </a:r>
            <a:r>
              <a:rPr lang="en-GB" sz="1600" dirty="0" err="1"/>
              <a:t>KidsTakePics</a:t>
            </a:r>
            <a:r>
              <a:rPr lang="en-GB" sz="1600" dirty="0"/>
              <a:t> to the services seen by the pupils in his class so that when they log in, they can immediately use the system to upload photos from their mobile devices and class computers.</a:t>
            </a:r>
          </a:p>
          <a:p>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59</a:t>
            </a:fld>
            <a:endParaRPr lang="en-US"/>
          </a:p>
        </p:txBody>
      </p:sp>
      <p:sp>
        <p:nvSpPr>
          <p:cNvPr id="6" name="Date Placeholder 5"/>
          <p:cNvSpPr>
            <a:spLocks noGrp="1"/>
          </p:cNvSpPr>
          <p:nvPr>
            <p:ph type="dt" sz="half" idx="10"/>
          </p:nvPr>
        </p:nvSpPr>
        <p:spPr/>
        <p:txBody>
          <a:bodyPr/>
          <a:lstStyle/>
          <a:p>
            <a:pPr>
              <a:defRPr/>
            </a:pPr>
            <a:fld id="{E0C4E70C-A69C-4440-A01C-36FAE14D1CAE}" type="datetime1">
              <a:rPr lang="en-US" smtClean="0"/>
              <a:t>5/7/25</a:t>
            </a:fld>
            <a:endParaRPr lang="en-US"/>
          </a:p>
        </p:txBody>
      </p:sp>
    </p:spTree>
    <p:extLst>
      <p:ext uri="{BB962C8B-B14F-4D97-AF65-F5344CB8AC3E}">
        <p14:creationId xmlns:p14="http://schemas.microsoft.com/office/powerpoint/2010/main" val="672866641"/>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p:txBody>
          <a:bodyPr/>
          <a:lstStyle/>
          <a:p>
            <a:r>
              <a:rPr lang="en-US" dirty="0"/>
              <a:t>A structured form of user story</a:t>
            </a:r>
          </a:p>
          <a:p>
            <a:r>
              <a:rPr lang="en-US" dirty="0"/>
              <a:t>Scenarios should include</a:t>
            </a:r>
          </a:p>
          <a:p>
            <a:pPr lvl="1"/>
            <a:r>
              <a:rPr lang="en-US" dirty="0"/>
              <a:t>A description of the starting situation;</a:t>
            </a:r>
          </a:p>
          <a:p>
            <a:pPr lvl="1"/>
            <a:r>
              <a:rPr lang="en-US" dirty="0"/>
              <a:t>A description of the normal flow of events;</a:t>
            </a:r>
          </a:p>
          <a:p>
            <a:pPr lvl="1"/>
            <a:r>
              <a:rPr lang="en-US" dirty="0"/>
              <a:t>A description of what can go wrong;</a:t>
            </a:r>
          </a:p>
          <a:p>
            <a:pPr lvl="1"/>
            <a:r>
              <a:rPr lang="en-US" dirty="0"/>
              <a:t>Information about other concurrent activities;</a:t>
            </a:r>
          </a:p>
          <a:p>
            <a:pPr lvl="1"/>
            <a:r>
              <a:rPr lang="en-US" dirty="0"/>
              <a:t>A description of the state when the scenario finishes.</a:t>
            </a:r>
          </a:p>
          <a:p>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60</a:t>
            </a:fld>
            <a:endParaRPr lang="en-US"/>
          </a:p>
        </p:txBody>
      </p:sp>
      <p:sp>
        <p:nvSpPr>
          <p:cNvPr id="6" name="Date Placeholder 5"/>
          <p:cNvSpPr>
            <a:spLocks noGrp="1"/>
          </p:cNvSpPr>
          <p:nvPr>
            <p:ph type="dt" sz="half" idx="10"/>
          </p:nvPr>
        </p:nvSpPr>
        <p:spPr/>
        <p:txBody>
          <a:bodyPr/>
          <a:lstStyle/>
          <a:p>
            <a:pPr>
              <a:defRPr/>
            </a:pPr>
            <a:fld id="{DFBCC7FA-79AA-4CBE-903E-1B7743295FEF}" type="datetime1">
              <a:rPr lang="en-US" smtClean="0"/>
              <a:t>5/7/25</a:t>
            </a:fld>
            <a:endParaRPr lang="en-US"/>
          </a:p>
        </p:txBody>
      </p:sp>
    </p:spTree>
    <p:extLst>
      <p:ext uri="{BB962C8B-B14F-4D97-AF65-F5344CB8AC3E}">
        <p14:creationId xmlns:p14="http://schemas.microsoft.com/office/powerpoint/2010/main" val="2531927789"/>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Uploading photos </a:t>
            </a:r>
            <a:r>
              <a:rPr lang="en-US" dirty="0" err="1"/>
              <a:t>iLearn</a:t>
            </a:r>
            <a:r>
              <a:rPr lang="en-US" dirty="0"/>
              <a:t>)</a:t>
            </a:r>
          </a:p>
        </p:txBody>
      </p:sp>
      <p:sp>
        <p:nvSpPr>
          <p:cNvPr id="3" name="Content Placeholder 2"/>
          <p:cNvSpPr>
            <a:spLocks noGrp="1"/>
          </p:cNvSpPr>
          <p:nvPr>
            <p:ph idx="1"/>
          </p:nvPr>
        </p:nvSpPr>
        <p:spPr/>
        <p:txBody>
          <a:bodyPr/>
          <a:lstStyle/>
          <a:p>
            <a:r>
              <a:rPr lang="en-US" sz="1600" b="1" dirty="0"/>
              <a:t>Initial assumption</a:t>
            </a:r>
            <a:r>
              <a:rPr lang="en-US" sz="1600" dirty="0"/>
              <a:t>: A user or a group of users have one or more digital photographs to be uploaded to the picture sharing site. These are saved on either a tablet or laptop computer. They have successfully logged on to </a:t>
            </a:r>
            <a:r>
              <a:rPr lang="en-US" sz="1600" dirty="0" err="1"/>
              <a:t>KidsTakePics</a:t>
            </a:r>
            <a:r>
              <a:rPr lang="en-US" sz="1600" dirty="0"/>
              <a:t>.</a:t>
            </a:r>
          </a:p>
          <a:p>
            <a:r>
              <a:rPr lang="en-US" sz="1600" b="1" dirty="0"/>
              <a:t>Normal</a:t>
            </a:r>
            <a:r>
              <a:rPr lang="en-US" sz="1600" dirty="0"/>
              <a:t>:  The user chooses upload photos and they are prompted to select the photos to be uploaded on their computer and to select the project name under which the photos will be stored. They should also be given the option of inputting keywords that should be associated with each uploaded photo. Uploaded photos are named by creating a conjunction of the user name with the filename of the photo on the local computer.</a:t>
            </a:r>
          </a:p>
          <a:p>
            <a:r>
              <a:rPr lang="en-US" sz="1600" dirty="0"/>
              <a:t>On completion of the upload, the system automatically sends an email to the project moderator asking them to check new content and generates an on-screen message to the user that this has been done. </a:t>
            </a:r>
          </a:p>
          <a:p>
            <a:endParaRPr lang="en-US" sz="1400"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61</a:t>
            </a:fld>
            <a:endParaRPr lang="en-US"/>
          </a:p>
        </p:txBody>
      </p:sp>
      <p:sp>
        <p:nvSpPr>
          <p:cNvPr id="6" name="Date Placeholder 5"/>
          <p:cNvSpPr>
            <a:spLocks noGrp="1"/>
          </p:cNvSpPr>
          <p:nvPr>
            <p:ph type="dt" sz="half" idx="10"/>
          </p:nvPr>
        </p:nvSpPr>
        <p:spPr/>
        <p:txBody>
          <a:bodyPr/>
          <a:lstStyle/>
          <a:p>
            <a:pPr>
              <a:defRPr/>
            </a:pPr>
            <a:fld id="{094196BB-1D9F-4643-BECD-EFEC0863E83B}" type="datetime1">
              <a:rPr lang="en-US" smtClean="0"/>
              <a:t>5/7/25</a:t>
            </a:fld>
            <a:endParaRPr lang="en-US"/>
          </a:p>
        </p:txBody>
      </p:sp>
    </p:spTree>
    <p:extLst>
      <p:ext uri="{BB962C8B-B14F-4D97-AF65-F5344CB8AC3E}">
        <p14:creationId xmlns:p14="http://schemas.microsoft.com/office/powerpoint/2010/main" val="90547053"/>
      </p:ext>
    </p:extLst>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Uploading photos</a:t>
            </a:r>
          </a:p>
        </p:txBody>
      </p:sp>
      <p:sp>
        <p:nvSpPr>
          <p:cNvPr id="3" name="Content Placeholder 2"/>
          <p:cNvSpPr>
            <a:spLocks noGrp="1"/>
          </p:cNvSpPr>
          <p:nvPr>
            <p:ph idx="1"/>
          </p:nvPr>
        </p:nvSpPr>
        <p:spPr/>
        <p:txBody>
          <a:bodyPr/>
          <a:lstStyle/>
          <a:p>
            <a:r>
              <a:rPr lang="en-US" sz="1600" b="1" dirty="0"/>
              <a:t>What can go wrong</a:t>
            </a:r>
            <a:r>
              <a:rPr lang="en-US" sz="1600" dirty="0"/>
              <a:t>: </a:t>
            </a:r>
          </a:p>
          <a:p>
            <a:r>
              <a:rPr lang="en-US" sz="1600" dirty="0"/>
              <a:t>No moderator is associated with the selected project. An email is automatically generated to the school administrator asking them to nominate a project moderator. Users should be informed that there could be a delay in making their photos visible.</a:t>
            </a:r>
          </a:p>
          <a:p>
            <a:r>
              <a:rPr lang="en-US" sz="1600" dirty="0"/>
              <a:t>Photos with the same name have already been uploaded by the same user.  The user should be asked if they wish to re-upload the photos with the same name, rename the photos or cancel the upload. If they chose to re-upload the photos, the originals are overwritten. If they chose to rename the photos, a new name is automatically generated by adding a number to the existing file name.</a:t>
            </a:r>
          </a:p>
          <a:p>
            <a:r>
              <a:rPr lang="en-US" sz="1600" b="1" dirty="0"/>
              <a:t>Other activities:  </a:t>
            </a:r>
            <a:r>
              <a:rPr lang="en-US" sz="1600" dirty="0"/>
              <a:t>The moderator may be logged on to the system and may approve photos as they are uploaded.</a:t>
            </a:r>
          </a:p>
          <a:p>
            <a:r>
              <a:rPr lang="en-US" sz="1600" b="1" dirty="0"/>
              <a:t>System state on completion</a:t>
            </a:r>
            <a:r>
              <a:rPr lang="en-US" sz="1600" dirty="0"/>
              <a:t>: User is logged on. The selected photos have been uploaded and assigned a status ‘awaiting moderation’.  Photos are visible to the moderator and to the user who uploaded them.</a:t>
            </a:r>
          </a:p>
          <a:p>
            <a:endParaRPr lang="en-US" sz="1600"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62</a:t>
            </a:fld>
            <a:endParaRPr lang="en-US"/>
          </a:p>
        </p:txBody>
      </p:sp>
      <p:sp>
        <p:nvSpPr>
          <p:cNvPr id="6" name="Date Placeholder 5"/>
          <p:cNvSpPr>
            <a:spLocks noGrp="1"/>
          </p:cNvSpPr>
          <p:nvPr>
            <p:ph type="dt" sz="half" idx="10"/>
          </p:nvPr>
        </p:nvSpPr>
        <p:spPr/>
        <p:txBody>
          <a:bodyPr/>
          <a:lstStyle/>
          <a:p>
            <a:pPr>
              <a:defRPr/>
            </a:pPr>
            <a:fld id="{3BA9C18C-548E-4735-986B-7436A16EE9F6}" type="datetime1">
              <a:rPr lang="en-US" smtClean="0"/>
              <a:t>5/7/25</a:t>
            </a:fld>
            <a:endParaRPr lang="en-US"/>
          </a:p>
        </p:txBody>
      </p:sp>
    </p:spTree>
    <p:extLst>
      <p:ext uri="{BB962C8B-B14F-4D97-AF65-F5344CB8AC3E}">
        <p14:creationId xmlns:p14="http://schemas.microsoft.com/office/powerpoint/2010/main" val="270165613"/>
      </p:ext>
    </p:extLst>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specification</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63</a:t>
            </a:fld>
            <a:endParaRPr lang="en-US"/>
          </a:p>
        </p:txBody>
      </p:sp>
      <p:sp>
        <p:nvSpPr>
          <p:cNvPr id="3" name="Date Placeholder 2"/>
          <p:cNvSpPr>
            <a:spLocks noGrp="1"/>
          </p:cNvSpPr>
          <p:nvPr>
            <p:ph type="dt" sz="half" idx="10"/>
          </p:nvPr>
        </p:nvSpPr>
        <p:spPr/>
        <p:txBody>
          <a:bodyPr/>
          <a:lstStyle/>
          <a:p>
            <a:pPr>
              <a:defRPr/>
            </a:pPr>
            <a:fld id="{487F1AE4-27F3-4C43-9E06-535561551072}" type="datetime1">
              <a:rPr lang="en-US" smtClean="0"/>
              <a:t>5/7/25</a:t>
            </a:fld>
            <a:endParaRPr lang="en-US"/>
          </a:p>
        </p:txBody>
      </p:sp>
    </p:spTree>
    <p:extLst>
      <p:ext uri="{BB962C8B-B14F-4D97-AF65-F5344CB8AC3E}">
        <p14:creationId xmlns:p14="http://schemas.microsoft.com/office/powerpoint/2010/main" val="775602173"/>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specification</a:t>
            </a:r>
          </a:p>
        </p:txBody>
      </p:sp>
      <p:sp>
        <p:nvSpPr>
          <p:cNvPr id="3" name="Content Placeholder 2"/>
          <p:cNvSpPr>
            <a:spLocks noGrp="1"/>
          </p:cNvSpPr>
          <p:nvPr>
            <p:ph idx="1"/>
          </p:nvPr>
        </p:nvSpPr>
        <p:spPr/>
        <p:txBody>
          <a:bodyPr/>
          <a:lstStyle/>
          <a:p>
            <a:pPr algn="just"/>
            <a:r>
              <a:rPr lang="en-US" dirty="0"/>
              <a:t>The process of writing down the user and system requirements in a requirements document.</a:t>
            </a:r>
          </a:p>
          <a:p>
            <a:pPr algn="just"/>
            <a:r>
              <a:rPr lang="en-US" dirty="0"/>
              <a:t>User requirements have to be understandable by end-users and customers who do not have a technical background.</a:t>
            </a:r>
          </a:p>
          <a:p>
            <a:pPr algn="just"/>
            <a:r>
              <a:rPr lang="en-US" dirty="0"/>
              <a:t>System requirements are more detailed requirements and may include more technical information.</a:t>
            </a:r>
          </a:p>
          <a:p>
            <a:pPr algn="just"/>
            <a:r>
              <a:rPr lang="en-US" dirty="0"/>
              <a:t>The requirements may be part of a contract for the system development</a:t>
            </a:r>
          </a:p>
          <a:p>
            <a:pPr lvl="1" algn="just"/>
            <a:r>
              <a:rPr lang="en-US" dirty="0"/>
              <a:t>It is therefore important that these are as complete as possible.</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64</a:t>
            </a:fld>
            <a:endParaRPr lang="en-US"/>
          </a:p>
        </p:txBody>
      </p:sp>
      <p:sp>
        <p:nvSpPr>
          <p:cNvPr id="6" name="Date Placeholder 5"/>
          <p:cNvSpPr>
            <a:spLocks noGrp="1"/>
          </p:cNvSpPr>
          <p:nvPr>
            <p:ph type="dt" sz="half" idx="10"/>
          </p:nvPr>
        </p:nvSpPr>
        <p:spPr/>
        <p:txBody>
          <a:bodyPr/>
          <a:lstStyle/>
          <a:p>
            <a:pPr>
              <a:defRPr/>
            </a:pPr>
            <a:fld id="{1B2E77DA-DDDF-4233-AD03-ACB80C271F67}" type="datetime1">
              <a:rPr lang="en-US" smtClean="0"/>
              <a:t>5/7/25</a:t>
            </a:fld>
            <a:endParaRPr lang="en-US"/>
          </a:p>
        </p:txBody>
      </p:sp>
    </p:spTree>
    <p:extLst>
      <p:ext uri="{BB962C8B-B14F-4D97-AF65-F5344CB8AC3E}">
        <p14:creationId xmlns:p14="http://schemas.microsoft.com/office/powerpoint/2010/main" val="1673504293"/>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dirty="0"/>
              <a:t>Ways of writing a system requirements specification </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65</a:t>
            </a:fld>
            <a:endParaRPr lang="en-US"/>
          </a:p>
        </p:txBody>
      </p:sp>
      <p:graphicFrame>
        <p:nvGraphicFramePr>
          <p:cNvPr id="5" name="Table 4"/>
          <p:cNvGraphicFramePr>
            <a:graphicFrameLocks noGrp="1"/>
          </p:cNvGraphicFramePr>
          <p:nvPr/>
        </p:nvGraphicFramePr>
        <p:xfrm>
          <a:off x="685800" y="1595479"/>
          <a:ext cx="7924800" cy="4805322"/>
        </p:xfrm>
        <a:graphic>
          <a:graphicData uri="http://schemas.openxmlformats.org/drawingml/2006/table">
            <a:tbl>
              <a:tblPr/>
              <a:tblGrid>
                <a:gridCol w="1733550">
                  <a:extLst>
                    <a:ext uri="{9D8B030D-6E8A-4147-A177-3AD203B41FA5}">
                      <a16:colId xmlns:a16="http://schemas.microsoft.com/office/drawing/2014/main" val="20000"/>
                    </a:ext>
                  </a:extLst>
                </a:gridCol>
                <a:gridCol w="6191250">
                  <a:extLst>
                    <a:ext uri="{9D8B030D-6E8A-4147-A177-3AD203B41FA5}">
                      <a16:colId xmlns:a16="http://schemas.microsoft.com/office/drawing/2014/main"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98201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Design description languages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This approach uses a language like a programming language, but with more abstract features to specify the requirements by defining an operational model of the system. This approach is now rarely used although it can be useful for interface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fld id="{A68247B2-61E2-41B0-BBE9-7F8AD7C59353}" type="datetime1">
              <a:rPr lang="en-US" smtClean="0"/>
              <a:t>5/7/25</a:t>
            </a:fld>
            <a:endParaRPr lang="en-US"/>
          </a:p>
        </p:txBody>
      </p:sp>
    </p:spTree>
    <p:extLst>
      <p:ext uri="{BB962C8B-B14F-4D97-AF65-F5344CB8AC3E}">
        <p14:creationId xmlns:p14="http://schemas.microsoft.com/office/powerpoint/2010/main" val="871056423"/>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GB" dirty="0"/>
              <a:t>Requirements and design</a:t>
            </a:r>
          </a:p>
        </p:txBody>
      </p:sp>
      <p:sp>
        <p:nvSpPr>
          <p:cNvPr id="63491" name="Rectangle 3"/>
          <p:cNvSpPr>
            <a:spLocks noGrp="1" noChangeArrowheads="1"/>
          </p:cNvSpPr>
          <p:nvPr>
            <p:ph idx="1"/>
          </p:nvPr>
        </p:nvSpPr>
        <p:spPr/>
        <p:txBody>
          <a:bodyPr/>
          <a:lstStyle/>
          <a:p>
            <a:pPr>
              <a:lnSpc>
                <a:spcPct val="90000"/>
              </a:lnSpc>
            </a:pPr>
            <a:r>
              <a:rPr lang="en-GB" dirty="0"/>
              <a:t>In principle, requirements should state what the system should do and the design should describe how it does this.</a:t>
            </a:r>
          </a:p>
          <a:p>
            <a:pPr>
              <a:lnSpc>
                <a:spcPct val="90000"/>
              </a:lnSpc>
            </a:pPr>
            <a:r>
              <a:rPr lang="en-GB" dirty="0"/>
              <a:t>In practice, requirements and design are inseparable</a:t>
            </a:r>
          </a:p>
          <a:p>
            <a:pPr lvl="1">
              <a:lnSpc>
                <a:spcPct val="90000"/>
              </a:lnSpc>
            </a:pPr>
            <a:r>
              <a:rPr lang="en-GB" dirty="0"/>
              <a:t>A system architecture may be designed to structure the requirements;</a:t>
            </a:r>
          </a:p>
          <a:p>
            <a:pPr lvl="1">
              <a:lnSpc>
                <a:spcPct val="90000"/>
              </a:lnSpc>
            </a:pPr>
            <a:r>
              <a:rPr lang="en-GB" dirty="0"/>
              <a:t>The system may inter-operate with other systems that generate design requirements;</a:t>
            </a:r>
          </a:p>
          <a:p>
            <a:pPr lvl="1">
              <a:lnSpc>
                <a:spcPct val="90000"/>
              </a:lnSpc>
            </a:pPr>
            <a:r>
              <a:rPr lang="en-GB" dirty="0"/>
              <a:t>The use of a specific architecture to satisfy non-functional requirements may be a domain requirement.</a:t>
            </a:r>
            <a:endParaRPr lang="en-GB" sz="1800" dirty="0"/>
          </a:p>
          <a:p>
            <a:pPr lvl="1">
              <a:lnSpc>
                <a:spcPct val="90000"/>
              </a:lnSpc>
            </a:pPr>
            <a:r>
              <a:rPr lang="en-GB" sz="1800" dirty="0"/>
              <a:t>This may be the consequence of a regulatory requirement.</a:t>
            </a:r>
            <a:endParaRPr lang="en-GB" dirty="0"/>
          </a:p>
        </p:txBody>
      </p:sp>
      <p:sp>
        <p:nvSpPr>
          <p:cNvPr id="2" name="Date Placeholder 1"/>
          <p:cNvSpPr>
            <a:spLocks noGrp="1"/>
          </p:cNvSpPr>
          <p:nvPr>
            <p:ph type="dt" sz="half" idx="10"/>
          </p:nvPr>
        </p:nvSpPr>
        <p:spPr/>
        <p:txBody>
          <a:bodyPr/>
          <a:lstStyle/>
          <a:p>
            <a:pPr>
              <a:defRPr/>
            </a:pPr>
            <a:fld id="{5601D92D-6A2E-4D84-971B-A260ED64FB58}"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66</a:t>
            </a:fld>
            <a:endParaRPr lang="en-US"/>
          </a:p>
        </p:txBody>
      </p:sp>
    </p:spTree>
    <p:extLst>
      <p:ext uri="{BB962C8B-B14F-4D97-AF65-F5344CB8AC3E}">
        <p14:creationId xmlns:p14="http://schemas.microsoft.com/office/powerpoint/2010/main" val="2042262479"/>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language specification</a:t>
            </a:r>
          </a:p>
        </p:txBody>
      </p:sp>
      <p:sp>
        <p:nvSpPr>
          <p:cNvPr id="3" name="Content Placeholder 2"/>
          <p:cNvSpPr>
            <a:spLocks noGrp="1"/>
          </p:cNvSpPr>
          <p:nvPr>
            <p:ph idx="1"/>
          </p:nvPr>
        </p:nvSpPr>
        <p:spPr/>
        <p:txBody>
          <a:bodyPr/>
          <a:lstStyle/>
          <a:p>
            <a:r>
              <a:rPr lang="en-US" dirty="0"/>
              <a:t>Requirements are written as natural language sentences supplemented by diagrams and tables.</a:t>
            </a:r>
          </a:p>
          <a:p>
            <a:r>
              <a:rPr lang="en-US" dirty="0"/>
              <a:t>Used for writing requirements because it is expressive, intuitive and universal. This means that the requirements  can be understood by users and customers.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67</a:t>
            </a:fld>
            <a:endParaRPr lang="en-US"/>
          </a:p>
        </p:txBody>
      </p:sp>
      <p:sp>
        <p:nvSpPr>
          <p:cNvPr id="6" name="Date Placeholder 5"/>
          <p:cNvSpPr>
            <a:spLocks noGrp="1"/>
          </p:cNvSpPr>
          <p:nvPr>
            <p:ph type="dt" sz="half" idx="10"/>
          </p:nvPr>
        </p:nvSpPr>
        <p:spPr/>
        <p:txBody>
          <a:bodyPr/>
          <a:lstStyle/>
          <a:p>
            <a:pPr>
              <a:defRPr/>
            </a:pPr>
            <a:fld id="{DD8847B8-CBC8-4547-902D-1EBF746DCED0}" type="datetime1">
              <a:rPr lang="en-US" smtClean="0"/>
              <a:t>5/7/25</a:t>
            </a:fld>
            <a:endParaRPr lang="en-US"/>
          </a:p>
        </p:txBody>
      </p:sp>
    </p:spTree>
    <p:extLst>
      <p:ext uri="{BB962C8B-B14F-4D97-AF65-F5344CB8AC3E}">
        <p14:creationId xmlns:p14="http://schemas.microsoft.com/office/powerpoint/2010/main" val="1726076218"/>
      </p:ext>
    </p:extLst>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1000" y="266700"/>
            <a:ext cx="8229600" cy="1104900"/>
          </a:xfrm>
        </p:spPr>
        <p:txBody>
          <a:bodyPr/>
          <a:lstStyle/>
          <a:p>
            <a:r>
              <a:rPr lang="en-GB"/>
              <a:t>Guidelines for writing requirements</a:t>
            </a:r>
          </a:p>
        </p:txBody>
      </p:sp>
      <p:sp>
        <p:nvSpPr>
          <p:cNvPr id="61443" name="Rectangle 3"/>
          <p:cNvSpPr>
            <a:spLocks noGrp="1" noChangeArrowheads="1"/>
          </p:cNvSpPr>
          <p:nvPr>
            <p:ph idx="1"/>
          </p:nvPr>
        </p:nvSpPr>
        <p:spPr/>
        <p:txBody>
          <a:bodyPr/>
          <a:lstStyle/>
          <a:p>
            <a:r>
              <a:rPr lang="en-GB" dirty="0"/>
              <a:t>Invent a standard format and use it for all requirements.</a:t>
            </a:r>
          </a:p>
          <a:p>
            <a:r>
              <a:rPr lang="en-GB" dirty="0"/>
              <a:t>Use language in a consistent way. Use shall for mandatory requirements, should for desirable requirements.</a:t>
            </a:r>
          </a:p>
          <a:p>
            <a:r>
              <a:rPr lang="en-GB" dirty="0"/>
              <a:t>Use text highlighting to identify key parts of the requirement.</a:t>
            </a:r>
          </a:p>
          <a:p>
            <a:r>
              <a:rPr lang="en-GB" dirty="0"/>
              <a:t>Avoid the use of computer jargon.</a:t>
            </a:r>
          </a:p>
          <a:p>
            <a:r>
              <a:rPr lang="en-GB" dirty="0"/>
              <a:t>Include an explanation (rationale) of why a requirement is necessary.</a:t>
            </a:r>
          </a:p>
        </p:txBody>
      </p:sp>
      <p:sp>
        <p:nvSpPr>
          <p:cNvPr id="2" name="Date Placeholder 1"/>
          <p:cNvSpPr>
            <a:spLocks noGrp="1"/>
          </p:cNvSpPr>
          <p:nvPr>
            <p:ph type="dt" sz="half" idx="10"/>
          </p:nvPr>
        </p:nvSpPr>
        <p:spPr/>
        <p:txBody>
          <a:bodyPr/>
          <a:lstStyle/>
          <a:p>
            <a:pPr>
              <a:defRPr/>
            </a:pPr>
            <a:fld id="{B5829EE5-090F-418E-A375-B923168F4FFF}"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68</a:t>
            </a:fld>
            <a:endParaRPr lang="en-US"/>
          </a:p>
        </p:txBody>
      </p:sp>
    </p:spTree>
    <p:extLst>
      <p:ext uri="{BB962C8B-B14F-4D97-AF65-F5344CB8AC3E}">
        <p14:creationId xmlns:p14="http://schemas.microsoft.com/office/powerpoint/2010/main" val="2790173008"/>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dirty="0"/>
              <a:t>Problems with natural language</a:t>
            </a:r>
          </a:p>
        </p:txBody>
      </p:sp>
      <p:sp>
        <p:nvSpPr>
          <p:cNvPr id="55299" name="Rectangle 3"/>
          <p:cNvSpPr>
            <a:spLocks noGrp="1" noChangeArrowheads="1"/>
          </p:cNvSpPr>
          <p:nvPr>
            <p:ph idx="1"/>
          </p:nvPr>
        </p:nvSpPr>
        <p:spPr/>
        <p:txBody>
          <a:bodyPr/>
          <a:lstStyle/>
          <a:p>
            <a:r>
              <a:rPr lang="en-GB" dirty="0"/>
              <a:t>Lack of clarity </a:t>
            </a:r>
          </a:p>
          <a:p>
            <a:pPr lvl="1"/>
            <a:r>
              <a:rPr lang="en-GB" dirty="0"/>
              <a:t>Precision is difficult without making the document difficult to read.</a:t>
            </a:r>
          </a:p>
          <a:p>
            <a:r>
              <a:rPr lang="en-GB" dirty="0"/>
              <a:t>Requirements confusion</a:t>
            </a:r>
          </a:p>
          <a:p>
            <a:pPr lvl="1"/>
            <a:r>
              <a:rPr lang="en-GB" dirty="0"/>
              <a:t>Functional and non-functional requirements tend to be mixed-up.</a:t>
            </a:r>
          </a:p>
          <a:p>
            <a:r>
              <a:rPr lang="en-GB" dirty="0"/>
              <a:t>Requirements amalgamation</a:t>
            </a:r>
          </a:p>
          <a:p>
            <a:pPr lvl="1"/>
            <a:r>
              <a:rPr lang="en-GB" dirty="0"/>
              <a:t>Several different requirements may be expressed together.</a:t>
            </a:r>
          </a:p>
        </p:txBody>
      </p:sp>
      <p:sp>
        <p:nvSpPr>
          <p:cNvPr id="2" name="Date Placeholder 1"/>
          <p:cNvSpPr>
            <a:spLocks noGrp="1"/>
          </p:cNvSpPr>
          <p:nvPr>
            <p:ph type="dt" sz="half" idx="10"/>
          </p:nvPr>
        </p:nvSpPr>
        <p:spPr/>
        <p:txBody>
          <a:bodyPr/>
          <a:lstStyle/>
          <a:p>
            <a:pPr>
              <a:defRPr/>
            </a:pPr>
            <a:fld id="{98809C8C-A8C4-4AFA-9265-779FA21DB103}"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69</a:t>
            </a:fld>
            <a:endParaRPr lang="en-US"/>
          </a:p>
        </p:txBody>
      </p:sp>
    </p:spTree>
    <p:extLst>
      <p:ext uri="{BB962C8B-B14F-4D97-AF65-F5344CB8AC3E}">
        <p14:creationId xmlns:p14="http://schemas.microsoft.com/office/powerpoint/2010/main" val="1186723185"/>
      </p:ext>
    </p:extLst>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itle 1"/>
          <p:cNvSpPr>
            <a:spLocks noGrp="1"/>
          </p:cNvSpPr>
          <p:nvPr>
            <p:ph type="title"/>
          </p:nvPr>
        </p:nvSpPr>
        <p:spPr/>
        <p:txBody>
          <a:bodyPr/>
          <a:lstStyle/>
          <a:p>
            <a:pPr eaLnBrk="1" hangingPunct="1"/>
            <a:r>
              <a:rPr lang="en-US" dirty="0"/>
              <a:t>Example requirements for the insulin pump software system</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70</a:t>
            </a:fld>
            <a:endParaRPr lang="en-US"/>
          </a:p>
        </p:txBody>
      </p:sp>
      <p:graphicFrame>
        <p:nvGraphicFramePr>
          <p:cNvPr id="4" name="Table 3"/>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val="10000"/>
                  </a:ext>
                </a:extLst>
              </a:tr>
            </a:tbl>
          </a:graphicData>
        </a:graphic>
      </p:graphicFrame>
      <p:sp>
        <p:nvSpPr>
          <p:cNvPr id="2" name="Date Placeholder 1"/>
          <p:cNvSpPr>
            <a:spLocks noGrp="1"/>
          </p:cNvSpPr>
          <p:nvPr>
            <p:ph type="dt" sz="half" idx="10"/>
          </p:nvPr>
        </p:nvSpPr>
        <p:spPr/>
        <p:txBody>
          <a:bodyPr/>
          <a:lstStyle/>
          <a:p>
            <a:pPr>
              <a:defRPr/>
            </a:pPr>
            <a:fld id="{D8990320-FF0C-423D-9B7E-AC3C478D5B4C}" type="datetime1">
              <a:rPr lang="en-US" smtClean="0"/>
              <a:t>5/7/25</a:t>
            </a:fld>
            <a:endParaRPr lang="en-US"/>
          </a:p>
        </p:txBody>
      </p:sp>
    </p:spTree>
    <p:extLst>
      <p:ext uri="{BB962C8B-B14F-4D97-AF65-F5344CB8AC3E}">
        <p14:creationId xmlns:p14="http://schemas.microsoft.com/office/powerpoint/2010/main" val="598877174"/>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e.g. requirements for embedded control system but is sometimes too rigid for writing business system requirements.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71</a:t>
            </a:fld>
            <a:endParaRPr lang="en-US"/>
          </a:p>
        </p:txBody>
      </p:sp>
      <p:sp>
        <p:nvSpPr>
          <p:cNvPr id="6" name="Date Placeholder 5"/>
          <p:cNvSpPr>
            <a:spLocks noGrp="1"/>
          </p:cNvSpPr>
          <p:nvPr>
            <p:ph type="dt" sz="half" idx="10"/>
          </p:nvPr>
        </p:nvSpPr>
        <p:spPr/>
        <p:txBody>
          <a:bodyPr/>
          <a:lstStyle/>
          <a:p>
            <a:pPr>
              <a:defRPr/>
            </a:pPr>
            <a:fld id="{53B66607-8840-4A49-AD98-59E48B051864}" type="datetime1">
              <a:rPr lang="en-US" smtClean="0"/>
              <a:t>5/7/25</a:t>
            </a:fld>
            <a:endParaRPr lang="en-US"/>
          </a:p>
        </p:txBody>
      </p:sp>
    </p:spTree>
    <p:extLst>
      <p:ext uri="{BB962C8B-B14F-4D97-AF65-F5344CB8AC3E}">
        <p14:creationId xmlns:p14="http://schemas.microsoft.com/office/powerpoint/2010/main" val="830475239"/>
      </p:ext>
    </p:extLst>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noFill/>
          <a:ln/>
        </p:spPr>
        <p:txBody>
          <a:bodyPr lIns="90487" tIns="44450" rIns="90487" bIns="44450"/>
          <a:lstStyle/>
          <a:p>
            <a:r>
              <a:rPr lang="en-GB"/>
              <a:t>Form-based specifications</a:t>
            </a:r>
          </a:p>
        </p:txBody>
      </p:sp>
      <p:sp>
        <p:nvSpPr>
          <p:cNvPr id="67587" name="Rectangle 3"/>
          <p:cNvSpPr>
            <a:spLocks noGrp="1" noChangeArrowheads="1"/>
          </p:cNvSpPr>
          <p:nvPr>
            <p:ph idx="1"/>
          </p:nvPr>
        </p:nvSpPr>
        <p:spPr>
          <a:noFill/>
          <a:ln/>
        </p:spPr>
        <p:txBody>
          <a:bodyPr lIns="90487" tIns="44450" rIns="90487" bIns="44450"/>
          <a:lstStyle/>
          <a:p>
            <a:r>
              <a:rPr lang="en-GB" dirty="0"/>
              <a:t>Definition of the function or entity.</a:t>
            </a:r>
          </a:p>
          <a:p>
            <a:r>
              <a:rPr lang="en-GB" dirty="0"/>
              <a:t>Description of inputs and where they come from.</a:t>
            </a:r>
          </a:p>
          <a:p>
            <a:r>
              <a:rPr lang="en-GB" dirty="0"/>
              <a:t>Description of outputs and where they go to.</a:t>
            </a:r>
          </a:p>
          <a:p>
            <a:r>
              <a:rPr lang="en-GB" dirty="0"/>
              <a:t>Information about the information needed for the computation and other entities used.</a:t>
            </a:r>
          </a:p>
          <a:p>
            <a:r>
              <a:rPr lang="en-GB" dirty="0"/>
              <a:t>Description of the action to be taken.</a:t>
            </a:r>
          </a:p>
          <a:p>
            <a:r>
              <a:rPr lang="en-GB" dirty="0"/>
              <a:t>Pre and post conditions (if appropriate).</a:t>
            </a:r>
          </a:p>
          <a:p>
            <a:r>
              <a:rPr lang="en-GB" dirty="0"/>
              <a:t>The side effects (if any) of the function.</a:t>
            </a:r>
          </a:p>
        </p:txBody>
      </p:sp>
      <p:sp>
        <p:nvSpPr>
          <p:cNvPr id="2" name="Date Placeholder 1"/>
          <p:cNvSpPr>
            <a:spLocks noGrp="1"/>
          </p:cNvSpPr>
          <p:nvPr>
            <p:ph type="dt" sz="half" idx="10"/>
          </p:nvPr>
        </p:nvSpPr>
        <p:spPr/>
        <p:txBody>
          <a:bodyPr/>
          <a:lstStyle/>
          <a:p>
            <a:pPr>
              <a:defRPr/>
            </a:pPr>
            <a:fld id="{D8FF2DA3-E311-4846-9EA8-B63A4328515D}"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72</a:t>
            </a:fld>
            <a:endParaRPr lang="en-US"/>
          </a:p>
        </p:txBody>
      </p:sp>
    </p:spTree>
    <p:extLst>
      <p:ext uri="{BB962C8B-B14F-4D97-AF65-F5344CB8AC3E}">
        <p14:creationId xmlns:p14="http://schemas.microsoft.com/office/powerpoint/2010/main" val="2423206850"/>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73</a:t>
            </a:fld>
            <a:endParaRPr lang="en-US"/>
          </a:p>
        </p:txBody>
      </p:sp>
      <p:graphicFrame>
        <p:nvGraphicFramePr>
          <p:cNvPr id="27650"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name="Document" r:id="rId2" imgW="5943600" imgH="3314700" progId="Word.Document.12">
                  <p:embed/>
                </p:oleObj>
              </mc:Choice>
              <mc:Fallback>
                <p:oleObj name="Document" r:id="rId2" imgW="5943600" imgH="3314700" progId="Word.Document.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fld id="{30A176C5-3756-491F-9E28-9292AAEB429B}" type="datetime1">
              <a:rPr lang="en-US" smtClean="0"/>
              <a:t>5/7/25</a:t>
            </a:fld>
            <a:endParaRPr lang="en-US"/>
          </a:p>
        </p:txBody>
      </p:sp>
    </p:spTree>
    <p:extLst>
      <p:ext uri="{BB962C8B-B14F-4D97-AF65-F5344CB8AC3E}">
        <p14:creationId xmlns:p14="http://schemas.microsoft.com/office/powerpoint/2010/main" val="577089289"/>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itle 1"/>
          <p:cNvSpPr>
            <a:spLocks noGrp="1"/>
          </p:cNvSpPr>
          <p:nvPr>
            <p:ph type="title"/>
          </p:nvPr>
        </p:nvSpPr>
        <p:spPr/>
        <p:txBody>
          <a:bodyPr/>
          <a:lstStyle/>
          <a:p>
            <a:pPr eaLnBrk="1" hangingPunct="1"/>
            <a:r>
              <a:rPr lang="en-US" dirty="0"/>
              <a:t>A structured specification of a requirement for an insulin pump</a:t>
            </a:r>
            <a:r>
              <a:rPr lang="en-GB" dirty="0"/>
              <a:t> </a:t>
            </a:r>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74</a:t>
            </a:fld>
            <a:endParaRPr lang="en-US"/>
          </a:p>
        </p:txBody>
      </p:sp>
      <p:graphicFrame>
        <p:nvGraphicFramePr>
          <p:cNvPr id="27650"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name="Document" r:id="rId2" imgW="5943600" imgH="4445000" progId="Word.Document.12">
                  <p:embed/>
                </p:oleObj>
              </mc:Choice>
              <mc:Fallback>
                <p:oleObj name="Document" r:id="rId2" imgW="5943600" imgH="4445000" progId="Word.Document.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oleObj>
              </mc:Fallback>
            </mc:AlternateContent>
          </a:graphicData>
        </a:graphic>
      </p:graphicFrame>
      <p:sp>
        <p:nvSpPr>
          <p:cNvPr id="2" name="Date Placeholder 1"/>
          <p:cNvSpPr>
            <a:spLocks noGrp="1"/>
          </p:cNvSpPr>
          <p:nvPr>
            <p:ph type="dt" sz="half" idx="10"/>
          </p:nvPr>
        </p:nvSpPr>
        <p:spPr/>
        <p:txBody>
          <a:bodyPr/>
          <a:lstStyle/>
          <a:p>
            <a:pPr>
              <a:defRPr/>
            </a:pPr>
            <a:fld id="{6661387D-00E9-44E5-9A18-569F763B6850}" type="datetime1">
              <a:rPr lang="en-US" smtClean="0"/>
              <a:t>5/7/25</a:t>
            </a:fld>
            <a:endParaRPr lang="en-US"/>
          </a:p>
        </p:txBody>
      </p:sp>
    </p:spTree>
    <p:extLst>
      <p:ext uri="{BB962C8B-B14F-4D97-AF65-F5344CB8AC3E}">
        <p14:creationId xmlns:p14="http://schemas.microsoft.com/office/powerpoint/2010/main" val="1240694350"/>
      </p:ext>
    </p:extLst>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dirty="0"/>
              <a:t>Tabular specification</a:t>
            </a:r>
          </a:p>
        </p:txBody>
      </p:sp>
      <p:sp>
        <p:nvSpPr>
          <p:cNvPr id="82947" name="Rectangle 3"/>
          <p:cNvSpPr>
            <a:spLocks noGrp="1" noChangeArrowheads="1"/>
          </p:cNvSpPr>
          <p:nvPr>
            <p:ph idx="1"/>
          </p:nvPr>
        </p:nvSpPr>
        <p:spPr/>
        <p:txBody>
          <a:bodyPr/>
          <a:lstStyle/>
          <a:p>
            <a:r>
              <a:rPr lang="en-US" dirty="0"/>
              <a:t>Used to supplement natural language.</a:t>
            </a:r>
          </a:p>
          <a:p>
            <a:r>
              <a:rPr lang="en-US" dirty="0"/>
              <a:t>Particularly useful when you have to define a number of possible alternative courses of action.</a:t>
            </a:r>
          </a:p>
          <a:p>
            <a:r>
              <a:rPr lang="en-US" dirty="0"/>
              <a:t>For example, the insulin pump systems bases its computations on the rate of change of blood sugar level and the tabular specification explains how to calculate the insulin requirement for different scenarios.</a:t>
            </a:r>
          </a:p>
        </p:txBody>
      </p:sp>
      <p:sp>
        <p:nvSpPr>
          <p:cNvPr id="2" name="Date Placeholder 1"/>
          <p:cNvSpPr>
            <a:spLocks noGrp="1"/>
          </p:cNvSpPr>
          <p:nvPr>
            <p:ph type="dt" sz="half" idx="10"/>
          </p:nvPr>
        </p:nvSpPr>
        <p:spPr/>
        <p:txBody>
          <a:bodyPr/>
          <a:lstStyle/>
          <a:p>
            <a:pPr>
              <a:defRPr/>
            </a:pPr>
            <a:fld id="{2DC65FF4-EBBA-4090-B97F-F13CA3C7C592}" type="datetime1">
              <a:rPr lang="en-US" smtClean="0"/>
              <a:t>5/7/25</a:t>
            </a:fld>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75</a:t>
            </a:fld>
            <a:endParaRPr lang="en-US"/>
          </a:p>
        </p:txBody>
      </p:sp>
    </p:spTree>
    <p:extLst>
      <p:ext uri="{BB962C8B-B14F-4D97-AF65-F5344CB8AC3E}">
        <p14:creationId xmlns:p14="http://schemas.microsoft.com/office/powerpoint/2010/main" val="2030395543"/>
      </p:ext>
    </p:extLst>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a:t>Tabular specification of computation for an insulin pump</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76</a:t>
            </a:fld>
            <a:endParaRPr lang="en-US"/>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extLst>
                    <a:ext uri="{9D8B030D-6E8A-4147-A177-3AD203B41FA5}">
                      <a16:colId xmlns:a16="http://schemas.microsoft.com/office/drawing/2014/main" val="20000"/>
                    </a:ext>
                  </a:extLst>
                </a:gridCol>
                <a:gridCol w="2651125">
                  <a:extLst>
                    <a:ext uri="{9D8B030D-6E8A-4147-A177-3AD203B41FA5}">
                      <a16:colId xmlns:a16="http://schemas.microsoft.com/office/drawing/2014/main" val="20001"/>
                    </a:ext>
                  </a:extLst>
                </a:gridCol>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      round ((r2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sp>
        <p:nvSpPr>
          <p:cNvPr id="2" name="Date Placeholder 1"/>
          <p:cNvSpPr>
            <a:spLocks noGrp="1"/>
          </p:cNvSpPr>
          <p:nvPr>
            <p:ph type="dt" sz="half" idx="10"/>
          </p:nvPr>
        </p:nvSpPr>
        <p:spPr/>
        <p:txBody>
          <a:bodyPr/>
          <a:lstStyle/>
          <a:p>
            <a:pPr>
              <a:defRPr/>
            </a:pPr>
            <a:fld id="{B7FF45DC-28F0-458E-8D62-3CE5C7E584C6}" type="datetime1">
              <a:rPr lang="en-US" smtClean="0"/>
              <a:t>5/7/25</a:t>
            </a:fld>
            <a:endParaRPr lang="en-US"/>
          </a:p>
        </p:txBody>
      </p:sp>
    </p:spTree>
    <p:extLst>
      <p:ext uri="{BB962C8B-B14F-4D97-AF65-F5344CB8AC3E}">
        <p14:creationId xmlns:p14="http://schemas.microsoft.com/office/powerpoint/2010/main" val="3532808645"/>
      </p:ext>
    </p:extLst>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GB" dirty="0"/>
              <a:t>Use cases</a:t>
            </a:r>
          </a:p>
        </p:txBody>
      </p:sp>
      <p:sp>
        <p:nvSpPr>
          <p:cNvPr id="48131" name="Rectangle 3"/>
          <p:cNvSpPr>
            <a:spLocks noGrp="1" noChangeArrowheads="1"/>
          </p:cNvSpPr>
          <p:nvPr>
            <p:ph idx="1"/>
          </p:nvPr>
        </p:nvSpPr>
        <p:spPr/>
        <p:txBody>
          <a:bodyPr/>
          <a:lstStyle/>
          <a:p>
            <a:r>
              <a:rPr lang="en-GB" dirty="0"/>
              <a:t>Use-cases are a kind of scenario that are included in the UML. </a:t>
            </a:r>
          </a:p>
          <a:p>
            <a:r>
              <a:rPr lang="en-GB" dirty="0"/>
              <a:t>Use cases identify the actors in an interaction and which describe the interaction itself.</a:t>
            </a:r>
          </a:p>
          <a:p>
            <a:r>
              <a:rPr lang="en-GB" dirty="0"/>
              <a:t>A set of use cases should describe all possible interactions with the system.</a:t>
            </a:r>
          </a:p>
          <a:p>
            <a:r>
              <a:rPr lang="en-GB" dirty="0"/>
              <a:t>High-level graphical model supplemented by more detailed tabular description (see Chapter 5).</a:t>
            </a:r>
          </a:p>
          <a:p>
            <a:r>
              <a:rPr lang="en-GB" dirty="0"/>
              <a:t>UML sequence diagrams may be used to add detail to use-cases by showing the sequence of event processing in the system.</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77</a:t>
            </a:fld>
            <a:endParaRPr lang="en-US"/>
          </a:p>
        </p:txBody>
      </p:sp>
      <p:sp>
        <p:nvSpPr>
          <p:cNvPr id="2" name="Date Placeholder 1"/>
          <p:cNvSpPr>
            <a:spLocks noGrp="1"/>
          </p:cNvSpPr>
          <p:nvPr>
            <p:ph type="dt" sz="half" idx="10"/>
          </p:nvPr>
        </p:nvSpPr>
        <p:spPr/>
        <p:txBody>
          <a:bodyPr/>
          <a:lstStyle/>
          <a:p>
            <a:pPr>
              <a:defRPr/>
            </a:pPr>
            <a:fld id="{AB4DE58A-637A-4FBB-A5D6-1B3E6DA31D3C}" type="datetime1">
              <a:rPr lang="en-US" smtClean="0"/>
              <a:t>5/7/25</a:t>
            </a:fld>
            <a:endParaRPr lang="en-US"/>
          </a:p>
        </p:txBody>
      </p:sp>
    </p:spTree>
    <p:extLst>
      <p:ext uri="{BB962C8B-B14F-4D97-AF65-F5344CB8AC3E}">
        <p14:creationId xmlns:p14="http://schemas.microsoft.com/office/powerpoint/2010/main" val="1477966070"/>
      </p:ext>
    </p:extLst>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a:t>Use cases for the </a:t>
            </a:r>
            <a:r>
              <a:rPr lang="en-GB" dirty="0"/>
              <a:t>Mentcare system</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78</a:t>
            </a:fld>
            <a:endParaRPr lang="en-US"/>
          </a:p>
        </p:txBody>
      </p:sp>
      <p:pic>
        <p:nvPicPr>
          <p:cNvPr id="4" name="Picture 3" descr="4.15 UseCases.eps"/>
          <p:cNvPicPr>
            <a:picLocks noChangeAspect="1"/>
          </p:cNvPicPr>
          <p:nvPr/>
        </p:nvPicPr>
        <p:blipFill>
          <a:blip r:embed="rId2"/>
          <a:stretch>
            <a:fillRect/>
          </a:stretch>
        </p:blipFill>
        <p:spPr>
          <a:xfrm>
            <a:off x="1447799" y="1828800"/>
            <a:ext cx="6555509" cy="3886200"/>
          </a:xfrm>
          <a:prstGeom prst="rect">
            <a:avLst/>
          </a:prstGeom>
        </p:spPr>
      </p:pic>
      <p:sp>
        <p:nvSpPr>
          <p:cNvPr id="2" name="Date Placeholder 1"/>
          <p:cNvSpPr>
            <a:spLocks noGrp="1"/>
          </p:cNvSpPr>
          <p:nvPr>
            <p:ph type="dt" sz="half" idx="10"/>
          </p:nvPr>
        </p:nvSpPr>
        <p:spPr/>
        <p:txBody>
          <a:bodyPr/>
          <a:lstStyle/>
          <a:p>
            <a:pPr>
              <a:defRPr/>
            </a:pPr>
            <a:fld id="{D4CF51DE-1E28-4ED4-9FF8-36F9949D43D4}" type="datetime1">
              <a:rPr lang="en-US" smtClean="0"/>
              <a:t>5/7/25</a:t>
            </a:fld>
            <a:endParaRPr lang="en-US"/>
          </a:p>
        </p:txBody>
      </p:sp>
    </p:spTree>
    <p:extLst>
      <p:ext uri="{BB962C8B-B14F-4D97-AF65-F5344CB8AC3E}">
        <p14:creationId xmlns:p14="http://schemas.microsoft.com/office/powerpoint/2010/main" val="3002223797"/>
      </p:ext>
    </p:extLst>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noFill/>
          <a:ln/>
        </p:spPr>
        <p:txBody>
          <a:bodyPr lIns="90487" tIns="44450" rIns="90487" bIns="44450"/>
          <a:lstStyle/>
          <a:p>
            <a:r>
              <a:rPr lang="en-GB" dirty="0"/>
              <a:t>The software requirements document</a:t>
            </a:r>
          </a:p>
        </p:txBody>
      </p:sp>
      <p:sp>
        <p:nvSpPr>
          <p:cNvPr id="16387" name="Rectangle 3"/>
          <p:cNvSpPr>
            <a:spLocks noGrp="1" noChangeArrowheads="1"/>
          </p:cNvSpPr>
          <p:nvPr>
            <p:ph idx="1"/>
          </p:nvPr>
        </p:nvSpPr>
        <p:spPr>
          <a:noFill/>
          <a:ln/>
        </p:spPr>
        <p:txBody>
          <a:bodyPr lIns="90487" tIns="44450" rIns="90487" bIns="44450"/>
          <a:lstStyle/>
          <a:p>
            <a:r>
              <a:rPr lang="en-GB" dirty="0"/>
              <a:t>The software requirements 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it.</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79</a:t>
            </a:fld>
            <a:endParaRPr lang="en-US"/>
          </a:p>
        </p:txBody>
      </p:sp>
      <p:sp>
        <p:nvSpPr>
          <p:cNvPr id="2" name="Date Placeholder 1"/>
          <p:cNvSpPr>
            <a:spLocks noGrp="1"/>
          </p:cNvSpPr>
          <p:nvPr>
            <p:ph type="dt" sz="half" idx="10"/>
          </p:nvPr>
        </p:nvSpPr>
        <p:spPr/>
        <p:txBody>
          <a:bodyPr/>
          <a:lstStyle/>
          <a:p>
            <a:pPr>
              <a:defRPr/>
            </a:pPr>
            <a:fld id="{7B86B578-7E19-4C3B-B8C4-5E15556CEDB9}" type="datetime1">
              <a:rPr lang="en-US" smtClean="0"/>
              <a:t>5/7/25</a:t>
            </a:fld>
            <a:endParaRPr lang="en-US"/>
          </a:p>
        </p:txBody>
      </p:sp>
    </p:spTree>
    <p:extLst>
      <p:ext uri="{BB962C8B-B14F-4D97-AF65-F5344CB8AC3E}">
        <p14:creationId xmlns:p14="http://schemas.microsoft.com/office/powerpoint/2010/main" val="3604491601"/>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a:t>Users of a requirements document</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80</a:t>
            </a:fld>
            <a:endParaRPr lang="en-US"/>
          </a:p>
        </p:txBody>
      </p:sp>
      <p:pic>
        <p:nvPicPr>
          <p:cNvPr id="4" name="Picture 3" descr="4.6 ReqDocUsers.eps"/>
          <p:cNvPicPr>
            <a:picLocks noChangeAspect="1"/>
          </p:cNvPicPr>
          <p:nvPr/>
        </p:nvPicPr>
        <p:blipFill>
          <a:blip r:embed="rId2"/>
          <a:stretch>
            <a:fillRect/>
          </a:stretch>
        </p:blipFill>
        <p:spPr>
          <a:xfrm>
            <a:off x="2514600" y="1486176"/>
            <a:ext cx="3810000" cy="4870174"/>
          </a:xfrm>
          <a:prstGeom prst="rect">
            <a:avLst/>
          </a:prstGeom>
        </p:spPr>
      </p:pic>
      <p:sp>
        <p:nvSpPr>
          <p:cNvPr id="2" name="Date Placeholder 1"/>
          <p:cNvSpPr>
            <a:spLocks noGrp="1"/>
          </p:cNvSpPr>
          <p:nvPr>
            <p:ph type="dt" sz="half" idx="10"/>
          </p:nvPr>
        </p:nvSpPr>
        <p:spPr/>
        <p:txBody>
          <a:bodyPr/>
          <a:lstStyle/>
          <a:p>
            <a:pPr>
              <a:defRPr/>
            </a:pPr>
            <a:fld id="{85220EB0-98FF-491C-82B5-DF4BD9548950}" type="datetime1">
              <a:rPr lang="en-US" smtClean="0"/>
              <a:t>5/7/25</a:t>
            </a:fld>
            <a:endParaRPr lang="en-US"/>
          </a:p>
        </p:txBody>
      </p:sp>
    </p:spTree>
    <p:extLst>
      <p:ext uri="{BB962C8B-B14F-4D97-AF65-F5344CB8AC3E}">
        <p14:creationId xmlns:p14="http://schemas.microsoft.com/office/powerpoint/2010/main" val="74181069"/>
      </p:ext>
    </p:extLst>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variability</a:t>
            </a:r>
          </a:p>
        </p:txBody>
      </p:sp>
      <p:sp>
        <p:nvSpPr>
          <p:cNvPr id="3" name="Content Placeholder 2"/>
          <p:cNvSpPr>
            <a:spLocks noGrp="1"/>
          </p:cNvSpPr>
          <p:nvPr>
            <p:ph idx="1"/>
          </p:nvPr>
        </p:nvSpPr>
        <p:spPr/>
        <p:txBody>
          <a:bodyPr/>
          <a:lstStyle/>
          <a:p>
            <a:pPr algn="just"/>
            <a:r>
              <a:rPr lang="en-US" dirty="0"/>
              <a:t>Information in requirements document depends on type of system and the approach to development used.</a:t>
            </a:r>
          </a:p>
          <a:p>
            <a:pPr algn="just"/>
            <a:r>
              <a:rPr lang="en-US" dirty="0"/>
              <a:t>Systems developed incrementally will, typically, have less detail in the requirements document.</a:t>
            </a:r>
          </a:p>
          <a:p>
            <a:pPr algn="just"/>
            <a:r>
              <a:rPr lang="en-US" dirty="0"/>
              <a:t>Requirements documents standards have been designed e.g. IEEE standard. These are mostly applicable to the requirements for large systems engineering projects.</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81</a:t>
            </a:fld>
            <a:endParaRPr lang="en-US"/>
          </a:p>
        </p:txBody>
      </p:sp>
      <p:sp>
        <p:nvSpPr>
          <p:cNvPr id="6" name="Date Placeholder 5"/>
          <p:cNvSpPr>
            <a:spLocks noGrp="1"/>
          </p:cNvSpPr>
          <p:nvPr>
            <p:ph type="dt" sz="half" idx="10"/>
          </p:nvPr>
        </p:nvSpPr>
        <p:spPr/>
        <p:txBody>
          <a:bodyPr/>
          <a:lstStyle/>
          <a:p>
            <a:pPr>
              <a:defRPr/>
            </a:pPr>
            <a:fld id="{37005537-14DB-4B8F-886D-8F99AE8D125F}" type="datetime1">
              <a:rPr lang="en-US" smtClean="0"/>
              <a:t>5/7/25</a:t>
            </a:fld>
            <a:endParaRPr lang="en-US"/>
          </a:p>
        </p:txBody>
      </p:sp>
    </p:spTree>
    <p:extLst>
      <p:ext uri="{BB962C8B-B14F-4D97-AF65-F5344CB8AC3E}">
        <p14:creationId xmlns:p14="http://schemas.microsoft.com/office/powerpoint/2010/main" val="3902827572"/>
      </p:ext>
    </p:extLst>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76213" y="206375"/>
            <a:ext cx="7367587" cy="1089025"/>
          </a:xfrm>
        </p:spPr>
        <p:txBody>
          <a:bodyPr/>
          <a:lstStyle/>
          <a:p>
            <a:pPr eaLnBrk="1" hangingPunct="1"/>
            <a:r>
              <a:rPr lang="en-US" dirty="0"/>
              <a:t>The structure of a requirements</a:t>
            </a:r>
            <a:r>
              <a:rPr lang="en-US" b="1" dirty="0"/>
              <a:t> </a:t>
            </a:r>
            <a:r>
              <a:rPr lang="en-US" dirty="0"/>
              <a:t>document</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82</a:t>
            </a:fld>
            <a:endParaRPr lang="en-US"/>
          </a:p>
        </p:txBody>
      </p:sp>
      <p:graphicFrame>
        <p:nvGraphicFramePr>
          <p:cNvPr id="4" name="Table 3"/>
          <p:cNvGraphicFramePr>
            <a:graphicFrameLocks noGrp="1"/>
          </p:cNvGraphicFramePr>
          <p:nvPr/>
        </p:nvGraphicFramePr>
        <p:xfrm>
          <a:off x="762000" y="1828800"/>
          <a:ext cx="7924800" cy="4480560"/>
        </p:xfrm>
        <a:graphic>
          <a:graphicData uri="http://schemas.openxmlformats.org/drawingml/2006/table">
            <a:tbl>
              <a:tblPr/>
              <a:tblGrid>
                <a:gridCol w="190500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Arial" charset="0"/>
                          <a:ea typeface="Times New Roman" charset="0"/>
                          <a:cs typeface="Times New Roman" charset="0"/>
                        </a:rPr>
                        <a:t>Chapter</a:t>
                      </a:r>
                      <a:endParaRPr kumimoji="0" lang="en-GB" sz="1400" b="1"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Arial" charset="0"/>
                          <a:ea typeface="Times New Roman" charset="0"/>
                          <a:cs typeface="Times New Roman" charset="0"/>
                        </a:rPr>
                        <a:t>Description</a:t>
                      </a:r>
                      <a:endParaRPr kumimoji="0" lang="en-GB" sz="1400" b="1"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Preface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expected readership of the document and describe its version history, including a rationale for the creation of a new version and a summary of the changes made in each version. </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Introduction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describe the need for the system. It should briefly describe the system’s functions and explain how it will work with other systems. It should also describe how the system fits into the overall business or strategic objectives of the organization commissioning the software.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Glossary</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This should define the technical terms used in the document. You should not make assumptions about the experience or expertise of the reader.</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User requirements definition</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Here, you describe the services provided for the user. The nonfunctional system requirements should also be described in this section. This description may use natural language, diagrams, or other notations that are understandable to customers. Product and process standards that must be followed should be specified.</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charset="0"/>
                          <a:ea typeface="Times New Roman" charset="0"/>
                          <a:cs typeface="Times New Roman" charset="0"/>
                        </a:rPr>
                        <a:t>System architecture</a:t>
                      </a:r>
                      <a:endParaRPr kumimoji="0" lang="en-GB" sz="1400" b="0" i="0" u="none" strike="noStrike" cap="none" normalizeH="0" baseline="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charset="0"/>
                          <a:ea typeface="Times New Roman" charset="0"/>
                          <a:cs typeface="Times New Roman" charset="0"/>
                        </a:rPr>
                        <a:t>This chapter should present a high-level overview of the anticipated system architecture, showing the distribution of functions across system modules. Architectural components that are reused should be highlighted.</a:t>
                      </a:r>
                      <a:endParaRPr kumimoji="0" lang="en-GB" sz="1400" b="0" i="0" u="none" strike="noStrike" cap="none" normalizeH="0" baseline="0" dirty="0">
                        <a:ln>
                          <a:noFill/>
                        </a:ln>
                        <a:solidFill>
                          <a:srgbClr val="000000"/>
                        </a:solidFill>
                        <a:effectLst/>
                        <a:latin typeface="Arial" charset="0"/>
                        <a:ea typeface="Times New Roman" charset="0"/>
                        <a:cs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pPr>
              <a:defRPr/>
            </a:pPr>
            <a:fld id="{ABE95746-8BA1-489D-AD12-F2C0869CB862}" type="datetime1">
              <a:rPr lang="en-US" smtClean="0"/>
              <a:t>5/7/25</a:t>
            </a:fld>
            <a:endParaRPr lang="en-US"/>
          </a:p>
        </p:txBody>
      </p:sp>
    </p:spTree>
    <p:extLst>
      <p:ext uri="{BB962C8B-B14F-4D97-AF65-F5344CB8AC3E}">
        <p14:creationId xmlns:p14="http://schemas.microsoft.com/office/powerpoint/2010/main" val="152194109"/>
      </p:ext>
    </p:extLst>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structure of a requirements document</a:t>
            </a:r>
            <a:r>
              <a:rPr lang="en-GB" dirty="0"/>
              <a:t> </a:t>
            </a:r>
            <a:endParaRPr lang="en-US" dirty="0"/>
          </a:p>
        </p:txBody>
      </p:sp>
      <p:graphicFrame>
        <p:nvGraphicFramePr>
          <p:cNvPr id="4" name="Content Placeholder 3"/>
          <p:cNvGraphicFramePr>
            <a:graphicFrameLocks noGrp="1"/>
          </p:cNvGraphicFramePr>
          <p:nvPr>
            <p:ph idx="1"/>
          </p:nvPr>
        </p:nvGraphicFramePr>
        <p:xfrm>
          <a:off x="457200" y="1676400"/>
          <a:ext cx="8229600" cy="4680813"/>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6553200">
                  <a:extLst>
                    <a:ext uri="{9D8B030D-6E8A-4147-A177-3AD203B41FA5}">
                      <a16:colId xmlns:a16="http://schemas.microsoft.com/office/drawing/2014/main" val="20001"/>
                    </a:ext>
                  </a:extLst>
                </a:gridCol>
              </a:tblGrid>
              <a:tr h="319976">
                <a:tc>
                  <a:txBody>
                    <a:bodyPr/>
                    <a:lstStyle/>
                    <a:p>
                      <a:r>
                        <a:rPr lang="en-US" sz="1400" dirty="0">
                          <a:solidFill>
                            <a:schemeClr val="tx1"/>
                          </a:solidFill>
                          <a:latin typeface="Arial"/>
                          <a:cs typeface="Arial"/>
                        </a:rPr>
                        <a:t>Chapter</a:t>
                      </a:r>
                    </a:p>
                  </a:txBody>
                  <a:tcPr/>
                </a:tc>
                <a:tc>
                  <a:txBody>
                    <a:bodyPr/>
                    <a:lstStyle/>
                    <a:p>
                      <a:r>
                        <a:rPr lang="en-US" sz="1400" dirty="0">
                          <a:solidFill>
                            <a:schemeClr val="tx1"/>
                          </a:solidFill>
                          <a:latin typeface="Arial"/>
                          <a:cs typeface="Arial"/>
                        </a:rPr>
                        <a:t>Description</a:t>
                      </a:r>
                    </a:p>
                  </a:txBody>
                  <a:tcPr/>
                </a:tc>
                <a:extLst>
                  <a:ext uri="{0D108BD9-81ED-4DB2-BD59-A6C34878D82A}">
                    <a16:rowId xmlns:a16="http://schemas.microsoft.com/office/drawing/2014/main" val="10000"/>
                  </a:ext>
                </a:extLst>
              </a:tr>
              <a:tr h="69890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System requirements specification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functional and nonfunctional requirements in more detail. If necessary, further detail may also be added to the nonfunctional requirements. Interfaces to other systems may be defined.</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1"/>
                  </a:ext>
                </a:extLst>
              </a:tr>
              <a:tr h="8152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models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might include graphical system models showing the relationships between the system components and the system and its environment. Examples of possible models are object models, data-flow models, or semantic data models.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2"/>
                  </a:ext>
                </a:extLst>
              </a:tr>
              <a:tr h="9993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System evolution</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This should describe the fundamental assumptions on which the system is based, and any anticipated changes due to hardware evolution, changing user needs, and so on. This section is useful for system designers as it may help them avoid design decisions that would constrain likely future changes to the system.</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3"/>
                  </a:ext>
                </a:extLst>
              </a:tr>
              <a:tr h="118347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Appendices</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These should provide detailed, specific information that is related to the application being developed; for example, hardware and database descriptions. Hardware requirements define the minimal and optimal configurations for the system. Database requirements define the logical organization of the data used by the system and the relationships between data. </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4"/>
                  </a:ext>
                </a:extLst>
              </a:tr>
              <a:tr h="6311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rgbClr val="000000"/>
                          </a:solidFill>
                          <a:effectLst/>
                          <a:latin typeface="Arial"/>
                          <a:ea typeface="Times New Roman" charset="0"/>
                          <a:cs typeface="Arial"/>
                        </a:rPr>
                        <a:t>Index</a:t>
                      </a:r>
                      <a:endParaRPr kumimoji="0" lang="en-GB" sz="1400" b="0" i="0" u="none" strike="noStrike" cap="none" normalizeH="0" baseline="0">
                        <a:ln>
                          <a:noFill/>
                        </a:ln>
                        <a:solidFill>
                          <a:srgbClr val="000000"/>
                        </a:solidFill>
                        <a:effectLst/>
                        <a:latin typeface="Arial"/>
                        <a:ea typeface="Times New Roman" charset="0"/>
                        <a:cs typeface="Arial"/>
                      </a:endParaRPr>
                    </a:p>
                  </a:txBody>
                  <a:tcPr marL="54610" marR="54610" marT="0" marB="91440" horzOverflow="overflow"/>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rgbClr val="000000"/>
                          </a:solidFill>
                          <a:effectLst/>
                          <a:latin typeface="Arial"/>
                          <a:ea typeface="Times New Roman" charset="0"/>
                          <a:cs typeface="Arial"/>
                        </a:rPr>
                        <a:t>Several indexes to the document may be included. As well as a normal alphabetic index, there may be an index of diagrams, an index of functions, and so on.</a:t>
                      </a:r>
                      <a:endParaRPr kumimoji="0" lang="en-GB" sz="1400" b="0" i="0" u="none" strike="noStrike" cap="none" normalizeH="0" baseline="0" dirty="0">
                        <a:ln>
                          <a:noFill/>
                        </a:ln>
                        <a:solidFill>
                          <a:srgbClr val="000000"/>
                        </a:solidFill>
                        <a:effectLst/>
                        <a:latin typeface="Arial"/>
                        <a:ea typeface="Times New Roman" charset="0"/>
                        <a:cs typeface="Arial"/>
                      </a:endParaRPr>
                    </a:p>
                  </a:txBody>
                  <a:tcPr marL="54610" marR="54610" marT="0" marB="91440" horzOverflow="overflow"/>
                </a:tc>
                <a:extLst>
                  <a:ext uri="{0D108BD9-81ED-4DB2-BD59-A6C34878D82A}">
                    <a16:rowId xmlns:a16="http://schemas.microsoft.com/office/drawing/2014/main" val="10005"/>
                  </a:ext>
                </a:extLst>
              </a:tr>
            </a:tbl>
          </a:graphicData>
        </a:graphic>
      </p:graphicFrame>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83</a:t>
            </a:fld>
            <a:endParaRPr lang="en-US"/>
          </a:p>
        </p:txBody>
      </p:sp>
      <p:sp>
        <p:nvSpPr>
          <p:cNvPr id="3" name="Date Placeholder 2"/>
          <p:cNvSpPr>
            <a:spLocks noGrp="1"/>
          </p:cNvSpPr>
          <p:nvPr>
            <p:ph type="dt" sz="half" idx="10"/>
          </p:nvPr>
        </p:nvSpPr>
        <p:spPr/>
        <p:txBody>
          <a:bodyPr/>
          <a:lstStyle/>
          <a:p>
            <a:pPr>
              <a:defRPr/>
            </a:pPr>
            <a:fld id="{3160FE1A-7A5F-48B3-B518-56BBB6D6DC4C}" type="datetime1">
              <a:rPr lang="en-US" smtClean="0"/>
              <a:t>5/7/25</a:t>
            </a:fld>
            <a:endParaRPr lang="en-US"/>
          </a:p>
        </p:txBody>
      </p:sp>
    </p:spTree>
    <p:extLst>
      <p:ext uri="{BB962C8B-B14F-4D97-AF65-F5344CB8AC3E}">
        <p14:creationId xmlns:p14="http://schemas.microsoft.com/office/powerpoint/2010/main" val="226900112"/>
      </p:ext>
    </p:extLst>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244" y="2348880"/>
            <a:ext cx="8239555" cy="1143000"/>
          </a:xfrm>
        </p:spPr>
        <p:txBody>
          <a:bodyPr/>
          <a:lstStyle/>
          <a:p>
            <a:pPr algn="ctr"/>
            <a:r>
              <a:rPr lang="en-US" dirty="0"/>
              <a:t>Requirements validation</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84</a:t>
            </a:fld>
            <a:endParaRPr lang="en-US"/>
          </a:p>
        </p:txBody>
      </p:sp>
      <p:sp>
        <p:nvSpPr>
          <p:cNvPr id="3" name="Date Placeholder 2"/>
          <p:cNvSpPr>
            <a:spLocks noGrp="1"/>
          </p:cNvSpPr>
          <p:nvPr>
            <p:ph type="dt" sz="half" idx="10"/>
          </p:nvPr>
        </p:nvSpPr>
        <p:spPr/>
        <p:txBody>
          <a:bodyPr/>
          <a:lstStyle/>
          <a:p>
            <a:pPr>
              <a:defRPr/>
            </a:pPr>
            <a:fld id="{1AAF8206-258D-44FC-B06B-772797F7E647}" type="datetime1">
              <a:rPr lang="en-US" smtClean="0"/>
              <a:t>5/7/25</a:t>
            </a:fld>
            <a:endParaRPr lang="en-US"/>
          </a:p>
        </p:txBody>
      </p:sp>
    </p:spTree>
    <p:extLst>
      <p:ext uri="{BB962C8B-B14F-4D97-AF65-F5344CB8AC3E}">
        <p14:creationId xmlns:p14="http://schemas.microsoft.com/office/powerpoint/2010/main" val="1420345495"/>
      </p:ext>
    </p:extLst>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noFill/>
          <a:ln/>
        </p:spPr>
        <p:txBody>
          <a:bodyPr lIns="90487" tIns="44450" rIns="90487" bIns="44450"/>
          <a:lstStyle/>
          <a:p>
            <a:r>
              <a:rPr lang="en-GB" dirty="0"/>
              <a:t>Requirements validation</a:t>
            </a:r>
          </a:p>
        </p:txBody>
      </p:sp>
      <p:sp>
        <p:nvSpPr>
          <p:cNvPr id="57347" name="Rectangle 3"/>
          <p:cNvSpPr>
            <a:spLocks noGrp="1" noChangeArrowheads="1"/>
          </p:cNvSpPr>
          <p:nvPr>
            <p:ph idx="1"/>
          </p:nvPr>
        </p:nvSpPr>
        <p:spPr>
          <a:noFill/>
          <a:ln/>
        </p:spPr>
        <p:txBody>
          <a:bodyPr lIns="90487" tIns="44450" rIns="90487" bIns="44450"/>
          <a:lstStyle/>
          <a:p>
            <a:r>
              <a:rPr lang="en-GB" dirty="0"/>
              <a:t>Concerned with demonstrating that the requirements define the system that the customer really wants.</a:t>
            </a:r>
          </a:p>
          <a:p>
            <a:r>
              <a:rPr lang="en-GB" dirty="0"/>
              <a:t>Requirements error costs are high so validation is very important</a:t>
            </a:r>
          </a:p>
          <a:p>
            <a:pPr lvl="1"/>
            <a:r>
              <a:rPr lang="en-GB" dirty="0"/>
              <a:t>Fixing a requirements error after delivery may cost up to 100 times the cost of fixing an implementation error.</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85</a:t>
            </a:fld>
            <a:endParaRPr lang="en-US"/>
          </a:p>
        </p:txBody>
      </p:sp>
      <p:sp>
        <p:nvSpPr>
          <p:cNvPr id="2" name="Date Placeholder 1"/>
          <p:cNvSpPr>
            <a:spLocks noGrp="1"/>
          </p:cNvSpPr>
          <p:nvPr>
            <p:ph type="dt" sz="half" idx="10"/>
          </p:nvPr>
        </p:nvSpPr>
        <p:spPr/>
        <p:txBody>
          <a:bodyPr/>
          <a:lstStyle/>
          <a:p>
            <a:pPr>
              <a:defRPr/>
            </a:pPr>
            <a:fld id="{0E01C61B-F9EC-4552-BA83-604ADB366E93}" type="datetime1">
              <a:rPr lang="en-US" smtClean="0"/>
              <a:t>5/7/25</a:t>
            </a:fld>
            <a:endParaRPr lang="en-US"/>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noFill/>
          <a:ln/>
        </p:spPr>
        <p:txBody>
          <a:bodyPr lIns="90487" tIns="44450" rIns="90487" bIns="44450"/>
          <a:lstStyle/>
          <a:p>
            <a:r>
              <a:rPr lang="en-GB"/>
              <a:t>Requirements checking</a:t>
            </a:r>
          </a:p>
        </p:txBody>
      </p:sp>
      <p:sp>
        <p:nvSpPr>
          <p:cNvPr id="58371" name="Rectangle 3"/>
          <p:cNvSpPr>
            <a:spLocks noGrp="1" noChangeArrowheads="1"/>
          </p:cNvSpPr>
          <p:nvPr>
            <p:ph idx="1"/>
          </p:nvPr>
        </p:nvSpPr>
        <p:spPr>
          <a:noFill/>
          <a:ln/>
        </p:spPr>
        <p:txBody>
          <a:bodyPr lIns="90487" tIns="44450" rIns="90487" bIns="44450"/>
          <a:lstStyle/>
          <a:p>
            <a:r>
              <a:rPr lang="en-GB" sz="2400" dirty="0">
                <a:solidFill>
                  <a:srgbClr val="000000"/>
                </a:solidFill>
              </a:rPr>
              <a:t>Validity. Does the system provide the functions which best support the customer’s needs?</a:t>
            </a:r>
          </a:p>
          <a:p>
            <a:r>
              <a:rPr lang="en-GB" sz="2400" dirty="0">
                <a:solidFill>
                  <a:srgbClr val="000000"/>
                </a:solidFill>
              </a:rPr>
              <a:t>Consistency. Are there any requirements conflicts?</a:t>
            </a:r>
          </a:p>
          <a:p>
            <a:r>
              <a:rPr lang="en-GB" sz="2400" dirty="0">
                <a:solidFill>
                  <a:srgbClr val="000000"/>
                </a:solidFill>
              </a:rPr>
              <a:t>Completeness. Are all functions required by the customer included?</a:t>
            </a:r>
          </a:p>
          <a:p>
            <a:r>
              <a:rPr lang="en-GB" sz="2400" dirty="0">
                <a:solidFill>
                  <a:srgbClr val="000000"/>
                </a:solidFill>
              </a:rPr>
              <a:t>Realism. Can the requirements be implemented given available budget and technology</a:t>
            </a:r>
          </a:p>
          <a:p>
            <a:r>
              <a:rPr lang="en-GB" sz="2400" dirty="0">
                <a:solidFill>
                  <a:srgbClr val="000000"/>
                </a:solidFill>
              </a:rPr>
              <a:t>Verifiability. Can the requirements be checked?</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86</a:t>
            </a:fld>
            <a:endParaRPr lang="en-US"/>
          </a:p>
        </p:txBody>
      </p:sp>
      <p:sp>
        <p:nvSpPr>
          <p:cNvPr id="2" name="Date Placeholder 1"/>
          <p:cNvSpPr>
            <a:spLocks noGrp="1"/>
          </p:cNvSpPr>
          <p:nvPr>
            <p:ph type="dt" sz="half" idx="10"/>
          </p:nvPr>
        </p:nvSpPr>
        <p:spPr/>
        <p:txBody>
          <a:bodyPr/>
          <a:lstStyle/>
          <a:p>
            <a:pPr>
              <a:defRPr/>
            </a:pPr>
            <a:fld id="{525E350A-4A14-4C74-801F-ABE2EB4A8DFE}" type="datetime1">
              <a:rPr lang="en-US" smtClean="0"/>
              <a:t>5/7/25</a:t>
            </a:fld>
            <a:endParaRPr lang="en-US"/>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1000" y="266700"/>
            <a:ext cx="8305800" cy="1104900"/>
          </a:xfrm>
        </p:spPr>
        <p:txBody>
          <a:bodyPr/>
          <a:lstStyle/>
          <a:p>
            <a:r>
              <a:rPr lang="en-GB" dirty="0"/>
              <a:t>Requirements validation techniques</a:t>
            </a:r>
          </a:p>
        </p:txBody>
      </p:sp>
      <p:sp>
        <p:nvSpPr>
          <p:cNvPr id="77827" name="Rectangle 3"/>
          <p:cNvSpPr>
            <a:spLocks noGrp="1" noChangeArrowheads="1"/>
          </p:cNvSpPr>
          <p:nvPr>
            <p:ph idx="1"/>
          </p:nvPr>
        </p:nvSpPr>
        <p:spPr/>
        <p:txBody>
          <a:bodyPr/>
          <a:lstStyle/>
          <a:p>
            <a:pPr>
              <a:lnSpc>
                <a:spcPct val="90000"/>
              </a:lnSpc>
            </a:pPr>
            <a:r>
              <a:rPr lang="en-GB" dirty="0"/>
              <a:t>Requirements reviews</a:t>
            </a:r>
          </a:p>
          <a:p>
            <a:pPr lvl="1">
              <a:lnSpc>
                <a:spcPct val="90000"/>
              </a:lnSpc>
            </a:pPr>
            <a:r>
              <a:rPr lang="en-GB" dirty="0"/>
              <a:t>Systematic manual analysis of the requirements.</a:t>
            </a:r>
          </a:p>
          <a:p>
            <a:pPr>
              <a:lnSpc>
                <a:spcPct val="90000"/>
              </a:lnSpc>
            </a:pPr>
            <a:r>
              <a:rPr lang="en-GB" dirty="0"/>
              <a:t>Prototyping</a:t>
            </a:r>
          </a:p>
          <a:p>
            <a:pPr lvl="1">
              <a:lnSpc>
                <a:spcPct val="90000"/>
              </a:lnSpc>
            </a:pPr>
            <a:r>
              <a:rPr lang="en-GB" dirty="0"/>
              <a:t>Using an executable model of the system to check requirements. Covered in Chapter 2.</a:t>
            </a:r>
          </a:p>
          <a:p>
            <a:pPr>
              <a:lnSpc>
                <a:spcPct val="90000"/>
              </a:lnSpc>
            </a:pPr>
            <a:r>
              <a:rPr lang="en-GB" dirty="0"/>
              <a:t>Test-case generation</a:t>
            </a:r>
          </a:p>
          <a:p>
            <a:pPr lvl="1">
              <a:lnSpc>
                <a:spcPct val="90000"/>
              </a:lnSpc>
            </a:pPr>
            <a:r>
              <a:rPr lang="en-GB" dirty="0"/>
              <a:t>Developing tests for requirements to check testability.</a:t>
            </a:r>
          </a:p>
          <a:p>
            <a:pPr>
              <a:lnSpc>
                <a:spcPct val="90000"/>
              </a:lnSpc>
              <a:buFont typeface="Zapf Dingbats" charset="2"/>
              <a:buNone/>
            </a:pPr>
            <a:endParaRPr lang="en-GB"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87</a:t>
            </a:fld>
            <a:endParaRPr lang="en-US"/>
          </a:p>
        </p:txBody>
      </p:sp>
      <p:sp>
        <p:nvSpPr>
          <p:cNvPr id="2" name="Date Placeholder 1"/>
          <p:cNvSpPr>
            <a:spLocks noGrp="1"/>
          </p:cNvSpPr>
          <p:nvPr>
            <p:ph type="dt" sz="half" idx="10"/>
          </p:nvPr>
        </p:nvSpPr>
        <p:spPr/>
        <p:txBody>
          <a:bodyPr/>
          <a:lstStyle/>
          <a:p>
            <a:pPr>
              <a:defRPr/>
            </a:pPr>
            <a:fld id="{B0EA7AEC-4015-490E-B391-F5DFCBA07ECC}" type="datetime1">
              <a:rPr lang="en-US" smtClean="0"/>
              <a:t>5/7/25</a:t>
            </a:fld>
            <a:endParaRPr lang="en-US"/>
          </a:p>
        </p:txBody>
      </p:sp>
    </p:spTree>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noFill/>
          <a:ln/>
        </p:spPr>
        <p:txBody>
          <a:bodyPr lIns="90487" tIns="44450" rIns="90487" bIns="44450"/>
          <a:lstStyle/>
          <a:p>
            <a:r>
              <a:rPr lang="en-GB"/>
              <a:t>Requirements reviews</a:t>
            </a:r>
          </a:p>
        </p:txBody>
      </p:sp>
      <p:sp>
        <p:nvSpPr>
          <p:cNvPr id="59395" name="Rectangle 3"/>
          <p:cNvSpPr>
            <a:spLocks noGrp="1" noChangeArrowheads="1"/>
          </p:cNvSpPr>
          <p:nvPr>
            <p:ph idx="1"/>
          </p:nvPr>
        </p:nvSpPr>
        <p:spPr>
          <a:noFill/>
          <a:ln/>
        </p:spPr>
        <p:txBody>
          <a:bodyPr lIns="90487" tIns="44450" rIns="90487" bIns="44450"/>
          <a:lstStyle/>
          <a:p>
            <a:r>
              <a:rPr lang="en-GB"/>
              <a:t>Regular reviews should be held while the requirements definition is being formulated.</a:t>
            </a:r>
          </a:p>
          <a:p>
            <a:r>
              <a:rPr lang="en-GB"/>
              <a:t>Both client and contractor staff should be involved in reviews.</a:t>
            </a:r>
          </a:p>
          <a:p>
            <a:r>
              <a:rPr lang="en-GB"/>
              <a:t>Reviews may be formal (with completed documents) or informal. Good communications between developers, customers and users can resolve problems at an early stage.</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88</a:t>
            </a:fld>
            <a:endParaRPr lang="en-US"/>
          </a:p>
        </p:txBody>
      </p:sp>
      <p:sp>
        <p:nvSpPr>
          <p:cNvPr id="2" name="Date Placeholder 1"/>
          <p:cNvSpPr>
            <a:spLocks noGrp="1"/>
          </p:cNvSpPr>
          <p:nvPr>
            <p:ph type="dt" sz="half" idx="10"/>
          </p:nvPr>
        </p:nvSpPr>
        <p:spPr/>
        <p:txBody>
          <a:bodyPr/>
          <a:lstStyle/>
          <a:p>
            <a:pPr>
              <a:defRPr/>
            </a:pPr>
            <a:fld id="{6FE4984B-4FD6-40E0-80A9-BA3AF0DC472A}" type="datetime1">
              <a:rPr lang="en-US" smtClean="0"/>
              <a:t>5/7/25</a:t>
            </a:fld>
            <a:endParaRPr lang="en-US"/>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noFill/>
          <a:ln/>
        </p:spPr>
        <p:txBody>
          <a:bodyPr lIns="90487" tIns="44450" rIns="90487" bIns="44450"/>
          <a:lstStyle/>
          <a:p>
            <a:r>
              <a:rPr lang="en-GB"/>
              <a:t>Review checks</a:t>
            </a:r>
          </a:p>
        </p:txBody>
      </p:sp>
      <p:sp>
        <p:nvSpPr>
          <p:cNvPr id="60419" name="Rectangle 3"/>
          <p:cNvSpPr>
            <a:spLocks noGrp="1" noChangeArrowheads="1"/>
          </p:cNvSpPr>
          <p:nvPr>
            <p:ph idx="1"/>
          </p:nvPr>
        </p:nvSpPr>
        <p:spPr>
          <a:noFill/>
          <a:ln/>
        </p:spPr>
        <p:txBody>
          <a:bodyPr lIns="90487" tIns="44450" rIns="90487" bIns="44450"/>
          <a:lstStyle/>
          <a:p>
            <a:pPr>
              <a:lnSpc>
                <a:spcPct val="90000"/>
              </a:lnSpc>
            </a:pPr>
            <a:r>
              <a:rPr lang="en-GB" dirty="0">
                <a:solidFill>
                  <a:srgbClr val="FF0000"/>
                </a:solidFill>
              </a:rPr>
              <a:t>Verifiability</a:t>
            </a:r>
            <a:endParaRPr lang="en-GB" dirty="0"/>
          </a:p>
          <a:p>
            <a:pPr lvl="1">
              <a:lnSpc>
                <a:spcPct val="90000"/>
              </a:lnSpc>
            </a:pPr>
            <a:r>
              <a:rPr lang="en-GB" dirty="0"/>
              <a:t>Is the requirement realistically testable?</a:t>
            </a:r>
          </a:p>
          <a:p>
            <a:pPr>
              <a:lnSpc>
                <a:spcPct val="90000"/>
              </a:lnSpc>
            </a:pPr>
            <a:r>
              <a:rPr lang="en-GB" dirty="0">
                <a:solidFill>
                  <a:srgbClr val="FF0000"/>
                </a:solidFill>
              </a:rPr>
              <a:t>Comprehensibility</a:t>
            </a:r>
            <a:endParaRPr lang="en-GB" dirty="0"/>
          </a:p>
          <a:p>
            <a:pPr lvl="1">
              <a:lnSpc>
                <a:spcPct val="90000"/>
              </a:lnSpc>
            </a:pPr>
            <a:r>
              <a:rPr lang="en-GB" dirty="0"/>
              <a:t>Is the requirement properly understood?</a:t>
            </a:r>
          </a:p>
          <a:p>
            <a:pPr>
              <a:lnSpc>
                <a:spcPct val="90000"/>
              </a:lnSpc>
            </a:pPr>
            <a:r>
              <a:rPr lang="en-GB" dirty="0">
                <a:solidFill>
                  <a:srgbClr val="FF0000"/>
                </a:solidFill>
              </a:rPr>
              <a:t>Traceability</a:t>
            </a:r>
            <a:endParaRPr lang="en-GB" dirty="0"/>
          </a:p>
          <a:p>
            <a:pPr lvl="1">
              <a:lnSpc>
                <a:spcPct val="90000"/>
              </a:lnSpc>
            </a:pPr>
            <a:r>
              <a:rPr lang="en-GB" dirty="0"/>
              <a:t>Is the origin of the requirement clearly stated?</a:t>
            </a:r>
          </a:p>
          <a:p>
            <a:pPr>
              <a:lnSpc>
                <a:spcPct val="90000"/>
              </a:lnSpc>
            </a:pPr>
            <a:r>
              <a:rPr lang="en-GB" dirty="0">
                <a:solidFill>
                  <a:srgbClr val="FF0000"/>
                </a:solidFill>
              </a:rPr>
              <a:t>Adaptability</a:t>
            </a:r>
            <a:endParaRPr lang="en-GB" dirty="0"/>
          </a:p>
          <a:p>
            <a:pPr lvl="1">
              <a:lnSpc>
                <a:spcPct val="90000"/>
              </a:lnSpc>
            </a:pPr>
            <a:r>
              <a:rPr lang="en-GB" dirty="0"/>
              <a:t>Can the requirement be changed without a large impact on other requirements?</a:t>
            </a:r>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89</a:t>
            </a:fld>
            <a:endParaRPr lang="en-US"/>
          </a:p>
        </p:txBody>
      </p:sp>
      <p:sp>
        <p:nvSpPr>
          <p:cNvPr id="2" name="Date Placeholder 1"/>
          <p:cNvSpPr>
            <a:spLocks noGrp="1"/>
          </p:cNvSpPr>
          <p:nvPr>
            <p:ph type="dt" sz="half" idx="10"/>
          </p:nvPr>
        </p:nvSpPr>
        <p:spPr/>
        <p:txBody>
          <a:bodyPr/>
          <a:lstStyle/>
          <a:p>
            <a:pPr>
              <a:defRPr/>
            </a:pPr>
            <a:fld id="{72B99DA5-46F3-4610-8D49-2D03A8C15DF9}" type="datetime1">
              <a:rPr lang="en-US" smtClean="0"/>
              <a:t>5/7/25</a:t>
            </a:fld>
            <a:endParaRPr lang="en-US"/>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a:t>Requirements change</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90</a:t>
            </a:fld>
            <a:endParaRPr lang="en-US"/>
          </a:p>
        </p:txBody>
      </p:sp>
      <p:sp>
        <p:nvSpPr>
          <p:cNvPr id="3" name="Date Placeholder 2"/>
          <p:cNvSpPr>
            <a:spLocks noGrp="1"/>
          </p:cNvSpPr>
          <p:nvPr>
            <p:ph type="dt" sz="half" idx="10"/>
          </p:nvPr>
        </p:nvSpPr>
        <p:spPr/>
        <p:txBody>
          <a:bodyPr/>
          <a:lstStyle/>
          <a:p>
            <a:pPr>
              <a:defRPr/>
            </a:pPr>
            <a:fld id="{F9E9A755-98EF-4FB9-A2F2-D5F5C7561CEA}" type="datetime1">
              <a:rPr lang="en-US" smtClean="0"/>
              <a:t>5/7/25</a:t>
            </a:fld>
            <a:endParaRPr lang="en-US"/>
          </a:p>
        </p:txBody>
      </p:sp>
    </p:spTree>
    <p:extLst>
      <p:ext uri="{BB962C8B-B14F-4D97-AF65-F5344CB8AC3E}">
        <p14:creationId xmlns:p14="http://schemas.microsoft.com/office/powerpoint/2010/main" val="3606619586"/>
      </p:ext>
    </p:extLst>
  </p:cSld>
  <p:clrMapOvr>
    <a:masterClrMapping/>
  </p:clrMapOvr>
  <p:transition spd="med">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The business and technical environment of the system always changes after installation. </a:t>
            </a:r>
          </a:p>
          <a:p>
            <a:pPr lvl="1"/>
            <a:r>
              <a:rPr lang="en-US" dirty="0"/>
              <a:t>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endParaRPr lang="en-GB" dirty="0"/>
          </a:p>
          <a:p>
            <a:r>
              <a:rPr lang="en-US" dirty="0"/>
              <a:t>The people who pay for a system and the users of that system are rarely the same people. </a:t>
            </a:r>
          </a:p>
          <a:p>
            <a:pPr lvl="1"/>
            <a:r>
              <a:rPr lang="en-US" dirty="0"/>
              <a:t>System customers impose requirements because of organizational and budgetary constraints. These may conflict with end-user requirements and, after delivery, new features may have to be added for user support if the system is to meet its goals.</a:t>
            </a:r>
            <a:endParaRPr lang="en-GB" dirty="0"/>
          </a:p>
          <a:p>
            <a:endParaRPr lang="en-GB" dirty="0"/>
          </a:p>
          <a:p>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91</a:t>
            </a:fld>
            <a:endParaRPr lang="en-US"/>
          </a:p>
        </p:txBody>
      </p:sp>
      <p:sp>
        <p:nvSpPr>
          <p:cNvPr id="6" name="Date Placeholder 5"/>
          <p:cNvSpPr>
            <a:spLocks noGrp="1"/>
          </p:cNvSpPr>
          <p:nvPr>
            <p:ph type="dt" sz="half" idx="10"/>
          </p:nvPr>
        </p:nvSpPr>
        <p:spPr/>
        <p:txBody>
          <a:bodyPr/>
          <a:lstStyle/>
          <a:p>
            <a:pPr>
              <a:defRPr/>
            </a:pPr>
            <a:fld id="{AB044241-14BD-47D7-A283-57A3F1611ABB}" type="datetime1">
              <a:rPr lang="en-US" smtClean="0"/>
              <a:t>5/7/25</a:t>
            </a:fld>
            <a:endParaRPr lang="en-US"/>
          </a:p>
        </p:txBody>
      </p:sp>
    </p:spTree>
  </p:cSld>
  <p:clrMapOvr>
    <a:masterClrMapping/>
  </p:clrMapOvr>
  <p:transition spd="med">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p:txBody>
          <a:bodyPr/>
          <a:lstStyle/>
          <a:p>
            <a:r>
              <a:rPr lang="en-US" dirty="0"/>
              <a:t>Large systems usually have a diverse user community, with many users having different requirements and priorities that may be conflicting or contradictory. </a:t>
            </a:r>
          </a:p>
          <a:p>
            <a:pPr lvl="1"/>
            <a:r>
              <a:rPr lang="en-US" dirty="0"/>
              <a:t>The final system requirements are inevitably a compromise between them and, with experience, it is often discovered that the balance of support given to different users has to be changed.</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92</a:t>
            </a:fld>
            <a:endParaRPr lang="en-US"/>
          </a:p>
        </p:txBody>
      </p:sp>
      <p:sp>
        <p:nvSpPr>
          <p:cNvPr id="6" name="Date Placeholder 5"/>
          <p:cNvSpPr>
            <a:spLocks noGrp="1"/>
          </p:cNvSpPr>
          <p:nvPr>
            <p:ph type="dt" sz="half" idx="10"/>
          </p:nvPr>
        </p:nvSpPr>
        <p:spPr/>
        <p:txBody>
          <a:bodyPr/>
          <a:lstStyle/>
          <a:p>
            <a:pPr>
              <a:defRPr/>
            </a:pPr>
            <a:fld id="{8E8FF1B0-0D86-45D3-8053-CEA59AA20D03}" type="datetime1">
              <a:rPr lang="en-US" smtClean="0"/>
              <a:t>5/7/25</a:t>
            </a:fld>
            <a:endParaRPr lang="en-US"/>
          </a:p>
        </p:txBody>
      </p:sp>
    </p:spTree>
  </p:cSld>
  <p:clrMapOvr>
    <a:masterClrMapping/>
  </p:clrMapOvr>
  <p:transition spd="med">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a:t>Requirements evolution</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93</a:t>
            </a:fld>
            <a:endParaRPr lang="en-US"/>
          </a:p>
        </p:txBody>
      </p:sp>
      <p:pic>
        <p:nvPicPr>
          <p:cNvPr id="4" name="Picture 3" descr="4.17 ReqEvolution.eps"/>
          <p:cNvPicPr>
            <a:picLocks noChangeAspect="1"/>
          </p:cNvPicPr>
          <p:nvPr/>
        </p:nvPicPr>
        <p:blipFill>
          <a:blip r:embed="rId2"/>
          <a:stretch>
            <a:fillRect/>
          </a:stretch>
        </p:blipFill>
        <p:spPr>
          <a:xfrm>
            <a:off x="2133600" y="2514600"/>
            <a:ext cx="5005917" cy="2514600"/>
          </a:xfrm>
          <a:prstGeom prst="rect">
            <a:avLst/>
          </a:prstGeom>
        </p:spPr>
      </p:pic>
      <p:sp>
        <p:nvSpPr>
          <p:cNvPr id="2" name="Date Placeholder 1"/>
          <p:cNvSpPr>
            <a:spLocks noGrp="1"/>
          </p:cNvSpPr>
          <p:nvPr>
            <p:ph type="dt" sz="half" idx="10"/>
          </p:nvPr>
        </p:nvSpPr>
        <p:spPr/>
        <p:txBody>
          <a:bodyPr/>
          <a:lstStyle/>
          <a:p>
            <a:pPr>
              <a:defRPr/>
            </a:pPr>
            <a:fld id="{741C344B-CD36-4BB8-988F-10176A2ED8E5}" type="datetime1">
              <a:rPr lang="en-US" smtClean="0"/>
              <a:t>5/7/25</a:t>
            </a:fld>
            <a:endParaRPr lang="en-US"/>
          </a:p>
        </p:txBody>
      </p:sp>
    </p:spTree>
  </p:cSld>
  <p:clrMapOvr>
    <a:masterClrMapping/>
  </p:clrMapOvr>
  <p:transition spd="med">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dirty="0"/>
              <a:t>Requirements management</a:t>
            </a:r>
          </a:p>
        </p:txBody>
      </p:sp>
      <p:sp>
        <p:nvSpPr>
          <p:cNvPr id="55299" name="Rectangle 3"/>
          <p:cNvSpPr>
            <a:spLocks noGrp="1" noChangeArrowheads="1"/>
          </p:cNvSpPr>
          <p:nvPr>
            <p:ph idx="1"/>
          </p:nvPr>
        </p:nvSpPr>
        <p:spPr/>
        <p:txBody>
          <a:bodyPr/>
          <a:lstStyle/>
          <a:p>
            <a:r>
              <a:rPr lang="en-GB" sz="2400" dirty="0"/>
              <a:t>Requirements management is the process of managing changing requirements during the requirements engineering process and system development.</a:t>
            </a:r>
          </a:p>
          <a:p>
            <a:r>
              <a:rPr lang="en-GB" dirty="0"/>
              <a:t>New requirements emerge as a system is being developed and after it has gone into use.</a:t>
            </a:r>
          </a:p>
          <a:p>
            <a:r>
              <a:rPr lang="en-US" dirty="0"/>
              <a:t>You need to keep track of individual requirements and maintain links between dependent requirements so that you can assess the impact of requirements changes. You need to establish a formal process for making change proposals and linking these to system requirements.</a:t>
            </a:r>
            <a:r>
              <a:rPr lang="en-GB" dirty="0"/>
              <a:t> </a:t>
            </a:r>
            <a:endParaRPr lang="en-GB" sz="2400"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94</a:t>
            </a:fld>
            <a:endParaRPr lang="en-US"/>
          </a:p>
        </p:txBody>
      </p:sp>
      <p:sp>
        <p:nvSpPr>
          <p:cNvPr id="2" name="Date Placeholder 1"/>
          <p:cNvSpPr>
            <a:spLocks noGrp="1"/>
          </p:cNvSpPr>
          <p:nvPr>
            <p:ph type="dt" sz="half" idx="10"/>
          </p:nvPr>
        </p:nvSpPr>
        <p:spPr/>
        <p:txBody>
          <a:bodyPr/>
          <a:lstStyle/>
          <a:p>
            <a:pPr>
              <a:defRPr/>
            </a:pPr>
            <a:fld id="{106F61A8-F75D-491A-8B78-263FE3A2E217}" type="datetime1">
              <a:rPr lang="en-US" smtClean="0"/>
              <a:t>5/7/25</a:t>
            </a:fld>
            <a:endParaRPr lang="en-US"/>
          </a:p>
        </p:txBody>
      </p:sp>
    </p:spTree>
    <p:extLst>
      <p:ext uri="{BB962C8B-B14F-4D97-AF65-F5344CB8AC3E}">
        <p14:creationId xmlns:p14="http://schemas.microsoft.com/office/powerpoint/2010/main" val="3152130912"/>
      </p:ext>
    </p:extLst>
  </p:cSld>
  <p:clrMapOvr>
    <a:masterClrMapping/>
  </p:clrMapOvr>
  <p:transition spd="med">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management planning</a:t>
            </a:r>
          </a:p>
        </p:txBody>
      </p:sp>
      <p:sp>
        <p:nvSpPr>
          <p:cNvPr id="3" name="Content Placeholder 2"/>
          <p:cNvSpPr>
            <a:spLocks noGrp="1"/>
          </p:cNvSpPr>
          <p:nvPr>
            <p:ph idx="1"/>
          </p:nvPr>
        </p:nvSpPr>
        <p:spPr>
          <a:xfrm>
            <a:off x="304800" y="1524000"/>
            <a:ext cx="8686800" cy="4525963"/>
          </a:xfrm>
        </p:spPr>
        <p:txBody>
          <a:bodyPr/>
          <a:lstStyle/>
          <a:p>
            <a:r>
              <a:rPr lang="en-US" dirty="0"/>
              <a:t>Establishes the level of requirements management detail that is required.</a:t>
            </a:r>
          </a:p>
          <a:p>
            <a:r>
              <a:rPr lang="en-US" dirty="0"/>
              <a:t>Requirements management decisions:</a:t>
            </a:r>
          </a:p>
          <a:p>
            <a:pPr lvl="1"/>
            <a:r>
              <a:rPr lang="en-US" i="1" dirty="0">
                <a:solidFill>
                  <a:schemeClr val="tx1"/>
                </a:solidFill>
              </a:rPr>
              <a:t>Requirements identificati</a:t>
            </a:r>
            <a:r>
              <a:rPr lang="en-US" i="1" dirty="0">
                <a:solidFill>
                  <a:srgbClr val="000000"/>
                </a:solidFill>
              </a:rPr>
              <a:t>on</a:t>
            </a:r>
            <a:r>
              <a:rPr lang="en-US" dirty="0">
                <a:solidFill>
                  <a:srgbClr val="FF0000"/>
                </a:solidFill>
              </a:rPr>
              <a:t> </a:t>
            </a:r>
            <a:r>
              <a:rPr lang="en-US" dirty="0"/>
              <a:t>Each requirement must be uniquely identified so that it can be cross-referenced with other requirements. </a:t>
            </a:r>
            <a:endParaRPr lang="en-GB" dirty="0"/>
          </a:p>
          <a:p>
            <a:pPr lvl="1"/>
            <a:r>
              <a:rPr lang="en-US" i="1" dirty="0">
                <a:solidFill>
                  <a:srgbClr val="000000"/>
                </a:solidFill>
              </a:rPr>
              <a:t>A change management process</a:t>
            </a:r>
            <a:r>
              <a:rPr lang="en-US" dirty="0">
                <a:solidFill>
                  <a:srgbClr val="000000"/>
                </a:solidFill>
              </a:rPr>
              <a:t> </a:t>
            </a:r>
            <a:r>
              <a:rPr lang="en-US" dirty="0"/>
              <a:t>This is the set of activities that assess the impact and cost of changes. I discuss this process in more detail in the following section.</a:t>
            </a:r>
            <a:endParaRPr lang="en-GB" dirty="0"/>
          </a:p>
          <a:p>
            <a:pPr lvl="1"/>
            <a:r>
              <a:rPr lang="en-US" i="1" dirty="0">
                <a:solidFill>
                  <a:srgbClr val="000000"/>
                </a:solidFill>
              </a:rPr>
              <a:t>Traceability policies</a:t>
            </a:r>
            <a:r>
              <a:rPr lang="en-US" dirty="0">
                <a:solidFill>
                  <a:srgbClr val="000000"/>
                </a:solidFill>
              </a:rPr>
              <a:t> </a:t>
            </a:r>
            <a:r>
              <a:rPr lang="en-US" dirty="0"/>
              <a:t>These policies define the relationships between each requirement and between the requirements and the system design that should be recorded. </a:t>
            </a:r>
            <a:endParaRPr lang="en-GB" dirty="0"/>
          </a:p>
          <a:p>
            <a:pPr lvl="1"/>
            <a:r>
              <a:rPr lang="en-US" i="1" dirty="0">
                <a:solidFill>
                  <a:srgbClr val="000000"/>
                </a:solidFill>
              </a:rPr>
              <a:t>Tool support</a:t>
            </a:r>
            <a:r>
              <a:rPr lang="en-US" dirty="0">
                <a:solidFill>
                  <a:srgbClr val="000000"/>
                </a:solidFill>
              </a:rPr>
              <a:t> </a:t>
            </a:r>
            <a:r>
              <a:rPr lang="en-US" dirty="0"/>
              <a:t>Tools that may be used range from specialist requirements management systems to spreadsheets and simple database systems.</a:t>
            </a:r>
            <a:endParaRPr lang="en-GB" dirty="0"/>
          </a:p>
          <a:p>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95</a:t>
            </a:fld>
            <a:endParaRPr lang="en-US" dirty="0"/>
          </a:p>
        </p:txBody>
      </p:sp>
      <p:sp>
        <p:nvSpPr>
          <p:cNvPr id="6" name="Date Placeholder 5"/>
          <p:cNvSpPr>
            <a:spLocks noGrp="1"/>
          </p:cNvSpPr>
          <p:nvPr>
            <p:ph type="dt" sz="half" idx="10"/>
          </p:nvPr>
        </p:nvSpPr>
        <p:spPr/>
        <p:txBody>
          <a:bodyPr/>
          <a:lstStyle/>
          <a:p>
            <a:pPr>
              <a:defRPr/>
            </a:pPr>
            <a:fld id="{2EFBCDC7-31B6-4408-84CD-317698624B48}" type="datetime1">
              <a:rPr lang="en-US" smtClean="0"/>
              <a:t>5/7/25</a:t>
            </a:fld>
            <a:endParaRPr lang="en-US"/>
          </a:p>
        </p:txBody>
      </p:sp>
      <p:sp>
        <p:nvSpPr>
          <p:cNvPr id="4" name="TextBox 3">
            <a:extLst>
              <a:ext uri="{FF2B5EF4-FFF2-40B4-BE49-F238E27FC236}">
                <a16:creationId xmlns:a16="http://schemas.microsoft.com/office/drawing/2014/main" id="{E7A863FB-86D3-C7DE-D79D-8D15F5155DE0}"/>
              </a:ext>
            </a:extLst>
          </p:cNvPr>
          <p:cNvSpPr txBox="1"/>
          <p:nvPr/>
        </p:nvSpPr>
        <p:spPr>
          <a:xfrm>
            <a:off x="3855308" y="-568411"/>
            <a:ext cx="184731" cy="461665"/>
          </a:xfrm>
          <a:prstGeom prst="rect">
            <a:avLst/>
          </a:prstGeom>
          <a:noFill/>
        </p:spPr>
        <p:txBody>
          <a:bodyPr wrap="none" rtlCol="0">
            <a:spAutoFit/>
          </a:bodyPr>
          <a:lstStyle/>
          <a:p>
            <a:endParaRPr/>
          </a:p>
        </p:txBody>
      </p:sp>
    </p:spTree>
  </p:cSld>
  <p:clrMapOvr>
    <a:masterClrMapping/>
  </p:clrMapOvr>
  <p:transition spd="med">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p>
        </p:txBody>
      </p:sp>
      <p:sp>
        <p:nvSpPr>
          <p:cNvPr id="3" name="Content Placeholder 2"/>
          <p:cNvSpPr>
            <a:spLocks noGrp="1"/>
          </p:cNvSpPr>
          <p:nvPr>
            <p:ph idx="1"/>
          </p:nvPr>
        </p:nvSpPr>
        <p:spPr/>
        <p:txBody>
          <a:bodyPr/>
          <a:lstStyle/>
          <a:p>
            <a:r>
              <a:rPr lang="en-US" dirty="0">
                <a:solidFill>
                  <a:srgbClr val="000000"/>
                </a:solidFill>
              </a:rPr>
              <a:t>Deciding if a requirements change should be accepted</a:t>
            </a:r>
          </a:p>
          <a:p>
            <a:pPr lvl="1"/>
            <a:r>
              <a:rPr lang="en-US" i="1" dirty="0">
                <a:solidFill>
                  <a:srgbClr val="000000"/>
                </a:solidFill>
              </a:rPr>
              <a:t>Problem analysis and change specification</a:t>
            </a:r>
            <a:r>
              <a:rPr lang="en-US" dirty="0">
                <a:solidFill>
                  <a:srgbClr val="000000"/>
                </a:solidFill>
              </a:rPr>
              <a:t> </a:t>
            </a:r>
          </a:p>
          <a:p>
            <a:pPr lvl="2"/>
            <a:r>
              <a:rPr lang="en-US" dirty="0">
                <a:solidFill>
                  <a:srgbClr val="000000"/>
                </a:solidFill>
              </a:rPr>
              <a:t>During this stage, the problem or the change proposal is analyzed to check that it is valid. This analysis is fed back to the change requestor who may respond with a more specific requirements change proposal, or decide to withdraw the request.</a:t>
            </a:r>
            <a:endParaRPr lang="en-GB" dirty="0">
              <a:solidFill>
                <a:srgbClr val="000000"/>
              </a:solidFill>
            </a:endParaRPr>
          </a:p>
          <a:p>
            <a:pPr lvl="1"/>
            <a:r>
              <a:rPr lang="en-US" i="1" dirty="0">
                <a:solidFill>
                  <a:srgbClr val="000000"/>
                </a:solidFill>
              </a:rPr>
              <a:t>Change analysis and costing</a:t>
            </a:r>
            <a:r>
              <a:rPr lang="en-US" dirty="0">
                <a:solidFill>
                  <a:srgbClr val="000000"/>
                </a:solidFill>
              </a:rPr>
              <a:t> </a:t>
            </a:r>
          </a:p>
          <a:p>
            <a:pPr lvl="2"/>
            <a:r>
              <a:rPr lang="en-US" dirty="0">
                <a:solidFill>
                  <a:srgbClr val="000000"/>
                </a:solidFill>
              </a:rPr>
              <a:t>The effect of the proposed change is assessed using traceability information and general knowledge of the system requirements. Once this analysis is completed, a decision is made whether or not to proceed with the requirements change.</a:t>
            </a:r>
            <a:endParaRPr lang="en-GB" dirty="0">
              <a:solidFill>
                <a:srgbClr val="000000"/>
              </a:solidFill>
            </a:endParaRPr>
          </a:p>
          <a:p>
            <a:pPr lvl="1"/>
            <a:r>
              <a:rPr lang="en-US" dirty="0">
                <a:solidFill>
                  <a:srgbClr val="000000"/>
                </a:solidFill>
              </a:rPr>
              <a:t>Change implementation </a:t>
            </a:r>
          </a:p>
          <a:p>
            <a:pPr lvl="2"/>
            <a:r>
              <a:rPr lang="en-US" dirty="0">
                <a:solidFill>
                  <a:srgbClr val="000000"/>
                </a:solidFill>
              </a:rPr>
              <a:t>The requirements document and, where necessary, the system design and implementation, are modified. Ideally, the document should be organized so that changes can be easily implemented.</a:t>
            </a:r>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96</a:t>
            </a:fld>
            <a:endParaRPr lang="en-US"/>
          </a:p>
        </p:txBody>
      </p:sp>
      <p:sp>
        <p:nvSpPr>
          <p:cNvPr id="6" name="Date Placeholder 5"/>
          <p:cNvSpPr>
            <a:spLocks noGrp="1"/>
          </p:cNvSpPr>
          <p:nvPr>
            <p:ph type="dt" sz="half" idx="10"/>
          </p:nvPr>
        </p:nvSpPr>
        <p:spPr/>
        <p:txBody>
          <a:bodyPr/>
          <a:lstStyle/>
          <a:p>
            <a:pPr>
              <a:defRPr/>
            </a:pPr>
            <a:fld id="{5F93AD2F-78EF-4FA7-9A1A-DD91F50772DE}" type="datetime1">
              <a:rPr lang="en-US" smtClean="0"/>
              <a:t>5/7/25</a:t>
            </a:fld>
            <a:endParaRPr lang="en-US"/>
          </a:p>
        </p:txBody>
      </p:sp>
    </p:spTree>
  </p:cSld>
  <p:clrMapOvr>
    <a:masterClrMapping/>
  </p:clrMapOvr>
  <p:transition spd="med">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a:t>Requirements change management</a:t>
            </a:r>
            <a:r>
              <a:rPr lang="en-GB" dirty="0"/>
              <a:t> </a:t>
            </a:r>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97</a:t>
            </a:fld>
            <a:endParaRPr lang="en-US"/>
          </a:p>
        </p:txBody>
      </p:sp>
      <p:pic>
        <p:nvPicPr>
          <p:cNvPr id="4" name="Picture 3" descr="4.18 ReqChangeMan.eps"/>
          <p:cNvPicPr>
            <a:picLocks noChangeAspect="1"/>
          </p:cNvPicPr>
          <p:nvPr/>
        </p:nvPicPr>
        <p:blipFill>
          <a:blip r:embed="rId2"/>
          <a:stretch>
            <a:fillRect/>
          </a:stretch>
        </p:blipFill>
        <p:spPr>
          <a:xfrm>
            <a:off x="228600" y="3136900"/>
            <a:ext cx="8661952" cy="1054100"/>
          </a:xfrm>
          <a:prstGeom prst="rect">
            <a:avLst/>
          </a:prstGeom>
        </p:spPr>
      </p:pic>
      <p:sp>
        <p:nvSpPr>
          <p:cNvPr id="2" name="Date Placeholder 1"/>
          <p:cNvSpPr>
            <a:spLocks noGrp="1"/>
          </p:cNvSpPr>
          <p:nvPr>
            <p:ph type="dt" sz="half" idx="10"/>
          </p:nvPr>
        </p:nvSpPr>
        <p:spPr/>
        <p:txBody>
          <a:bodyPr/>
          <a:lstStyle/>
          <a:p>
            <a:pPr>
              <a:defRPr/>
            </a:pPr>
            <a:fld id="{1CC7033F-2734-4599-AAC2-76951ED88BF3}" type="datetime1">
              <a:rPr lang="en-US" smtClean="0"/>
              <a:t>5/7/25</a:t>
            </a:fld>
            <a:endParaRPr lang="en-US"/>
          </a:p>
        </p:txBody>
      </p:sp>
    </p:spTree>
  </p:cSld>
  <p:clrMapOvr>
    <a:masterClrMapping/>
  </p:clrMapOvr>
  <p:transition spd="med">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for a software system set out what the system should do and define constraints on its operation and implementation.</a:t>
            </a:r>
            <a:endParaRPr lang="en-GB" dirty="0"/>
          </a:p>
          <a:p>
            <a:r>
              <a:rPr lang="en-US" dirty="0"/>
              <a:t>Functional requirements are statements of the services that the system must provide or are descriptions of how some computations must be carried out. </a:t>
            </a:r>
            <a:endParaRPr lang="en-GB" dirty="0"/>
          </a:p>
          <a:p>
            <a:r>
              <a:rPr lang="en-US" dirty="0"/>
              <a:t>Non-functional requirements often constrain the system being developed and the development process being used. </a:t>
            </a:r>
          </a:p>
          <a:p>
            <a:r>
              <a:rPr lang="en-US" dirty="0"/>
              <a:t>They often relate to the emergent properties of the system and therefore apply to the system as a whole.</a:t>
            </a:r>
            <a:endParaRPr lang="en-GB" dirty="0"/>
          </a:p>
          <a:p>
            <a:endParaRPr lang="en-US" dirty="0"/>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98</a:t>
            </a:fld>
            <a:endParaRPr lang="en-US"/>
          </a:p>
        </p:txBody>
      </p:sp>
      <p:sp>
        <p:nvSpPr>
          <p:cNvPr id="6" name="Date Placeholder 5"/>
          <p:cNvSpPr>
            <a:spLocks noGrp="1"/>
          </p:cNvSpPr>
          <p:nvPr>
            <p:ph type="dt" sz="half" idx="10"/>
          </p:nvPr>
        </p:nvSpPr>
        <p:spPr/>
        <p:txBody>
          <a:bodyPr/>
          <a:lstStyle/>
          <a:p>
            <a:pPr>
              <a:defRPr/>
            </a:pPr>
            <a:fld id="{A06D9855-02A1-4C7B-9B83-8303981564D2}" type="datetime1">
              <a:rPr lang="en-US" smtClean="0"/>
              <a:t>5/7/25</a:t>
            </a:fld>
            <a:endParaRPr lang="en-US"/>
          </a:p>
        </p:txBody>
      </p:sp>
    </p:spTree>
    <p:extLst>
      <p:ext uri="{BB962C8B-B14F-4D97-AF65-F5344CB8AC3E}">
        <p14:creationId xmlns:p14="http://schemas.microsoft.com/office/powerpoint/2010/main" val="2551034023"/>
      </p:ext>
    </p:extLst>
  </p:cSld>
  <p:clrMapOvr>
    <a:masterClrMapping/>
  </p:clrMapOvr>
  <p:transition spd="med">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457200" y="1600200"/>
            <a:ext cx="8382000" cy="4525963"/>
          </a:xfrm>
        </p:spPr>
        <p:txBody>
          <a:bodyPr/>
          <a:lstStyle/>
          <a:p>
            <a:r>
              <a:rPr lang="en-US" dirty="0"/>
              <a:t>The requirements engineering process is an iterative process that includes requirements elicitation, specification and validation.</a:t>
            </a:r>
            <a:endParaRPr lang="en-GB" dirty="0"/>
          </a:p>
          <a:p>
            <a:r>
              <a:rPr lang="en-US" dirty="0"/>
              <a:t>Requirements elicitation is an iterative process that can be represented as a spiral of activities – requirements discovery, requirements classification and organization, requirements negotiation and requirements documentation.</a:t>
            </a:r>
            <a:r>
              <a:rPr lang="en-GB" dirty="0"/>
              <a:t> </a:t>
            </a:r>
          </a:p>
          <a:p>
            <a:r>
              <a:rPr lang="en-US" dirty="0"/>
              <a:t>You can use a range of techniques for requirements elicitation including interviews and ethnography. User stories and scenarios may be used to facilitate discussions.</a:t>
            </a:r>
          </a:p>
          <a:p>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99</a:t>
            </a:fld>
            <a:endParaRPr lang="en-US"/>
          </a:p>
        </p:txBody>
      </p:sp>
      <p:sp>
        <p:nvSpPr>
          <p:cNvPr id="6" name="Date Placeholder 5"/>
          <p:cNvSpPr>
            <a:spLocks noGrp="1"/>
          </p:cNvSpPr>
          <p:nvPr>
            <p:ph type="dt" sz="half" idx="10"/>
          </p:nvPr>
        </p:nvSpPr>
        <p:spPr/>
        <p:txBody>
          <a:bodyPr/>
          <a:lstStyle/>
          <a:p>
            <a:pPr>
              <a:defRPr/>
            </a:pPr>
            <a:fld id="{D5F7B7BC-6BCF-4BDC-8236-260E55E243F1}" type="datetime1">
              <a:rPr lang="en-US" smtClean="0"/>
              <a:t>5/7/25</a:t>
            </a:fld>
            <a:endParaRPr lang="en-US"/>
          </a:p>
        </p:txBody>
      </p:sp>
    </p:spTree>
    <p:extLst>
      <p:ext uri="{BB962C8B-B14F-4D97-AF65-F5344CB8AC3E}">
        <p14:creationId xmlns:p14="http://schemas.microsoft.com/office/powerpoint/2010/main" val="3452821670"/>
      </p:ext>
    </p:extLst>
  </p:cSld>
  <p:clrMapOvr>
    <a:masterClrMapping/>
  </p:clrMapOvr>
  <p:transition spd="med">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lstStyle/>
          <a:p>
            <a:r>
              <a:rPr lang="en-US" dirty="0"/>
              <a:t>Requirements specification is the process of formally documenting the user and system requirements and creating a software requirements document.</a:t>
            </a:r>
          </a:p>
          <a:p>
            <a:r>
              <a:rPr lang="en-US" dirty="0"/>
              <a:t>The software requirements document is an agreed statement of the system requirements. It should be organized so that both system customers and software developers can use it.</a:t>
            </a:r>
            <a:endParaRPr lang="en-GB" dirty="0"/>
          </a:p>
          <a:p>
            <a:endParaRPr lang="en-US" dirty="0"/>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100</a:t>
            </a:fld>
            <a:endParaRPr lang="en-US"/>
          </a:p>
        </p:txBody>
      </p:sp>
      <p:sp>
        <p:nvSpPr>
          <p:cNvPr id="6" name="Date Placeholder 5"/>
          <p:cNvSpPr>
            <a:spLocks noGrp="1"/>
          </p:cNvSpPr>
          <p:nvPr>
            <p:ph type="dt" sz="half" idx="10"/>
          </p:nvPr>
        </p:nvSpPr>
        <p:spPr/>
        <p:txBody>
          <a:bodyPr/>
          <a:lstStyle/>
          <a:p>
            <a:pPr>
              <a:defRPr/>
            </a:pPr>
            <a:fld id="{7285AE30-9DD5-41CC-9EA8-D8A40F19BA62}" type="datetime1">
              <a:rPr lang="en-US" smtClean="0"/>
              <a:t>5/7/25</a:t>
            </a:fld>
            <a:endParaRPr lang="en-US"/>
          </a:p>
        </p:txBody>
      </p:sp>
    </p:spTree>
    <p:extLst>
      <p:ext uri="{BB962C8B-B14F-4D97-AF65-F5344CB8AC3E}">
        <p14:creationId xmlns:p14="http://schemas.microsoft.com/office/powerpoint/2010/main" val="410089195"/>
      </p:ext>
    </p:extLst>
  </p:cSld>
  <p:clrMapOvr>
    <a:masterClrMapping/>
  </p:clrMapOvr>
  <p:transition spd="med">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endParaRPr lang="en-US" dirty="0"/>
          </a:p>
        </p:txBody>
      </p:sp>
      <p:sp>
        <p:nvSpPr>
          <p:cNvPr id="3" name="Content Placeholder 2"/>
          <p:cNvSpPr>
            <a:spLocks noGrp="1"/>
          </p:cNvSpPr>
          <p:nvPr>
            <p:ph idx="1"/>
          </p:nvPr>
        </p:nvSpPr>
        <p:spPr/>
        <p:txBody>
          <a:bodyPr/>
          <a:lstStyle/>
          <a:p>
            <a:r>
              <a:rPr lang="en-US" dirty="0"/>
              <a:t>Requirements validation is the process of checking the requirements for validity, consistency, completeness, realism and verifiability. </a:t>
            </a:r>
            <a:endParaRPr lang="en-GB" dirty="0"/>
          </a:p>
          <a:p>
            <a:r>
              <a:rPr lang="en-US" dirty="0"/>
              <a:t>Business, organizational and technical changes inevitably lead to changes to the requirements for a software system. Requirements management is the process of managing and controlling these changes.</a:t>
            </a:r>
            <a:endParaRPr lang="en-GB" dirty="0"/>
          </a:p>
          <a:p>
            <a:endParaRPr lang="en-US" dirty="0"/>
          </a:p>
        </p:txBody>
      </p:sp>
      <p:sp>
        <p:nvSpPr>
          <p:cNvPr id="4" name="Slide Number Placeholder 3"/>
          <p:cNvSpPr>
            <a:spLocks noGrp="1"/>
          </p:cNvSpPr>
          <p:nvPr>
            <p:ph type="sldNum" sz="quarter" idx="12"/>
          </p:nvPr>
        </p:nvSpPr>
        <p:spPr/>
        <p:txBody>
          <a:bodyPr/>
          <a:lstStyle/>
          <a:p>
            <a:fld id="{825F70CE-84E9-D04C-9B15-10C693AA0F2A}" type="slidenum">
              <a:rPr lang="en-US" smtClean="0"/>
              <a:pPr/>
              <a:t>101</a:t>
            </a:fld>
            <a:endParaRPr lang="en-US"/>
          </a:p>
        </p:txBody>
      </p:sp>
      <p:sp>
        <p:nvSpPr>
          <p:cNvPr id="6" name="Date Placeholder 5"/>
          <p:cNvSpPr>
            <a:spLocks noGrp="1"/>
          </p:cNvSpPr>
          <p:nvPr>
            <p:ph type="dt" sz="half" idx="10"/>
          </p:nvPr>
        </p:nvSpPr>
        <p:spPr/>
        <p:txBody>
          <a:bodyPr/>
          <a:lstStyle/>
          <a:p>
            <a:pPr>
              <a:defRPr/>
            </a:pPr>
            <a:fld id="{839BA1E5-6B6C-4E75-8D2A-BA3FA9301C30}" type="datetime1">
              <a:rPr lang="en-US" smtClean="0"/>
              <a:t>5/7/25</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7444</TotalTime>
  <Words>6800</Words>
  <Application>Microsoft Macintosh PowerPoint</Application>
  <PresentationFormat>On-screen Show (4:3)</PresentationFormat>
  <Paragraphs>728</Paragraphs>
  <Slides>101</Slides>
  <Notes>3</Notes>
  <HiddenSlides>4</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101</vt:i4>
      </vt:variant>
    </vt:vector>
  </HeadingPairs>
  <TitlesOfParts>
    <vt:vector size="107" baseType="lpstr">
      <vt:lpstr>Arial</vt:lpstr>
      <vt:lpstr>Calibri</vt:lpstr>
      <vt:lpstr>Wingdings</vt:lpstr>
      <vt:lpstr>Zapf Dingbats</vt:lpstr>
      <vt:lpstr>SE10 slides</vt:lpstr>
      <vt:lpstr>Document</vt:lpstr>
      <vt:lpstr>Module 3 Requirements Engineering</vt:lpstr>
      <vt:lpstr>Topics (Module 3)</vt:lpstr>
      <vt:lpstr>Software Requirements</vt:lpstr>
      <vt:lpstr>Requirements engineering</vt:lpstr>
      <vt:lpstr>What is a requirement?</vt:lpstr>
      <vt:lpstr>Requirements abstraction (Davis)</vt:lpstr>
      <vt:lpstr>Types of requirement</vt:lpstr>
      <vt:lpstr>User and system requirements </vt:lpstr>
      <vt:lpstr>Readers of different types of requirements specification </vt:lpstr>
      <vt:lpstr>System stakeholders</vt:lpstr>
      <vt:lpstr>Stakeholders in the Mentcare system</vt:lpstr>
      <vt:lpstr>Stakeholders in the Mentcare system</vt:lpstr>
      <vt:lpstr>Agile methods and requirements</vt:lpstr>
      <vt:lpstr>Functional and non-functional requirements</vt:lpstr>
      <vt:lpstr>Functional and non-functional requirements</vt:lpstr>
      <vt:lpstr>Functional requirements</vt:lpstr>
      <vt:lpstr>Functional Requirements</vt:lpstr>
      <vt:lpstr>Mentcare system: functional requirements</vt:lpstr>
      <vt:lpstr>Requirements imprecision</vt:lpstr>
      <vt:lpstr>Requirements completeness and consistency</vt:lpstr>
      <vt:lpstr>Non-functional requirements</vt:lpstr>
      <vt:lpstr>Non Functional Requirements</vt:lpstr>
      <vt:lpstr>Types of nonfunctional requirement </vt:lpstr>
      <vt:lpstr>Non-functional requirements implementation</vt:lpstr>
      <vt:lpstr>Non-functional classifications</vt:lpstr>
      <vt:lpstr>Examples of nonfunctional requirements in the Mentcare system</vt:lpstr>
      <vt:lpstr>Goals and requirements</vt:lpstr>
      <vt:lpstr>Usability requirements</vt:lpstr>
      <vt:lpstr>Metrics for specifying nonfunctional requirements</vt:lpstr>
      <vt:lpstr>Domain Requirements</vt:lpstr>
      <vt:lpstr>Comparison</vt:lpstr>
      <vt:lpstr>Requirements engineering processes</vt:lpstr>
      <vt:lpstr>Requirements engineering processes</vt:lpstr>
      <vt:lpstr>A spiral view of the requirements engineering process </vt:lpstr>
      <vt:lpstr>Feasibility Study</vt:lpstr>
      <vt:lpstr>Requirements Elicitation</vt:lpstr>
      <vt:lpstr>Requirements elicitation and analysis</vt:lpstr>
      <vt:lpstr>Requirements elicitation</vt:lpstr>
      <vt:lpstr>Problems of requirements elicitation</vt:lpstr>
      <vt:lpstr>The requirements elicitation and analysis process </vt:lpstr>
      <vt:lpstr>Process activities</vt:lpstr>
      <vt:lpstr>Requirements discovery</vt:lpstr>
      <vt:lpstr>Requirement Elicitation Techniques</vt:lpstr>
      <vt:lpstr>Interviewing</vt:lpstr>
      <vt:lpstr>Interviews in practice</vt:lpstr>
      <vt:lpstr>Problems with interviews</vt:lpstr>
      <vt:lpstr>Brainstorming</vt:lpstr>
      <vt:lpstr>Importance of Brainstorming</vt:lpstr>
      <vt:lpstr>PowerPoint Presentation</vt:lpstr>
      <vt:lpstr>Challenges</vt:lpstr>
      <vt:lpstr>Facilitated Application Specification Techniques</vt:lpstr>
      <vt:lpstr>Facilitated Application Specification Techniques</vt:lpstr>
      <vt:lpstr>Quality Function Deployment</vt:lpstr>
      <vt:lpstr>Ethnography</vt:lpstr>
      <vt:lpstr>Scope of ethnography</vt:lpstr>
      <vt:lpstr>Focused ethnography</vt:lpstr>
      <vt:lpstr>Ethnography and prototyping for requirements analysis </vt:lpstr>
      <vt:lpstr>Stories and scenarios</vt:lpstr>
      <vt:lpstr>Photo sharing in the classroom (iLearn)</vt:lpstr>
      <vt:lpstr>Scenarios</vt:lpstr>
      <vt:lpstr>Uploading photos iLearn)</vt:lpstr>
      <vt:lpstr>Uploading photos</vt:lpstr>
      <vt:lpstr>Requirements specification</vt:lpstr>
      <vt:lpstr>Requirements specification</vt:lpstr>
      <vt:lpstr>Ways of writing a system requirements specification </vt:lpstr>
      <vt:lpstr>Requirements and design</vt:lpstr>
      <vt:lpstr>Natural language specification</vt:lpstr>
      <vt:lpstr>Guidelines for writing requirements</vt:lpstr>
      <vt:lpstr>Problems with natural language</vt:lpstr>
      <vt:lpstr>Example requirements for the insulin pump software system </vt:lpstr>
      <vt:lpstr>Structured specifications</vt:lpstr>
      <vt:lpstr>Form-based specifications</vt:lpstr>
      <vt:lpstr>A structured specification of a requirement for an insulin pump </vt:lpstr>
      <vt:lpstr>A structured specification of a requirement for an insulin pump </vt:lpstr>
      <vt:lpstr>Tabular specification</vt:lpstr>
      <vt:lpstr>Tabular specification of computation for an insulin pump </vt:lpstr>
      <vt:lpstr>Use cases</vt:lpstr>
      <vt:lpstr>Use cases for the Mentcare system</vt:lpstr>
      <vt:lpstr>The software requirements document</vt:lpstr>
      <vt:lpstr>Users of a requirements document </vt:lpstr>
      <vt:lpstr>Requirements document variability</vt:lpstr>
      <vt:lpstr>The structure of a requirements document </vt:lpstr>
      <vt:lpstr>The structure of a requirements document </vt:lpstr>
      <vt:lpstr>Requirements validation</vt:lpstr>
      <vt:lpstr>Requirements validation</vt:lpstr>
      <vt:lpstr>Requirements checking</vt:lpstr>
      <vt:lpstr>Requirements validation techniques</vt:lpstr>
      <vt:lpstr>Requirements reviews</vt:lpstr>
      <vt:lpstr>Review checks</vt:lpstr>
      <vt:lpstr>Requirements change</vt:lpstr>
      <vt:lpstr>Changing requirements</vt:lpstr>
      <vt:lpstr>Changing requirements</vt:lpstr>
      <vt:lpstr>Requirements evolution </vt:lpstr>
      <vt:lpstr>Requirements management</vt:lpstr>
      <vt:lpstr>Requirements management planning</vt:lpstr>
      <vt:lpstr>Requirements change management</vt:lpstr>
      <vt:lpstr>Requirements change management </vt:lpstr>
      <vt:lpstr>Key points</vt:lpstr>
      <vt:lpstr>Key points</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Apoorva Karnwal</cp:lastModifiedBy>
  <cp:revision>87</cp:revision>
  <cp:lastPrinted>2010-01-11T10:54:43Z</cp:lastPrinted>
  <dcterms:created xsi:type="dcterms:W3CDTF">2010-01-08T19:43:52Z</dcterms:created>
  <dcterms:modified xsi:type="dcterms:W3CDTF">2025-05-08T01:48:31Z</dcterms:modified>
</cp:coreProperties>
</file>