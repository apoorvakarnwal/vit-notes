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6.jpg" ContentType="image/jpg"/>
  <Override PartName="/ppt/media/image8.jpg" ContentType="image/jpg"/>
  <Override PartName="/ppt/media/image9.jpg" ContentType="image/jpg"/>
  <Override PartName="/ppt/media/image10.jpg" ContentType="image/jpg"/>
  <Override PartName="/ppt/media/image11.jpg" ContentType="image/jpg"/>
  <Override PartName="/ppt/media/image12.jpg" ContentType="image/jpg"/>
  <Override PartName="/ppt/media/image13.jpg" ContentType="image/jpg"/>
  <Override PartName="/ppt/media/image17.jpg" ContentType="image/jpg"/>
  <Override PartName="/ppt/media/image20.jpg" ContentType="image/jpg"/>
  <Override PartName="/ppt/media/image23.jpg" ContentType="image/jp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9" r:id="rId17"/>
    <p:sldId id="280" r:id="rId18"/>
    <p:sldId id="281" r:id="rId19"/>
    <p:sldId id="282" r:id="rId20"/>
    <p:sldId id="283" r:id="rId21"/>
    <p:sldId id="284" r:id="rId22"/>
    <p:sldId id="285" r:id="rId23"/>
    <p:sldId id="286" r:id="rId24"/>
    <p:sldId id="287" r:id="rId25"/>
    <p:sldId id="288" r:id="rId26"/>
    <p:sldId id="343" r:id="rId27"/>
    <p:sldId id="344" r:id="rId28"/>
    <p:sldId id="345" r:id="rId29"/>
    <p:sldId id="346" r:id="rId30"/>
    <p:sldId id="347" r:id="rId31"/>
    <p:sldId id="348" r:id="rId32"/>
    <p:sldId id="349" r:id="rId33"/>
    <p:sldId id="350" r:id="rId34"/>
    <p:sldId id="351" r:id="rId35"/>
    <p:sldId id="352" r:id="rId36"/>
    <p:sldId id="353" r:id="rId37"/>
    <p:sldId id="354" r:id="rId38"/>
    <p:sldId id="355" r:id="rId39"/>
    <p:sldId id="356" r:id="rId40"/>
    <p:sldId id="291" r:id="rId41"/>
    <p:sldId id="292" r:id="rId42"/>
    <p:sldId id="293" r:id="rId43"/>
    <p:sldId id="294" r:id="rId44"/>
    <p:sldId id="370" r:id="rId45"/>
    <p:sldId id="371" r:id="rId46"/>
    <p:sldId id="372" r:id="rId47"/>
    <p:sldId id="373" r:id="rId48"/>
    <p:sldId id="374" r:id="rId49"/>
    <p:sldId id="375" r:id="rId50"/>
    <p:sldId id="376" r:id="rId51"/>
    <p:sldId id="377" r:id="rId52"/>
    <p:sldId id="295" r:id="rId53"/>
    <p:sldId id="359" r:id="rId54"/>
    <p:sldId id="360" r:id="rId55"/>
    <p:sldId id="361" r:id="rId56"/>
    <p:sldId id="362" r:id="rId57"/>
    <p:sldId id="363" r:id="rId58"/>
    <p:sldId id="364" r:id="rId59"/>
    <p:sldId id="365" r:id="rId60"/>
    <p:sldId id="366" r:id="rId61"/>
    <p:sldId id="367" r:id="rId62"/>
    <p:sldId id="368" r:id="rId63"/>
    <p:sldId id="369" r:id="rId64"/>
    <p:sldId id="381" r:id="rId65"/>
    <p:sldId id="382" r:id="rId66"/>
    <p:sldId id="383" r:id="rId67"/>
    <p:sldId id="378" r:id="rId68"/>
    <p:sldId id="384" r:id="rId69"/>
    <p:sldId id="385" r:id="rId70"/>
    <p:sldId id="386" r:id="rId71"/>
    <p:sldId id="387" r:id="rId72"/>
    <p:sldId id="388" r:id="rId73"/>
    <p:sldId id="389" r:id="rId74"/>
    <p:sldId id="379" r:id="rId75"/>
    <p:sldId id="398" r:id="rId76"/>
    <p:sldId id="399" r:id="rId77"/>
    <p:sldId id="400" r:id="rId78"/>
    <p:sldId id="401" r:id="rId79"/>
    <p:sldId id="380" r:id="rId80"/>
    <p:sldId id="390" r:id="rId81"/>
    <p:sldId id="391" r:id="rId82"/>
    <p:sldId id="393" r:id="rId83"/>
    <p:sldId id="394" r:id="rId84"/>
    <p:sldId id="395" r:id="rId85"/>
    <p:sldId id="396" r:id="rId86"/>
    <p:sldId id="397" r:id="rId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836"/>
    <p:restoredTop sz="94694"/>
  </p:normalViewPr>
  <p:slideViewPr>
    <p:cSldViewPr snapToGrid="0">
      <p:cViewPr>
        <p:scale>
          <a:sx n="79" d="100"/>
          <a:sy n="79" d="100"/>
        </p:scale>
        <p:origin x="112" y="1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E0F903-9506-4C38-AEA6-F55B08D2F849}" type="datetimeFigureOut">
              <a:rPr lang="en-US" smtClean="0"/>
              <a:t>5/8/25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121C71-55E3-4A45-8114-0F634C92A142}" type="slidenum">
              <a:rPr lang="en-US" smtClean="0"/>
              <a:t>‹#›</a:t>
            </a:fld>
            <a:endParaRPr lang="en-US"/>
          </a:p>
        </p:txBody>
      </p:sp>
    </p:spTree>
    <p:extLst>
      <p:ext uri="{BB962C8B-B14F-4D97-AF65-F5344CB8AC3E}">
        <p14:creationId xmlns:p14="http://schemas.microsoft.com/office/powerpoint/2010/main" val="3351931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0DEF15-6DB4-4D51-8AAE-56CEA7CC8EB6}" type="datetime1">
              <a:rPr lang="en-US" smtClean="0"/>
              <a:t>5/8/25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747057-CBAD-466C-AD2C-670725164D7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71985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1598F3F-4B2B-4F34-83F9-7D5497B42867}" type="datetime1">
              <a:rPr lang="en-US" smtClean="0"/>
              <a:t>5/8/25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747057-CBAD-466C-AD2C-670725164D70}" type="slidenum">
              <a:rPr lang="en-US" smtClean="0"/>
              <a:t>‹#›</a:t>
            </a:fld>
            <a:endParaRPr lang="en-US"/>
          </a:p>
        </p:txBody>
      </p:sp>
    </p:spTree>
    <p:extLst>
      <p:ext uri="{BB962C8B-B14F-4D97-AF65-F5344CB8AC3E}">
        <p14:creationId xmlns:p14="http://schemas.microsoft.com/office/powerpoint/2010/main" val="16452948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75478C9-B59E-483C-A066-5824F993E742}" type="datetime1">
              <a:rPr lang="en-US" smtClean="0"/>
              <a:t>5/8/25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747057-CBAD-466C-AD2C-670725164D7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1212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7B5BC98-BF76-41F4-B026-AC739BFCDD4F}" type="datetime1">
              <a:rPr lang="en-US" smtClean="0"/>
              <a:t>5/8/25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747057-CBAD-466C-AD2C-670725164D70}" type="slidenum">
              <a:rPr lang="en-US" smtClean="0"/>
              <a:t>‹#›</a:t>
            </a:fld>
            <a:endParaRPr lang="en-US"/>
          </a:p>
        </p:txBody>
      </p:sp>
    </p:spTree>
    <p:extLst>
      <p:ext uri="{BB962C8B-B14F-4D97-AF65-F5344CB8AC3E}">
        <p14:creationId xmlns:p14="http://schemas.microsoft.com/office/powerpoint/2010/main" val="37562227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0D397E6-A4B8-40E7-8E1C-CDE924BBFDB2}" type="datetime1">
              <a:rPr lang="en-US" smtClean="0"/>
              <a:t>5/8/25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747057-CBAD-466C-AD2C-670725164D70}" type="slidenum">
              <a:rPr lang="en-US" smtClean="0"/>
              <a:t>‹#›</a:t>
            </a:fld>
            <a:endParaRPr lang="en-US"/>
          </a:p>
        </p:txBody>
      </p:sp>
    </p:spTree>
    <p:extLst>
      <p:ext uri="{BB962C8B-B14F-4D97-AF65-F5344CB8AC3E}">
        <p14:creationId xmlns:p14="http://schemas.microsoft.com/office/powerpoint/2010/main" val="1311231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F2C2A06-9088-40B4-81B8-A06567A45459}" type="datetime1">
              <a:rPr lang="en-US" smtClean="0"/>
              <a:t>5/8/25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747057-CBAD-466C-AD2C-670725164D70}" type="slidenum">
              <a:rPr lang="en-US" smtClean="0"/>
              <a:t>‹#›</a:t>
            </a:fld>
            <a:endParaRPr lang="en-US"/>
          </a:p>
        </p:txBody>
      </p:sp>
    </p:spTree>
    <p:extLst>
      <p:ext uri="{BB962C8B-B14F-4D97-AF65-F5344CB8AC3E}">
        <p14:creationId xmlns:p14="http://schemas.microsoft.com/office/powerpoint/2010/main" val="2277777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A890893A-8079-4045-A6D9-E3F04378430A}" type="datetime1">
              <a:rPr lang="en-US" smtClean="0"/>
              <a:t>5/8/25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1A747057-CBAD-466C-AD2C-670725164D70}" type="slidenum">
              <a:rPr lang="en-US" smtClean="0"/>
              <a:t>‹#›</a:t>
            </a:fld>
            <a:endParaRPr lang="en-US"/>
          </a:p>
        </p:txBody>
      </p:sp>
    </p:spTree>
    <p:extLst>
      <p:ext uri="{BB962C8B-B14F-4D97-AF65-F5344CB8AC3E}">
        <p14:creationId xmlns:p14="http://schemas.microsoft.com/office/powerpoint/2010/main" val="37942453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647226CF-6D53-455C-B7B4-5C3F859740CE}" type="datetime1">
              <a:rPr lang="en-US" smtClean="0"/>
              <a:t>5/8/25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1A747057-CBAD-466C-AD2C-670725164D70}" type="slidenum">
              <a:rPr lang="en-US" smtClean="0"/>
              <a:t>‹#›</a:t>
            </a:fld>
            <a:endParaRPr lang="en-US"/>
          </a:p>
        </p:txBody>
      </p:sp>
    </p:spTree>
    <p:extLst>
      <p:ext uri="{BB962C8B-B14F-4D97-AF65-F5344CB8AC3E}">
        <p14:creationId xmlns:p14="http://schemas.microsoft.com/office/powerpoint/2010/main" val="417280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1AD2566-65A9-408C-A436-7EB31790ABA8}" type="datetime1">
              <a:rPr lang="en-US" smtClean="0"/>
              <a:t>5/8/25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747057-CBAD-466C-AD2C-670725164D70}" type="slidenum">
              <a:rPr lang="en-US" smtClean="0"/>
              <a:t>‹#›</a:t>
            </a:fld>
            <a:endParaRPr lang="en-US"/>
          </a:p>
        </p:txBody>
      </p:sp>
    </p:spTree>
    <p:extLst>
      <p:ext uri="{BB962C8B-B14F-4D97-AF65-F5344CB8AC3E}">
        <p14:creationId xmlns:p14="http://schemas.microsoft.com/office/powerpoint/2010/main" val="3935911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AC4D11-1CF2-46B9-97C9-B625032ABF98}" type="datetime1">
              <a:rPr lang="en-US" smtClean="0"/>
              <a:t>5/8/25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747057-CBAD-466C-AD2C-670725164D70}" type="slidenum">
              <a:rPr lang="en-US" smtClean="0"/>
              <a:t>‹#›</a:t>
            </a:fld>
            <a:endParaRPr lang="en-US"/>
          </a:p>
        </p:txBody>
      </p:sp>
    </p:spTree>
    <p:extLst>
      <p:ext uri="{BB962C8B-B14F-4D97-AF65-F5344CB8AC3E}">
        <p14:creationId xmlns:p14="http://schemas.microsoft.com/office/powerpoint/2010/main" val="8613834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0A0F994-E511-4791-A434-A8C191699B80}" type="datetime1">
              <a:rPr lang="en-US" smtClean="0"/>
              <a:t>5/8/25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747057-CBAD-466C-AD2C-670725164D70}" type="slidenum">
              <a:rPr lang="en-US" smtClean="0"/>
              <a:t>‹#›</a:t>
            </a:fld>
            <a:endParaRPr lang="en-US"/>
          </a:p>
        </p:txBody>
      </p:sp>
    </p:spTree>
    <p:extLst>
      <p:ext uri="{BB962C8B-B14F-4D97-AF65-F5344CB8AC3E}">
        <p14:creationId xmlns:p14="http://schemas.microsoft.com/office/powerpoint/2010/main" val="2901719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D8DEE76-B90C-4A46-A975-60CA5B52D56A}" type="datetime1">
              <a:rPr lang="en-US" smtClean="0"/>
              <a:t>5/8/25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1A747057-CBAD-466C-AD2C-670725164D70}"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00911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hyperlink" Target="https://www.investopedia.com/terms/a/attrition.asp" TargetMode="Externa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hyperlink" Target="https://www.investopedia.com/terms/w/workflow.asp" TargetMode="External"/><Relationship Id="rId2" Type="http://schemas.openxmlformats.org/officeDocument/2006/relationships/hyperlink" Target="https://www.investopedia.com/terms/c/competitive_advantage.asp"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www.investopedia.com/terms/d/data-analytics.asp" TargetMode="External"/><Relationship Id="rId2" Type="http://schemas.openxmlformats.org/officeDocument/2006/relationships/hyperlink" Target="https://www.investopedia.com/terms/m/missionstatement.asp"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www.investopedia.com/terms/e/erp.asp"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hyperlink" Target="https://testsigma.com/blog/quality-control/"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hyperlink" Target="https://www.browserstack.com/guide/effective-test-automation-strategy" TargetMode="External"/><Relationship Id="rId2" Type="http://schemas.openxmlformats.org/officeDocument/2006/relationships/hyperlink" Target="https://www.browserstack.com/guide/manual-testing-tutorial" TargetMode="Externa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hyperlink" Target="https://www.browserstack.com/guide/how-to-select-cross-browser-testing-tool" TargetMode="External"/><Relationship Id="rId2" Type="http://schemas.openxmlformats.org/officeDocument/2006/relationships/hyperlink" Target="https://www.browserstack.com/live" TargetMode="External"/><Relationship Id="rId1" Type="http://schemas.openxmlformats.org/officeDocument/2006/relationships/slideLayout" Target="../slideLayouts/slideLayout7.xml"/><Relationship Id="rId4" Type="http://schemas.openxmlformats.org/officeDocument/2006/relationships/hyperlink" Target="https://www.browserstack.com/guide/what-is-parallel-testing" TargetMode="External"/></Relationships>
</file>

<file path=ppt/slides/_rels/slide82.xml.rels><?xml version="1.0" encoding="UTF-8" standalone="yes"?>
<Relationships xmlns="http://schemas.openxmlformats.org/package/2006/relationships"><Relationship Id="rId3" Type="http://schemas.openxmlformats.org/officeDocument/2006/relationships/hyperlink" Target="https://www.browserstack.com/guide/regression-testing" TargetMode="External"/><Relationship Id="rId2" Type="http://schemas.openxmlformats.org/officeDocument/2006/relationships/hyperlink" Target="https://www.sogeti.com/explore/reports/world-quality-report-2020/" TargetMode="External"/><Relationship Id="rId1" Type="http://schemas.openxmlformats.org/officeDocument/2006/relationships/slideLayout" Target="../slideLayouts/slideLayout7.xml"/><Relationship Id="rId6" Type="http://schemas.openxmlformats.org/officeDocument/2006/relationships/hyperlink" Target="https://www.browserstack.com/guide/efficient-software-quality-management-process" TargetMode="External"/><Relationship Id="rId5" Type="http://schemas.openxmlformats.org/officeDocument/2006/relationships/hyperlink" Target="https://www.browserstack.com/guide/manual-vs-automated-testing-differences" TargetMode="External"/><Relationship Id="rId4" Type="http://schemas.openxmlformats.org/officeDocument/2006/relationships/hyperlink" Target="https://www.browserstack.com/" TargetMode="Externa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hyperlink" Target="https://www.browserstack.com/guide/what-are-right-testing-metrics" TargetMode="External"/><Relationship Id="rId2" Type="http://schemas.openxmlformats.org/officeDocument/2006/relationships/hyperlink" Target="https://www.browserstack.com/guide/functional-and-non-functional-testing-checklist" TargetMode="Externa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2" Type="http://schemas.openxmlformats.org/officeDocument/2006/relationships/hyperlink" Target="https://www.browserstack.com/guide/exploratory-testing"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idx="4294967295"/>
          </p:nvPr>
        </p:nvSpPr>
        <p:spPr>
          <a:xfrm>
            <a:off x="2133600" y="758825"/>
            <a:ext cx="10058400" cy="3565525"/>
          </a:xfrm>
        </p:spPr>
        <p:txBody>
          <a:bodyPr/>
          <a:lstStyle/>
          <a:p>
            <a:r>
              <a:rPr lang="en-US" dirty="0"/>
              <a:t>Module 7</a:t>
            </a:r>
          </a:p>
        </p:txBody>
      </p:sp>
    </p:spTree>
    <p:extLst>
      <p:ext uri="{BB962C8B-B14F-4D97-AF65-F5344CB8AC3E}">
        <p14:creationId xmlns:p14="http://schemas.microsoft.com/office/powerpoint/2010/main" val="34386411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lstStyle/>
          <a:p>
            <a:r>
              <a:rPr lang="en-US" dirty="0"/>
              <a:t>Contents</a:t>
            </a:r>
          </a:p>
        </p:txBody>
      </p:sp>
      <p:sp>
        <p:nvSpPr>
          <p:cNvPr id="3" name="Content Placeholder 2"/>
          <p:cNvSpPr>
            <a:spLocks noGrp="1"/>
          </p:cNvSpPr>
          <p:nvPr>
            <p:ph idx="4294967295"/>
          </p:nvPr>
        </p:nvSpPr>
        <p:spPr>
          <a:xfrm>
            <a:off x="2133600" y="1846263"/>
            <a:ext cx="10058400" cy="4022725"/>
          </a:xfrm>
        </p:spPr>
        <p:txBody>
          <a:bodyPr/>
          <a:lstStyle/>
          <a:p>
            <a:pPr marL="282575" indent="-282575">
              <a:buFont typeface="Wingdings" panose="05000000000000000000" pitchFamily="2" charset="2"/>
              <a:buChar char="§"/>
            </a:pPr>
            <a:r>
              <a:rPr lang="en-US" dirty="0"/>
              <a:t>Product and Process Metrics, </a:t>
            </a:r>
          </a:p>
          <a:p>
            <a:pPr marL="282575" indent="-282575">
              <a:buFont typeface="Wingdings" panose="05000000000000000000" pitchFamily="2" charset="2"/>
              <a:buChar char="§"/>
            </a:pPr>
            <a:r>
              <a:rPr lang="en-US" dirty="0"/>
              <a:t>Quality Standards Models ISO, </a:t>
            </a:r>
          </a:p>
          <a:p>
            <a:pPr marL="282575" indent="-282575">
              <a:buFont typeface="Wingdings" panose="05000000000000000000" pitchFamily="2" charset="2"/>
              <a:buChar char="§"/>
            </a:pPr>
            <a:r>
              <a:rPr lang="en-US" dirty="0"/>
              <a:t>TQM, </a:t>
            </a:r>
          </a:p>
          <a:p>
            <a:pPr marL="282575" indent="-282575">
              <a:buFont typeface="Wingdings" panose="05000000000000000000" pitchFamily="2" charset="2"/>
              <a:buChar char="§"/>
            </a:pPr>
            <a:r>
              <a:rPr lang="en-US" dirty="0"/>
              <a:t>Six-Sigma, </a:t>
            </a:r>
          </a:p>
          <a:p>
            <a:pPr marL="282575" indent="-282575">
              <a:buFont typeface="Wingdings" panose="05000000000000000000" pitchFamily="2" charset="2"/>
              <a:buChar char="§"/>
            </a:pPr>
            <a:r>
              <a:rPr lang="en-US" dirty="0"/>
              <a:t>Process improvement Models: CMM &amp; CMMI. </a:t>
            </a:r>
          </a:p>
          <a:p>
            <a:pPr marL="282575" indent="-282575">
              <a:buFont typeface="Wingdings" panose="05000000000000000000" pitchFamily="2" charset="2"/>
              <a:buChar char="§"/>
            </a:pPr>
            <a:r>
              <a:rPr lang="en-US" dirty="0"/>
              <a:t>Quality Control and Quality Assurance </a:t>
            </a:r>
          </a:p>
          <a:p>
            <a:pPr marL="282575" indent="-282575">
              <a:buFont typeface="Wingdings" panose="05000000000000000000" pitchFamily="2" charset="2"/>
              <a:buChar char="§"/>
            </a:pPr>
            <a:r>
              <a:rPr lang="en-US" dirty="0"/>
              <a:t> Quality Management </a:t>
            </a:r>
          </a:p>
          <a:p>
            <a:pPr marL="282575" indent="-282575">
              <a:buFont typeface="Wingdings" panose="05000000000000000000" pitchFamily="2" charset="2"/>
              <a:buChar char="§"/>
            </a:pPr>
            <a:r>
              <a:rPr lang="en-US" dirty="0"/>
              <a:t>Quality Factors </a:t>
            </a:r>
          </a:p>
          <a:p>
            <a:pPr marL="282575" indent="-282575">
              <a:buFont typeface="Wingdings" panose="05000000000000000000" pitchFamily="2" charset="2"/>
              <a:buChar char="§"/>
            </a:pPr>
            <a:r>
              <a:rPr lang="en-US" dirty="0"/>
              <a:t>Methods of Quality Management</a:t>
            </a:r>
          </a:p>
        </p:txBody>
      </p:sp>
    </p:spTree>
    <p:extLst>
      <p:ext uri="{BB962C8B-B14F-4D97-AF65-F5344CB8AC3E}">
        <p14:creationId xmlns:p14="http://schemas.microsoft.com/office/powerpoint/2010/main" val="1313947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idx="4294967295"/>
          </p:nvPr>
        </p:nvSpPr>
        <p:spPr>
          <a:xfrm>
            <a:off x="2133600" y="758825"/>
            <a:ext cx="10058400" cy="3565525"/>
          </a:xfrm>
        </p:spPr>
        <p:txBody>
          <a:bodyPr/>
          <a:lstStyle/>
          <a:p>
            <a:r>
              <a:rPr lang="en-US" dirty="0"/>
              <a:t>Software Metrics</a:t>
            </a:r>
          </a:p>
        </p:txBody>
      </p:sp>
    </p:spTree>
    <p:extLst>
      <p:ext uri="{BB962C8B-B14F-4D97-AF65-F5344CB8AC3E}">
        <p14:creationId xmlns:p14="http://schemas.microsoft.com/office/powerpoint/2010/main" val="29956489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lstStyle/>
          <a:p>
            <a:r>
              <a:rPr lang="en-US" dirty="0"/>
              <a:t>Software Metrics	</a:t>
            </a:r>
            <a:endParaRPr lang="en-IN" dirty="0"/>
          </a:p>
        </p:txBody>
      </p:sp>
      <p:sp>
        <p:nvSpPr>
          <p:cNvPr id="3" name="Content Placeholder 2"/>
          <p:cNvSpPr>
            <a:spLocks noGrp="1"/>
          </p:cNvSpPr>
          <p:nvPr>
            <p:ph sz="quarter" idx="4294967295"/>
          </p:nvPr>
        </p:nvSpPr>
        <p:spPr>
          <a:xfrm>
            <a:off x="2133600" y="1846263"/>
            <a:ext cx="10058400" cy="4022725"/>
          </a:xfrm>
        </p:spPr>
        <p:txBody>
          <a:bodyPr>
            <a:normAutofit/>
          </a:bodyPr>
          <a:lstStyle/>
          <a:p>
            <a:pPr algn="just"/>
            <a:r>
              <a:rPr lang="en-US" dirty="0">
                <a:latin typeface="Times New Roman" pitchFamily="18" charset="0"/>
                <a:cs typeface="Times New Roman" pitchFamily="18" charset="0"/>
              </a:rPr>
              <a:t>A software metric is a measure of software characteristics which are measurable or countable. </a:t>
            </a:r>
          </a:p>
          <a:p>
            <a:pPr algn="just"/>
            <a:r>
              <a:rPr lang="en-US" dirty="0">
                <a:latin typeface="Times New Roman" pitchFamily="18" charset="0"/>
                <a:cs typeface="Times New Roman" pitchFamily="18" charset="0"/>
              </a:rPr>
              <a:t>Software metrics are valuable for many reasons, including measuring software performance, planning work items, measuring productivity, and many other uses.</a:t>
            </a:r>
          </a:p>
          <a:p>
            <a:pPr algn="just"/>
            <a:r>
              <a:rPr lang="en-US" dirty="0">
                <a:latin typeface="Times New Roman" pitchFamily="18" charset="0"/>
                <a:cs typeface="Times New Roman" pitchFamily="18" charset="0"/>
              </a:rPr>
              <a:t>Software metrics are similar to the four functions of management: </a:t>
            </a:r>
          </a:p>
          <a:p>
            <a:pPr lvl="1" algn="just"/>
            <a:r>
              <a:rPr lang="en-US" dirty="0">
                <a:latin typeface="Times New Roman" pitchFamily="18" charset="0"/>
                <a:cs typeface="Times New Roman" pitchFamily="18" charset="0"/>
              </a:rPr>
              <a:t>Planning, </a:t>
            </a:r>
          </a:p>
          <a:p>
            <a:pPr lvl="1" algn="just"/>
            <a:r>
              <a:rPr lang="en-US" dirty="0">
                <a:latin typeface="Times New Roman" pitchFamily="18" charset="0"/>
                <a:cs typeface="Times New Roman" pitchFamily="18" charset="0"/>
              </a:rPr>
              <a:t>Organization, </a:t>
            </a:r>
          </a:p>
          <a:p>
            <a:pPr lvl="1" algn="just"/>
            <a:r>
              <a:rPr lang="en-US" dirty="0">
                <a:latin typeface="Times New Roman" pitchFamily="18" charset="0"/>
                <a:cs typeface="Times New Roman" pitchFamily="18" charset="0"/>
              </a:rPr>
              <a:t>Control, or </a:t>
            </a:r>
          </a:p>
          <a:p>
            <a:pPr lvl="1" algn="just"/>
            <a:r>
              <a:rPr lang="en-US" dirty="0">
                <a:latin typeface="Times New Roman" pitchFamily="18" charset="0"/>
                <a:cs typeface="Times New Roman" pitchFamily="18" charset="0"/>
              </a:rPr>
              <a:t>Improvement.</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799444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normAutofit/>
          </a:bodyPr>
          <a:lstStyle/>
          <a:p>
            <a:r>
              <a:rPr lang="en-IN" b="1" dirty="0"/>
              <a:t>Classification of Software Metrics</a:t>
            </a:r>
            <a:endParaRPr lang="en-IN" dirty="0"/>
          </a:p>
        </p:txBody>
      </p:sp>
      <p:sp>
        <p:nvSpPr>
          <p:cNvPr id="3" name="Content Placeholder 2"/>
          <p:cNvSpPr>
            <a:spLocks noGrp="1"/>
          </p:cNvSpPr>
          <p:nvPr>
            <p:ph sz="quarter" idx="4294967295"/>
          </p:nvPr>
        </p:nvSpPr>
        <p:spPr>
          <a:xfrm>
            <a:off x="2133600" y="1846263"/>
            <a:ext cx="10058400" cy="4022725"/>
          </a:xfrm>
        </p:spPr>
        <p:txBody>
          <a:bodyPr/>
          <a:lstStyle/>
          <a:p>
            <a:pPr algn="just"/>
            <a:r>
              <a:rPr lang="en-US" dirty="0">
                <a:latin typeface="Times New Roman" pitchFamily="18" charset="0"/>
                <a:cs typeface="Times New Roman" pitchFamily="18" charset="0"/>
              </a:rPr>
              <a:t>Software metrics can be classified into two types as follows: </a:t>
            </a:r>
          </a:p>
          <a:p>
            <a:pPr marL="0" indent="0" algn="just">
              <a:buNone/>
            </a:pPr>
            <a:r>
              <a:rPr lang="en-IN" b="1" dirty="0">
                <a:latin typeface="Times New Roman" pitchFamily="18" charset="0"/>
                <a:cs typeface="Times New Roman" pitchFamily="18" charset="0"/>
              </a:rPr>
              <a:t>	1. Product Metrics</a:t>
            </a:r>
          </a:p>
          <a:p>
            <a:pPr marL="0" indent="0" algn="just">
              <a:buNone/>
            </a:pPr>
            <a:r>
              <a:rPr lang="en-IN" b="1" dirty="0">
                <a:latin typeface="Times New Roman" pitchFamily="18" charset="0"/>
                <a:cs typeface="Times New Roman" pitchFamily="18" charset="0"/>
              </a:rPr>
              <a:t>	2. Process Metrics</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152207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lstStyle/>
          <a:p>
            <a:r>
              <a:rPr lang="en-US" dirty="0"/>
              <a:t>Product Metrics</a:t>
            </a:r>
            <a:endParaRPr lang="en-IN" dirty="0"/>
          </a:p>
        </p:txBody>
      </p:sp>
      <p:sp>
        <p:nvSpPr>
          <p:cNvPr id="3" name="Content Placeholder 2"/>
          <p:cNvSpPr>
            <a:spLocks noGrp="1"/>
          </p:cNvSpPr>
          <p:nvPr>
            <p:ph sz="quarter" idx="4294967295"/>
          </p:nvPr>
        </p:nvSpPr>
        <p:spPr>
          <a:xfrm>
            <a:off x="2133600" y="1846263"/>
            <a:ext cx="10058400" cy="4022725"/>
          </a:xfrm>
        </p:spPr>
        <p:txBody>
          <a:bodyPr/>
          <a:lstStyle/>
          <a:p>
            <a:r>
              <a:rPr lang="en-US" dirty="0">
                <a:latin typeface="Times New Roman" pitchFamily="18" charset="0"/>
                <a:cs typeface="Times New Roman" pitchFamily="18" charset="0"/>
              </a:rPr>
              <a:t>These are the measures of various characteristics of the software product. The two important software characteristics are:</a:t>
            </a:r>
          </a:p>
          <a:p>
            <a:pPr lvl="1"/>
            <a:r>
              <a:rPr lang="en-US" dirty="0">
                <a:latin typeface="Times New Roman" pitchFamily="18" charset="0"/>
                <a:cs typeface="Times New Roman" pitchFamily="18" charset="0"/>
              </a:rPr>
              <a:t>Size and complexity of software.</a:t>
            </a:r>
          </a:p>
          <a:p>
            <a:pPr lvl="1"/>
            <a:r>
              <a:rPr lang="en-US" dirty="0">
                <a:latin typeface="Times New Roman" pitchFamily="18" charset="0"/>
                <a:cs typeface="Times New Roman" pitchFamily="18" charset="0"/>
              </a:rPr>
              <a:t>Quality and reliability of software.</a:t>
            </a:r>
          </a:p>
          <a:p>
            <a:r>
              <a:rPr lang="en-US" dirty="0">
                <a:latin typeface="Times New Roman" pitchFamily="18" charset="0"/>
                <a:cs typeface="Times New Roman" pitchFamily="18" charset="0"/>
              </a:rPr>
              <a:t>These metrics can be computed for different stages of SDLC.</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3065855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lstStyle/>
          <a:p>
            <a:r>
              <a:rPr lang="en-US" dirty="0"/>
              <a:t>Process Metrics</a:t>
            </a:r>
            <a:endParaRPr lang="en-IN" dirty="0"/>
          </a:p>
        </p:txBody>
      </p:sp>
      <p:sp>
        <p:nvSpPr>
          <p:cNvPr id="3" name="Content Placeholder 2"/>
          <p:cNvSpPr>
            <a:spLocks noGrp="1"/>
          </p:cNvSpPr>
          <p:nvPr>
            <p:ph sz="quarter" idx="4294967295"/>
          </p:nvPr>
        </p:nvSpPr>
        <p:spPr>
          <a:xfrm>
            <a:off x="2133600" y="1846263"/>
            <a:ext cx="10058400" cy="4022725"/>
          </a:xfrm>
        </p:spPr>
        <p:txBody>
          <a:bodyPr/>
          <a:lstStyle/>
          <a:p>
            <a:r>
              <a:rPr lang="en-US" dirty="0">
                <a:latin typeface="Times New Roman" pitchFamily="18" charset="0"/>
                <a:cs typeface="Times New Roman" pitchFamily="18" charset="0"/>
              </a:rPr>
              <a:t>These are the measures of various characteristics of the software development process. </a:t>
            </a:r>
          </a:p>
          <a:p>
            <a:r>
              <a:rPr lang="en-US" dirty="0">
                <a:latin typeface="Times New Roman" pitchFamily="18" charset="0"/>
                <a:cs typeface="Times New Roman" pitchFamily="18" charset="0"/>
              </a:rPr>
              <a:t>For example, the efficiency of fault detection. </a:t>
            </a:r>
          </a:p>
          <a:p>
            <a:r>
              <a:rPr lang="en-US" dirty="0">
                <a:latin typeface="Times New Roman" pitchFamily="18" charset="0"/>
                <a:cs typeface="Times New Roman" pitchFamily="18" charset="0"/>
              </a:rPr>
              <a:t>It is used to measure the characteristics of methods, techniques, and tools that are used for developing software.</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345413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Software Metri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75520" y="188640"/>
            <a:ext cx="8712968" cy="6480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944061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normAutofit/>
          </a:bodyPr>
          <a:lstStyle/>
          <a:p>
            <a:r>
              <a:rPr lang="en-IN" b="1" dirty="0"/>
              <a:t>Size Oriented Metrics (LOC)</a:t>
            </a:r>
            <a:endParaRPr lang="en-IN" dirty="0"/>
          </a:p>
        </p:txBody>
      </p:sp>
      <p:sp>
        <p:nvSpPr>
          <p:cNvPr id="3" name="Content Placeholder 2"/>
          <p:cNvSpPr>
            <a:spLocks noGrp="1"/>
          </p:cNvSpPr>
          <p:nvPr>
            <p:ph sz="quarter" idx="4294967295"/>
          </p:nvPr>
        </p:nvSpPr>
        <p:spPr>
          <a:xfrm>
            <a:off x="2133600" y="1846263"/>
            <a:ext cx="10058400" cy="4022725"/>
          </a:xfrm>
        </p:spPr>
        <p:txBody>
          <a:bodyPr/>
          <a:lstStyle/>
          <a:p>
            <a:r>
              <a:rPr lang="en-US" dirty="0"/>
              <a:t>LOC divides the entire project into several modules and sub-modules until the size of the leaf module is approximately predicted. </a:t>
            </a:r>
          </a:p>
          <a:p>
            <a:r>
              <a:rPr lang="en-US" dirty="0"/>
              <a:t>LOC count the total number of lines of source code in a project. The units of LOC are:</a:t>
            </a:r>
          </a:p>
          <a:p>
            <a:pPr lvl="1"/>
            <a:r>
              <a:rPr lang="en-US" dirty="0"/>
              <a:t>LOC- lines of code (without comments)</a:t>
            </a:r>
          </a:p>
          <a:p>
            <a:pPr lvl="1"/>
            <a:r>
              <a:rPr lang="en-US" dirty="0"/>
              <a:t>LLOC- Logical line of code (for logical statement counting)</a:t>
            </a:r>
          </a:p>
          <a:p>
            <a:pPr lvl="1"/>
            <a:r>
              <a:rPr lang="en-US" dirty="0"/>
              <a:t>Comment Line</a:t>
            </a:r>
          </a:p>
          <a:p>
            <a:pPr lvl="1"/>
            <a:r>
              <a:rPr lang="en-US" dirty="0"/>
              <a:t>KLOC-lines of code including comments</a:t>
            </a:r>
          </a:p>
          <a:p>
            <a:endParaRPr lang="en-IN" dirty="0"/>
          </a:p>
        </p:txBody>
      </p:sp>
    </p:spTree>
    <p:extLst>
      <p:ext uri="{BB962C8B-B14F-4D97-AF65-F5344CB8AC3E}">
        <p14:creationId xmlns:p14="http://schemas.microsoft.com/office/powerpoint/2010/main" val="12005596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idx="4294967295"/>
          </p:nvPr>
        </p:nvSpPr>
        <p:spPr>
          <a:xfrm>
            <a:off x="2133600" y="287338"/>
            <a:ext cx="10058400" cy="1449387"/>
          </a:xfrm>
        </p:spPr>
        <p:txBody>
          <a:bodyPr/>
          <a:lstStyle/>
          <a:p>
            <a:r>
              <a:rPr lang="en-US"/>
              <a:t>Example</a:t>
            </a:r>
            <a:endParaRPr lang="en-IN"/>
          </a:p>
        </p:txBody>
      </p:sp>
      <p:sp>
        <p:nvSpPr>
          <p:cNvPr id="3" name="Content Placeholder 2"/>
          <p:cNvSpPr>
            <a:spLocks noGrp="1"/>
          </p:cNvSpPr>
          <p:nvPr>
            <p:ph sz="quarter" idx="4294967295"/>
          </p:nvPr>
        </p:nvSpPr>
        <p:spPr>
          <a:xfrm>
            <a:off x="2133600" y="1846263"/>
            <a:ext cx="10058400" cy="4022725"/>
          </a:xfrm>
        </p:spPr>
        <p:txBody>
          <a:bodyPr>
            <a:normAutofit/>
          </a:bodyPr>
          <a:lstStyle/>
          <a:p>
            <a:pPr marL="0" indent="0">
              <a:spcBef>
                <a:spcPts val="580"/>
              </a:spcBef>
              <a:spcAft>
                <a:spcPts val="0"/>
              </a:spcAft>
              <a:buNone/>
              <a:defRPr/>
            </a:pPr>
            <a:r>
              <a:rPr lang="en-US" dirty="0"/>
              <a:t>/* Now how many lines of code is this? */ </a:t>
            </a:r>
          </a:p>
          <a:p>
            <a:pPr marL="0" indent="0">
              <a:spcBef>
                <a:spcPts val="580"/>
              </a:spcBef>
              <a:spcAft>
                <a:spcPts val="0"/>
              </a:spcAft>
              <a:buNone/>
              <a:defRPr/>
            </a:pPr>
            <a:r>
              <a:rPr lang="en-US" dirty="0"/>
              <a:t>for (i = 0; i &lt; 100; i++) </a:t>
            </a:r>
          </a:p>
          <a:p>
            <a:pPr marL="0" indent="0">
              <a:spcBef>
                <a:spcPts val="580"/>
              </a:spcBef>
              <a:spcAft>
                <a:spcPts val="0"/>
              </a:spcAft>
              <a:buNone/>
              <a:defRPr/>
            </a:pPr>
            <a:r>
              <a:rPr lang="en-US" dirty="0"/>
              <a:t>{ </a:t>
            </a:r>
          </a:p>
          <a:p>
            <a:pPr marL="320040" lvl="1" indent="0">
              <a:spcBef>
                <a:spcPts val="370"/>
              </a:spcBef>
              <a:spcAft>
                <a:spcPts val="0"/>
              </a:spcAft>
              <a:buNone/>
              <a:defRPr/>
            </a:pPr>
            <a:r>
              <a:rPr lang="en-US" dirty="0"/>
              <a:t>   </a:t>
            </a:r>
            <a:r>
              <a:rPr lang="en-US" dirty="0" err="1"/>
              <a:t>printf</a:t>
            </a:r>
            <a:r>
              <a:rPr lang="en-US" dirty="0"/>
              <a:t>("hello"); </a:t>
            </a:r>
          </a:p>
          <a:p>
            <a:pPr marL="320040" lvl="1" indent="0">
              <a:spcBef>
                <a:spcPts val="370"/>
              </a:spcBef>
              <a:spcAft>
                <a:spcPts val="0"/>
              </a:spcAft>
              <a:buNone/>
              <a:defRPr/>
            </a:pPr>
            <a:r>
              <a:rPr lang="en-US" dirty="0"/>
              <a:t>}</a:t>
            </a:r>
            <a:endParaRPr lang="en-IN" dirty="0"/>
          </a:p>
          <a:p>
            <a:pPr marL="319088" lvl="1" indent="-319088">
              <a:spcBef>
                <a:spcPts val="370"/>
              </a:spcBef>
              <a:spcAft>
                <a:spcPts val="0"/>
              </a:spcAft>
              <a:buNone/>
              <a:defRPr/>
            </a:pPr>
            <a:r>
              <a:rPr lang="en-US" dirty="0"/>
              <a:t>Compute LOC:</a:t>
            </a:r>
          </a:p>
          <a:p>
            <a:pPr marL="0" lvl="1" indent="0">
              <a:spcBef>
                <a:spcPts val="370"/>
              </a:spcBef>
              <a:spcAft>
                <a:spcPts val="0"/>
              </a:spcAft>
              <a:buNone/>
              <a:defRPr/>
            </a:pPr>
            <a:r>
              <a:rPr lang="en-US" dirty="0"/>
              <a:t>LOC=4</a:t>
            </a:r>
          </a:p>
          <a:p>
            <a:pPr marL="0" lvl="1" indent="0">
              <a:spcBef>
                <a:spcPts val="370"/>
              </a:spcBef>
              <a:spcAft>
                <a:spcPts val="0"/>
              </a:spcAft>
              <a:buNone/>
              <a:defRPr/>
            </a:pPr>
            <a:r>
              <a:rPr lang="en-US" dirty="0"/>
              <a:t>LLOC=2</a:t>
            </a:r>
          </a:p>
          <a:p>
            <a:pPr marL="0" lvl="1" indent="0">
              <a:spcBef>
                <a:spcPts val="370"/>
              </a:spcBef>
              <a:spcAft>
                <a:spcPts val="0"/>
              </a:spcAft>
              <a:buNone/>
              <a:defRPr/>
            </a:pPr>
            <a:r>
              <a:rPr lang="en-US" dirty="0"/>
              <a:t>Comment=1</a:t>
            </a:r>
          </a:p>
          <a:p>
            <a:pPr marL="0" lvl="1" indent="0">
              <a:spcBef>
                <a:spcPts val="370"/>
              </a:spcBef>
              <a:spcAft>
                <a:spcPts val="0"/>
              </a:spcAft>
              <a:buNone/>
              <a:defRPr/>
            </a:pPr>
            <a:r>
              <a:rPr lang="en-US" dirty="0"/>
              <a:t>KLOC=5</a:t>
            </a:r>
          </a:p>
          <a:p>
            <a:pPr marL="0" lvl="1" indent="0">
              <a:spcBef>
                <a:spcPts val="370"/>
              </a:spcBef>
              <a:spcAft>
                <a:spcPts val="0"/>
              </a:spcAft>
              <a:buNone/>
              <a:defRPr/>
            </a:pPr>
            <a:endParaRPr lang="en-US" dirty="0"/>
          </a:p>
        </p:txBody>
      </p:sp>
    </p:spTree>
    <p:extLst>
      <p:ext uri="{BB962C8B-B14F-4D97-AF65-F5344CB8AC3E}">
        <p14:creationId xmlns:p14="http://schemas.microsoft.com/office/powerpoint/2010/main" val="36312993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Content Placeholder 2"/>
          <p:cNvSpPr>
            <a:spLocks noGrp="1"/>
          </p:cNvSpPr>
          <p:nvPr>
            <p:ph sz="quarter" idx="4294967295"/>
          </p:nvPr>
        </p:nvSpPr>
        <p:spPr>
          <a:xfrm>
            <a:off x="2133600" y="1846263"/>
            <a:ext cx="10058400" cy="4022725"/>
          </a:xfrm>
        </p:spPr>
        <p:txBody>
          <a:bodyPr/>
          <a:lstStyle/>
          <a:p>
            <a:pPr marL="0" indent="0">
              <a:buNone/>
            </a:pPr>
            <a:r>
              <a:rPr lang="en-US"/>
              <a:t>for (i = 0; i &lt; 100; i++) printf("hello"); /* How many lines of code is this? */</a:t>
            </a:r>
          </a:p>
          <a:p>
            <a:pPr marL="0" indent="0">
              <a:buNone/>
            </a:pPr>
            <a:r>
              <a:rPr lang="en-US"/>
              <a:t>Compute LOC:</a:t>
            </a:r>
          </a:p>
          <a:p>
            <a:pPr marL="0" indent="0">
              <a:buNone/>
            </a:pPr>
            <a:endParaRPr lang="en-IN"/>
          </a:p>
        </p:txBody>
      </p:sp>
    </p:spTree>
    <p:extLst>
      <p:ext uri="{BB962C8B-B14F-4D97-AF65-F5344CB8AC3E}">
        <p14:creationId xmlns:p14="http://schemas.microsoft.com/office/powerpoint/2010/main" val="15550189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lstStyle/>
          <a:p>
            <a:r>
              <a:rPr lang="en-US" dirty="0"/>
              <a:t>Other Metrics based on LOC</a:t>
            </a:r>
            <a:endParaRPr lang="en-IN" dirty="0"/>
          </a:p>
        </p:txBody>
      </p:sp>
      <p:sp>
        <p:nvSpPr>
          <p:cNvPr id="3" name="Content Placeholder 2"/>
          <p:cNvSpPr>
            <a:spLocks noGrp="1"/>
          </p:cNvSpPr>
          <p:nvPr>
            <p:ph sz="quarter" idx="4294967295"/>
          </p:nvPr>
        </p:nvSpPr>
        <p:spPr>
          <a:xfrm>
            <a:off x="2133600" y="1846263"/>
            <a:ext cx="10058400" cy="4022725"/>
          </a:xfrm>
        </p:spPr>
        <p:txBody>
          <a:bodyPr/>
          <a:lstStyle/>
          <a:p>
            <a:r>
              <a:rPr lang="en-IN" dirty="0"/>
              <a:t>    Errors/KLOC.</a:t>
            </a:r>
          </a:p>
          <a:p>
            <a:r>
              <a:rPr lang="en-IN" dirty="0"/>
              <a:t>    $/ KLOC.</a:t>
            </a:r>
          </a:p>
          <a:p>
            <a:r>
              <a:rPr lang="en-IN" dirty="0"/>
              <a:t>    Defects/KLOC.</a:t>
            </a:r>
          </a:p>
          <a:p>
            <a:r>
              <a:rPr lang="en-IN" dirty="0"/>
              <a:t>    Pages of documentation/KLOC.</a:t>
            </a:r>
          </a:p>
          <a:p>
            <a:r>
              <a:rPr lang="en-IN" dirty="0"/>
              <a:t>    Errors/PM.</a:t>
            </a:r>
          </a:p>
          <a:p>
            <a:r>
              <a:rPr lang="en-IN" dirty="0"/>
              <a:t>    Productivity = KLOC/PM (effort is measured in person-months).</a:t>
            </a:r>
          </a:p>
          <a:p>
            <a:r>
              <a:rPr lang="en-IN" dirty="0"/>
              <a:t>    $/ Page of documentation.</a:t>
            </a:r>
          </a:p>
          <a:p>
            <a:endParaRPr lang="en-IN" dirty="0"/>
          </a:p>
        </p:txBody>
      </p:sp>
    </p:spTree>
    <p:extLst>
      <p:ext uri="{BB962C8B-B14F-4D97-AF65-F5344CB8AC3E}">
        <p14:creationId xmlns:p14="http://schemas.microsoft.com/office/powerpoint/2010/main" val="13057054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lstStyle/>
          <a:p>
            <a:r>
              <a:rPr lang="en-IN" b="1" dirty="0"/>
              <a:t>Function Point Analysis </a:t>
            </a:r>
            <a:endParaRPr lang="en-IN" dirty="0"/>
          </a:p>
        </p:txBody>
      </p:sp>
      <p:sp>
        <p:nvSpPr>
          <p:cNvPr id="3" name="Content Placeholder 2"/>
          <p:cNvSpPr>
            <a:spLocks noGrp="1"/>
          </p:cNvSpPr>
          <p:nvPr>
            <p:ph sz="quarter" idx="4294967295"/>
          </p:nvPr>
        </p:nvSpPr>
        <p:spPr>
          <a:xfrm>
            <a:off x="2133600" y="1846263"/>
            <a:ext cx="10058400" cy="4022725"/>
          </a:xfrm>
        </p:spPr>
        <p:txBody>
          <a:bodyPr>
            <a:normAutofit/>
          </a:bodyPr>
          <a:lstStyle/>
          <a:p>
            <a:pPr algn="just"/>
            <a:r>
              <a:rPr lang="en-US" sz="2500" dirty="0">
                <a:latin typeface="Times New Roman" pitchFamily="18" charset="0"/>
                <a:cs typeface="Times New Roman" pitchFamily="18" charset="0"/>
              </a:rPr>
              <a:t>In this method, the number and type of functions supported by the software are utilized to find FPC(function point count). </a:t>
            </a:r>
          </a:p>
          <a:p>
            <a:pPr marL="0" indent="0" algn="just">
              <a:buNone/>
            </a:pPr>
            <a:endParaRPr lang="en-US" sz="2500" dirty="0">
              <a:latin typeface="Times New Roman" pitchFamily="18" charset="0"/>
              <a:cs typeface="Times New Roman" pitchFamily="18" charset="0"/>
            </a:endParaRPr>
          </a:p>
          <a:p>
            <a:pPr algn="just"/>
            <a:r>
              <a:rPr lang="en-US" sz="2500" dirty="0">
                <a:latin typeface="Times New Roman" pitchFamily="18" charset="0"/>
                <a:cs typeface="Times New Roman" pitchFamily="18" charset="0"/>
              </a:rPr>
              <a:t>The steps in function point analysis are:</a:t>
            </a:r>
          </a:p>
          <a:p>
            <a:pPr lvl="1" algn="just"/>
            <a:r>
              <a:rPr lang="en-US" sz="2500" dirty="0">
                <a:latin typeface="Times New Roman" pitchFamily="18" charset="0"/>
                <a:cs typeface="Times New Roman" pitchFamily="18" charset="0"/>
              </a:rPr>
              <a:t>Count the number of functions of each proposed type.</a:t>
            </a:r>
          </a:p>
          <a:p>
            <a:pPr lvl="1" algn="just"/>
            <a:r>
              <a:rPr lang="en-US" sz="2500" dirty="0">
                <a:latin typeface="Times New Roman" pitchFamily="18" charset="0"/>
                <a:cs typeface="Times New Roman" pitchFamily="18" charset="0"/>
              </a:rPr>
              <a:t>Compute the Unadjusted Function Points(UFP).</a:t>
            </a:r>
          </a:p>
          <a:p>
            <a:pPr lvl="1" algn="just"/>
            <a:r>
              <a:rPr lang="en-US" sz="2500" dirty="0">
                <a:latin typeface="Times New Roman" pitchFamily="18" charset="0"/>
                <a:cs typeface="Times New Roman" pitchFamily="18" charset="0"/>
              </a:rPr>
              <a:t>Find Total Degree of Influence(TDI).</a:t>
            </a:r>
          </a:p>
          <a:p>
            <a:pPr lvl="1" algn="just"/>
            <a:r>
              <a:rPr lang="en-US" sz="2500" dirty="0">
                <a:latin typeface="Times New Roman" pitchFamily="18" charset="0"/>
                <a:cs typeface="Times New Roman" pitchFamily="18" charset="0"/>
              </a:rPr>
              <a:t>Compute Complexity Adjustment Factor(CAF).</a:t>
            </a:r>
          </a:p>
          <a:p>
            <a:pPr lvl="1" algn="just"/>
            <a:r>
              <a:rPr lang="en-US" sz="2500" dirty="0">
                <a:latin typeface="Times New Roman" pitchFamily="18" charset="0"/>
                <a:cs typeface="Times New Roman" pitchFamily="18" charset="0"/>
              </a:rPr>
              <a:t>Find the Function Point Count(FPC).</a:t>
            </a:r>
          </a:p>
        </p:txBody>
      </p:sp>
    </p:spTree>
    <p:extLst>
      <p:ext uri="{BB962C8B-B14F-4D97-AF65-F5344CB8AC3E}">
        <p14:creationId xmlns:p14="http://schemas.microsoft.com/office/powerpoint/2010/main" val="2518829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Functional Point (FP) Analysi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1504" y="188640"/>
            <a:ext cx="8784976" cy="64807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31054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https://sites.google.com/site/prattshomepge/_/rsrc/1274443513054/home/estimation-overview/funation-point-analysis/terms-used-in-fp/imag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741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91485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normAutofit/>
          </a:bodyPr>
          <a:lstStyle/>
          <a:p>
            <a:r>
              <a:rPr lang="en-US" b="1" dirty="0"/>
              <a:t>Extended Function Point (EFP) Metrics</a:t>
            </a:r>
            <a:endParaRPr lang="en-IN" dirty="0"/>
          </a:p>
        </p:txBody>
      </p:sp>
      <p:sp>
        <p:nvSpPr>
          <p:cNvPr id="3" name="Content Placeholder 2"/>
          <p:cNvSpPr>
            <a:spLocks noGrp="1"/>
          </p:cNvSpPr>
          <p:nvPr>
            <p:ph sz="quarter" idx="4294967295"/>
          </p:nvPr>
        </p:nvSpPr>
        <p:spPr>
          <a:xfrm>
            <a:off x="2133600" y="1846263"/>
            <a:ext cx="10058400" cy="4022725"/>
          </a:xfrm>
        </p:spPr>
        <p:txBody>
          <a:bodyPr/>
          <a:lstStyle/>
          <a:p>
            <a:r>
              <a:rPr lang="en-US" dirty="0"/>
              <a:t>FP metric has been further extended to compute: </a:t>
            </a:r>
          </a:p>
          <a:p>
            <a:pPr lvl="1"/>
            <a:r>
              <a:rPr lang="en-US" dirty="0"/>
              <a:t>Feature points. </a:t>
            </a:r>
          </a:p>
          <a:p>
            <a:pPr lvl="1"/>
            <a:r>
              <a:rPr lang="en-US" dirty="0"/>
              <a:t>3D function points.</a:t>
            </a:r>
          </a:p>
          <a:p>
            <a:endParaRPr lang="en-IN" dirty="0"/>
          </a:p>
        </p:txBody>
      </p:sp>
    </p:spTree>
    <p:extLst>
      <p:ext uri="{BB962C8B-B14F-4D97-AF65-F5344CB8AC3E}">
        <p14:creationId xmlns:p14="http://schemas.microsoft.com/office/powerpoint/2010/main" val="65569622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normAutofit/>
          </a:bodyPr>
          <a:lstStyle/>
          <a:p>
            <a:pPr lvl="1" algn="l" rtl="0">
              <a:spcBef>
                <a:spcPct val="0"/>
              </a:spcBef>
            </a:pPr>
            <a:r>
              <a:rPr lang="en-US" sz="4000" dirty="0">
                <a:latin typeface="Times New Roman" pitchFamily="18" charset="0"/>
                <a:cs typeface="Times New Roman" pitchFamily="18" charset="0"/>
              </a:rPr>
              <a:t>Feature points</a:t>
            </a:r>
            <a:endParaRPr lang="en-IN" sz="4000" dirty="0">
              <a:latin typeface="Times New Roman" pitchFamily="18" charset="0"/>
              <a:cs typeface="Times New Roman" pitchFamily="18" charset="0"/>
            </a:endParaRPr>
          </a:p>
        </p:txBody>
      </p:sp>
      <p:sp>
        <p:nvSpPr>
          <p:cNvPr id="3" name="Content Placeholder 2"/>
          <p:cNvSpPr>
            <a:spLocks noGrp="1"/>
          </p:cNvSpPr>
          <p:nvPr>
            <p:ph sz="quarter" idx="4294967295"/>
          </p:nvPr>
        </p:nvSpPr>
        <p:spPr>
          <a:xfrm>
            <a:off x="2133600" y="1846263"/>
            <a:ext cx="10058400" cy="4022725"/>
          </a:xfrm>
        </p:spPr>
        <p:txBody>
          <a:bodyPr>
            <a:normAutofit/>
          </a:bodyPr>
          <a:lstStyle/>
          <a:p>
            <a:pPr algn="just"/>
            <a:r>
              <a:rPr lang="en-US" sz="2200" dirty="0">
                <a:latin typeface="Times New Roman" pitchFamily="18" charset="0"/>
                <a:cs typeface="Times New Roman" pitchFamily="18" charset="0"/>
              </a:rPr>
              <a:t>Feature point is the superset of function point measure that can be applied to systems and engineering software applications.</a:t>
            </a:r>
          </a:p>
          <a:p>
            <a:pPr algn="just"/>
            <a:r>
              <a:rPr lang="en-US" sz="2200" dirty="0">
                <a:latin typeface="Times New Roman" pitchFamily="18" charset="0"/>
                <a:cs typeface="Times New Roman" pitchFamily="18" charset="0"/>
              </a:rPr>
              <a:t>The feature points are used in those applications in which the algorithmic complexity is high like real-time systems where time constraints are there, embedded systems, etc.</a:t>
            </a:r>
          </a:p>
          <a:p>
            <a:pPr algn="just"/>
            <a:r>
              <a:rPr lang="en-US" sz="2200" dirty="0">
                <a:latin typeface="Times New Roman" pitchFamily="18" charset="0"/>
                <a:cs typeface="Times New Roman" pitchFamily="18" charset="0"/>
              </a:rPr>
              <a:t>Feature points are computed by counting the information domain values and are weighed by only single weight.</a:t>
            </a:r>
          </a:p>
          <a:p>
            <a:pPr algn="just"/>
            <a:r>
              <a:rPr lang="en-US" sz="2200" dirty="0">
                <a:latin typeface="Times New Roman" pitchFamily="18" charset="0"/>
                <a:cs typeface="Times New Roman" pitchFamily="18" charset="0"/>
              </a:rPr>
              <a:t>Feature point includes another measurement parameter-ALGORITHM</a:t>
            </a:r>
          </a:p>
          <a:p>
            <a:pPr algn="just"/>
            <a:r>
              <a:rPr lang="en-US" sz="2200" dirty="0">
                <a:latin typeface="Times New Roman" pitchFamily="18" charset="0"/>
                <a:cs typeface="Times New Roman" pitchFamily="18" charset="0"/>
              </a:rPr>
              <a:t>Function point and feature point both represent systems functionality only. </a:t>
            </a:r>
          </a:p>
          <a:p>
            <a:pPr algn="just"/>
            <a:r>
              <a:rPr lang="en-US" sz="2400" dirty="0"/>
              <a:t>feature point = UAF  x  CAF + {12 x 15  x CAF} </a:t>
            </a:r>
            <a:endParaRPr lang="en-IN" sz="2200" dirty="0">
              <a:latin typeface="Times New Roman" pitchFamily="18" charset="0"/>
              <a:cs typeface="Times New Roman" pitchFamily="18" charset="0"/>
            </a:endParaRPr>
          </a:p>
        </p:txBody>
      </p:sp>
    </p:spTree>
    <p:extLst>
      <p:ext uri="{BB962C8B-B14F-4D97-AF65-F5344CB8AC3E}">
        <p14:creationId xmlns:p14="http://schemas.microsoft.com/office/powerpoint/2010/main" val="13264750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lstStyle/>
          <a:p>
            <a:r>
              <a:rPr lang="en-US" dirty="0"/>
              <a:t>3D Function Points</a:t>
            </a:r>
            <a:endParaRPr lang="en-IN" dirty="0"/>
          </a:p>
        </p:txBody>
      </p:sp>
      <p:sp>
        <p:nvSpPr>
          <p:cNvPr id="3" name="Content Placeholder 2"/>
          <p:cNvSpPr>
            <a:spLocks noGrp="1"/>
          </p:cNvSpPr>
          <p:nvPr>
            <p:ph sz="quarter" idx="4294967295"/>
          </p:nvPr>
        </p:nvSpPr>
        <p:spPr>
          <a:xfrm>
            <a:off x="2133600" y="1846263"/>
            <a:ext cx="10058400" cy="4022725"/>
          </a:xfrm>
        </p:spPr>
        <p:txBody>
          <a:bodyPr>
            <a:noAutofit/>
          </a:bodyPr>
          <a:lstStyle/>
          <a:p>
            <a:pPr algn="just"/>
            <a:r>
              <a:rPr lang="en-US" sz="2300" dirty="0">
                <a:latin typeface="Times New Roman" pitchFamily="18" charset="0"/>
                <a:cs typeface="Times New Roman" pitchFamily="18" charset="0"/>
              </a:rPr>
              <a:t>Three dimensions is used to represent 3D function points: </a:t>
            </a:r>
          </a:p>
          <a:p>
            <a:pPr lvl="1" algn="just"/>
            <a:r>
              <a:rPr lang="en-US" sz="2100" dirty="0">
                <a:latin typeface="Times New Roman" pitchFamily="18" charset="0"/>
                <a:cs typeface="Times New Roman" pitchFamily="18" charset="0"/>
              </a:rPr>
              <a:t>Data dimension, Functional dimension, and Control dimension.</a:t>
            </a:r>
          </a:p>
          <a:p>
            <a:pPr algn="just"/>
            <a:r>
              <a:rPr lang="en-US" sz="2300" dirty="0">
                <a:latin typeface="Times New Roman" pitchFamily="18" charset="0"/>
                <a:cs typeface="Times New Roman" pitchFamily="18" charset="0"/>
              </a:rPr>
              <a:t>The </a:t>
            </a:r>
            <a:r>
              <a:rPr lang="en-US" sz="2300" b="1" dirty="0">
                <a:latin typeface="Times New Roman" pitchFamily="18" charset="0"/>
                <a:cs typeface="Times New Roman" pitchFamily="18" charset="0"/>
              </a:rPr>
              <a:t>data dimension </a:t>
            </a:r>
            <a:r>
              <a:rPr lang="en-US" sz="2300" dirty="0">
                <a:latin typeface="Times New Roman" pitchFamily="18" charset="0"/>
                <a:cs typeface="Times New Roman" pitchFamily="18" charset="0"/>
              </a:rPr>
              <a:t>is evaluated as FPs are calculated. Herein, counts are made for inputs, outputs, inquiries, external interfaces, and files.</a:t>
            </a:r>
          </a:p>
          <a:p>
            <a:pPr algn="just"/>
            <a:r>
              <a:rPr lang="en-US" sz="2300" dirty="0">
                <a:latin typeface="Times New Roman" pitchFamily="18" charset="0"/>
                <a:cs typeface="Times New Roman" pitchFamily="18" charset="0"/>
              </a:rPr>
              <a:t>The </a:t>
            </a:r>
            <a:r>
              <a:rPr lang="en-US" sz="2300" b="1" dirty="0">
                <a:latin typeface="Times New Roman" pitchFamily="18" charset="0"/>
                <a:cs typeface="Times New Roman" pitchFamily="18" charset="0"/>
              </a:rPr>
              <a:t>functional dimension </a:t>
            </a:r>
            <a:r>
              <a:rPr lang="en-US" sz="2300" dirty="0">
                <a:latin typeface="Times New Roman" pitchFamily="18" charset="0"/>
                <a:cs typeface="Times New Roman" pitchFamily="18" charset="0"/>
              </a:rPr>
              <a:t>adds another feature-Transformation, that is, the sequence of steps which transforms input to output.</a:t>
            </a:r>
          </a:p>
          <a:p>
            <a:pPr algn="just"/>
            <a:r>
              <a:rPr lang="en-US" sz="2300" dirty="0">
                <a:latin typeface="Times New Roman" pitchFamily="18" charset="0"/>
                <a:cs typeface="Times New Roman" pitchFamily="18" charset="0"/>
              </a:rPr>
              <a:t>The </a:t>
            </a:r>
            <a:r>
              <a:rPr lang="en-US" sz="2300" b="1" dirty="0">
                <a:latin typeface="Times New Roman" pitchFamily="18" charset="0"/>
                <a:cs typeface="Times New Roman" pitchFamily="18" charset="0"/>
              </a:rPr>
              <a:t>control dimension </a:t>
            </a:r>
            <a:r>
              <a:rPr lang="en-US" sz="2300" dirty="0">
                <a:latin typeface="Times New Roman" pitchFamily="18" charset="0"/>
                <a:cs typeface="Times New Roman" pitchFamily="18" charset="0"/>
              </a:rPr>
              <a:t>that adds another feature-Transition that is defined as the total number of transitions between states. A state represents some externally observable mode.</a:t>
            </a:r>
            <a:endParaRPr lang="en-IN" sz="2300" dirty="0">
              <a:latin typeface="Times New Roman" pitchFamily="18" charset="0"/>
              <a:cs typeface="Times New Roman" pitchFamily="18" charset="0"/>
            </a:endParaRPr>
          </a:p>
        </p:txBody>
      </p:sp>
    </p:spTree>
    <p:extLst>
      <p:ext uri="{BB962C8B-B14F-4D97-AF65-F5344CB8AC3E}">
        <p14:creationId xmlns:p14="http://schemas.microsoft.com/office/powerpoint/2010/main" val="19879999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2133600" y="1846263"/>
            <a:ext cx="10058400" cy="4022725"/>
          </a:xfrm>
        </p:spPr>
        <p:txBody>
          <a:bodyPr>
            <a:normAutofit/>
          </a:bodyPr>
          <a:lstStyle/>
          <a:p>
            <a:pPr marL="0" indent="0">
              <a:buNone/>
            </a:pPr>
            <a:r>
              <a:rPr lang="en-US" b="1" dirty="0"/>
              <a:t>Compute the 3D-function point value for an embedded system with the</a:t>
            </a:r>
            <a:br>
              <a:rPr lang="en-US" b="1" dirty="0"/>
            </a:br>
            <a:r>
              <a:rPr lang="en-US" b="1" dirty="0"/>
              <a:t>following characteristics:</a:t>
            </a:r>
            <a:br>
              <a:rPr lang="en-US" b="1" dirty="0"/>
            </a:br>
            <a:r>
              <a:rPr lang="en-US" b="1" dirty="0"/>
              <a:t>(1) Internal data structures = 6</a:t>
            </a:r>
            <a:br>
              <a:rPr lang="en-US" b="1" dirty="0"/>
            </a:br>
            <a:r>
              <a:rPr lang="en-US" b="1" dirty="0"/>
              <a:t>(2) External data structures = 3</a:t>
            </a:r>
            <a:br>
              <a:rPr lang="en-US" b="1" dirty="0"/>
            </a:br>
            <a:r>
              <a:rPr lang="en-US" b="1" dirty="0"/>
              <a:t>(3) No. of user inputs = 12</a:t>
            </a:r>
            <a:br>
              <a:rPr lang="en-US" b="1" dirty="0"/>
            </a:br>
            <a:r>
              <a:rPr lang="en-US" b="1" dirty="0"/>
              <a:t>(4) No. of user outputs = 60</a:t>
            </a:r>
            <a:br>
              <a:rPr lang="en-US" b="1" dirty="0"/>
            </a:br>
            <a:r>
              <a:rPr lang="en-US" b="1" dirty="0"/>
              <a:t>(5) No. of user inquiries = 9</a:t>
            </a:r>
            <a:br>
              <a:rPr lang="en-US" b="1" dirty="0"/>
            </a:br>
            <a:r>
              <a:rPr lang="en-US" b="1" dirty="0"/>
              <a:t>(6) No. of external interfaces = 3</a:t>
            </a:r>
            <a:br>
              <a:rPr lang="en-US" b="1" dirty="0"/>
            </a:br>
            <a:r>
              <a:rPr lang="en-US" b="1" dirty="0"/>
              <a:t>(7) Transformations = 36</a:t>
            </a:r>
            <a:br>
              <a:rPr lang="en-US" b="1" dirty="0"/>
            </a:br>
            <a:r>
              <a:rPr lang="en-US" b="1" dirty="0"/>
              <a:t>(8) Transitions = 24</a:t>
            </a:r>
            <a:br>
              <a:rPr lang="en-US" b="1" dirty="0"/>
            </a:br>
            <a:r>
              <a:rPr lang="en-US" b="1" dirty="0"/>
              <a:t>Assume complexity of the above counts is high.</a:t>
            </a:r>
            <a:r>
              <a:rPr lang="en-US" dirty="0"/>
              <a:t> </a:t>
            </a:r>
            <a:br>
              <a:rPr lang="en-US" dirty="0"/>
            </a:br>
            <a:endParaRPr lang="en-IN" dirty="0"/>
          </a:p>
        </p:txBody>
      </p:sp>
    </p:spTree>
    <p:extLst>
      <p:ext uri="{BB962C8B-B14F-4D97-AF65-F5344CB8AC3E}">
        <p14:creationId xmlns:p14="http://schemas.microsoft.com/office/powerpoint/2010/main" val="30730624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440" y="188640"/>
            <a:ext cx="9120561" cy="6408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4871864" y="188640"/>
            <a:ext cx="2448272" cy="504056"/>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IN"/>
          </a:p>
        </p:txBody>
      </p:sp>
    </p:spTree>
    <p:extLst>
      <p:ext uri="{BB962C8B-B14F-4D97-AF65-F5344CB8AC3E}">
        <p14:creationId xmlns:p14="http://schemas.microsoft.com/office/powerpoint/2010/main" val="37975711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4294967295"/>
          </p:nvPr>
        </p:nvSpPr>
        <p:spPr>
          <a:xfrm>
            <a:off x="0" y="1830388"/>
            <a:ext cx="9486900" cy="5399087"/>
          </a:xfrm>
        </p:spPr>
        <p:txBody>
          <a:bodyPr/>
          <a:lstStyle/>
          <a:p>
            <a:pPr algn="just"/>
            <a:r>
              <a:rPr lang="en-US" b="1" dirty="0">
                <a:latin typeface="Times New Roman" pitchFamily="18" charset="0"/>
                <a:cs typeface="Times New Roman" pitchFamily="18" charset="0"/>
              </a:rPr>
              <a:t>Advantages:</a:t>
            </a:r>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It can be easily used in the early stages of project planning.</a:t>
            </a:r>
          </a:p>
          <a:p>
            <a:pPr algn="just"/>
            <a:r>
              <a:rPr lang="en-US" dirty="0">
                <a:latin typeface="Times New Roman" pitchFamily="18" charset="0"/>
                <a:cs typeface="Times New Roman" pitchFamily="18" charset="0"/>
              </a:rPr>
              <a:t>It is independent on the programming language.</a:t>
            </a:r>
          </a:p>
          <a:p>
            <a:pPr algn="just"/>
            <a:r>
              <a:rPr lang="en-US" dirty="0">
                <a:latin typeface="Times New Roman" pitchFamily="18" charset="0"/>
                <a:cs typeface="Times New Roman" pitchFamily="18" charset="0"/>
              </a:rPr>
              <a:t>It can be used to compare different projects even if they use different technologies(database, language </a:t>
            </a:r>
            <a:r>
              <a:rPr lang="en-US" dirty="0" err="1">
                <a:latin typeface="Times New Roman" pitchFamily="18" charset="0"/>
                <a:cs typeface="Times New Roman" pitchFamily="18" charset="0"/>
              </a:rPr>
              <a:t>etc</a:t>
            </a:r>
            <a:r>
              <a:rPr lang="en-US" dirty="0">
                <a:latin typeface="Times New Roman" pitchFamily="18" charset="0"/>
                <a:cs typeface="Times New Roman" pitchFamily="18" charset="0"/>
              </a:rPr>
              <a:t>).</a:t>
            </a:r>
          </a:p>
          <a:p>
            <a:pPr algn="just"/>
            <a:r>
              <a:rPr lang="en-US" b="1" dirty="0">
                <a:latin typeface="Times New Roman" pitchFamily="18" charset="0"/>
                <a:cs typeface="Times New Roman" pitchFamily="18" charset="0"/>
              </a:rPr>
              <a:t>Disadvantages:</a:t>
            </a:r>
            <a:endParaRPr lang="en-US" dirty="0">
              <a:latin typeface="Times New Roman" pitchFamily="18" charset="0"/>
              <a:cs typeface="Times New Roman" pitchFamily="18" charset="0"/>
            </a:endParaRPr>
          </a:p>
          <a:p>
            <a:pPr algn="just"/>
            <a:r>
              <a:rPr lang="en-US" dirty="0">
                <a:latin typeface="Times New Roman" pitchFamily="18" charset="0"/>
                <a:cs typeface="Times New Roman" pitchFamily="18" charset="0"/>
              </a:rPr>
              <a:t>It is not good for real time systems and embedded systems.</a:t>
            </a:r>
          </a:p>
          <a:p>
            <a:pPr algn="just"/>
            <a:r>
              <a:rPr lang="en-US" dirty="0">
                <a:latin typeface="Times New Roman" pitchFamily="18" charset="0"/>
                <a:cs typeface="Times New Roman" pitchFamily="18" charset="0"/>
              </a:rPr>
              <a:t>Many cost estimation models like COCOMO uses LOC and hence FPC must be converted to LOC.</a:t>
            </a:r>
          </a:p>
          <a:p>
            <a:pPr algn="just"/>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10721480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lstStyle/>
          <a:p>
            <a:r>
              <a:rPr lang="en-US" dirty="0"/>
              <a:t>Object Oriented Metrics</a:t>
            </a:r>
            <a:endParaRPr lang="en-IN" dirty="0"/>
          </a:p>
        </p:txBody>
      </p:sp>
      <p:sp>
        <p:nvSpPr>
          <p:cNvPr id="3" name="Content Placeholder 2"/>
          <p:cNvSpPr>
            <a:spLocks noGrp="1"/>
          </p:cNvSpPr>
          <p:nvPr>
            <p:ph sz="quarter" idx="4294967295"/>
          </p:nvPr>
        </p:nvSpPr>
        <p:spPr>
          <a:xfrm>
            <a:off x="2133600" y="1846263"/>
            <a:ext cx="10058400" cy="4022725"/>
          </a:xfrm>
        </p:spPr>
        <p:txBody>
          <a:bodyPr/>
          <a:lstStyle/>
          <a:p>
            <a:pPr algn="just"/>
            <a:r>
              <a:rPr lang="en-US" dirty="0">
                <a:latin typeface="Times New Roman" pitchFamily="18" charset="0"/>
                <a:cs typeface="Times New Roman" pitchFamily="18" charset="0"/>
              </a:rPr>
              <a:t>Conventional Software project metrics LOC or FP can be used to estimate the object oriented software projects.</a:t>
            </a:r>
          </a:p>
          <a:p>
            <a:pPr algn="just"/>
            <a:r>
              <a:rPr lang="en-US" dirty="0">
                <a:latin typeface="Times New Roman" pitchFamily="18" charset="0"/>
                <a:cs typeface="Times New Roman" pitchFamily="18" charset="0"/>
              </a:rPr>
              <a:t>Lorenz and Kidd [1994] suggest the following set of metrics for OO projects.</a:t>
            </a:r>
          </a:p>
          <a:p>
            <a:pPr marL="514350" indent="-514350" algn="just">
              <a:buAutoNum type="arabicPeriod"/>
            </a:pPr>
            <a:r>
              <a:rPr lang="en-US" dirty="0">
                <a:latin typeface="Times New Roman" pitchFamily="18" charset="0"/>
                <a:cs typeface="Times New Roman" pitchFamily="18" charset="0"/>
              </a:rPr>
              <a:t>Number of scenario scripts</a:t>
            </a:r>
          </a:p>
          <a:p>
            <a:pPr marL="514350" indent="-514350" algn="just">
              <a:buAutoNum type="arabicPeriod"/>
            </a:pPr>
            <a:r>
              <a:rPr lang="en-US" dirty="0">
                <a:latin typeface="Times New Roman" pitchFamily="18" charset="0"/>
                <a:cs typeface="Times New Roman" pitchFamily="18" charset="0"/>
              </a:rPr>
              <a:t>Number of key classes</a:t>
            </a:r>
          </a:p>
          <a:p>
            <a:pPr marL="514350" indent="-514350" algn="just">
              <a:buAutoNum type="arabicPeriod"/>
            </a:pPr>
            <a:r>
              <a:rPr lang="en-US" dirty="0">
                <a:latin typeface="Times New Roman" pitchFamily="18" charset="0"/>
                <a:cs typeface="Times New Roman" pitchFamily="18" charset="0"/>
              </a:rPr>
              <a:t>Number of Support classes.</a:t>
            </a:r>
          </a:p>
          <a:p>
            <a:pPr marL="514350" indent="-514350" algn="just">
              <a:buAutoNum type="arabicPeriod"/>
            </a:pPr>
            <a:r>
              <a:rPr lang="en-US" dirty="0">
                <a:latin typeface="Times New Roman" pitchFamily="18" charset="0"/>
                <a:cs typeface="Times New Roman" pitchFamily="18" charset="0"/>
              </a:rPr>
              <a:t>Average number of support classes per key class</a:t>
            </a:r>
          </a:p>
          <a:p>
            <a:pPr marL="514350" indent="-514350" algn="just">
              <a:buAutoNum type="arabicPeriod"/>
            </a:pPr>
            <a:r>
              <a:rPr lang="en-US" dirty="0">
                <a:latin typeface="Times New Roman" pitchFamily="18" charset="0"/>
                <a:cs typeface="Times New Roman" pitchFamily="18" charset="0"/>
              </a:rPr>
              <a:t>Number of subsystems.  </a:t>
            </a:r>
            <a:endParaRPr lang="en-IN" dirty="0">
              <a:latin typeface="Times New Roman" pitchFamily="18" charset="0"/>
              <a:cs typeface="Times New Roman" pitchFamily="18" charset="0"/>
            </a:endParaRPr>
          </a:p>
        </p:txBody>
      </p:sp>
    </p:spTree>
    <p:extLst>
      <p:ext uri="{BB962C8B-B14F-4D97-AF65-F5344CB8AC3E}">
        <p14:creationId xmlns:p14="http://schemas.microsoft.com/office/powerpoint/2010/main" val="27731893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lstStyle/>
          <a:p>
            <a:r>
              <a:rPr lang="en-US" dirty="0"/>
              <a:t>Use-Case Oriented Metrics</a:t>
            </a:r>
            <a:endParaRPr lang="en-IN" dirty="0"/>
          </a:p>
        </p:txBody>
      </p:sp>
      <p:sp>
        <p:nvSpPr>
          <p:cNvPr id="3" name="Content Placeholder 2"/>
          <p:cNvSpPr>
            <a:spLocks noGrp="1"/>
          </p:cNvSpPr>
          <p:nvPr>
            <p:ph sz="quarter" idx="4294967295"/>
          </p:nvPr>
        </p:nvSpPr>
        <p:spPr>
          <a:xfrm>
            <a:off x="2133600" y="1846263"/>
            <a:ext cx="10058400" cy="4022725"/>
          </a:xfrm>
        </p:spPr>
        <p:txBody>
          <a:bodyPr/>
          <a:lstStyle/>
          <a:p>
            <a:r>
              <a:rPr lang="en-US" dirty="0"/>
              <a:t>It is use as a normalization measure similar to LOC or FP.</a:t>
            </a:r>
          </a:p>
          <a:p>
            <a:r>
              <a:rPr lang="en-US" dirty="0"/>
              <a:t>It is to be used for estimation before significant modeling and construction.</a:t>
            </a:r>
          </a:p>
          <a:p>
            <a:r>
              <a:rPr lang="en-US" dirty="0"/>
              <a:t>Use-case describe user visible functions and features that are basic requirements for a system.</a:t>
            </a:r>
          </a:p>
          <a:p>
            <a:r>
              <a:rPr lang="en-US" dirty="0"/>
              <a:t> The number of use-case is directly proportional to the size of the application in LOC.</a:t>
            </a:r>
            <a:endParaRPr lang="en-IN" dirty="0"/>
          </a:p>
        </p:txBody>
      </p:sp>
    </p:spTree>
    <p:extLst>
      <p:ext uri="{BB962C8B-B14F-4D97-AF65-F5344CB8AC3E}">
        <p14:creationId xmlns:p14="http://schemas.microsoft.com/office/powerpoint/2010/main" val="173822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2133600" y="287338"/>
            <a:ext cx="10058400" cy="1449387"/>
          </a:xfrm>
        </p:spPr>
        <p:txBody>
          <a:bodyPr/>
          <a:lstStyle/>
          <a:p>
            <a:r>
              <a:rPr lang="en-US" dirty="0"/>
              <a:t>Web Engineering Project Metrics	</a:t>
            </a:r>
            <a:endParaRPr lang="en-IN" dirty="0"/>
          </a:p>
        </p:txBody>
      </p:sp>
      <p:sp>
        <p:nvSpPr>
          <p:cNvPr id="3" name="Content Placeholder 2"/>
          <p:cNvSpPr>
            <a:spLocks noGrp="1"/>
          </p:cNvSpPr>
          <p:nvPr>
            <p:ph sz="quarter" idx="4294967295"/>
          </p:nvPr>
        </p:nvSpPr>
        <p:spPr>
          <a:xfrm>
            <a:off x="2133600" y="1846263"/>
            <a:ext cx="10058400" cy="4022725"/>
          </a:xfrm>
        </p:spPr>
        <p:txBody>
          <a:bodyPr/>
          <a:lstStyle/>
          <a:p>
            <a:r>
              <a:rPr lang="en-US" dirty="0"/>
              <a:t>Number of static web pages</a:t>
            </a:r>
          </a:p>
          <a:p>
            <a:r>
              <a:rPr lang="en-US" dirty="0"/>
              <a:t>Number of dynamic web pages</a:t>
            </a:r>
          </a:p>
          <a:p>
            <a:r>
              <a:rPr lang="en-US" dirty="0"/>
              <a:t>Number of internal page links</a:t>
            </a:r>
          </a:p>
          <a:p>
            <a:r>
              <a:rPr lang="en-US" dirty="0"/>
              <a:t>Number of persistent data objects</a:t>
            </a:r>
          </a:p>
          <a:p>
            <a:r>
              <a:rPr lang="en-US" dirty="0"/>
              <a:t>Number of external system interfaced</a:t>
            </a:r>
          </a:p>
          <a:p>
            <a:r>
              <a:rPr lang="en-US" dirty="0"/>
              <a:t>Number of Static content objects</a:t>
            </a:r>
          </a:p>
          <a:p>
            <a:r>
              <a:rPr lang="en-US" dirty="0"/>
              <a:t>Number of dynamic content objects</a:t>
            </a:r>
          </a:p>
          <a:p>
            <a:r>
              <a:rPr lang="en-US" dirty="0"/>
              <a:t>Number of </a:t>
            </a:r>
            <a:r>
              <a:rPr lang="en-US"/>
              <a:t>executable functions.</a:t>
            </a:r>
            <a:endParaRPr lang="en-IN"/>
          </a:p>
        </p:txBody>
      </p:sp>
    </p:spTree>
    <p:extLst>
      <p:ext uri="{BB962C8B-B14F-4D97-AF65-F5344CB8AC3E}">
        <p14:creationId xmlns:p14="http://schemas.microsoft.com/office/powerpoint/2010/main" val="3805381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idx="4294967295"/>
          </p:nvPr>
        </p:nvSpPr>
        <p:spPr>
          <a:xfrm>
            <a:off x="2133600" y="758825"/>
            <a:ext cx="10058400" cy="3565525"/>
          </a:xfrm>
        </p:spPr>
        <p:txBody>
          <a:bodyPr/>
          <a:lstStyle/>
          <a:p>
            <a:r>
              <a:rPr lang="en-US" dirty="0"/>
              <a:t>Six Sigma</a:t>
            </a:r>
          </a:p>
        </p:txBody>
      </p:sp>
    </p:spTree>
    <p:extLst>
      <p:ext uri="{BB962C8B-B14F-4D97-AF65-F5344CB8AC3E}">
        <p14:creationId xmlns:p14="http://schemas.microsoft.com/office/powerpoint/2010/main" val="38696444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53975"/>
            <a:ext cx="9874250" cy="654050"/>
          </a:xfrm>
          <a:prstGeom prst="rect">
            <a:avLst/>
          </a:prstGeom>
          <a:solidFill>
            <a:srgbClr val="F9C090"/>
          </a:solidFill>
          <a:ln w="9525">
            <a:solidFill>
              <a:srgbClr val="000000"/>
            </a:solidFill>
          </a:ln>
        </p:spPr>
        <p:txBody>
          <a:bodyPr vert="horz" wrap="square" lIns="0" tIns="0" rIns="0" bIns="0" rtlCol="0" anchor="b">
            <a:spAutoFit/>
          </a:bodyPr>
          <a:lstStyle/>
          <a:p>
            <a:pPr marL="245364">
              <a:lnSpc>
                <a:spcPts val="5106"/>
              </a:lnSpc>
            </a:pPr>
            <a:r>
              <a:rPr dirty="0">
                <a:solidFill>
                  <a:srgbClr val="000000"/>
                </a:solidFill>
              </a:rPr>
              <a:t>Quality</a:t>
            </a:r>
            <a:r>
              <a:rPr spc="-96" dirty="0">
                <a:solidFill>
                  <a:srgbClr val="000000"/>
                </a:solidFill>
              </a:rPr>
              <a:t> </a:t>
            </a:r>
            <a:r>
              <a:rPr spc="-12" dirty="0">
                <a:solidFill>
                  <a:srgbClr val="000000"/>
                </a:solidFill>
              </a:rPr>
              <a:t>Standards</a:t>
            </a:r>
            <a:r>
              <a:rPr spc="-78" dirty="0">
                <a:solidFill>
                  <a:srgbClr val="000000"/>
                </a:solidFill>
              </a:rPr>
              <a:t> </a:t>
            </a:r>
            <a:r>
              <a:rPr dirty="0">
                <a:solidFill>
                  <a:srgbClr val="000000"/>
                </a:solidFill>
              </a:rPr>
              <a:t>Models</a:t>
            </a:r>
            <a:r>
              <a:rPr spc="-108" dirty="0">
                <a:solidFill>
                  <a:srgbClr val="000000"/>
                </a:solidFill>
              </a:rPr>
              <a:t> </a:t>
            </a:r>
            <a:r>
              <a:rPr dirty="0">
                <a:solidFill>
                  <a:srgbClr val="000000"/>
                </a:solidFill>
              </a:rPr>
              <a:t>-</a:t>
            </a:r>
            <a:r>
              <a:rPr spc="-126" dirty="0">
                <a:solidFill>
                  <a:srgbClr val="000000"/>
                </a:solidFill>
              </a:rPr>
              <a:t> </a:t>
            </a:r>
            <a:r>
              <a:rPr dirty="0">
                <a:solidFill>
                  <a:srgbClr val="000000"/>
                </a:solidFill>
              </a:rPr>
              <a:t>Six</a:t>
            </a:r>
            <a:r>
              <a:rPr spc="-120" dirty="0">
                <a:solidFill>
                  <a:srgbClr val="000000"/>
                </a:solidFill>
              </a:rPr>
              <a:t> </a:t>
            </a:r>
            <a:r>
              <a:rPr spc="-12" dirty="0">
                <a:solidFill>
                  <a:srgbClr val="000000"/>
                </a:solidFill>
              </a:rPr>
              <a:t>Sigma</a:t>
            </a:r>
            <a:endParaRPr/>
          </a:p>
        </p:txBody>
      </p:sp>
      <p:grpSp>
        <p:nvGrpSpPr>
          <p:cNvPr id="3" name="object 3"/>
          <p:cNvGrpSpPr/>
          <p:nvPr/>
        </p:nvGrpSpPr>
        <p:grpSpPr>
          <a:xfrm>
            <a:off x="5248579" y="2553477"/>
            <a:ext cx="6216396" cy="4013454"/>
            <a:chOff x="3865816" y="2127897"/>
            <a:chExt cx="5180330" cy="3344545"/>
          </a:xfrm>
        </p:grpSpPr>
        <p:pic>
          <p:nvPicPr>
            <p:cNvPr id="4" name="object 4"/>
            <p:cNvPicPr/>
            <p:nvPr/>
          </p:nvPicPr>
          <p:blipFill>
            <a:blip r:embed="rId2" cstate="print"/>
            <a:stretch>
              <a:fillRect/>
            </a:stretch>
          </p:blipFill>
          <p:spPr>
            <a:xfrm>
              <a:off x="3908362" y="2187049"/>
              <a:ext cx="5128068" cy="3225733"/>
            </a:xfrm>
            <a:prstGeom prst="rect">
              <a:avLst/>
            </a:prstGeom>
          </p:spPr>
        </p:pic>
        <p:sp>
          <p:nvSpPr>
            <p:cNvPr id="5" name="object 5"/>
            <p:cNvSpPr/>
            <p:nvPr/>
          </p:nvSpPr>
          <p:spPr>
            <a:xfrm>
              <a:off x="3870578" y="2132660"/>
              <a:ext cx="5170805" cy="3335020"/>
            </a:xfrm>
            <a:custGeom>
              <a:avLst/>
              <a:gdLst/>
              <a:ahLst/>
              <a:cxnLst/>
              <a:rect l="l" t="t" r="r" b="b"/>
              <a:pathLst>
                <a:path w="5170805" h="3335020">
                  <a:moveTo>
                    <a:pt x="0" y="3334512"/>
                  </a:moveTo>
                  <a:lnTo>
                    <a:pt x="5170678" y="3334512"/>
                  </a:lnTo>
                  <a:lnTo>
                    <a:pt x="5170678" y="0"/>
                  </a:lnTo>
                  <a:lnTo>
                    <a:pt x="0" y="0"/>
                  </a:lnTo>
                  <a:lnTo>
                    <a:pt x="0" y="3334512"/>
                  </a:lnTo>
                  <a:close/>
                </a:path>
              </a:pathLst>
            </a:custGeom>
            <a:ln w="9525">
              <a:solidFill>
                <a:srgbClr val="000000"/>
              </a:solidFill>
            </a:ln>
          </p:spPr>
          <p:txBody>
            <a:bodyPr wrap="square" lIns="0" tIns="0" rIns="0" bIns="0" rtlCol="0"/>
            <a:lstStyle/>
            <a:p>
              <a:endParaRPr sz="2160"/>
            </a:p>
          </p:txBody>
        </p:sp>
      </p:grpSp>
      <p:sp>
        <p:nvSpPr>
          <p:cNvPr id="6" name="object 6"/>
          <p:cNvSpPr txBox="1"/>
          <p:nvPr/>
        </p:nvSpPr>
        <p:spPr>
          <a:xfrm>
            <a:off x="833201" y="825704"/>
            <a:ext cx="10527030" cy="5222199"/>
          </a:xfrm>
          <a:prstGeom prst="rect">
            <a:avLst/>
          </a:prstGeom>
        </p:spPr>
        <p:txBody>
          <a:bodyPr vert="horz" wrap="square" lIns="0" tIns="14478" rIns="0" bIns="0" rtlCol="0">
            <a:spAutoFit/>
          </a:bodyPr>
          <a:lstStyle/>
          <a:p>
            <a:pPr marL="422910" marR="7620" indent="-408432" algn="just">
              <a:spcBef>
                <a:spcPts val="114"/>
              </a:spcBef>
              <a:buFont typeface="Arial MT"/>
              <a:buChar char="•"/>
              <a:tabLst>
                <a:tab pos="425958" algn="l"/>
              </a:tabLst>
            </a:pPr>
            <a:r>
              <a:rPr sz="2280" dirty="0">
                <a:latin typeface="Calibri"/>
                <a:cs typeface="Calibri"/>
              </a:rPr>
              <a:t>Six</a:t>
            </a:r>
            <a:r>
              <a:rPr sz="2280" spc="24" dirty="0">
                <a:latin typeface="Calibri"/>
                <a:cs typeface="Calibri"/>
              </a:rPr>
              <a:t> </a:t>
            </a:r>
            <a:r>
              <a:rPr sz="2280" dirty="0">
                <a:latin typeface="Calibri"/>
                <a:cs typeface="Calibri"/>
              </a:rPr>
              <a:t>Sigma</a:t>
            </a:r>
            <a:r>
              <a:rPr sz="2280" spc="48" dirty="0">
                <a:latin typeface="Calibri"/>
                <a:cs typeface="Calibri"/>
              </a:rPr>
              <a:t> </a:t>
            </a:r>
            <a:r>
              <a:rPr sz="2280" dirty="0">
                <a:latin typeface="Calibri"/>
                <a:cs typeface="Calibri"/>
              </a:rPr>
              <a:t>is</a:t>
            </a:r>
            <a:r>
              <a:rPr sz="2280" spc="36" dirty="0">
                <a:latin typeface="Calibri"/>
                <a:cs typeface="Calibri"/>
              </a:rPr>
              <a:t> </a:t>
            </a:r>
            <a:r>
              <a:rPr sz="2280" dirty="0">
                <a:latin typeface="Calibri"/>
                <a:cs typeface="Calibri"/>
              </a:rPr>
              <a:t>the</a:t>
            </a:r>
            <a:r>
              <a:rPr sz="2280" spc="30" dirty="0">
                <a:latin typeface="Calibri"/>
                <a:cs typeface="Calibri"/>
              </a:rPr>
              <a:t> </a:t>
            </a:r>
            <a:r>
              <a:rPr sz="2280" dirty="0">
                <a:latin typeface="Calibri"/>
                <a:cs typeface="Calibri"/>
              </a:rPr>
              <a:t>most</a:t>
            </a:r>
            <a:r>
              <a:rPr sz="2280" spc="30" dirty="0">
                <a:latin typeface="Calibri"/>
                <a:cs typeface="Calibri"/>
              </a:rPr>
              <a:t> </a:t>
            </a:r>
            <a:r>
              <a:rPr sz="2280" dirty="0">
                <a:latin typeface="Calibri"/>
                <a:cs typeface="Calibri"/>
              </a:rPr>
              <a:t>widely</a:t>
            </a:r>
            <a:r>
              <a:rPr sz="2280" spc="30" dirty="0">
                <a:latin typeface="Calibri"/>
                <a:cs typeface="Calibri"/>
              </a:rPr>
              <a:t> </a:t>
            </a:r>
            <a:r>
              <a:rPr sz="2280" dirty="0">
                <a:latin typeface="Calibri"/>
                <a:cs typeface="Calibri"/>
              </a:rPr>
              <a:t>used</a:t>
            </a:r>
            <a:r>
              <a:rPr sz="2280" spc="24" dirty="0">
                <a:latin typeface="Calibri"/>
                <a:cs typeface="Calibri"/>
              </a:rPr>
              <a:t> </a:t>
            </a:r>
            <a:r>
              <a:rPr sz="2280" dirty="0">
                <a:latin typeface="Calibri"/>
                <a:cs typeface="Calibri"/>
              </a:rPr>
              <a:t>strategy</a:t>
            </a:r>
            <a:r>
              <a:rPr sz="2280" spc="30" dirty="0">
                <a:latin typeface="Calibri"/>
                <a:cs typeface="Calibri"/>
              </a:rPr>
              <a:t> </a:t>
            </a:r>
            <a:r>
              <a:rPr sz="2280" dirty="0">
                <a:latin typeface="Calibri"/>
                <a:cs typeface="Calibri"/>
              </a:rPr>
              <a:t>for</a:t>
            </a:r>
            <a:r>
              <a:rPr sz="2280" spc="36" dirty="0">
                <a:latin typeface="Calibri"/>
                <a:cs typeface="Calibri"/>
              </a:rPr>
              <a:t> </a:t>
            </a:r>
            <a:r>
              <a:rPr sz="2280" dirty="0">
                <a:latin typeface="Calibri"/>
                <a:cs typeface="Calibri"/>
              </a:rPr>
              <a:t>statistical</a:t>
            </a:r>
            <a:r>
              <a:rPr sz="2280" spc="30" dirty="0">
                <a:latin typeface="Calibri"/>
                <a:cs typeface="Calibri"/>
              </a:rPr>
              <a:t> </a:t>
            </a:r>
            <a:r>
              <a:rPr sz="2280" dirty="0">
                <a:latin typeface="Calibri"/>
                <a:cs typeface="Calibri"/>
              </a:rPr>
              <a:t>quality</a:t>
            </a:r>
            <a:r>
              <a:rPr sz="2280" spc="36" dirty="0">
                <a:latin typeface="Calibri"/>
                <a:cs typeface="Calibri"/>
              </a:rPr>
              <a:t> </a:t>
            </a:r>
            <a:r>
              <a:rPr sz="2280" dirty="0">
                <a:latin typeface="Calibri"/>
                <a:cs typeface="Calibri"/>
              </a:rPr>
              <a:t>assurance</a:t>
            </a:r>
            <a:r>
              <a:rPr sz="2280" spc="42" dirty="0">
                <a:latin typeface="Calibri"/>
                <a:cs typeface="Calibri"/>
              </a:rPr>
              <a:t> </a:t>
            </a:r>
            <a:r>
              <a:rPr sz="2280" dirty="0">
                <a:latin typeface="Calibri"/>
                <a:cs typeface="Calibri"/>
              </a:rPr>
              <a:t>in</a:t>
            </a:r>
            <a:r>
              <a:rPr sz="2280" spc="30" dirty="0">
                <a:latin typeface="Calibri"/>
                <a:cs typeface="Calibri"/>
              </a:rPr>
              <a:t> </a:t>
            </a:r>
            <a:r>
              <a:rPr sz="2280" spc="-12" dirty="0">
                <a:latin typeface="Calibri"/>
                <a:cs typeface="Calibri"/>
              </a:rPr>
              <a:t>industry 	today.</a:t>
            </a:r>
            <a:endParaRPr sz="2280" dirty="0">
              <a:latin typeface="Calibri"/>
              <a:cs typeface="Calibri"/>
            </a:endParaRPr>
          </a:p>
          <a:p>
            <a:pPr marL="422910" marR="6096" indent="-408432" algn="just">
              <a:spcBef>
                <a:spcPts val="546"/>
              </a:spcBef>
              <a:buFont typeface="Arial MT"/>
              <a:buChar char="•"/>
              <a:tabLst>
                <a:tab pos="425958" algn="l"/>
              </a:tabLst>
            </a:pPr>
            <a:r>
              <a:rPr sz="2280" dirty="0">
                <a:latin typeface="Calibri"/>
                <a:cs typeface="Calibri"/>
              </a:rPr>
              <a:t>Six</a:t>
            </a:r>
            <a:r>
              <a:rPr sz="2280" spc="264" dirty="0">
                <a:latin typeface="Calibri"/>
                <a:cs typeface="Calibri"/>
              </a:rPr>
              <a:t> </a:t>
            </a:r>
            <a:r>
              <a:rPr sz="2280" dirty="0">
                <a:latin typeface="Calibri"/>
                <a:cs typeface="Calibri"/>
              </a:rPr>
              <a:t>Sigma</a:t>
            </a:r>
            <a:r>
              <a:rPr sz="2280" spc="282" dirty="0">
                <a:latin typeface="Calibri"/>
                <a:cs typeface="Calibri"/>
              </a:rPr>
              <a:t> </a:t>
            </a:r>
            <a:r>
              <a:rPr sz="2280" dirty="0">
                <a:latin typeface="Calibri"/>
                <a:cs typeface="Calibri"/>
              </a:rPr>
              <a:t>is</a:t>
            </a:r>
            <a:r>
              <a:rPr sz="2280" spc="275" dirty="0">
                <a:latin typeface="Calibri"/>
                <a:cs typeface="Calibri"/>
              </a:rPr>
              <a:t> </a:t>
            </a:r>
            <a:r>
              <a:rPr sz="2280" dirty="0">
                <a:latin typeface="Calibri"/>
                <a:cs typeface="Calibri"/>
              </a:rPr>
              <a:t>the</a:t>
            </a:r>
            <a:r>
              <a:rPr sz="2280" spc="275" dirty="0">
                <a:latin typeface="Calibri"/>
                <a:cs typeface="Calibri"/>
              </a:rPr>
              <a:t> </a:t>
            </a:r>
            <a:r>
              <a:rPr sz="2280" dirty="0">
                <a:latin typeface="Calibri"/>
                <a:cs typeface="Calibri"/>
              </a:rPr>
              <a:t>process</a:t>
            </a:r>
            <a:r>
              <a:rPr sz="2280" spc="282" dirty="0">
                <a:latin typeface="Calibri"/>
                <a:cs typeface="Calibri"/>
              </a:rPr>
              <a:t> </a:t>
            </a:r>
            <a:r>
              <a:rPr sz="2280" dirty="0">
                <a:latin typeface="Calibri"/>
                <a:cs typeface="Calibri"/>
              </a:rPr>
              <a:t>of</a:t>
            </a:r>
            <a:r>
              <a:rPr sz="2280" spc="264" dirty="0">
                <a:latin typeface="Calibri"/>
                <a:cs typeface="Calibri"/>
              </a:rPr>
              <a:t> </a:t>
            </a:r>
            <a:r>
              <a:rPr sz="2280" dirty="0">
                <a:latin typeface="Calibri"/>
                <a:cs typeface="Calibri"/>
              </a:rPr>
              <a:t>improving</a:t>
            </a:r>
            <a:r>
              <a:rPr sz="2280" spc="270" dirty="0">
                <a:latin typeface="Calibri"/>
                <a:cs typeface="Calibri"/>
              </a:rPr>
              <a:t> </a:t>
            </a:r>
            <a:r>
              <a:rPr sz="2280" dirty="0">
                <a:latin typeface="Calibri"/>
                <a:cs typeface="Calibri"/>
              </a:rPr>
              <a:t>the</a:t>
            </a:r>
            <a:r>
              <a:rPr sz="2280" spc="275" dirty="0">
                <a:latin typeface="Calibri"/>
                <a:cs typeface="Calibri"/>
              </a:rPr>
              <a:t> </a:t>
            </a:r>
            <a:r>
              <a:rPr sz="2280" dirty="0">
                <a:latin typeface="Calibri"/>
                <a:cs typeface="Calibri"/>
              </a:rPr>
              <a:t>quality</a:t>
            </a:r>
            <a:r>
              <a:rPr sz="2280" spc="275" dirty="0">
                <a:latin typeface="Calibri"/>
                <a:cs typeface="Calibri"/>
              </a:rPr>
              <a:t> </a:t>
            </a:r>
            <a:r>
              <a:rPr sz="2280" dirty="0">
                <a:latin typeface="Calibri"/>
                <a:cs typeface="Calibri"/>
              </a:rPr>
              <a:t>of</a:t>
            </a:r>
            <a:r>
              <a:rPr sz="2280" spc="275" dirty="0">
                <a:latin typeface="Calibri"/>
                <a:cs typeface="Calibri"/>
              </a:rPr>
              <a:t> </a:t>
            </a:r>
            <a:r>
              <a:rPr sz="2280" dirty="0">
                <a:latin typeface="Calibri"/>
                <a:cs typeface="Calibri"/>
              </a:rPr>
              <a:t>the</a:t>
            </a:r>
            <a:r>
              <a:rPr sz="2280" spc="258" dirty="0">
                <a:latin typeface="Calibri"/>
                <a:cs typeface="Calibri"/>
              </a:rPr>
              <a:t> </a:t>
            </a:r>
            <a:r>
              <a:rPr sz="2280" dirty="0">
                <a:latin typeface="Calibri"/>
                <a:cs typeface="Calibri"/>
              </a:rPr>
              <a:t>output</a:t>
            </a:r>
            <a:r>
              <a:rPr sz="2280" spc="275" dirty="0">
                <a:latin typeface="Calibri"/>
                <a:cs typeface="Calibri"/>
              </a:rPr>
              <a:t> </a:t>
            </a:r>
            <a:r>
              <a:rPr sz="2280" dirty="0">
                <a:latin typeface="Calibri"/>
                <a:cs typeface="Calibri"/>
              </a:rPr>
              <a:t>by</a:t>
            </a:r>
            <a:r>
              <a:rPr sz="2280" spc="282" dirty="0">
                <a:latin typeface="Calibri"/>
                <a:cs typeface="Calibri"/>
              </a:rPr>
              <a:t> </a:t>
            </a:r>
            <a:r>
              <a:rPr sz="2280" b="1" i="1" dirty="0">
                <a:solidFill>
                  <a:srgbClr val="6F2F9F"/>
                </a:solidFill>
                <a:latin typeface="Calibri"/>
                <a:cs typeface="Calibri"/>
              </a:rPr>
              <a:t>identifying</a:t>
            </a:r>
            <a:r>
              <a:rPr sz="2280" b="1" i="1" spc="270" dirty="0">
                <a:solidFill>
                  <a:srgbClr val="6F2F9F"/>
                </a:solidFill>
                <a:latin typeface="Calibri"/>
                <a:cs typeface="Calibri"/>
              </a:rPr>
              <a:t> </a:t>
            </a:r>
            <a:r>
              <a:rPr sz="2280" b="1" i="1" spc="-30" dirty="0">
                <a:solidFill>
                  <a:srgbClr val="6F2F9F"/>
                </a:solidFill>
                <a:latin typeface="Calibri"/>
                <a:cs typeface="Calibri"/>
              </a:rPr>
              <a:t>and 	</a:t>
            </a:r>
            <a:r>
              <a:rPr sz="2280" b="1" i="1" dirty="0">
                <a:solidFill>
                  <a:srgbClr val="6F2F9F"/>
                </a:solidFill>
                <a:latin typeface="Calibri"/>
                <a:cs typeface="Calibri"/>
              </a:rPr>
              <a:t>eliminating</a:t>
            </a:r>
            <a:r>
              <a:rPr sz="2280" b="1" i="1" spc="78" dirty="0">
                <a:solidFill>
                  <a:srgbClr val="6F2F9F"/>
                </a:solidFill>
                <a:latin typeface="Calibri"/>
                <a:cs typeface="Calibri"/>
              </a:rPr>
              <a:t>  </a:t>
            </a:r>
            <a:r>
              <a:rPr sz="2280" b="1" i="1" dirty="0">
                <a:solidFill>
                  <a:srgbClr val="6F2F9F"/>
                </a:solidFill>
                <a:latin typeface="Calibri"/>
                <a:cs typeface="Calibri"/>
              </a:rPr>
              <a:t>the</a:t>
            </a:r>
            <a:r>
              <a:rPr sz="2280" b="1" i="1" spc="96" dirty="0">
                <a:solidFill>
                  <a:srgbClr val="6F2F9F"/>
                </a:solidFill>
                <a:latin typeface="Calibri"/>
                <a:cs typeface="Calibri"/>
              </a:rPr>
              <a:t>  </a:t>
            </a:r>
            <a:r>
              <a:rPr sz="2280" b="1" i="1" dirty="0">
                <a:solidFill>
                  <a:srgbClr val="6F2F9F"/>
                </a:solidFill>
                <a:latin typeface="Calibri"/>
                <a:cs typeface="Calibri"/>
              </a:rPr>
              <a:t>cause</a:t>
            </a:r>
            <a:r>
              <a:rPr sz="2280" b="1" i="1" spc="96" dirty="0">
                <a:solidFill>
                  <a:srgbClr val="6F2F9F"/>
                </a:solidFill>
                <a:latin typeface="Calibri"/>
                <a:cs typeface="Calibri"/>
              </a:rPr>
              <a:t>  </a:t>
            </a:r>
            <a:r>
              <a:rPr sz="2280" b="1" i="1" dirty="0">
                <a:solidFill>
                  <a:srgbClr val="6F2F9F"/>
                </a:solidFill>
                <a:latin typeface="Calibri"/>
                <a:cs typeface="Calibri"/>
              </a:rPr>
              <a:t>of</a:t>
            </a:r>
            <a:r>
              <a:rPr sz="2280" b="1" i="1" spc="90" dirty="0">
                <a:solidFill>
                  <a:srgbClr val="6F2F9F"/>
                </a:solidFill>
                <a:latin typeface="Calibri"/>
                <a:cs typeface="Calibri"/>
              </a:rPr>
              <a:t>  </a:t>
            </a:r>
            <a:r>
              <a:rPr sz="2280" b="1" i="1" dirty="0">
                <a:solidFill>
                  <a:srgbClr val="6F2F9F"/>
                </a:solidFill>
                <a:latin typeface="Calibri"/>
                <a:cs typeface="Calibri"/>
              </a:rPr>
              <a:t>defects</a:t>
            </a:r>
            <a:r>
              <a:rPr sz="2280" b="1" i="1" spc="90" dirty="0">
                <a:solidFill>
                  <a:srgbClr val="6F2F9F"/>
                </a:solidFill>
                <a:latin typeface="Calibri"/>
                <a:cs typeface="Calibri"/>
              </a:rPr>
              <a:t>  </a:t>
            </a:r>
            <a:r>
              <a:rPr sz="2280" dirty="0">
                <a:latin typeface="Calibri"/>
                <a:cs typeface="Calibri"/>
              </a:rPr>
              <a:t>and</a:t>
            </a:r>
            <a:r>
              <a:rPr sz="2280" spc="90" dirty="0">
                <a:latin typeface="Calibri"/>
                <a:cs typeface="Calibri"/>
              </a:rPr>
              <a:t>  </a:t>
            </a:r>
            <a:r>
              <a:rPr sz="2280" b="1" i="1" dirty="0">
                <a:solidFill>
                  <a:srgbClr val="6F2F9F"/>
                </a:solidFill>
                <a:latin typeface="Calibri"/>
                <a:cs typeface="Calibri"/>
              </a:rPr>
              <a:t>reduce</a:t>
            </a:r>
            <a:r>
              <a:rPr sz="2280" b="1" i="1" spc="96" dirty="0">
                <a:solidFill>
                  <a:srgbClr val="6F2F9F"/>
                </a:solidFill>
                <a:latin typeface="Calibri"/>
                <a:cs typeface="Calibri"/>
              </a:rPr>
              <a:t>  </a:t>
            </a:r>
            <a:r>
              <a:rPr sz="2280" b="1" i="1" dirty="0">
                <a:solidFill>
                  <a:srgbClr val="6F2F9F"/>
                </a:solidFill>
                <a:latin typeface="Calibri"/>
                <a:cs typeface="Calibri"/>
              </a:rPr>
              <a:t>variability</a:t>
            </a:r>
            <a:r>
              <a:rPr sz="2280" b="1" i="1" spc="84" dirty="0">
                <a:solidFill>
                  <a:srgbClr val="6F2F9F"/>
                </a:solidFill>
                <a:latin typeface="Calibri"/>
                <a:cs typeface="Calibri"/>
              </a:rPr>
              <a:t>  </a:t>
            </a:r>
            <a:r>
              <a:rPr sz="2280" b="1" i="1" dirty="0">
                <a:solidFill>
                  <a:srgbClr val="6F2F9F"/>
                </a:solidFill>
                <a:latin typeface="Calibri"/>
                <a:cs typeface="Calibri"/>
              </a:rPr>
              <a:t>in</a:t>
            </a:r>
            <a:r>
              <a:rPr sz="2280" b="1" i="1" spc="90" dirty="0">
                <a:solidFill>
                  <a:srgbClr val="6F2F9F"/>
                </a:solidFill>
                <a:latin typeface="Calibri"/>
                <a:cs typeface="Calibri"/>
              </a:rPr>
              <a:t>  </a:t>
            </a:r>
            <a:r>
              <a:rPr sz="2280" b="1" i="1" dirty="0">
                <a:solidFill>
                  <a:srgbClr val="6F2F9F"/>
                </a:solidFill>
                <a:latin typeface="Calibri"/>
                <a:cs typeface="Calibri"/>
              </a:rPr>
              <a:t>manufacturing</a:t>
            </a:r>
            <a:r>
              <a:rPr sz="2280" b="1" i="1" spc="90" dirty="0">
                <a:solidFill>
                  <a:srgbClr val="6F2F9F"/>
                </a:solidFill>
                <a:latin typeface="Calibri"/>
                <a:cs typeface="Calibri"/>
              </a:rPr>
              <a:t>  </a:t>
            </a:r>
            <a:r>
              <a:rPr sz="2280" b="1" i="1" spc="-30" dirty="0">
                <a:solidFill>
                  <a:srgbClr val="6F2F9F"/>
                </a:solidFill>
                <a:latin typeface="Calibri"/>
                <a:cs typeface="Calibri"/>
              </a:rPr>
              <a:t>and 	</a:t>
            </a:r>
            <a:r>
              <a:rPr sz="2280" b="1" i="1" dirty="0">
                <a:solidFill>
                  <a:srgbClr val="6F2F9F"/>
                </a:solidFill>
                <a:latin typeface="Calibri"/>
                <a:cs typeface="Calibri"/>
              </a:rPr>
              <a:t>business</a:t>
            </a:r>
            <a:r>
              <a:rPr sz="2280" b="1" i="1" spc="-84" dirty="0">
                <a:solidFill>
                  <a:srgbClr val="6F2F9F"/>
                </a:solidFill>
                <a:latin typeface="Calibri"/>
                <a:cs typeface="Calibri"/>
              </a:rPr>
              <a:t> </a:t>
            </a:r>
            <a:r>
              <a:rPr sz="2280" b="1" i="1" spc="-12" dirty="0">
                <a:solidFill>
                  <a:srgbClr val="6F2F9F"/>
                </a:solidFill>
                <a:latin typeface="Calibri"/>
                <a:cs typeface="Calibri"/>
              </a:rPr>
              <a:t>processes.</a:t>
            </a:r>
            <a:endParaRPr sz="2280" dirty="0">
              <a:latin typeface="Calibri"/>
              <a:cs typeface="Calibri"/>
            </a:endParaRPr>
          </a:p>
          <a:p>
            <a:pPr marL="358902" marR="6198108" indent="-344424" algn="just">
              <a:spcBef>
                <a:spcPts val="1692"/>
              </a:spcBef>
              <a:buFont typeface="Arial MT"/>
              <a:buChar char="•"/>
              <a:tabLst>
                <a:tab pos="358902" algn="l"/>
              </a:tabLst>
            </a:pPr>
            <a:r>
              <a:rPr sz="2160" dirty="0">
                <a:latin typeface="Calibri"/>
                <a:cs typeface="Calibri"/>
              </a:rPr>
              <a:t>The</a:t>
            </a:r>
            <a:r>
              <a:rPr sz="2160" spc="78" dirty="0">
                <a:latin typeface="Calibri"/>
                <a:cs typeface="Calibri"/>
              </a:rPr>
              <a:t>  </a:t>
            </a:r>
            <a:r>
              <a:rPr sz="2160" dirty="0">
                <a:latin typeface="Calibri"/>
                <a:cs typeface="Calibri"/>
              </a:rPr>
              <a:t>maturity</a:t>
            </a:r>
            <a:r>
              <a:rPr sz="2160" spc="72" dirty="0">
                <a:latin typeface="Calibri"/>
                <a:cs typeface="Calibri"/>
              </a:rPr>
              <a:t>  </a:t>
            </a:r>
            <a:r>
              <a:rPr sz="2160" dirty="0">
                <a:latin typeface="Calibri"/>
                <a:cs typeface="Calibri"/>
              </a:rPr>
              <a:t>of</a:t>
            </a:r>
            <a:r>
              <a:rPr sz="2160" spc="78" dirty="0">
                <a:latin typeface="Calibri"/>
                <a:cs typeface="Calibri"/>
              </a:rPr>
              <a:t>  </a:t>
            </a:r>
            <a:r>
              <a:rPr sz="2160" dirty="0">
                <a:latin typeface="Calibri"/>
                <a:cs typeface="Calibri"/>
              </a:rPr>
              <a:t>a</a:t>
            </a:r>
            <a:r>
              <a:rPr sz="2160" spc="78" dirty="0">
                <a:latin typeface="Calibri"/>
                <a:cs typeface="Calibri"/>
              </a:rPr>
              <a:t>  </a:t>
            </a:r>
            <a:r>
              <a:rPr sz="2160" spc="-12" dirty="0">
                <a:latin typeface="Calibri"/>
                <a:cs typeface="Calibri"/>
              </a:rPr>
              <a:t>manufacturing </a:t>
            </a:r>
            <a:r>
              <a:rPr sz="2160" dirty="0">
                <a:latin typeface="Calibri"/>
                <a:cs typeface="Calibri"/>
              </a:rPr>
              <a:t>process</a:t>
            </a:r>
            <a:r>
              <a:rPr sz="2160" spc="162" dirty="0">
                <a:latin typeface="Calibri"/>
                <a:cs typeface="Calibri"/>
              </a:rPr>
              <a:t> </a:t>
            </a:r>
            <a:r>
              <a:rPr sz="2160" dirty="0">
                <a:latin typeface="Calibri"/>
                <a:cs typeface="Calibri"/>
              </a:rPr>
              <a:t>can</a:t>
            </a:r>
            <a:r>
              <a:rPr sz="2160" spc="168" dirty="0">
                <a:latin typeface="Calibri"/>
                <a:cs typeface="Calibri"/>
              </a:rPr>
              <a:t> </a:t>
            </a:r>
            <a:r>
              <a:rPr sz="2160" dirty="0">
                <a:latin typeface="Calibri"/>
                <a:cs typeface="Calibri"/>
              </a:rPr>
              <a:t>be</a:t>
            </a:r>
            <a:r>
              <a:rPr sz="2160" spc="162" dirty="0">
                <a:latin typeface="Calibri"/>
                <a:cs typeface="Calibri"/>
              </a:rPr>
              <a:t> </a:t>
            </a:r>
            <a:r>
              <a:rPr sz="2160" dirty="0">
                <a:latin typeface="Calibri"/>
                <a:cs typeface="Calibri"/>
              </a:rPr>
              <a:t>defined</a:t>
            </a:r>
            <a:r>
              <a:rPr sz="2160" spc="168" dirty="0">
                <a:latin typeface="Calibri"/>
                <a:cs typeface="Calibri"/>
              </a:rPr>
              <a:t> </a:t>
            </a:r>
            <a:r>
              <a:rPr sz="2160" dirty="0">
                <a:latin typeface="Calibri"/>
                <a:cs typeface="Calibri"/>
              </a:rPr>
              <a:t>by</a:t>
            </a:r>
            <a:r>
              <a:rPr sz="2160" spc="162" dirty="0">
                <a:latin typeface="Calibri"/>
                <a:cs typeface="Calibri"/>
              </a:rPr>
              <a:t> </a:t>
            </a:r>
            <a:r>
              <a:rPr sz="2160" dirty="0">
                <a:latin typeface="Calibri"/>
                <a:cs typeface="Calibri"/>
              </a:rPr>
              <a:t>a</a:t>
            </a:r>
            <a:r>
              <a:rPr sz="2160" spc="162" dirty="0">
                <a:latin typeface="Calibri"/>
                <a:cs typeface="Calibri"/>
              </a:rPr>
              <a:t> </a:t>
            </a:r>
            <a:r>
              <a:rPr sz="2160" spc="-12" dirty="0">
                <a:latin typeface="Calibri"/>
                <a:cs typeface="Calibri"/>
              </a:rPr>
              <a:t>sigma </a:t>
            </a:r>
            <a:r>
              <a:rPr sz="2160" dirty="0">
                <a:latin typeface="Calibri"/>
                <a:cs typeface="Calibri"/>
              </a:rPr>
              <a:t>rating</a:t>
            </a:r>
            <a:r>
              <a:rPr sz="2160" spc="354" dirty="0">
                <a:latin typeface="Calibri"/>
                <a:cs typeface="Calibri"/>
              </a:rPr>
              <a:t> </a:t>
            </a:r>
            <a:r>
              <a:rPr sz="2160" dirty="0">
                <a:latin typeface="Calibri"/>
                <a:cs typeface="Calibri"/>
              </a:rPr>
              <a:t>indicating</a:t>
            </a:r>
            <a:r>
              <a:rPr sz="2160" spc="384" dirty="0">
                <a:latin typeface="Calibri"/>
                <a:cs typeface="Calibri"/>
              </a:rPr>
              <a:t> </a:t>
            </a:r>
            <a:r>
              <a:rPr sz="2160" dirty="0">
                <a:latin typeface="Calibri"/>
                <a:cs typeface="Calibri"/>
              </a:rPr>
              <a:t>its</a:t>
            </a:r>
            <a:r>
              <a:rPr sz="2160" spc="348" dirty="0">
                <a:latin typeface="Calibri"/>
                <a:cs typeface="Calibri"/>
              </a:rPr>
              <a:t> </a:t>
            </a:r>
            <a:r>
              <a:rPr sz="2160" dirty="0">
                <a:latin typeface="Calibri"/>
                <a:cs typeface="Calibri"/>
              </a:rPr>
              <a:t>percentage</a:t>
            </a:r>
            <a:r>
              <a:rPr sz="2160" spc="366" dirty="0">
                <a:latin typeface="Calibri"/>
                <a:cs typeface="Calibri"/>
              </a:rPr>
              <a:t> </a:t>
            </a:r>
            <a:r>
              <a:rPr sz="2160" spc="-30" dirty="0">
                <a:latin typeface="Calibri"/>
                <a:cs typeface="Calibri"/>
              </a:rPr>
              <a:t>of defect-</a:t>
            </a:r>
            <a:r>
              <a:rPr sz="2160" dirty="0">
                <a:latin typeface="Calibri"/>
                <a:cs typeface="Calibri"/>
              </a:rPr>
              <a:t>free</a:t>
            </a:r>
            <a:r>
              <a:rPr sz="2160" spc="12" dirty="0">
                <a:latin typeface="Calibri"/>
                <a:cs typeface="Calibri"/>
              </a:rPr>
              <a:t> </a:t>
            </a:r>
            <a:r>
              <a:rPr sz="2160" spc="-12" dirty="0">
                <a:latin typeface="Calibri"/>
                <a:cs typeface="Calibri"/>
              </a:rPr>
              <a:t>products </a:t>
            </a:r>
            <a:r>
              <a:rPr sz="2160" dirty="0">
                <a:latin typeface="Calibri"/>
                <a:cs typeface="Calibri"/>
              </a:rPr>
              <a:t>it</a:t>
            </a:r>
            <a:r>
              <a:rPr sz="2160" spc="6" dirty="0">
                <a:latin typeface="Calibri"/>
                <a:cs typeface="Calibri"/>
              </a:rPr>
              <a:t> </a:t>
            </a:r>
            <a:r>
              <a:rPr sz="2160" spc="-12" dirty="0">
                <a:latin typeface="Calibri"/>
                <a:cs typeface="Calibri"/>
              </a:rPr>
              <a:t>creates.</a:t>
            </a:r>
            <a:endParaRPr sz="2160" dirty="0">
              <a:latin typeface="Calibri"/>
              <a:cs typeface="Calibri"/>
            </a:endParaRPr>
          </a:p>
          <a:p>
            <a:pPr marL="358902" marR="6198870" indent="-344424" algn="just">
              <a:spcBef>
                <a:spcPts val="1440"/>
              </a:spcBef>
              <a:buFont typeface="Arial MT"/>
              <a:buChar char="•"/>
              <a:tabLst>
                <a:tab pos="358902" algn="l"/>
              </a:tabLst>
            </a:pPr>
            <a:r>
              <a:rPr sz="2160" dirty="0">
                <a:latin typeface="Calibri"/>
                <a:cs typeface="Calibri"/>
              </a:rPr>
              <a:t>A</a:t>
            </a:r>
            <a:r>
              <a:rPr sz="2160" spc="60" dirty="0">
                <a:latin typeface="Calibri"/>
                <a:cs typeface="Calibri"/>
              </a:rPr>
              <a:t> </a:t>
            </a:r>
            <a:r>
              <a:rPr sz="2160" dirty="0">
                <a:latin typeface="Calibri"/>
                <a:cs typeface="Calibri"/>
              </a:rPr>
              <a:t>six</a:t>
            </a:r>
            <a:r>
              <a:rPr sz="2160" spc="48" dirty="0">
                <a:latin typeface="Calibri"/>
                <a:cs typeface="Calibri"/>
              </a:rPr>
              <a:t> </a:t>
            </a:r>
            <a:r>
              <a:rPr sz="2160" dirty="0">
                <a:latin typeface="Calibri"/>
                <a:cs typeface="Calibri"/>
              </a:rPr>
              <a:t>sigma</a:t>
            </a:r>
            <a:r>
              <a:rPr sz="2160" spc="72" dirty="0">
                <a:latin typeface="Calibri"/>
                <a:cs typeface="Calibri"/>
              </a:rPr>
              <a:t> </a:t>
            </a:r>
            <a:r>
              <a:rPr sz="2160" dirty="0">
                <a:latin typeface="Calibri"/>
                <a:cs typeface="Calibri"/>
              </a:rPr>
              <a:t>method</a:t>
            </a:r>
            <a:r>
              <a:rPr sz="2160" spc="66" dirty="0">
                <a:latin typeface="Calibri"/>
                <a:cs typeface="Calibri"/>
              </a:rPr>
              <a:t> </a:t>
            </a:r>
            <a:r>
              <a:rPr sz="2160" dirty="0">
                <a:latin typeface="Calibri"/>
                <a:cs typeface="Calibri"/>
              </a:rPr>
              <a:t>is</a:t>
            </a:r>
            <a:r>
              <a:rPr sz="2160" spc="66" dirty="0">
                <a:latin typeface="Calibri"/>
                <a:cs typeface="Calibri"/>
              </a:rPr>
              <a:t> </a:t>
            </a:r>
            <a:r>
              <a:rPr sz="2160" dirty="0">
                <a:latin typeface="Calibri"/>
                <a:cs typeface="Calibri"/>
              </a:rPr>
              <a:t>one</a:t>
            </a:r>
            <a:r>
              <a:rPr sz="2160" spc="66" dirty="0">
                <a:latin typeface="Calibri"/>
                <a:cs typeface="Calibri"/>
              </a:rPr>
              <a:t> </a:t>
            </a:r>
            <a:r>
              <a:rPr sz="2160" dirty="0">
                <a:latin typeface="Calibri"/>
                <a:cs typeface="Calibri"/>
              </a:rPr>
              <a:t>in</a:t>
            </a:r>
            <a:r>
              <a:rPr sz="2160" spc="66" dirty="0">
                <a:latin typeface="Calibri"/>
                <a:cs typeface="Calibri"/>
              </a:rPr>
              <a:t> </a:t>
            </a:r>
            <a:r>
              <a:rPr sz="2160" spc="-24" dirty="0">
                <a:latin typeface="Calibri"/>
                <a:cs typeface="Calibri"/>
              </a:rPr>
              <a:t>which </a:t>
            </a:r>
            <a:r>
              <a:rPr sz="2160" dirty="0">
                <a:latin typeface="Calibri"/>
                <a:cs typeface="Calibri"/>
              </a:rPr>
              <a:t>99.99966%</a:t>
            </a:r>
            <a:r>
              <a:rPr sz="2160" spc="462" dirty="0">
                <a:latin typeface="Calibri"/>
                <a:cs typeface="Calibri"/>
              </a:rPr>
              <a:t> </a:t>
            </a:r>
            <a:r>
              <a:rPr sz="2160" dirty="0">
                <a:latin typeface="Calibri"/>
                <a:cs typeface="Calibri"/>
              </a:rPr>
              <a:t>of</a:t>
            </a:r>
            <a:r>
              <a:rPr sz="2160" spc="462" dirty="0">
                <a:latin typeface="Calibri"/>
                <a:cs typeface="Calibri"/>
              </a:rPr>
              <a:t> </a:t>
            </a:r>
            <a:r>
              <a:rPr sz="2160" dirty="0">
                <a:latin typeface="Calibri"/>
                <a:cs typeface="Calibri"/>
              </a:rPr>
              <a:t>all</a:t>
            </a:r>
            <a:r>
              <a:rPr sz="2160" spc="456" dirty="0">
                <a:latin typeface="Calibri"/>
                <a:cs typeface="Calibri"/>
              </a:rPr>
              <a:t> </a:t>
            </a:r>
            <a:r>
              <a:rPr sz="2160" dirty="0">
                <a:latin typeface="Calibri"/>
                <a:cs typeface="Calibri"/>
              </a:rPr>
              <a:t>the</a:t>
            </a:r>
            <a:r>
              <a:rPr sz="2160" spc="480" dirty="0">
                <a:latin typeface="Calibri"/>
                <a:cs typeface="Calibri"/>
              </a:rPr>
              <a:t> </a:t>
            </a:r>
            <a:r>
              <a:rPr sz="2160" dirty="0">
                <a:latin typeface="Calibri"/>
                <a:cs typeface="Calibri"/>
              </a:rPr>
              <a:t>products</a:t>
            </a:r>
            <a:r>
              <a:rPr sz="2160" spc="462" dirty="0">
                <a:latin typeface="Calibri"/>
                <a:cs typeface="Calibri"/>
              </a:rPr>
              <a:t> </a:t>
            </a:r>
            <a:r>
              <a:rPr sz="2160" spc="-30" dirty="0">
                <a:latin typeface="Calibri"/>
                <a:cs typeface="Calibri"/>
              </a:rPr>
              <a:t>to </a:t>
            </a:r>
            <a:r>
              <a:rPr sz="2160" dirty="0">
                <a:latin typeface="Calibri"/>
                <a:cs typeface="Calibri"/>
              </a:rPr>
              <a:t>be</a:t>
            </a:r>
            <a:r>
              <a:rPr sz="2160" spc="570" dirty="0">
                <a:latin typeface="Calibri"/>
                <a:cs typeface="Calibri"/>
              </a:rPr>
              <a:t>  </a:t>
            </a:r>
            <a:r>
              <a:rPr sz="2160" dirty="0">
                <a:latin typeface="Calibri"/>
                <a:cs typeface="Calibri"/>
              </a:rPr>
              <a:t>produced</a:t>
            </a:r>
            <a:r>
              <a:rPr sz="2160" spc="588" dirty="0">
                <a:latin typeface="Calibri"/>
                <a:cs typeface="Calibri"/>
              </a:rPr>
              <a:t>  </a:t>
            </a:r>
            <a:r>
              <a:rPr sz="2160" dirty="0">
                <a:latin typeface="Calibri"/>
                <a:cs typeface="Calibri"/>
              </a:rPr>
              <a:t>have</a:t>
            </a:r>
            <a:r>
              <a:rPr sz="2160" spc="576" dirty="0">
                <a:latin typeface="Calibri"/>
                <a:cs typeface="Calibri"/>
              </a:rPr>
              <a:t>  </a:t>
            </a:r>
            <a:r>
              <a:rPr sz="2160" dirty="0">
                <a:latin typeface="Calibri"/>
                <a:cs typeface="Calibri"/>
              </a:rPr>
              <a:t>the</a:t>
            </a:r>
            <a:r>
              <a:rPr sz="2160" spc="570" dirty="0">
                <a:latin typeface="Calibri"/>
                <a:cs typeface="Calibri"/>
              </a:rPr>
              <a:t>  </a:t>
            </a:r>
            <a:r>
              <a:rPr sz="2160" spc="-24" dirty="0">
                <a:latin typeface="Calibri"/>
                <a:cs typeface="Calibri"/>
              </a:rPr>
              <a:t>same </a:t>
            </a:r>
            <a:r>
              <a:rPr sz="2160" dirty="0">
                <a:latin typeface="Calibri"/>
                <a:cs typeface="Calibri"/>
              </a:rPr>
              <a:t>features</a:t>
            </a:r>
            <a:r>
              <a:rPr sz="2160" spc="305" dirty="0">
                <a:latin typeface="Calibri"/>
                <a:cs typeface="Calibri"/>
              </a:rPr>
              <a:t>  </a:t>
            </a:r>
            <a:r>
              <a:rPr sz="2160" dirty="0">
                <a:latin typeface="Calibri"/>
                <a:cs typeface="Calibri"/>
              </a:rPr>
              <a:t>and</a:t>
            </a:r>
            <a:r>
              <a:rPr sz="2160" spc="305" dirty="0">
                <a:latin typeface="Calibri"/>
                <a:cs typeface="Calibri"/>
              </a:rPr>
              <a:t>  </a:t>
            </a:r>
            <a:r>
              <a:rPr sz="2160" dirty="0">
                <a:latin typeface="Calibri"/>
                <a:cs typeface="Calibri"/>
              </a:rPr>
              <a:t>are</a:t>
            </a:r>
            <a:r>
              <a:rPr sz="2160" spc="312" dirty="0">
                <a:latin typeface="Calibri"/>
                <a:cs typeface="Calibri"/>
              </a:rPr>
              <a:t>  </a:t>
            </a:r>
            <a:r>
              <a:rPr sz="2160" dirty="0">
                <a:latin typeface="Calibri"/>
                <a:cs typeface="Calibri"/>
              </a:rPr>
              <a:t>of</a:t>
            </a:r>
            <a:r>
              <a:rPr sz="2160" spc="305" dirty="0">
                <a:latin typeface="Calibri"/>
                <a:cs typeface="Calibri"/>
              </a:rPr>
              <a:t>  </a:t>
            </a:r>
            <a:r>
              <a:rPr sz="2160" dirty="0">
                <a:latin typeface="Calibri"/>
                <a:cs typeface="Calibri"/>
              </a:rPr>
              <a:t>free</a:t>
            </a:r>
            <a:r>
              <a:rPr sz="2160" spc="305" dirty="0">
                <a:latin typeface="Calibri"/>
                <a:cs typeface="Calibri"/>
              </a:rPr>
              <a:t>  </a:t>
            </a:r>
            <a:r>
              <a:rPr sz="2160" spc="-24" dirty="0">
                <a:latin typeface="Calibri"/>
                <a:cs typeface="Calibri"/>
              </a:rPr>
              <a:t>from </a:t>
            </a:r>
            <a:r>
              <a:rPr sz="2160" spc="-12" dirty="0">
                <a:latin typeface="Calibri"/>
                <a:cs typeface="Calibri"/>
              </a:rPr>
              <a:t>defects</a:t>
            </a:r>
            <a:endParaRPr sz="2160" dirty="0">
              <a:latin typeface="Calibri"/>
              <a:cs typeface="Calibri"/>
            </a:endParaRPr>
          </a:p>
        </p:txBody>
      </p:sp>
    </p:spTree>
    <p:extLst>
      <p:ext uri="{BB962C8B-B14F-4D97-AF65-F5344CB8AC3E}">
        <p14:creationId xmlns:p14="http://schemas.microsoft.com/office/powerpoint/2010/main" val="27110777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1805986" y="652530"/>
            <a:ext cx="8795004" cy="5812536"/>
            <a:chOff x="996988" y="543775"/>
            <a:chExt cx="7329170" cy="4843780"/>
          </a:xfrm>
        </p:grpSpPr>
        <p:pic>
          <p:nvPicPr>
            <p:cNvPr id="3" name="object 3"/>
            <p:cNvPicPr/>
            <p:nvPr/>
          </p:nvPicPr>
          <p:blipFill>
            <a:blip r:embed="rId2" cstate="print"/>
            <a:stretch>
              <a:fillRect/>
            </a:stretch>
          </p:blipFill>
          <p:spPr>
            <a:xfrm>
              <a:off x="1256266" y="723863"/>
              <a:ext cx="6725076" cy="4452893"/>
            </a:xfrm>
            <a:prstGeom prst="rect">
              <a:avLst/>
            </a:prstGeom>
          </p:spPr>
        </p:pic>
        <p:sp>
          <p:nvSpPr>
            <p:cNvPr id="4" name="object 4"/>
            <p:cNvSpPr/>
            <p:nvPr/>
          </p:nvSpPr>
          <p:spPr>
            <a:xfrm>
              <a:off x="1001750" y="548538"/>
              <a:ext cx="7319645" cy="4834255"/>
            </a:xfrm>
            <a:custGeom>
              <a:avLst/>
              <a:gdLst/>
              <a:ahLst/>
              <a:cxnLst/>
              <a:rect l="l" t="t" r="r" b="b"/>
              <a:pathLst>
                <a:path w="7319645" h="4834255">
                  <a:moveTo>
                    <a:pt x="0" y="4834001"/>
                  </a:moveTo>
                  <a:lnTo>
                    <a:pt x="7319391" y="4834001"/>
                  </a:lnTo>
                  <a:lnTo>
                    <a:pt x="7319391" y="0"/>
                  </a:lnTo>
                  <a:lnTo>
                    <a:pt x="0" y="0"/>
                  </a:lnTo>
                  <a:lnTo>
                    <a:pt x="0" y="4834001"/>
                  </a:lnTo>
                  <a:close/>
                </a:path>
              </a:pathLst>
            </a:custGeom>
            <a:ln w="9525">
              <a:solidFill>
                <a:srgbClr val="000000"/>
              </a:solidFill>
            </a:ln>
          </p:spPr>
          <p:txBody>
            <a:bodyPr wrap="square" lIns="0" tIns="0" rIns="0" bIns="0" rtlCol="0"/>
            <a:lstStyle/>
            <a:p>
              <a:endParaRPr sz="2160"/>
            </a:p>
          </p:txBody>
        </p:sp>
      </p:grpSp>
    </p:spTree>
    <p:extLst>
      <p:ext uri="{BB962C8B-B14F-4D97-AF65-F5344CB8AC3E}">
        <p14:creationId xmlns:p14="http://schemas.microsoft.com/office/powerpoint/2010/main" val="162982304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90488"/>
            <a:ext cx="3463925" cy="385762"/>
          </a:xfrm>
          <a:prstGeom prst="rect">
            <a:avLst/>
          </a:prstGeom>
        </p:spPr>
        <p:txBody>
          <a:bodyPr vert="horz" wrap="square" lIns="0" tIns="16002" rIns="0" bIns="0" rtlCol="0" anchor="b">
            <a:spAutoFit/>
          </a:bodyPr>
          <a:lstStyle/>
          <a:p>
            <a:pPr marL="15240">
              <a:lnSpc>
                <a:spcPct val="100000"/>
              </a:lnSpc>
              <a:spcBef>
                <a:spcPts val="126"/>
              </a:spcBef>
            </a:pPr>
            <a:r>
              <a:rPr sz="2400" spc="-12" dirty="0">
                <a:solidFill>
                  <a:srgbClr val="000000"/>
                </a:solidFill>
              </a:rPr>
              <a:t>Characteristics</a:t>
            </a:r>
            <a:r>
              <a:rPr sz="2400" spc="-6" dirty="0">
                <a:solidFill>
                  <a:srgbClr val="000000"/>
                </a:solidFill>
              </a:rPr>
              <a:t> </a:t>
            </a:r>
            <a:r>
              <a:rPr sz="2400" dirty="0">
                <a:solidFill>
                  <a:srgbClr val="000000"/>
                </a:solidFill>
              </a:rPr>
              <a:t>of</a:t>
            </a:r>
            <a:r>
              <a:rPr sz="2400" spc="-12" dirty="0">
                <a:solidFill>
                  <a:srgbClr val="000000"/>
                </a:solidFill>
              </a:rPr>
              <a:t> </a:t>
            </a:r>
            <a:r>
              <a:rPr sz="2400" dirty="0">
                <a:solidFill>
                  <a:srgbClr val="000000"/>
                </a:solidFill>
              </a:rPr>
              <a:t>Six</a:t>
            </a:r>
            <a:r>
              <a:rPr sz="2400" spc="-6" dirty="0">
                <a:solidFill>
                  <a:srgbClr val="000000"/>
                </a:solidFill>
              </a:rPr>
              <a:t> </a:t>
            </a:r>
            <a:r>
              <a:rPr sz="2400" spc="-12" dirty="0">
                <a:solidFill>
                  <a:srgbClr val="000000"/>
                </a:solidFill>
              </a:rPr>
              <a:t>Sigma</a:t>
            </a:r>
            <a:endParaRPr sz="2400"/>
          </a:p>
        </p:txBody>
      </p:sp>
      <p:grpSp>
        <p:nvGrpSpPr>
          <p:cNvPr id="3" name="object 3"/>
          <p:cNvGrpSpPr/>
          <p:nvPr/>
        </p:nvGrpSpPr>
        <p:grpSpPr>
          <a:xfrm>
            <a:off x="4961306" y="1101821"/>
            <a:ext cx="6503670" cy="4412742"/>
            <a:chOff x="3626421" y="918184"/>
            <a:chExt cx="5419725" cy="3677285"/>
          </a:xfrm>
        </p:grpSpPr>
        <p:pic>
          <p:nvPicPr>
            <p:cNvPr id="4" name="object 4"/>
            <p:cNvPicPr/>
            <p:nvPr/>
          </p:nvPicPr>
          <p:blipFill>
            <a:blip r:embed="rId2" cstate="print"/>
            <a:stretch>
              <a:fillRect/>
            </a:stretch>
          </p:blipFill>
          <p:spPr>
            <a:xfrm>
              <a:off x="3635883" y="1126906"/>
              <a:ext cx="5391501" cy="3422566"/>
            </a:xfrm>
            <a:prstGeom prst="rect">
              <a:avLst/>
            </a:prstGeom>
          </p:spPr>
        </p:pic>
        <p:sp>
          <p:nvSpPr>
            <p:cNvPr id="5" name="object 5"/>
            <p:cNvSpPr/>
            <p:nvPr/>
          </p:nvSpPr>
          <p:spPr>
            <a:xfrm>
              <a:off x="3631184" y="922947"/>
              <a:ext cx="5410200" cy="3667760"/>
            </a:xfrm>
            <a:custGeom>
              <a:avLst/>
              <a:gdLst/>
              <a:ahLst/>
              <a:cxnLst/>
              <a:rect l="l" t="t" r="r" b="b"/>
              <a:pathLst>
                <a:path w="5410200" h="3667760">
                  <a:moveTo>
                    <a:pt x="0" y="3667505"/>
                  </a:moveTo>
                  <a:lnTo>
                    <a:pt x="5410073" y="3667505"/>
                  </a:lnTo>
                  <a:lnTo>
                    <a:pt x="5410073" y="0"/>
                  </a:lnTo>
                  <a:lnTo>
                    <a:pt x="0" y="0"/>
                  </a:lnTo>
                  <a:lnTo>
                    <a:pt x="0" y="3667505"/>
                  </a:lnTo>
                  <a:close/>
                </a:path>
              </a:pathLst>
            </a:custGeom>
            <a:ln w="9524">
              <a:solidFill>
                <a:srgbClr val="000000"/>
              </a:solidFill>
            </a:ln>
          </p:spPr>
          <p:txBody>
            <a:bodyPr wrap="square" lIns="0" tIns="0" rIns="0" bIns="0" rtlCol="0"/>
            <a:lstStyle/>
            <a:p>
              <a:endParaRPr sz="2160"/>
            </a:p>
          </p:txBody>
        </p:sp>
      </p:grpSp>
      <p:sp>
        <p:nvSpPr>
          <p:cNvPr id="6" name="object 6"/>
          <p:cNvSpPr txBox="1"/>
          <p:nvPr/>
        </p:nvSpPr>
        <p:spPr>
          <a:xfrm>
            <a:off x="245097" y="404165"/>
            <a:ext cx="4546146" cy="1237262"/>
          </a:xfrm>
          <a:prstGeom prst="rect">
            <a:avLst/>
          </a:prstGeom>
        </p:spPr>
        <p:txBody>
          <a:bodyPr vert="horz" wrap="square" lIns="0" tIns="123444" rIns="0" bIns="0" rtlCol="0">
            <a:spAutoFit/>
          </a:bodyPr>
          <a:lstStyle/>
          <a:p>
            <a:pPr marL="289560" indent="-274320">
              <a:spcBef>
                <a:spcPts val="972"/>
              </a:spcBef>
              <a:buAutoNum type="arabicPeriod"/>
              <a:tabLst>
                <a:tab pos="289560" algn="l"/>
              </a:tabLst>
            </a:pPr>
            <a:r>
              <a:rPr sz="2160" b="1" i="1" spc="-12" dirty="0">
                <a:solidFill>
                  <a:srgbClr val="C00000"/>
                </a:solidFill>
                <a:latin typeface="Calibri"/>
                <a:cs typeface="Calibri"/>
              </a:rPr>
              <a:t>Statistical</a:t>
            </a:r>
            <a:r>
              <a:rPr sz="2160" b="1" i="1" spc="-30" dirty="0">
                <a:solidFill>
                  <a:srgbClr val="C00000"/>
                </a:solidFill>
                <a:latin typeface="Calibri"/>
                <a:cs typeface="Calibri"/>
              </a:rPr>
              <a:t> </a:t>
            </a:r>
            <a:r>
              <a:rPr sz="2160" b="1" i="1" dirty="0">
                <a:solidFill>
                  <a:srgbClr val="C00000"/>
                </a:solidFill>
                <a:latin typeface="Calibri"/>
                <a:cs typeface="Calibri"/>
              </a:rPr>
              <a:t>Quality </a:t>
            </a:r>
            <a:r>
              <a:rPr sz="2160" b="1" i="1" spc="-12" dirty="0">
                <a:solidFill>
                  <a:srgbClr val="C00000"/>
                </a:solidFill>
                <a:latin typeface="Calibri"/>
                <a:cs typeface="Calibri"/>
              </a:rPr>
              <a:t>Control</a:t>
            </a:r>
            <a:endParaRPr sz="2160" dirty="0">
              <a:latin typeface="Calibri"/>
              <a:cs typeface="Calibri"/>
            </a:endParaRPr>
          </a:p>
          <a:p>
            <a:pPr marL="358902" marR="6096" lvl="1" indent="-344424">
              <a:spcBef>
                <a:spcPts val="852"/>
              </a:spcBef>
              <a:buFont typeface="Arial MT"/>
              <a:buChar char="•"/>
              <a:tabLst>
                <a:tab pos="358902" algn="l"/>
              </a:tabLst>
            </a:pPr>
            <a:r>
              <a:rPr sz="2160" dirty="0">
                <a:latin typeface="Calibri"/>
                <a:cs typeface="Calibri"/>
              </a:rPr>
              <a:t>Six</a:t>
            </a:r>
            <a:r>
              <a:rPr sz="2160" spc="414" dirty="0">
                <a:latin typeface="Calibri"/>
                <a:cs typeface="Calibri"/>
              </a:rPr>
              <a:t> </a:t>
            </a:r>
            <a:r>
              <a:rPr sz="2160" dirty="0">
                <a:latin typeface="Calibri"/>
                <a:cs typeface="Calibri"/>
              </a:rPr>
              <a:t>Sigma</a:t>
            </a:r>
            <a:r>
              <a:rPr sz="2160" spc="420" dirty="0">
                <a:latin typeface="Calibri"/>
                <a:cs typeface="Calibri"/>
              </a:rPr>
              <a:t> </a:t>
            </a:r>
            <a:r>
              <a:rPr sz="2160" dirty="0">
                <a:latin typeface="Calibri"/>
                <a:cs typeface="Calibri"/>
              </a:rPr>
              <a:t>is</a:t>
            </a:r>
            <a:r>
              <a:rPr sz="2160" spc="426" dirty="0">
                <a:latin typeface="Calibri"/>
                <a:cs typeface="Calibri"/>
              </a:rPr>
              <a:t> </a:t>
            </a:r>
            <a:r>
              <a:rPr sz="2160" dirty="0">
                <a:latin typeface="Calibri"/>
                <a:cs typeface="Calibri"/>
              </a:rPr>
              <a:t>derived</a:t>
            </a:r>
            <a:r>
              <a:rPr sz="2160" spc="426" dirty="0">
                <a:latin typeface="Calibri"/>
                <a:cs typeface="Calibri"/>
              </a:rPr>
              <a:t> </a:t>
            </a:r>
            <a:r>
              <a:rPr sz="2160" dirty="0">
                <a:latin typeface="Calibri"/>
                <a:cs typeface="Calibri"/>
              </a:rPr>
              <a:t>from</a:t>
            </a:r>
            <a:r>
              <a:rPr sz="2160" spc="420" dirty="0">
                <a:latin typeface="Calibri"/>
                <a:cs typeface="Calibri"/>
              </a:rPr>
              <a:t> </a:t>
            </a:r>
            <a:r>
              <a:rPr sz="2160" spc="-30" dirty="0">
                <a:latin typeface="Calibri"/>
                <a:cs typeface="Calibri"/>
              </a:rPr>
              <a:t>the </a:t>
            </a:r>
            <a:r>
              <a:rPr sz="2160" dirty="0">
                <a:latin typeface="Calibri"/>
                <a:cs typeface="Calibri"/>
              </a:rPr>
              <a:t>Greek</a:t>
            </a:r>
            <a:r>
              <a:rPr sz="2160" spc="336" dirty="0">
                <a:latin typeface="Calibri"/>
                <a:cs typeface="Calibri"/>
              </a:rPr>
              <a:t> </a:t>
            </a:r>
            <a:r>
              <a:rPr sz="2160" dirty="0">
                <a:latin typeface="Calibri"/>
                <a:cs typeface="Calibri"/>
              </a:rPr>
              <a:t>Letter</a:t>
            </a:r>
            <a:r>
              <a:rPr sz="2160" spc="348" dirty="0">
                <a:latin typeface="Calibri"/>
                <a:cs typeface="Calibri"/>
              </a:rPr>
              <a:t> </a:t>
            </a:r>
            <a:r>
              <a:rPr sz="2160" b="1" dirty="0">
                <a:solidFill>
                  <a:srgbClr val="FF0000"/>
                </a:solidFill>
                <a:latin typeface="Calibri"/>
                <a:cs typeface="Calibri"/>
              </a:rPr>
              <a:t>σ</a:t>
            </a:r>
            <a:r>
              <a:rPr sz="2160" b="1" spc="354" dirty="0">
                <a:solidFill>
                  <a:srgbClr val="FF0000"/>
                </a:solidFill>
                <a:latin typeface="Calibri"/>
                <a:cs typeface="Calibri"/>
              </a:rPr>
              <a:t> </a:t>
            </a:r>
            <a:r>
              <a:rPr sz="2160" dirty="0">
                <a:latin typeface="Calibri"/>
                <a:cs typeface="Calibri"/>
              </a:rPr>
              <a:t>(Sigmat,</a:t>
            </a:r>
            <a:r>
              <a:rPr sz="2160" spc="342" dirty="0">
                <a:latin typeface="Calibri"/>
                <a:cs typeface="Calibri"/>
              </a:rPr>
              <a:t> </a:t>
            </a:r>
            <a:r>
              <a:rPr sz="2160" spc="-24" dirty="0">
                <a:latin typeface="Calibri"/>
                <a:cs typeface="Calibri"/>
              </a:rPr>
              <a:t>which</a:t>
            </a:r>
            <a:endParaRPr sz="2160" dirty="0">
              <a:latin typeface="Calibri"/>
              <a:cs typeface="Calibri"/>
            </a:endParaRPr>
          </a:p>
        </p:txBody>
      </p:sp>
      <p:sp>
        <p:nvSpPr>
          <p:cNvPr id="7" name="object 7"/>
          <p:cNvSpPr txBox="1"/>
          <p:nvPr/>
        </p:nvSpPr>
        <p:spPr>
          <a:xfrm>
            <a:off x="631596" y="1608430"/>
            <a:ext cx="4160561" cy="347788"/>
          </a:xfrm>
          <a:prstGeom prst="rect">
            <a:avLst/>
          </a:prstGeom>
        </p:spPr>
        <p:txBody>
          <a:bodyPr vert="horz" wrap="square" lIns="0" tIns="15240" rIns="0" bIns="0" rtlCol="0">
            <a:spAutoFit/>
          </a:bodyPr>
          <a:lstStyle/>
          <a:p>
            <a:pPr marL="15240">
              <a:spcBef>
                <a:spcPts val="120"/>
              </a:spcBef>
              <a:tabLst>
                <a:tab pos="364236" algn="l"/>
                <a:tab pos="1077468" algn="l"/>
                <a:tab pos="1492758" algn="l"/>
                <a:tab pos="2471166" algn="l"/>
              </a:tabLst>
            </a:pPr>
            <a:r>
              <a:rPr sz="2160" spc="-30" dirty="0">
                <a:latin typeface="Calibri"/>
                <a:cs typeface="Calibri"/>
              </a:rPr>
              <a:t>is</a:t>
            </a:r>
            <a:r>
              <a:rPr sz="2160" dirty="0">
                <a:latin typeface="Calibri"/>
                <a:cs typeface="Calibri"/>
              </a:rPr>
              <a:t>	</a:t>
            </a:r>
            <a:r>
              <a:rPr sz="2160" spc="-24" dirty="0">
                <a:latin typeface="Calibri"/>
                <a:cs typeface="Calibri"/>
              </a:rPr>
              <a:t>used</a:t>
            </a:r>
            <a:r>
              <a:rPr sz="2160" dirty="0">
                <a:latin typeface="Calibri"/>
                <a:cs typeface="Calibri"/>
              </a:rPr>
              <a:t>	</a:t>
            </a:r>
            <a:r>
              <a:rPr sz="2160" spc="-30" dirty="0">
                <a:latin typeface="Calibri"/>
                <a:cs typeface="Calibri"/>
              </a:rPr>
              <a:t>to</a:t>
            </a:r>
            <a:r>
              <a:rPr sz="2160" dirty="0">
                <a:latin typeface="Calibri"/>
                <a:cs typeface="Calibri"/>
              </a:rPr>
              <a:t>	</a:t>
            </a:r>
            <a:r>
              <a:rPr sz="2160" b="1" i="1" spc="-12" dirty="0">
                <a:solidFill>
                  <a:srgbClr val="6F2F9F"/>
                </a:solidFill>
                <a:latin typeface="Calibri"/>
                <a:cs typeface="Calibri"/>
              </a:rPr>
              <a:t>denote</a:t>
            </a:r>
            <a:r>
              <a:rPr sz="2160" b="1" i="1" dirty="0">
                <a:solidFill>
                  <a:srgbClr val="6F2F9F"/>
                </a:solidFill>
                <a:latin typeface="Calibri"/>
                <a:cs typeface="Calibri"/>
              </a:rPr>
              <a:t>	</a:t>
            </a:r>
            <a:r>
              <a:rPr sz="2160" b="1" i="1" spc="-12" dirty="0">
                <a:solidFill>
                  <a:srgbClr val="6F2F9F"/>
                </a:solidFill>
                <a:latin typeface="Calibri"/>
                <a:cs typeface="Calibri"/>
              </a:rPr>
              <a:t>Standard</a:t>
            </a:r>
            <a:endParaRPr sz="2160" dirty="0">
              <a:latin typeface="Calibri"/>
              <a:cs typeface="Calibri"/>
            </a:endParaRPr>
          </a:p>
        </p:txBody>
      </p:sp>
      <p:sp>
        <p:nvSpPr>
          <p:cNvPr id="8" name="object 8"/>
          <p:cNvSpPr txBox="1"/>
          <p:nvPr/>
        </p:nvSpPr>
        <p:spPr>
          <a:xfrm>
            <a:off x="311085" y="1831745"/>
            <a:ext cx="4483206" cy="889731"/>
          </a:xfrm>
          <a:prstGeom prst="rect">
            <a:avLst/>
          </a:prstGeom>
        </p:spPr>
        <p:txBody>
          <a:bodyPr vert="horz" wrap="square" lIns="0" tIns="121158" rIns="0" bIns="0" rtlCol="0">
            <a:spAutoFit/>
          </a:bodyPr>
          <a:lstStyle/>
          <a:p>
            <a:pPr marL="358902">
              <a:spcBef>
                <a:spcPts val="954"/>
              </a:spcBef>
            </a:pPr>
            <a:r>
              <a:rPr sz="2160" b="1" i="1" dirty="0">
                <a:solidFill>
                  <a:srgbClr val="6F2F9F"/>
                </a:solidFill>
                <a:latin typeface="Calibri"/>
                <a:cs typeface="Calibri"/>
              </a:rPr>
              <a:t>Deviation</a:t>
            </a:r>
            <a:r>
              <a:rPr sz="2160" b="1" i="1" spc="-54" dirty="0">
                <a:solidFill>
                  <a:srgbClr val="6F2F9F"/>
                </a:solidFill>
                <a:latin typeface="Calibri"/>
                <a:cs typeface="Calibri"/>
              </a:rPr>
              <a:t> </a:t>
            </a:r>
            <a:r>
              <a:rPr sz="2160" dirty="0">
                <a:latin typeface="Calibri"/>
                <a:cs typeface="Calibri"/>
              </a:rPr>
              <a:t>in</a:t>
            </a:r>
            <a:r>
              <a:rPr sz="2160" spc="-48" dirty="0">
                <a:latin typeface="Calibri"/>
                <a:cs typeface="Calibri"/>
              </a:rPr>
              <a:t> </a:t>
            </a:r>
            <a:r>
              <a:rPr sz="2160" spc="-12" dirty="0">
                <a:latin typeface="Calibri"/>
                <a:cs typeface="Calibri"/>
              </a:rPr>
              <a:t>statistics.</a:t>
            </a:r>
            <a:endParaRPr sz="2160" dirty="0">
              <a:latin typeface="Calibri"/>
              <a:cs typeface="Calibri"/>
            </a:endParaRPr>
          </a:p>
          <a:p>
            <a:pPr marL="358902" indent="-343662">
              <a:spcBef>
                <a:spcPts val="834"/>
              </a:spcBef>
              <a:buFont typeface="Arial MT"/>
              <a:buChar char="•"/>
              <a:tabLst>
                <a:tab pos="358902" algn="l"/>
              </a:tabLst>
            </a:pPr>
            <a:r>
              <a:rPr sz="2160" dirty="0">
                <a:latin typeface="Calibri"/>
                <a:cs typeface="Calibri"/>
              </a:rPr>
              <a:t>Standard</a:t>
            </a:r>
            <a:r>
              <a:rPr sz="2160" spc="245" dirty="0">
                <a:latin typeface="Calibri"/>
                <a:cs typeface="Calibri"/>
              </a:rPr>
              <a:t> </a:t>
            </a:r>
            <a:r>
              <a:rPr sz="2160" dirty="0">
                <a:latin typeface="Calibri"/>
                <a:cs typeface="Calibri"/>
              </a:rPr>
              <a:t>Deviation</a:t>
            </a:r>
            <a:r>
              <a:rPr sz="2160" spc="245" dirty="0">
                <a:latin typeface="Calibri"/>
                <a:cs typeface="Calibri"/>
              </a:rPr>
              <a:t> </a:t>
            </a:r>
            <a:r>
              <a:rPr sz="2160" dirty="0">
                <a:latin typeface="Calibri"/>
                <a:cs typeface="Calibri"/>
              </a:rPr>
              <a:t>is</a:t>
            </a:r>
            <a:r>
              <a:rPr sz="2160" spc="258" dirty="0">
                <a:latin typeface="Calibri"/>
                <a:cs typeface="Calibri"/>
              </a:rPr>
              <a:t> </a:t>
            </a:r>
            <a:r>
              <a:rPr sz="2160" dirty="0">
                <a:latin typeface="Calibri"/>
                <a:cs typeface="Calibri"/>
              </a:rPr>
              <a:t>used</a:t>
            </a:r>
            <a:r>
              <a:rPr sz="2160" spc="252" dirty="0">
                <a:latin typeface="Calibri"/>
                <a:cs typeface="Calibri"/>
              </a:rPr>
              <a:t> </a:t>
            </a:r>
            <a:r>
              <a:rPr sz="2160" spc="-30" dirty="0">
                <a:latin typeface="Calibri"/>
                <a:cs typeface="Calibri"/>
              </a:rPr>
              <a:t>for</a:t>
            </a:r>
            <a:endParaRPr sz="2160" dirty="0">
              <a:latin typeface="Calibri"/>
              <a:cs typeface="Calibri"/>
            </a:endParaRPr>
          </a:p>
        </p:txBody>
      </p:sp>
      <p:sp>
        <p:nvSpPr>
          <p:cNvPr id="9" name="object 9"/>
          <p:cNvSpPr txBox="1"/>
          <p:nvPr/>
        </p:nvSpPr>
        <p:spPr>
          <a:xfrm>
            <a:off x="113122" y="2702358"/>
            <a:ext cx="4678882" cy="3705117"/>
          </a:xfrm>
          <a:prstGeom prst="rect">
            <a:avLst/>
          </a:prstGeom>
        </p:spPr>
        <p:txBody>
          <a:bodyPr vert="horz" wrap="square" lIns="0" tIns="15240" rIns="0" bIns="0" rtlCol="0">
            <a:spAutoFit/>
          </a:bodyPr>
          <a:lstStyle/>
          <a:p>
            <a:pPr marL="358902" marR="6096" algn="just">
              <a:spcBef>
                <a:spcPts val="120"/>
              </a:spcBef>
            </a:pPr>
            <a:r>
              <a:rPr sz="2160" b="1" i="1" dirty="0">
                <a:solidFill>
                  <a:srgbClr val="006FC0"/>
                </a:solidFill>
                <a:latin typeface="Calibri"/>
                <a:cs typeface="Calibri"/>
              </a:rPr>
              <a:t>measuring</a:t>
            </a:r>
            <a:r>
              <a:rPr sz="2160" b="1" i="1" spc="270" dirty="0">
                <a:solidFill>
                  <a:srgbClr val="006FC0"/>
                </a:solidFill>
                <a:latin typeface="Calibri"/>
                <a:cs typeface="Calibri"/>
              </a:rPr>
              <a:t>   </a:t>
            </a:r>
            <a:r>
              <a:rPr sz="2160" b="1" i="1" dirty="0">
                <a:solidFill>
                  <a:srgbClr val="006FC0"/>
                </a:solidFill>
                <a:latin typeface="Calibri"/>
                <a:cs typeface="Calibri"/>
              </a:rPr>
              <a:t>the</a:t>
            </a:r>
            <a:r>
              <a:rPr sz="2160" b="1" i="1" spc="275" dirty="0">
                <a:solidFill>
                  <a:srgbClr val="006FC0"/>
                </a:solidFill>
                <a:latin typeface="Calibri"/>
                <a:cs typeface="Calibri"/>
              </a:rPr>
              <a:t>   </a:t>
            </a:r>
            <a:r>
              <a:rPr sz="2160" b="1" i="1" dirty="0">
                <a:solidFill>
                  <a:srgbClr val="006FC0"/>
                </a:solidFill>
                <a:latin typeface="Calibri"/>
                <a:cs typeface="Calibri"/>
              </a:rPr>
              <a:t>quality</a:t>
            </a:r>
            <a:r>
              <a:rPr sz="2160" b="1" i="1" spc="275" dirty="0">
                <a:solidFill>
                  <a:srgbClr val="006FC0"/>
                </a:solidFill>
                <a:latin typeface="Calibri"/>
                <a:cs typeface="Calibri"/>
              </a:rPr>
              <a:t>   </a:t>
            </a:r>
            <a:r>
              <a:rPr sz="2160" b="1" i="1" spc="-30" dirty="0">
                <a:solidFill>
                  <a:srgbClr val="006FC0"/>
                </a:solidFill>
                <a:latin typeface="Calibri"/>
                <a:cs typeface="Calibri"/>
              </a:rPr>
              <a:t>of </a:t>
            </a:r>
            <a:r>
              <a:rPr sz="2160" b="1" i="1" spc="-12" dirty="0">
                <a:solidFill>
                  <a:srgbClr val="006FC0"/>
                </a:solidFill>
                <a:latin typeface="Calibri"/>
                <a:cs typeface="Calibri"/>
              </a:rPr>
              <a:t>output.</a:t>
            </a:r>
            <a:endParaRPr sz="2160" dirty="0">
              <a:latin typeface="Calibri"/>
              <a:cs typeface="Calibri"/>
            </a:endParaRPr>
          </a:p>
          <a:p>
            <a:pPr marL="288798" indent="-273558" algn="just">
              <a:spcBef>
                <a:spcPts val="834"/>
              </a:spcBef>
              <a:buAutoNum type="arabicPeriod" startAt="2"/>
              <a:tabLst>
                <a:tab pos="288798" algn="l"/>
              </a:tabLst>
            </a:pPr>
            <a:r>
              <a:rPr sz="2160" b="1" i="1" dirty="0">
                <a:solidFill>
                  <a:srgbClr val="C00000"/>
                </a:solidFill>
                <a:latin typeface="Calibri"/>
                <a:cs typeface="Calibri"/>
              </a:rPr>
              <a:t>Methodical</a:t>
            </a:r>
            <a:r>
              <a:rPr sz="2160" b="1" i="1" spc="-84" dirty="0">
                <a:solidFill>
                  <a:srgbClr val="C00000"/>
                </a:solidFill>
                <a:latin typeface="Calibri"/>
                <a:cs typeface="Calibri"/>
              </a:rPr>
              <a:t> </a:t>
            </a:r>
            <a:r>
              <a:rPr sz="2160" b="1" i="1" spc="-12" dirty="0">
                <a:solidFill>
                  <a:srgbClr val="C00000"/>
                </a:solidFill>
                <a:latin typeface="Calibri"/>
                <a:cs typeface="Calibri"/>
              </a:rPr>
              <a:t>Approach</a:t>
            </a:r>
            <a:endParaRPr sz="2160" dirty="0">
              <a:latin typeface="Calibri"/>
              <a:cs typeface="Calibri"/>
            </a:endParaRPr>
          </a:p>
          <a:p>
            <a:pPr marL="358902" marR="6096" lvl="1" indent="-344424" algn="just">
              <a:spcBef>
                <a:spcPts val="852"/>
              </a:spcBef>
              <a:buFont typeface="Arial MT"/>
              <a:buChar char="•"/>
              <a:tabLst>
                <a:tab pos="358902" algn="l"/>
              </a:tabLst>
            </a:pPr>
            <a:r>
              <a:rPr sz="2160" dirty="0">
                <a:latin typeface="Calibri"/>
                <a:cs typeface="Calibri"/>
              </a:rPr>
              <a:t>The</a:t>
            </a:r>
            <a:r>
              <a:rPr sz="2160" spc="504" dirty="0">
                <a:latin typeface="Calibri"/>
                <a:cs typeface="Calibri"/>
              </a:rPr>
              <a:t> </a:t>
            </a:r>
            <a:r>
              <a:rPr sz="2160" dirty="0">
                <a:latin typeface="Calibri"/>
                <a:cs typeface="Calibri"/>
              </a:rPr>
              <a:t>Six</a:t>
            </a:r>
            <a:r>
              <a:rPr sz="2160" spc="491" dirty="0">
                <a:latin typeface="Calibri"/>
                <a:cs typeface="Calibri"/>
              </a:rPr>
              <a:t> </a:t>
            </a:r>
            <a:r>
              <a:rPr sz="2160" dirty="0">
                <a:latin typeface="Calibri"/>
                <a:cs typeface="Calibri"/>
              </a:rPr>
              <a:t>Sigma</a:t>
            </a:r>
            <a:r>
              <a:rPr sz="2160" spc="504" dirty="0">
                <a:latin typeface="Calibri"/>
                <a:cs typeface="Calibri"/>
              </a:rPr>
              <a:t> </a:t>
            </a:r>
            <a:r>
              <a:rPr sz="2160" dirty="0">
                <a:latin typeface="Calibri"/>
                <a:cs typeface="Calibri"/>
              </a:rPr>
              <a:t>is</a:t>
            </a:r>
            <a:r>
              <a:rPr sz="2160" spc="498" dirty="0">
                <a:latin typeface="Calibri"/>
                <a:cs typeface="Calibri"/>
              </a:rPr>
              <a:t> </a:t>
            </a:r>
            <a:r>
              <a:rPr sz="2160" dirty="0">
                <a:latin typeface="Calibri"/>
                <a:cs typeface="Calibri"/>
              </a:rPr>
              <a:t>a</a:t>
            </a:r>
            <a:r>
              <a:rPr sz="2160" spc="498" dirty="0">
                <a:latin typeface="Calibri"/>
                <a:cs typeface="Calibri"/>
              </a:rPr>
              <a:t> </a:t>
            </a:r>
            <a:r>
              <a:rPr sz="2160" spc="-24" dirty="0">
                <a:latin typeface="Calibri"/>
                <a:cs typeface="Calibri"/>
              </a:rPr>
              <a:t>systematic </a:t>
            </a:r>
            <a:r>
              <a:rPr sz="2160" dirty="0">
                <a:latin typeface="Calibri"/>
                <a:cs typeface="Calibri"/>
              </a:rPr>
              <a:t>approach</a:t>
            </a:r>
            <a:r>
              <a:rPr sz="2160" spc="486" dirty="0">
                <a:latin typeface="Calibri"/>
                <a:cs typeface="Calibri"/>
              </a:rPr>
              <a:t>  </a:t>
            </a:r>
            <a:r>
              <a:rPr sz="2160" dirty="0">
                <a:latin typeface="Calibri"/>
                <a:cs typeface="Calibri"/>
              </a:rPr>
              <a:t>of</a:t>
            </a:r>
            <a:r>
              <a:rPr sz="2160" spc="491" dirty="0">
                <a:latin typeface="Calibri"/>
                <a:cs typeface="Calibri"/>
              </a:rPr>
              <a:t>  </a:t>
            </a:r>
            <a:r>
              <a:rPr sz="2160" dirty="0">
                <a:latin typeface="Calibri"/>
                <a:cs typeface="Calibri"/>
              </a:rPr>
              <a:t>application</a:t>
            </a:r>
            <a:r>
              <a:rPr sz="2160" spc="491" dirty="0">
                <a:latin typeface="Calibri"/>
                <a:cs typeface="Calibri"/>
              </a:rPr>
              <a:t>  </a:t>
            </a:r>
            <a:r>
              <a:rPr sz="2160" spc="-30" dirty="0">
                <a:latin typeface="Calibri"/>
                <a:cs typeface="Calibri"/>
              </a:rPr>
              <a:t>in </a:t>
            </a:r>
            <a:r>
              <a:rPr sz="2160" b="1" dirty="0">
                <a:solidFill>
                  <a:srgbClr val="6F2F9F"/>
                </a:solidFill>
                <a:latin typeface="Calibri"/>
                <a:cs typeface="Calibri"/>
              </a:rPr>
              <a:t>DMAIC</a:t>
            </a:r>
            <a:r>
              <a:rPr lang="en-US" sz="2160" b="1" dirty="0">
                <a:solidFill>
                  <a:srgbClr val="6F2F9F"/>
                </a:solidFill>
                <a:latin typeface="Calibri"/>
                <a:cs typeface="Calibri"/>
              </a:rPr>
              <a:t> (</a:t>
            </a:r>
            <a:r>
              <a:rPr lang="en-US" sz="2400" dirty="0"/>
              <a:t>Define, Measure, Analyze, Improve, and Control)</a:t>
            </a:r>
            <a:r>
              <a:rPr sz="2160" b="1" spc="66" dirty="0">
                <a:solidFill>
                  <a:srgbClr val="6F2F9F"/>
                </a:solidFill>
                <a:latin typeface="Calibri"/>
                <a:cs typeface="Calibri"/>
              </a:rPr>
              <a:t> </a:t>
            </a:r>
            <a:r>
              <a:rPr sz="2160" dirty="0">
                <a:latin typeface="Calibri"/>
                <a:cs typeface="Calibri"/>
              </a:rPr>
              <a:t>and</a:t>
            </a:r>
            <a:r>
              <a:rPr sz="2160" spc="78" dirty="0">
                <a:latin typeface="Calibri"/>
                <a:cs typeface="Calibri"/>
              </a:rPr>
              <a:t> </a:t>
            </a:r>
            <a:r>
              <a:rPr sz="2160" b="1" dirty="0">
                <a:solidFill>
                  <a:srgbClr val="6F2F9F"/>
                </a:solidFill>
                <a:latin typeface="Calibri"/>
                <a:cs typeface="Calibri"/>
              </a:rPr>
              <a:t>DMADV</a:t>
            </a:r>
            <a:r>
              <a:rPr lang="en-US" sz="2160" b="1" dirty="0">
                <a:solidFill>
                  <a:srgbClr val="6F2F9F"/>
                </a:solidFill>
                <a:latin typeface="Calibri"/>
                <a:cs typeface="Calibri"/>
              </a:rPr>
              <a:t> (</a:t>
            </a:r>
            <a:r>
              <a:rPr lang="en-US" sz="2400" dirty="0"/>
              <a:t>define, measure, analyze, design, and verify.)</a:t>
            </a:r>
            <a:r>
              <a:rPr sz="2160" b="1" spc="78" dirty="0">
                <a:solidFill>
                  <a:srgbClr val="6F2F9F"/>
                </a:solidFill>
                <a:latin typeface="Calibri"/>
                <a:cs typeface="Calibri"/>
              </a:rPr>
              <a:t> </a:t>
            </a:r>
            <a:r>
              <a:rPr sz="2160" dirty="0">
                <a:latin typeface="Calibri"/>
                <a:cs typeface="Calibri"/>
              </a:rPr>
              <a:t>which</a:t>
            </a:r>
            <a:r>
              <a:rPr sz="2160" spc="72" dirty="0">
                <a:latin typeface="Calibri"/>
                <a:cs typeface="Calibri"/>
              </a:rPr>
              <a:t> </a:t>
            </a:r>
            <a:r>
              <a:rPr sz="2160" spc="-30" dirty="0">
                <a:latin typeface="Calibri"/>
                <a:cs typeface="Calibri"/>
              </a:rPr>
              <a:t>can </a:t>
            </a:r>
            <a:r>
              <a:rPr sz="2160" dirty="0">
                <a:latin typeface="Calibri"/>
                <a:cs typeface="Calibri"/>
              </a:rPr>
              <a:t>be</a:t>
            </a:r>
            <a:r>
              <a:rPr sz="2160" spc="-12" dirty="0">
                <a:latin typeface="Calibri"/>
                <a:cs typeface="Calibri"/>
              </a:rPr>
              <a:t> </a:t>
            </a:r>
            <a:r>
              <a:rPr sz="2160" dirty="0">
                <a:latin typeface="Calibri"/>
                <a:cs typeface="Calibri"/>
              </a:rPr>
              <a:t>used </a:t>
            </a:r>
            <a:r>
              <a:rPr sz="2160" b="1" i="1" dirty="0">
                <a:solidFill>
                  <a:srgbClr val="006FC0"/>
                </a:solidFill>
                <a:latin typeface="Calibri"/>
                <a:cs typeface="Calibri"/>
              </a:rPr>
              <a:t>to</a:t>
            </a:r>
            <a:r>
              <a:rPr sz="2160" b="1" i="1" spc="-12" dirty="0">
                <a:solidFill>
                  <a:srgbClr val="006FC0"/>
                </a:solidFill>
                <a:latin typeface="Calibri"/>
                <a:cs typeface="Calibri"/>
              </a:rPr>
              <a:t> </a:t>
            </a:r>
            <a:r>
              <a:rPr sz="2160" b="1" i="1" dirty="0">
                <a:solidFill>
                  <a:srgbClr val="006FC0"/>
                </a:solidFill>
                <a:latin typeface="Calibri"/>
                <a:cs typeface="Calibri"/>
              </a:rPr>
              <a:t>improve the </a:t>
            </a:r>
            <a:r>
              <a:rPr sz="2160" b="1" i="1" spc="-12" dirty="0">
                <a:solidFill>
                  <a:srgbClr val="006FC0"/>
                </a:solidFill>
                <a:latin typeface="Calibri"/>
                <a:cs typeface="Calibri"/>
              </a:rPr>
              <a:t>quality </a:t>
            </a:r>
            <a:r>
              <a:rPr sz="2160" b="1" i="1" dirty="0">
                <a:solidFill>
                  <a:srgbClr val="006FC0"/>
                </a:solidFill>
                <a:latin typeface="Calibri"/>
                <a:cs typeface="Calibri"/>
              </a:rPr>
              <a:t>of</a:t>
            </a:r>
            <a:r>
              <a:rPr sz="2160" b="1" i="1" spc="-24" dirty="0">
                <a:solidFill>
                  <a:srgbClr val="006FC0"/>
                </a:solidFill>
                <a:latin typeface="Calibri"/>
                <a:cs typeface="Calibri"/>
              </a:rPr>
              <a:t> </a:t>
            </a:r>
            <a:r>
              <a:rPr sz="2160" b="1" i="1" spc="-12" dirty="0">
                <a:solidFill>
                  <a:srgbClr val="006FC0"/>
                </a:solidFill>
                <a:latin typeface="Calibri"/>
                <a:cs typeface="Calibri"/>
              </a:rPr>
              <a:t>production</a:t>
            </a:r>
            <a:r>
              <a:rPr sz="2160" spc="-12" dirty="0">
                <a:latin typeface="Calibri"/>
                <a:cs typeface="Calibri"/>
              </a:rPr>
              <a:t>.</a:t>
            </a:r>
            <a:endParaRPr sz="2160" dirty="0">
              <a:latin typeface="Calibri"/>
              <a:cs typeface="Calibri"/>
            </a:endParaRPr>
          </a:p>
        </p:txBody>
      </p:sp>
    </p:spTree>
    <p:extLst>
      <p:ext uri="{BB962C8B-B14F-4D97-AF65-F5344CB8AC3E}">
        <p14:creationId xmlns:p14="http://schemas.microsoft.com/office/powerpoint/2010/main" val="21217014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9521" y="183212"/>
            <a:ext cx="10356342" cy="4911344"/>
          </a:xfrm>
          <a:prstGeom prst="rect">
            <a:avLst/>
          </a:prstGeom>
        </p:spPr>
        <p:txBody>
          <a:bodyPr vert="horz" wrap="square" lIns="0" tIns="84582" rIns="0" bIns="0" rtlCol="0">
            <a:spAutoFit/>
          </a:bodyPr>
          <a:lstStyle/>
          <a:p>
            <a:pPr marL="302514" indent="-287274">
              <a:spcBef>
                <a:spcPts val="666"/>
              </a:spcBef>
              <a:buAutoNum type="arabicPeriod" startAt="3"/>
              <a:tabLst>
                <a:tab pos="302514" algn="l"/>
              </a:tabLst>
            </a:pPr>
            <a:r>
              <a:rPr sz="2280" b="1" i="1" dirty="0">
                <a:solidFill>
                  <a:srgbClr val="C00000"/>
                </a:solidFill>
                <a:latin typeface="Calibri"/>
                <a:cs typeface="Calibri"/>
              </a:rPr>
              <a:t>Fact</a:t>
            </a:r>
            <a:r>
              <a:rPr sz="2280" b="1" i="1" spc="-18" dirty="0">
                <a:solidFill>
                  <a:srgbClr val="C00000"/>
                </a:solidFill>
                <a:latin typeface="Calibri"/>
                <a:cs typeface="Calibri"/>
              </a:rPr>
              <a:t> </a:t>
            </a:r>
            <a:r>
              <a:rPr sz="2280" b="1" i="1" dirty="0">
                <a:solidFill>
                  <a:srgbClr val="C00000"/>
                </a:solidFill>
                <a:latin typeface="Calibri"/>
                <a:cs typeface="Calibri"/>
              </a:rPr>
              <a:t>and</a:t>
            </a:r>
            <a:r>
              <a:rPr sz="2280" b="1" i="1" spc="-30" dirty="0">
                <a:solidFill>
                  <a:srgbClr val="C00000"/>
                </a:solidFill>
                <a:latin typeface="Calibri"/>
                <a:cs typeface="Calibri"/>
              </a:rPr>
              <a:t> Data-</a:t>
            </a:r>
            <a:r>
              <a:rPr sz="2280" b="1" i="1" dirty="0">
                <a:solidFill>
                  <a:srgbClr val="C00000"/>
                </a:solidFill>
                <a:latin typeface="Calibri"/>
                <a:cs typeface="Calibri"/>
              </a:rPr>
              <a:t>Based </a:t>
            </a:r>
            <a:r>
              <a:rPr sz="2280" b="1" i="1" spc="-12" dirty="0">
                <a:solidFill>
                  <a:srgbClr val="C00000"/>
                </a:solidFill>
                <a:latin typeface="Calibri"/>
                <a:cs typeface="Calibri"/>
              </a:rPr>
              <a:t>Approach</a:t>
            </a:r>
            <a:endParaRPr sz="2280">
              <a:latin typeface="Calibri"/>
              <a:cs typeface="Calibri"/>
            </a:endParaRPr>
          </a:p>
          <a:p>
            <a:pPr marL="358902" lvl="1" indent="-343662">
              <a:spcBef>
                <a:spcPts val="546"/>
              </a:spcBef>
              <a:buFont typeface="Arial MT"/>
              <a:buChar char="•"/>
              <a:tabLst>
                <a:tab pos="358902" algn="l"/>
              </a:tabLst>
            </a:pPr>
            <a:r>
              <a:rPr sz="2280" dirty="0">
                <a:latin typeface="Calibri"/>
                <a:cs typeface="Calibri"/>
              </a:rPr>
              <a:t>Statistical</a:t>
            </a:r>
            <a:r>
              <a:rPr sz="2280" spc="491" dirty="0">
                <a:latin typeface="Calibri"/>
                <a:cs typeface="Calibri"/>
              </a:rPr>
              <a:t> </a:t>
            </a:r>
            <a:r>
              <a:rPr sz="2280" dirty="0">
                <a:latin typeface="Calibri"/>
                <a:cs typeface="Calibri"/>
              </a:rPr>
              <a:t>and</a:t>
            </a:r>
            <a:r>
              <a:rPr sz="2280" spc="480" dirty="0">
                <a:latin typeface="Calibri"/>
                <a:cs typeface="Calibri"/>
              </a:rPr>
              <a:t> </a:t>
            </a:r>
            <a:r>
              <a:rPr sz="2280" dirty="0">
                <a:latin typeface="Calibri"/>
                <a:cs typeface="Calibri"/>
              </a:rPr>
              <a:t>methodical</a:t>
            </a:r>
            <a:r>
              <a:rPr sz="2280" spc="498" dirty="0">
                <a:latin typeface="Calibri"/>
                <a:cs typeface="Calibri"/>
              </a:rPr>
              <a:t> </a:t>
            </a:r>
            <a:r>
              <a:rPr sz="2280" dirty="0">
                <a:latin typeface="Calibri"/>
                <a:cs typeface="Calibri"/>
              </a:rPr>
              <a:t>aspect</a:t>
            </a:r>
            <a:r>
              <a:rPr sz="2280" spc="491" dirty="0">
                <a:latin typeface="Calibri"/>
                <a:cs typeface="Calibri"/>
              </a:rPr>
              <a:t> </a:t>
            </a:r>
            <a:r>
              <a:rPr sz="2280" dirty="0">
                <a:latin typeface="Calibri"/>
                <a:cs typeface="Calibri"/>
              </a:rPr>
              <a:t>of</a:t>
            </a:r>
            <a:r>
              <a:rPr sz="2280" spc="474" dirty="0">
                <a:latin typeface="Calibri"/>
                <a:cs typeface="Calibri"/>
              </a:rPr>
              <a:t> </a:t>
            </a:r>
            <a:r>
              <a:rPr sz="2280" dirty="0">
                <a:latin typeface="Calibri"/>
                <a:cs typeface="Calibri"/>
              </a:rPr>
              <a:t>Six</a:t>
            </a:r>
            <a:r>
              <a:rPr sz="2280" spc="491" dirty="0">
                <a:latin typeface="Calibri"/>
                <a:cs typeface="Calibri"/>
              </a:rPr>
              <a:t> </a:t>
            </a:r>
            <a:r>
              <a:rPr sz="2280" dirty="0">
                <a:latin typeface="Calibri"/>
                <a:cs typeface="Calibri"/>
              </a:rPr>
              <a:t>Sigma</a:t>
            </a:r>
            <a:r>
              <a:rPr sz="2280" spc="491" dirty="0">
                <a:latin typeface="Calibri"/>
                <a:cs typeface="Calibri"/>
              </a:rPr>
              <a:t> </a:t>
            </a:r>
            <a:r>
              <a:rPr sz="2280" dirty="0">
                <a:latin typeface="Calibri"/>
                <a:cs typeface="Calibri"/>
              </a:rPr>
              <a:t>shows</a:t>
            </a:r>
            <a:r>
              <a:rPr sz="2280" spc="486" dirty="0">
                <a:latin typeface="Calibri"/>
                <a:cs typeface="Calibri"/>
              </a:rPr>
              <a:t> </a:t>
            </a:r>
            <a:r>
              <a:rPr sz="2280" dirty="0">
                <a:latin typeface="Calibri"/>
                <a:cs typeface="Calibri"/>
              </a:rPr>
              <a:t>the</a:t>
            </a:r>
            <a:r>
              <a:rPr sz="2280" spc="491" dirty="0">
                <a:latin typeface="Calibri"/>
                <a:cs typeface="Calibri"/>
              </a:rPr>
              <a:t> </a:t>
            </a:r>
            <a:r>
              <a:rPr sz="2280" b="1" i="1" dirty="0">
                <a:solidFill>
                  <a:srgbClr val="006FC0"/>
                </a:solidFill>
                <a:latin typeface="Calibri"/>
                <a:cs typeface="Calibri"/>
              </a:rPr>
              <a:t>scientific</a:t>
            </a:r>
            <a:r>
              <a:rPr sz="2280" b="1" i="1" spc="491" dirty="0">
                <a:solidFill>
                  <a:srgbClr val="006FC0"/>
                </a:solidFill>
                <a:latin typeface="Calibri"/>
                <a:cs typeface="Calibri"/>
              </a:rPr>
              <a:t> </a:t>
            </a:r>
            <a:r>
              <a:rPr sz="2280" b="1" i="1" dirty="0">
                <a:solidFill>
                  <a:srgbClr val="006FC0"/>
                </a:solidFill>
                <a:latin typeface="Calibri"/>
                <a:cs typeface="Calibri"/>
              </a:rPr>
              <a:t>basis</a:t>
            </a:r>
            <a:r>
              <a:rPr sz="2280" b="1" i="1" spc="474" dirty="0">
                <a:solidFill>
                  <a:srgbClr val="006FC0"/>
                </a:solidFill>
                <a:latin typeface="Calibri"/>
                <a:cs typeface="Calibri"/>
              </a:rPr>
              <a:t> </a:t>
            </a:r>
            <a:r>
              <a:rPr sz="2280" b="1" i="1" dirty="0">
                <a:solidFill>
                  <a:srgbClr val="006FC0"/>
                </a:solidFill>
                <a:latin typeface="Calibri"/>
                <a:cs typeface="Calibri"/>
              </a:rPr>
              <a:t>of</a:t>
            </a:r>
            <a:r>
              <a:rPr sz="2280" b="1" i="1" spc="491" dirty="0">
                <a:solidFill>
                  <a:srgbClr val="006FC0"/>
                </a:solidFill>
                <a:latin typeface="Calibri"/>
                <a:cs typeface="Calibri"/>
              </a:rPr>
              <a:t> </a:t>
            </a:r>
            <a:r>
              <a:rPr sz="2280" b="1" i="1" spc="-30" dirty="0">
                <a:solidFill>
                  <a:srgbClr val="006FC0"/>
                </a:solidFill>
                <a:latin typeface="Calibri"/>
                <a:cs typeface="Calibri"/>
              </a:rPr>
              <a:t>the</a:t>
            </a:r>
            <a:endParaRPr sz="2280">
              <a:latin typeface="Calibri"/>
              <a:cs typeface="Calibri"/>
            </a:endParaRPr>
          </a:p>
          <a:p>
            <a:pPr marL="358902"/>
            <a:r>
              <a:rPr sz="2280" b="1" i="1" spc="-12" dirty="0">
                <a:solidFill>
                  <a:srgbClr val="006FC0"/>
                </a:solidFill>
                <a:latin typeface="Calibri"/>
                <a:cs typeface="Calibri"/>
              </a:rPr>
              <a:t>technique</a:t>
            </a:r>
            <a:r>
              <a:rPr sz="2280" spc="-12" dirty="0">
                <a:latin typeface="Calibri"/>
                <a:cs typeface="Calibri"/>
              </a:rPr>
              <a:t>.</a:t>
            </a:r>
            <a:endParaRPr sz="2280">
              <a:latin typeface="Calibri"/>
              <a:cs typeface="Calibri"/>
            </a:endParaRPr>
          </a:p>
          <a:p>
            <a:pPr marL="358902" lvl="1" indent="-343662">
              <a:spcBef>
                <a:spcPts val="551"/>
              </a:spcBef>
              <a:buFont typeface="Arial MT"/>
              <a:buChar char="•"/>
              <a:tabLst>
                <a:tab pos="358902" algn="l"/>
              </a:tabLst>
            </a:pPr>
            <a:r>
              <a:rPr sz="2280" dirty="0">
                <a:latin typeface="Calibri"/>
                <a:cs typeface="Calibri"/>
              </a:rPr>
              <a:t>This</a:t>
            </a:r>
            <a:r>
              <a:rPr sz="2280" spc="-54" dirty="0">
                <a:latin typeface="Calibri"/>
                <a:cs typeface="Calibri"/>
              </a:rPr>
              <a:t> </a:t>
            </a:r>
            <a:r>
              <a:rPr sz="2280" dirty="0">
                <a:latin typeface="Calibri"/>
                <a:cs typeface="Calibri"/>
              </a:rPr>
              <a:t>highlights</a:t>
            </a:r>
            <a:r>
              <a:rPr sz="2280" spc="-12" dirty="0">
                <a:latin typeface="Calibri"/>
                <a:cs typeface="Calibri"/>
              </a:rPr>
              <a:t> </a:t>
            </a:r>
            <a:r>
              <a:rPr sz="2280" dirty="0">
                <a:latin typeface="Calibri"/>
                <a:cs typeface="Calibri"/>
              </a:rPr>
              <a:t>essential</a:t>
            </a:r>
            <a:r>
              <a:rPr sz="2280" spc="-66" dirty="0">
                <a:latin typeface="Calibri"/>
                <a:cs typeface="Calibri"/>
              </a:rPr>
              <a:t> </a:t>
            </a:r>
            <a:r>
              <a:rPr sz="2280" dirty="0">
                <a:latin typeface="Calibri"/>
                <a:cs typeface="Calibri"/>
              </a:rPr>
              <a:t>elements</a:t>
            </a:r>
            <a:r>
              <a:rPr sz="2280" spc="-42" dirty="0">
                <a:latin typeface="Calibri"/>
                <a:cs typeface="Calibri"/>
              </a:rPr>
              <a:t> </a:t>
            </a:r>
            <a:r>
              <a:rPr sz="2280" dirty="0">
                <a:latin typeface="Calibri"/>
                <a:cs typeface="Calibri"/>
              </a:rPr>
              <a:t>of</a:t>
            </a:r>
            <a:r>
              <a:rPr sz="2280" spc="-54" dirty="0">
                <a:latin typeface="Calibri"/>
                <a:cs typeface="Calibri"/>
              </a:rPr>
              <a:t> </a:t>
            </a:r>
            <a:r>
              <a:rPr sz="2280" dirty="0">
                <a:latin typeface="Calibri"/>
                <a:cs typeface="Calibri"/>
              </a:rPr>
              <a:t>the</a:t>
            </a:r>
            <a:r>
              <a:rPr sz="2280" spc="-54" dirty="0">
                <a:latin typeface="Calibri"/>
                <a:cs typeface="Calibri"/>
              </a:rPr>
              <a:t> </a:t>
            </a:r>
            <a:r>
              <a:rPr sz="2280" dirty="0">
                <a:latin typeface="Calibri"/>
                <a:cs typeface="Calibri"/>
              </a:rPr>
              <a:t>Six</a:t>
            </a:r>
            <a:r>
              <a:rPr sz="2280" spc="-60" dirty="0">
                <a:latin typeface="Calibri"/>
                <a:cs typeface="Calibri"/>
              </a:rPr>
              <a:t> </a:t>
            </a:r>
            <a:r>
              <a:rPr sz="2280" dirty="0">
                <a:latin typeface="Calibri"/>
                <a:cs typeface="Calibri"/>
              </a:rPr>
              <a:t>Sigma</a:t>
            </a:r>
            <a:r>
              <a:rPr sz="2280" spc="-36" dirty="0">
                <a:latin typeface="Calibri"/>
                <a:cs typeface="Calibri"/>
              </a:rPr>
              <a:t> </a:t>
            </a:r>
            <a:r>
              <a:rPr sz="2280" dirty="0">
                <a:latin typeface="Calibri"/>
                <a:cs typeface="Calibri"/>
              </a:rPr>
              <a:t>that</a:t>
            </a:r>
            <a:r>
              <a:rPr sz="2280" spc="-54" dirty="0">
                <a:latin typeface="Calibri"/>
                <a:cs typeface="Calibri"/>
              </a:rPr>
              <a:t> </a:t>
            </a:r>
            <a:r>
              <a:rPr sz="2280" dirty="0">
                <a:latin typeface="Calibri"/>
                <a:cs typeface="Calibri"/>
              </a:rPr>
              <a:t>is</a:t>
            </a:r>
            <a:r>
              <a:rPr sz="2280" spc="-60" dirty="0">
                <a:latin typeface="Calibri"/>
                <a:cs typeface="Calibri"/>
              </a:rPr>
              <a:t> </a:t>
            </a:r>
            <a:r>
              <a:rPr sz="2280" dirty="0">
                <a:latin typeface="Calibri"/>
                <a:cs typeface="Calibri"/>
              </a:rPr>
              <a:t>a</a:t>
            </a:r>
            <a:r>
              <a:rPr sz="2280" spc="-48" dirty="0">
                <a:latin typeface="Calibri"/>
                <a:cs typeface="Calibri"/>
              </a:rPr>
              <a:t> </a:t>
            </a:r>
            <a:r>
              <a:rPr sz="2280" dirty="0">
                <a:latin typeface="Calibri"/>
                <a:cs typeface="Calibri"/>
              </a:rPr>
              <a:t>fact</a:t>
            </a:r>
            <a:r>
              <a:rPr sz="2280" spc="-66" dirty="0">
                <a:latin typeface="Calibri"/>
                <a:cs typeface="Calibri"/>
              </a:rPr>
              <a:t> </a:t>
            </a:r>
            <a:r>
              <a:rPr sz="2280" dirty="0">
                <a:latin typeface="Calibri"/>
                <a:cs typeface="Calibri"/>
              </a:rPr>
              <a:t>and</a:t>
            </a:r>
            <a:r>
              <a:rPr sz="2280" spc="-48" dirty="0">
                <a:latin typeface="Calibri"/>
                <a:cs typeface="Calibri"/>
              </a:rPr>
              <a:t> </a:t>
            </a:r>
            <a:r>
              <a:rPr sz="2280" spc="-30" dirty="0">
                <a:latin typeface="Calibri"/>
                <a:cs typeface="Calibri"/>
              </a:rPr>
              <a:t>data-</a:t>
            </a:r>
            <a:r>
              <a:rPr sz="2280" spc="-12" dirty="0">
                <a:latin typeface="Calibri"/>
                <a:cs typeface="Calibri"/>
              </a:rPr>
              <a:t>based.</a:t>
            </a:r>
            <a:endParaRPr sz="2280">
              <a:latin typeface="Calibri"/>
              <a:cs typeface="Calibri"/>
            </a:endParaRPr>
          </a:p>
          <a:p>
            <a:pPr marL="15240">
              <a:spcBef>
                <a:spcPts val="546"/>
              </a:spcBef>
            </a:pPr>
            <a:r>
              <a:rPr sz="2280" b="1" i="1" dirty="0">
                <a:solidFill>
                  <a:srgbClr val="C00000"/>
                </a:solidFill>
                <a:latin typeface="Calibri"/>
                <a:cs typeface="Calibri"/>
              </a:rPr>
              <a:t>4.</a:t>
            </a:r>
            <a:r>
              <a:rPr sz="2280" b="1" i="1" spc="-36" dirty="0">
                <a:solidFill>
                  <a:srgbClr val="C00000"/>
                </a:solidFill>
                <a:latin typeface="Calibri"/>
                <a:cs typeface="Calibri"/>
              </a:rPr>
              <a:t> </a:t>
            </a:r>
            <a:r>
              <a:rPr sz="2280" b="1" i="1" dirty="0">
                <a:solidFill>
                  <a:srgbClr val="C00000"/>
                </a:solidFill>
                <a:latin typeface="Calibri"/>
                <a:cs typeface="Calibri"/>
              </a:rPr>
              <a:t>Project</a:t>
            </a:r>
            <a:r>
              <a:rPr sz="2280" b="1" i="1" spc="6" dirty="0">
                <a:solidFill>
                  <a:srgbClr val="C00000"/>
                </a:solidFill>
                <a:latin typeface="Calibri"/>
                <a:cs typeface="Calibri"/>
              </a:rPr>
              <a:t> </a:t>
            </a:r>
            <a:r>
              <a:rPr sz="2280" b="1" i="1" dirty="0">
                <a:solidFill>
                  <a:srgbClr val="C00000"/>
                </a:solidFill>
                <a:latin typeface="Calibri"/>
                <a:cs typeface="Calibri"/>
              </a:rPr>
              <a:t>and</a:t>
            </a:r>
            <a:r>
              <a:rPr sz="2280" b="1" i="1" spc="-24" dirty="0">
                <a:solidFill>
                  <a:srgbClr val="C00000"/>
                </a:solidFill>
                <a:latin typeface="Calibri"/>
                <a:cs typeface="Calibri"/>
              </a:rPr>
              <a:t> Objective-</a:t>
            </a:r>
            <a:r>
              <a:rPr sz="2280" b="1" i="1" dirty="0">
                <a:solidFill>
                  <a:srgbClr val="C00000"/>
                </a:solidFill>
                <a:latin typeface="Calibri"/>
                <a:cs typeface="Calibri"/>
              </a:rPr>
              <a:t>Based</a:t>
            </a:r>
            <a:r>
              <a:rPr sz="2280" b="1" i="1" spc="12" dirty="0">
                <a:solidFill>
                  <a:srgbClr val="C00000"/>
                </a:solidFill>
                <a:latin typeface="Calibri"/>
                <a:cs typeface="Calibri"/>
              </a:rPr>
              <a:t> </a:t>
            </a:r>
            <a:r>
              <a:rPr sz="2280" b="1" i="1" spc="-12" dirty="0">
                <a:solidFill>
                  <a:srgbClr val="C00000"/>
                </a:solidFill>
                <a:latin typeface="Calibri"/>
                <a:cs typeface="Calibri"/>
              </a:rPr>
              <a:t>Focus</a:t>
            </a:r>
            <a:endParaRPr sz="2280">
              <a:latin typeface="Calibri"/>
              <a:cs typeface="Calibri"/>
            </a:endParaRPr>
          </a:p>
          <a:p>
            <a:pPr marL="425958" indent="-410718">
              <a:spcBef>
                <a:spcPts val="546"/>
              </a:spcBef>
              <a:buFont typeface="Arial MT"/>
              <a:buChar char="•"/>
              <a:tabLst>
                <a:tab pos="425958" algn="l"/>
              </a:tabLst>
            </a:pPr>
            <a:r>
              <a:rPr sz="2280" dirty="0">
                <a:latin typeface="Calibri"/>
                <a:cs typeface="Calibri"/>
              </a:rPr>
              <a:t>The</a:t>
            </a:r>
            <a:r>
              <a:rPr sz="2280" spc="-42" dirty="0">
                <a:latin typeface="Calibri"/>
                <a:cs typeface="Calibri"/>
              </a:rPr>
              <a:t> </a:t>
            </a:r>
            <a:r>
              <a:rPr sz="2280" dirty="0">
                <a:latin typeface="Calibri"/>
                <a:cs typeface="Calibri"/>
              </a:rPr>
              <a:t>Six</a:t>
            </a:r>
            <a:r>
              <a:rPr sz="2280" spc="-42" dirty="0">
                <a:latin typeface="Calibri"/>
                <a:cs typeface="Calibri"/>
              </a:rPr>
              <a:t> </a:t>
            </a:r>
            <a:r>
              <a:rPr sz="2280" dirty="0">
                <a:latin typeface="Calibri"/>
                <a:cs typeface="Calibri"/>
              </a:rPr>
              <a:t>Sigma</a:t>
            </a:r>
            <a:r>
              <a:rPr sz="2280" spc="-36" dirty="0">
                <a:latin typeface="Calibri"/>
                <a:cs typeface="Calibri"/>
              </a:rPr>
              <a:t> </a:t>
            </a:r>
            <a:r>
              <a:rPr sz="2280" dirty="0">
                <a:latin typeface="Calibri"/>
                <a:cs typeface="Calibri"/>
              </a:rPr>
              <a:t>process</a:t>
            </a:r>
            <a:r>
              <a:rPr sz="2280" spc="-36" dirty="0">
                <a:latin typeface="Calibri"/>
                <a:cs typeface="Calibri"/>
              </a:rPr>
              <a:t> </a:t>
            </a:r>
            <a:r>
              <a:rPr sz="2280" dirty="0">
                <a:latin typeface="Calibri"/>
                <a:cs typeface="Calibri"/>
              </a:rPr>
              <a:t>is</a:t>
            </a:r>
            <a:r>
              <a:rPr sz="2280" spc="-48" dirty="0">
                <a:latin typeface="Calibri"/>
                <a:cs typeface="Calibri"/>
              </a:rPr>
              <a:t> </a:t>
            </a:r>
            <a:r>
              <a:rPr sz="2280" b="1" i="1" spc="-12" dirty="0">
                <a:solidFill>
                  <a:srgbClr val="006FC0"/>
                </a:solidFill>
                <a:latin typeface="Calibri"/>
                <a:cs typeface="Calibri"/>
              </a:rPr>
              <a:t>implemented</a:t>
            </a:r>
            <a:r>
              <a:rPr sz="2280" b="1" i="1" spc="-42" dirty="0">
                <a:solidFill>
                  <a:srgbClr val="006FC0"/>
                </a:solidFill>
                <a:latin typeface="Calibri"/>
                <a:cs typeface="Calibri"/>
              </a:rPr>
              <a:t> </a:t>
            </a:r>
            <a:r>
              <a:rPr sz="2280" b="1" i="1" dirty="0">
                <a:solidFill>
                  <a:srgbClr val="006FC0"/>
                </a:solidFill>
                <a:latin typeface="Calibri"/>
                <a:cs typeface="Calibri"/>
              </a:rPr>
              <a:t>to</a:t>
            </a:r>
            <a:r>
              <a:rPr sz="2280" b="1" i="1" spc="-48" dirty="0">
                <a:solidFill>
                  <a:srgbClr val="006FC0"/>
                </a:solidFill>
                <a:latin typeface="Calibri"/>
                <a:cs typeface="Calibri"/>
              </a:rPr>
              <a:t> </a:t>
            </a:r>
            <a:r>
              <a:rPr sz="2280" b="1" i="1" dirty="0">
                <a:solidFill>
                  <a:srgbClr val="006FC0"/>
                </a:solidFill>
                <a:latin typeface="Calibri"/>
                <a:cs typeface="Calibri"/>
              </a:rPr>
              <a:t>focus</a:t>
            </a:r>
            <a:r>
              <a:rPr sz="2280" b="1" i="1" spc="-30" dirty="0">
                <a:solidFill>
                  <a:srgbClr val="006FC0"/>
                </a:solidFill>
                <a:latin typeface="Calibri"/>
                <a:cs typeface="Calibri"/>
              </a:rPr>
              <a:t> </a:t>
            </a:r>
            <a:r>
              <a:rPr sz="2280" b="1" i="1" dirty="0">
                <a:solidFill>
                  <a:srgbClr val="006FC0"/>
                </a:solidFill>
                <a:latin typeface="Calibri"/>
                <a:cs typeface="Calibri"/>
              </a:rPr>
              <a:t>on</a:t>
            </a:r>
            <a:r>
              <a:rPr sz="2280" b="1" i="1" spc="-48" dirty="0">
                <a:solidFill>
                  <a:srgbClr val="006FC0"/>
                </a:solidFill>
                <a:latin typeface="Calibri"/>
                <a:cs typeface="Calibri"/>
              </a:rPr>
              <a:t> </a:t>
            </a:r>
            <a:r>
              <a:rPr sz="2280" b="1" i="1" dirty="0">
                <a:solidFill>
                  <a:srgbClr val="006FC0"/>
                </a:solidFill>
                <a:latin typeface="Calibri"/>
                <a:cs typeface="Calibri"/>
              </a:rPr>
              <a:t>the</a:t>
            </a:r>
            <a:r>
              <a:rPr sz="2280" b="1" i="1" spc="-36" dirty="0">
                <a:solidFill>
                  <a:srgbClr val="006FC0"/>
                </a:solidFill>
                <a:latin typeface="Calibri"/>
                <a:cs typeface="Calibri"/>
              </a:rPr>
              <a:t> </a:t>
            </a:r>
            <a:r>
              <a:rPr sz="2280" b="1" i="1" spc="-12" dirty="0">
                <a:solidFill>
                  <a:srgbClr val="006FC0"/>
                </a:solidFill>
                <a:latin typeface="Calibri"/>
                <a:cs typeface="Calibri"/>
              </a:rPr>
              <a:t>requirements</a:t>
            </a:r>
            <a:r>
              <a:rPr sz="2280" b="1" i="1" spc="-18" dirty="0">
                <a:solidFill>
                  <a:srgbClr val="006FC0"/>
                </a:solidFill>
                <a:latin typeface="Calibri"/>
                <a:cs typeface="Calibri"/>
              </a:rPr>
              <a:t> </a:t>
            </a:r>
            <a:r>
              <a:rPr sz="2280" b="1" i="1" dirty="0">
                <a:solidFill>
                  <a:srgbClr val="006FC0"/>
                </a:solidFill>
                <a:latin typeface="Calibri"/>
                <a:cs typeface="Calibri"/>
              </a:rPr>
              <a:t>and</a:t>
            </a:r>
            <a:r>
              <a:rPr sz="2280" b="1" i="1" spc="-36" dirty="0">
                <a:solidFill>
                  <a:srgbClr val="006FC0"/>
                </a:solidFill>
                <a:latin typeface="Calibri"/>
                <a:cs typeface="Calibri"/>
              </a:rPr>
              <a:t> </a:t>
            </a:r>
            <a:r>
              <a:rPr sz="2280" b="1" i="1" spc="-12" dirty="0">
                <a:solidFill>
                  <a:srgbClr val="006FC0"/>
                </a:solidFill>
                <a:latin typeface="Calibri"/>
                <a:cs typeface="Calibri"/>
              </a:rPr>
              <a:t>conditions.</a:t>
            </a:r>
            <a:endParaRPr sz="2280">
              <a:latin typeface="Calibri"/>
              <a:cs typeface="Calibri"/>
            </a:endParaRPr>
          </a:p>
          <a:p>
            <a:pPr marL="15240">
              <a:spcBef>
                <a:spcPts val="551"/>
              </a:spcBef>
            </a:pPr>
            <a:r>
              <a:rPr sz="2280" b="1" i="1" dirty="0">
                <a:solidFill>
                  <a:srgbClr val="C00000"/>
                </a:solidFill>
                <a:latin typeface="Calibri"/>
                <a:cs typeface="Calibri"/>
              </a:rPr>
              <a:t>5.</a:t>
            </a:r>
            <a:r>
              <a:rPr sz="2280" b="1" i="1" spc="-66" dirty="0">
                <a:solidFill>
                  <a:srgbClr val="C00000"/>
                </a:solidFill>
                <a:latin typeface="Calibri"/>
                <a:cs typeface="Calibri"/>
              </a:rPr>
              <a:t> </a:t>
            </a:r>
            <a:r>
              <a:rPr sz="2280" b="1" i="1" spc="-12" dirty="0">
                <a:solidFill>
                  <a:srgbClr val="C00000"/>
                </a:solidFill>
                <a:latin typeface="Calibri"/>
                <a:cs typeface="Calibri"/>
              </a:rPr>
              <a:t>Customer</a:t>
            </a:r>
            <a:r>
              <a:rPr sz="2280" b="1" i="1" spc="-24" dirty="0">
                <a:solidFill>
                  <a:srgbClr val="C00000"/>
                </a:solidFill>
                <a:latin typeface="Calibri"/>
                <a:cs typeface="Calibri"/>
              </a:rPr>
              <a:t> </a:t>
            </a:r>
            <a:r>
              <a:rPr sz="2280" b="1" i="1" spc="-12" dirty="0">
                <a:solidFill>
                  <a:srgbClr val="C00000"/>
                </a:solidFill>
                <a:latin typeface="Calibri"/>
                <a:cs typeface="Calibri"/>
              </a:rPr>
              <a:t>Focus</a:t>
            </a:r>
            <a:endParaRPr sz="2280">
              <a:latin typeface="Calibri"/>
              <a:cs typeface="Calibri"/>
            </a:endParaRPr>
          </a:p>
          <a:p>
            <a:pPr marL="425958" indent="-410718">
              <a:spcBef>
                <a:spcPts val="546"/>
              </a:spcBef>
              <a:buFont typeface="Arial MT"/>
              <a:buChar char="•"/>
              <a:tabLst>
                <a:tab pos="425958" algn="l"/>
              </a:tabLst>
            </a:pPr>
            <a:r>
              <a:rPr sz="2280" dirty="0">
                <a:latin typeface="Calibri"/>
                <a:cs typeface="Calibri"/>
              </a:rPr>
              <a:t>The</a:t>
            </a:r>
            <a:r>
              <a:rPr sz="2280" spc="-48" dirty="0">
                <a:latin typeface="Calibri"/>
                <a:cs typeface="Calibri"/>
              </a:rPr>
              <a:t> </a:t>
            </a:r>
            <a:r>
              <a:rPr sz="2280" dirty="0">
                <a:latin typeface="Calibri"/>
                <a:cs typeface="Calibri"/>
              </a:rPr>
              <a:t>customer</a:t>
            </a:r>
            <a:r>
              <a:rPr sz="2280" spc="-54" dirty="0">
                <a:latin typeface="Calibri"/>
                <a:cs typeface="Calibri"/>
              </a:rPr>
              <a:t> </a:t>
            </a:r>
            <a:r>
              <a:rPr sz="2280" dirty="0">
                <a:latin typeface="Calibri"/>
                <a:cs typeface="Calibri"/>
              </a:rPr>
              <a:t>focus</a:t>
            </a:r>
            <a:r>
              <a:rPr sz="2280" spc="-60" dirty="0">
                <a:latin typeface="Calibri"/>
                <a:cs typeface="Calibri"/>
              </a:rPr>
              <a:t> </a:t>
            </a:r>
            <a:r>
              <a:rPr sz="2280" dirty="0">
                <a:latin typeface="Calibri"/>
                <a:cs typeface="Calibri"/>
              </a:rPr>
              <a:t>is</a:t>
            </a:r>
            <a:r>
              <a:rPr sz="2280" spc="-42" dirty="0">
                <a:latin typeface="Calibri"/>
                <a:cs typeface="Calibri"/>
              </a:rPr>
              <a:t> </a:t>
            </a:r>
            <a:r>
              <a:rPr sz="2280" spc="-12" dirty="0">
                <a:latin typeface="Calibri"/>
                <a:cs typeface="Calibri"/>
              </a:rPr>
              <a:t>fundamental</a:t>
            </a:r>
            <a:r>
              <a:rPr sz="2280" spc="-30" dirty="0">
                <a:latin typeface="Calibri"/>
                <a:cs typeface="Calibri"/>
              </a:rPr>
              <a:t> </a:t>
            </a:r>
            <a:r>
              <a:rPr sz="2280" dirty="0">
                <a:latin typeface="Calibri"/>
                <a:cs typeface="Calibri"/>
              </a:rPr>
              <a:t>to</a:t>
            </a:r>
            <a:r>
              <a:rPr sz="2280" spc="-60" dirty="0">
                <a:latin typeface="Calibri"/>
                <a:cs typeface="Calibri"/>
              </a:rPr>
              <a:t> </a:t>
            </a:r>
            <a:r>
              <a:rPr sz="2280" dirty="0">
                <a:latin typeface="Calibri"/>
                <a:cs typeface="Calibri"/>
              </a:rPr>
              <a:t>the</a:t>
            </a:r>
            <a:r>
              <a:rPr sz="2280" spc="-42" dirty="0">
                <a:latin typeface="Calibri"/>
                <a:cs typeface="Calibri"/>
              </a:rPr>
              <a:t> </a:t>
            </a:r>
            <a:r>
              <a:rPr sz="2280" dirty="0">
                <a:latin typeface="Calibri"/>
                <a:cs typeface="Calibri"/>
              </a:rPr>
              <a:t>Six</a:t>
            </a:r>
            <a:r>
              <a:rPr sz="2280" spc="-48" dirty="0">
                <a:latin typeface="Calibri"/>
                <a:cs typeface="Calibri"/>
              </a:rPr>
              <a:t> </a:t>
            </a:r>
            <a:r>
              <a:rPr sz="2280" dirty="0">
                <a:latin typeface="Calibri"/>
                <a:cs typeface="Calibri"/>
              </a:rPr>
              <a:t>Sigma</a:t>
            </a:r>
            <a:r>
              <a:rPr sz="2280" spc="-36" dirty="0">
                <a:latin typeface="Calibri"/>
                <a:cs typeface="Calibri"/>
              </a:rPr>
              <a:t> </a:t>
            </a:r>
            <a:r>
              <a:rPr sz="2280" spc="-12" dirty="0">
                <a:latin typeface="Calibri"/>
                <a:cs typeface="Calibri"/>
              </a:rPr>
              <a:t>approach.</a:t>
            </a:r>
            <a:endParaRPr sz="2280">
              <a:latin typeface="Calibri"/>
              <a:cs typeface="Calibri"/>
            </a:endParaRPr>
          </a:p>
          <a:p>
            <a:pPr marL="426720" marR="7620" indent="-411480">
              <a:spcBef>
                <a:spcPts val="551"/>
              </a:spcBef>
              <a:buFont typeface="Arial MT"/>
              <a:buChar char="•"/>
              <a:tabLst>
                <a:tab pos="426720" algn="l"/>
              </a:tabLst>
            </a:pPr>
            <a:r>
              <a:rPr sz="2280" dirty="0">
                <a:latin typeface="Calibri"/>
                <a:cs typeface="Calibri"/>
              </a:rPr>
              <a:t>The</a:t>
            </a:r>
            <a:r>
              <a:rPr sz="2280" spc="414" dirty="0">
                <a:latin typeface="Calibri"/>
                <a:cs typeface="Calibri"/>
              </a:rPr>
              <a:t> </a:t>
            </a:r>
            <a:r>
              <a:rPr sz="2280" dirty="0">
                <a:latin typeface="Calibri"/>
                <a:cs typeface="Calibri"/>
              </a:rPr>
              <a:t>quality</a:t>
            </a:r>
            <a:r>
              <a:rPr sz="2280" spc="408" dirty="0">
                <a:latin typeface="Calibri"/>
                <a:cs typeface="Calibri"/>
              </a:rPr>
              <a:t> </a:t>
            </a:r>
            <a:r>
              <a:rPr sz="2280" dirty="0">
                <a:latin typeface="Calibri"/>
                <a:cs typeface="Calibri"/>
              </a:rPr>
              <a:t>improvement</a:t>
            </a:r>
            <a:r>
              <a:rPr sz="2280" spc="420" dirty="0">
                <a:latin typeface="Calibri"/>
                <a:cs typeface="Calibri"/>
              </a:rPr>
              <a:t> </a:t>
            </a:r>
            <a:r>
              <a:rPr sz="2280" dirty="0">
                <a:latin typeface="Calibri"/>
                <a:cs typeface="Calibri"/>
              </a:rPr>
              <a:t>and</a:t>
            </a:r>
            <a:r>
              <a:rPr sz="2280" spc="414" dirty="0">
                <a:latin typeface="Calibri"/>
                <a:cs typeface="Calibri"/>
              </a:rPr>
              <a:t> </a:t>
            </a:r>
            <a:r>
              <a:rPr sz="2280" dirty="0">
                <a:latin typeface="Calibri"/>
                <a:cs typeface="Calibri"/>
              </a:rPr>
              <a:t>control</a:t>
            </a:r>
            <a:r>
              <a:rPr sz="2280" spc="402" dirty="0">
                <a:latin typeface="Calibri"/>
                <a:cs typeface="Calibri"/>
              </a:rPr>
              <a:t> </a:t>
            </a:r>
            <a:r>
              <a:rPr sz="2280" dirty="0">
                <a:latin typeface="Calibri"/>
                <a:cs typeface="Calibri"/>
              </a:rPr>
              <a:t>standards</a:t>
            </a:r>
            <a:r>
              <a:rPr sz="2280" spc="420" dirty="0">
                <a:latin typeface="Calibri"/>
                <a:cs typeface="Calibri"/>
              </a:rPr>
              <a:t> </a:t>
            </a:r>
            <a:r>
              <a:rPr sz="2280" dirty="0">
                <a:latin typeface="Calibri"/>
                <a:cs typeface="Calibri"/>
              </a:rPr>
              <a:t>are</a:t>
            </a:r>
            <a:r>
              <a:rPr sz="2280" spc="402" dirty="0">
                <a:latin typeface="Calibri"/>
                <a:cs typeface="Calibri"/>
              </a:rPr>
              <a:t> </a:t>
            </a:r>
            <a:r>
              <a:rPr sz="2280" dirty="0">
                <a:latin typeface="Calibri"/>
                <a:cs typeface="Calibri"/>
              </a:rPr>
              <a:t>based</a:t>
            </a:r>
            <a:r>
              <a:rPr sz="2280" spc="426" dirty="0">
                <a:latin typeface="Calibri"/>
                <a:cs typeface="Calibri"/>
              </a:rPr>
              <a:t> </a:t>
            </a:r>
            <a:r>
              <a:rPr sz="2280" dirty="0">
                <a:latin typeface="Calibri"/>
                <a:cs typeface="Calibri"/>
              </a:rPr>
              <a:t>on</a:t>
            </a:r>
            <a:r>
              <a:rPr sz="2280" spc="396" dirty="0">
                <a:latin typeface="Calibri"/>
                <a:cs typeface="Calibri"/>
              </a:rPr>
              <a:t> </a:t>
            </a:r>
            <a:r>
              <a:rPr sz="2280" dirty="0">
                <a:latin typeface="Calibri"/>
                <a:cs typeface="Calibri"/>
              </a:rPr>
              <a:t>specific</a:t>
            </a:r>
            <a:r>
              <a:rPr sz="2280" spc="396" dirty="0">
                <a:latin typeface="Calibri"/>
                <a:cs typeface="Calibri"/>
              </a:rPr>
              <a:t> </a:t>
            </a:r>
            <a:r>
              <a:rPr sz="2280" spc="-12" dirty="0">
                <a:latin typeface="Calibri"/>
                <a:cs typeface="Calibri"/>
              </a:rPr>
              <a:t>customer requirements.</a:t>
            </a:r>
            <a:endParaRPr sz="2280">
              <a:latin typeface="Calibri"/>
              <a:cs typeface="Calibri"/>
            </a:endParaRPr>
          </a:p>
          <a:p>
            <a:pPr marL="302514" indent="-287274">
              <a:spcBef>
                <a:spcPts val="546"/>
              </a:spcBef>
              <a:buAutoNum type="arabicPeriod" startAt="6"/>
              <a:tabLst>
                <a:tab pos="302514" algn="l"/>
              </a:tabLst>
            </a:pPr>
            <a:r>
              <a:rPr sz="2280" b="1" i="1" spc="-30" dirty="0">
                <a:solidFill>
                  <a:srgbClr val="C00000"/>
                </a:solidFill>
                <a:latin typeface="Calibri"/>
                <a:cs typeface="Calibri"/>
              </a:rPr>
              <a:t>Teamwork</a:t>
            </a:r>
            <a:r>
              <a:rPr sz="2280" b="1" i="1" spc="-48" dirty="0">
                <a:solidFill>
                  <a:srgbClr val="C00000"/>
                </a:solidFill>
                <a:latin typeface="Calibri"/>
                <a:cs typeface="Calibri"/>
              </a:rPr>
              <a:t> </a:t>
            </a:r>
            <a:r>
              <a:rPr sz="2280" b="1" i="1" dirty="0">
                <a:solidFill>
                  <a:srgbClr val="C00000"/>
                </a:solidFill>
                <a:latin typeface="Calibri"/>
                <a:cs typeface="Calibri"/>
              </a:rPr>
              <a:t>Approach</a:t>
            </a:r>
            <a:r>
              <a:rPr sz="2280" b="1" i="1" spc="-42" dirty="0">
                <a:solidFill>
                  <a:srgbClr val="C00000"/>
                </a:solidFill>
                <a:latin typeface="Calibri"/>
                <a:cs typeface="Calibri"/>
              </a:rPr>
              <a:t> </a:t>
            </a:r>
            <a:r>
              <a:rPr sz="2280" b="1" i="1" dirty="0">
                <a:solidFill>
                  <a:srgbClr val="C00000"/>
                </a:solidFill>
                <a:latin typeface="Calibri"/>
                <a:cs typeface="Calibri"/>
              </a:rPr>
              <a:t>to</a:t>
            </a:r>
            <a:r>
              <a:rPr sz="2280" b="1" i="1" spc="-66" dirty="0">
                <a:solidFill>
                  <a:srgbClr val="C00000"/>
                </a:solidFill>
                <a:latin typeface="Calibri"/>
                <a:cs typeface="Calibri"/>
              </a:rPr>
              <a:t> </a:t>
            </a:r>
            <a:r>
              <a:rPr sz="2280" b="1" i="1" dirty="0">
                <a:solidFill>
                  <a:srgbClr val="C00000"/>
                </a:solidFill>
                <a:latin typeface="Calibri"/>
                <a:cs typeface="Calibri"/>
              </a:rPr>
              <a:t>Quality</a:t>
            </a:r>
            <a:r>
              <a:rPr sz="2280" b="1" i="1" spc="-60" dirty="0">
                <a:solidFill>
                  <a:srgbClr val="C00000"/>
                </a:solidFill>
                <a:latin typeface="Calibri"/>
                <a:cs typeface="Calibri"/>
              </a:rPr>
              <a:t> </a:t>
            </a:r>
            <a:r>
              <a:rPr sz="2280" b="1" i="1" spc="-12" dirty="0">
                <a:solidFill>
                  <a:srgbClr val="C00000"/>
                </a:solidFill>
                <a:latin typeface="Calibri"/>
                <a:cs typeface="Calibri"/>
              </a:rPr>
              <a:t>Management</a:t>
            </a:r>
            <a:endParaRPr sz="2280">
              <a:latin typeface="Calibri"/>
              <a:cs typeface="Calibri"/>
            </a:endParaRPr>
          </a:p>
          <a:p>
            <a:pPr marL="425958" lvl="1" indent="-410718">
              <a:spcBef>
                <a:spcPts val="546"/>
              </a:spcBef>
              <a:buFont typeface="Arial MT"/>
              <a:buChar char="•"/>
              <a:tabLst>
                <a:tab pos="425958" algn="l"/>
              </a:tabLst>
            </a:pPr>
            <a:r>
              <a:rPr sz="2280" dirty="0">
                <a:latin typeface="Calibri"/>
                <a:cs typeface="Calibri"/>
              </a:rPr>
              <a:t>The</a:t>
            </a:r>
            <a:r>
              <a:rPr sz="2280" spc="-72" dirty="0">
                <a:latin typeface="Calibri"/>
                <a:cs typeface="Calibri"/>
              </a:rPr>
              <a:t> </a:t>
            </a:r>
            <a:r>
              <a:rPr sz="2280" dirty="0">
                <a:latin typeface="Calibri"/>
                <a:cs typeface="Calibri"/>
              </a:rPr>
              <a:t>Six</a:t>
            </a:r>
            <a:r>
              <a:rPr sz="2280" spc="-66" dirty="0">
                <a:latin typeface="Calibri"/>
                <a:cs typeface="Calibri"/>
              </a:rPr>
              <a:t> </a:t>
            </a:r>
            <a:r>
              <a:rPr sz="2280" dirty="0">
                <a:latin typeface="Calibri"/>
                <a:cs typeface="Calibri"/>
              </a:rPr>
              <a:t>Sigma</a:t>
            </a:r>
            <a:r>
              <a:rPr sz="2280" spc="-84" dirty="0">
                <a:latin typeface="Calibri"/>
                <a:cs typeface="Calibri"/>
              </a:rPr>
              <a:t> </a:t>
            </a:r>
            <a:r>
              <a:rPr sz="2280" dirty="0">
                <a:latin typeface="Calibri"/>
                <a:cs typeface="Calibri"/>
              </a:rPr>
              <a:t>process</a:t>
            </a:r>
            <a:r>
              <a:rPr sz="2280" spc="-66" dirty="0">
                <a:latin typeface="Calibri"/>
                <a:cs typeface="Calibri"/>
              </a:rPr>
              <a:t> </a:t>
            </a:r>
            <a:r>
              <a:rPr sz="2280" spc="-12" dirty="0">
                <a:latin typeface="Calibri"/>
                <a:cs typeface="Calibri"/>
              </a:rPr>
              <a:t>requires</a:t>
            </a:r>
            <a:r>
              <a:rPr sz="2280" spc="-60" dirty="0">
                <a:latin typeface="Calibri"/>
                <a:cs typeface="Calibri"/>
              </a:rPr>
              <a:t> </a:t>
            </a:r>
            <a:r>
              <a:rPr sz="2280" spc="-12" dirty="0">
                <a:latin typeface="Calibri"/>
                <a:cs typeface="Calibri"/>
              </a:rPr>
              <a:t>organizations</a:t>
            </a:r>
            <a:r>
              <a:rPr sz="2280" spc="-48" dirty="0">
                <a:latin typeface="Calibri"/>
                <a:cs typeface="Calibri"/>
              </a:rPr>
              <a:t> </a:t>
            </a:r>
            <a:r>
              <a:rPr sz="2280" dirty="0">
                <a:latin typeface="Calibri"/>
                <a:cs typeface="Calibri"/>
              </a:rPr>
              <a:t>to</a:t>
            </a:r>
            <a:r>
              <a:rPr sz="2280" spc="-66" dirty="0">
                <a:latin typeface="Calibri"/>
                <a:cs typeface="Calibri"/>
              </a:rPr>
              <a:t> </a:t>
            </a:r>
            <a:r>
              <a:rPr sz="2280" dirty="0">
                <a:latin typeface="Calibri"/>
                <a:cs typeface="Calibri"/>
              </a:rPr>
              <a:t>get</a:t>
            </a:r>
            <a:r>
              <a:rPr sz="2280" spc="-72" dirty="0">
                <a:latin typeface="Calibri"/>
                <a:cs typeface="Calibri"/>
              </a:rPr>
              <a:t> </a:t>
            </a:r>
            <a:r>
              <a:rPr sz="2280" spc="-12" dirty="0">
                <a:latin typeface="Calibri"/>
                <a:cs typeface="Calibri"/>
              </a:rPr>
              <a:t>organized</a:t>
            </a:r>
            <a:r>
              <a:rPr sz="2280" spc="-30" dirty="0">
                <a:latin typeface="Calibri"/>
                <a:cs typeface="Calibri"/>
              </a:rPr>
              <a:t> </a:t>
            </a:r>
            <a:r>
              <a:rPr sz="2280" dirty="0">
                <a:latin typeface="Calibri"/>
                <a:cs typeface="Calibri"/>
              </a:rPr>
              <a:t>for</a:t>
            </a:r>
            <a:r>
              <a:rPr sz="2280" spc="-84" dirty="0">
                <a:latin typeface="Calibri"/>
                <a:cs typeface="Calibri"/>
              </a:rPr>
              <a:t> </a:t>
            </a:r>
            <a:r>
              <a:rPr sz="2280" dirty="0">
                <a:latin typeface="Calibri"/>
                <a:cs typeface="Calibri"/>
              </a:rPr>
              <a:t>improving</a:t>
            </a:r>
            <a:r>
              <a:rPr sz="2280" spc="-36" dirty="0">
                <a:latin typeface="Calibri"/>
                <a:cs typeface="Calibri"/>
              </a:rPr>
              <a:t> </a:t>
            </a:r>
            <a:r>
              <a:rPr sz="2280" spc="-12" dirty="0">
                <a:latin typeface="Calibri"/>
                <a:cs typeface="Calibri"/>
              </a:rPr>
              <a:t>quality.</a:t>
            </a:r>
            <a:endParaRPr sz="2280">
              <a:latin typeface="Calibri"/>
              <a:cs typeface="Calibri"/>
            </a:endParaRPr>
          </a:p>
        </p:txBody>
      </p:sp>
    </p:spTree>
    <p:extLst>
      <p:ext uri="{BB962C8B-B14F-4D97-AF65-F5344CB8AC3E}">
        <p14:creationId xmlns:p14="http://schemas.microsoft.com/office/powerpoint/2010/main" val="17962420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3201" y="80254"/>
            <a:ext cx="3039618" cy="1418081"/>
          </a:xfrm>
          <a:prstGeom prst="rect">
            <a:avLst/>
          </a:prstGeom>
        </p:spPr>
        <p:txBody>
          <a:bodyPr vert="horz" wrap="square" lIns="0" tIns="14478" rIns="0" bIns="0" rtlCol="0">
            <a:spAutoFit/>
          </a:bodyPr>
          <a:lstStyle/>
          <a:p>
            <a:pPr marL="15240">
              <a:spcBef>
                <a:spcPts val="114"/>
              </a:spcBef>
            </a:pPr>
            <a:r>
              <a:rPr sz="2280" b="1" dirty="0">
                <a:latin typeface="Calibri"/>
                <a:cs typeface="Calibri"/>
              </a:rPr>
              <a:t>Six</a:t>
            </a:r>
            <a:r>
              <a:rPr sz="2280" b="1" spc="-60" dirty="0">
                <a:latin typeface="Calibri"/>
                <a:cs typeface="Calibri"/>
              </a:rPr>
              <a:t> </a:t>
            </a:r>
            <a:r>
              <a:rPr sz="2280" b="1" dirty="0">
                <a:latin typeface="Calibri"/>
                <a:cs typeface="Calibri"/>
              </a:rPr>
              <a:t>Sigma</a:t>
            </a:r>
            <a:r>
              <a:rPr sz="2280" b="1" spc="-60" dirty="0">
                <a:latin typeface="Calibri"/>
                <a:cs typeface="Calibri"/>
              </a:rPr>
              <a:t> </a:t>
            </a:r>
            <a:r>
              <a:rPr sz="2280" b="1" spc="-12" dirty="0">
                <a:latin typeface="Calibri"/>
                <a:cs typeface="Calibri"/>
              </a:rPr>
              <a:t>Methodologies</a:t>
            </a:r>
            <a:endParaRPr sz="2280">
              <a:latin typeface="Calibri"/>
              <a:cs typeface="Calibri"/>
            </a:endParaRPr>
          </a:p>
          <a:p>
            <a:pPr marL="425958" marR="54864" indent="-411480">
              <a:buFont typeface="Arial MT"/>
              <a:buChar char="•"/>
              <a:tabLst>
                <a:tab pos="425958" algn="l"/>
                <a:tab pos="1035558" algn="l"/>
                <a:tab pos="2026920" algn="l"/>
              </a:tabLst>
            </a:pPr>
            <a:r>
              <a:rPr sz="2280" spc="-30" dirty="0">
                <a:latin typeface="Calibri"/>
                <a:cs typeface="Calibri"/>
              </a:rPr>
              <a:t>Six</a:t>
            </a:r>
            <a:r>
              <a:rPr sz="2280" dirty="0">
                <a:latin typeface="Calibri"/>
                <a:cs typeface="Calibri"/>
              </a:rPr>
              <a:t>	</a:t>
            </a:r>
            <a:r>
              <a:rPr sz="2280" spc="-12" dirty="0">
                <a:latin typeface="Calibri"/>
                <a:cs typeface="Calibri"/>
              </a:rPr>
              <a:t>Sigma</a:t>
            </a:r>
            <a:r>
              <a:rPr sz="2280" dirty="0">
                <a:latin typeface="Calibri"/>
                <a:cs typeface="Calibri"/>
              </a:rPr>
              <a:t>	</a:t>
            </a:r>
            <a:r>
              <a:rPr sz="2280" spc="-12" dirty="0">
                <a:latin typeface="Calibri"/>
                <a:cs typeface="Calibri"/>
              </a:rPr>
              <a:t>projects methodologies:</a:t>
            </a:r>
            <a:endParaRPr sz="2280">
              <a:latin typeface="Calibri"/>
              <a:cs typeface="Calibri"/>
            </a:endParaRPr>
          </a:p>
          <a:p>
            <a:pPr marL="15240"/>
            <a:r>
              <a:rPr sz="2280" b="1" dirty="0">
                <a:solidFill>
                  <a:srgbClr val="001F5F"/>
                </a:solidFill>
                <a:latin typeface="Calibri"/>
                <a:cs typeface="Calibri"/>
              </a:rPr>
              <a:t>1.</a:t>
            </a:r>
            <a:r>
              <a:rPr sz="2280" b="1" spc="480" dirty="0">
                <a:solidFill>
                  <a:srgbClr val="001F5F"/>
                </a:solidFill>
                <a:latin typeface="Calibri"/>
                <a:cs typeface="Calibri"/>
              </a:rPr>
              <a:t> </a:t>
            </a:r>
            <a:r>
              <a:rPr sz="2280" b="1" spc="-12" dirty="0">
                <a:solidFill>
                  <a:srgbClr val="001F5F"/>
                </a:solidFill>
                <a:latin typeface="Calibri"/>
                <a:cs typeface="Calibri"/>
              </a:rPr>
              <a:t>DMAIC</a:t>
            </a:r>
            <a:endParaRPr sz="2280">
              <a:latin typeface="Calibri"/>
              <a:cs typeface="Calibri"/>
            </a:endParaRPr>
          </a:p>
        </p:txBody>
      </p:sp>
      <p:sp>
        <p:nvSpPr>
          <p:cNvPr id="3" name="object 3"/>
          <p:cNvSpPr txBox="1"/>
          <p:nvPr/>
        </p:nvSpPr>
        <p:spPr>
          <a:xfrm>
            <a:off x="4077920" y="428091"/>
            <a:ext cx="2612898" cy="365485"/>
          </a:xfrm>
          <a:prstGeom prst="rect">
            <a:avLst/>
          </a:prstGeom>
        </p:spPr>
        <p:txBody>
          <a:bodyPr vert="horz" wrap="square" lIns="0" tIns="14478" rIns="0" bIns="0" rtlCol="0">
            <a:spAutoFit/>
          </a:bodyPr>
          <a:lstStyle/>
          <a:p>
            <a:pPr marL="15240">
              <a:spcBef>
                <a:spcPts val="114"/>
              </a:spcBef>
              <a:tabLst>
                <a:tab pos="1026413" algn="l"/>
                <a:tab pos="1765554" algn="l"/>
              </a:tabLst>
            </a:pPr>
            <a:r>
              <a:rPr sz="2280" spc="-12" dirty="0">
                <a:latin typeface="Calibri"/>
                <a:cs typeface="Calibri"/>
              </a:rPr>
              <a:t>follow</a:t>
            </a:r>
            <a:r>
              <a:rPr sz="2280" dirty="0">
                <a:latin typeface="Calibri"/>
                <a:cs typeface="Calibri"/>
              </a:rPr>
              <a:t>	</a:t>
            </a:r>
            <a:r>
              <a:rPr sz="2280" spc="-30" dirty="0">
                <a:latin typeface="Calibri"/>
                <a:cs typeface="Calibri"/>
              </a:rPr>
              <a:t>two</a:t>
            </a:r>
            <a:r>
              <a:rPr sz="2280" dirty="0">
                <a:latin typeface="Calibri"/>
                <a:cs typeface="Calibri"/>
              </a:rPr>
              <a:t>	</a:t>
            </a:r>
            <a:r>
              <a:rPr sz="2280" spc="-12" dirty="0">
                <a:latin typeface="Calibri"/>
                <a:cs typeface="Calibri"/>
              </a:rPr>
              <a:t>project</a:t>
            </a:r>
            <a:endParaRPr sz="2280">
              <a:latin typeface="Calibri"/>
              <a:cs typeface="Calibri"/>
            </a:endParaRPr>
          </a:p>
        </p:txBody>
      </p:sp>
      <p:sp>
        <p:nvSpPr>
          <p:cNvPr id="4" name="object 4"/>
          <p:cNvSpPr txBox="1"/>
          <p:nvPr/>
        </p:nvSpPr>
        <p:spPr>
          <a:xfrm>
            <a:off x="833201" y="1470813"/>
            <a:ext cx="5860542" cy="3874137"/>
          </a:xfrm>
          <a:prstGeom prst="rect">
            <a:avLst/>
          </a:prstGeom>
        </p:spPr>
        <p:txBody>
          <a:bodyPr vert="horz" wrap="square" lIns="0" tIns="14478" rIns="0" bIns="0" rtlCol="0">
            <a:spAutoFit/>
          </a:bodyPr>
          <a:lstStyle/>
          <a:p>
            <a:pPr marL="423672" indent="-408432" algn="just">
              <a:spcBef>
                <a:spcPts val="114"/>
              </a:spcBef>
              <a:buFont typeface="Arial MT"/>
              <a:buChar char="•"/>
              <a:tabLst>
                <a:tab pos="423672" algn="l"/>
              </a:tabLst>
            </a:pPr>
            <a:r>
              <a:rPr sz="2280" dirty="0">
                <a:latin typeface="Calibri"/>
                <a:cs typeface="Calibri"/>
              </a:rPr>
              <a:t>It</a:t>
            </a:r>
            <a:r>
              <a:rPr sz="2280" spc="288" dirty="0">
                <a:latin typeface="Calibri"/>
                <a:cs typeface="Calibri"/>
              </a:rPr>
              <a:t> </a:t>
            </a:r>
            <a:r>
              <a:rPr sz="2280" dirty="0">
                <a:latin typeface="Calibri"/>
                <a:cs typeface="Calibri"/>
              </a:rPr>
              <a:t>specifies</a:t>
            </a:r>
            <a:r>
              <a:rPr sz="2280" spc="294" dirty="0">
                <a:latin typeface="Calibri"/>
                <a:cs typeface="Calibri"/>
              </a:rPr>
              <a:t> </a:t>
            </a:r>
            <a:r>
              <a:rPr sz="2280" dirty="0">
                <a:latin typeface="Calibri"/>
                <a:cs typeface="Calibri"/>
              </a:rPr>
              <a:t>a</a:t>
            </a:r>
            <a:r>
              <a:rPr sz="2280" spc="288" dirty="0">
                <a:latin typeface="Calibri"/>
                <a:cs typeface="Calibri"/>
              </a:rPr>
              <a:t> </a:t>
            </a:r>
            <a:r>
              <a:rPr sz="2280" spc="-36" dirty="0">
                <a:latin typeface="Calibri"/>
                <a:cs typeface="Calibri"/>
              </a:rPr>
              <a:t>data-</a:t>
            </a:r>
            <a:r>
              <a:rPr sz="2280" dirty="0">
                <a:latin typeface="Calibri"/>
                <a:cs typeface="Calibri"/>
              </a:rPr>
              <a:t>driven</a:t>
            </a:r>
            <a:r>
              <a:rPr sz="2280" spc="294" dirty="0">
                <a:latin typeface="Calibri"/>
                <a:cs typeface="Calibri"/>
              </a:rPr>
              <a:t> </a:t>
            </a:r>
            <a:r>
              <a:rPr sz="2280" dirty="0">
                <a:latin typeface="Calibri"/>
                <a:cs typeface="Calibri"/>
              </a:rPr>
              <a:t>quality</a:t>
            </a:r>
            <a:r>
              <a:rPr sz="2280" spc="288" dirty="0">
                <a:latin typeface="Calibri"/>
                <a:cs typeface="Calibri"/>
              </a:rPr>
              <a:t> </a:t>
            </a:r>
            <a:r>
              <a:rPr sz="2280" dirty="0">
                <a:latin typeface="Calibri"/>
                <a:cs typeface="Calibri"/>
              </a:rPr>
              <a:t>strategy</a:t>
            </a:r>
            <a:r>
              <a:rPr sz="2280" spc="288" dirty="0">
                <a:latin typeface="Calibri"/>
                <a:cs typeface="Calibri"/>
              </a:rPr>
              <a:t> </a:t>
            </a:r>
            <a:r>
              <a:rPr sz="2280" spc="-30" dirty="0">
                <a:latin typeface="Calibri"/>
                <a:cs typeface="Calibri"/>
              </a:rPr>
              <a:t>for</a:t>
            </a:r>
            <a:endParaRPr sz="2280">
              <a:latin typeface="Calibri"/>
              <a:cs typeface="Calibri"/>
            </a:endParaRPr>
          </a:p>
          <a:p>
            <a:pPr marL="425958" algn="just"/>
            <a:r>
              <a:rPr sz="2280" b="1" i="1" dirty="0">
                <a:solidFill>
                  <a:srgbClr val="006FC0"/>
                </a:solidFill>
                <a:latin typeface="Calibri"/>
                <a:cs typeface="Calibri"/>
              </a:rPr>
              <a:t>improving</a:t>
            </a:r>
            <a:r>
              <a:rPr sz="2280" b="1" i="1" spc="-12" dirty="0">
                <a:solidFill>
                  <a:srgbClr val="006FC0"/>
                </a:solidFill>
                <a:latin typeface="Calibri"/>
                <a:cs typeface="Calibri"/>
              </a:rPr>
              <a:t> processes</a:t>
            </a:r>
            <a:r>
              <a:rPr sz="2280" spc="-12" dirty="0">
                <a:latin typeface="Calibri"/>
                <a:cs typeface="Calibri"/>
              </a:rPr>
              <a:t>.</a:t>
            </a:r>
            <a:endParaRPr sz="2280">
              <a:latin typeface="Calibri"/>
              <a:cs typeface="Calibri"/>
            </a:endParaRPr>
          </a:p>
          <a:p>
            <a:pPr marL="423672" indent="-408432" algn="just">
              <a:buFont typeface="Arial MT"/>
              <a:buChar char="•"/>
              <a:tabLst>
                <a:tab pos="423672" algn="l"/>
              </a:tabLst>
            </a:pPr>
            <a:r>
              <a:rPr sz="2280" dirty="0">
                <a:latin typeface="Calibri"/>
                <a:cs typeface="Calibri"/>
              </a:rPr>
              <a:t>This</a:t>
            </a:r>
            <a:r>
              <a:rPr sz="2280" spc="168" dirty="0">
                <a:latin typeface="Calibri"/>
                <a:cs typeface="Calibri"/>
              </a:rPr>
              <a:t>  </a:t>
            </a:r>
            <a:r>
              <a:rPr sz="2280" dirty="0">
                <a:latin typeface="Calibri"/>
                <a:cs typeface="Calibri"/>
              </a:rPr>
              <a:t>methodology</a:t>
            </a:r>
            <a:r>
              <a:rPr sz="2280" spc="174" dirty="0">
                <a:latin typeface="Calibri"/>
                <a:cs typeface="Calibri"/>
              </a:rPr>
              <a:t>  </a:t>
            </a:r>
            <a:r>
              <a:rPr sz="2280" dirty="0">
                <a:latin typeface="Calibri"/>
                <a:cs typeface="Calibri"/>
              </a:rPr>
              <a:t>is</a:t>
            </a:r>
            <a:r>
              <a:rPr sz="2280" spc="168" dirty="0">
                <a:latin typeface="Calibri"/>
                <a:cs typeface="Calibri"/>
              </a:rPr>
              <a:t>  </a:t>
            </a:r>
            <a:r>
              <a:rPr sz="2280" dirty="0">
                <a:latin typeface="Calibri"/>
                <a:cs typeface="Calibri"/>
              </a:rPr>
              <a:t>used</a:t>
            </a:r>
            <a:r>
              <a:rPr sz="2280" spc="168" dirty="0">
                <a:latin typeface="Calibri"/>
                <a:cs typeface="Calibri"/>
              </a:rPr>
              <a:t>  </a:t>
            </a:r>
            <a:r>
              <a:rPr sz="2280" dirty="0">
                <a:latin typeface="Calibri"/>
                <a:cs typeface="Calibri"/>
              </a:rPr>
              <a:t>to</a:t>
            </a:r>
            <a:r>
              <a:rPr sz="2280" spc="168" dirty="0">
                <a:latin typeface="Calibri"/>
                <a:cs typeface="Calibri"/>
              </a:rPr>
              <a:t>  </a:t>
            </a:r>
            <a:r>
              <a:rPr sz="2280" dirty="0">
                <a:latin typeface="Calibri"/>
                <a:cs typeface="Calibri"/>
              </a:rPr>
              <a:t>enhance</a:t>
            </a:r>
            <a:r>
              <a:rPr sz="2280" spc="174" dirty="0">
                <a:latin typeface="Calibri"/>
                <a:cs typeface="Calibri"/>
              </a:rPr>
              <a:t>  </a:t>
            </a:r>
            <a:r>
              <a:rPr sz="2280" spc="-30" dirty="0">
                <a:latin typeface="Calibri"/>
                <a:cs typeface="Calibri"/>
              </a:rPr>
              <a:t>an</a:t>
            </a:r>
            <a:endParaRPr sz="2280">
              <a:latin typeface="Calibri"/>
              <a:cs typeface="Calibri"/>
            </a:endParaRPr>
          </a:p>
          <a:p>
            <a:pPr marL="425958" algn="just"/>
            <a:r>
              <a:rPr sz="2280" dirty="0">
                <a:latin typeface="Calibri"/>
                <a:cs typeface="Calibri"/>
              </a:rPr>
              <a:t>existing</a:t>
            </a:r>
            <a:r>
              <a:rPr sz="2280" spc="-78" dirty="0">
                <a:latin typeface="Calibri"/>
                <a:cs typeface="Calibri"/>
              </a:rPr>
              <a:t> </a:t>
            </a:r>
            <a:r>
              <a:rPr sz="2280" dirty="0">
                <a:latin typeface="Calibri"/>
                <a:cs typeface="Calibri"/>
              </a:rPr>
              <a:t>business</a:t>
            </a:r>
            <a:r>
              <a:rPr sz="2280" spc="-96" dirty="0">
                <a:latin typeface="Calibri"/>
                <a:cs typeface="Calibri"/>
              </a:rPr>
              <a:t> </a:t>
            </a:r>
            <a:r>
              <a:rPr sz="2280" spc="-12" dirty="0">
                <a:latin typeface="Calibri"/>
                <a:cs typeface="Calibri"/>
              </a:rPr>
              <a:t>process.</a:t>
            </a:r>
            <a:endParaRPr sz="2280">
              <a:latin typeface="Calibri"/>
              <a:cs typeface="Calibri"/>
            </a:endParaRPr>
          </a:p>
          <a:p>
            <a:pPr marL="423672" indent="-408432" algn="just">
              <a:buFont typeface="Arial MT"/>
              <a:buChar char="•"/>
              <a:tabLst>
                <a:tab pos="423672" algn="l"/>
              </a:tabLst>
            </a:pPr>
            <a:r>
              <a:rPr sz="2280" b="1" dirty="0">
                <a:latin typeface="Calibri"/>
                <a:cs typeface="Calibri"/>
              </a:rPr>
              <a:t>DMAIC</a:t>
            </a:r>
            <a:r>
              <a:rPr sz="2280" b="1" spc="-72" dirty="0">
                <a:latin typeface="Calibri"/>
                <a:cs typeface="Calibri"/>
              </a:rPr>
              <a:t> </a:t>
            </a:r>
            <a:r>
              <a:rPr sz="2280" b="1" dirty="0">
                <a:latin typeface="Calibri"/>
                <a:cs typeface="Calibri"/>
              </a:rPr>
              <a:t>project</a:t>
            </a:r>
            <a:r>
              <a:rPr sz="2280" b="1" spc="-42" dirty="0">
                <a:latin typeface="Calibri"/>
                <a:cs typeface="Calibri"/>
              </a:rPr>
              <a:t> </a:t>
            </a:r>
            <a:r>
              <a:rPr sz="2280" b="1" dirty="0">
                <a:latin typeface="Calibri"/>
                <a:cs typeface="Calibri"/>
              </a:rPr>
              <a:t>methodology</a:t>
            </a:r>
            <a:r>
              <a:rPr sz="2280" b="1" spc="-36" dirty="0">
                <a:latin typeface="Calibri"/>
                <a:cs typeface="Calibri"/>
              </a:rPr>
              <a:t> </a:t>
            </a:r>
            <a:r>
              <a:rPr sz="2280" b="1" dirty="0">
                <a:latin typeface="Calibri"/>
                <a:cs typeface="Calibri"/>
              </a:rPr>
              <a:t>has</a:t>
            </a:r>
            <a:r>
              <a:rPr sz="2280" b="1" spc="-72" dirty="0">
                <a:latin typeface="Calibri"/>
                <a:cs typeface="Calibri"/>
              </a:rPr>
              <a:t> </a:t>
            </a:r>
            <a:r>
              <a:rPr sz="2280" b="1" dirty="0">
                <a:latin typeface="Calibri"/>
                <a:cs typeface="Calibri"/>
              </a:rPr>
              <a:t>five</a:t>
            </a:r>
            <a:r>
              <a:rPr sz="2280" b="1" spc="-78" dirty="0">
                <a:latin typeface="Calibri"/>
                <a:cs typeface="Calibri"/>
              </a:rPr>
              <a:t> </a:t>
            </a:r>
            <a:r>
              <a:rPr sz="2280" b="1" spc="-12" dirty="0">
                <a:latin typeface="Calibri"/>
                <a:cs typeface="Calibri"/>
              </a:rPr>
              <a:t>phases:</a:t>
            </a:r>
            <a:endParaRPr sz="2280">
              <a:latin typeface="Calibri"/>
              <a:cs typeface="Calibri"/>
            </a:endParaRPr>
          </a:p>
          <a:p>
            <a:pPr marL="719328" marR="7620" lvl="1" indent="-314706" algn="just">
              <a:buAutoNum type="romanLcParenBoth"/>
              <a:tabLst>
                <a:tab pos="1112520" algn="l"/>
              </a:tabLst>
            </a:pPr>
            <a:r>
              <a:rPr sz="2280" b="1" i="1" dirty="0">
                <a:solidFill>
                  <a:srgbClr val="C00000"/>
                </a:solidFill>
                <a:latin typeface="Calibri"/>
                <a:cs typeface="Calibri"/>
              </a:rPr>
              <a:t>Define</a:t>
            </a:r>
            <a:r>
              <a:rPr sz="2280" b="1" i="1" spc="-60" dirty="0">
                <a:solidFill>
                  <a:srgbClr val="C00000"/>
                </a:solidFill>
                <a:latin typeface="Calibri"/>
                <a:cs typeface="Calibri"/>
              </a:rPr>
              <a:t> </a:t>
            </a:r>
            <a:r>
              <a:rPr sz="2280" i="1" dirty="0">
                <a:latin typeface="Calibri"/>
                <a:cs typeface="Calibri"/>
              </a:rPr>
              <a:t>:</a:t>
            </a:r>
            <a:r>
              <a:rPr sz="2280" i="1" spc="-78" dirty="0">
                <a:latin typeface="Calibri"/>
                <a:cs typeface="Calibri"/>
              </a:rPr>
              <a:t> </a:t>
            </a:r>
            <a:r>
              <a:rPr sz="2280" dirty="0">
                <a:latin typeface="Calibri"/>
                <a:cs typeface="Calibri"/>
              </a:rPr>
              <a:t>Define</a:t>
            </a:r>
            <a:r>
              <a:rPr sz="2280" spc="-72" dirty="0">
                <a:latin typeface="Calibri"/>
                <a:cs typeface="Calibri"/>
              </a:rPr>
              <a:t> </a:t>
            </a:r>
            <a:r>
              <a:rPr sz="2280" b="1" i="1" spc="-12" dirty="0">
                <a:solidFill>
                  <a:srgbClr val="006FC0"/>
                </a:solidFill>
                <a:latin typeface="Calibri"/>
                <a:cs typeface="Calibri"/>
              </a:rPr>
              <a:t>customer</a:t>
            </a:r>
            <a:r>
              <a:rPr sz="2280" b="1" i="1" spc="-60" dirty="0">
                <a:solidFill>
                  <a:srgbClr val="006FC0"/>
                </a:solidFill>
                <a:latin typeface="Calibri"/>
                <a:cs typeface="Calibri"/>
              </a:rPr>
              <a:t> </a:t>
            </a:r>
            <a:r>
              <a:rPr sz="2280" b="1" i="1" dirty="0">
                <a:solidFill>
                  <a:srgbClr val="006FC0"/>
                </a:solidFill>
                <a:latin typeface="Calibri"/>
                <a:cs typeface="Calibri"/>
              </a:rPr>
              <a:t>requirements</a:t>
            </a:r>
            <a:r>
              <a:rPr sz="2280" b="1" i="1" spc="-42" dirty="0">
                <a:solidFill>
                  <a:srgbClr val="006FC0"/>
                </a:solidFill>
                <a:latin typeface="Calibri"/>
                <a:cs typeface="Calibri"/>
              </a:rPr>
              <a:t> </a:t>
            </a:r>
            <a:r>
              <a:rPr sz="2280" spc="-30" dirty="0">
                <a:latin typeface="Calibri"/>
                <a:cs typeface="Calibri"/>
              </a:rPr>
              <a:t>and 	</a:t>
            </a:r>
            <a:r>
              <a:rPr sz="2280" b="1" i="1" dirty="0">
                <a:solidFill>
                  <a:srgbClr val="006FC0"/>
                </a:solidFill>
                <a:latin typeface="Calibri"/>
                <a:cs typeface="Calibri"/>
              </a:rPr>
              <a:t>deliverables</a:t>
            </a:r>
            <a:r>
              <a:rPr sz="2280" b="1" i="1" spc="114" dirty="0">
                <a:solidFill>
                  <a:srgbClr val="006FC0"/>
                </a:solidFill>
                <a:latin typeface="Calibri"/>
                <a:cs typeface="Calibri"/>
              </a:rPr>
              <a:t> </a:t>
            </a:r>
            <a:r>
              <a:rPr sz="2280" dirty="0">
                <a:latin typeface="Calibri"/>
                <a:cs typeface="Calibri"/>
              </a:rPr>
              <a:t>and</a:t>
            </a:r>
            <a:r>
              <a:rPr sz="2280" spc="120" dirty="0">
                <a:latin typeface="Calibri"/>
                <a:cs typeface="Calibri"/>
              </a:rPr>
              <a:t> </a:t>
            </a:r>
            <a:r>
              <a:rPr sz="2280" b="1" i="1" dirty="0">
                <a:solidFill>
                  <a:srgbClr val="006FC0"/>
                </a:solidFill>
                <a:latin typeface="Calibri"/>
                <a:cs typeface="Calibri"/>
              </a:rPr>
              <a:t>project</a:t>
            </a:r>
            <a:r>
              <a:rPr sz="2280" b="1" i="1" spc="126" dirty="0">
                <a:solidFill>
                  <a:srgbClr val="006FC0"/>
                </a:solidFill>
                <a:latin typeface="Calibri"/>
                <a:cs typeface="Calibri"/>
              </a:rPr>
              <a:t> </a:t>
            </a:r>
            <a:r>
              <a:rPr sz="2280" b="1" i="1" dirty="0">
                <a:solidFill>
                  <a:srgbClr val="006FC0"/>
                </a:solidFill>
                <a:latin typeface="Calibri"/>
                <a:cs typeface="Calibri"/>
              </a:rPr>
              <a:t>goals</a:t>
            </a:r>
            <a:r>
              <a:rPr sz="2280" b="1" i="1" spc="120" dirty="0">
                <a:solidFill>
                  <a:srgbClr val="006FC0"/>
                </a:solidFill>
                <a:latin typeface="Calibri"/>
                <a:cs typeface="Calibri"/>
              </a:rPr>
              <a:t> </a:t>
            </a:r>
            <a:r>
              <a:rPr sz="2280" dirty="0">
                <a:latin typeface="Calibri"/>
                <a:cs typeface="Calibri"/>
              </a:rPr>
              <a:t>via</a:t>
            </a:r>
            <a:r>
              <a:rPr sz="2280" spc="120" dirty="0">
                <a:latin typeface="Calibri"/>
                <a:cs typeface="Calibri"/>
              </a:rPr>
              <a:t> </a:t>
            </a:r>
            <a:r>
              <a:rPr sz="2280" spc="-12" dirty="0">
                <a:latin typeface="Calibri"/>
                <a:cs typeface="Calibri"/>
              </a:rPr>
              <a:t>well- 	</a:t>
            </a:r>
            <a:r>
              <a:rPr sz="2280" dirty="0">
                <a:latin typeface="Calibri"/>
                <a:cs typeface="Calibri"/>
              </a:rPr>
              <a:t>defined</a:t>
            </a:r>
            <a:r>
              <a:rPr sz="2280" spc="396" dirty="0">
                <a:latin typeface="Calibri"/>
                <a:cs typeface="Calibri"/>
              </a:rPr>
              <a:t>    </a:t>
            </a:r>
            <a:r>
              <a:rPr sz="2280" dirty="0">
                <a:latin typeface="Calibri"/>
                <a:cs typeface="Calibri"/>
              </a:rPr>
              <a:t>methods</a:t>
            </a:r>
            <a:r>
              <a:rPr sz="2280" spc="414" dirty="0">
                <a:latin typeface="Calibri"/>
                <a:cs typeface="Calibri"/>
              </a:rPr>
              <a:t>    </a:t>
            </a:r>
            <a:r>
              <a:rPr sz="2280" dirty="0">
                <a:latin typeface="Calibri"/>
                <a:cs typeface="Calibri"/>
              </a:rPr>
              <a:t>of</a:t>
            </a:r>
            <a:r>
              <a:rPr sz="2280" spc="414" dirty="0">
                <a:latin typeface="Calibri"/>
                <a:cs typeface="Calibri"/>
              </a:rPr>
              <a:t>    </a:t>
            </a:r>
            <a:r>
              <a:rPr sz="2280" spc="-12" dirty="0">
                <a:latin typeface="Calibri"/>
                <a:cs typeface="Calibri"/>
              </a:rPr>
              <a:t>customer 	communication.</a:t>
            </a:r>
            <a:endParaRPr sz="2280">
              <a:latin typeface="Calibri"/>
              <a:cs typeface="Calibri"/>
            </a:endParaRPr>
          </a:p>
          <a:p>
            <a:pPr marL="918972" marR="6096" lvl="1" indent="-448818" algn="just">
              <a:spcBef>
                <a:spcPts val="6"/>
              </a:spcBef>
              <a:buAutoNum type="romanLcParenBoth"/>
              <a:tabLst>
                <a:tab pos="1112520" algn="l"/>
              </a:tabLst>
            </a:pPr>
            <a:r>
              <a:rPr sz="2280" b="1" i="1" dirty="0">
                <a:solidFill>
                  <a:srgbClr val="C00000"/>
                </a:solidFill>
                <a:latin typeface="Calibri"/>
                <a:cs typeface="Calibri"/>
              </a:rPr>
              <a:t>Measure</a:t>
            </a:r>
            <a:r>
              <a:rPr sz="2280" i="1" dirty="0">
                <a:latin typeface="Calibri"/>
                <a:cs typeface="Calibri"/>
              </a:rPr>
              <a:t>:</a:t>
            </a:r>
            <a:r>
              <a:rPr sz="2280" i="1" spc="420" dirty="0">
                <a:latin typeface="Calibri"/>
                <a:cs typeface="Calibri"/>
              </a:rPr>
              <a:t> </a:t>
            </a:r>
            <a:r>
              <a:rPr sz="2280" dirty="0">
                <a:latin typeface="Calibri"/>
                <a:cs typeface="Calibri"/>
              </a:rPr>
              <a:t>Measure</a:t>
            </a:r>
            <a:r>
              <a:rPr sz="2280" spc="432" dirty="0">
                <a:latin typeface="Calibri"/>
                <a:cs typeface="Calibri"/>
              </a:rPr>
              <a:t> </a:t>
            </a:r>
            <a:r>
              <a:rPr sz="2280" dirty="0">
                <a:latin typeface="Calibri"/>
                <a:cs typeface="Calibri"/>
              </a:rPr>
              <a:t>the</a:t>
            </a:r>
            <a:r>
              <a:rPr sz="2280" spc="432" dirty="0">
                <a:latin typeface="Calibri"/>
                <a:cs typeface="Calibri"/>
              </a:rPr>
              <a:t> </a:t>
            </a:r>
            <a:r>
              <a:rPr sz="2280" b="1" i="1" dirty="0">
                <a:solidFill>
                  <a:srgbClr val="006FC0"/>
                </a:solidFill>
                <a:latin typeface="Calibri"/>
                <a:cs typeface="Calibri"/>
              </a:rPr>
              <a:t>existing</a:t>
            </a:r>
            <a:r>
              <a:rPr sz="2280" b="1" i="1" spc="426" dirty="0">
                <a:solidFill>
                  <a:srgbClr val="006FC0"/>
                </a:solidFill>
                <a:latin typeface="Calibri"/>
                <a:cs typeface="Calibri"/>
              </a:rPr>
              <a:t> </a:t>
            </a:r>
            <a:r>
              <a:rPr sz="2280" b="1" i="1" spc="-12" dirty="0">
                <a:solidFill>
                  <a:srgbClr val="006FC0"/>
                </a:solidFill>
                <a:latin typeface="Calibri"/>
                <a:cs typeface="Calibri"/>
              </a:rPr>
              <a:t>process 	</a:t>
            </a:r>
            <a:r>
              <a:rPr sz="2280" b="1" i="1" dirty="0">
                <a:solidFill>
                  <a:srgbClr val="006FC0"/>
                </a:solidFill>
                <a:latin typeface="Calibri"/>
                <a:cs typeface="Calibri"/>
              </a:rPr>
              <a:t>and</a:t>
            </a:r>
            <a:r>
              <a:rPr sz="2280" b="1" i="1" spc="108" dirty="0">
                <a:solidFill>
                  <a:srgbClr val="006FC0"/>
                </a:solidFill>
                <a:latin typeface="Calibri"/>
                <a:cs typeface="Calibri"/>
              </a:rPr>
              <a:t>  </a:t>
            </a:r>
            <a:r>
              <a:rPr sz="2280" b="1" i="1" dirty="0">
                <a:solidFill>
                  <a:srgbClr val="006FC0"/>
                </a:solidFill>
                <a:latin typeface="Calibri"/>
                <a:cs typeface="Calibri"/>
              </a:rPr>
              <a:t>its</a:t>
            </a:r>
            <a:r>
              <a:rPr sz="2280" b="1" i="1" spc="114" dirty="0">
                <a:solidFill>
                  <a:srgbClr val="006FC0"/>
                </a:solidFill>
                <a:latin typeface="Calibri"/>
                <a:cs typeface="Calibri"/>
              </a:rPr>
              <a:t>  </a:t>
            </a:r>
            <a:r>
              <a:rPr sz="2280" b="1" i="1" dirty="0">
                <a:solidFill>
                  <a:srgbClr val="006FC0"/>
                </a:solidFill>
                <a:latin typeface="Calibri"/>
                <a:cs typeface="Calibri"/>
              </a:rPr>
              <a:t>output</a:t>
            </a:r>
            <a:r>
              <a:rPr sz="2280" b="1" i="1" spc="114" dirty="0">
                <a:solidFill>
                  <a:srgbClr val="006FC0"/>
                </a:solidFill>
                <a:latin typeface="Calibri"/>
                <a:cs typeface="Calibri"/>
              </a:rPr>
              <a:t>  </a:t>
            </a:r>
            <a:r>
              <a:rPr sz="2280" dirty="0">
                <a:latin typeface="Calibri"/>
                <a:cs typeface="Calibri"/>
              </a:rPr>
              <a:t>to</a:t>
            </a:r>
            <a:r>
              <a:rPr sz="2280" spc="114" dirty="0">
                <a:latin typeface="Calibri"/>
                <a:cs typeface="Calibri"/>
              </a:rPr>
              <a:t>  </a:t>
            </a:r>
            <a:r>
              <a:rPr sz="2280" dirty="0">
                <a:latin typeface="Calibri"/>
                <a:cs typeface="Calibri"/>
              </a:rPr>
              <a:t>determine</a:t>
            </a:r>
            <a:r>
              <a:rPr sz="2280" spc="120" dirty="0">
                <a:latin typeface="Calibri"/>
                <a:cs typeface="Calibri"/>
              </a:rPr>
              <a:t>  </a:t>
            </a:r>
            <a:r>
              <a:rPr sz="2280" spc="-12" dirty="0">
                <a:latin typeface="Calibri"/>
                <a:cs typeface="Calibri"/>
              </a:rPr>
              <a:t>current</a:t>
            </a:r>
            <a:endParaRPr sz="2280">
              <a:latin typeface="Calibri"/>
              <a:cs typeface="Calibri"/>
            </a:endParaRPr>
          </a:p>
        </p:txBody>
      </p:sp>
      <p:sp>
        <p:nvSpPr>
          <p:cNvPr id="5" name="object 5"/>
          <p:cNvSpPr txBox="1"/>
          <p:nvPr/>
        </p:nvSpPr>
        <p:spPr>
          <a:xfrm>
            <a:off x="1352581" y="5293766"/>
            <a:ext cx="1642110" cy="1067215"/>
          </a:xfrm>
          <a:prstGeom prst="rect">
            <a:avLst/>
          </a:prstGeom>
        </p:spPr>
        <p:txBody>
          <a:bodyPr vert="horz" wrap="square" lIns="0" tIns="14478" rIns="0" bIns="0" rtlCol="0">
            <a:spAutoFit/>
          </a:bodyPr>
          <a:lstStyle/>
          <a:p>
            <a:pPr marL="592836">
              <a:spcBef>
                <a:spcPts val="114"/>
              </a:spcBef>
            </a:pPr>
            <a:r>
              <a:rPr sz="2280" spc="-12" dirty="0">
                <a:latin typeface="Calibri"/>
                <a:cs typeface="Calibri"/>
              </a:rPr>
              <a:t>quality</a:t>
            </a:r>
            <a:endParaRPr sz="2280">
              <a:latin typeface="Calibri"/>
              <a:cs typeface="Calibri"/>
            </a:endParaRPr>
          </a:p>
          <a:p>
            <a:pPr marL="592836"/>
            <a:r>
              <a:rPr sz="2280" spc="-12" dirty="0">
                <a:latin typeface="Calibri"/>
                <a:cs typeface="Calibri"/>
              </a:rPr>
              <a:t>metrics).</a:t>
            </a:r>
            <a:endParaRPr sz="2280">
              <a:latin typeface="Calibri"/>
              <a:cs typeface="Calibri"/>
            </a:endParaRPr>
          </a:p>
          <a:p>
            <a:pPr marL="15240">
              <a:tabLst>
                <a:tab pos="561594" algn="l"/>
              </a:tabLst>
            </a:pPr>
            <a:r>
              <a:rPr sz="2280" b="1" i="1" spc="-12" dirty="0">
                <a:solidFill>
                  <a:srgbClr val="C00000"/>
                </a:solidFill>
                <a:latin typeface="Calibri"/>
                <a:cs typeface="Calibri"/>
              </a:rPr>
              <a:t>(iii)</a:t>
            </a:r>
            <a:r>
              <a:rPr sz="2280" b="1" i="1" dirty="0">
                <a:solidFill>
                  <a:srgbClr val="C00000"/>
                </a:solidFill>
                <a:latin typeface="Calibri"/>
                <a:cs typeface="Calibri"/>
              </a:rPr>
              <a:t>	</a:t>
            </a:r>
            <a:r>
              <a:rPr sz="2280" b="1" i="1" spc="-12" dirty="0">
                <a:solidFill>
                  <a:srgbClr val="C00000"/>
                </a:solidFill>
                <a:latin typeface="Calibri"/>
                <a:cs typeface="Calibri"/>
              </a:rPr>
              <a:t>Analyze</a:t>
            </a:r>
            <a:r>
              <a:rPr sz="2280" i="1" spc="-12" dirty="0">
                <a:latin typeface="Calibri"/>
                <a:cs typeface="Calibri"/>
              </a:rPr>
              <a:t>:</a:t>
            </a:r>
            <a:endParaRPr sz="2280">
              <a:latin typeface="Calibri"/>
              <a:cs typeface="Calibri"/>
            </a:endParaRPr>
          </a:p>
        </p:txBody>
      </p:sp>
      <p:sp>
        <p:nvSpPr>
          <p:cNvPr id="6" name="object 6"/>
          <p:cNvSpPr txBox="1"/>
          <p:nvPr/>
        </p:nvSpPr>
        <p:spPr>
          <a:xfrm>
            <a:off x="3006241" y="5293767"/>
            <a:ext cx="3688080" cy="1062599"/>
          </a:xfrm>
          <a:prstGeom prst="rect">
            <a:avLst/>
          </a:prstGeom>
        </p:spPr>
        <p:txBody>
          <a:bodyPr vert="horz" wrap="square" lIns="0" tIns="14478" rIns="0" bIns="0" rtlCol="0">
            <a:spAutoFit/>
          </a:bodyPr>
          <a:lstStyle/>
          <a:p>
            <a:pPr marR="6096" algn="r">
              <a:spcBef>
                <a:spcPts val="114"/>
              </a:spcBef>
              <a:tabLst>
                <a:tab pos="1792224" algn="l"/>
                <a:tab pos="2918460" algn="l"/>
              </a:tabLst>
            </a:pPr>
            <a:r>
              <a:rPr sz="2280" spc="-12" dirty="0">
                <a:latin typeface="Calibri"/>
                <a:cs typeface="Calibri"/>
              </a:rPr>
              <a:t>performance</a:t>
            </a:r>
            <a:r>
              <a:rPr sz="2280" dirty="0">
                <a:latin typeface="Calibri"/>
                <a:cs typeface="Calibri"/>
              </a:rPr>
              <a:t>	</a:t>
            </a:r>
            <a:r>
              <a:rPr sz="2280" spc="-12" dirty="0">
                <a:latin typeface="Calibri"/>
                <a:cs typeface="Calibri"/>
              </a:rPr>
              <a:t>(collect</a:t>
            </a:r>
            <a:r>
              <a:rPr sz="2280" dirty="0">
                <a:latin typeface="Calibri"/>
                <a:cs typeface="Calibri"/>
              </a:rPr>
              <a:t>	</a:t>
            </a:r>
            <a:r>
              <a:rPr sz="2280" spc="-12" dirty="0">
                <a:latin typeface="Calibri"/>
                <a:cs typeface="Calibri"/>
              </a:rPr>
              <a:t>defect</a:t>
            </a:r>
            <a:endParaRPr sz="2280">
              <a:latin typeface="Calibri"/>
              <a:cs typeface="Calibri"/>
            </a:endParaRPr>
          </a:p>
          <a:p>
            <a:pPr marR="9906" algn="r">
              <a:spcBef>
                <a:spcPts val="2736"/>
              </a:spcBef>
              <a:tabLst>
                <a:tab pos="1062228" algn="l"/>
                <a:tab pos="1960626" algn="l"/>
                <a:tab pos="2987802" algn="l"/>
              </a:tabLst>
            </a:pPr>
            <a:r>
              <a:rPr sz="2280" spc="-12" dirty="0">
                <a:latin typeface="Calibri"/>
                <a:cs typeface="Calibri"/>
              </a:rPr>
              <a:t>Analyze</a:t>
            </a:r>
            <a:r>
              <a:rPr sz="2280" dirty="0">
                <a:latin typeface="Calibri"/>
                <a:cs typeface="Calibri"/>
              </a:rPr>
              <a:t>	</a:t>
            </a:r>
            <a:r>
              <a:rPr sz="2280" spc="-12" dirty="0">
                <a:latin typeface="Calibri"/>
                <a:cs typeface="Calibri"/>
              </a:rPr>
              <a:t>defect</a:t>
            </a:r>
            <a:r>
              <a:rPr sz="2280" dirty="0">
                <a:latin typeface="Calibri"/>
                <a:cs typeface="Calibri"/>
              </a:rPr>
              <a:t>	</a:t>
            </a:r>
            <a:r>
              <a:rPr sz="2280" spc="-12" dirty="0">
                <a:latin typeface="Calibri"/>
                <a:cs typeface="Calibri"/>
              </a:rPr>
              <a:t>metrics</a:t>
            </a:r>
            <a:r>
              <a:rPr sz="2280" dirty="0">
                <a:latin typeface="Calibri"/>
                <a:cs typeface="Calibri"/>
              </a:rPr>
              <a:t>	</a:t>
            </a:r>
            <a:r>
              <a:rPr sz="2280" spc="-30" dirty="0">
                <a:latin typeface="Calibri"/>
                <a:cs typeface="Calibri"/>
              </a:rPr>
              <a:t>and</a:t>
            </a:r>
            <a:endParaRPr sz="2280">
              <a:latin typeface="Calibri"/>
              <a:cs typeface="Calibri"/>
            </a:endParaRPr>
          </a:p>
        </p:txBody>
      </p:sp>
      <p:sp>
        <p:nvSpPr>
          <p:cNvPr id="7" name="object 7"/>
          <p:cNvSpPr txBox="1"/>
          <p:nvPr/>
        </p:nvSpPr>
        <p:spPr>
          <a:xfrm>
            <a:off x="1930481" y="6336183"/>
            <a:ext cx="3700272" cy="365485"/>
          </a:xfrm>
          <a:prstGeom prst="rect">
            <a:avLst/>
          </a:prstGeom>
        </p:spPr>
        <p:txBody>
          <a:bodyPr vert="horz" wrap="square" lIns="0" tIns="14478" rIns="0" bIns="0" rtlCol="0">
            <a:spAutoFit/>
          </a:bodyPr>
          <a:lstStyle/>
          <a:p>
            <a:pPr marL="15240">
              <a:spcBef>
                <a:spcPts val="114"/>
              </a:spcBef>
            </a:pPr>
            <a:r>
              <a:rPr sz="2280" dirty="0">
                <a:latin typeface="Calibri"/>
                <a:cs typeface="Calibri"/>
              </a:rPr>
              <a:t>determine</a:t>
            </a:r>
            <a:r>
              <a:rPr sz="2280" spc="-72" dirty="0">
                <a:latin typeface="Calibri"/>
                <a:cs typeface="Calibri"/>
              </a:rPr>
              <a:t> </a:t>
            </a:r>
            <a:r>
              <a:rPr sz="2280" dirty="0">
                <a:latin typeface="Calibri"/>
                <a:cs typeface="Calibri"/>
              </a:rPr>
              <a:t>the</a:t>
            </a:r>
            <a:r>
              <a:rPr sz="2280" spc="-90" dirty="0">
                <a:latin typeface="Calibri"/>
                <a:cs typeface="Calibri"/>
              </a:rPr>
              <a:t> </a:t>
            </a:r>
            <a:r>
              <a:rPr sz="2280" dirty="0">
                <a:latin typeface="Calibri"/>
                <a:cs typeface="Calibri"/>
              </a:rPr>
              <a:t>vital</a:t>
            </a:r>
            <a:r>
              <a:rPr sz="2280" spc="-78" dirty="0">
                <a:latin typeface="Calibri"/>
                <a:cs typeface="Calibri"/>
              </a:rPr>
              <a:t> </a:t>
            </a:r>
            <a:r>
              <a:rPr sz="2280" dirty="0">
                <a:latin typeface="Calibri"/>
                <a:cs typeface="Calibri"/>
              </a:rPr>
              <a:t>few</a:t>
            </a:r>
            <a:r>
              <a:rPr sz="2280" spc="-78" dirty="0">
                <a:latin typeface="Calibri"/>
                <a:cs typeface="Calibri"/>
              </a:rPr>
              <a:t> </a:t>
            </a:r>
            <a:r>
              <a:rPr sz="2280" spc="-12" dirty="0">
                <a:latin typeface="Calibri"/>
                <a:cs typeface="Calibri"/>
              </a:rPr>
              <a:t>causes.</a:t>
            </a:r>
            <a:endParaRPr sz="2280">
              <a:latin typeface="Calibri"/>
              <a:cs typeface="Calibri"/>
            </a:endParaRPr>
          </a:p>
        </p:txBody>
      </p:sp>
      <p:grpSp>
        <p:nvGrpSpPr>
          <p:cNvPr id="8" name="object 8"/>
          <p:cNvGrpSpPr/>
          <p:nvPr/>
        </p:nvGrpSpPr>
        <p:grpSpPr>
          <a:xfrm>
            <a:off x="7294244" y="134035"/>
            <a:ext cx="4171188" cy="2442972"/>
            <a:chOff x="5570537" y="111696"/>
            <a:chExt cx="3475990" cy="2035810"/>
          </a:xfrm>
        </p:grpSpPr>
        <p:pic>
          <p:nvPicPr>
            <p:cNvPr id="9" name="object 9"/>
            <p:cNvPicPr/>
            <p:nvPr/>
          </p:nvPicPr>
          <p:blipFill>
            <a:blip r:embed="rId2" cstate="print"/>
            <a:stretch>
              <a:fillRect/>
            </a:stretch>
          </p:blipFill>
          <p:spPr>
            <a:xfrm>
              <a:off x="5580125" y="169742"/>
              <a:ext cx="3456431" cy="1967667"/>
            </a:xfrm>
            <a:prstGeom prst="rect">
              <a:avLst/>
            </a:prstGeom>
          </p:spPr>
        </p:pic>
        <p:sp>
          <p:nvSpPr>
            <p:cNvPr id="10" name="object 10"/>
            <p:cNvSpPr/>
            <p:nvPr/>
          </p:nvSpPr>
          <p:spPr>
            <a:xfrm>
              <a:off x="5575300" y="116459"/>
              <a:ext cx="3466465" cy="2026285"/>
            </a:xfrm>
            <a:custGeom>
              <a:avLst/>
              <a:gdLst/>
              <a:ahLst/>
              <a:cxnLst/>
              <a:rect l="l" t="t" r="r" b="b"/>
              <a:pathLst>
                <a:path w="3466465" h="2026285">
                  <a:moveTo>
                    <a:pt x="0" y="2025777"/>
                  </a:moveTo>
                  <a:lnTo>
                    <a:pt x="3465957" y="2025777"/>
                  </a:lnTo>
                  <a:lnTo>
                    <a:pt x="3465957" y="0"/>
                  </a:lnTo>
                  <a:lnTo>
                    <a:pt x="0" y="0"/>
                  </a:lnTo>
                  <a:lnTo>
                    <a:pt x="0" y="2025777"/>
                  </a:lnTo>
                  <a:close/>
                </a:path>
              </a:pathLst>
            </a:custGeom>
            <a:ln w="9525">
              <a:solidFill>
                <a:srgbClr val="000000"/>
              </a:solidFill>
            </a:ln>
          </p:spPr>
          <p:txBody>
            <a:bodyPr wrap="square" lIns="0" tIns="0" rIns="0" bIns="0" rtlCol="0"/>
            <a:lstStyle/>
            <a:p>
              <a:endParaRPr sz="2160"/>
            </a:p>
          </p:txBody>
        </p:sp>
      </p:grpSp>
      <p:grpSp>
        <p:nvGrpSpPr>
          <p:cNvPr id="11" name="object 11"/>
          <p:cNvGrpSpPr/>
          <p:nvPr/>
        </p:nvGrpSpPr>
        <p:grpSpPr>
          <a:xfrm>
            <a:off x="6872707" y="2726314"/>
            <a:ext cx="4592574" cy="3989832"/>
            <a:chOff x="5219255" y="2271928"/>
            <a:chExt cx="3827145" cy="3324860"/>
          </a:xfrm>
        </p:grpSpPr>
        <p:pic>
          <p:nvPicPr>
            <p:cNvPr id="12" name="object 12"/>
            <p:cNvPicPr/>
            <p:nvPr/>
          </p:nvPicPr>
          <p:blipFill>
            <a:blip r:embed="rId3" cstate="print"/>
            <a:stretch>
              <a:fillRect/>
            </a:stretch>
          </p:blipFill>
          <p:spPr>
            <a:xfrm>
              <a:off x="5228843" y="2281453"/>
              <a:ext cx="3807713" cy="3305302"/>
            </a:xfrm>
            <a:prstGeom prst="rect">
              <a:avLst/>
            </a:prstGeom>
          </p:spPr>
        </p:pic>
        <p:sp>
          <p:nvSpPr>
            <p:cNvPr id="13" name="object 13"/>
            <p:cNvSpPr/>
            <p:nvPr/>
          </p:nvSpPr>
          <p:spPr>
            <a:xfrm>
              <a:off x="5224017" y="2276690"/>
              <a:ext cx="3817620" cy="3315335"/>
            </a:xfrm>
            <a:custGeom>
              <a:avLst/>
              <a:gdLst/>
              <a:ahLst/>
              <a:cxnLst/>
              <a:rect l="l" t="t" r="r" b="b"/>
              <a:pathLst>
                <a:path w="3817620" h="3315335">
                  <a:moveTo>
                    <a:pt x="0" y="3314827"/>
                  </a:moveTo>
                  <a:lnTo>
                    <a:pt x="3817239" y="3314827"/>
                  </a:lnTo>
                  <a:lnTo>
                    <a:pt x="3817239" y="0"/>
                  </a:lnTo>
                  <a:lnTo>
                    <a:pt x="0" y="0"/>
                  </a:lnTo>
                  <a:lnTo>
                    <a:pt x="0" y="3314827"/>
                  </a:lnTo>
                  <a:close/>
                </a:path>
              </a:pathLst>
            </a:custGeom>
            <a:ln w="9525">
              <a:solidFill>
                <a:srgbClr val="000000"/>
              </a:solidFill>
            </a:ln>
          </p:spPr>
          <p:txBody>
            <a:bodyPr wrap="square" lIns="0" tIns="0" rIns="0" bIns="0" rtlCol="0"/>
            <a:lstStyle/>
            <a:p>
              <a:endParaRPr sz="2160"/>
            </a:p>
          </p:txBody>
        </p:sp>
      </p:grpSp>
    </p:spTree>
    <p:extLst>
      <p:ext uri="{BB962C8B-B14F-4D97-AF65-F5344CB8AC3E}">
        <p14:creationId xmlns:p14="http://schemas.microsoft.com/office/powerpoint/2010/main" val="22000931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92075"/>
            <a:ext cx="8991600" cy="366713"/>
          </a:xfrm>
          <a:prstGeom prst="rect">
            <a:avLst/>
          </a:prstGeom>
        </p:spPr>
        <p:txBody>
          <a:bodyPr vert="horz" wrap="square" lIns="0" tIns="14478" rIns="0" bIns="0" rtlCol="0" anchor="b">
            <a:spAutoFit/>
          </a:bodyPr>
          <a:lstStyle/>
          <a:p>
            <a:pPr marL="15240">
              <a:lnSpc>
                <a:spcPct val="100000"/>
              </a:lnSpc>
              <a:spcBef>
                <a:spcPts val="114"/>
              </a:spcBef>
            </a:pPr>
            <a:r>
              <a:rPr sz="2280" i="1" dirty="0">
                <a:solidFill>
                  <a:srgbClr val="C00000"/>
                </a:solidFill>
                <a:latin typeface="Calibri"/>
                <a:cs typeface="Calibri"/>
              </a:rPr>
              <a:t>(iv)</a:t>
            </a:r>
            <a:r>
              <a:rPr sz="2280" i="1" spc="-90" dirty="0">
                <a:solidFill>
                  <a:srgbClr val="C00000"/>
                </a:solidFill>
                <a:latin typeface="Calibri"/>
                <a:cs typeface="Calibri"/>
              </a:rPr>
              <a:t> </a:t>
            </a:r>
            <a:r>
              <a:rPr sz="2280" i="1" dirty="0">
                <a:solidFill>
                  <a:srgbClr val="C00000"/>
                </a:solidFill>
                <a:latin typeface="Calibri"/>
                <a:cs typeface="Calibri"/>
              </a:rPr>
              <a:t>Improve</a:t>
            </a:r>
            <a:r>
              <a:rPr sz="2280" i="1" dirty="0">
                <a:solidFill>
                  <a:srgbClr val="000000"/>
                </a:solidFill>
                <a:latin typeface="Calibri"/>
                <a:cs typeface="Calibri"/>
              </a:rPr>
              <a:t>:</a:t>
            </a:r>
            <a:r>
              <a:rPr sz="2280" i="1" spc="-36" dirty="0">
                <a:solidFill>
                  <a:srgbClr val="000000"/>
                </a:solidFill>
                <a:latin typeface="Calibri"/>
                <a:cs typeface="Calibri"/>
              </a:rPr>
              <a:t> </a:t>
            </a:r>
            <a:r>
              <a:rPr sz="2280" dirty="0">
                <a:solidFill>
                  <a:srgbClr val="000000"/>
                </a:solidFill>
                <a:latin typeface="Calibri"/>
                <a:cs typeface="Calibri"/>
              </a:rPr>
              <a:t>Improve</a:t>
            </a:r>
            <a:r>
              <a:rPr sz="2280" spc="-36" dirty="0">
                <a:solidFill>
                  <a:srgbClr val="000000"/>
                </a:solidFill>
                <a:latin typeface="Calibri"/>
                <a:cs typeface="Calibri"/>
              </a:rPr>
              <a:t> </a:t>
            </a:r>
            <a:r>
              <a:rPr sz="2280" dirty="0">
                <a:solidFill>
                  <a:srgbClr val="000000"/>
                </a:solidFill>
                <a:latin typeface="Calibri"/>
                <a:cs typeface="Calibri"/>
              </a:rPr>
              <a:t>the</a:t>
            </a:r>
            <a:r>
              <a:rPr sz="2280" spc="-54" dirty="0">
                <a:solidFill>
                  <a:srgbClr val="000000"/>
                </a:solidFill>
                <a:latin typeface="Calibri"/>
                <a:cs typeface="Calibri"/>
              </a:rPr>
              <a:t> </a:t>
            </a:r>
            <a:r>
              <a:rPr sz="2280" dirty="0">
                <a:solidFill>
                  <a:srgbClr val="000000"/>
                </a:solidFill>
                <a:latin typeface="Calibri"/>
                <a:cs typeface="Calibri"/>
              </a:rPr>
              <a:t>process</a:t>
            </a:r>
            <a:r>
              <a:rPr sz="2280" spc="-66" dirty="0">
                <a:solidFill>
                  <a:srgbClr val="000000"/>
                </a:solidFill>
                <a:latin typeface="Calibri"/>
                <a:cs typeface="Calibri"/>
              </a:rPr>
              <a:t> </a:t>
            </a:r>
            <a:r>
              <a:rPr sz="2280" dirty="0">
                <a:solidFill>
                  <a:srgbClr val="000000"/>
                </a:solidFill>
                <a:latin typeface="Calibri"/>
                <a:cs typeface="Calibri"/>
              </a:rPr>
              <a:t>by</a:t>
            </a:r>
            <a:r>
              <a:rPr sz="2280" spc="-54" dirty="0">
                <a:solidFill>
                  <a:srgbClr val="000000"/>
                </a:solidFill>
                <a:latin typeface="Calibri"/>
                <a:cs typeface="Calibri"/>
              </a:rPr>
              <a:t> </a:t>
            </a:r>
            <a:r>
              <a:rPr sz="2280" i="1" dirty="0">
                <a:solidFill>
                  <a:srgbClr val="006FC0"/>
                </a:solidFill>
                <a:latin typeface="Calibri"/>
                <a:cs typeface="Calibri"/>
              </a:rPr>
              <a:t>eliminating</a:t>
            </a:r>
            <a:r>
              <a:rPr sz="2280" i="1" spc="-66" dirty="0">
                <a:solidFill>
                  <a:srgbClr val="006FC0"/>
                </a:solidFill>
                <a:latin typeface="Calibri"/>
                <a:cs typeface="Calibri"/>
              </a:rPr>
              <a:t> </a:t>
            </a:r>
            <a:r>
              <a:rPr sz="2280" i="1" dirty="0">
                <a:solidFill>
                  <a:srgbClr val="006FC0"/>
                </a:solidFill>
                <a:latin typeface="Calibri"/>
                <a:cs typeface="Calibri"/>
              </a:rPr>
              <a:t>the</a:t>
            </a:r>
            <a:r>
              <a:rPr sz="2280" i="1" spc="-54" dirty="0">
                <a:solidFill>
                  <a:srgbClr val="006FC0"/>
                </a:solidFill>
                <a:latin typeface="Calibri"/>
                <a:cs typeface="Calibri"/>
              </a:rPr>
              <a:t> </a:t>
            </a:r>
            <a:r>
              <a:rPr sz="2280" i="1" dirty="0">
                <a:solidFill>
                  <a:srgbClr val="006FC0"/>
                </a:solidFill>
                <a:latin typeface="Calibri"/>
                <a:cs typeface="Calibri"/>
              </a:rPr>
              <a:t>root</a:t>
            </a:r>
            <a:r>
              <a:rPr sz="2280" i="1" spc="-66" dirty="0">
                <a:solidFill>
                  <a:srgbClr val="006FC0"/>
                </a:solidFill>
                <a:latin typeface="Calibri"/>
                <a:cs typeface="Calibri"/>
              </a:rPr>
              <a:t> </a:t>
            </a:r>
            <a:r>
              <a:rPr sz="2280" i="1" dirty="0">
                <a:solidFill>
                  <a:srgbClr val="006FC0"/>
                </a:solidFill>
                <a:latin typeface="Calibri"/>
                <a:cs typeface="Calibri"/>
              </a:rPr>
              <a:t>causes</a:t>
            </a:r>
            <a:r>
              <a:rPr sz="2280" i="1" spc="-36" dirty="0">
                <a:solidFill>
                  <a:srgbClr val="006FC0"/>
                </a:solidFill>
                <a:latin typeface="Calibri"/>
                <a:cs typeface="Calibri"/>
              </a:rPr>
              <a:t> </a:t>
            </a:r>
            <a:r>
              <a:rPr sz="2280" i="1" dirty="0">
                <a:solidFill>
                  <a:srgbClr val="006FC0"/>
                </a:solidFill>
                <a:latin typeface="Calibri"/>
                <a:cs typeface="Calibri"/>
              </a:rPr>
              <a:t>of</a:t>
            </a:r>
            <a:r>
              <a:rPr sz="2280" i="1" spc="-60" dirty="0">
                <a:solidFill>
                  <a:srgbClr val="006FC0"/>
                </a:solidFill>
                <a:latin typeface="Calibri"/>
                <a:cs typeface="Calibri"/>
              </a:rPr>
              <a:t> </a:t>
            </a:r>
            <a:r>
              <a:rPr sz="2280" i="1" spc="-12" dirty="0">
                <a:solidFill>
                  <a:srgbClr val="006FC0"/>
                </a:solidFill>
                <a:latin typeface="Calibri"/>
                <a:cs typeface="Calibri"/>
              </a:rPr>
              <a:t>defects</a:t>
            </a:r>
            <a:r>
              <a:rPr sz="2280" spc="-12" dirty="0">
                <a:solidFill>
                  <a:srgbClr val="000000"/>
                </a:solidFill>
                <a:latin typeface="Calibri"/>
                <a:cs typeface="Calibri"/>
              </a:rPr>
              <a:t>.</a:t>
            </a:r>
            <a:endParaRPr sz="2280">
              <a:latin typeface="Calibri"/>
              <a:cs typeface="Calibri"/>
            </a:endParaRPr>
          </a:p>
        </p:txBody>
      </p:sp>
      <p:grpSp>
        <p:nvGrpSpPr>
          <p:cNvPr id="3" name="object 3"/>
          <p:cNvGrpSpPr/>
          <p:nvPr/>
        </p:nvGrpSpPr>
        <p:grpSpPr>
          <a:xfrm>
            <a:off x="6948601" y="1343741"/>
            <a:ext cx="4549140" cy="4392930"/>
            <a:chOff x="5282501" y="1119784"/>
            <a:chExt cx="3790950" cy="3660775"/>
          </a:xfrm>
        </p:grpSpPr>
        <p:pic>
          <p:nvPicPr>
            <p:cNvPr id="4" name="object 4"/>
            <p:cNvPicPr/>
            <p:nvPr/>
          </p:nvPicPr>
          <p:blipFill>
            <a:blip r:embed="rId2" cstate="print"/>
            <a:stretch>
              <a:fillRect/>
            </a:stretch>
          </p:blipFill>
          <p:spPr>
            <a:xfrm>
              <a:off x="5292090" y="1129309"/>
              <a:ext cx="3746865" cy="3605631"/>
            </a:xfrm>
            <a:prstGeom prst="rect">
              <a:avLst/>
            </a:prstGeom>
          </p:spPr>
        </p:pic>
        <p:sp>
          <p:nvSpPr>
            <p:cNvPr id="5" name="object 5"/>
            <p:cNvSpPr/>
            <p:nvPr/>
          </p:nvSpPr>
          <p:spPr>
            <a:xfrm>
              <a:off x="5287264" y="1124546"/>
              <a:ext cx="3781425" cy="3651250"/>
            </a:xfrm>
            <a:custGeom>
              <a:avLst/>
              <a:gdLst/>
              <a:ahLst/>
              <a:cxnLst/>
              <a:rect l="l" t="t" r="r" b="b"/>
              <a:pathLst>
                <a:path w="3781425" h="3651250">
                  <a:moveTo>
                    <a:pt x="0" y="3651123"/>
                  </a:moveTo>
                  <a:lnTo>
                    <a:pt x="3781424" y="3651123"/>
                  </a:lnTo>
                  <a:lnTo>
                    <a:pt x="3781424" y="0"/>
                  </a:lnTo>
                  <a:lnTo>
                    <a:pt x="0" y="0"/>
                  </a:lnTo>
                  <a:lnTo>
                    <a:pt x="0" y="3651123"/>
                  </a:lnTo>
                  <a:close/>
                </a:path>
              </a:pathLst>
            </a:custGeom>
            <a:ln w="9525">
              <a:solidFill>
                <a:srgbClr val="000000"/>
              </a:solidFill>
            </a:ln>
          </p:spPr>
          <p:txBody>
            <a:bodyPr wrap="square" lIns="0" tIns="0" rIns="0" bIns="0" rtlCol="0"/>
            <a:lstStyle/>
            <a:p>
              <a:endParaRPr sz="2160"/>
            </a:p>
          </p:txBody>
        </p:sp>
      </p:grpSp>
      <p:sp>
        <p:nvSpPr>
          <p:cNvPr id="6" name="object 6"/>
          <p:cNvSpPr txBox="1"/>
          <p:nvPr/>
        </p:nvSpPr>
        <p:spPr>
          <a:xfrm>
            <a:off x="833201" y="497585"/>
            <a:ext cx="10438638" cy="6183488"/>
          </a:xfrm>
          <a:prstGeom prst="rect">
            <a:avLst/>
          </a:prstGeom>
        </p:spPr>
        <p:txBody>
          <a:bodyPr vert="horz" wrap="square" lIns="0" tIns="14478" rIns="0" bIns="0" rtlCol="0">
            <a:spAutoFit/>
          </a:bodyPr>
          <a:lstStyle/>
          <a:p>
            <a:pPr marL="1565910" marR="6096" indent="-1485900">
              <a:spcBef>
                <a:spcPts val="114"/>
              </a:spcBef>
            </a:pPr>
            <a:r>
              <a:rPr sz="2280" b="1" i="1" dirty="0">
                <a:solidFill>
                  <a:srgbClr val="C00000"/>
                </a:solidFill>
                <a:latin typeface="Calibri"/>
                <a:cs typeface="Calibri"/>
              </a:rPr>
              <a:t>(v)</a:t>
            </a:r>
            <a:r>
              <a:rPr sz="2280" b="1" i="1" spc="264" dirty="0">
                <a:solidFill>
                  <a:srgbClr val="C00000"/>
                </a:solidFill>
                <a:latin typeface="Calibri"/>
                <a:cs typeface="Calibri"/>
              </a:rPr>
              <a:t> </a:t>
            </a:r>
            <a:r>
              <a:rPr sz="2280" b="1" i="1" dirty="0">
                <a:solidFill>
                  <a:srgbClr val="C00000"/>
                </a:solidFill>
                <a:latin typeface="Calibri"/>
                <a:cs typeface="Calibri"/>
              </a:rPr>
              <a:t>Control</a:t>
            </a:r>
            <a:r>
              <a:rPr sz="2280" i="1" dirty="0">
                <a:latin typeface="Calibri"/>
                <a:cs typeface="Calibri"/>
              </a:rPr>
              <a:t>:</a:t>
            </a:r>
            <a:r>
              <a:rPr sz="2280" i="1" spc="275" dirty="0">
                <a:latin typeface="Calibri"/>
                <a:cs typeface="Calibri"/>
              </a:rPr>
              <a:t> </a:t>
            </a:r>
            <a:r>
              <a:rPr sz="2280" i="1" dirty="0">
                <a:latin typeface="Calibri"/>
                <a:cs typeface="Calibri"/>
              </a:rPr>
              <a:t>Control</a:t>
            </a:r>
            <a:r>
              <a:rPr sz="2280" i="1" spc="282" dirty="0">
                <a:latin typeface="Calibri"/>
                <a:cs typeface="Calibri"/>
              </a:rPr>
              <a:t> </a:t>
            </a:r>
            <a:r>
              <a:rPr sz="2280" dirty="0">
                <a:latin typeface="Calibri"/>
                <a:cs typeface="Calibri"/>
              </a:rPr>
              <a:t>the</a:t>
            </a:r>
            <a:r>
              <a:rPr sz="2280" spc="282" dirty="0">
                <a:latin typeface="Calibri"/>
                <a:cs typeface="Calibri"/>
              </a:rPr>
              <a:t> </a:t>
            </a:r>
            <a:r>
              <a:rPr sz="2280" dirty="0">
                <a:latin typeface="Calibri"/>
                <a:cs typeface="Calibri"/>
              </a:rPr>
              <a:t>process</a:t>
            </a:r>
            <a:r>
              <a:rPr sz="2280" spc="270" dirty="0">
                <a:latin typeface="Calibri"/>
                <a:cs typeface="Calibri"/>
              </a:rPr>
              <a:t> </a:t>
            </a:r>
            <a:r>
              <a:rPr sz="2280" dirty="0">
                <a:latin typeface="Calibri"/>
                <a:cs typeface="Calibri"/>
              </a:rPr>
              <a:t>to</a:t>
            </a:r>
            <a:r>
              <a:rPr sz="2280" spc="270" dirty="0">
                <a:latin typeface="Calibri"/>
                <a:cs typeface="Calibri"/>
              </a:rPr>
              <a:t> </a:t>
            </a:r>
            <a:r>
              <a:rPr sz="2280" dirty="0">
                <a:latin typeface="Calibri"/>
                <a:cs typeface="Calibri"/>
              </a:rPr>
              <a:t>ensure</a:t>
            </a:r>
            <a:r>
              <a:rPr sz="2280" spc="282" dirty="0">
                <a:latin typeface="Calibri"/>
                <a:cs typeface="Calibri"/>
              </a:rPr>
              <a:t> </a:t>
            </a:r>
            <a:r>
              <a:rPr sz="2280" dirty="0">
                <a:latin typeface="Calibri"/>
                <a:cs typeface="Calibri"/>
              </a:rPr>
              <a:t>that</a:t>
            </a:r>
            <a:r>
              <a:rPr sz="2280" spc="275" dirty="0">
                <a:latin typeface="Calibri"/>
                <a:cs typeface="Calibri"/>
              </a:rPr>
              <a:t> </a:t>
            </a:r>
            <a:r>
              <a:rPr sz="2280" dirty="0">
                <a:latin typeface="Calibri"/>
                <a:cs typeface="Calibri"/>
              </a:rPr>
              <a:t>future</a:t>
            </a:r>
            <a:r>
              <a:rPr sz="2280" spc="282" dirty="0">
                <a:latin typeface="Calibri"/>
                <a:cs typeface="Calibri"/>
              </a:rPr>
              <a:t> </a:t>
            </a:r>
            <a:r>
              <a:rPr sz="2280" dirty="0">
                <a:latin typeface="Calibri"/>
                <a:cs typeface="Calibri"/>
              </a:rPr>
              <a:t>work</a:t>
            </a:r>
            <a:r>
              <a:rPr sz="2280" spc="275" dirty="0">
                <a:latin typeface="Calibri"/>
                <a:cs typeface="Calibri"/>
              </a:rPr>
              <a:t> </a:t>
            </a:r>
            <a:r>
              <a:rPr sz="2280" dirty="0">
                <a:latin typeface="Calibri"/>
                <a:cs typeface="Calibri"/>
              </a:rPr>
              <a:t>does</a:t>
            </a:r>
            <a:r>
              <a:rPr sz="2280" spc="282" dirty="0">
                <a:latin typeface="Calibri"/>
                <a:cs typeface="Calibri"/>
              </a:rPr>
              <a:t> </a:t>
            </a:r>
            <a:r>
              <a:rPr sz="2280" dirty="0">
                <a:latin typeface="Calibri"/>
                <a:cs typeface="Calibri"/>
              </a:rPr>
              <a:t>not</a:t>
            </a:r>
            <a:r>
              <a:rPr sz="2280" spc="275" dirty="0">
                <a:latin typeface="Calibri"/>
                <a:cs typeface="Calibri"/>
              </a:rPr>
              <a:t> </a:t>
            </a:r>
            <a:r>
              <a:rPr sz="2280" dirty="0">
                <a:latin typeface="Calibri"/>
                <a:cs typeface="Calibri"/>
              </a:rPr>
              <a:t>reestablish</a:t>
            </a:r>
            <a:r>
              <a:rPr sz="2280" spc="282" dirty="0">
                <a:latin typeface="Calibri"/>
                <a:cs typeface="Calibri"/>
              </a:rPr>
              <a:t> </a:t>
            </a:r>
            <a:r>
              <a:rPr sz="2280" spc="-30" dirty="0">
                <a:latin typeface="Calibri"/>
                <a:cs typeface="Calibri"/>
              </a:rPr>
              <a:t>the </a:t>
            </a:r>
            <a:r>
              <a:rPr sz="2280" dirty="0">
                <a:latin typeface="Calibri"/>
                <a:cs typeface="Calibri"/>
              </a:rPr>
              <a:t>causes</a:t>
            </a:r>
            <a:r>
              <a:rPr sz="2280" spc="-60" dirty="0">
                <a:latin typeface="Calibri"/>
                <a:cs typeface="Calibri"/>
              </a:rPr>
              <a:t> </a:t>
            </a:r>
            <a:r>
              <a:rPr sz="2280" dirty="0">
                <a:latin typeface="Calibri"/>
                <a:cs typeface="Calibri"/>
              </a:rPr>
              <a:t>of</a:t>
            </a:r>
            <a:r>
              <a:rPr sz="2280" spc="-48" dirty="0">
                <a:latin typeface="Calibri"/>
                <a:cs typeface="Calibri"/>
              </a:rPr>
              <a:t> </a:t>
            </a:r>
            <a:r>
              <a:rPr sz="2280" spc="-12" dirty="0">
                <a:latin typeface="Calibri"/>
                <a:cs typeface="Calibri"/>
              </a:rPr>
              <a:t>defects.</a:t>
            </a:r>
            <a:endParaRPr sz="2280">
              <a:latin typeface="Calibri"/>
              <a:cs typeface="Calibri"/>
            </a:endParaRPr>
          </a:p>
          <a:p>
            <a:pPr marL="302514" indent="-287274" algn="just">
              <a:spcBef>
                <a:spcPts val="774"/>
              </a:spcBef>
              <a:buAutoNum type="arabicPeriod" startAt="2"/>
              <a:tabLst>
                <a:tab pos="302514" algn="l"/>
              </a:tabLst>
            </a:pPr>
            <a:r>
              <a:rPr sz="2280" b="1" spc="-12" dirty="0">
                <a:solidFill>
                  <a:srgbClr val="001F5F"/>
                </a:solidFill>
                <a:latin typeface="Calibri"/>
                <a:cs typeface="Calibri"/>
              </a:rPr>
              <a:t>DMADV</a:t>
            </a:r>
            <a:endParaRPr sz="2280">
              <a:latin typeface="Calibri"/>
              <a:cs typeface="Calibri"/>
            </a:endParaRPr>
          </a:p>
          <a:p>
            <a:pPr marL="358902" lvl="1" indent="-343662" algn="just">
              <a:spcBef>
                <a:spcPts val="245"/>
              </a:spcBef>
              <a:buFont typeface="Arial MT"/>
              <a:buChar char="•"/>
              <a:tabLst>
                <a:tab pos="358902" algn="l"/>
              </a:tabLst>
            </a:pPr>
            <a:r>
              <a:rPr sz="2160" dirty="0">
                <a:latin typeface="Calibri"/>
                <a:cs typeface="Calibri"/>
              </a:rPr>
              <a:t>It</a:t>
            </a:r>
            <a:r>
              <a:rPr sz="2160" spc="180" dirty="0">
                <a:latin typeface="Calibri"/>
                <a:cs typeface="Calibri"/>
              </a:rPr>
              <a:t>  </a:t>
            </a:r>
            <a:r>
              <a:rPr sz="2160" dirty="0">
                <a:latin typeface="Calibri"/>
                <a:cs typeface="Calibri"/>
              </a:rPr>
              <a:t>specifies</a:t>
            </a:r>
            <a:r>
              <a:rPr sz="2160" spc="186" dirty="0">
                <a:latin typeface="Calibri"/>
                <a:cs typeface="Calibri"/>
              </a:rPr>
              <a:t>  </a:t>
            </a:r>
            <a:r>
              <a:rPr sz="2160" dirty="0">
                <a:latin typeface="Calibri"/>
                <a:cs typeface="Calibri"/>
              </a:rPr>
              <a:t>a</a:t>
            </a:r>
            <a:r>
              <a:rPr sz="2160" spc="186" dirty="0">
                <a:latin typeface="Calibri"/>
                <a:cs typeface="Calibri"/>
              </a:rPr>
              <a:t>  </a:t>
            </a:r>
            <a:r>
              <a:rPr sz="2160" spc="-24" dirty="0">
                <a:latin typeface="Calibri"/>
                <a:cs typeface="Calibri"/>
              </a:rPr>
              <a:t>data-</a:t>
            </a:r>
            <a:r>
              <a:rPr sz="2160" dirty="0">
                <a:latin typeface="Calibri"/>
                <a:cs typeface="Calibri"/>
              </a:rPr>
              <a:t>driven</a:t>
            </a:r>
            <a:r>
              <a:rPr sz="2160" spc="186" dirty="0">
                <a:latin typeface="Calibri"/>
                <a:cs typeface="Calibri"/>
              </a:rPr>
              <a:t>  </a:t>
            </a:r>
            <a:r>
              <a:rPr sz="2160" dirty="0">
                <a:latin typeface="Calibri"/>
                <a:cs typeface="Calibri"/>
              </a:rPr>
              <a:t>quality</a:t>
            </a:r>
            <a:r>
              <a:rPr sz="2160" spc="180" dirty="0">
                <a:latin typeface="Calibri"/>
                <a:cs typeface="Calibri"/>
              </a:rPr>
              <a:t>  </a:t>
            </a:r>
            <a:r>
              <a:rPr sz="2160" dirty="0">
                <a:latin typeface="Calibri"/>
                <a:cs typeface="Calibri"/>
              </a:rPr>
              <a:t>strategy</a:t>
            </a:r>
            <a:r>
              <a:rPr sz="2160" spc="186" dirty="0">
                <a:latin typeface="Calibri"/>
                <a:cs typeface="Calibri"/>
              </a:rPr>
              <a:t>  </a:t>
            </a:r>
            <a:r>
              <a:rPr sz="2160" spc="-30" dirty="0">
                <a:latin typeface="Calibri"/>
                <a:cs typeface="Calibri"/>
              </a:rPr>
              <a:t>for</a:t>
            </a:r>
            <a:endParaRPr sz="2160">
              <a:latin typeface="Calibri"/>
              <a:cs typeface="Calibri"/>
            </a:endParaRPr>
          </a:p>
          <a:p>
            <a:pPr marL="358902" algn="just">
              <a:spcBef>
                <a:spcPts val="6"/>
              </a:spcBef>
            </a:pPr>
            <a:r>
              <a:rPr sz="2160" b="1" i="1" dirty="0">
                <a:solidFill>
                  <a:srgbClr val="006FC0"/>
                </a:solidFill>
                <a:latin typeface="Calibri"/>
                <a:cs typeface="Calibri"/>
              </a:rPr>
              <a:t>designing</a:t>
            </a:r>
            <a:r>
              <a:rPr sz="2160" b="1" i="1" spc="-48" dirty="0">
                <a:solidFill>
                  <a:srgbClr val="006FC0"/>
                </a:solidFill>
                <a:latin typeface="Calibri"/>
                <a:cs typeface="Calibri"/>
              </a:rPr>
              <a:t> </a:t>
            </a:r>
            <a:r>
              <a:rPr sz="2160" b="1" i="1" dirty="0">
                <a:solidFill>
                  <a:srgbClr val="006FC0"/>
                </a:solidFill>
                <a:latin typeface="Calibri"/>
                <a:cs typeface="Calibri"/>
              </a:rPr>
              <a:t>products</a:t>
            </a:r>
            <a:r>
              <a:rPr sz="2160" b="1" i="1" spc="6" dirty="0">
                <a:solidFill>
                  <a:srgbClr val="006FC0"/>
                </a:solidFill>
                <a:latin typeface="Calibri"/>
                <a:cs typeface="Calibri"/>
              </a:rPr>
              <a:t> </a:t>
            </a:r>
            <a:r>
              <a:rPr sz="2160" b="1" i="1" dirty="0">
                <a:solidFill>
                  <a:srgbClr val="006FC0"/>
                </a:solidFill>
                <a:latin typeface="Calibri"/>
                <a:cs typeface="Calibri"/>
              </a:rPr>
              <a:t>and</a:t>
            </a:r>
            <a:r>
              <a:rPr sz="2160" b="1" i="1" spc="-24" dirty="0">
                <a:solidFill>
                  <a:srgbClr val="006FC0"/>
                </a:solidFill>
                <a:latin typeface="Calibri"/>
                <a:cs typeface="Calibri"/>
              </a:rPr>
              <a:t> </a:t>
            </a:r>
            <a:r>
              <a:rPr sz="2160" b="1" i="1" spc="-12" dirty="0">
                <a:solidFill>
                  <a:srgbClr val="006FC0"/>
                </a:solidFill>
                <a:latin typeface="Calibri"/>
                <a:cs typeface="Calibri"/>
              </a:rPr>
              <a:t>processes</a:t>
            </a:r>
            <a:r>
              <a:rPr sz="2160" spc="-12" dirty="0">
                <a:latin typeface="Calibri"/>
                <a:cs typeface="Calibri"/>
              </a:rPr>
              <a:t>.</a:t>
            </a:r>
            <a:endParaRPr sz="2160">
              <a:latin typeface="Calibri"/>
              <a:cs typeface="Calibri"/>
            </a:endParaRPr>
          </a:p>
          <a:p>
            <a:pPr marL="358902" marR="4496562" lvl="1" indent="-344424" algn="just">
              <a:spcBef>
                <a:spcPts val="240"/>
              </a:spcBef>
              <a:buFont typeface="Arial MT"/>
              <a:buChar char="•"/>
              <a:tabLst>
                <a:tab pos="358902" algn="l"/>
              </a:tabLst>
            </a:pPr>
            <a:r>
              <a:rPr sz="2160" dirty="0">
                <a:latin typeface="Calibri"/>
                <a:cs typeface="Calibri"/>
              </a:rPr>
              <a:t>This</a:t>
            </a:r>
            <a:r>
              <a:rPr sz="2160" spc="192" dirty="0">
                <a:latin typeface="Calibri"/>
                <a:cs typeface="Calibri"/>
              </a:rPr>
              <a:t>  </a:t>
            </a:r>
            <a:r>
              <a:rPr sz="2160" dirty="0">
                <a:latin typeface="Calibri"/>
                <a:cs typeface="Calibri"/>
              </a:rPr>
              <a:t>method</a:t>
            </a:r>
            <a:r>
              <a:rPr sz="2160" spc="192" dirty="0">
                <a:latin typeface="Calibri"/>
                <a:cs typeface="Calibri"/>
              </a:rPr>
              <a:t>  </a:t>
            </a:r>
            <a:r>
              <a:rPr sz="2160" dirty="0">
                <a:latin typeface="Calibri"/>
                <a:cs typeface="Calibri"/>
              </a:rPr>
              <a:t>is</a:t>
            </a:r>
            <a:r>
              <a:rPr sz="2160" spc="198" dirty="0">
                <a:latin typeface="Calibri"/>
                <a:cs typeface="Calibri"/>
              </a:rPr>
              <a:t>  </a:t>
            </a:r>
            <a:r>
              <a:rPr sz="2160" dirty="0">
                <a:latin typeface="Calibri"/>
                <a:cs typeface="Calibri"/>
              </a:rPr>
              <a:t>used</a:t>
            </a:r>
            <a:r>
              <a:rPr sz="2160" spc="198" dirty="0">
                <a:latin typeface="Calibri"/>
                <a:cs typeface="Calibri"/>
              </a:rPr>
              <a:t>  </a:t>
            </a:r>
            <a:r>
              <a:rPr sz="2160" dirty="0">
                <a:latin typeface="Calibri"/>
                <a:cs typeface="Calibri"/>
              </a:rPr>
              <a:t>to</a:t>
            </a:r>
            <a:r>
              <a:rPr sz="2160" spc="186" dirty="0">
                <a:latin typeface="Calibri"/>
                <a:cs typeface="Calibri"/>
              </a:rPr>
              <a:t>  </a:t>
            </a:r>
            <a:r>
              <a:rPr sz="2160" dirty="0">
                <a:latin typeface="Calibri"/>
                <a:cs typeface="Calibri"/>
              </a:rPr>
              <a:t>create</a:t>
            </a:r>
            <a:r>
              <a:rPr sz="2160" spc="198" dirty="0">
                <a:latin typeface="Calibri"/>
                <a:cs typeface="Calibri"/>
              </a:rPr>
              <a:t>  </a:t>
            </a:r>
            <a:r>
              <a:rPr sz="2160" dirty="0">
                <a:latin typeface="Calibri"/>
                <a:cs typeface="Calibri"/>
              </a:rPr>
              <a:t>new</a:t>
            </a:r>
            <a:r>
              <a:rPr sz="2160" spc="192" dirty="0">
                <a:latin typeface="Calibri"/>
                <a:cs typeface="Calibri"/>
              </a:rPr>
              <a:t>  </a:t>
            </a:r>
            <a:r>
              <a:rPr sz="2160" spc="-12" dirty="0">
                <a:latin typeface="Calibri"/>
                <a:cs typeface="Calibri"/>
              </a:rPr>
              <a:t>product </a:t>
            </a:r>
            <a:r>
              <a:rPr sz="2160" dirty="0">
                <a:latin typeface="Calibri"/>
                <a:cs typeface="Calibri"/>
              </a:rPr>
              <a:t>designs</a:t>
            </a:r>
            <a:r>
              <a:rPr sz="2160" spc="264" dirty="0">
                <a:latin typeface="Calibri"/>
                <a:cs typeface="Calibri"/>
              </a:rPr>
              <a:t> </a:t>
            </a:r>
            <a:r>
              <a:rPr sz="2160" dirty="0">
                <a:latin typeface="Calibri"/>
                <a:cs typeface="Calibri"/>
              </a:rPr>
              <a:t>or</a:t>
            </a:r>
            <a:r>
              <a:rPr sz="2160" spc="252" dirty="0">
                <a:latin typeface="Calibri"/>
                <a:cs typeface="Calibri"/>
              </a:rPr>
              <a:t> </a:t>
            </a:r>
            <a:r>
              <a:rPr sz="2160" dirty="0">
                <a:latin typeface="Calibri"/>
                <a:cs typeface="Calibri"/>
              </a:rPr>
              <a:t>process</a:t>
            </a:r>
            <a:r>
              <a:rPr sz="2160" spc="258" dirty="0">
                <a:latin typeface="Calibri"/>
                <a:cs typeface="Calibri"/>
              </a:rPr>
              <a:t> </a:t>
            </a:r>
            <a:r>
              <a:rPr sz="2160" dirty="0">
                <a:latin typeface="Calibri"/>
                <a:cs typeface="Calibri"/>
              </a:rPr>
              <a:t>designs</a:t>
            </a:r>
            <a:r>
              <a:rPr sz="2160" spc="264" dirty="0">
                <a:latin typeface="Calibri"/>
                <a:cs typeface="Calibri"/>
              </a:rPr>
              <a:t> </a:t>
            </a:r>
            <a:r>
              <a:rPr sz="2160" dirty="0">
                <a:latin typeface="Calibri"/>
                <a:cs typeface="Calibri"/>
              </a:rPr>
              <a:t>in</a:t>
            </a:r>
            <a:r>
              <a:rPr sz="2160" spc="258" dirty="0">
                <a:latin typeface="Calibri"/>
                <a:cs typeface="Calibri"/>
              </a:rPr>
              <a:t> </a:t>
            </a:r>
            <a:r>
              <a:rPr sz="2160" dirty="0">
                <a:latin typeface="Calibri"/>
                <a:cs typeface="Calibri"/>
              </a:rPr>
              <a:t>such</a:t>
            </a:r>
            <a:r>
              <a:rPr sz="2160" spc="264" dirty="0">
                <a:latin typeface="Calibri"/>
                <a:cs typeface="Calibri"/>
              </a:rPr>
              <a:t> </a:t>
            </a:r>
            <a:r>
              <a:rPr sz="2160" dirty="0">
                <a:latin typeface="Calibri"/>
                <a:cs typeface="Calibri"/>
              </a:rPr>
              <a:t>a</a:t>
            </a:r>
            <a:r>
              <a:rPr sz="2160" spc="282" dirty="0">
                <a:latin typeface="Calibri"/>
                <a:cs typeface="Calibri"/>
              </a:rPr>
              <a:t> </a:t>
            </a:r>
            <a:r>
              <a:rPr sz="2160" dirty="0">
                <a:latin typeface="Calibri"/>
                <a:cs typeface="Calibri"/>
              </a:rPr>
              <a:t>way</a:t>
            </a:r>
            <a:r>
              <a:rPr sz="2160" spc="258" dirty="0">
                <a:latin typeface="Calibri"/>
                <a:cs typeface="Calibri"/>
              </a:rPr>
              <a:t> </a:t>
            </a:r>
            <a:r>
              <a:rPr sz="2160" dirty="0">
                <a:latin typeface="Calibri"/>
                <a:cs typeface="Calibri"/>
              </a:rPr>
              <a:t>that</a:t>
            </a:r>
            <a:r>
              <a:rPr sz="2160" spc="264" dirty="0">
                <a:latin typeface="Calibri"/>
                <a:cs typeface="Calibri"/>
              </a:rPr>
              <a:t> </a:t>
            </a:r>
            <a:r>
              <a:rPr sz="2160" spc="-30" dirty="0">
                <a:latin typeface="Calibri"/>
                <a:cs typeface="Calibri"/>
              </a:rPr>
              <a:t>it </a:t>
            </a:r>
            <a:r>
              <a:rPr sz="2160" dirty="0">
                <a:latin typeface="Calibri"/>
                <a:cs typeface="Calibri"/>
              </a:rPr>
              <a:t>results</a:t>
            </a:r>
            <a:r>
              <a:rPr sz="2160" spc="72" dirty="0">
                <a:latin typeface="Calibri"/>
                <a:cs typeface="Calibri"/>
              </a:rPr>
              <a:t> </a:t>
            </a:r>
            <a:r>
              <a:rPr sz="2160" dirty="0">
                <a:latin typeface="Calibri"/>
                <a:cs typeface="Calibri"/>
              </a:rPr>
              <a:t>in</a:t>
            </a:r>
            <a:r>
              <a:rPr sz="2160" spc="66" dirty="0">
                <a:latin typeface="Calibri"/>
                <a:cs typeface="Calibri"/>
              </a:rPr>
              <a:t> </a:t>
            </a:r>
            <a:r>
              <a:rPr sz="2160" dirty="0">
                <a:latin typeface="Calibri"/>
                <a:cs typeface="Calibri"/>
              </a:rPr>
              <a:t>a</a:t>
            </a:r>
            <a:r>
              <a:rPr sz="2160" spc="66" dirty="0">
                <a:latin typeface="Calibri"/>
                <a:cs typeface="Calibri"/>
              </a:rPr>
              <a:t> </a:t>
            </a:r>
            <a:r>
              <a:rPr sz="2160" dirty="0">
                <a:latin typeface="Calibri"/>
                <a:cs typeface="Calibri"/>
              </a:rPr>
              <a:t>more</a:t>
            </a:r>
            <a:r>
              <a:rPr sz="2160" spc="66" dirty="0">
                <a:latin typeface="Calibri"/>
                <a:cs typeface="Calibri"/>
              </a:rPr>
              <a:t> </a:t>
            </a:r>
            <a:r>
              <a:rPr sz="2160" dirty="0">
                <a:latin typeface="Calibri"/>
                <a:cs typeface="Calibri"/>
              </a:rPr>
              <a:t>predictable,</a:t>
            </a:r>
            <a:r>
              <a:rPr sz="2160" spc="60" dirty="0">
                <a:latin typeface="Calibri"/>
                <a:cs typeface="Calibri"/>
              </a:rPr>
              <a:t> </a:t>
            </a:r>
            <a:r>
              <a:rPr sz="2160" dirty="0">
                <a:latin typeface="Calibri"/>
                <a:cs typeface="Calibri"/>
              </a:rPr>
              <a:t>mature,</a:t>
            </a:r>
            <a:r>
              <a:rPr sz="2160" spc="66" dirty="0">
                <a:latin typeface="Calibri"/>
                <a:cs typeface="Calibri"/>
              </a:rPr>
              <a:t> </a:t>
            </a:r>
            <a:r>
              <a:rPr sz="2160" dirty="0">
                <a:latin typeface="Calibri"/>
                <a:cs typeface="Calibri"/>
              </a:rPr>
              <a:t>and</a:t>
            </a:r>
            <a:r>
              <a:rPr sz="2160" spc="72" dirty="0">
                <a:latin typeface="Calibri"/>
                <a:cs typeface="Calibri"/>
              </a:rPr>
              <a:t> </a:t>
            </a:r>
            <a:r>
              <a:rPr sz="2160" spc="-12" dirty="0">
                <a:latin typeface="Calibri"/>
                <a:cs typeface="Calibri"/>
              </a:rPr>
              <a:t>detect </a:t>
            </a:r>
            <a:r>
              <a:rPr sz="2160" dirty="0">
                <a:latin typeface="Calibri"/>
                <a:cs typeface="Calibri"/>
              </a:rPr>
              <a:t>free</a:t>
            </a:r>
            <a:r>
              <a:rPr sz="2160" spc="-54" dirty="0">
                <a:latin typeface="Calibri"/>
                <a:cs typeface="Calibri"/>
              </a:rPr>
              <a:t> </a:t>
            </a:r>
            <a:r>
              <a:rPr sz="2160" spc="-12" dirty="0">
                <a:latin typeface="Calibri"/>
                <a:cs typeface="Calibri"/>
              </a:rPr>
              <a:t>performance.</a:t>
            </a:r>
            <a:endParaRPr sz="2160">
              <a:latin typeface="Calibri"/>
              <a:cs typeface="Calibri"/>
            </a:endParaRPr>
          </a:p>
          <a:p>
            <a:pPr marL="739140" marR="4498848" lvl="2" indent="-411480" algn="just">
              <a:spcBef>
                <a:spcPts val="6"/>
              </a:spcBef>
              <a:buAutoNum type="romanLcParenBoth"/>
              <a:tabLst>
                <a:tab pos="1112520" algn="l"/>
              </a:tabLst>
            </a:pPr>
            <a:r>
              <a:rPr sz="2160" b="1" i="1" dirty="0">
                <a:solidFill>
                  <a:srgbClr val="C00000"/>
                </a:solidFill>
                <a:latin typeface="Calibri"/>
                <a:cs typeface="Calibri"/>
              </a:rPr>
              <a:t>Define</a:t>
            </a:r>
            <a:r>
              <a:rPr sz="2160" b="1" dirty="0">
                <a:latin typeface="Calibri"/>
                <a:cs typeface="Calibri"/>
              </a:rPr>
              <a:t>:</a:t>
            </a:r>
            <a:r>
              <a:rPr sz="2160" b="1" spc="168" dirty="0">
                <a:latin typeface="Calibri"/>
                <a:cs typeface="Calibri"/>
              </a:rPr>
              <a:t>  </a:t>
            </a:r>
            <a:r>
              <a:rPr sz="2160" dirty="0">
                <a:latin typeface="Calibri"/>
                <a:cs typeface="Calibri"/>
              </a:rPr>
              <a:t>It</a:t>
            </a:r>
            <a:r>
              <a:rPr sz="2160" spc="156" dirty="0">
                <a:latin typeface="Calibri"/>
                <a:cs typeface="Calibri"/>
              </a:rPr>
              <a:t>  </a:t>
            </a:r>
            <a:r>
              <a:rPr sz="2160" dirty="0">
                <a:latin typeface="Calibri"/>
                <a:cs typeface="Calibri"/>
              </a:rPr>
              <a:t>defines</a:t>
            </a:r>
            <a:r>
              <a:rPr sz="2160" spc="168" dirty="0">
                <a:latin typeface="Calibri"/>
                <a:cs typeface="Calibri"/>
              </a:rPr>
              <a:t>  </a:t>
            </a:r>
            <a:r>
              <a:rPr sz="2160" dirty="0">
                <a:latin typeface="Calibri"/>
                <a:cs typeface="Calibri"/>
              </a:rPr>
              <a:t>the</a:t>
            </a:r>
            <a:r>
              <a:rPr sz="2160" spc="174" dirty="0">
                <a:latin typeface="Calibri"/>
                <a:cs typeface="Calibri"/>
              </a:rPr>
              <a:t>  </a:t>
            </a:r>
            <a:r>
              <a:rPr sz="2160" b="1" i="1" dirty="0">
                <a:solidFill>
                  <a:srgbClr val="006FC0"/>
                </a:solidFill>
                <a:latin typeface="Calibri"/>
                <a:cs typeface="Calibri"/>
              </a:rPr>
              <a:t>problem</a:t>
            </a:r>
            <a:r>
              <a:rPr sz="2160" b="1" i="1" spc="168" dirty="0">
                <a:solidFill>
                  <a:srgbClr val="006FC0"/>
                </a:solidFill>
                <a:latin typeface="Calibri"/>
                <a:cs typeface="Calibri"/>
              </a:rPr>
              <a:t>  </a:t>
            </a:r>
            <a:r>
              <a:rPr sz="2160" dirty="0">
                <a:latin typeface="Calibri"/>
                <a:cs typeface="Calibri"/>
              </a:rPr>
              <a:t>or</a:t>
            </a:r>
            <a:r>
              <a:rPr sz="2160" spc="162" dirty="0">
                <a:latin typeface="Calibri"/>
                <a:cs typeface="Calibri"/>
              </a:rPr>
              <a:t>  </a:t>
            </a:r>
            <a:r>
              <a:rPr sz="2160" b="1" i="1" spc="-12" dirty="0">
                <a:solidFill>
                  <a:srgbClr val="006FC0"/>
                </a:solidFill>
                <a:latin typeface="Calibri"/>
                <a:cs typeface="Calibri"/>
              </a:rPr>
              <a:t>project 	</a:t>
            </a:r>
            <a:r>
              <a:rPr sz="2160" b="1" i="1" dirty="0">
                <a:solidFill>
                  <a:srgbClr val="006FC0"/>
                </a:solidFill>
                <a:latin typeface="Calibri"/>
                <a:cs typeface="Calibri"/>
              </a:rPr>
              <a:t>goa</a:t>
            </a:r>
            <a:r>
              <a:rPr sz="2160" dirty="0">
                <a:latin typeface="Calibri"/>
                <a:cs typeface="Calibri"/>
              </a:rPr>
              <a:t>l</a:t>
            </a:r>
            <a:r>
              <a:rPr sz="2160" spc="-36" dirty="0">
                <a:latin typeface="Calibri"/>
                <a:cs typeface="Calibri"/>
              </a:rPr>
              <a:t> </a:t>
            </a:r>
            <a:r>
              <a:rPr sz="2160" dirty="0">
                <a:latin typeface="Calibri"/>
                <a:cs typeface="Calibri"/>
              </a:rPr>
              <a:t>that</a:t>
            </a:r>
            <a:r>
              <a:rPr sz="2160" spc="-42" dirty="0">
                <a:latin typeface="Calibri"/>
                <a:cs typeface="Calibri"/>
              </a:rPr>
              <a:t> </a:t>
            </a:r>
            <a:r>
              <a:rPr sz="2160" dirty="0">
                <a:latin typeface="Calibri"/>
                <a:cs typeface="Calibri"/>
              </a:rPr>
              <a:t>needs</a:t>
            </a:r>
            <a:r>
              <a:rPr sz="2160" spc="-30" dirty="0">
                <a:latin typeface="Calibri"/>
                <a:cs typeface="Calibri"/>
              </a:rPr>
              <a:t> </a:t>
            </a:r>
            <a:r>
              <a:rPr sz="2160" dirty="0">
                <a:latin typeface="Calibri"/>
                <a:cs typeface="Calibri"/>
              </a:rPr>
              <a:t>to</a:t>
            </a:r>
            <a:r>
              <a:rPr sz="2160" spc="-36" dirty="0">
                <a:latin typeface="Calibri"/>
                <a:cs typeface="Calibri"/>
              </a:rPr>
              <a:t> </a:t>
            </a:r>
            <a:r>
              <a:rPr sz="2160" dirty="0">
                <a:latin typeface="Calibri"/>
                <a:cs typeface="Calibri"/>
              </a:rPr>
              <a:t>be</a:t>
            </a:r>
            <a:r>
              <a:rPr sz="2160" spc="-24" dirty="0">
                <a:latin typeface="Calibri"/>
                <a:cs typeface="Calibri"/>
              </a:rPr>
              <a:t> </a:t>
            </a:r>
            <a:r>
              <a:rPr sz="2160" spc="-12" dirty="0">
                <a:latin typeface="Calibri"/>
                <a:cs typeface="Calibri"/>
              </a:rPr>
              <a:t>addressed.</a:t>
            </a:r>
            <a:endParaRPr sz="2160">
              <a:latin typeface="Calibri"/>
              <a:cs typeface="Calibri"/>
            </a:endParaRPr>
          </a:p>
          <a:p>
            <a:pPr marL="787146" lvl="2" indent="-459486" algn="just">
              <a:buAutoNum type="romanLcParenBoth"/>
              <a:tabLst>
                <a:tab pos="787146" algn="l"/>
              </a:tabLst>
            </a:pPr>
            <a:r>
              <a:rPr sz="2160" b="1" i="1" dirty="0">
                <a:solidFill>
                  <a:srgbClr val="C00000"/>
                </a:solidFill>
                <a:latin typeface="Calibri"/>
                <a:cs typeface="Calibri"/>
              </a:rPr>
              <a:t>Measure</a:t>
            </a:r>
            <a:r>
              <a:rPr sz="2160" b="1" dirty="0">
                <a:latin typeface="Calibri"/>
                <a:cs typeface="Calibri"/>
              </a:rPr>
              <a:t>:</a:t>
            </a:r>
            <a:r>
              <a:rPr sz="2160" b="1" spc="66" dirty="0">
                <a:latin typeface="Calibri"/>
                <a:cs typeface="Calibri"/>
              </a:rPr>
              <a:t>  </a:t>
            </a:r>
            <a:r>
              <a:rPr sz="2160" dirty="0">
                <a:latin typeface="Calibri"/>
                <a:cs typeface="Calibri"/>
              </a:rPr>
              <a:t>It</a:t>
            </a:r>
            <a:r>
              <a:rPr sz="2160" spc="66" dirty="0">
                <a:latin typeface="Calibri"/>
                <a:cs typeface="Calibri"/>
              </a:rPr>
              <a:t>  </a:t>
            </a:r>
            <a:r>
              <a:rPr sz="2160" dirty="0">
                <a:latin typeface="Calibri"/>
                <a:cs typeface="Calibri"/>
              </a:rPr>
              <a:t>measures</a:t>
            </a:r>
            <a:r>
              <a:rPr sz="2160" spc="72" dirty="0">
                <a:latin typeface="Calibri"/>
                <a:cs typeface="Calibri"/>
              </a:rPr>
              <a:t>  </a:t>
            </a:r>
            <a:r>
              <a:rPr sz="2160" dirty="0">
                <a:latin typeface="Calibri"/>
                <a:cs typeface="Calibri"/>
              </a:rPr>
              <a:t>and</a:t>
            </a:r>
            <a:r>
              <a:rPr sz="2160" spc="72" dirty="0">
                <a:latin typeface="Calibri"/>
                <a:cs typeface="Calibri"/>
              </a:rPr>
              <a:t>  </a:t>
            </a:r>
            <a:r>
              <a:rPr sz="2160" dirty="0">
                <a:latin typeface="Calibri"/>
                <a:cs typeface="Calibri"/>
              </a:rPr>
              <a:t>determines</a:t>
            </a:r>
            <a:r>
              <a:rPr sz="2160" spc="72" dirty="0">
                <a:latin typeface="Calibri"/>
                <a:cs typeface="Calibri"/>
              </a:rPr>
              <a:t>  </a:t>
            </a:r>
            <a:r>
              <a:rPr sz="2160" spc="-30" dirty="0">
                <a:latin typeface="Calibri"/>
                <a:cs typeface="Calibri"/>
              </a:rPr>
              <a:t>the</a:t>
            </a:r>
            <a:endParaRPr sz="2160">
              <a:latin typeface="Calibri"/>
              <a:cs typeface="Calibri"/>
            </a:endParaRPr>
          </a:p>
          <a:p>
            <a:pPr marL="1112520" algn="just"/>
            <a:r>
              <a:rPr sz="2160" b="1" i="1" spc="-12" dirty="0">
                <a:solidFill>
                  <a:srgbClr val="006FC0"/>
                </a:solidFill>
                <a:latin typeface="Calibri"/>
                <a:cs typeface="Calibri"/>
              </a:rPr>
              <a:t>customer's</a:t>
            </a:r>
            <a:r>
              <a:rPr sz="2160" b="1" i="1" spc="-24" dirty="0">
                <a:solidFill>
                  <a:srgbClr val="006FC0"/>
                </a:solidFill>
                <a:latin typeface="Calibri"/>
                <a:cs typeface="Calibri"/>
              </a:rPr>
              <a:t> </a:t>
            </a:r>
            <a:r>
              <a:rPr sz="2160" b="1" i="1" dirty="0">
                <a:solidFill>
                  <a:srgbClr val="006FC0"/>
                </a:solidFill>
                <a:latin typeface="Calibri"/>
                <a:cs typeface="Calibri"/>
              </a:rPr>
              <a:t>needs</a:t>
            </a:r>
            <a:r>
              <a:rPr sz="2160" b="1" i="1" spc="-36" dirty="0">
                <a:solidFill>
                  <a:srgbClr val="006FC0"/>
                </a:solidFill>
                <a:latin typeface="Calibri"/>
                <a:cs typeface="Calibri"/>
              </a:rPr>
              <a:t> </a:t>
            </a:r>
            <a:r>
              <a:rPr sz="2160" b="1" i="1" dirty="0">
                <a:solidFill>
                  <a:srgbClr val="006FC0"/>
                </a:solidFill>
                <a:latin typeface="Calibri"/>
                <a:cs typeface="Calibri"/>
              </a:rPr>
              <a:t>and</a:t>
            </a:r>
            <a:r>
              <a:rPr sz="2160" b="1" i="1" spc="-36" dirty="0">
                <a:solidFill>
                  <a:srgbClr val="006FC0"/>
                </a:solidFill>
                <a:latin typeface="Calibri"/>
                <a:cs typeface="Calibri"/>
              </a:rPr>
              <a:t> </a:t>
            </a:r>
            <a:r>
              <a:rPr sz="2160" b="1" i="1" spc="-12" dirty="0">
                <a:solidFill>
                  <a:srgbClr val="006FC0"/>
                </a:solidFill>
                <a:latin typeface="Calibri"/>
                <a:cs typeface="Calibri"/>
              </a:rPr>
              <a:t>specifications</a:t>
            </a:r>
            <a:r>
              <a:rPr sz="2160" spc="-12" dirty="0">
                <a:latin typeface="Calibri"/>
                <a:cs typeface="Calibri"/>
              </a:rPr>
              <a:t>.</a:t>
            </a:r>
            <a:endParaRPr sz="2160">
              <a:latin typeface="Calibri"/>
              <a:cs typeface="Calibri"/>
            </a:endParaRPr>
          </a:p>
          <a:p>
            <a:pPr marL="864870" marR="4496562" lvl="2" indent="-537210" algn="just">
              <a:buAutoNum type="romanLcParenBoth" startAt="3"/>
              <a:tabLst>
                <a:tab pos="1112520" algn="l"/>
              </a:tabLst>
            </a:pPr>
            <a:r>
              <a:rPr sz="2160" b="1" i="1" dirty="0">
                <a:solidFill>
                  <a:srgbClr val="C00000"/>
                </a:solidFill>
                <a:latin typeface="Calibri"/>
                <a:cs typeface="Calibri"/>
              </a:rPr>
              <a:t>Analyze</a:t>
            </a:r>
            <a:r>
              <a:rPr sz="2160" b="1" dirty="0">
                <a:latin typeface="Calibri"/>
                <a:cs typeface="Calibri"/>
              </a:rPr>
              <a:t>:</a:t>
            </a:r>
            <a:r>
              <a:rPr sz="2160" b="1" spc="114" dirty="0">
                <a:latin typeface="Calibri"/>
                <a:cs typeface="Calibri"/>
              </a:rPr>
              <a:t>  </a:t>
            </a:r>
            <a:r>
              <a:rPr sz="2160" dirty="0">
                <a:latin typeface="Calibri"/>
                <a:cs typeface="Calibri"/>
              </a:rPr>
              <a:t>It</a:t>
            </a:r>
            <a:r>
              <a:rPr sz="2160" spc="114" dirty="0">
                <a:latin typeface="Calibri"/>
                <a:cs typeface="Calibri"/>
              </a:rPr>
              <a:t>  </a:t>
            </a:r>
            <a:r>
              <a:rPr sz="2160" dirty="0">
                <a:latin typeface="Calibri"/>
                <a:cs typeface="Calibri"/>
              </a:rPr>
              <a:t>analyzes</a:t>
            </a:r>
            <a:r>
              <a:rPr sz="2160" spc="120" dirty="0">
                <a:latin typeface="Calibri"/>
                <a:cs typeface="Calibri"/>
              </a:rPr>
              <a:t>  </a:t>
            </a:r>
            <a:r>
              <a:rPr sz="2160" dirty="0">
                <a:latin typeface="Calibri"/>
                <a:cs typeface="Calibri"/>
              </a:rPr>
              <a:t>the</a:t>
            </a:r>
            <a:r>
              <a:rPr sz="2160" spc="114" dirty="0">
                <a:latin typeface="Calibri"/>
                <a:cs typeface="Calibri"/>
              </a:rPr>
              <a:t>  </a:t>
            </a:r>
            <a:r>
              <a:rPr sz="2160" dirty="0">
                <a:latin typeface="Calibri"/>
                <a:cs typeface="Calibri"/>
              </a:rPr>
              <a:t>process</a:t>
            </a:r>
            <a:r>
              <a:rPr sz="2160" spc="114" dirty="0">
                <a:latin typeface="Calibri"/>
                <a:cs typeface="Calibri"/>
              </a:rPr>
              <a:t>  </a:t>
            </a:r>
            <a:r>
              <a:rPr sz="2160" dirty="0">
                <a:latin typeface="Calibri"/>
                <a:cs typeface="Calibri"/>
              </a:rPr>
              <a:t>to</a:t>
            </a:r>
            <a:r>
              <a:rPr sz="2160" spc="120" dirty="0">
                <a:latin typeface="Calibri"/>
                <a:cs typeface="Calibri"/>
              </a:rPr>
              <a:t>  </a:t>
            </a:r>
            <a:r>
              <a:rPr sz="2160" spc="-24" dirty="0">
                <a:latin typeface="Calibri"/>
                <a:cs typeface="Calibri"/>
              </a:rPr>
              <a:t>meet 	</a:t>
            </a:r>
            <a:r>
              <a:rPr sz="2160" spc="-12" dirty="0">
                <a:latin typeface="Calibri"/>
                <a:cs typeface="Calibri"/>
              </a:rPr>
              <a:t>customer</a:t>
            </a:r>
            <a:r>
              <a:rPr sz="2160" spc="-42" dirty="0">
                <a:latin typeface="Calibri"/>
                <a:cs typeface="Calibri"/>
              </a:rPr>
              <a:t> </a:t>
            </a:r>
            <a:r>
              <a:rPr sz="2160" spc="-12" dirty="0">
                <a:latin typeface="Calibri"/>
                <a:cs typeface="Calibri"/>
              </a:rPr>
              <a:t>needs.</a:t>
            </a:r>
            <a:endParaRPr sz="2160">
              <a:latin typeface="Calibri"/>
              <a:cs typeface="Calibri"/>
            </a:endParaRPr>
          </a:p>
          <a:p>
            <a:pPr marL="858012" lvl="2" indent="-530351" algn="just">
              <a:buAutoNum type="romanLcParenBoth" startAt="3"/>
              <a:tabLst>
                <a:tab pos="858012" algn="l"/>
              </a:tabLst>
            </a:pPr>
            <a:r>
              <a:rPr sz="2160" b="1" i="1" dirty="0">
                <a:solidFill>
                  <a:srgbClr val="C00000"/>
                </a:solidFill>
                <a:latin typeface="Calibri"/>
                <a:cs typeface="Calibri"/>
              </a:rPr>
              <a:t>Design</a:t>
            </a:r>
            <a:r>
              <a:rPr sz="2160" b="1" dirty="0">
                <a:latin typeface="Calibri"/>
                <a:cs typeface="Calibri"/>
              </a:rPr>
              <a:t>:</a:t>
            </a:r>
            <a:r>
              <a:rPr sz="2160" b="1" spc="126" dirty="0">
                <a:latin typeface="Calibri"/>
                <a:cs typeface="Calibri"/>
              </a:rPr>
              <a:t>  </a:t>
            </a:r>
            <a:r>
              <a:rPr sz="2160" dirty="0">
                <a:latin typeface="Calibri"/>
                <a:cs typeface="Calibri"/>
              </a:rPr>
              <a:t>It</a:t>
            </a:r>
            <a:r>
              <a:rPr sz="2160" spc="120" dirty="0">
                <a:latin typeface="Calibri"/>
                <a:cs typeface="Calibri"/>
              </a:rPr>
              <a:t>  </a:t>
            </a:r>
            <a:r>
              <a:rPr sz="2160" dirty="0">
                <a:latin typeface="Calibri"/>
                <a:cs typeface="Calibri"/>
              </a:rPr>
              <a:t>can</a:t>
            </a:r>
            <a:r>
              <a:rPr sz="2160" spc="126" dirty="0">
                <a:latin typeface="Calibri"/>
                <a:cs typeface="Calibri"/>
              </a:rPr>
              <a:t>  </a:t>
            </a:r>
            <a:r>
              <a:rPr sz="2160" dirty="0">
                <a:latin typeface="Calibri"/>
                <a:cs typeface="Calibri"/>
              </a:rPr>
              <a:t>design</a:t>
            </a:r>
            <a:r>
              <a:rPr sz="2160" spc="126" dirty="0">
                <a:latin typeface="Calibri"/>
                <a:cs typeface="Calibri"/>
              </a:rPr>
              <a:t>  </a:t>
            </a:r>
            <a:r>
              <a:rPr sz="2160" dirty="0">
                <a:latin typeface="Calibri"/>
                <a:cs typeface="Calibri"/>
              </a:rPr>
              <a:t>a</a:t>
            </a:r>
            <a:r>
              <a:rPr sz="2160" spc="120" dirty="0">
                <a:latin typeface="Calibri"/>
                <a:cs typeface="Calibri"/>
              </a:rPr>
              <a:t>  </a:t>
            </a:r>
            <a:r>
              <a:rPr sz="2160" dirty="0">
                <a:latin typeface="Calibri"/>
                <a:cs typeface="Calibri"/>
              </a:rPr>
              <a:t>process</a:t>
            </a:r>
            <a:r>
              <a:rPr sz="2160" spc="126" dirty="0">
                <a:latin typeface="Calibri"/>
                <a:cs typeface="Calibri"/>
              </a:rPr>
              <a:t>  </a:t>
            </a:r>
            <a:r>
              <a:rPr sz="2160" dirty="0">
                <a:latin typeface="Calibri"/>
                <a:cs typeface="Calibri"/>
              </a:rPr>
              <a:t>that</a:t>
            </a:r>
            <a:r>
              <a:rPr sz="2160" spc="114" dirty="0">
                <a:latin typeface="Calibri"/>
                <a:cs typeface="Calibri"/>
              </a:rPr>
              <a:t>  </a:t>
            </a:r>
            <a:r>
              <a:rPr sz="2160" spc="-24" dirty="0">
                <a:latin typeface="Calibri"/>
                <a:cs typeface="Calibri"/>
              </a:rPr>
              <a:t>will</a:t>
            </a:r>
            <a:endParaRPr sz="2160">
              <a:latin typeface="Calibri"/>
              <a:cs typeface="Calibri"/>
            </a:endParaRPr>
          </a:p>
          <a:p>
            <a:pPr marL="1112520" algn="just">
              <a:lnSpc>
                <a:spcPts val="2454"/>
              </a:lnSpc>
              <a:spcBef>
                <a:spcPts val="6"/>
              </a:spcBef>
            </a:pPr>
            <a:r>
              <a:rPr sz="2160" dirty="0">
                <a:latin typeface="Calibri"/>
                <a:cs typeface="Calibri"/>
              </a:rPr>
              <a:t>meet</a:t>
            </a:r>
            <a:r>
              <a:rPr sz="2160" spc="-72" dirty="0">
                <a:latin typeface="Calibri"/>
                <a:cs typeface="Calibri"/>
              </a:rPr>
              <a:t> </a:t>
            </a:r>
            <a:r>
              <a:rPr sz="2160" dirty="0">
                <a:latin typeface="Calibri"/>
                <a:cs typeface="Calibri"/>
              </a:rPr>
              <a:t>customer</a:t>
            </a:r>
            <a:r>
              <a:rPr sz="2160" spc="-54" dirty="0">
                <a:latin typeface="Calibri"/>
                <a:cs typeface="Calibri"/>
              </a:rPr>
              <a:t> </a:t>
            </a:r>
            <a:r>
              <a:rPr sz="2160" spc="-12" dirty="0">
                <a:latin typeface="Calibri"/>
                <a:cs typeface="Calibri"/>
              </a:rPr>
              <a:t>needs.</a:t>
            </a:r>
            <a:endParaRPr sz="2160">
              <a:latin typeface="Calibri"/>
              <a:cs typeface="Calibri"/>
            </a:endParaRPr>
          </a:p>
          <a:p>
            <a:pPr marL="691134" lvl="2" indent="-363474" algn="just">
              <a:lnSpc>
                <a:spcPts val="2454"/>
              </a:lnSpc>
              <a:buAutoNum type="romanLcParenBoth" startAt="5"/>
              <a:tabLst>
                <a:tab pos="691134" algn="l"/>
              </a:tabLst>
            </a:pPr>
            <a:r>
              <a:rPr sz="2160" b="1" i="1" spc="-12" dirty="0">
                <a:solidFill>
                  <a:srgbClr val="C00000"/>
                </a:solidFill>
                <a:latin typeface="Calibri"/>
                <a:cs typeface="Calibri"/>
              </a:rPr>
              <a:t>Verify</a:t>
            </a:r>
            <a:r>
              <a:rPr sz="2160" b="1" spc="-12" dirty="0">
                <a:latin typeface="Calibri"/>
                <a:cs typeface="Calibri"/>
              </a:rPr>
              <a:t>:</a:t>
            </a:r>
            <a:r>
              <a:rPr sz="2160" b="1" spc="-36" dirty="0">
                <a:latin typeface="Calibri"/>
                <a:cs typeface="Calibri"/>
              </a:rPr>
              <a:t> </a:t>
            </a:r>
            <a:r>
              <a:rPr sz="2160" dirty="0">
                <a:latin typeface="Calibri"/>
                <a:cs typeface="Calibri"/>
              </a:rPr>
              <a:t>It</a:t>
            </a:r>
            <a:r>
              <a:rPr sz="2160" spc="-42" dirty="0">
                <a:latin typeface="Calibri"/>
                <a:cs typeface="Calibri"/>
              </a:rPr>
              <a:t> </a:t>
            </a:r>
            <a:r>
              <a:rPr sz="2160" dirty="0">
                <a:latin typeface="Calibri"/>
                <a:cs typeface="Calibri"/>
              </a:rPr>
              <a:t>can</a:t>
            </a:r>
            <a:r>
              <a:rPr sz="2160" spc="-24" dirty="0">
                <a:latin typeface="Calibri"/>
                <a:cs typeface="Calibri"/>
              </a:rPr>
              <a:t> </a:t>
            </a:r>
            <a:r>
              <a:rPr sz="2160" dirty="0">
                <a:latin typeface="Calibri"/>
                <a:cs typeface="Calibri"/>
              </a:rPr>
              <a:t>verify</a:t>
            </a:r>
            <a:r>
              <a:rPr sz="2160" spc="-54" dirty="0">
                <a:latin typeface="Calibri"/>
                <a:cs typeface="Calibri"/>
              </a:rPr>
              <a:t> </a:t>
            </a:r>
            <a:r>
              <a:rPr sz="2160" dirty="0">
                <a:latin typeface="Calibri"/>
                <a:cs typeface="Calibri"/>
              </a:rPr>
              <a:t>the</a:t>
            </a:r>
            <a:r>
              <a:rPr sz="2160" spc="-24" dirty="0">
                <a:latin typeface="Calibri"/>
                <a:cs typeface="Calibri"/>
              </a:rPr>
              <a:t> </a:t>
            </a:r>
            <a:r>
              <a:rPr sz="2160" dirty="0">
                <a:latin typeface="Calibri"/>
                <a:cs typeface="Calibri"/>
              </a:rPr>
              <a:t>design</a:t>
            </a:r>
            <a:r>
              <a:rPr sz="2160" spc="-30" dirty="0">
                <a:latin typeface="Calibri"/>
                <a:cs typeface="Calibri"/>
              </a:rPr>
              <a:t> </a:t>
            </a:r>
            <a:r>
              <a:rPr sz="2160" spc="-12" dirty="0">
                <a:latin typeface="Calibri"/>
                <a:cs typeface="Calibri"/>
              </a:rPr>
              <a:t>performance</a:t>
            </a:r>
            <a:r>
              <a:rPr sz="2160" spc="-24" dirty="0">
                <a:latin typeface="Calibri"/>
                <a:cs typeface="Calibri"/>
              </a:rPr>
              <a:t> </a:t>
            </a:r>
            <a:r>
              <a:rPr sz="2160" dirty="0">
                <a:latin typeface="Calibri"/>
                <a:cs typeface="Calibri"/>
              </a:rPr>
              <a:t>and</a:t>
            </a:r>
            <a:r>
              <a:rPr sz="2160" spc="-36" dirty="0">
                <a:latin typeface="Calibri"/>
                <a:cs typeface="Calibri"/>
              </a:rPr>
              <a:t> </a:t>
            </a:r>
            <a:r>
              <a:rPr sz="2160" dirty="0">
                <a:latin typeface="Calibri"/>
                <a:cs typeface="Calibri"/>
              </a:rPr>
              <a:t>ability</a:t>
            </a:r>
            <a:r>
              <a:rPr sz="2160" spc="-18" dirty="0">
                <a:latin typeface="Calibri"/>
                <a:cs typeface="Calibri"/>
              </a:rPr>
              <a:t> </a:t>
            </a:r>
            <a:r>
              <a:rPr sz="2160" dirty="0">
                <a:latin typeface="Calibri"/>
                <a:cs typeface="Calibri"/>
              </a:rPr>
              <a:t>to</a:t>
            </a:r>
            <a:r>
              <a:rPr sz="2160" spc="-42" dirty="0">
                <a:latin typeface="Calibri"/>
                <a:cs typeface="Calibri"/>
              </a:rPr>
              <a:t> </a:t>
            </a:r>
            <a:r>
              <a:rPr sz="2160" dirty="0">
                <a:latin typeface="Calibri"/>
                <a:cs typeface="Calibri"/>
              </a:rPr>
              <a:t>meet</a:t>
            </a:r>
            <a:r>
              <a:rPr sz="2160" spc="-48" dirty="0">
                <a:latin typeface="Calibri"/>
                <a:cs typeface="Calibri"/>
              </a:rPr>
              <a:t> </a:t>
            </a:r>
            <a:r>
              <a:rPr sz="2160" spc="-12" dirty="0">
                <a:latin typeface="Calibri"/>
                <a:cs typeface="Calibri"/>
              </a:rPr>
              <a:t>customer</a:t>
            </a:r>
            <a:r>
              <a:rPr sz="2160" spc="-30" dirty="0">
                <a:latin typeface="Calibri"/>
                <a:cs typeface="Calibri"/>
              </a:rPr>
              <a:t> </a:t>
            </a:r>
            <a:r>
              <a:rPr sz="2160" spc="-12" dirty="0">
                <a:latin typeface="Calibri"/>
                <a:cs typeface="Calibri"/>
              </a:rPr>
              <a:t>needs.</a:t>
            </a:r>
            <a:endParaRPr sz="2160">
              <a:latin typeface="Calibri"/>
              <a:cs typeface="Calibri"/>
            </a:endParaRPr>
          </a:p>
        </p:txBody>
      </p:sp>
    </p:spTree>
    <p:extLst>
      <p:ext uri="{BB962C8B-B14F-4D97-AF65-F5344CB8AC3E}">
        <p14:creationId xmlns:p14="http://schemas.microsoft.com/office/powerpoint/2010/main" val="38643777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23281" y="518480"/>
            <a:ext cx="9857755" cy="5405878"/>
          </a:xfrm>
          <a:prstGeom prst="rect">
            <a:avLst/>
          </a:prstGeom>
        </p:spPr>
      </p:pic>
    </p:spTree>
    <p:extLst>
      <p:ext uri="{BB962C8B-B14F-4D97-AF65-F5344CB8AC3E}">
        <p14:creationId xmlns:p14="http://schemas.microsoft.com/office/powerpoint/2010/main" val="33945827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08131" y="404621"/>
            <a:ext cx="10126828" cy="4617263"/>
          </a:xfrm>
          <a:prstGeom prst="rect">
            <a:avLst/>
          </a:prstGeom>
        </p:spPr>
      </p:pic>
    </p:spTree>
    <p:extLst>
      <p:ext uri="{BB962C8B-B14F-4D97-AF65-F5344CB8AC3E}">
        <p14:creationId xmlns:p14="http://schemas.microsoft.com/office/powerpoint/2010/main" val="22742122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859337" y="199750"/>
            <a:ext cx="10456164" cy="6426708"/>
          </a:xfrm>
          <a:custGeom>
            <a:avLst/>
            <a:gdLst/>
            <a:ahLst/>
            <a:cxnLst/>
            <a:rect l="l" t="t" r="r" b="b"/>
            <a:pathLst>
              <a:path w="8713470" h="5355590">
                <a:moveTo>
                  <a:pt x="0" y="5355336"/>
                </a:moveTo>
                <a:lnTo>
                  <a:pt x="8712962" y="5355336"/>
                </a:lnTo>
                <a:lnTo>
                  <a:pt x="8712962" y="0"/>
                </a:lnTo>
                <a:lnTo>
                  <a:pt x="0" y="0"/>
                </a:lnTo>
                <a:lnTo>
                  <a:pt x="0" y="5355336"/>
                </a:lnTo>
                <a:close/>
              </a:path>
            </a:pathLst>
          </a:custGeom>
          <a:ln w="9525">
            <a:solidFill>
              <a:srgbClr val="000000"/>
            </a:solidFill>
          </a:ln>
        </p:spPr>
        <p:txBody>
          <a:bodyPr wrap="square" lIns="0" tIns="0" rIns="0" bIns="0" rtlCol="0"/>
          <a:lstStyle/>
          <a:p>
            <a:endParaRPr sz="2160"/>
          </a:p>
        </p:txBody>
      </p:sp>
      <p:sp>
        <p:nvSpPr>
          <p:cNvPr id="3" name="object 3"/>
          <p:cNvSpPr txBox="1"/>
          <p:nvPr/>
        </p:nvSpPr>
        <p:spPr>
          <a:xfrm>
            <a:off x="953902" y="221071"/>
            <a:ext cx="10269474" cy="6316345"/>
          </a:xfrm>
          <a:prstGeom prst="rect">
            <a:avLst/>
          </a:prstGeom>
        </p:spPr>
        <p:txBody>
          <a:bodyPr vert="horz" wrap="square" lIns="0" tIns="14478" rIns="0" bIns="0" rtlCol="0">
            <a:spAutoFit/>
          </a:bodyPr>
          <a:lstStyle/>
          <a:p>
            <a:pPr marL="15240" marR="8382" algn="just">
              <a:spcBef>
                <a:spcPts val="114"/>
              </a:spcBef>
            </a:pPr>
            <a:r>
              <a:rPr sz="2280" b="1" i="1" dirty="0">
                <a:latin typeface="Calibri"/>
                <a:cs typeface="Calibri"/>
              </a:rPr>
              <a:t>Microsoft</a:t>
            </a:r>
            <a:r>
              <a:rPr sz="2280" b="1" i="1" spc="222" dirty="0">
                <a:latin typeface="Calibri"/>
                <a:cs typeface="Calibri"/>
              </a:rPr>
              <a:t> </a:t>
            </a:r>
            <a:r>
              <a:rPr sz="2280" b="1" i="1" dirty="0">
                <a:latin typeface="Calibri"/>
                <a:cs typeface="Calibri"/>
              </a:rPr>
              <a:t>(MSFT)</a:t>
            </a:r>
            <a:r>
              <a:rPr sz="2280" b="1" i="1" spc="210" dirty="0">
                <a:latin typeface="Calibri"/>
                <a:cs typeface="Calibri"/>
              </a:rPr>
              <a:t> </a:t>
            </a:r>
            <a:r>
              <a:rPr sz="2280" b="1" i="1" dirty="0">
                <a:latin typeface="Calibri"/>
                <a:cs typeface="Calibri"/>
              </a:rPr>
              <a:t>is</a:t>
            </a:r>
            <a:r>
              <a:rPr sz="2280" b="1" i="1" spc="216" dirty="0">
                <a:latin typeface="Calibri"/>
                <a:cs typeface="Calibri"/>
              </a:rPr>
              <a:t> </a:t>
            </a:r>
            <a:r>
              <a:rPr sz="2280" b="1" i="1" dirty="0">
                <a:latin typeface="Calibri"/>
                <a:cs typeface="Calibri"/>
              </a:rPr>
              <a:t>one</a:t>
            </a:r>
            <a:r>
              <a:rPr sz="2280" b="1" i="1" spc="222" dirty="0">
                <a:latin typeface="Calibri"/>
                <a:cs typeface="Calibri"/>
              </a:rPr>
              <a:t> </a:t>
            </a:r>
            <a:r>
              <a:rPr sz="2280" b="1" i="1" dirty="0">
                <a:latin typeface="Calibri"/>
                <a:cs typeface="Calibri"/>
              </a:rPr>
              <a:t>of</a:t>
            </a:r>
            <a:r>
              <a:rPr sz="2280" b="1" i="1" spc="222" dirty="0">
                <a:latin typeface="Calibri"/>
                <a:cs typeface="Calibri"/>
              </a:rPr>
              <a:t> </a:t>
            </a:r>
            <a:r>
              <a:rPr sz="2280" b="1" i="1" dirty="0">
                <a:latin typeface="Calibri"/>
                <a:cs typeface="Calibri"/>
              </a:rPr>
              <a:t>the</a:t>
            </a:r>
            <a:r>
              <a:rPr sz="2280" b="1" i="1" spc="222" dirty="0">
                <a:latin typeface="Calibri"/>
                <a:cs typeface="Calibri"/>
              </a:rPr>
              <a:t> </a:t>
            </a:r>
            <a:r>
              <a:rPr sz="2280" b="1" i="1" dirty="0">
                <a:latin typeface="Calibri"/>
                <a:cs typeface="Calibri"/>
              </a:rPr>
              <a:t>largest</a:t>
            </a:r>
            <a:r>
              <a:rPr sz="2280" b="1" i="1" spc="222" dirty="0">
                <a:latin typeface="Calibri"/>
                <a:cs typeface="Calibri"/>
              </a:rPr>
              <a:t> </a:t>
            </a:r>
            <a:r>
              <a:rPr sz="2280" b="1" i="1" dirty="0">
                <a:latin typeface="Calibri"/>
                <a:cs typeface="Calibri"/>
              </a:rPr>
              <a:t>software</a:t>
            </a:r>
            <a:r>
              <a:rPr sz="2280" b="1" i="1" spc="234" dirty="0">
                <a:latin typeface="Calibri"/>
                <a:cs typeface="Calibri"/>
              </a:rPr>
              <a:t> </a:t>
            </a:r>
            <a:r>
              <a:rPr sz="2280" b="1" i="1" dirty="0">
                <a:latin typeface="Calibri"/>
                <a:cs typeface="Calibri"/>
              </a:rPr>
              <a:t>producers</a:t>
            </a:r>
            <a:r>
              <a:rPr sz="2280" b="1" i="1" spc="216" dirty="0">
                <a:latin typeface="Calibri"/>
                <a:cs typeface="Calibri"/>
              </a:rPr>
              <a:t> </a:t>
            </a:r>
            <a:r>
              <a:rPr sz="2280" b="1" i="1" dirty="0">
                <a:latin typeface="Calibri"/>
                <a:cs typeface="Calibri"/>
              </a:rPr>
              <a:t>in</a:t>
            </a:r>
            <a:r>
              <a:rPr sz="2280" b="1" i="1" spc="216" dirty="0">
                <a:latin typeface="Calibri"/>
                <a:cs typeface="Calibri"/>
              </a:rPr>
              <a:t> </a:t>
            </a:r>
            <a:r>
              <a:rPr sz="2280" b="1" i="1" dirty="0">
                <a:latin typeface="Calibri"/>
                <a:cs typeface="Calibri"/>
              </a:rPr>
              <a:t>the</a:t>
            </a:r>
            <a:r>
              <a:rPr sz="2280" b="1" i="1" spc="228" dirty="0">
                <a:latin typeface="Calibri"/>
                <a:cs typeface="Calibri"/>
              </a:rPr>
              <a:t> </a:t>
            </a:r>
            <a:r>
              <a:rPr sz="2280" b="1" i="1" dirty="0">
                <a:latin typeface="Calibri"/>
                <a:cs typeface="Calibri"/>
              </a:rPr>
              <a:t>world.</a:t>
            </a:r>
            <a:r>
              <a:rPr sz="2280" b="1" i="1" spc="216" dirty="0">
                <a:latin typeface="Calibri"/>
                <a:cs typeface="Calibri"/>
              </a:rPr>
              <a:t> </a:t>
            </a:r>
            <a:r>
              <a:rPr sz="2280" b="1" i="1" dirty="0">
                <a:latin typeface="Calibri"/>
                <a:cs typeface="Calibri"/>
              </a:rPr>
              <a:t>It</a:t>
            </a:r>
            <a:r>
              <a:rPr sz="2280" b="1" i="1" spc="228" dirty="0">
                <a:latin typeface="Calibri"/>
                <a:cs typeface="Calibri"/>
              </a:rPr>
              <a:t> </a:t>
            </a:r>
            <a:r>
              <a:rPr sz="2280" b="1" i="1" dirty="0">
                <a:latin typeface="Calibri"/>
                <a:cs typeface="Calibri"/>
              </a:rPr>
              <a:t>used</a:t>
            </a:r>
            <a:r>
              <a:rPr sz="2280" b="1" i="1" spc="216" dirty="0">
                <a:latin typeface="Calibri"/>
                <a:cs typeface="Calibri"/>
              </a:rPr>
              <a:t> </a:t>
            </a:r>
            <a:r>
              <a:rPr sz="2280" b="1" i="1" spc="-30" dirty="0">
                <a:latin typeface="Calibri"/>
                <a:cs typeface="Calibri"/>
              </a:rPr>
              <a:t>Six </a:t>
            </a:r>
            <a:r>
              <a:rPr sz="2280" b="1" i="1" dirty="0">
                <a:latin typeface="Calibri"/>
                <a:cs typeface="Calibri"/>
              </a:rPr>
              <a:t>Sigma</a:t>
            </a:r>
            <a:r>
              <a:rPr sz="2280" b="1" i="1" spc="228" dirty="0">
                <a:latin typeface="Calibri"/>
                <a:cs typeface="Calibri"/>
              </a:rPr>
              <a:t> </a:t>
            </a:r>
            <a:r>
              <a:rPr sz="2280" b="1" i="1" dirty="0">
                <a:latin typeface="Calibri"/>
                <a:cs typeface="Calibri"/>
              </a:rPr>
              <a:t>to</a:t>
            </a:r>
            <a:r>
              <a:rPr sz="2280" b="1" i="1" spc="234" dirty="0">
                <a:latin typeface="Calibri"/>
                <a:cs typeface="Calibri"/>
              </a:rPr>
              <a:t> </a:t>
            </a:r>
            <a:r>
              <a:rPr sz="2280" b="1" i="1" dirty="0">
                <a:latin typeface="Calibri"/>
                <a:cs typeface="Calibri"/>
              </a:rPr>
              <a:t>help</a:t>
            </a:r>
            <a:r>
              <a:rPr sz="2280" b="1" i="1" spc="240" dirty="0">
                <a:latin typeface="Calibri"/>
                <a:cs typeface="Calibri"/>
              </a:rPr>
              <a:t> </a:t>
            </a:r>
            <a:r>
              <a:rPr sz="2280" b="1" i="1" dirty="0">
                <a:latin typeface="Calibri"/>
                <a:cs typeface="Calibri"/>
              </a:rPr>
              <a:t>eradicate</a:t>
            </a:r>
            <a:r>
              <a:rPr sz="2280" b="1" i="1" spc="245" dirty="0">
                <a:latin typeface="Calibri"/>
                <a:cs typeface="Calibri"/>
              </a:rPr>
              <a:t> </a:t>
            </a:r>
            <a:r>
              <a:rPr sz="2280" b="1" i="1" dirty="0">
                <a:latin typeface="Calibri"/>
                <a:cs typeface="Calibri"/>
              </a:rPr>
              <a:t>defects</a:t>
            </a:r>
            <a:r>
              <a:rPr sz="2280" b="1" i="1" spc="245" dirty="0">
                <a:latin typeface="Calibri"/>
                <a:cs typeface="Calibri"/>
              </a:rPr>
              <a:t> </a:t>
            </a:r>
            <a:r>
              <a:rPr sz="2280" b="1" i="1" dirty="0">
                <a:latin typeface="Calibri"/>
                <a:cs typeface="Calibri"/>
              </a:rPr>
              <a:t>in</a:t>
            </a:r>
            <a:r>
              <a:rPr sz="2280" b="1" i="1" spc="234" dirty="0">
                <a:latin typeface="Calibri"/>
                <a:cs typeface="Calibri"/>
              </a:rPr>
              <a:t> </a:t>
            </a:r>
            <a:r>
              <a:rPr sz="2280" b="1" i="1" dirty="0">
                <a:latin typeface="Calibri"/>
                <a:cs typeface="Calibri"/>
              </a:rPr>
              <a:t>its</a:t>
            </a:r>
            <a:r>
              <a:rPr sz="2280" b="1" i="1" spc="234" dirty="0">
                <a:latin typeface="Calibri"/>
                <a:cs typeface="Calibri"/>
              </a:rPr>
              <a:t> </a:t>
            </a:r>
            <a:r>
              <a:rPr sz="2280" b="1" i="1" dirty="0">
                <a:latin typeface="Calibri"/>
                <a:cs typeface="Calibri"/>
              </a:rPr>
              <a:t>systems</a:t>
            </a:r>
            <a:r>
              <a:rPr sz="2280" b="1" i="1" spc="234" dirty="0">
                <a:latin typeface="Calibri"/>
                <a:cs typeface="Calibri"/>
              </a:rPr>
              <a:t> </a:t>
            </a:r>
            <a:r>
              <a:rPr sz="2280" b="1" i="1" dirty="0">
                <a:latin typeface="Calibri"/>
                <a:cs typeface="Calibri"/>
              </a:rPr>
              <a:t>and</a:t>
            </a:r>
            <a:r>
              <a:rPr sz="2280" b="1" i="1" spc="240" dirty="0">
                <a:latin typeface="Calibri"/>
                <a:cs typeface="Calibri"/>
              </a:rPr>
              <a:t> </a:t>
            </a:r>
            <a:r>
              <a:rPr sz="2280" b="1" i="1" dirty="0">
                <a:latin typeface="Calibri"/>
                <a:cs typeface="Calibri"/>
              </a:rPr>
              <a:t>data</a:t>
            </a:r>
            <a:r>
              <a:rPr sz="2280" b="1" i="1" spc="234" dirty="0">
                <a:latin typeface="Calibri"/>
                <a:cs typeface="Calibri"/>
              </a:rPr>
              <a:t> </a:t>
            </a:r>
            <a:r>
              <a:rPr sz="2280" b="1" i="1" dirty="0">
                <a:latin typeface="Calibri"/>
                <a:cs typeface="Calibri"/>
              </a:rPr>
              <a:t>centers</a:t>
            </a:r>
            <a:r>
              <a:rPr sz="2280" b="1" i="1" spc="234" dirty="0">
                <a:latin typeface="Calibri"/>
                <a:cs typeface="Calibri"/>
              </a:rPr>
              <a:t> </a:t>
            </a:r>
            <a:r>
              <a:rPr sz="2280" b="1" i="1" dirty="0">
                <a:latin typeface="Calibri"/>
                <a:cs typeface="Calibri"/>
              </a:rPr>
              <a:t>and</a:t>
            </a:r>
            <a:r>
              <a:rPr sz="2280" b="1" i="1" spc="240" dirty="0">
                <a:latin typeface="Calibri"/>
                <a:cs typeface="Calibri"/>
              </a:rPr>
              <a:t> </a:t>
            </a:r>
            <a:r>
              <a:rPr sz="2280" b="1" i="1" spc="-12" dirty="0">
                <a:latin typeface="Calibri"/>
                <a:cs typeface="Calibri"/>
              </a:rPr>
              <a:t>systematically </a:t>
            </a:r>
            <a:r>
              <a:rPr sz="2280" b="1" i="1" dirty="0">
                <a:latin typeface="Calibri"/>
                <a:cs typeface="Calibri"/>
              </a:rPr>
              <a:t>reduce</a:t>
            </a:r>
            <a:r>
              <a:rPr sz="2280" b="1" i="1" spc="-30" dirty="0">
                <a:latin typeface="Calibri"/>
                <a:cs typeface="Calibri"/>
              </a:rPr>
              <a:t> </a:t>
            </a:r>
            <a:r>
              <a:rPr sz="2280" b="1" i="1" dirty="0">
                <a:latin typeface="Calibri"/>
                <a:cs typeface="Calibri"/>
              </a:rPr>
              <a:t>IT</a:t>
            </a:r>
            <a:r>
              <a:rPr sz="2280" b="1" i="1" spc="-54" dirty="0">
                <a:latin typeface="Calibri"/>
                <a:cs typeface="Calibri"/>
              </a:rPr>
              <a:t> </a:t>
            </a:r>
            <a:r>
              <a:rPr sz="2280" b="1" i="1" spc="-12" dirty="0">
                <a:latin typeface="Calibri"/>
                <a:cs typeface="Calibri"/>
              </a:rPr>
              <a:t>infrastructure</a:t>
            </a:r>
            <a:r>
              <a:rPr sz="2280" b="1" i="1" dirty="0">
                <a:latin typeface="Calibri"/>
                <a:cs typeface="Calibri"/>
              </a:rPr>
              <a:t> </a:t>
            </a:r>
            <a:r>
              <a:rPr sz="2280" b="1" i="1" spc="-12" dirty="0">
                <a:latin typeface="Calibri"/>
                <a:cs typeface="Calibri"/>
              </a:rPr>
              <a:t>failures.</a:t>
            </a:r>
            <a:endParaRPr sz="2280">
              <a:latin typeface="Calibri"/>
              <a:cs typeface="Calibri"/>
            </a:endParaRPr>
          </a:p>
          <a:p>
            <a:pPr marL="15240" marR="6096" algn="just">
              <a:spcBef>
                <a:spcPts val="2742"/>
              </a:spcBef>
            </a:pPr>
            <a:r>
              <a:rPr sz="2280" b="1" i="1" dirty="0">
                <a:latin typeface="Calibri"/>
                <a:cs typeface="Calibri"/>
              </a:rPr>
              <a:t>The</a:t>
            </a:r>
            <a:r>
              <a:rPr sz="2280" b="1" i="1" spc="444" dirty="0">
                <a:latin typeface="Calibri"/>
                <a:cs typeface="Calibri"/>
              </a:rPr>
              <a:t> </a:t>
            </a:r>
            <a:r>
              <a:rPr sz="2280" b="1" i="1" dirty="0">
                <a:latin typeface="Calibri"/>
                <a:cs typeface="Calibri"/>
              </a:rPr>
              <a:t>company</a:t>
            </a:r>
            <a:r>
              <a:rPr sz="2280" b="1" i="1" spc="444" dirty="0">
                <a:latin typeface="Calibri"/>
                <a:cs typeface="Calibri"/>
              </a:rPr>
              <a:t> </a:t>
            </a:r>
            <a:r>
              <a:rPr sz="2280" b="1" i="1" dirty="0">
                <a:latin typeface="Calibri"/>
                <a:cs typeface="Calibri"/>
              </a:rPr>
              <a:t>first</a:t>
            </a:r>
            <a:r>
              <a:rPr sz="2280" b="1" i="1" spc="444" dirty="0">
                <a:latin typeface="Calibri"/>
                <a:cs typeface="Calibri"/>
              </a:rPr>
              <a:t> </a:t>
            </a:r>
            <a:r>
              <a:rPr sz="2280" b="1" i="1" dirty="0">
                <a:latin typeface="Calibri"/>
                <a:cs typeface="Calibri"/>
              </a:rPr>
              <a:t>established</a:t>
            </a:r>
            <a:r>
              <a:rPr sz="2280" b="1" i="1" spc="450" dirty="0">
                <a:latin typeface="Calibri"/>
                <a:cs typeface="Calibri"/>
              </a:rPr>
              <a:t> </a:t>
            </a:r>
            <a:r>
              <a:rPr sz="2280" b="1" i="1" dirty="0">
                <a:latin typeface="Calibri"/>
                <a:cs typeface="Calibri"/>
              </a:rPr>
              <a:t>standards</a:t>
            </a:r>
            <a:r>
              <a:rPr sz="2280" b="1" i="1" spc="438" dirty="0">
                <a:latin typeface="Calibri"/>
                <a:cs typeface="Calibri"/>
              </a:rPr>
              <a:t> </a:t>
            </a:r>
            <a:r>
              <a:rPr sz="2280" b="1" i="1" dirty="0">
                <a:latin typeface="Calibri"/>
                <a:cs typeface="Calibri"/>
              </a:rPr>
              <a:t>for</a:t>
            </a:r>
            <a:r>
              <a:rPr sz="2280" b="1" i="1" spc="444" dirty="0">
                <a:latin typeface="Calibri"/>
                <a:cs typeface="Calibri"/>
              </a:rPr>
              <a:t> </a:t>
            </a:r>
            <a:r>
              <a:rPr sz="2280" b="1" i="1" dirty="0">
                <a:latin typeface="Calibri"/>
                <a:cs typeface="Calibri"/>
              </a:rPr>
              <a:t>all</a:t>
            </a:r>
            <a:r>
              <a:rPr sz="2280" b="1" i="1" spc="432" dirty="0">
                <a:latin typeface="Calibri"/>
                <a:cs typeface="Calibri"/>
              </a:rPr>
              <a:t> </a:t>
            </a:r>
            <a:r>
              <a:rPr sz="2280" b="1" i="1" dirty="0">
                <a:latin typeface="Calibri"/>
                <a:cs typeface="Calibri"/>
              </a:rPr>
              <a:t>of</a:t>
            </a:r>
            <a:r>
              <a:rPr sz="2280" b="1" i="1" spc="432" dirty="0">
                <a:latin typeface="Calibri"/>
                <a:cs typeface="Calibri"/>
              </a:rPr>
              <a:t> </a:t>
            </a:r>
            <a:r>
              <a:rPr sz="2280" b="1" i="1" dirty="0">
                <a:latin typeface="Calibri"/>
                <a:cs typeface="Calibri"/>
              </a:rPr>
              <a:t>its</a:t>
            </a:r>
            <a:r>
              <a:rPr sz="2280" b="1" i="1" spc="444" dirty="0">
                <a:latin typeface="Calibri"/>
                <a:cs typeface="Calibri"/>
              </a:rPr>
              <a:t> </a:t>
            </a:r>
            <a:r>
              <a:rPr sz="2280" b="1" i="1" dirty="0">
                <a:latin typeface="Calibri"/>
                <a:cs typeface="Calibri"/>
              </a:rPr>
              <a:t>hardware</a:t>
            </a:r>
            <a:r>
              <a:rPr sz="2280" b="1" i="1" spc="450" dirty="0">
                <a:latin typeface="Calibri"/>
                <a:cs typeface="Calibri"/>
              </a:rPr>
              <a:t> </a:t>
            </a:r>
            <a:r>
              <a:rPr sz="2280" b="1" i="1" dirty="0">
                <a:latin typeface="Calibri"/>
                <a:cs typeface="Calibri"/>
              </a:rPr>
              <a:t>and</a:t>
            </a:r>
            <a:r>
              <a:rPr sz="2280" b="1" i="1" spc="432" dirty="0">
                <a:latin typeface="Calibri"/>
                <a:cs typeface="Calibri"/>
              </a:rPr>
              <a:t> </a:t>
            </a:r>
            <a:r>
              <a:rPr sz="2280" b="1" i="1" dirty="0">
                <a:latin typeface="Calibri"/>
                <a:cs typeface="Calibri"/>
              </a:rPr>
              <a:t>software</a:t>
            </a:r>
            <a:r>
              <a:rPr sz="2280" b="1" i="1" spc="450" dirty="0">
                <a:latin typeface="Calibri"/>
                <a:cs typeface="Calibri"/>
              </a:rPr>
              <a:t> </a:t>
            </a:r>
            <a:r>
              <a:rPr sz="2280" b="1" i="1" spc="-30" dirty="0">
                <a:latin typeface="Calibri"/>
                <a:cs typeface="Calibri"/>
              </a:rPr>
              <a:t>to </a:t>
            </a:r>
            <a:r>
              <a:rPr sz="2280" b="1" i="1" dirty="0">
                <a:latin typeface="Calibri"/>
                <a:cs typeface="Calibri"/>
              </a:rPr>
              <a:t>create</a:t>
            </a:r>
            <a:r>
              <a:rPr sz="2280" b="1" i="1" spc="108" dirty="0">
                <a:latin typeface="Calibri"/>
                <a:cs typeface="Calibri"/>
              </a:rPr>
              <a:t>  </a:t>
            </a:r>
            <a:r>
              <a:rPr sz="2280" b="1" i="1" dirty="0">
                <a:latin typeface="Calibri"/>
                <a:cs typeface="Calibri"/>
              </a:rPr>
              <a:t>a</a:t>
            </a:r>
            <a:r>
              <a:rPr sz="2280" b="1" i="1" spc="108" dirty="0">
                <a:latin typeface="Calibri"/>
                <a:cs typeface="Calibri"/>
              </a:rPr>
              <a:t>  </a:t>
            </a:r>
            <a:r>
              <a:rPr sz="2280" b="1" i="1" dirty="0">
                <a:latin typeface="Calibri"/>
                <a:cs typeface="Calibri"/>
              </a:rPr>
              <a:t>baseline</a:t>
            </a:r>
            <a:r>
              <a:rPr sz="2280" b="1" i="1" spc="114" dirty="0">
                <a:latin typeface="Calibri"/>
                <a:cs typeface="Calibri"/>
              </a:rPr>
              <a:t>  </a:t>
            </a:r>
            <a:r>
              <a:rPr sz="2280" b="1" i="1" dirty="0">
                <a:latin typeface="Calibri"/>
                <a:cs typeface="Calibri"/>
              </a:rPr>
              <a:t>measurement</a:t>
            </a:r>
            <a:r>
              <a:rPr sz="2280" b="1" i="1" spc="114" dirty="0">
                <a:latin typeface="Calibri"/>
                <a:cs typeface="Calibri"/>
              </a:rPr>
              <a:t>  </a:t>
            </a:r>
            <a:r>
              <a:rPr sz="2280" b="1" i="1" dirty="0">
                <a:latin typeface="Calibri"/>
                <a:cs typeface="Calibri"/>
              </a:rPr>
              <a:t>for</a:t>
            </a:r>
            <a:r>
              <a:rPr sz="2280" b="1" i="1" spc="108" dirty="0">
                <a:latin typeface="Calibri"/>
                <a:cs typeface="Calibri"/>
              </a:rPr>
              <a:t>  </a:t>
            </a:r>
            <a:r>
              <a:rPr sz="2280" b="1" i="1" dirty="0">
                <a:latin typeface="Calibri"/>
                <a:cs typeface="Calibri"/>
              </a:rPr>
              <a:t>detecting</a:t>
            </a:r>
            <a:r>
              <a:rPr sz="2280" b="1" i="1" spc="108" dirty="0">
                <a:latin typeface="Calibri"/>
                <a:cs typeface="Calibri"/>
              </a:rPr>
              <a:t>  </a:t>
            </a:r>
            <a:r>
              <a:rPr sz="2280" b="1" i="1" dirty="0">
                <a:latin typeface="Calibri"/>
                <a:cs typeface="Calibri"/>
              </a:rPr>
              <a:t>defects.</a:t>
            </a:r>
            <a:r>
              <a:rPr sz="2280" b="1" i="1" spc="114" dirty="0">
                <a:latin typeface="Calibri"/>
                <a:cs typeface="Calibri"/>
              </a:rPr>
              <a:t>  </a:t>
            </a:r>
            <a:r>
              <a:rPr sz="2280" b="1" i="1" dirty="0">
                <a:latin typeface="Calibri"/>
                <a:cs typeface="Calibri"/>
              </a:rPr>
              <a:t>It</a:t>
            </a:r>
            <a:r>
              <a:rPr sz="2280" b="1" i="1" spc="108" dirty="0">
                <a:latin typeface="Calibri"/>
                <a:cs typeface="Calibri"/>
              </a:rPr>
              <a:t>  </a:t>
            </a:r>
            <a:r>
              <a:rPr sz="2280" b="1" i="1" dirty="0">
                <a:latin typeface="Calibri"/>
                <a:cs typeface="Calibri"/>
              </a:rPr>
              <a:t>then</a:t>
            </a:r>
            <a:r>
              <a:rPr sz="2280" b="1" i="1" spc="108" dirty="0">
                <a:latin typeface="Calibri"/>
                <a:cs typeface="Calibri"/>
              </a:rPr>
              <a:t>  </a:t>
            </a:r>
            <a:r>
              <a:rPr sz="2280" b="1" i="1" dirty="0">
                <a:latin typeface="Calibri"/>
                <a:cs typeface="Calibri"/>
              </a:rPr>
              <a:t>used</a:t>
            </a:r>
            <a:r>
              <a:rPr sz="2280" b="1" i="1" spc="108" dirty="0">
                <a:latin typeface="Calibri"/>
                <a:cs typeface="Calibri"/>
              </a:rPr>
              <a:t>  </a:t>
            </a:r>
            <a:r>
              <a:rPr sz="2280" b="1" i="1" spc="-12" dirty="0">
                <a:latin typeface="Calibri"/>
                <a:cs typeface="Calibri"/>
              </a:rPr>
              <a:t>root-cause </a:t>
            </a:r>
            <a:r>
              <a:rPr sz="2280" b="1" i="1" dirty="0">
                <a:latin typeface="Calibri"/>
                <a:cs typeface="Calibri"/>
              </a:rPr>
              <a:t>analysis,</a:t>
            </a:r>
            <a:r>
              <a:rPr sz="2280" b="1" i="1" spc="258" dirty="0">
                <a:latin typeface="Calibri"/>
                <a:cs typeface="Calibri"/>
              </a:rPr>
              <a:t> </a:t>
            </a:r>
            <a:r>
              <a:rPr sz="2280" b="1" i="1" dirty="0">
                <a:latin typeface="Calibri"/>
                <a:cs typeface="Calibri"/>
              </a:rPr>
              <a:t>including</a:t>
            </a:r>
            <a:r>
              <a:rPr sz="2280" b="1" i="1" spc="252" dirty="0">
                <a:latin typeface="Calibri"/>
                <a:cs typeface="Calibri"/>
              </a:rPr>
              <a:t> </a:t>
            </a:r>
            <a:r>
              <a:rPr sz="2280" b="1" i="1" dirty="0">
                <a:latin typeface="Calibri"/>
                <a:cs typeface="Calibri"/>
              </a:rPr>
              <a:t>collecting</a:t>
            </a:r>
            <a:r>
              <a:rPr sz="2280" b="1" i="1" spc="240" dirty="0">
                <a:latin typeface="Calibri"/>
                <a:cs typeface="Calibri"/>
              </a:rPr>
              <a:t> </a:t>
            </a:r>
            <a:r>
              <a:rPr sz="2280" b="1" i="1" dirty="0">
                <a:latin typeface="Calibri"/>
                <a:cs typeface="Calibri"/>
              </a:rPr>
              <a:t>data</a:t>
            </a:r>
            <a:r>
              <a:rPr sz="2280" b="1" i="1" spc="252" dirty="0">
                <a:latin typeface="Calibri"/>
                <a:cs typeface="Calibri"/>
              </a:rPr>
              <a:t> </a:t>
            </a:r>
            <a:r>
              <a:rPr sz="2280" b="1" i="1" dirty="0">
                <a:latin typeface="Calibri"/>
                <a:cs typeface="Calibri"/>
              </a:rPr>
              <a:t>from</a:t>
            </a:r>
            <a:r>
              <a:rPr sz="2280" b="1" i="1" spc="258" dirty="0">
                <a:latin typeface="Calibri"/>
                <a:cs typeface="Calibri"/>
              </a:rPr>
              <a:t> </a:t>
            </a:r>
            <a:r>
              <a:rPr sz="2280" b="1" i="1" dirty="0">
                <a:latin typeface="Calibri"/>
                <a:cs typeface="Calibri"/>
              </a:rPr>
              <a:t>past</a:t>
            </a:r>
            <a:r>
              <a:rPr sz="2280" b="1" i="1" spc="275" dirty="0">
                <a:latin typeface="Calibri"/>
                <a:cs typeface="Calibri"/>
              </a:rPr>
              <a:t> </a:t>
            </a:r>
            <a:r>
              <a:rPr sz="2280" b="1" i="1" spc="-12" dirty="0">
                <a:latin typeface="Calibri"/>
                <a:cs typeface="Calibri"/>
              </a:rPr>
              <a:t>high-</a:t>
            </a:r>
            <a:r>
              <a:rPr sz="2280" b="1" i="1" dirty="0">
                <a:latin typeface="Calibri"/>
                <a:cs typeface="Calibri"/>
              </a:rPr>
              <a:t>priority</a:t>
            </a:r>
            <a:r>
              <a:rPr sz="2280" b="1" i="1" spc="252" dirty="0">
                <a:latin typeface="Calibri"/>
                <a:cs typeface="Calibri"/>
              </a:rPr>
              <a:t> </a:t>
            </a:r>
            <a:r>
              <a:rPr sz="2280" b="1" i="1" dirty="0">
                <a:latin typeface="Calibri"/>
                <a:cs typeface="Calibri"/>
              </a:rPr>
              <a:t>incidents,</a:t>
            </a:r>
            <a:r>
              <a:rPr sz="2280" b="1" i="1" spc="264" dirty="0">
                <a:latin typeface="Calibri"/>
                <a:cs typeface="Calibri"/>
              </a:rPr>
              <a:t> </a:t>
            </a:r>
            <a:r>
              <a:rPr sz="2280" b="1" i="1" dirty="0">
                <a:latin typeface="Calibri"/>
                <a:cs typeface="Calibri"/>
              </a:rPr>
              <a:t>server</a:t>
            </a:r>
            <a:r>
              <a:rPr sz="2280" b="1" i="1" spc="270" dirty="0">
                <a:latin typeface="Calibri"/>
                <a:cs typeface="Calibri"/>
              </a:rPr>
              <a:t> </a:t>
            </a:r>
            <a:r>
              <a:rPr sz="2280" b="1" i="1" spc="-12" dirty="0">
                <a:latin typeface="Calibri"/>
                <a:cs typeface="Calibri"/>
              </a:rPr>
              <a:t>failures, </a:t>
            </a:r>
            <a:r>
              <a:rPr sz="2280" b="1" i="1" dirty="0">
                <a:latin typeface="Calibri"/>
                <a:cs typeface="Calibri"/>
              </a:rPr>
              <a:t>and</a:t>
            </a:r>
            <a:r>
              <a:rPr sz="2280" b="1" i="1" spc="491" dirty="0">
                <a:latin typeface="Calibri"/>
                <a:cs typeface="Calibri"/>
              </a:rPr>
              <a:t> </a:t>
            </a:r>
            <a:r>
              <a:rPr sz="2280" b="1" i="1" dirty="0">
                <a:latin typeface="Calibri"/>
                <a:cs typeface="Calibri"/>
              </a:rPr>
              <a:t>recommendations</a:t>
            </a:r>
            <a:r>
              <a:rPr sz="2280" b="1" i="1" spc="510" dirty="0">
                <a:latin typeface="Calibri"/>
                <a:cs typeface="Calibri"/>
              </a:rPr>
              <a:t> </a:t>
            </a:r>
            <a:r>
              <a:rPr sz="2280" b="1" i="1" dirty="0">
                <a:latin typeface="Calibri"/>
                <a:cs typeface="Calibri"/>
              </a:rPr>
              <a:t>from</a:t>
            </a:r>
            <a:r>
              <a:rPr sz="2280" b="1" i="1" spc="516" dirty="0">
                <a:latin typeface="Calibri"/>
                <a:cs typeface="Calibri"/>
              </a:rPr>
              <a:t> </a:t>
            </a:r>
            <a:r>
              <a:rPr sz="2280" b="1" i="1" dirty="0">
                <a:latin typeface="Calibri"/>
                <a:cs typeface="Calibri"/>
              </a:rPr>
              <a:t>product</a:t>
            </a:r>
            <a:r>
              <a:rPr sz="2280" b="1" i="1" spc="510" dirty="0">
                <a:latin typeface="Calibri"/>
                <a:cs typeface="Calibri"/>
              </a:rPr>
              <a:t> </a:t>
            </a:r>
            <a:r>
              <a:rPr sz="2280" b="1" i="1" dirty="0">
                <a:latin typeface="Calibri"/>
                <a:cs typeface="Calibri"/>
              </a:rPr>
              <a:t>group</a:t>
            </a:r>
            <a:r>
              <a:rPr sz="2280" b="1" i="1" spc="504" dirty="0">
                <a:latin typeface="Calibri"/>
                <a:cs typeface="Calibri"/>
              </a:rPr>
              <a:t> </a:t>
            </a:r>
            <a:r>
              <a:rPr sz="2280" b="1" i="1" dirty="0">
                <a:latin typeface="Calibri"/>
                <a:cs typeface="Calibri"/>
              </a:rPr>
              <a:t>members</a:t>
            </a:r>
            <a:r>
              <a:rPr sz="2280" b="1" i="1" spc="504" dirty="0">
                <a:latin typeface="Calibri"/>
                <a:cs typeface="Calibri"/>
              </a:rPr>
              <a:t> </a:t>
            </a:r>
            <a:r>
              <a:rPr sz="2280" b="1" i="1" dirty="0">
                <a:latin typeface="Calibri"/>
                <a:cs typeface="Calibri"/>
              </a:rPr>
              <a:t>and</a:t>
            </a:r>
            <a:r>
              <a:rPr sz="2280" b="1" i="1" spc="510" dirty="0">
                <a:latin typeface="Calibri"/>
                <a:cs typeface="Calibri"/>
              </a:rPr>
              <a:t> </a:t>
            </a:r>
            <a:r>
              <a:rPr sz="2280" b="1" i="1" dirty="0">
                <a:latin typeface="Calibri"/>
                <a:cs typeface="Calibri"/>
              </a:rPr>
              <a:t>customers,</a:t>
            </a:r>
            <a:r>
              <a:rPr sz="2280" b="1" i="1" spc="504" dirty="0">
                <a:latin typeface="Calibri"/>
                <a:cs typeface="Calibri"/>
              </a:rPr>
              <a:t> </a:t>
            </a:r>
            <a:r>
              <a:rPr sz="2280" b="1" i="1" dirty="0">
                <a:latin typeface="Calibri"/>
                <a:cs typeface="Calibri"/>
              </a:rPr>
              <a:t>to</a:t>
            </a:r>
            <a:r>
              <a:rPr sz="2280" b="1" i="1" spc="504" dirty="0">
                <a:latin typeface="Calibri"/>
                <a:cs typeface="Calibri"/>
              </a:rPr>
              <a:t> </a:t>
            </a:r>
            <a:r>
              <a:rPr sz="2280" b="1" i="1" spc="-12" dirty="0">
                <a:latin typeface="Calibri"/>
                <a:cs typeface="Calibri"/>
              </a:rPr>
              <a:t>pinpoint </a:t>
            </a:r>
            <a:r>
              <a:rPr sz="2280" b="1" i="1" dirty="0">
                <a:latin typeface="Calibri"/>
                <a:cs typeface="Calibri"/>
              </a:rPr>
              <a:t>potential</a:t>
            </a:r>
            <a:r>
              <a:rPr sz="2280" b="1" i="1" spc="-90" dirty="0">
                <a:latin typeface="Calibri"/>
                <a:cs typeface="Calibri"/>
              </a:rPr>
              <a:t> </a:t>
            </a:r>
            <a:r>
              <a:rPr sz="2280" b="1" i="1" dirty="0">
                <a:latin typeface="Calibri"/>
                <a:cs typeface="Calibri"/>
              </a:rPr>
              <a:t>problem</a:t>
            </a:r>
            <a:r>
              <a:rPr sz="2280" b="1" i="1" spc="-84" dirty="0">
                <a:latin typeface="Calibri"/>
                <a:cs typeface="Calibri"/>
              </a:rPr>
              <a:t> </a:t>
            </a:r>
            <a:r>
              <a:rPr sz="2280" b="1" i="1" spc="-12" dirty="0">
                <a:latin typeface="Calibri"/>
                <a:cs typeface="Calibri"/>
              </a:rPr>
              <a:t>areas.</a:t>
            </a:r>
            <a:endParaRPr sz="2280">
              <a:latin typeface="Calibri"/>
              <a:cs typeface="Calibri"/>
            </a:endParaRPr>
          </a:p>
          <a:p>
            <a:pPr marL="15240" marR="6096" algn="just">
              <a:spcBef>
                <a:spcPts val="2736"/>
              </a:spcBef>
            </a:pPr>
            <a:r>
              <a:rPr sz="2280" b="1" i="1" dirty="0">
                <a:latin typeface="Calibri"/>
                <a:cs typeface="Calibri"/>
              </a:rPr>
              <a:t>Large</a:t>
            </a:r>
            <a:r>
              <a:rPr sz="2280" b="1" i="1" spc="420" dirty="0">
                <a:latin typeface="Calibri"/>
                <a:cs typeface="Calibri"/>
              </a:rPr>
              <a:t> </a:t>
            </a:r>
            <a:r>
              <a:rPr sz="2280" b="1" i="1" dirty="0">
                <a:latin typeface="Calibri"/>
                <a:cs typeface="Calibri"/>
              </a:rPr>
              <a:t>amounts</a:t>
            </a:r>
            <a:r>
              <a:rPr sz="2280" b="1" i="1" spc="438" dirty="0">
                <a:latin typeface="Calibri"/>
                <a:cs typeface="Calibri"/>
              </a:rPr>
              <a:t> </a:t>
            </a:r>
            <a:r>
              <a:rPr sz="2280" b="1" i="1" dirty="0">
                <a:latin typeface="Calibri"/>
                <a:cs typeface="Calibri"/>
              </a:rPr>
              <a:t>of</a:t>
            </a:r>
            <a:r>
              <a:rPr sz="2280" b="1" i="1" spc="420" dirty="0">
                <a:latin typeface="Calibri"/>
                <a:cs typeface="Calibri"/>
              </a:rPr>
              <a:t> </a:t>
            </a:r>
            <a:r>
              <a:rPr sz="2280" b="1" i="1" dirty="0">
                <a:latin typeface="Calibri"/>
                <a:cs typeface="Calibri"/>
              </a:rPr>
              <a:t>data</a:t>
            </a:r>
            <a:r>
              <a:rPr sz="2280" b="1" i="1" spc="408" dirty="0">
                <a:latin typeface="Calibri"/>
                <a:cs typeface="Calibri"/>
              </a:rPr>
              <a:t> </a:t>
            </a:r>
            <a:r>
              <a:rPr sz="2280" b="1" i="1" dirty="0">
                <a:latin typeface="Calibri"/>
                <a:cs typeface="Calibri"/>
              </a:rPr>
              <a:t>were</a:t>
            </a:r>
            <a:r>
              <a:rPr sz="2280" b="1" i="1" spc="444" dirty="0">
                <a:latin typeface="Calibri"/>
                <a:cs typeface="Calibri"/>
              </a:rPr>
              <a:t> </a:t>
            </a:r>
            <a:r>
              <a:rPr sz="2280" b="1" i="1" dirty="0">
                <a:latin typeface="Calibri"/>
                <a:cs typeface="Calibri"/>
              </a:rPr>
              <a:t>collected</a:t>
            </a:r>
            <a:r>
              <a:rPr sz="2280" b="1" i="1" spc="420" dirty="0">
                <a:latin typeface="Calibri"/>
                <a:cs typeface="Calibri"/>
              </a:rPr>
              <a:t> </a:t>
            </a:r>
            <a:r>
              <a:rPr sz="2280" b="1" i="1" dirty="0">
                <a:latin typeface="Calibri"/>
                <a:cs typeface="Calibri"/>
              </a:rPr>
              <a:t>on</a:t>
            </a:r>
            <a:r>
              <a:rPr sz="2280" b="1" i="1" spc="426" dirty="0">
                <a:latin typeface="Calibri"/>
                <a:cs typeface="Calibri"/>
              </a:rPr>
              <a:t> </a:t>
            </a:r>
            <a:r>
              <a:rPr sz="2280" b="1" i="1" dirty="0">
                <a:latin typeface="Calibri"/>
                <a:cs typeface="Calibri"/>
              </a:rPr>
              <a:t>a</a:t>
            </a:r>
            <a:r>
              <a:rPr sz="2280" b="1" i="1" spc="408" dirty="0">
                <a:latin typeface="Calibri"/>
                <a:cs typeface="Calibri"/>
              </a:rPr>
              <a:t> </a:t>
            </a:r>
            <a:r>
              <a:rPr sz="2280" b="1" i="1" dirty="0">
                <a:latin typeface="Calibri"/>
                <a:cs typeface="Calibri"/>
              </a:rPr>
              <a:t>daily</a:t>
            </a:r>
            <a:r>
              <a:rPr sz="2280" b="1" i="1" spc="426" dirty="0">
                <a:latin typeface="Calibri"/>
                <a:cs typeface="Calibri"/>
              </a:rPr>
              <a:t> </a:t>
            </a:r>
            <a:r>
              <a:rPr sz="2280" b="1" i="1" dirty="0">
                <a:latin typeface="Calibri"/>
                <a:cs typeface="Calibri"/>
              </a:rPr>
              <a:t>and</a:t>
            </a:r>
            <a:r>
              <a:rPr sz="2280" b="1" i="1" spc="408" dirty="0">
                <a:latin typeface="Calibri"/>
                <a:cs typeface="Calibri"/>
              </a:rPr>
              <a:t> </a:t>
            </a:r>
            <a:r>
              <a:rPr sz="2280" b="1" i="1" dirty="0">
                <a:latin typeface="Calibri"/>
                <a:cs typeface="Calibri"/>
              </a:rPr>
              <a:t>weekly</a:t>
            </a:r>
            <a:r>
              <a:rPr sz="2280" b="1" i="1" spc="426" dirty="0">
                <a:latin typeface="Calibri"/>
                <a:cs typeface="Calibri"/>
              </a:rPr>
              <a:t> </a:t>
            </a:r>
            <a:r>
              <a:rPr sz="2280" b="1" i="1" dirty="0">
                <a:latin typeface="Calibri"/>
                <a:cs typeface="Calibri"/>
              </a:rPr>
              <a:t>basis</a:t>
            </a:r>
            <a:r>
              <a:rPr sz="2280" b="1" i="1" spc="414" dirty="0">
                <a:latin typeface="Calibri"/>
                <a:cs typeface="Calibri"/>
              </a:rPr>
              <a:t> </a:t>
            </a:r>
            <a:r>
              <a:rPr sz="2280" b="1" i="1" dirty="0">
                <a:latin typeface="Calibri"/>
                <a:cs typeface="Calibri"/>
              </a:rPr>
              <a:t>from</a:t>
            </a:r>
            <a:r>
              <a:rPr sz="2280" b="1" i="1" spc="420" dirty="0">
                <a:latin typeface="Calibri"/>
                <a:cs typeface="Calibri"/>
              </a:rPr>
              <a:t> </a:t>
            </a:r>
            <a:r>
              <a:rPr sz="2280" b="1" i="1" spc="-12" dirty="0">
                <a:latin typeface="Calibri"/>
                <a:cs typeface="Calibri"/>
              </a:rPr>
              <a:t>various </a:t>
            </a:r>
            <a:r>
              <a:rPr sz="2280" b="1" i="1" dirty="0">
                <a:latin typeface="Calibri"/>
                <a:cs typeface="Calibri"/>
              </a:rPr>
              <a:t>servers.</a:t>
            </a:r>
            <a:r>
              <a:rPr sz="2280" b="1" i="1" spc="-72" dirty="0">
                <a:latin typeface="Calibri"/>
                <a:cs typeface="Calibri"/>
              </a:rPr>
              <a:t> </a:t>
            </a:r>
            <a:r>
              <a:rPr sz="2280" b="1" i="1" dirty="0">
                <a:latin typeface="Calibri"/>
                <a:cs typeface="Calibri"/>
              </a:rPr>
              <a:t>The</a:t>
            </a:r>
            <a:r>
              <a:rPr sz="2280" b="1" i="1" spc="-60" dirty="0">
                <a:latin typeface="Calibri"/>
                <a:cs typeface="Calibri"/>
              </a:rPr>
              <a:t> </a:t>
            </a:r>
            <a:r>
              <a:rPr sz="2280" b="1" i="1" dirty="0">
                <a:latin typeface="Calibri"/>
                <a:cs typeface="Calibri"/>
              </a:rPr>
              <a:t>incidents</a:t>
            </a:r>
            <a:r>
              <a:rPr sz="2280" b="1" i="1" spc="-60" dirty="0">
                <a:latin typeface="Calibri"/>
                <a:cs typeface="Calibri"/>
              </a:rPr>
              <a:t> </a:t>
            </a:r>
            <a:r>
              <a:rPr sz="2280" b="1" i="1" dirty="0">
                <a:latin typeface="Calibri"/>
                <a:cs typeface="Calibri"/>
              </a:rPr>
              <a:t>were</a:t>
            </a:r>
            <a:r>
              <a:rPr sz="2280" b="1" i="1" spc="-54" dirty="0">
                <a:latin typeface="Calibri"/>
                <a:cs typeface="Calibri"/>
              </a:rPr>
              <a:t> </a:t>
            </a:r>
            <a:r>
              <a:rPr sz="2280" b="1" i="1" dirty="0">
                <a:latin typeface="Calibri"/>
                <a:cs typeface="Calibri"/>
              </a:rPr>
              <a:t>prioritized</a:t>
            </a:r>
            <a:r>
              <a:rPr sz="2280" b="1" i="1" spc="-60" dirty="0">
                <a:latin typeface="Calibri"/>
                <a:cs typeface="Calibri"/>
              </a:rPr>
              <a:t> </a:t>
            </a:r>
            <a:r>
              <a:rPr sz="2280" b="1" i="1" dirty="0">
                <a:latin typeface="Calibri"/>
                <a:cs typeface="Calibri"/>
              </a:rPr>
              <a:t>based</a:t>
            </a:r>
            <a:r>
              <a:rPr sz="2280" b="1" i="1" spc="-60" dirty="0">
                <a:latin typeface="Calibri"/>
                <a:cs typeface="Calibri"/>
              </a:rPr>
              <a:t> </a:t>
            </a:r>
            <a:r>
              <a:rPr sz="2280" b="1" i="1" dirty="0">
                <a:latin typeface="Calibri"/>
                <a:cs typeface="Calibri"/>
              </a:rPr>
              <a:t>on</a:t>
            </a:r>
            <a:r>
              <a:rPr sz="2280" b="1" i="1" spc="-54" dirty="0">
                <a:latin typeface="Calibri"/>
                <a:cs typeface="Calibri"/>
              </a:rPr>
              <a:t> </a:t>
            </a:r>
            <a:r>
              <a:rPr sz="2280" b="1" i="1" dirty="0">
                <a:latin typeface="Calibri"/>
                <a:cs typeface="Calibri"/>
              </a:rPr>
              <a:t>how</a:t>
            </a:r>
            <a:r>
              <a:rPr sz="2280" b="1" i="1" spc="-48" dirty="0">
                <a:latin typeface="Calibri"/>
                <a:cs typeface="Calibri"/>
              </a:rPr>
              <a:t> </a:t>
            </a:r>
            <a:r>
              <a:rPr sz="2280" b="1" i="1" dirty="0">
                <a:latin typeface="Calibri"/>
                <a:cs typeface="Calibri"/>
              </a:rPr>
              <a:t>severely</a:t>
            </a:r>
            <a:r>
              <a:rPr sz="2280" b="1" i="1" spc="-54" dirty="0">
                <a:latin typeface="Calibri"/>
                <a:cs typeface="Calibri"/>
              </a:rPr>
              <a:t> </a:t>
            </a:r>
            <a:r>
              <a:rPr sz="2280" b="1" i="1" dirty="0">
                <a:latin typeface="Calibri"/>
                <a:cs typeface="Calibri"/>
              </a:rPr>
              <a:t>the</a:t>
            </a:r>
            <a:r>
              <a:rPr sz="2280" b="1" i="1" spc="-48" dirty="0">
                <a:latin typeface="Calibri"/>
                <a:cs typeface="Calibri"/>
              </a:rPr>
              <a:t> </a:t>
            </a:r>
            <a:r>
              <a:rPr sz="2280" b="1" i="1" dirty="0">
                <a:latin typeface="Calibri"/>
                <a:cs typeface="Calibri"/>
              </a:rPr>
              <a:t>defects</a:t>
            </a:r>
            <a:r>
              <a:rPr sz="2280" b="1" i="1" spc="-48" dirty="0">
                <a:latin typeface="Calibri"/>
                <a:cs typeface="Calibri"/>
              </a:rPr>
              <a:t> </a:t>
            </a:r>
            <a:r>
              <a:rPr sz="2280" b="1" i="1" dirty="0">
                <a:latin typeface="Calibri"/>
                <a:cs typeface="Calibri"/>
              </a:rPr>
              <a:t>affected</a:t>
            </a:r>
            <a:r>
              <a:rPr sz="2280" b="1" i="1" spc="-54" dirty="0">
                <a:latin typeface="Calibri"/>
                <a:cs typeface="Calibri"/>
              </a:rPr>
              <a:t> </a:t>
            </a:r>
            <a:r>
              <a:rPr sz="2280" b="1" i="1" spc="-30" dirty="0">
                <a:latin typeface="Calibri"/>
                <a:cs typeface="Calibri"/>
              </a:rPr>
              <a:t>the </a:t>
            </a:r>
            <a:r>
              <a:rPr sz="2280" b="1" i="1" dirty="0">
                <a:latin typeface="Calibri"/>
                <a:cs typeface="Calibri"/>
              </a:rPr>
              <a:t>business</a:t>
            </a:r>
            <a:r>
              <a:rPr sz="2280" b="1" i="1" spc="174" dirty="0">
                <a:latin typeface="Calibri"/>
                <a:cs typeface="Calibri"/>
              </a:rPr>
              <a:t>  </a:t>
            </a:r>
            <a:r>
              <a:rPr sz="2280" b="1" i="1" dirty="0">
                <a:latin typeface="Calibri"/>
                <a:cs typeface="Calibri"/>
              </a:rPr>
              <a:t>and</a:t>
            </a:r>
            <a:r>
              <a:rPr sz="2280" b="1" i="1" spc="186" dirty="0">
                <a:latin typeface="Calibri"/>
                <a:cs typeface="Calibri"/>
              </a:rPr>
              <a:t>  </a:t>
            </a:r>
            <a:r>
              <a:rPr sz="2280" b="1" i="1" dirty="0">
                <a:latin typeface="Calibri"/>
                <a:cs typeface="Calibri"/>
              </a:rPr>
              <a:t>the</a:t>
            </a:r>
            <a:r>
              <a:rPr sz="2280" b="1" i="1" spc="180" dirty="0">
                <a:latin typeface="Calibri"/>
                <a:cs typeface="Calibri"/>
              </a:rPr>
              <a:t>  </a:t>
            </a:r>
            <a:r>
              <a:rPr sz="2280" b="1" i="1" dirty="0">
                <a:latin typeface="Calibri"/>
                <a:cs typeface="Calibri"/>
              </a:rPr>
              <a:t>company's</a:t>
            </a:r>
            <a:r>
              <a:rPr sz="2280" b="1" i="1" spc="180" dirty="0">
                <a:latin typeface="Calibri"/>
                <a:cs typeface="Calibri"/>
              </a:rPr>
              <a:t>  </a:t>
            </a:r>
            <a:r>
              <a:rPr sz="2280" b="1" i="1" dirty="0">
                <a:latin typeface="Calibri"/>
                <a:cs typeface="Calibri"/>
              </a:rPr>
              <a:t>underlying</a:t>
            </a:r>
            <a:r>
              <a:rPr sz="2280" b="1" i="1" spc="174" dirty="0">
                <a:latin typeface="Calibri"/>
                <a:cs typeface="Calibri"/>
              </a:rPr>
              <a:t>  </a:t>
            </a:r>
            <a:r>
              <a:rPr sz="2280" b="1" i="1" dirty="0">
                <a:latin typeface="Calibri"/>
                <a:cs typeface="Calibri"/>
              </a:rPr>
              <a:t>services.</a:t>
            </a:r>
            <a:r>
              <a:rPr sz="2280" b="1" i="1" spc="180" dirty="0">
                <a:latin typeface="Calibri"/>
                <a:cs typeface="Calibri"/>
              </a:rPr>
              <a:t>  </a:t>
            </a:r>
            <a:r>
              <a:rPr sz="2280" b="1" i="1" dirty="0">
                <a:latin typeface="Calibri"/>
                <a:cs typeface="Calibri"/>
              </a:rPr>
              <a:t>Data</a:t>
            </a:r>
            <a:r>
              <a:rPr sz="2280" b="1" i="1" spc="180" dirty="0">
                <a:latin typeface="Calibri"/>
                <a:cs typeface="Calibri"/>
              </a:rPr>
              <a:t>  </a:t>
            </a:r>
            <a:r>
              <a:rPr sz="2280" b="1" i="1" dirty="0">
                <a:latin typeface="Calibri"/>
                <a:cs typeface="Calibri"/>
              </a:rPr>
              <a:t>analysis</a:t>
            </a:r>
            <a:r>
              <a:rPr sz="2280" b="1" i="1" spc="180" dirty="0">
                <a:latin typeface="Calibri"/>
                <a:cs typeface="Calibri"/>
              </a:rPr>
              <a:t>  </a:t>
            </a:r>
            <a:r>
              <a:rPr sz="2280" b="1" i="1" dirty="0">
                <a:latin typeface="Calibri"/>
                <a:cs typeface="Calibri"/>
              </a:rPr>
              <a:t>and</a:t>
            </a:r>
            <a:r>
              <a:rPr sz="2280" b="1" i="1" spc="186" dirty="0">
                <a:latin typeface="Calibri"/>
                <a:cs typeface="Calibri"/>
              </a:rPr>
              <a:t>  </a:t>
            </a:r>
            <a:r>
              <a:rPr sz="2280" b="1" i="1" spc="-12" dirty="0">
                <a:latin typeface="Calibri"/>
                <a:cs typeface="Calibri"/>
              </a:rPr>
              <a:t>reporting </a:t>
            </a:r>
            <a:r>
              <a:rPr sz="2280" b="1" i="1" dirty="0">
                <a:latin typeface="Calibri"/>
                <a:cs typeface="Calibri"/>
              </a:rPr>
              <a:t>identified</a:t>
            </a:r>
            <a:r>
              <a:rPr sz="2280" b="1" i="1" spc="288" dirty="0">
                <a:latin typeface="Calibri"/>
                <a:cs typeface="Calibri"/>
              </a:rPr>
              <a:t> </a:t>
            </a:r>
            <a:r>
              <a:rPr sz="2280" b="1" i="1" dirty="0">
                <a:latin typeface="Calibri"/>
                <a:cs typeface="Calibri"/>
              </a:rPr>
              <a:t>the</a:t>
            </a:r>
            <a:r>
              <a:rPr sz="2280" b="1" i="1" spc="270" dirty="0">
                <a:latin typeface="Calibri"/>
                <a:cs typeface="Calibri"/>
              </a:rPr>
              <a:t> </a:t>
            </a:r>
            <a:r>
              <a:rPr sz="2280" b="1" i="1" dirty="0">
                <a:latin typeface="Calibri"/>
                <a:cs typeface="Calibri"/>
              </a:rPr>
              <a:t>specific</a:t>
            </a:r>
            <a:r>
              <a:rPr sz="2280" b="1" i="1" spc="288" dirty="0">
                <a:latin typeface="Calibri"/>
                <a:cs typeface="Calibri"/>
              </a:rPr>
              <a:t> </a:t>
            </a:r>
            <a:r>
              <a:rPr sz="2280" b="1" i="1" dirty="0">
                <a:latin typeface="Calibri"/>
                <a:cs typeface="Calibri"/>
              </a:rPr>
              <a:t>defects,</a:t>
            </a:r>
            <a:r>
              <a:rPr sz="2280" b="1" i="1" spc="294" dirty="0">
                <a:latin typeface="Calibri"/>
                <a:cs typeface="Calibri"/>
              </a:rPr>
              <a:t> </a:t>
            </a:r>
            <a:r>
              <a:rPr sz="2280" b="1" i="1" dirty="0">
                <a:latin typeface="Calibri"/>
                <a:cs typeface="Calibri"/>
              </a:rPr>
              <a:t>after</a:t>
            </a:r>
            <a:r>
              <a:rPr sz="2280" b="1" i="1" spc="275" dirty="0">
                <a:latin typeface="Calibri"/>
                <a:cs typeface="Calibri"/>
              </a:rPr>
              <a:t> </a:t>
            </a:r>
            <a:r>
              <a:rPr sz="2280" b="1" i="1" dirty="0">
                <a:latin typeface="Calibri"/>
                <a:cs typeface="Calibri"/>
              </a:rPr>
              <a:t>which</a:t>
            </a:r>
            <a:r>
              <a:rPr sz="2280" b="1" i="1" spc="288" dirty="0">
                <a:latin typeface="Calibri"/>
                <a:cs typeface="Calibri"/>
              </a:rPr>
              <a:t> </a:t>
            </a:r>
            <a:r>
              <a:rPr sz="2280" b="1" i="1" dirty="0">
                <a:latin typeface="Calibri"/>
                <a:cs typeface="Calibri"/>
              </a:rPr>
              <a:t>remediation</a:t>
            </a:r>
            <a:r>
              <a:rPr sz="2280" b="1" i="1" spc="294" dirty="0">
                <a:latin typeface="Calibri"/>
                <a:cs typeface="Calibri"/>
              </a:rPr>
              <a:t> </a:t>
            </a:r>
            <a:r>
              <a:rPr sz="2280" b="1" i="1" dirty="0">
                <a:latin typeface="Calibri"/>
                <a:cs typeface="Calibri"/>
              </a:rPr>
              <a:t>steps</a:t>
            </a:r>
            <a:r>
              <a:rPr sz="2280" b="1" i="1" spc="282" dirty="0">
                <a:latin typeface="Calibri"/>
                <a:cs typeface="Calibri"/>
              </a:rPr>
              <a:t> </a:t>
            </a:r>
            <a:r>
              <a:rPr sz="2280" b="1" i="1" dirty="0">
                <a:latin typeface="Calibri"/>
                <a:cs typeface="Calibri"/>
              </a:rPr>
              <a:t>for</a:t>
            </a:r>
            <a:r>
              <a:rPr sz="2280" b="1" i="1" spc="288" dirty="0">
                <a:latin typeface="Calibri"/>
                <a:cs typeface="Calibri"/>
              </a:rPr>
              <a:t> </a:t>
            </a:r>
            <a:r>
              <a:rPr sz="2280" b="1" i="1" dirty="0">
                <a:latin typeface="Calibri"/>
                <a:cs typeface="Calibri"/>
              </a:rPr>
              <a:t>each</a:t>
            </a:r>
            <a:r>
              <a:rPr sz="2280" b="1" i="1" spc="282" dirty="0">
                <a:latin typeface="Calibri"/>
                <a:cs typeface="Calibri"/>
              </a:rPr>
              <a:t> </a:t>
            </a:r>
            <a:r>
              <a:rPr sz="2280" b="1" i="1" dirty="0">
                <a:latin typeface="Calibri"/>
                <a:cs typeface="Calibri"/>
              </a:rPr>
              <a:t>defect</a:t>
            </a:r>
            <a:r>
              <a:rPr sz="2280" b="1" i="1" spc="294" dirty="0">
                <a:latin typeface="Calibri"/>
                <a:cs typeface="Calibri"/>
              </a:rPr>
              <a:t> </a:t>
            </a:r>
            <a:r>
              <a:rPr sz="2280" b="1" i="1" spc="-24" dirty="0">
                <a:latin typeface="Calibri"/>
                <a:cs typeface="Calibri"/>
              </a:rPr>
              <a:t>were </a:t>
            </a:r>
            <a:r>
              <a:rPr sz="2280" b="1" i="1" spc="-12" dirty="0">
                <a:latin typeface="Calibri"/>
                <a:cs typeface="Calibri"/>
              </a:rPr>
              <a:t>established.</a:t>
            </a:r>
            <a:endParaRPr sz="2280">
              <a:latin typeface="Calibri"/>
              <a:cs typeface="Calibri"/>
            </a:endParaRPr>
          </a:p>
          <a:p>
            <a:pPr marL="15240" marR="8382" algn="just">
              <a:spcBef>
                <a:spcPts val="2742"/>
              </a:spcBef>
            </a:pPr>
            <a:r>
              <a:rPr sz="2280" b="1" i="1" dirty="0">
                <a:latin typeface="Calibri"/>
                <a:cs typeface="Calibri"/>
              </a:rPr>
              <a:t>As</a:t>
            </a:r>
            <a:r>
              <a:rPr sz="2280" b="1" i="1" spc="294" dirty="0">
                <a:latin typeface="Calibri"/>
                <a:cs typeface="Calibri"/>
              </a:rPr>
              <a:t> </a:t>
            </a:r>
            <a:r>
              <a:rPr sz="2280" b="1" i="1" dirty="0">
                <a:latin typeface="Calibri"/>
                <a:cs typeface="Calibri"/>
              </a:rPr>
              <a:t>a</a:t>
            </a:r>
            <a:r>
              <a:rPr sz="2280" b="1" i="1" spc="300" dirty="0">
                <a:latin typeface="Calibri"/>
                <a:cs typeface="Calibri"/>
              </a:rPr>
              <a:t> </a:t>
            </a:r>
            <a:r>
              <a:rPr sz="2280" b="1" i="1" dirty="0">
                <a:latin typeface="Calibri"/>
                <a:cs typeface="Calibri"/>
              </a:rPr>
              <a:t>result</a:t>
            </a:r>
            <a:r>
              <a:rPr sz="2280" b="1" i="1" spc="312" dirty="0">
                <a:latin typeface="Calibri"/>
                <a:cs typeface="Calibri"/>
              </a:rPr>
              <a:t> </a:t>
            </a:r>
            <a:r>
              <a:rPr sz="2280" b="1" i="1" dirty="0">
                <a:latin typeface="Calibri"/>
                <a:cs typeface="Calibri"/>
              </a:rPr>
              <a:t>of</a:t>
            </a:r>
            <a:r>
              <a:rPr sz="2280" b="1" i="1" spc="300" dirty="0">
                <a:latin typeface="Calibri"/>
                <a:cs typeface="Calibri"/>
              </a:rPr>
              <a:t> </a:t>
            </a:r>
            <a:r>
              <a:rPr sz="2280" b="1" i="1" dirty="0">
                <a:latin typeface="Calibri"/>
                <a:cs typeface="Calibri"/>
              </a:rPr>
              <a:t>Six</a:t>
            </a:r>
            <a:r>
              <a:rPr sz="2280" b="1" i="1" spc="318" dirty="0">
                <a:latin typeface="Calibri"/>
                <a:cs typeface="Calibri"/>
              </a:rPr>
              <a:t> </a:t>
            </a:r>
            <a:r>
              <a:rPr sz="2280" b="1" i="1" dirty="0">
                <a:latin typeface="Calibri"/>
                <a:cs typeface="Calibri"/>
              </a:rPr>
              <a:t>Sigma,</a:t>
            </a:r>
            <a:r>
              <a:rPr sz="2280" b="1" i="1" spc="312" dirty="0">
                <a:latin typeface="Calibri"/>
                <a:cs typeface="Calibri"/>
              </a:rPr>
              <a:t> </a:t>
            </a:r>
            <a:r>
              <a:rPr sz="2280" b="1" i="1" dirty="0">
                <a:latin typeface="Calibri"/>
                <a:cs typeface="Calibri"/>
              </a:rPr>
              <a:t>Microsoft</a:t>
            </a:r>
            <a:r>
              <a:rPr sz="2280" b="1" i="1" spc="312" dirty="0">
                <a:latin typeface="Calibri"/>
                <a:cs typeface="Calibri"/>
              </a:rPr>
              <a:t> </a:t>
            </a:r>
            <a:r>
              <a:rPr sz="2280" b="1" i="1" dirty="0">
                <a:latin typeface="Calibri"/>
                <a:cs typeface="Calibri"/>
              </a:rPr>
              <a:t>says</a:t>
            </a:r>
            <a:r>
              <a:rPr sz="2280" b="1" i="1" spc="300" dirty="0">
                <a:latin typeface="Calibri"/>
                <a:cs typeface="Calibri"/>
              </a:rPr>
              <a:t> </a:t>
            </a:r>
            <a:r>
              <a:rPr sz="2280" b="1" i="1" dirty="0">
                <a:latin typeface="Calibri"/>
                <a:cs typeface="Calibri"/>
              </a:rPr>
              <a:t>it</a:t>
            </a:r>
            <a:r>
              <a:rPr sz="2280" b="1" i="1" spc="305" dirty="0">
                <a:latin typeface="Calibri"/>
                <a:cs typeface="Calibri"/>
              </a:rPr>
              <a:t> </a:t>
            </a:r>
            <a:r>
              <a:rPr sz="2280" b="1" i="1" dirty="0">
                <a:latin typeface="Calibri"/>
                <a:cs typeface="Calibri"/>
              </a:rPr>
              <a:t>improved</a:t>
            </a:r>
            <a:r>
              <a:rPr sz="2280" b="1" i="1" spc="300" dirty="0">
                <a:latin typeface="Calibri"/>
                <a:cs typeface="Calibri"/>
              </a:rPr>
              <a:t> </a:t>
            </a:r>
            <a:r>
              <a:rPr sz="2280" b="1" i="1" dirty="0">
                <a:latin typeface="Calibri"/>
                <a:cs typeface="Calibri"/>
              </a:rPr>
              <a:t>the</a:t>
            </a:r>
            <a:r>
              <a:rPr sz="2280" b="1" i="1" spc="318" dirty="0">
                <a:latin typeface="Calibri"/>
                <a:cs typeface="Calibri"/>
              </a:rPr>
              <a:t> </a:t>
            </a:r>
            <a:r>
              <a:rPr sz="2280" b="1" i="1" dirty="0">
                <a:latin typeface="Calibri"/>
                <a:cs typeface="Calibri"/>
              </a:rPr>
              <a:t>availability</a:t>
            </a:r>
            <a:r>
              <a:rPr sz="2280" b="1" i="1" spc="305" dirty="0">
                <a:latin typeface="Calibri"/>
                <a:cs typeface="Calibri"/>
              </a:rPr>
              <a:t> </a:t>
            </a:r>
            <a:r>
              <a:rPr sz="2280" b="1" i="1" dirty="0">
                <a:latin typeface="Calibri"/>
                <a:cs typeface="Calibri"/>
              </a:rPr>
              <a:t>of</a:t>
            </a:r>
            <a:r>
              <a:rPr sz="2280" b="1" i="1" spc="288" dirty="0">
                <a:latin typeface="Calibri"/>
                <a:cs typeface="Calibri"/>
              </a:rPr>
              <a:t> </a:t>
            </a:r>
            <a:r>
              <a:rPr sz="2280" b="1" i="1" dirty="0">
                <a:latin typeface="Calibri"/>
                <a:cs typeface="Calibri"/>
              </a:rPr>
              <a:t>its</a:t>
            </a:r>
            <a:r>
              <a:rPr sz="2280" b="1" i="1" spc="300" dirty="0">
                <a:latin typeface="Calibri"/>
                <a:cs typeface="Calibri"/>
              </a:rPr>
              <a:t> </a:t>
            </a:r>
            <a:r>
              <a:rPr sz="2280" b="1" i="1" spc="-12" dirty="0">
                <a:latin typeface="Calibri"/>
                <a:cs typeface="Calibri"/>
              </a:rPr>
              <a:t>servers, </a:t>
            </a:r>
            <a:r>
              <a:rPr sz="2280" b="1" i="1" dirty="0">
                <a:latin typeface="Calibri"/>
                <a:cs typeface="Calibri"/>
              </a:rPr>
              <a:t>boosted</a:t>
            </a:r>
            <a:r>
              <a:rPr sz="2280" b="1" i="1" spc="-90" dirty="0">
                <a:latin typeface="Calibri"/>
                <a:cs typeface="Calibri"/>
              </a:rPr>
              <a:t> </a:t>
            </a:r>
            <a:r>
              <a:rPr sz="2280" b="1" i="1" spc="-12" dirty="0">
                <a:latin typeface="Calibri"/>
                <a:cs typeface="Calibri"/>
              </a:rPr>
              <a:t>productivity,</a:t>
            </a:r>
            <a:r>
              <a:rPr sz="2280" b="1" i="1" spc="-72" dirty="0">
                <a:latin typeface="Calibri"/>
                <a:cs typeface="Calibri"/>
              </a:rPr>
              <a:t> </a:t>
            </a:r>
            <a:r>
              <a:rPr sz="2280" b="1" i="1" dirty="0">
                <a:latin typeface="Calibri"/>
                <a:cs typeface="Calibri"/>
              </a:rPr>
              <a:t>and</a:t>
            </a:r>
            <a:r>
              <a:rPr sz="2280" b="1" i="1" spc="-90" dirty="0">
                <a:latin typeface="Calibri"/>
                <a:cs typeface="Calibri"/>
              </a:rPr>
              <a:t> </a:t>
            </a:r>
            <a:r>
              <a:rPr sz="2280" b="1" i="1" dirty="0">
                <a:latin typeface="Calibri"/>
                <a:cs typeface="Calibri"/>
              </a:rPr>
              <a:t>increased</a:t>
            </a:r>
            <a:r>
              <a:rPr sz="2280" b="1" i="1" spc="-78" dirty="0">
                <a:latin typeface="Calibri"/>
                <a:cs typeface="Calibri"/>
              </a:rPr>
              <a:t> </a:t>
            </a:r>
            <a:r>
              <a:rPr sz="2280" b="1" i="1" spc="-12" dirty="0">
                <a:latin typeface="Calibri"/>
                <a:cs typeface="Calibri"/>
              </a:rPr>
              <a:t>customer</a:t>
            </a:r>
            <a:r>
              <a:rPr sz="2280" b="1" i="1" spc="-54" dirty="0">
                <a:latin typeface="Calibri"/>
                <a:cs typeface="Calibri"/>
              </a:rPr>
              <a:t> </a:t>
            </a:r>
            <a:r>
              <a:rPr sz="2280" b="1" i="1" spc="-12" dirty="0">
                <a:latin typeface="Calibri"/>
                <a:cs typeface="Calibri"/>
              </a:rPr>
              <a:t>satisfaction.</a:t>
            </a:r>
            <a:endParaRPr sz="2280">
              <a:latin typeface="Calibri"/>
              <a:cs typeface="Calibri"/>
            </a:endParaRPr>
          </a:p>
        </p:txBody>
      </p:sp>
    </p:spTree>
    <p:extLst>
      <p:ext uri="{BB962C8B-B14F-4D97-AF65-F5344CB8AC3E}">
        <p14:creationId xmlns:p14="http://schemas.microsoft.com/office/powerpoint/2010/main" val="21208722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53975"/>
            <a:ext cx="9874250" cy="654050"/>
          </a:xfrm>
          <a:prstGeom prst="rect">
            <a:avLst/>
          </a:prstGeom>
          <a:solidFill>
            <a:srgbClr val="F9C090"/>
          </a:solidFill>
          <a:ln w="9525">
            <a:solidFill>
              <a:srgbClr val="000000"/>
            </a:solidFill>
          </a:ln>
        </p:spPr>
        <p:txBody>
          <a:bodyPr vert="horz" wrap="square" lIns="0" tIns="0" rIns="0" bIns="0" rtlCol="0" anchor="b">
            <a:spAutoFit/>
          </a:bodyPr>
          <a:lstStyle/>
          <a:p>
            <a:pPr marL="1002792">
              <a:lnSpc>
                <a:spcPts val="5106"/>
              </a:lnSpc>
            </a:pPr>
            <a:r>
              <a:rPr dirty="0">
                <a:solidFill>
                  <a:srgbClr val="000000"/>
                </a:solidFill>
              </a:rPr>
              <a:t>Quality</a:t>
            </a:r>
            <a:r>
              <a:rPr spc="-114" dirty="0">
                <a:solidFill>
                  <a:srgbClr val="000000"/>
                </a:solidFill>
              </a:rPr>
              <a:t> </a:t>
            </a:r>
            <a:r>
              <a:rPr spc="-12" dirty="0">
                <a:solidFill>
                  <a:srgbClr val="000000"/>
                </a:solidFill>
              </a:rPr>
              <a:t>Standards</a:t>
            </a:r>
            <a:r>
              <a:rPr spc="-72" dirty="0">
                <a:solidFill>
                  <a:srgbClr val="000000"/>
                </a:solidFill>
              </a:rPr>
              <a:t> </a:t>
            </a:r>
            <a:r>
              <a:rPr dirty="0">
                <a:solidFill>
                  <a:srgbClr val="000000"/>
                </a:solidFill>
              </a:rPr>
              <a:t>Models</a:t>
            </a:r>
            <a:r>
              <a:rPr spc="-126" dirty="0">
                <a:solidFill>
                  <a:srgbClr val="000000"/>
                </a:solidFill>
              </a:rPr>
              <a:t> </a:t>
            </a:r>
            <a:r>
              <a:rPr dirty="0">
                <a:solidFill>
                  <a:srgbClr val="000000"/>
                </a:solidFill>
              </a:rPr>
              <a:t>-</a:t>
            </a:r>
            <a:r>
              <a:rPr spc="-144" dirty="0">
                <a:solidFill>
                  <a:srgbClr val="000000"/>
                </a:solidFill>
              </a:rPr>
              <a:t> </a:t>
            </a:r>
            <a:r>
              <a:rPr spc="-30" dirty="0">
                <a:solidFill>
                  <a:srgbClr val="000000"/>
                </a:solidFill>
              </a:rPr>
              <a:t>ISO</a:t>
            </a:r>
            <a:endParaRPr/>
          </a:p>
        </p:txBody>
      </p:sp>
      <p:sp>
        <p:nvSpPr>
          <p:cNvPr id="3" name="object 3"/>
          <p:cNvSpPr txBox="1"/>
          <p:nvPr/>
        </p:nvSpPr>
        <p:spPr>
          <a:xfrm>
            <a:off x="919520" y="944879"/>
            <a:ext cx="10354056" cy="3805401"/>
          </a:xfrm>
          <a:prstGeom prst="rect">
            <a:avLst/>
          </a:prstGeom>
        </p:spPr>
        <p:txBody>
          <a:bodyPr vert="horz" wrap="square" lIns="0" tIns="14478" rIns="0" bIns="0" rtlCol="0">
            <a:spAutoFit/>
          </a:bodyPr>
          <a:lstStyle/>
          <a:p>
            <a:pPr marL="423672" marR="6096" indent="-408432" algn="just">
              <a:spcBef>
                <a:spcPts val="114"/>
              </a:spcBef>
              <a:buFont typeface="Arial MT"/>
              <a:buChar char="•"/>
              <a:tabLst>
                <a:tab pos="426720" algn="l"/>
              </a:tabLst>
            </a:pPr>
            <a:r>
              <a:rPr sz="2280" dirty="0">
                <a:latin typeface="Calibri"/>
                <a:cs typeface="Calibri"/>
              </a:rPr>
              <a:t>A</a:t>
            </a:r>
            <a:r>
              <a:rPr sz="2280" spc="84" dirty="0">
                <a:latin typeface="Calibri"/>
                <a:cs typeface="Calibri"/>
              </a:rPr>
              <a:t>  </a:t>
            </a:r>
            <a:r>
              <a:rPr sz="2280" b="1" dirty="0">
                <a:latin typeface="Calibri"/>
                <a:cs typeface="Calibri"/>
              </a:rPr>
              <a:t>quality</a:t>
            </a:r>
            <a:r>
              <a:rPr sz="2280" b="1" spc="90" dirty="0">
                <a:latin typeface="Calibri"/>
                <a:cs typeface="Calibri"/>
              </a:rPr>
              <a:t>  </a:t>
            </a:r>
            <a:r>
              <a:rPr sz="2280" b="1" dirty="0">
                <a:latin typeface="Calibri"/>
                <a:cs typeface="Calibri"/>
              </a:rPr>
              <a:t>assurance</a:t>
            </a:r>
            <a:r>
              <a:rPr sz="2280" b="1" spc="96" dirty="0">
                <a:latin typeface="Calibri"/>
                <a:cs typeface="Calibri"/>
              </a:rPr>
              <a:t>  </a:t>
            </a:r>
            <a:r>
              <a:rPr sz="2280" b="1" dirty="0">
                <a:latin typeface="Calibri"/>
                <a:cs typeface="Calibri"/>
              </a:rPr>
              <a:t>system</a:t>
            </a:r>
            <a:r>
              <a:rPr sz="2280" b="1" spc="90" dirty="0">
                <a:latin typeface="Calibri"/>
                <a:cs typeface="Calibri"/>
              </a:rPr>
              <a:t>  </a:t>
            </a:r>
            <a:r>
              <a:rPr sz="2280" dirty="0">
                <a:latin typeface="Calibri"/>
                <a:cs typeface="Calibri"/>
              </a:rPr>
              <a:t>may</a:t>
            </a:r>
            <a:r>
              <a:rPr sz="2280" spc="96" dirty="0">
                <a:latin typeface="Calibri"/>
                <a:cs typeface="Calibri"/>
              </a:rPr>
              <a:t>  </a:t>
            </a:r>
            <a:r>
              <a:rPr sz="2280" dirty="0">
                <a:latin typeface="Calibri"/>
                <a:cs typeface="Calibri"/>
              </a:rPr>
              <a:t>be</a:t>
            </a:r>
            <a:r>
              <a:rPr sz="2280" spc="84" dirty="0">
                <a:latin typeface="Calibri"/>
                <a:cs typeface="Calibri"/>
              </a:rPr>
              <a:t>  </a:t>
            </a:r>
            <a:r>
              <a:rPr sz="2280" dirty="0">
                <a:latin typeface="Calibri"/>
                <a:cs typeface="Calibri"/>
              </a:rPr>
              <a:t>defined</a:t>
            </a:r>
            <a:r>
              <a:rPr sz="2280" spc="90" dirty="0">
                <a:latin typeface="Calibri"/>
                <a:cs typeface="Calibri"/>
              </a:rPr>
              <a:t>  </a:t>
            </a:r>
            <a:r>
              <a:rPr sz="2280" dirty="0">
                <a:latin typeface="Calibri"/>
                <a:cs typeface="Calibri"/>
              </a:rPr>
              <a:t>as</a:t>
            </a:r>
            <a:r>
              <a:rPr sz="2280" spc="90" dirty="0">
                <a:latin typeface="Calibri"/>
                <a:cs typeface="Calibri"/>
              </a:rPr>
              <a:t>  </a:t>
            </a:r>
            <a:r>
              <a:rPr sz="2280" dirty="0">
                <a:latin typeface="Calibri"/>
                <a:cs typeface="Calibri"/>
              </a:rPr>
              <a:t>the</a:t>
            </a:r>
            <a:r>
              <a:rPr sz="2280" spc="84" dirty="0">
                <a:latin typeface="Calibri"/>
                <a:cs typeface="Calibri"/>
              </a:rPr>
              <a:t>  </a:t>
            </a:r>
            <a:r>
              <a:rPr sz="2280" b="1" i="1" dirty="0">
                <a:solidFill>
                  <a:srgbClr val="C00000"/>
                </a:solidFill>
                <a:latin typeface="Calibri"/>
                <a:cs typeface="Calibri"/>
              </a:rPr>
              <a:t>organizational</a:t>
            </a:r>
            <a:r>
              <a:rPr sz="2280" b="1" i="1" spc="90" dirty="0">
                <a:solidFill>
                  <a:srgbClr val="C00000"/>
                </a:solidFill>
                <a:latin typeface="Calibri"/>
                <a:cs typeface="Calibri"/>
              </a:rPr>
              <a:t>  </a:t>
            </a:r>
            <a:r>
              <a:rPr sz="2280" b="1" i="1" spc="-12" dirty="0">
                <a:solidFill>
                  <a:srgbClr val="C00000"/>
                </a:solidFill>
                <a:latin typeface="Calibri"/>
                <a:cs typeface="Calibri"/>
              </a:rPr>
              <a:t>structure</a:t>
            </a:r>
            <a:r>
              <a:rPr sz="2280" spc="-12" dirty="0">
                <a:latin typeface="Calibri"/>
                <a:cs typeface="Calibri"/>
              </a:rPr>
              <a:t>, 	</a:t>
            </a:r>
            <a:r>
              <a:rPr sz="2280" b="1" i="1" dirty="0">
                <a:solidFill>
                  <a:srgbClr val="C00000"/>
                </a:solidFill>
                <a:latin typeface="Calibri"/>
                <a:cs typeface="Calibri"/>
              </a:rPr>
              <a:t>responsibilities</a:t>
            </a:r>
            <a:r>
              <a:rPr sz="2280" dirty="0">
                <a:latin typeface="Calibri"/>
                <a:cs typeface="Calibri"/>
              </a:rPr>
              <a:t>,</a:t>
            </a:r>
            <a:r>
              <a:rPr sz="2280" spc="564" dirty="0">
                <a:latin typeface="Calibri"/>
                <a:cs typeface="Calibri"/>
              </a:rPr>
              <a:t> </a:t>
            </a:r>
            <a:r>
              <a:rPr sz="2280" b="1" i="1" dirty="0">
                <a:solidFill>
                  <a:srgbClr val="C00000"/>
                </a:solidFill>
                <a:latin typeface="Calibri"/>
                <a:cs typeface="Calibri"/>
              </a:rPr>
              <a:t>procedures</a:t>
            </a:r>
            <a:r>
              <a:rPr sz="2280" dirty="0">
                <a:latin typeface="Calibri"/>
                <a:cs typeface="Calibri"/>
              </a:rPr>
              <a:t>,</a:t>
            </a:r>
            <a:r>
              <a:rPr sz="2280" spc="546" dirty="0">
                <a:latin typeface="Calibri"/>
                <a:cs typeface="Calibri"/>
              </a:rPr>
              <a:t> </a:t>
            </a:r>
            <a:r>
              <a:rPr sz="2280" b="1" i="1" dirty="0">
                <a:solidFill>
                  <a:srgbClr val="C00000"/>
                </a:solidFill>
                <a:latin typeface="Calibri"/>
                <a:cs typeface="Calibri"/>
              </a:rPr>
              <a:t>processes</a:t>
            </a:r>
            <a:r>
              <a:rPr sz="2280" dirty="0">
                <a:latin typeface="Calibri"/>
                <a:cs typeface="Calibri"/>
              </a:rPr>
              <a:t>,</a:t>
            </a:r>
            <a:r>
              <a:rPr sz="2280" spc="551" dirty="0">
                <a:latin typeface="Calibri"/>
                <a:cs typeface="Calibri"/>
              </a:rPr>
              <a:t> </a:t>
            </a:r>
            <a:r>
              <a:rPr sz="2280" dirty="0">
                <a:latin typeface="Calibri"/>
                <a:cs typeface="Calibri"/>
              </a:rPr>
              <a:t>and</a:t>
            </a:r>
            <a:r>
              <a:rPr sz="2280" spc="558" dirty="0">
                <a:latin typeface="Calibri"/>
                <a:cs typeface="Calibri"/>
              </a:rPr>
              <a:t> </a:t>
            </a:r>
            <a:r>
              <a:rPr sz="2280" b="1" i="1" dirty="0">
                <a:solidFill>
                  <a:srgbClr val="C00000"/>
                </a:solidFill>
                <a:latin typeface="Calibri"/>
                <a:cs typeface="Calibri"/>
              </a:rPr>
              <a:t>resources</a:t>
            </a:r>
            <a:r>
              <a:rPr sz="2280" b="1" i="1" spc="564" dirty="0">
                <a:solidFill>
                  <a:srgbClr val="C00000"/>
                </a:solidFill>
                <a:latin typeface="Calibri"/>
                <a:cs typeface="Calibri"/>
              </a:rPr>
              <a:t> </a:t>
            </a:r>
            <a:r>
              <a:rPr sz="2280" dirty="0">
                <a:latin typeface="Calibri"/>
                <a:cs typeface="Calibri"/>
              </a:rPr>
              <a:t>for</a:t>
            </a:r>
            <a:r>
              <a:rPr sz="2280" spc="551" dirty="0">
                <a:latin typeface="Calibri"/>
                <a:cs typeface="Calibri"/>
              </a:rPr>
              <a:t> </a:t>
            </a:r>
            <a:r>
              <a:rPr sz="2280" dirty="0">
                <a:latin typeface="Calibri"/>
                <a:cs typeface="Calibri"/>
              </a:rPr>
              <a:t>implementing</a:t>
            </a:r>
            <a:r>
              <a:rPr sz="2280" spc="576" dirty="0">
                <a:latin typeface="Calibri"/>
                <a:cs typeface="Calibri"/>
              </a:rPr>
              <a:t> </a:t>
            </a:r>
            <a:r>
              <a:rPr sz="2280" spc="-12" dirty="0">
                <a:latin typeface="Calibri"/>
                <a:cs typeface="Calibri"/>
              </a:rPr>
              <a:t>quality 	management.</a:t>
            </a:r>
            <a:endParaRPr sz="2280" dirty="0">
              <a:latin typeface="Calibri"/>
              <a:cs typeface="Calibri"/>
            </a:endParaRPr>
          </a:p>
          <a:p>
            <a:pPr marL="423672" indent="-408432" algn="just">
              <a:spcBef>
                <a:spcPts val="551"/>
              </a:spcBef>
              <a:buFont typeface="Arial MT"/>
              <a:buChar char="•"/>
              <a:tabLst>
                <a:tab pos="423672" algn="l"/>
              </a:tabLst>
            </a:pPr>
            <a:r>
              <a:rPr sz="2280" dirty="0">
                <a:latin typeface="Calibri"/>
                <a:cs typeface="Calibri"/>
              </a:rPr>
              <a:t>The</a:t>
            </a:r>
            <a:r>
              <a:rPr sz="2280" spc="42" dirty="0">
                <a:latin typeface="Calibri"/>
                <a:cs typeface="Calibri"/>
              </a:rPr>
              <a:t> </a:t>
            </a:r>
            <a:r>
              <a:rPr sz="2280" dirty="0">
                <a:latin typeface="Calibri"/>
                <a:cs typeface="Calibri"/>
              </a:rPr>
              <a:t>international</a:t>
            </a:r>
            <a:r>
              <a:rPr sz="2280" spc="48" dirty="0">
                <a:latin typeface="Calibri"/>
                <a:cs typeface="Calibri"/>
              </a:rPr>
              <a:t> </a:t>
            </a:r>
            <a:r>
              <a:rPr sz="2280" dirty="0">
                <a:latin typeface="Calibri"/>
                <a:cs typeface="Calibri"/>
              </a:rPr>
              <a:t>set</a:t>
            </a:r>
            <a:r>
              <a:rPr sz="2280" spc="30" dirty="0">
                <a:latin typeface="Calibri"/>
                <a:cs typeface="Calibri"/>
              </a:rPr>
              <a:t> </a:t>
            </a:r>
            <a:r>
              <a:rPr sz="2280" dirty="0">
                <a:latin typeface="Calibri"/>
                <a:cs typeface="Calibri"/>
              </a:rPr>
              <a:t>of</a:t>
            </a:r>
            <a:r>
              <a:rPr sz="2280" spc="30" dirty="0">
                <a:latin typeface="Calibri"/>
                <a:cs typeface="Calibri"/>
              </a:rPr>
              <a:t> </a:t>
            </a:r>
            <a:r>
              <a:rPr sz="2280" dirty="0">
                <a:latin typeface="Calibri"/>
                <a:cs typeface="Calibri"/>
              </a:rPr>
              <a:t>standards</a:t>
            </a:r>
            <a:r>
              <a:rPr sz="2280" spc="42" dirty="0">
                <a:latin typeface="Calibri"/>
                <a:cs typeface="Calibri"/>
              </a:rPr>
              <a:t> </a:t>
            </a:r>
            <a:r>
              <a:rPr sz="2280" dirty="0">
                <a:latin typeface="Calibri"/>
                <a:cs typeface="Calibri"/>
              </a:rPr>
              <a:t>used</a:t>
            </a:r>
            <a:r>
              <a:rPr sz="2280" spc="36" dirty="0">
                <a:latin typeface="Calibri"/>
                <a:cs typeface="Calibri"/>
              </a:rPr>
              <a:t> </a:t>
            </a:r>
            <a:r>
              <a:rPr sz="2280" dirty="0">
                <a:latin typeface="Calibri"/>
                <a:cs typeface="Calibri"/>
              </a:rPr>
              <a:t>in</a:t>
            </a:r>
            <a:r>
              <a:rPr sz="2280" spc="42" dirty="0">
                <a:latin typeface="Calibri"/>
                <a:cs typeface="Calibri"/>
              </a:rPr>
              <a:t> </a:t>
            </a:r>
            <a:r>
              <a:rPr sz="2280" dirty="0">
                <a:latin typeface="Calibri"/>
                <a:cs typeface="Calibri"/>
              </a:rPr>
              <a:t>the</a:t>
            </a:r>
            <a:r>
              <a:rPr sz="2280" spc="36" dirty="0">
                <a:latin typeface="Calibri"/>
                <a:cs typeface="Calibri"/>
              </a:rPr>
              <a:t> </a:t>
            </a:r>
            <a:r>
              <a:rPr sz="2280" dirty="0">
                <a:latin typeface="Calibri"/>
                <a:cs typeface="Calibri"/>
              </a:rPr>
              <a:t>development</a:t>
            </a:r>
            <a:r>
              <a:rPr sz="2280" spc="42" dirty="0">
                <a:latin typeface="Calibri"/>
                <a:cs typeface="Calibri"/>
              </a:rPr>
              <a:t> </a:t>
            </a:r>
            <a:r>
              <a:rPr sz="2280" dirty="0">
                <a:latin typeface="Calibri"/>
                <a:cs typeface="Calibri"/>
              </a:rPr>
              <a:t>of</a:t>
            </a:r>
            <a:r>
              <a:rPr sz="2280" spc="42" dirty="0">
                <a:latin typeface="Calibri"/>
                <a:cs typeface="Calibri"/>
              </a:rPr>
              <a:t> </a:t>
            </a:r>
            <a:r>
              <a:rPr sz="2280" dirty="0">
                <a:latin typeface="Calibri"/>
                <a:cs typeface="Calibri"/>
              </a:rPr>
              <a:t>quality</a:t>
            </a:r>
            <a:r>
              <a:rPr sz="2280" spc="42" dirty="0">
                <a:latin typeface="Calibri"/>
                <a:cs typeface="Calibri"/>
              </a:rPr>
              <a:t> </a:t>
            </a:r>
            <a:r>
              <a:rPr sz="2280" spc="-12" dirty="0">
                <a:latin typeface="Calibri"/>
                <a:cs typeface="Calibri"/>
              </a:rPr>
              <a:t>management</a:t>
            </a:r>
            <a:endParaRPr sz="2280" dirty="0">
              <a:latin typeface="Calibri"/>
              <a:cs typeface="Calibri"/>
            </a:endParaRPr>
          </a:p>
          <a:p>
            <a:pPr marL="426720" algn="just"/>
            <a:r>
              <a:rPr sz="2280" spc="-24" dirty="0">
                <a:latin typeface="Calibri"/>
                <a:cs typeface="Calibri"/>
              </a:rPr>
              <a:t>systems</a:t>
            </a:r>
            <a:r>
              <a:rPr sz="2280" spc="-54" dirty="0">
                <a:latin typeface="Calibri"/>
                <a:cs typeface="Calibri"/>
              </a:rPr>
              <a:t> </a:t>
            </a:r>
            <a:r>
              <a:rPr sz="2280" dirty="0">
                <a:latin typeface="Calibri"/>
                <a:cs typeface="Calibri"/>
              </a:rPr>
              <a:t>in</a:t>
            </a:r>
            <a:r>
              <a:rPr sz="2280" spc="-36" dirty="0">
                <a:latin typeface="Calibri"/>
                <a:cs typeface="Calibri"/>
              </a:rPr>
              <a:t> </a:t>
            </a:r>
            <a:r>
              <a:rPr sz="2280" dirty="0">
                <a:latin typeface="Calibri"/>
                <a:cs typeface="Calibri"/>
              </a:rPr>
              <a:t>all</a:t>
            </a:r>
            <a:r>
              <a:rPr sz="2280" spc="-18" dirty="0">
                <a:latin typeface="Calibri"/>
                <a:cs typeface="Calibri"/>
              </a:rPr>
              <a:t> </a:t>
            </a:r>
            <a:r>
              <a:rPr sz="2280" spc="-12" dirty="0">
                <a:latin typeface="Calibri"/>
                <a:cs typeface="Calibri"/>
              </a:rPr>
              <a:t>industries</a:t>
            </a:r>
            <a:r>
              <a:rPr sz="2280" spc="-18" dirty="0">
                <a:latin typeface="Calibri"/>
                <a:cs typeface="Calibri"/>
              </a:rPr>
              <a:t> </a:t>
            </a:r>
            <a:r>
              <a:rPr sz="2280" dirty="0">
                <a:latin typeface="Calibri"/>
                <a:cs typeface="Calibri"/>
              </a:rPr>
              <a:t>is</a:t>
            </a:r>
            <a:r>
              <a:rPr sz="2280" spc="-48" dirty="0">
                <a:latin typeface="Calibri"/>
                <a:cs typeface="Calibri"/>
              </a:rPr>
              <a:t> </a:t>
            </a:r>
            <a:r>
              <a:rPr sz="2280" dirty="0">
                <a:latin typeface="Calibri"/>
                <a:cs typeface="Calibri"/>
              </a:rPr>
              <a:t>called</a:t>
            </a:r>
            <a:r>
              <a:rPr sz="2280" spc="-30" dirty="0">
                <a:latin typeface="Calibri"/>
                <a:cs typeface="Calibri"/>
              </a:rPr>
              <a:t> </a:t>
            </a:r>
            <a:r>
              <a:rPr sz="2280" b="1" dirty="0">
                <a:latin typeface="Calibri"/>
                <a:cs typeface="Calibri"/>
              </a:rPr>
              <a:t>ISO</a:t>
            </a:r>
            <a:r>
              <a:rPr sz="2280" b="1" spc="-12" dirty="0">
                <a:latin typeface="Calibri"/>
                <a:cs typeface="Calibri"/>
              </a:rPr>
              <a:t> </a:t>
            </a:r>
            <a:r>
              <a:rPr sz="2280" b="1" spc="-24" dirty="0">
                <a:latin typeface="Calibri"/>
                <a:cs typeface="Calibri"/>
              </a:rPr>
              <a:t>9000</a:t>
            </a:r>
            <a:endParaRPr sz="2280" dirty="0">
              <a:latin typeface="Calibri"/>
              <a:cs typeface="Calibri"/>
            </a:endParaRPr>
          </a:p>
          <a:p>
            <a:pPr marL="423672" indent="-408432" algn="just">
              <a:spcBef>
                <a:spcPts val="546"/>
              </a:spcBef>
              <a:buFont typeface="Arial MT"/>
              <a:buChar char="•"/>
              <a:tabLst>
                <a:tab pos="423672" algn="l"/>
              </a:tabLst>
            </a:pPr>
            <a:r>
              <a:rPr sz="2280" b="1" dirty="0">
                <a:latin typeface="Calibri"/>
                <a:cs typeface="Calibri"/>
              </a:rPr>
              <a:t>ISO</a:t>
            </a:r>
            <a:r>
              <a:rPr sz="2280" b="1" spc="78" dirty="0">
                <a:latin typeface="Calibri"/>
                <a:cs typeface="Calibri"/>
              </a:rPr>
              <a:t> </a:t>
            </a:r>
            <a:r>
              <a:rPr sz="2280" b="1" dirty="0">
                <a:latin typeface="Calibri"/>
                <a:cs typeface="Calibri"/>
              </a:rPr>
              <a:t>9000</a:t>
            </a:r>
            <a:r>
              <a:rPr sz="2280" b="1" spc="66" dirty="0">
                <a:latin typeface="Calibri"/>
                <a:cs typeface="Calibri"/>
              </a:rPr>
              <a:t> </a:t>
            </a:r>
            <a:r>
              <a:rPr sz="2280" dirty="0">
                <a:latin typeface="Calibri"/>
                <a:cs typeface="Calibri"/>
              </a:rPr>
              <a:t>standards</a:t>
            </a:r>
            <a:r>
              <a:rPr sz="2280" spc="78" dirty="0">
                <a:latin typeface="Calibri"/>
                <a:cs typeface="Calibri"/>
              </a:rPr>
              <a:t> </a:t>
            </a:r>
            <a:r>
              <a:rPr sz="2280" dirty="0">
                <a:latin typeface="Calibri"/>
                <a:cs typeface="Calibri"/>
              </a:rPr>
              <a:t>can</a:t>
            </a:r>
            <a:r>
              <a:rPr sz="2280" spc="60" dirty="0">
                <a:latin typeface="Calibri"/>
                <a:cs typeface="Calibri"/>
              </a:rPr>
              <a:t> </a:t>
            </a:r>
            <a:r>
              <a:rPr sz="2280" dirty="0">
                <a:latin typeface="Calibri"/>
                <a:cs typeface="Calibri"/>
              </a:rPr>
              <a:t>be</a:t>
            </a:r>
            <a:r>
              <a:rPr sz="2280" spc="78" dirty="0">
                <a:latin typeface="Calibri"/>
                <a:cs typeface="Calibri"/>
              </a:rPr>
              <a:t> </a:t>
            </a:r>
            <a:r>
              <a:rPr sz="2280" dirty="0">
                <a:latin typeface="Calibri"/>
                <a:cs typeface="Calibri"/>
              </a:rPr>
              <a:t>applied</a:t>
            </a:r>
            <a:r>
              <a:rPr sz="2280" spc="66" dirty="0">
                <a:latin typeface="Calibri"/>
                <a:cs typeface="Calibri"/>
              </a:rPr>
              <a:t> </a:t>
            </a:r>
            <a:r>
              <a:rPr sz="2280" dirty="0">
                <a:latin typeface="Calibri"/>
                <a:cs typeface="Calibri"/>
              </a:rPr>
              <a:t>to</a:t>
            </a:r>
            <a:r>
              <a:rPr sz="2280" spc="72" dirty="0">
                <a:latin typeface="Calibri"/>
                <a:cs typeface="Calibri"/>
              </a:rPr>
              <a:t> </a:t>
            </a:r>
            <a:r>
              <a:rPr sz="2280" dirty="0">
                <a:latin typeface="Calibri"/>
                <a:cs typeface="Calibri"/>
              </a:rPr>
              <a:t>a</a:t>
            </a:r>
            <a:r>
              <a:rPr sz="2280" spc="72" dirty="0">
                <a:latin typeface="Calibri"/>
                <a:cs typeface="Calibri"/>
              </a:rPr>
              <a:t> </a:t>
            </a:r>
            <a:r>
              <a:rPr sz="2280" dirty="0">
                <a:latin typeface="Calibri"/>
                <a:cs typeface="Calibri"/>
              </a:rPr>
              <a:t>range</a:t>
            </a:r>
            <a:r>
              <a:rPr sz="2280" spc="78" dirty="0">
                <a:latin typeface="Calibri"/>
                <a:cs typeface="Calibri"/>
              </a:rPr>
              <a:t> </a:t>
            </a:r>
            <a:r>
              <a:rPr sz="2280" dirty="0">
                <a:latin typeface="Calibri"/>
                <a:cs typeface="Calibri"/>
              </a:rPr>
              <a:t>of</a:t>
            </a:r>
            <a:r>
              <a:rPr sz="2280" spc="72" dirty="0">
                <a:latin typeface="Calibri"/>
                <a:cs typeface="Calibri"/>
              </a:rPr>
              <a:t> </a:t>
            </a:r>
            <a:r>
              <a:rPr sz="2280" spc="-12" dirty="0">
                <a:latin typeface="Calibri"/>
                <a:cs typeface="Calibri"/>
              </a:rPr>
              <a:t>organizations</a:t>
            </a:r>
            <a:r>
              <a:rPr sz="2280" spc="72" dirty="0">
                <a:latin typeface="Calibri"/>
                <a:cs typeface="Calibri"/>
              </a:rPr>
              <a:t> </a:t>
            </a:r>
            <a:r>
              <a:rPr sz="2280" dirty="0">
                <a:latin typeface="Calibri"/>
                <a:cs typeface="Calibri"/>
              </a:rPr>
              <a:t>from</a:t>
            </a:r>
            <a:r>
              <a:rPr sz="2280" spc="66" dirty="0">
                <a:latin typeface="Calibri"/>
                <a:cs typeface="Calibri"/>
              </a:rPr>
              <a:t> </a:t>
            </a:r>
            <a:r>
              <a:rPr sz="2280" b="1" i="1" spc="-12" dirty="0">
                <a:solidFill>
                  <a:srgbClr val="006FC0"/>
                </a:solidFill>
                <a:latin typeface="Calibri"/>
                <a:cs typeface="Calibri"/>
              </a:rPr>
              <a:t>manufacturing</a:t>
            </a:r>
            <a:endParaRPr sz="2280" dirty="0">
              <a:latin typeface="Calibri"/>
              <a:cs typeface="Calibri"/>
            </a:endParaRPr>
          </a:p>
          <a:p>
            <a:pPr marL="426720" algn="just"/>
            <a:r>
              <a:rPr sz="2280" b="1" i="1" dirty="0">
                <a:solidFill>
                  <a:srgbClr val="006FC0"/>
                </a:solidFill>
                <a:latin typeface="Calibri"/>
                <a:cs typeface="Calibri"/>
              </a:rPr>
              <a:t>through</a:t>
            </a:r>
            <a:r>
              <a:rPr sz="2280" b="1" i="1" spc="-48" dirty="0">
                <a:solidFill>
                  <a:srgbClr val="006FC0"/>
                </a:solidFill>
                <a:latin typeface="Calibri"/>
                <a:cs typeface="Calibri"/>
              </a:rPr>
              <a:t> </a:t>
            </a:r>
            <a:r>
              <a:rPr sz="2280" b="1" i="1" dirty="0">
                <a:solidFill>
                  <a:srgbClr val="006FC0"/>
                </a:solidFill>
                <a:latin typeface="Calibri"/>
                <a:cs typeface="Calibri"/>
              </a:rPr>
              <a:t>to</a:t>
            </a:r>
            <a:r>
              <a:rPr sz="2280" b="1" i="1" spc="-72" dirty="0">
                <a:solidFill>
                  <a:srgbClr val="006FC0"/>
                </a:solidFill>
                <a:latin typeface="Calibri"/>
                <a:cs typeface="Calibri"/>
              </a:rPr>
              <a:t> </a:t>
            </a:r>
            <a:r>
              <a:rPr sz="2280" b="1" i="1" dirty="0">
                <a:solidFill>
                  <a:srgbClr val="006FC0"/>
                </a:solidFill>
                <a:latin typeface="Calibri"/>
                <a:cs typeface="Calibri"/>
              </a:rPr>
              <a:t>service</a:t>
            </a:r>
            <a:r>
              <a:rPr sz="2280" b="1" i="1" spc="-54" dirty="0">
                <a:solidFill>
                  <a:srgbClr val="006FC0"/>
                </a:solidFill>
                <a:latin typeface="Calibri"/>
                <a:cs typeface="Calibri"/>
              </a:rPr>
              <a:t> </a:t>
            </a:r>
            <a:r>
              <a:rPr sz="2280" b="1" i="1" spc="-12" dirty="0">
                <a:solidFill>
                  <a:srgbClr val="006FC0"/>
                </a:solidFill>
                <a:latin typeface="Calibri"/>
                <a:cs typeface="Calibri"/>
              </a:rPr>
              <a:t>industries</a:t>
            </a:r>
            <a:r>
              <a:rPr sz="2280" spc="-12" dirty="0">
                <a:latin typeface="Calibri"/>
                <a:cs typeface="Calibri"/>
              </a:rPr>
              <a:t>.</a:t>
            </a:r>
            <a:endParaRPr sz="2280" dirty="0">
              <a:latin typeface="Calibri"/>
              <a:cs typeface="Calibri"/>
            </a:endParaRPr>
          </a:p>
          <a:p>
            <a:pPr marL="423672" marR="6858" indent="-408432" algn="just">
              <a:spcBef>
                <a:spcPts val="551"/>
              </a:spcBef>
              <a:buFont typeface="Arial MT"/>
              <a:buChar char="•"/>
              <a:tabLst>
                <a:tab pos="426720" algn="l"/>
              </a:tabLst>
            </a:pPr>
            <a:r>
              <a:rPr sz="2280" b="1" dirty="0">
                <a:latin typeface="Calibri"/>
                <a:cs typeface="Calibri"/>
              </a:rPr>
              <a:t>ISO</a:t>
            </a:r>
            <a:r>
              <a:rPr sz="2280" b="1" spc="6" dirty="0">
                <a:latin typeface="Calibri"/>
                <a:cs typeface="Calibri"/>
              </a:rPr>
              <a:t> </a:t>
            </a:r>
            <a:r>
              <a:rPr sz="2280" b="1" dirty="0">
                <a:latin typeface="Calibri"/>
                <a:cs typeface="Calibri"/>
              </a:rPr>
              <a:t>9001</a:t>
            </a:r>
            <a:r>
              <a:rPr sz="2280" dirty="0">
                <a:latin typeface="Calibri"/>
                <a:cs typeface="Calibri"/>
              </a:rPr>
              <a:t>,</a:t>
            </a:r>
            <a:r>
              <a:rPr sz="2280" spc="-12" dirty="0">
                <a:latin typeface="Calibri"/>
                <a:cs typeface="Calibri"/>
              </a:rPr>
              <a:t> </a:t>
            </a:r>
            <a:r>
              <a:rPr sz="2280" dirty="0">
                <a:latin typeface="Calibri"/>
                <a:cs typeface="Calibri"/>
              </a:rPr>
              <a:t>the most</a:t>
            </a:r>
            <a:r>
              <a:rPr sz="2280" spc="-6" dirty="0">
                <a:latin typeface="Calibri"/>
                <a:cs typeface="Calibri"/>
              </a:rPr>
              <a:t> </a:t>
            </a:r>
            <a:r>
              <a:rPr sz="2280" dirty="0">
                <a:latin typeface="Calibri"/>
                <a:cs typeface="Calibri"/>
              </a:rPr>
              <a:t>general</a:t>
            </a:r>
            <a:r>
              <a:rPr sz="2280" spc="6" dirty="0">
                <a:latin typeface="Calibri"/>
                <a:cs typeface="Calibri"/>
              </a:rPr>
              <a:t> </a:t>
            </a:r>
            <a:r>
              <a:rPr sz="2280" dirty="0">
                <a:latin typeface="Calibri"/>
                <a:cs typeface="Calibri"/>
              </a:rPr>
              <a:t>of</a:t>
            </a:r>
            <a:r>
              <a:rPr sz="2280" spc="-12" dirty="0">
                <a:latin typeface="Calibri"/>
                <a:cs typeface="Calibri"/>
              </a:rPr>
              <a:t> </a:t>
            </a:r>
            <a:r>
              <a:rPr sz="2280" dirty="0">
                <a:latin typeface="Calibri"/>
                <a:cs typeface="Calibri"/>
              </a:rPr>
              <a:t>these</a:t>
            </a:r>
            <a:r>
              <a:rPr sz="2280" spc="-6" dirty="0">
                <a:latin typeface="Calibri"/>
                <a:cs typeface="Calibri"/>
              </a:rPr>
              <a:t> </a:t>
            </a:r>
            <a:r>
              <a:rPr sz="2280" dirty="0">
                <a:latin typeface="Calibri"/>
                <a:cs typeface="Calibri"/>
              </a:rPr>
              <a:t>standards, applies to</a:t>
            </a:r>
            <a:r>
              <a:rPr sz="2280" spc="-6" dirty="0">
                <a:latin typeface="Calibri"/>
                <a:cs typeface="Calibri"/>
              </a:rPr>
              <a:t> </a:t>
            </a:r>
            <a:r>
              <a:rPr sz="2280" spc="-12" dirty="0">
                <a:latin typeface="Calibri"/>
                <a:cs typeface="Calibri"/>
              </a:rPr>
              <a:t>organizations</a:t>
            </a:r>
            <a:r>
              <a:rPr sz="2280" dirty="0">
                <a:latin typeface="Calibri"/>
                <a:cs typeface="Calibri"/>
              </a:rPr>
              <a:t> that</a:t>
            </a:r>
            <a:r>
              <a:rPr sz="2280" spc="-30" dirty="0">
                <a:latin typeface="Calibri"/>
                <a:cs typeface="Calibri"/>
              </a:rPr>
              <a:t> </a:t>
            </a:r>
            <a:r>
              <a:rPr sz="2280" b="1" i="1" spc="-12" dirty="0">
                <a:solidFill>
                  <a:srgbClr val="006FC0"/>
                </a:solidFill>
                <a:latin typeface="Calibri"/>
                <a:cs typeface="Calibri"/>
              </a:rPr>
              <a:t>design</a:t>
            </a:r>
            <a:r>
              <a:rPr sz="2280" spc="-12" dirty="0">
                <a:latin typeface="Calibri"/>
                <a:cs typeface="Calibri"/>
              </a:rPr>
              <a:t>, 	</a:t>
            </a:r>
            <a:r>
              <a:rPr sz="2280" b="1" i="1" dirty="0">
                <a:solidFill>
                  <a:srgbClr val="006FC0"/>
                </a:solidFill>
                <a:latin typeface="Calibri"/>
                <a:cs typeface="Calibri"/>
              </a:rPr>
              <a:t>develop</a:t>
            </a:r>
            <a:r>
              <a:rPr sz="2280" dirty="0">
                <a:latin typeface="Calibri"/>
                <a:cs typeface="Calibri"/>
              </a:rPr>
              <a:t>,</a:t>
            </a:r>
            <a:r>
              <a:rPr sz="2280" spc="-102" dirty="0">
                <a:latin typeface="Calibri"/>
                <a:cs typeface="Calibri"/>
              </a:rPr>
              <a:t> </a:t>
            </a:r>
            <a:r>
              <a:rPr sz="2280" dirty="0">
                <a:latin typeface="Calibri"/>
                <a:cs typeface="Calibri"/>
              </a:rPr>
              <a:t>and</a:t>
            </a:r>
            <a:r>
              <a:rPr sz="2280" spc="-78" dirty="0">
                <a:latin typeface="Calibri"/>
                <a:cs typeface="Calibri"/>
              </a:rPr>
              <a:t> </a:t>
            </a:r>
            <a:r>
              <a:rPr sz="2280" b="1" i="1" dirty="0">
                <a:solidFill>
                  <a:srgbClr val="006FC0"/>
                </a:solidFill>
                <a:latin typeface="Calibri"/>
                <a:cs typeface="Calibri"/>
              </a:rPr>
              <a:t>maintain</a:t>
            </a:r>
            <a:r>
              <a:rPr sz="2280" b="1" i="1" spc="-102" dirty="0">
                <a:solidFill>
                  <a:srgbClr val="006FC0"/>
                </a:solidFill>
                <a:latin typeface="Calibri"/>
                <a:cs typeface="Calibri"/>
              </a:rPr>
              <a:t> </a:t>
            </a:r>
            <a:r>
              <a:rPr sz="2280" b="1" i="1" dirty="0">
                <a:solidFill>
                  <a:srgbClr val="006FC0"/>
                </a:solidFill>
                <a:latin typeface="Calibri"/>
                <a:cs typeface="Calibri"/>
              </a:rPr>
              <a:t>products</a:t>
            </a:r>
            <a:r>
              <a:rPr sz="2280" dirty="0">
                <a:latin typeface="Calibri"/>
                <a:cs typeface="Calibri"/>
              </a:rPr>
              <a:t>,</a:t>
            </a:r>
            <a:r>
              <a:rPr sz="2280" spc="-60" dirty="0">
                <a:latin typeface="Calibri"/>
                <a:cs typeface="Calibri"/>
              </a:rPr>
              <a:t> </a:t>
            </a:r>
            <a:r>
              <a:rPr sz="2280" dirty="0">
                <a:latin typeface="Calibri"/>
                <a:cs typeface="Calibri"/>
              </a:rPr>
              <a:t>including</a:t>
            </a:r>
            <a:r>
              <a:rPr sz="2280" spc="-72" dirty="0">
                <a:latin typeface="Calibri"/>
                <a:cs typeface="Calibri"/>
              </a:rPr>
              <a:t> </a:t>
            </a:r>
            <a:r>
              <a:rPr sz="2280" spc="-12" dirty="0">
                <a:latin typeface="Calibri"/>
                <a:cs typeface="Calibri"/>
              </a:rPr>
              <a:t>software.</a:t>
            </a:r>
            <a:endParaRPr sz="2280" dirty="0">
              <a:latin typeface="Calibri"/>
              <a:cs typeface="Calibri"/>
            </a:endParaRPr>
          </a:p>
          <a:p>
            <a:pPr marL="423672" indent="-408432" algn="just">
              <a:spcBef>
                <a:spcPts val="546"/>
              </a:spcBef>
              <a:buFont typeface="Arial MT"/>
              <a:buChar char="•"/>
              <a:tabLst>
                <a:tab pos="423672" algn="l"/>
              </a:tabLst>
            </a:pPr>
            <a:r>
              <a:rPr sz="2280" dirty="0">
                <a:latin typeface="Calibri"/>
                <a:cs typeface="Calibri"/>
              </a:rPr>
              <a:t>The</a:t>
            </a:r>
            <a:r>
              <a:rPr sz="2280" spc="-66" dirty="0">
                <a:latin typeface="Calibri"/>
                <a:cs typeface="Calibri"/>
              </a:rPr>
              <a:t> </a:t>
            </a:r>
            <a:r>
              <a:rPr sz="2280" dirty="0">
                <a:latin typeface="Calibri"/>
                <a:cs typeface="Calibri"/>
              </a:rPr>
              <a:t>ISO</a:t>
            </a:r>
            <a:r>
              <a:rPr sz="2280" spc="-78" dirty="0">
                <a:latin typeface="Calibri"/>
                <a:cs typeface="Calibri"/>
              </a:rPr>
              <a:t> </a:t>
            </a:r>
            <a:r>
              <a:rPr sz="2280" dirty="0">
                <a:latin typeface="Calibri"/>
                <a:cs typeface="Calibri"/>
              </a:rPr>
              <a:t>9001</a:t>
            </a:r>
            <a:r>
              <a:rPr sz="2280" spc="-72" dirty="0">
                <a:latin typeface="Calibri"/>
                <a:cs typeface="Calibri"/>
              </a:rPr>
              <a:t> </a:t>
            </a:r>
            <a:r>
              <a:rPr sz="2280" spc="-12" dirty="0">
                <a:latin typeface="Calibri"/>
                <a:cs typeface="Calibri"/>
              </a:rPr>
              <a:t>standard</a:t>
            </a:r>
            <a:r>
              <a:rPr sz="2280" spc="-54" dirty="0">
                <a:latin typeface="Calibri"/>
                <a:cs typeface="Calibri"/>
              </a:rPr>
              <a:t> </a:t>
            </a:r>
            <a:r>
              <a:rPr sz="2280" dirty="0">
                <a:latin typeface="Calibri"/>
                <a:cs typeface="Calibri"/>
              </a:rPr>
              <a:t>was</a:t>
            </a:r>
            <a:r>
              <a:rPr sz="2280" spc="-78" dirty="0">
                <a:latin typeface="Calibri"/>
                <a:cs typeface="Calibri"/>
              </a:rPr>
              <a:t> </a:t>
            </a:r>
            <a:r>
              <a:rPr sz="2280" dirty="0">
                <a:latin typeface="Calibri"/>
                <a:cs typeface="Calibri"/>
              </a:rPr>
              <a:t>originally</a:t>
            </a:r>
            <a:r>
              <a:rPr sz="2280" spc="-24" dirty="0">
                <a:latin typeface="Calibri"/>
                <a:cs typeface="Calibri"/>
              </a:rPr>
              <a:t> </a:t>
            </a:r>
            <a:r>
              <a:rPr sz="2280" dirty="0">
                <a:latin typeface="Calibri"/>
                <a:cs typeface="Calibri"/>
              </a:rPr>
              <a:t>developed</a:t>
            </a:r>
            <a:r>
              <a:rPr sz="2280" spc="-24" dirty="0">
                <a:latin typeface="Calibri"/>
                <a:cs typeface="Calibri"/>
              </a:rPr>
              <a:t> </a:t>
            </a:r>
            <a:r>
              <a:rPr sz="2280" dirty="0">
                <a:latin typeface="Calibri"/>
                <a:cs typeface="Calibri"/>
              </a:rPr>
              <a:t>in</a:t>
            </a:r>
            <a:r>
              <a:rPr sz="2280" spc="-72" dirty="0">
                <a:latin typeface="Calibri"/>
                <a:cs typeface="Calibri"/>
              </a:rPr>
              <a:t> </a:t>
            </a:r>
            <a:r>
              <a:rPr sz="2280" spc="-24" dirty="0">
                <a:latin typeface="Calibri"/>
                <a:cs typeface="Calibri"/>
              </a:rPr>
              <a:t>1987</a:t>
            </a:r>
            <a:endParaRPr sz="2280" dirty="0">
              <a:latin typeface="Calibri"/>
              <a:cs typeface="Calibri"/>
            </a:endParaRPr>
          </a:p>
        </p:txBody>
      </p:sp>
    </p:spTree>
    <p:extLst>
      <p:ext uri="{BB962C8B-B14F-4D97-AF65-F5344CB8AC3E}">
        <p14:creationId xmlns:p14="http://schemas.microsoft.com/office/powerpoint/2010/main" val="17764806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84445" y="558624"/>
            <a:ext cx="9008286" cy="5944212"/>
          </a:xfrm>
          <a:prstGeom prst="rect">
            <a:avLst/>
          </a:prstGeom>
        </p:spPr>
      </p:pic>
    </p:spTree>
    <p:extLst>
      <p:ext uri="{BB962C8B-B14F-4D97-AF65-F5344CB8AC3E}">
        <p14:creationId xmlns:p14="http://schemas.microsoft.com/office/powerpoint/2010/main" val="35948658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9520" y="80254"/>
            <a:ext cx="10370820" cy="716350"/>
          </a:xfrm>
          <a:prstGeom prst="rect">
            <a:avLst/>
          </a:prstGeom>
        </p:spPr>
        <p:txBody>
          <a:bodyPr vert="horz" wrap="square" lIns="0" tIns="14478" rIns="0" bIns="0" rtlCol="0">
            <a:spAutoFit/>
          </a:bodyPr>
          <a:lstStyle/>
          <a:p>
            <a:pPr marL="425958" indent="-410718">
              <a:spcBef>
                <a:spcPts val="114"/>
              </a:spcBef>
              <a:buFont typeface="Arial MT"/>
              <a:buChar char="•"/>
              <a:tabLst>
                <a:tab pos="425958" algn="l"/>
              </a:tabLst>
            </a:pPr>
            <a:r>
              <a:rPr sz="2280" dirty="0">
                <a:latin typeface="Calibri"/>
                <a:cs typeface="Calibri"/>
              </a:rPr>
              <a:t>A</a:t>
            </a:r>
            <a:r>
              <a:rPr sz="2280" spc="114" dirty="0">
                <a:latin typeface="Calibri"/>
                <a:cs typeface="Calibri"/>
              </a:rPr>
              <a:t> </a:t>
            </a:r>
            <a:r>
              <a:rPr sz="2280" dirty="0">
                <a:latin typeface="Calibri"/>
                <a:cs typeface="Calibri"/>
              </a:rPr>
              <a:t>major</a:t>
            </a:r>
            <a:r>
              <a:rPr sz="2280" spc="120" dirty="0">
                <a:latin typeface="Calibri"/>
                <a:cs typeface="Calibri"/>
              </a:rPr>
              <a:t> </a:t>
            </a:r>
            <a:r>
              <a:rPr sz="2280" dirty="0">
                <a:latin typeface="Calibri"/>
                <a:cs typeface="Calibri"/>
              </a:rPr>
              <a:t>revision</a:t>
            </a:r>
            <a:r>
              <a:rPr sz="2280" spc="126" dirty="0">
                <a:latin typeface="Calibri"/>
                <a:cs typeface="Calibri"/>
              </a:rPr>
              <a:t> </a:t>
            </a:r>
            <a:r>
              <a:rPr sz="2280" dirty="0">
                <a:latin typeface="Calibri"/>
                <a:cs typeface="Calibri"/>
              </a:rPr>
              <a:t>of</a:t>
            </a:r>
            <a:r>
              <a:rPr sz="2280" spc="120" dirty="0">
                <a:latin typeface="Calibri"/>
                <a:cs typeface="Calibri"/>
              </a:rPr>
              <a:t> </a:t>
            </a:r>
            <a:r>
              <a:rPr sz="2280" dirty="0">
                <a:latin typeface="Calibri"/>
                <a:cs typeface="Calibri"/>
              </a:rPr>
              <a:t>the</a:t>
            </a:r>
            <a:r>
              <a:rPr sz="2280" spc="126" dirty="0">
                <a:latin typeface="Calibri"/>
                <a:cs typeface="Calibri"/>
              </a:rPr>
              <a:t> </a:t>
            </a:r>
            <a:r>
              <a:rPr sz="2280" dirty="0">
                <a:latin typeface="Calibri"/>
                <a:cs typeface="Calibri"/>
              </a:rPr>
              <a:t>ISO</a:t>
            </a:r>
            <a:r>
              <a:rPr sz="2280" spc="132" dirty="0">
                <a:latin typeface="Calibri"/>
                <a:cs typeface="Calibri"/>
              </a:rPr>
              <a:t> </a:t>
            </a:r>
            <a:r>
              <a:rPr sz="2280" dirty="0">
                <a:latin typeface="Calibri"/>
                <a:cs typeface="Calibri"/>
              </a:rPr>
              <a:t>9001</a:t>
            </a:r>
            <a:r>
              <a:rPr sz="2280" spc="126" dirty="0">
                <a:latin typeface="Calibri"/>
                <a:cs typeface="Calibri"/>
              </a:rPr>
              <a:t> </a:t>
            </a:r>
            <a:r>
              <a:rPr sz="2280" dirty="0">
                <a:latin typeface="Calibri"/>
                <a:cs typeface="Calibri"/>
              </a:rPr>
              <a:t>standard</a:t>
            </a:r>
            <a:r>
              <a:rPr sz="2280" spc="132" dirty="0">
                <a:latin typeface="Calibri"/>
                <a:cs typeface="Calibri"/>
              </a:rPr>
              <a:t> </a:t>
            </a:r>
            <a:r>
              <a:rPr sz="2280" dirty="0">
                <a:latin typeface="Calibri"/>
                <a:cs typeface="Calibri"/>
              </a:rPr>
              <a:t>in</a:t>
            </a:r>
            <a:r>
              <a:rPr sz="2280" spc="144" dirty="0">
                <a:latin typeface="Calibri"/>
                <a:cs typeface="Calibri"/>
              </a:rPr>
              <a:t> </a:t>
            </a:r>
            <a:r>
              <a:rPr sz="2280" dirty="0">
                <a:latin typeface="Calibri"/>
                <a:cs typeface="Calibri"/>
              </a:rPr>
              <a:t>2000</a:t>
            </a:r>
            <a:r>
              <a:rPr sz="2280" spc="120" dirty="0">
                <a:latin typeface="Calibri"/>
                <a:cs typeface="Calibri"/>
              </a:rPr>
              <a:t> </a:t>
            </a:r>
            <a:r>
              <a:rPr sz="2280" dirty="0">
                <a:latin typeface="Calibri"/>
                <a:cs typeface="Calibri"/>
              </a:rPr>
              <a:t>reoriented</a:t>
            </a:r>
            <a:r>
              <a:rPr sz="2280" spc="132" dirty="0">
                <a:latin typeface="Calibri"/>
                <a:cs typeface="Calibri"/>
              </a:rPr>
              <a:t> </a:t>
            </a:r>
            <a:r>
              <a:rPr sz="2280" dirty="0">
                <a:latin typeface="Calibri"/>
                <a:cs typeface="Calibri"/>
              </a:rPr>
              <a:t>the</a:t>
            </a:r>
            <a:r>
              <a:rPr sz="2280" spc="126" dirty="0">
                <a:latin typeface="Calibri"/>
                <a:cs typeface="Calibri"/>
              </a:rPr>
              <a:t> </a:t>
            </a:r>
            <a:r>
              <a:rPr sz="2280" dirty="0">
                <a:latin typeface="Calibri"/>
                <a:cs typeface="Calibri"/>
              </a:rPr>
              <a:t>standard</a:t>
            </a:r>
            <a:r>
              <a:rPr sz="2280" spc="132" dirty="0">
                <a:latin typeface="Calibri"/>
                <a:cs typeface="Calibri"/>
              </a:rPr>
              <a:t> </a:t>
            </a:r>
            <a:r>
              <a:rPr sz="2280" spc="-12" dirty="0">
                <a:latin typeface="Calibri"/>
                <a:cs typeface="Calibri"/>
              </a:rPr>
              <a:t>around</a:t>
            </a:r>
            <a:endParaRPr sz="2280">
              <a:latin typeface="Calibri"/>
              <a:cs typeface="Calibri"/>
            </a:endParaRPr>
          </a:p>
          <a:p>
            <a:pPr marL="426720"/>
            <a:r>
              <a:rPr sz="2280" dirty="0">
                <a:latin typeface="Calibri"/>
                <a:cs typeface="Calibri"/>
              </a:rPr>
              <a:t>nine</a:t>
            </a:r>
            <a:r>
              <a:rPr sz="2280" spc="-48" dirty="0">
                <a:latin typeface="Calibri"/>
                <a:cs typeface="Calibri"/>
              </a:rPr>
              <a:t> </a:t>
            </a:r>
            <a:r>
              <a:rPr sz="2280" dirty="0">
                <a:latin typeface="Calibri"/>
                <a:cs typeface="Calibri"/>
              </a:rPr>
              <a:t>core</a:t>
            </a:r>
            <a:r>
              <a:rPr sz="2280" spc="-66" dirty="0">
                <a:latin typeface="Calibri"/>
                <a:cs typeface="Calibri"/>
              </a:rPr>
              <a:t> </a:t>
            </a:r>
            <a:r>
              <a:rPr sz="2280" spc="-12" dirty="0">
                <a:latin typeface="Calibri"/>
                <a:cs typeface="Calibri"/>
              </a:rPr>
              <a:t>processes</a:t>
            </a:r>
            <a:endParaRPr sz="2280">
              <a:latin typeface="Calibri"/>
              <a:cs typeface="Calibri"/>
            </a:endParaRPr>
          </a:p>
        </p:txBody>
      </p:sp>
      <p:grpSp>
        <p:nvGrpSpPr>
          <p:cNvPr id="3" name="object 3"/>
          <p:cNvGrpSpPr/>
          <p:nvPr/>
        </p:nvGrpSpPr>
        <p:grpSpPr>
          <a:xfrm>
            <a:off x="2620594" y="825322"/>
            <a:ext cx="6943344" cy="3729228"/>
            <a:chOff x="1675828" y="687768"/>
            <a:chExt cx="5786120" cy="3107690"/>
          </a:xfrm>
        </p:grpSpPr>
        <p:pic>
          <p:nvPicPr>
            <p:cNvPr id="4" name="object 4"/>
            <p:cNvPicPr/>
            <p:nvPr/>
          </p:nvPicPr>
          <p:blipFill>
            <a:blip r:embed="rId2" cstate="print"/>
            <a:stretch>
              <a:fillRect/>
            </a:stretch>
          </p:blipFill>
          <p:spPr>
            <a:xfrm>
              <a:off x="1746767" y="809838"/>
              <a:ext cx="5613566" cy="2914296"/>
            </a:xfrm>
            <a:prstGeom prst="rect">
              <a:avLst/>
            </a:prstGeom>
          </p:spPr>
        </p:pic>
        <p:sp>
          <p:nvSpPr>
            <p:cNvPr id="5" name="object 5"/>
            <p:cNvSpPr/>
            <p:nvPr/>
          </p:nvSpPr>
          <p:spPr>
            <a:xfrm>
              <a:off x="1680591" y="692530"/>
              <a:ext cx="5776595" cy="3098165"/>
            </a:xfrm>
            <a:custGeom>
              <a:avLst/>
              <a:gdLst/>
              <a:ahLst/>
              <a:cxnLst/>
              <a:rect l="l" t="t" r="r" b="b"/>
              <a:pathLst>
                <a:path w="5776595" h="3098165">
                  <a:moveTo>
                    <a:pt x="0" y="3097657"/>
                  </a:moveTo>
                  <a:lnTo>
                    <a:pt x="5776467" y="3097657"/>
                  </a:lnTo>
                  <a:lnTo>
                    <a:pt x="5776467" y="0"/>
                  </a:lnTo>
                  <a:lnTo>
                    <a:pt x="0" y="0"/>
                  </a:lnTo>
                  <a:lnTo>
                    <a:pt x="0" y="3097657"/>
                  </a:lnTo>
                  <a:close/>
                </a:path>
              </a:pathLst>
            </a:custGeom>
            <a:ln w="9525">
              <a:solidFill>
                <a:srgbClr val="000000"/>
              </a:solidFill>
            </a:ln>
          </p:spPr>
          <p:txBody>
            <a:bodyPr wrap="square" lIns="0" tIns="0" rIns="0" bIns="0" rtlCol="0"/>
            <a:lstStyle/>
            <a:p>
              <a:endParaRPr sz="2160"/>
            </a:p>
          </p:txBody>
        </p:sp>
      </p:grpSp>
      <p:sp>
        <p:nvSpPr>
          <p:cNvPr id="6" name="object 6"/>
          <p:cNvSpPr txBox="1"/>
          <p:nvPr/>
        </p:nvSpPr>
        <p:spPr>
          <a:xfrm>
            <a:off x="919520" y="4661305"/>
            <a:ext cx="10443972" cy="2009781"/>
          </a:xfrm>
          <a:prstGeom prst="rect">
            <a:avLst/>
          </a:prstGeom>
        </p:spPr>
        <p:txBody>
          <a:bodyPr vert="horz" wrap="square" lIns="0" tIns="15240" rIns="0" bIns="0" rtlCol="0">
            <a:spAutoFit/>
          </a:bodyPr>
          <a:lstStyle/>
          <a:p>
            <a:pPr marL="358902" indent="-343662">
              <a:spcBef>
                <a:spcPts val="120"/>
              </a:spcBef>
              <a:buFont typeface="Arial MT"/>
              <a:buChar char="•"/>
              <a:tabLst>
                <a:tab pos="358902" algn="l"/>
              </a:tabLst>
            </a:pPr>
            <a:r>
              <a:rPr sz="2160" dirty="0">
                <a:latin typeface="Calibri"/>
                <a:cs typeface="Calibri"/>
              </a:rPr>
              <a:t>If</a:t>
            </a:r>
            <a:r>
              <a:rPr sz="2160" spc="342" dirty="0">
                <a:latin typeface="Calibri"/>
                <a:cs typeface="Calibri"/>
              </a:rPr>
              <a:t> </a:t>
            </a:r>
            <a:r>
              <a:rPr sz="2160" dirty="0">
                <a:latin typeface="Calibri"/>
                <a:cs typeface="Calibri"/>
              </a:rPr>
              <a:t>an</a:t>
            </a:r>
            <a:r>
              <a:rPr sz="2160" spc="348" dirty="0">
                <a:latin typeface="Calibri"/>
                <a:cs typeface="Calibri"/>
              </a:rPr>
              <a:t> </a:t>
            </a:r>
            <a:r>
              <a:rPr sz="2160" dirty="0">
                <a:latin typeface="Calibri"/>
                <a:cs typeface="Calibri"/>
              </a:rPr>
              <a:t>organization</a:t>
            </a:r>
            <a:r>
              <a:rPr sz="2160" spc="348" dirty="0">
                <a:latin typeface="Calibri"/>
                <a:cs typeface="Calibri"/>
              </a:rPr>
              <a:t> </a:t>
            </a:r>
            <a:r>
              <a:rPr sz="2160" dirty="0">
                <a:latin typeface="Calibri"/>
                <a:cs typeface="Calibri"/>
              </a:rPr>
              <a:t>is</a:t>
            </a:r>
            <a:r>
              <a:rPr sz="2160" spc="366" dirty="0">
                <a:latin typeface="Calibri"/>
                <a:cs typeface="Calibri"/>
              </a:rPr>
              <a:t> </a:t>
            </a:r>
            <a:r>
              <a:rPr sz="2160" dirty="0">
                <a:latin typeface="Calibri"/>
                <a:cs typeface="Calibri"/>
              </a:rPr>
              <a:t>to</a:t>
            </a:r>
            <a:r>
              <a:rPr sz="2160" spc="342" dirty="0">
                <a:latin typeface="Calibri"/>
                <a:cs typeface="Calibri"/>
              </a:rPr>
              <a:t> </a:t>
            </a:r>
            <a:r>
              <a:rPr sz="2160" dirty="0">
                <a:latin typeface="Calibri"/>
                <a:cs typeface="Calibri"/>
              </a:rPr>
              <a:t>be</a:t>
            </a:r>
            <a:r>
              <a:rPr sz="2160" spc="360" dirty="0">
                <a:latin typeface="Calibri"/>
                <a:cs typeface="Calibri"/>
              </a:rPr>
              <a:t> </a:t>
            </a:r>
            <a:r>
              <a:rPr sz="2160" dirty="0">
                <a:latin typeface="Calibri"/>
                <a:cs typeface="Calibri"/>
              </a:rPr>
              <a:t>ISO</a:t>
            </a:r>
            <a:r>
              <a:rPr sz="2160" spc="336" dirty="0">
                <a:latin typeface="Calibri"/>
                <a:cs typeface="Calibri"/>
              </a:rPr>
              <a:t> </a:t>
            </a:r>
            <a:r>
              <a:rPr sz="2160" dirty="0">
                <a:latin typeface="Calibri"/>
                <a:cs typeface="Calibri"/>
              </a:rPr>
              <a:t>9001</a:t>
            </a:r>
            <a:r>
              <a:rPr sz="2160" spc="354" dirty="0">
                <a:latin typeface="Calibri"/>
                <a:cs typeface="Calibri"/>
              </a:rPr>
              <a:t> </a:t>
            </a:r>
            <a:r>
              <a:rPr sz="2160" dirty="0">
                <a:latin typeface="Calibri"/>
                <a:cs typeface="Calibri"/>
              </a:rPr>
              <a:t>conformant,</a:t>
            </a:r>
            <a:r>
              <a:rPr sz="2160" spc="336" dirty="0">
                <a:latin typeface="Calibri"/>
                <a:cs typeface="Calibri"/>
              </a:rPr>
              <a:t> </a:t>
            </a:r>
            <a:r>
              <a:rPr sz="2160" dirty="0">
                <a:latin typeface="Calibri"/>
                <a:cs typeface="Calibri"/>
              </a:rPr>
              <a:t>it</a:t>
            </a:r>
            <a:r>
              <a:rPr sz="2160" spc="354" dirty="0">
                <a:latin typeface="Calibri"/>
                <a:cs typeface="Calibri"/>
              </a:rPr>
              <a:t> </a:t>
            </a:r>
            <a:r>
              <a:rPr sz="2160" dirty="0">
                <a:latin typeface="Calibri"/>
                <a:cs typeface="Calibri"/>
              </a:rPr>
              <a:t>must</a:t>
            </a:r>
            <a:r>
              <a:rPr sz="2160" spc="348" dirty="0">
                <a:latin typeface="Calibri"/>
                <a:cs typeface="Calibri"/>
              </a:rPr>
              <a:t> </a:t>
            </a:r>
            <a:r>
              <a:rPr sz="2160" dirty="0">
                <a:latin typeface="Calibri"/>
                <a:cs typeface="Calibri"/>
              </a:rPr>
              <a:t>document</a:t>
            </a:r>
            <a:r>
              <a:rPr sz="2160" spc="342" dirty="0">
                <a:latin typeface="Calibri"/>
                <a:cs typeface="Calibri"/>
              </a:rPr>
              <a:t> </a:t>
            </a:r>
            <a:r>
              <a:rPr sz="2160" dirty="0">
                <a:latin typeface="Calibri"/>
                <a:cs typeface="Calibri"/>
              </a:rPr>
              <a:t>how</a:t>
            </a:r>
            <a:r>
              <a:rPr sz="2160" spc="354" dirty="0">
                <a:latin typeface="Calibri"/>
                <a:cs typeface="Calibri"/>
              </a:rPr>
              <a:t> </a:t>
            </a:r>
            <a:r>
              <a:rPr sz="2160" dirty="0">
                <a:latin typeface="Calibri"/>
                <a:cs typeface="Calibri"/>
              </a:rPr>
              <a:t>its</a:t>
            </a:r>
            <a:r>
              <a:rPr sz="2160" spc="360" dirty="0">
                <a:latin typeface="Calibri"/>
                <a:cs typeface="Calibri"/>
              </a:rPr>
              <a:t> </a:t>
            </a:r>
            <a:r>
              <a:rPr sz="2160" spc="-12" dirty="0">
                <a:latin typeface="Calibri"/>
                <a:cs typeface="Calibri"/>
              </a:rPr>
              <a:t>processes</a:t>
            </a:r>
            <a:endParaRPr sz="2160">
              <a:latin typeface="Calibri"/>
              <a:cs typeface="Calibri"/>
            </a:endParaRPr>
          </a:p>
          <a:p>
            <a:pPr marL="358902"/>
            <a:r>
              <a:rPr sz="2160" dirty="0">
                <a:latin typeface="Calibri"/>
                <a:cs typeface="Calibri"/>
              </a:rPr>
              <a:t>relate</a:t>
            </a:r>
            <a:r>
              <a:rPr sz="2160" spc="-54" dirty="0">
                <a:latin typeface="Calibri"/>
                <a:cs typeface="Calibri"/>
              </a:rPr>
              <a:t> </a:t>
            </a:r>
            <a:r>
              <a:rPr sz="2160" dirty="0">
                <a:latin typeface="Calibri"/>
                <a:cs typeface="Calibri"/>
              </a:rPr>
              <a:t>to</a:t>
            </a:r>
            <a:r>
              <a:rPr sz="2160" spc="-72" dirty="0">
                <a:latin typeface="Calibri"/>
                <a:cs typeface="Calibri"/>
              </a:rPr>
              <a:t> </a:t>
            </a:r>
            <a:r>
              <a:rPr sz="2160" dirty="0">
                <a:latin typeface="Calibri"/>
                <a:cs typeface="Calibri"/>
              </a:rPr>
              <a:t>these</a:t>
            </a:r>
            <a:r>
              <a:rPr sz="2160" spc="-72" dirty="0">
                <a:latin typeface="Calibri"/>
                <a:cs typeface="Calibri"/>
              </a:rPr>
              <a:t> </a:t>
            </a:r>
            <a:r>
              <a:rPr sz="2160" dirty="0">
                <a:latin typeface="Calibri"/>
                <a:cs typeface="Calibri"/>
              </a:rPr>
              <a:t>core</a:t>
            </a:r>
            <a:r>
              <a:rPr sz="2160" spc="-60" dirty="0">
                <a:latin typeface="Calibri"/>
                <a:cs typeface="Calibri"/>
              </a:rPr>
              <a:t> </a:t>
            </a:r>
            <a:r>
              <a:rPr sz="2160" spc="-12" dirty="0">
                <a:latin typeface="Calibri"/>
                <a:cs typeface="Calibri"/>
              </a:rPr>
              <a:t>processes.</a:t>
            </a:r>
            <a:endParaRPr sz="2160">
              <a:latin typeface="Calibri"/>
              <a:cs typeface="Calibri"/>
            </a:endParaRPr>
          </a:p>
          <a:p>
            <a:pPr marL="358902" marR="8382" indent="-344424">
              <a:buFont typeface="Arial MT"/>
              <a:buChar char="•"/>
              <a:tabLst>
                <a:tab pos="358902" algn="l"/>
              </a:tabLst>
            </a:pPr>
            <a:r>
              <a:rPr sz="2160" dirty="0">
                <a:latin typeface="Calibri"/>
                <a:cs typeface="Calibri"/>
              </a:rPr>
              <a:t>It</a:t>
            </a:r>
            <a:r>
              <a:rPr sz="2160" spc="192" dirty="0">
                <a:latin typeface="Calibri"/>
                <a:cs typeface="Calibri"/>
              </a:rPr>
              <a:t> </a:t>
            </a:r>
            <a:r>
              <a:rPr sz="2160" dirty="0">
                <a:latin typeface="Calibri"/>
                <a:cs typeface="Calibri"/>
              </a:rPr>
              <a:t>must</a:t>
            </a:r>
            <a:r>
              <a:rPr sz="2160" spc="204" dirty="0">
                <a:latin typeface="Calibri"/>
                <a:cs typeface="Calibri"/>
              </a:rPr>
              <a:t> </a:t>
            </a:r>
            <a:r>
              <a:rPr sz="2160" dirty="0">
                <a:latin typeface="Calibri"/>
                <a:cs typeface="Calibri"/>
              </a:rPr>
              <a:t>also</a:t>
            </a:r>
            <a:r>
              <a:rPr sz="2160" spc="204" dirty="0">
                <a:latin typeface="Calibri"/>
                <a:cs typeface="Calibri"/>
              </a:rPr>
              <a:t> </a:t>
            </a:r>
            <a:r>
              <a:rPr sz="2160" dirty="0">
                <a:latin typeface="Calibri"/>
                <a:cs typeface="Calibri"/>
              </a:rPr>
              <a:t>define</a:t>
            </a:r>
            <a:r>
              <a:rPr sz="2160" spc="210" dirty="0">
                <a:latin typeface="Calibri"/>
                <a:cs typeface="Calibri"/>
              </a:rPr>
              <a:t> </a:t>
            </a:r>
            <a:r>
              <a:rPr sz="2160" dirty="0">
                <a:latin typeface="Calibri"/>
                <a:cs typeface="Calibri"/>
              </a:rPr>
              <a:t>and</a:t>
            </a:r>
            <a:r>
              <a:rPr sz="2160" spc="216" dirty="0">
                <a:latin typeface="Calibri"/>
                <a:cs typeface="Calibri"/>
              </a:rPr>
              <a:t> </a:t>
            </a:r>
            <a:r>
              <a:rPr sz="2160" dirty="0">
                <a:latin typeface="Calibri"/>
                <a:cs typeface="Calibri"/>
              </a:rPr>
              <a:t>maintain</a:t>
            </a:r>
            <a:r>
              <a:rPr sz="2160" spc="210" dirty="0">
                <a:latin typeface="Calibri"/>
                <a:cs typeface="Calibri"/>
              </a:rPr>
              <a:t> </a:t>
            </a:r>
            <a:r>
              <a:rPr sz="2160" dirty="0">
                <a:latin typeface="Calibri"/>
                <a:cs typeface="Calibri"/>
              </a:rPr>
              <a:t>records</a:t>
            </a:r>
            <a:r>
              <a:rPr sz="2160" spc="210" dirty="0">
                <a:latin typeface="Calibri"/>
                <a:cs typeface="Calibri"/>
              </a:rPr>
              <a:t> </a:t>
            </a:r>
            <a:r>
              <a:rPr sz="2160" dirty="0">
                <a:latin typeface="Calibri"/>
                <a:cs typeface="Calibri"/>
              </a:rPr>
              <a:t>demonstrating</a:t>
            </a:r>
            <a:r>
              <a:rPr sz="2160" spc="216" dirty="0">
                <a:latin typeface="Calibri"/>
                <a:cs typeface="Calibri"/>
              </a:rPr>
              <a:t> </a:t>
            </a:r>
            <a:r>
              <a:rPr sz="2160" dirty="0">
                <a:latin typeface="Calibri"/>
                <a:cs typeface="Calibri"/>
              </a:rPr>
              <a:t>that</a:t>
            </a:r>
            <a:r>
              <a:rPr sz="2160" spc="192" dirty="0">
                <a:latin typeface="Calibri"/>
                <a:cs typeface="Calibri"/>
              </a:rPr>
              <a:t> </a:t>
            </a:r>
            <a:r>
              <a:rPr sz="2160" dirty="0">
                <a:latin typeface="Calibri"/>
                <a:cs typeface="Calibri"/>
              </a:rPr>
              <a:t>the</a:t>
            </a:r>
            <a:r>
              <a:rPr sz="2160" spc="210" dirty="0">
                <a:latin typeface="Calibri"/>
                <a:cs typeface="Calibri"/>
              </a:rPr>
              <a:t> </a:t>
            </a:r>
            <a:r>
              <a:rPr sz="2160" dirty="0">
                <a:latin typeface="Calibri"/>
                <a:cs typeface="Calibri"/>
              </a:rPr>
              <a:t>defined</a:t>
            </a:r>
            <a:r>
              <a:rPr sz="2160" spc="216" dirty="0">
                <a:latin typeface="Calibri"/>
                <a:cs typeface="Calibri"/>
              </a:rPr>
              <a:t> </a:t>
            </a:r>
            <a:r>
              <a:rPr sz="2160" spc="-12" dirty="0">
                <a:latin typeface="Calibri"/>
                <a:cs typeface="Calibri"/>
              </a:rPr>
              <a:t>organizational </a:t>
            </a:r>
            <a:r>
              <a:rPr sz="2160" dirty="0">
                <a:latin typeface="Calibri"/>
                <a:cs typeface="Calibri"/>
              </a:rPr>
              <a:t>processes</a:t>
            </a:r>
            <a:r>
              <a:rPr sz="2160" spc="-84" dirty="0">
                <a:latin typeface="Calibri"/>
                <a:cs typeface="Calibri"/>
              </a:rPr>
              <a:t> </a:t>
            </a:r>
            <a:r>
              <a:rPr sz="2160" dirty="0">
                <a:latin typeface="Calibri"/>
                <a:cs typeface="Calibri"/>
              </a:rPr>
              <a:t>have</a:t>
            </a:r>
            <a:r>
              <a:rPr sz="2160" spc="-84" dirty="0">
                <a:latin typeface="Calibri"/>
                <a:cs typeface="Calibri"/>
              </a:rPr>
              <a:t> </a:t>
            </a:r>
            <a:r>
              <a:rPr sz="2160" dirty="0">
                <a:latin typeface="Calibri"/>
                <a:cs typeface="Calibri"/>
              </a:rPr>
              <a:t>been</a:t>
            </a:r>
            <a:r>
              <a:rPr sz="2160" spc="-60" dirty="0">
                <a:latin typeface="Calibri"/>
                <a:cs typeface="Calibri"/>
              </a:rPr>
              <a:t> </a:t>
            </a:r>
            <a:r>
              <a:rPr sz="2160" spc="-12" dirty="0">
                <a:latin typeface="Calibri"/>
                <a:cs typeface="Calibri"/>
              </a:rPr>
              <a:t>followed.</a:t>
            </a:r>
            <a:endParaRPr sz="2160">
              <a:latin typeface="Calibri"/>
              <a:cs typeface="Calibri"/>
            </a:endParaRPr>
          </a:p>
          <a:p>
            <a:pPr marL="358902" indent="-343662">
              <a:buFont typeface="Arial MT"/>
              <a:buChar char="•"/>
              <a:tabLst>
                <a:tab pos="358902" algn="l"/>
              </a:tabLst>
            </a:pPr>
            <a:r>
              <a:rPr sz="2160" dirty="0">
                <a:latin typeface="Calibri"/>
                <a:cs typeface="Calibri"/>
              </a:rPr>
              <a:t>The</a:t>
            </a:r>
            <a:r>
              <a:rPr sz="2160" spc="-24" dirty="0">
                <a:latin typeface="Calibri"/>
                <a:cs typeface="Calibri"/>
              </a:rPr>
              <a:t> </a:t>
            </a:r>
            <a:r>
              <a:rPr sz="2160" dirty="0">
                <a:latin typeface="Calibri"/>
                <a:cs typeface="Calibri"/>
              </a:rPr>
              <a:t>company</a:t>
            </a:r>
            <a:r>
              <a:rPr sz="2160" spc="-24" dirty="0">
                <a:latin typeface="Calibri"/>
                <a:cs typeface="Calibri"/>
              </a:rPr>
              <a:t> </a:t>
            </a:r>
            <a:r>
              <a:rPr sz="2160" dirty="0">
                <a:latin typeface="Calibri"/>
                <a:cs typeface="Calibri"/>
              </a:rPr>
              <a:t>quality</a:t>
            </a:r>
            <a:r>
              <a:rPr sz="2160" spc="-24" dirty="0">
                <a:latin typeface="Calibri"/>
                <a:cs typeface="Calibri"/>
              </a:rPr>
              <a:t> </a:t>
            </a:r>
            <a:r>
              <a:rPr sz="2160" dirty="0">
                <a:latin typeface="Calibri"/>
                <a:cs typeface="Calibri"/>
              </a:rPr>
              <a:t>manual</a:t>
            </a:r>
            <a:r>
              <a:rPr sz="2160" spc="-6" dirty="0">
                <a:latin typeface="Calibri"/>
                <a:cs typeface="Calibri"/>
              </a:rPr>
              <a:t> </a:t>
            </a:r>
            <a:r>
              <a:rPr sz="2160" dirty="0">
                <a:latin typeface="Calibri"/>
                <a:cs typeface="Calibri"/>
              </a:rPr>
              <a:t>should</a:t>
            </a:r>
            <a:r>
              <a:rPr sz="2160" spc="-12" dirty="0">
                <a:latin typeface="Calibri"/>
                <a:cs typeface="Calibri"/>
              </a:rPr>
              <a:t> </a:t>
            </a:r>
            <a:r>
              <a:rPr sz="2160" dirty="0">
                <a:latin typeface="Calibri"/>
                <a:cs typeface="Calibri"/>
              </a:rPr>
              <a:t>describe</a:t>
            </a:r>
            <a:r>
              <a:rPr sz="2160" spc="-6" dirty="0">
                <a:latin typeface="Calibri"/>
                <a:cs typeface="Calibri"/>
              </a:rPr>
              <a:t> </a:t>
            </a:r>
            <a:r>
              <a:rPr sz="2160" dirty="0">
                <a:latin typeface="Calibri"/>
                <a:cs typeface="Calibri"/>
              </a:rPr>
              <a:t>the</a:t>
            </a:r>
            <a:r>
              <a:rPr sz="2160" spc="6" dirty="0">
                <a:latin typeface="Calibri"/>
                <a:cs typeface="Calibri"/>
              </a:rPr>
              <a:t> </a:t>
            </a:r>
            <a:r>
              <a:rPr sz="2160" dirty="0">
                <a:latin typeface="Calibri"/>
                <a:cs typeface="Calibri"/>
              </a:rPr>
              <a:t>relevant</a:t>
            </a:r>
            <a:r>
              <a:rPr sz="2160" spc="-18" dirty="0">
                <a:latin typeface="Calibri"/>
                <a:cs typeface="Calibri"/>
              </a:rPr>
              <a:t> </a:t>
            </a:r>
            <a:r>
              <a:rPr sz="2160" dirty="0">
                <a:latin typeface="Calibri"/>
                <a:cs typeface="Calibri"/>
              </a:rPr>
              <a:t>processes</a:t>
            </a:r>
            <a:r>
              <a:rPr sz="2160" spc="-12" dirty="0">
                <a:latin typeface="Calibri"/>
                <a:cs typeface="Calibri"/>
              </a:rPr>
              <a:t> </a:t>
            </a:r>
            <a:r>
              <a:rPr sz="2160" dirty="0">
                <a:latin typeface="Calibri"/>
                <a:cs typeface="Calibri"/>
              </a:rPr>
              <a:t>and</a:t>
            </a:r>
            <a:r>
              <a:rPr sz="2160" spc="-6" dirty="0">
                <a:latin typeface="Calibri"/>
                <a:cs typeface="Calibri"/>
              </a:rPr>
              <a:t> </a:t>
            </a:r>
            <a:r>
              <a:rPr sz="2160" dirty="0">
                <a:latin typeface="Calibri"/>
                <a:cs typeface="Calibri"/>
              </a:rPr>
              <a:t>the</a:t>
            </a:r>
            <a:r>
              <a:rPr sz="2160" spc="-6" dirty="0">
                <a:latin typeface="Calibri"/>
                <a:cs typeface="Calibri"/>
              </a:rPr>
              <a:t> </a:t>
            </a:r>
            <a:r>
              <a:rPr sz="2160" dirty="0">
                <a:latin typeface="Calibri"/>
                <a:cs typeface="Calibri"/>
              </a:rPr>
              <a:t>process</a:t>
            </a:r>
            <a:r>
              <a:rPr sz="2160" spc="-6" dirty="0">
                <a:latin typeface="Calibri"/>
                <a:cs typeface="Calibri"/>
              </a:rPr>
              <a:t> </a:t>
            </a:r>
            <a:r>
              <a:rPr sz="2160" spc="-24" dirty="0">
                <a:latin typeface="Calibri"/>
                <a:cs typeface="Calibri"/>
              </a:rPr>
              <a:t>data</a:t>
            </a:r>
            <a:endParaRPr sz="2160">
              <a:latin typeface="Calibri"/>
              <a:cs typeface="Calibri"/>
            </a:endParaRPr>
          </a:p>
          <a:p>
            <a:pPr marL="358902">
              <a:spcBef>
                <a:spcPts val="6"/>
              </a:spcBef>
            </a:pPr>
            <a:r>
              <a:rPr sz="2160" dirty="0">
                <a:latin typeface="Calibri"/>
                <a:cs typeface="Calibri"/>
              </a:rPr>
              <a:t>that</a:t>
            </a:r>
            <a:r>
              <a:rPr sz="2160" spc="-48" dirty="0">
                <a:latin typeface="Calibri"/>
                <a:cs typeface="Calibri"/>
              </a:rPr>
              <a:t> </a:t>
            </a:r>
            <a:r>
              <a:rPr sz="2160" dirty="0">
                <a:latin typeface="Calibri"/>
                <a:cs typeface="Calibri"/>
              </a:rPr>
              <a:t>has</a:t>
            </a:r>
            <a:r>
              <a:rPr sz="2160" spc="-36" dirty="0">
                <a:latin typeface="Calibri"/>
                <a:cs typeface="Calibri"/>
              </a:rPr>
              <a:t> </a:t>
            </a:r>
            <a:r>
              <a:rPr sz="2160" dirty="0">
                <a:latin typeface="Calibri"/>
                <a:cs typeface="Calibri"/>
              </a:rPr>
              <a:t>to</a:t>
            </a:r>
            <a:r>
              <a:rPr sz="2160" spc="-48" dirty="0">
                <a:latin typeface="Calibri"/>
                <a:cs typeface="Calibri"/>
              </a:rPr>
              <a:t> </a:t>
            </a:r>
            <a:r>
              <a:rPr sz="2160" dirty="0">
                <a:latin typeface="Calibri"/>
                <a:cs typeface="Calibri"/>
              </a:rPr>
              <a:t>be</a:t>
            </a:r>
            <a:r>
              <a:rPr sz="2160" spc="-36" dirty="0">
                <a:latin typeface="Calibri"/>
                <a:cs typeface="Calibri"/>
              </a:rPr>
              <a:t> </a:t>
            </a:r>
            <a:r>
              <a:rPr sz="2160" dirty="0">
                <a:latin typeface="Calibri"/>
                <a:cs typeface="Calibri"/>
              </a:rPr>
              <a:t>collected and</a:t>
            </a:r>
            <a:r>
              <a:rPr sz="2160" spc="-24" dirty="0">
                <a:latin typeface="Calibri"/>
                <a:cs typeface="Calibri"/>
              </a:rPr>
              <a:t> </a:t>
            </a:r>
            <a:r>
              <a:rPr sz="2160" spc="-12" dirty="0">
                <a:latin typeface="Calibri"/>
                <a:cs typeface="Calibri"/>
              </a:rPr>
              <a:t>maintained.</a:t>
            </a:r>
            <a:endParaRPr sz="2160">
              <a:latin typeface="Calibri"/>
              <a:cs typeface="Calibri"/>
            </a:endParaRPr>
          </a:p>
        </p:txBody>
      </p:sp>
    </p:spTree>
    <p:extLst>
      <p:ext uri="{BB962C8B-B14F-4D97-AF65-F5344CB8AC3E}">
        <p14:creationId xmlns:p14="http://schemas.microsoft.com/office/powerpoint/2010/main" val="347894485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3201" y="80254"/>
            <a:ext cx="10530840" cy="1495025"/>
          </a:xfrm>
          <a:prstGeom prst="rect">
            <a:avLst/>
          </a:prstGeom>
        </p:spPr>
        <p:txBody>
          <a:bodyPr vert="horz" wrap="square" lIns="0" tIns="14478" rIns="0" bIns="0" rtlCol="0">
            <a:spAutoFit/>
          </a:bodyPr>
          <a:lstStyle/>
          <a:p>
            <a:pPr marL="425958" indent="-410718">
              <a:spcBef>
                <a:spcPts val="114"/>
              </a:spcBef>
              <a:buFont typeface="Arial MT"/>
              <a:buChar char="•"/>
              <a:tabLst>
                <a:tab pos="425958" algn="l"/>
              </a:tabLst>
            </a:pPr>
            <a:r>
              <a:rPr sz="2280" dirty="0">
                <a:latin typeface="Calibri"/>
                <a:cs typeface="Calibri"/>
              </a:rPr>
              <a:t>The</a:t>
            </a:r>
            <a:r>
              <a:rPr sz="2280" spc="36" dirty="0">
                <a:latin typeface="Calibri"/>
                <a:cs typeface="Calibri"/>
              </a:rPr>
              <a:t> </a:t>
            </a:r>
            <a:r>
              <a:rPr sz="2280" dirty="0">
                <a:latin typeface="Calibri"/>
                <a:cs typeface="Calibri"/>
              </a:rPr>
              <a:t>relationships</a:t>
            </a:r>
            <a:r>
              <a:rPr sz="2280" spc="54" dirty="0">
                <a:latin typeface="Calibri"/>
                <a:cs typeface="Calibri"/>
              </a:rPr>
              <a:t> </a:t>
            </a:r>
            <a:r>
              <a:rPr sz="2280" dirty="0">
                <a:latin typeface="Calibri"/>
                <a:cs typeface="Calibri"/>
              </a:rPr>
              <a:t>between</a:t>
            </a:r>
            <a:r>
              <a:rPr sz="2280" spc="54" dirty="0">
                <a:latin typeface="Calibri"/>
                <a:cs typeface="Calibri"/>
              </a:rPr>
              <a:t> </a:t>
            </a:r>
            <a:r>
              <a:rPr sz="2280" b="1" i="1" dirty="0">
                <a:solidFill>
                  <a:srgbClr val="006FC0"/>
                </a:solidFill>
                <a:latin typeface="Calibri"/>
                <a:cs typeface="Calibri"/>
              </a:rPr>
              <a:t>ISO</a:t>
            </a:r>
            <a:r>
              <a:rPr sz="2280" b="1" i="1" spc="54" dirty="0">
                <a:solidFill>
                  <a:srgbClr val="006FC0"/>
                </a:solidFill>
                <a:latin typeface="Calibri"/>
                <a:cs typeface="Calibri"/>
              </a:rPr>
              <a:t> </a:t>
            </a:r>
            <a:r>
              <a:rPr sz="2280" b="1" i="1" dirty="0">
                <a:solidFill>
                  <a:srgbClr val="006FC0"/>
                </a:solidFill>
                <a:latin typeface="Calibri"/>
                <a:cs typeface="Calibri"/>
              </a:rPr>
              <a:t>9001</a:t>
            </a:r>
            <a:r>
              <a:rPr sz="2280" dirty="0">
                <a:latin typeface="Calibri"/>
                <a:cs typeface="Calibri"/>
              </a:rPr>
              <a:t>,</a:t>
            </a:r>
            <a:r>
              <a:rPr sz="2280" spc="36" dirty="0">
                <a:latin typeface="Calibri"/>
                <a:cs typeface="Calibri"/>
              </a:rPr>
              <a:t> </a:t>
            </a:r>
            <a:r>
              <a:rPr sz="2280" b="1" i="1" dirty="0">
                <a:solidFill>
                  <a:srgbClr val="006FC0"/>
                </a:solidFill>
                <a:latin typeface="Calibri"/>
                <a:cs typeface="Calibri"/>
              </a:rPr>
              <a:t>organizational</a:t>
            </a:r>
            <a:r>
              <a:rPr sz="2280" b="1" i="1" spc="54" dirty="0">
                <a:solidFill>
                  <a:srgbClr val="006FC0"/>
                </a:solidFill>
                <a:latin typeface="Calibri"/>
                <a:cs typeface="Calibri"/>
              </a:rPr>
              <a:t> </a:t>
            </a:r>
            <a:r>
              <a:rPr sz="2280" b="1" i="1" dirty="0">
                <a:solidFill>
                  <a:srgbClr val="006FC0"/>
                </a:solidFill>
                <a:latin typeface="Calibri"/>
                <a:cs typeface="Calibri"/>
              </a:rPr>
              <a:t>quality</a:t>
            </a:r>
            <a:r>
              <a:rPr sz="2280" b="1" i="1" spc="42" dirty="0">
                <a:solidFill>
                  <a:srgbClr val="006FC0"/>
                </a:solidFill>
                <a:latin typeface="Calibri"/>
                <a:cs typeface="Calibri"/>
              </a:rPr>
              <a:t> </a:t>
            </a:r>
            <a:r>
              <a:rPr sz="2280" b="1" i="1" dirty="0">
                <a:solidFill>
                  <a:srgbClr val="006FC0"/>
                </a:solidFill>
                <a:latin typeface="Calibri"/>
                <a:cs typeface="Calibri"/>
              </a:rPr>
              <a:t>manuals</a:t>
            </a:r>
            <a:r>
              <a:rPr sz="2280" dirty="0">
                <a:latin typeface="Calibri"/>
                <a:cs typeface="Calibri"/>
              </a:rPr>
              <a:t>,</a:t>
            </a:r>
            <a:r>
              <a:rPr sz="2280" spc="42" dirty="0">
                <a:latin typeface="Calibri"/>
                <a:cs typeface="Calibri"/>
              </a:rPr>
              <a:t> </a:t>
            </a:r>
            <a:r>
              <a:rPr sz="2280" dirty="0">
                <a:latin typeface="Calibri"/>
                <a:cs typeface="Calibri"/>
              </a:rPr>
              <a:t>and</a:t>
            </a:r>
            <a:r>
              <a:rPr sz="2280" spc="60" dirty="0">
                <a:latin typeface="Calibri"/>
                <a:cs typeface="Calibri"/>
              </a:rPr>
              <a:t> </a:t>
            </a:r>
            <a:r>
              <a:rPr sz="2280" b="1" i="1" spc="-12" dirty="0">
                <a:solidFill>
                  <a:srgbClr val="006FC0"/>
                </a:solidFill>
                <a:latin typeface="Calibri"/>
                <a:cs typeface="Calibri"/>
              </a:rPr>
              <a:t>individual</a:t>
            </a:r>
            <a:endParaRPr sz="2280">
              <a:latin typeface="Calibri"/>
              <a:cs typeface="Calibri"/>
            </a:endParaRPr>
          </a:p>
          <a:p>
            <a:pPr marL="425958"/>
            <a:r>
              <a:rPr sz="2280" b="1" i="1" dirty="0">
                <a:solidFill>
                  <a:srgbClr val="006FC0"/>
                </a:solidFill>
                <a:latin typeface="Calibri"/>
                <a:cs typeface="Calibri"/>
              </a:rPr>
              <a:t>project</a:t>
            </a:r>
            <a:r>
              <a:rPr sz="2280" b="1" i="1" spc="-24" dirty="0">
                <a:solidFill>
                  <a:srgbClr val="006FC0"/>
                </a:solidFill>
                <a:latin typeface="Calibri"/>
                <a:cs typeface="Calibri"/>
              </a:rPr>
              <a:t> </a:t>
            </a:r>
            <a:r>
              <a:rPr sz="2280" b="1" i="1" dirty="0">
                <a:solidFill>
                  <a:srgbClr val="006FC0"/>
                </a:solidFill>
                <a:latin typeface="Calibri"/>
                <a:cs typeface="Calibri"/>
              </a:rPr>
              <a:t>quality</a:t>
            </a:r>
            <a:r>
              <a:rPr sz="2280" b="1" i="1" spc="-48" dirty="0">
                <a:solidFill>
                  <a:srgbClr val="006FC0"/>
                </a:solidFill>
                <a:latin typeface="Calibri"/>
                <a:cs typeface="Calibri"/>
              </a:rPr>
              <a:t> </a:t>
            </a:r>
            <a:r>
              <a:rPr sz="2280" b="1" i="1" dirty="0">
                <a:solidFill>
                  <a:srgbClr val="006FC0"/>
                </a:solidFill>
                <a:latin typeface="Calibri"/>
                <a:cs typeface="Calibri"/>
              </a:rPr>
              <a:t>plans</a:t>
            </a:r>
            <a:r>
              <a:rPr sz="2280" b="1" i="1" spc="-60" dirty="0">
                <a:solidFill>
                  <a:srgbClr val="006FC0"/>
                </a:solidFill>
                <a:latin typeface="Calibri"/>
                <a:cs typeface="Calibri"/>
              </a:rPr>
              <a:t> </a:t>
            </a:r>
            <a:r>
              <a:rPr sz="2280" dirty="0">
                <a:latin typeface="Calibri"/>
                <a:cs typeface="Calibri"/>
              </a:rPr>
              <a:t>are</a:t>
            </a:r>
            <a:r>
              <a:rPr sz="2280" spc="-48" dirty="0">
                <a:latin typeface="Calibri"/>
                <a:cs typeface="Calibri"/>
              </a:rPr>
              <a:t> </a:t>
            </a:r>
            <a:r>
              <a:rPr sz="2280" dirty="0">
                <a:latin typeface="Calibri"/>
                <a:cs typeface="Calibri"/>
              </a:rPr>
              <a:t>shown</a:t>
            </a:r>
            <a:r>
              <a:rPr sz="2280" spc="-36" dirty="0">
                <a:latin typeface="Calibri"/>
                <a:cs typeface="Calibri"/>
              </a:rPr>
              <a:t> </a:t>
            </a:r>
            <a:r>
              <a:rPr sz="2280" dirty="0">
                <a:latin typeface="Calibri"/>
                <a:cs typeface="Calibri"/>
              </a:rPr>
              <a:t>in</a:t>
            </a:r>
            <a:r>
              <a:rPr sz="2280" spc="-54" dirty="0">
                <a:latin typeface="Calibri"/>
                <a:cs typeface="Calibri"/>
              </a:rPr>
              <a:t> </a:t>
            </a:r>
            <a:r>
              <a:rPr sz="2280" spc="-12" dirty="0">
                <a:latin typeface="Calibri"/>
                <a:cs typeface="Calibri"/>
              </a:rPr>
              <a:t>figure.</a:t>
            </a:r>
            <a:endParaRPr sz="2280">
              <a:latin typeface="Calibri"/>
              <a:cs typeface="Calibri"/>
            </a:endParaRPr>
          </a:p>
          <a:p>
            <a:pPr marL="425958" indent="-410718">
              <a:spcBef>
                <a:spcPts val="551"/>
              </a:spcBef>
              <a:buFont typeface="Arial MT"/>
              <a:buChar char="•"/>
              <a:tabLst>
                <a:tab pos="425958" algn="l"/>
              </a:tabLst>
            </a:pPr>
            <a:r>
              <a:rPr sz="2280" dirty="0">
                <a:latin typeface="Calibri"/>
                <a:cs typeface="Calibri"/>
              </a:rPr>
              <a:t>This</a:t>
            </a:r>
            <a:r>
              <a:rPr sz="2280" spc="114" dirty="0">
                <a:latin typeface="Calibri"/>
                <a:cs typeface="Calibri"/>
              </a:rPr>
              <a:t> </a:t>
            </a:r>
            <a:r>
              <a:rPr sz="2280" dirty="0">
                <a:latin typeface="Calibri"/>
                <a:cs typeface="Calibri"/>
              </a:rPr>
              <a:t>diagram</a:t>
            </a:r>
            <a:r>
              <a:rPr sz="2280" spc="120" dirty="0">
                <a:latin typeface="Calibri"/>
                <a:cs typeface="Calibri"/>
              </a:rPr>
              <a:t> </a:t>
            </a:r>
            <a:r>
              <a:rPr sz="2280" dirty="0">
                <a:latin typeface="Calibri"/>
                <a:cs typeface="Calibri"/>
              </a:rPr>
              <a:t>explains</a:t>
            </a:r>
            <a:r>
              <a:rPr sz="2280" spc="114" dirty="0">
                <a:latin typeface="Calibri"/>
                <a:cs typeface="Calibri"/>
              </a:rPr>
              <a:t> </a:t>
            </a:r>
            <a:r>
              <a:rPr sz="2280" dirty="0">
                <a:latin typeface="Calibri"/>
                <a:cs typeface="Calibri"/>
              </a:rPr>
              <a:t>how</a:t>
            </a:r>
            <a:r>
              <a:rPr sz="2280" spc="120" dirty="0">
                <a:latin typeface="Calibri"/>
                <a:cs typeface="Calibri"/>
              </a:rPr>
              <a:t> </a:t>
            </a:r>
            <a:r>
              <a:rPr sz="2280" dirty="0">
                <a:latin typeface="Calibri"/>
                <a:cs typeface="Calibri"/>
              </a:rPr>
              <a:t>the</a:t>
            </a:r>
            <a:r>
              <a:rPr sz="2280" spc="120" dirty="0">
                <a:latin typeface="Calibri"/>
                <a:cs typeface="Calibri"/>
              </a:rPr>
              <a:t> </a:t>
            </a:r>
            <a:r>
              <a:rPr sz="2280" dirty="0">
                <a:latin typeface="Calibri"/>
                <a:cs typeface="Calibri"/>
              </a:rPr>
              <a:t>general</a:t>
            </a:r>
            <a:r>
              <a:rPr sz="2280" spc="114" dirty="0">
                <a:latin typeface="Calibri"/>
                <a:cs typeface="Calibri"/>
              </a:rPr>
              <a:t> </a:t>
            </a:r>
            <a:r>
              <a:rPr sz="2280" dirty="0">
                <a:latin typeface="Calibri"/>
                <a:cs typeface="Calibri"/>
              </a:rPr>
              <a:t>ISO</a:t>
            </a:r>
            <a:r>
              <a:rPr sz="2280" spc="120" dirty="0">
                <a:latin typeface="Calibri"/>
                <a:cs typeface="Calibri"/>
              </a:rPr>
              <a:t> </a:t>
            </a:r>
            <a:r>
              <a:rPr sz="2280" dirty="0">
                <a:latin typeface="Calibri"/>
                <a:cs typeface="Calibri"/>
              </a:rPr>
              <a:t>9001</a:t>
            </a:r>
            <a:r>
              <a:rPr sz="2280" spc="120" dirty="0">
                <a:latin typeface="Calibri"/>
                <a:cs typeface="Calibri"/>
              </a:rPr>
              <a:t> </a:t>
            </a:r>
            <a:r>
              <a:rPr sz="2280" dirty="0">
                <a:latin typeface="Calibri"/>
                <a:cs typeface="Calibri"/>
              </a:rPr>
              <a:t>standard</a:t>
            </a:r>
            <a:r>
              <a:rPr sz="2280" spc="108" dirty="0">
                <a:latin typeface="Calibri"/>
                <a:cs typeface="Calibri"/>
              </a:rPr>
              <a:t> </a:t>
            </a:r>
            <a:r>
              <a:rPr sz="2280" dirty="0">
                <a:latin typeface="Calibri"/>
                <a:cs typeface="Calibri"/>
              </a:rPr>
              <a:t>can</a:t>
            </a:r>
            <a:r>
              <a:rPr sz="2280" spc="120" dirty="0">
                <a:latin typeface="Calibri"/>
                <a:cs typeface="Calibri"/>
              </a:rPr>
              <a:t> </a:t>
            </a:r>
            <a:r>
              <a:rPr sz="2280" dirty="0">
                <a:latin typeface="Calibri"/>
                <a:cs typeface="Calibri"/>
              </a:rPr>
              <a:t>be</a:t>
            </a:r>
            <a:r>
              <a:rPr sz="2280" spc="126" dirty="0">
                <a:latin typeface="Calibri"/>
                <a:cs typeface="Calibri"/>
              </a:rPr>
              <a:t> </a:t>
            </a:r>
            <a:r>
              <a:rPr sz="2280" dirty="0">
                <a:latin typeface="Calibri"/>
                <a:cs typeface="Calibri"/>
              </a:rPr>
              <a:t>used</a:t>
            </a:r>
            <a:r>
              <a:rPr sz="2280" spc="114" dirty="0">
                <a:latin typeface="Calibri"/>
                <a:cs typeface="Calibri"/>
              </a:rPr>
              <a:t> </a:t>
            </a:r>
            <a:r>
              <a:rPr sz="2280" dirty="0">
                <a:latin typeface="Calibri"/>
                <a:cs typeface="Calibri"/>
              </a:rPr>
              <a:t>as</a:t>
            </a:r>
            <a:r>
              <a:rPr sz="2280" spc="114" dirty="0">
                <a:latin typeface="Calibri"/>
                <a:cs typeface="Calibri"/>
              </a:rPr>
              <a:t> </a:t>
            </a:r>
            <a:r>
              <a:rPr sz="2280" dirty="0">
                <a:latin typeface="Calibri"/>
                <a:cs typeface="Calibri"/>
              </a:rPr>
              <a:t>a</a:t>
            </a:r>
            <a:r>
              <a:rPr sz="2280" spc="120" dirty="0">
                <a:latin typeface="Calibri"/>
                <a:cs typeface="Calibri"/>
              </a:rPr>
              <a:t> </a:t>
            </a:r>
            <a:r>
              <a:rPr sz="2280" dirty="0">
                <a:latin typeface="Calibri"/>
                <a:cs typeface="Calibri"/>
              </a:rPr>
              <a:t>basis</a:t>
            </a:r>
            <a:r>
              <a:rPr sz="2280" spc="120" dirty="0">
                <a:latin typeface="Calibri"/>
                <a:cs typeface="Calibri"/>
              </a:rPr>
              <a:t> </a:t>
            </a:r>
            <a:r>
              <a:rPr sz="2280" spc="-30" dirty="0">
                <a:latin typeface="Calibri"/>
                <a:cs typeface="Calibri"/>
              </a:rPr>
              <a:t>for</a:t>
            </a:r>
            <a:endParaRPr sz="2280">
              <a:latin typeface="Calibri"/>
              <a:cs typeface="Calibri"/>
            </a:endParaRPr>
          </a:p>
          <a:p>
            <a:pPr marL="425958"/>
            <a:r>
              <a:rPr sz="2280" spc="-12" dirty="0">
                <a:latin typeface="Calibri"/>
                <a:cs typeface="Calibri"/>
              </a:rPr>
              <a:t>software</a:t>
            </a:r>
            <a:r>
              <a:rPr sz="2280" spc="-54" dirty="0">
                <a:latin typeface="Calibri"/>
                <a:cs typeface="Calibri"/>
              </a:rPr>
              <a:t> </a:t>
            </a:r>
            <a:r>
              <a:rPr sz="2280" dirty="0">
                <a:latin typeface="Calibri"/>
                <a:cs typeface="Calibri"/>
              </a:rPr>
              <a:t>quality</a:t>
            </a:r>
            <a:r>
              <a:rPr sz="2280" spc="-54" dirty="0">
                <a:latin typeface="Calibri"/>
                <a:cs typeface="Calibri"/>
              </a:rPr>
              <a:t> </a:t>
            </a:r>
            <a:r>
              <a:rPr sz="2280" spc="-12" dirty="0">
                <a:latin typeface="Calibri"/>
                <a:cs typeface="Calibri"/>
              </a:rPr>
              <a:t>management</a:t>
            </a:r>
            <a:r>
              <a:rPr sz="2280" spc="-42" dirty="0">
                <a:latin typeface="Calibri"/>
                <a:cs typeface="Calibri"/>
              </a:rPr>
              <a:t> </a:t>
            </a:r>
            <a:r>
              <a:rPr sz="2280" spc="-12" dirty="0">
                <a:latin typeface="Calibri"/>
                <a:cs typeface="Calibri"/>
              </a:rPr>
              <a:t>processes.</a:t>
            </a:r>
            <a:endParaRPr sz="2280">
              <a:latin typeface="Calibri"/>
              <a:cs typeface="Calibri"/>
            </a:endParaRPr>
          </a:p>
        </p:txBody>
      </p:sp>
      <p:grpSp>
        <p:nvGrpSpPr>
          <p:cNvPr id="3" name="object 3"/>
          <p:cNvGrpSpPr/>
          <p:nvPr/>
        </p:nvGrpSpPr>
        <p:grpSpPr>
          <a:xfrm>
            <a:off x="2368981" y="1775719"/>
            <a:ext cx="7540752" cy="4694682"/>
            <a:chOff x="1466151" y="1479765"/>
            <a:chExt cx="6283960" cy="3912235"/>
          </a:xfrm>
        </p:grpSpPr>
        <p:pic>
          <p:nvPicPr>
            <p:cNvPr id="4" name="object 4"/>
            <p:cNvPicPr/>
            <p:nvPr/>
          </p:nvPicPr>
          <p:blipFill>
            <a:blip r:embed="rId2" cstate="print"/>
            <a:stretch>
              <a:fillRect/>
            </a:stretch>
          </p:blipFill>
          <p:spPr>
            <a:xfrm>
              <a:off x="1499941" y="1562278"/>
              <a:ext cx="6179505" cy="3685878"/>
            </a:xfrm>
            <a:prstGeom prst="rect">
              <a:avLst/>
            </a:prstGeom>
          </p:spPr>
        </p:pic>
        <p:sp>
          <p:nvSpPr>
            <p:cNvPr id="5" name="object 5"/>
            <p:cNvSpPr/>
            <p:nvPr/>
          </p:nvSpPr>
          <p:spPr>
            <a:xfrm>
              <a:off x="1470913" y="1484528"/>
              <a:ext cx="6274435" cy="3902710"/>
            </a:xfrm>
            <a:custGeom>
              <a:avLst/>
              <a:gdLst/>
              <a:ahLst/>
              <a:cxnLst/>
              <a:rect l="l" t="t" r="r" b="b"/>
              <a:pathLst>
                <a:path w="6274434" h="3902710">
                  <a:moveTo>
                    <a:pt x="0" y="3902202"/>
                  </a:moveTo>
                  <a:lnTo>
                    <a:pt x="6274180" y="3902202"/>
                  </a:lnTo>
                  <a:lnTo>
                    <a:pt x="6274180" y="0"/>
                  </a:lnTo>
                  <a:lnTo>
                    <a:pt x="0" y="0"/>
                  </a:lnTo>
                  <a:lnTo>
                    <a:pt x="0" y="3902202"/>
                  </a:lnTo>
                  <a:close/>
                </a:path>
              </a:pathLst>
            </a:custGeom>
            <a:ln w="9525">
              <a:solidFill>
                <a:srgbClr val="000000"/>
              </a:solidFill>
            </a:ln>
          </p:spPr>
          <p:txBody>
            <a:bodyPr wrap="square" lIns="0" tIns="0" rIns="0" bIns="0" rtlCol="0"/>
            <a:lstStyle/>
            <a:p>
              <a:endParaRPr sz="2160"/>
            </a:p>
          </p:txBody>
        </p:sp>
      </p:grpSp>
    </p:spTree>
    <p:extLst>
      <p:ext uri="{BB962C8B-B14F-4D97-AF65-F5344CB8AC3E}">
        <p14:creationId xmlns:p14="http://schemas.microsoft.com/office/powerpoint/2010/main" val="77613837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079448" y="501609"/>
            <a:ext cx="9958988" cy="5727844"/>
          </a:xfrm>
          <a:prstGeom prst="rect">
            <a:avLst/>
          </a:prstGeom>
        </p:spPr>
      </p:pic>
    </p:spTree>
    <p:extLst>
      <p:ext uri="{BB962C8B-B14F-4D97-AF65-F5344CB8AC3E}">
        <p14:creationId xmlns:p14="http://schemas.microsoft.com/office/powerpoint/2010/main" val="30960830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6BF46D-40A4-C5DC-DE4D-E8E72ECDDEF8}"/>
              </a:ext>
            </a:extLst>
          </p:cNvPr>
          <p:cNvSpPr>
            <a:spLocks noGrp="1"/>
          </p:cNvSpPr>
          <p:nvPr>
            <p:ph type="title" idx="4294967295"/>
          </p:nvPr>
        </p:nvSpPr>
        <p:spPr>
          <a:xfrm>
            <a:off x="2133600" y="287338"/>
            <a:ext cx="10058400" cy="1449387"/>
          </a:xfrm>
        </p:spPr>
        <p:txBody>
          <a:bodyPr/>
          <a:lstStyle/>
          <a:p>
            <a:r>
              <a:rPr lang="en-IN" sz="4400" b="1" i="0" u="none" strike="noStrike" baseline="0" dirty="0">
                <a:solidFill>
                  <a:srgbClr val="000000"/>
                </a:solidFill>
                <a:latin typeface="Palatino Linotype" panose="02040502050505030304" pitchFamily="18" charset="0"/>
              </a:rPr>
              <a:t>ISO 9000 Quality Standards </a:t>
            </a:r>
            <a:endParaRPr lang="en-IN" dirty="0"/>
          </a:p>
        </p:txBody>
      </p:sp>
      <p:sp>
        <p:nvSpPr>
          <p:cNvPr id="3" name="Content Placeholder 2">
            <a:extLst>
              <a:ext uri="{FF2B5EF4-FFF2-40B4-BE49-F238E27FC236}">
                <a16:creationId xmlns:a16="http://schemas.microsoft.com/office/drawing/2014/main" id="{E2907A4D-1142-039F-1292-DFC56BFC6A21}"/>
              </a:ext>
            </a:extLst>
          </p:cNvPr>
          <p:cNvSpPr>
            <a:spLocks noGrp="1"/>
          </p:cNvSpPr>
          <p:nvPr>
            <p:ph idx="4294967295"/>
          </p:nvPr>
        </p:nvSpPr>
        <p:spPr>
          <a:xfrm>
            <a:off x="2133600" y="1846263"/>
            <a:ext cx="10058400" cy="4022725"/>
          </a:xfrm>
        </p:spPr>
        <p:txBody>
          <a:bodyPr/>
          <a:lstStyle/>
          <a:p>
            <a:pPr algn="just">
              <a:lnSpc>
                <a:spcPct val="150000"/>
              </a:lnSpc>
            </a:pPr>
            <a:r>
              <a:rPr lang="en-US" sz="1800" b="0" i="0" u="none" strike="noStrike" baseline="0" dirty="0">
                <a:solidFill>
                  <a:srgbClr val="000000"/>
                </a:solidFill>
                <a:latin typeface="Palatino Linotype" panose="02040502050505030304" pitchFamily="18" charset="0"/>
              </a:rPr>
              <a:t>ISO (International Standards Organization) is a group or consortium of 63 countries established to plan and fosters standardization. ISO declared its 9000 series of standards in 1987. It serves as a reference for the contract between independent parties. </a:t>
            </a:r>
          </a:p>
          <a:p>
            <a:pPr algn="just">
              <a:lnSpc>
                <a:spcPct val="150000"/>
              </a:lnSpc>
            </a:pPr>
            <a:r>
              <a:rPr lang="en-US" sz="1800" b="0" i="0" u="none" strike="noStrike" baseline="0" dirty="0">
                <a:solidFill>
                  <a:srgbClr val="000000"/>
                </a:solidFill>
                <a:latin typeface="Palatino Linotype" panose="02040502050505030304" pitchFamily="18" charset="0"/>
              </a:rPr>
              <a:t>The ISO 9000 standard determines the guidelines for maintaining a quality system. The ISO standard mainly addresses operational methods and organizational methods such as responsibilities, reporting, etc. ISO 9000 defines a set of guidelines for the production process and is not directly concerned about the product itself. </a:t>
            </a:r>
            <a:endParaRPr lang="en-IN" dirty="0">
              <a:latin typeface="Palatino Linotype" panose="02040502050505030304" pitchFamily="18" charset="0"/>
            </a:endParaRPr>
          </a:p>
        </p:txBody>
      </p:sp>
    </p:spTree>
    <p:extLst>
      <p:ext uri="{BB962C8B-B14F-4D97-AF65-F5344CB8AC3E}">
        <p14:creationId xmlns:p14="http://schemas.microsoft.com/office/powerpoint/2010/main" val="351177893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74A680-D8DE-1BE7-E29E-213938978CE8}"/>
              </a:ext>
            </a:extLst>
          </p:cNvPr>
          <p:cNvSpPr>
            <a:spLocks noGrp="1"/>
          </p:cNvSpPr>
          <p:nvPr>
            <p:ph type="title" idx="4294967295"/>
          </p:nvPr>
        </p:nvSpPr>
        <p:spPr>
          <a:xfrm>
            <a:off x="0" y="103188"/>
            <a:ext cx="10515600" cy="1325562"/>
          </a:xfrm>
        </p:spPr>
        <p:txBody>
          <a:bodyPr/>
          <a:lstStyle/>
          <a:p>
            <a:r>
              <a:rPr lang="en-US" sz="4400" b="1" i="0" u="none" strike="noStrike" baseline="0" dirty="0">
                <a:solidFill>
                  <a:srgbClr val="000000"/>
                </a:solidFill>
                <a:latin typeface="Palatino Linotype" panose="02040502050505030304" pitchFamily="18" charset="0"/>
              </a:rPr>
              <a:t>Types of ISO 9000 Quality Standards </a:t>
            </a:r>
            <a:endParaRPr lang="en-IN" dirty="0"/>
          </a:p>
        </p:txBody>
      </p:sp>
      <p:sp>
        <p:nvSpPr>
          <p:cNvPr id="3" name="Content Placeholder 2">
            <a:extLst>
              <a:ext uri="{FF2B5EF4-FFF2-40B4-BE49-F238E27FC236}">
                <a16:creationId xmlns:a16="http://schemas.microsoft.com/office/drawing/2014/main" id="{09772CCB-6EC6-84BC-01D3-4F4609E274D0}"/>
              </a:ext>
            </a:extLst>
          </p:cNvPr>
          <p:cNvSpPr>
            <a:spLocks noGrp="1"/>
          </p:cNvSpPr>
          <p:nvPr>
            <p:ph idx="4294967295"/>
          </p:nvPr>
        </p:nvSpPr>
        <p:spPr>
          <a:xfrm>
            <a:off x="587375" y="1781175"/>
            <a:ext cx="11604625" cy="4543425"/>
          </a:xfrm>
        </p:spPr>
        <p:txBody>
          <a:bodyPr>
            <a:normAutofit fontScale="92500"/>
          </a:bodyPr>
          <a:lstStyle/>
          <a:p>
            <a:pPr algn="just">
              <a:lnSpc>
                <a:spcPct val="150000"/>
              </a:lnSpc>
            </a:pPr>
            <a:r>
              <a:rPr lang="en-US" sz="1800" b="0" i="0" u="none" strike="noStrike" baseline="0" dirty="0">
                <a:solidFill>
                  <a:srgbClr val="000000"/>
                </a:solidFill>
                <a:latin typeface="Palatino Linotype" panose="02040502050505030304" pitchFamily="18" charset="0"/>
              </a:rPr>
              <a:t>The ISO 9000 series of standards assumes that if a proper stage is followed for production, then good quality products are bound to follow automatically. The types of industries to which the various ISO standards apply are as follows. </a:t>
            </a:r>
          </a:p>
          <a:p>
            <a:pPr algn="just">
              <a:lnSpc>
                <a:spcPct val="150000"/>
              </a:lnSpc>
            </a:pPr>
            <a:r>
              <a:rPr lang="en-US" sz="1800" b="0" i="0" u="none" strike="noStrike" baseline="0" dirty="0">
                <a:solidFill>
                  <a:srgbClr val="000000"/>
                </a:solidFill>
                <a:latin typeface="Palatino Linotype" panose="02040502050505030304" pitchFamily="18" charset="0"/>
              </a:rPr>
              <a:t>1.</a:t>
            </a:r>
            <a:r>
              <a:rPr lang="en-US" sz="1800" b="1" i="0" u="none" strike="noStrike" baseline="0" dirty="0">
                <a:solidFill>
                  <a:srgbClr val="000000"/>
                </a:solidFill>
                <a:latin typeface="Palatino Linotype" panose="02040502050505030304" pitchFamily="18" charset="0"/>
              </a:rPr>
              <a:t>ISO 9001: </a:t>
            </a:r>
            <a:r>
              <a:rPr lang="en-US" sz="1800" b="0" i="0" u="none" strike="noStrike" baseline="0" dirty="0">
                <a:solidFill>
                  <a:srgbClr val="000000"/>
                </a:solidFill>
                <a:latin typeface="Palatino Linotype" panose="02040502050505030304" pitchFamily="18" charset="0"/>
              </a:rPr>
              <a:t>This standard applies to the organizations engaged in design, development, production, and servicing of goods. This is the standard that applies to most software development organizations. </a:t>
            </a:r>
          </a:p>
          <a:p>
            <a:pPr algn="just">
              <a:lnSpc>
                <a:spcPct val="150000"/>
              </a:lnSpc>
            </a:pPr>
            <a:r>
              <a:rPr lang="en-US" sz="1800" b="0" i="0" u="none" strike="noStrike" baseline="0" dirty="0">
                <a:solidFill>
                  <a:srgbClr val="000000"/>
                </a:solidFill>
                <a:latin typeface="Palatino Linotype" panose="02040502050505030304" pitchFamily="18" charset="0"/>
              </a:rPr>
              <a:t>2. </a:t>
            </a:r>
            <a:r>
              <a:rPr lang="en-US" sz="1800" b="1" i="0" u="none" strike="noStrike" baseline="0" dirty="0">
                <a:solidFill>
                  <a:srgbClr val="000000"/>
                </a:solidFill>
                <a:latin typeface="Palatino Linotype" panose="02040502050505030304" pitchFamily="18" charset="0"/>
              </a:rPr>
              <a:t>ISO 9002: </a:t>
            </a:r>
            <a:r>
              <a:rPr lang="en-US" sz="1800" b="0" i="0" u="none" strike="noStrike" baseline="0" dirty="0">
                <a:solidFill>
                  <a:srgbClr val="000000"/>
                </a:solidFill>
                <a:latin typeface="Palatino Linotype" panose="02040502050505030304" pitchFamily="18" charset="0"/>
              </a:rPr>
              <a:t>This standard applies to those organizations which do not design products but are only involved in the production. Examples of these category industries contain steel and car manufacturing industries that buy the product and plants designs from external sources and are engaged in only manufacturing those products. Therefore, ISO 9002 does not apply to software development organizations. </a:t>
            </a:r>
          </a:p>
          <a:p>
            <a:pPr algn="just">
              <a:lnSpc>
                <a:spcPct val="150000"/>
              </a:lnSpc>
            </a:pPr>
            <a:r>
              <a:rPr lang="en-US" sz="1800" b="0" i="0" u="none" strike="noStrike" baseline="0" dirty="0">
                <a:solidFill>
                  <a:srgbClr val="000000"/>
                </a:solidFill>
                <a:latin typeface="Palatino Linotype" panose="02040502050505030304" pitchFamily="18" charset="0"/>
              </a:rPr>
              <a:t>3. </a:t>
            </a:r>
            <a:r>
              <a:rPr lang="en-US" sz="1800" b="1" i="0" u="none" strike="noStrike" baseline="0" dirty="0">
                <a:solidFill>
                  <a:srgbClr val="000000"/>
                </a:solidFill>
                <a:latin typeface="Palatino Linotype" panose="02040502050505030304" pitchFamily="18" charset="0"/>
              </a:rPr>
              <a:t>ISO 9003: </a:t>
            </a:r>
            <a:r>
              <a:rPr lang="en-US" sz="1800" b="0" i="0" u="none" strike="noStrike" baseline="0" dirty="0">
                <a:solidFill>
                  <a:srgbClr val="000000"/>
                </a:solidFill>
                <a:latin typeface="Palatino Linotype" panose="02040502050505030304" pitchFamily="18" charset="0"/>
              </a:rPr>
              <a:t>This standard applies to organizations that are involved only in the installation and testing of the products. For example, Gas companies. </a:t>
            </a:r>
          </a:p>
          <a:p>
            <a:pPr marL="0" indent="0">
              <a:lnSpc>
                <a:spcPct val="150000"/>
              </a:lnSpc>
              <a:buNone/>
            </a:pPr>
            <a:endParaRPr lang="en-IN" dirty="0"/>
          </a:p>
        </p:txBody>
      </p:sp>
    </p:spTree>
    <p:extLst>
      <p:ext uri="{BB962C8B-B14F-4D97-AF65-F5344CB8AC3E}">
        <p14:creationId xmlns:p14="http://schemas.microsoft.com/office/powerpoint/2010/main" val="273096464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14" name="Freeform: Shape 13">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B63C5FBB-139C-0947-097B-70DC4603AD6D}"/>
              </a:ext>
            </a:extLst>
          </p:cNvPr>
          <p:cNvPicPr>
            <a:picLocks noChangeAspect="1"/>
          </p:cNvPicPr>
          <p:nvPr/>
        </p:nvPicPr>
        <p:blipFill>
          <a:blip r:embed="rId2"/>
          <a:stretch>
            <a:fillRect/>
          </a:stretch>
        </p:blipFill>
        <p:spPr>
          <a:xfrm>
            <a:off x="703182" y="1925342"/>
            <a:ext cx="4777381" cy="2837571"/>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71846CCD-369C-E823-DE7A-C59E205C0EE5}"/>
              </a:ext>
            </a:extLst>
          </p:cNvPr>
          <p:cNvSpPr>
            <a:spLocks noGrp="1"/>
          </p:cNvSpPr>
          <p:nvPr>
            <p:ph idx="4294967295"/>
          </p:nvPr>
        </p:nvSpPr>
        <p:spPr>
          <a:xfrm>
            <a:off x="6732588" y="1984375"/>
            <a:ext cx="5459412" cy="4192588"/>
          </a:xfrm>
        </p:spPr>
        <p:txBody>
          <a:bodyPr>
            <a:normAutofit lnSpcReduction="10000"/>
          </a:bodyPr>
          <a:lstStyle/>
          <a:p>
            <a:r>
              <a:rPr lang="en-US" sz="1300" dirty="0">
                <a:latin typeface="Palatino Linotype" panose="02040502050505030304" pitchFamily="18" charset="0"/>
              </a:rPr>
              <a:t>An organization determines to obtain ISO 9000 certification applies to ISO registrar office for registration. The process consists of the following stages:</a:t>
            </a:r>
            <a:endParaRPr lang="en-IN" sz="1300" b="0" i="0" u="none" strike="noStrike" baseline="0" dirty="0">
              <a:latin typeface="Palatino Linotype" panose="02040502050505030304" pitchFamily="18" charset="0"/>
            </a:endParaRPr>
          </a:p>
          <a:p>
            <a:r>
              <a:rPr lang="en-US" sz="1300" b="0" i="0" u="none" strike="noStrike" baseline="0" dirty="0">
                <a:latin typeface="Palatino Linotype" panose="02040502050505030304" pitchFamily="18" charset="0"/>
              </a:rPr>
              <a:t>1. </a:t>
            </a:r>
            <a:r>
              <a:rPr lang="en-US" sz="1300" b="1" i="0" u="none" strike="noStrike" baseline="0" dirty="0">
                <a:latin typeface="Palatino Linotype" panose="02040502050505030304" pitchFamily="18" charset="0"/>
              </a:rPr>
              <a:t>Application: </a:t>
            </a:r>
            <a:r>
              <a:rPr lang="en-US" sz="1300" b="0" i="0" u="none" strike="noStrike" baseline="0" dirty="0">
                <a:latin typeface="Palatino Linotype" panose="02040502050505030304" pitchFamily="18" charset="0"/>
              </a:rPr>
              <a:t>Once an organization decided to go for ISO certification, it applies to the registrar for registration. </a:t>
            </a:r>
          </a:p>
          <a:p>
            <a:r>
              <a:rPr lang="en-US" sz="1300" b="0" i="0" u="none" strike="noStrike" baseline="0" dirty="0">
                <a:latin typeface="Palatino Linotype" panose="02040502050505030304" pitchFamily="18" charset="0"/>
              </a:rPr>
              <a:t>2. </a:t>
            </a:r>
            <a:r>
              <a:rPr lang="en-US" sz="1300" b="1" i="0" u="none" strike="noStrike" baseline="0" dirty="0">
                <a:latin typeface="Palatino Linotype" panose="02040502050505030304" pitchFamily="18" charset="0"/>
              </a:rPr>
              <a:t>Pre-Assessment: </a:t>
            </a:r>
            <a:r>
              <a:rPr lang="en-US" sz="1300" b="0" i="0" u="none" strike="noStrike" baseline="0" dirty="0">
                <a:latin typeface="Palatino Linotype" panose="02040502050505030304" pitchFamily="18" charset="0"/>
              </a:rPr>
              <a:t>During this stage, the registrar makes a rough assessment of the organization. </a:t>
            </a:r>
          </a:p>
          <a:p>
            <a:r>
              <a:rPr lang="en-US" sz="1300" b="0" i="0" u="none" strike="noStrike" baseline="0" dirty="0">
                <a:latin typeface="Palatino Linotype" panose="02040502050505030304" pitchFamily="18" charset="0"/>
              </a:rPr>
              <a:t>3. </a:t>
            </a:r>
            <a:r>
              <a:rPr lang="en-US" sz="1300" b="1" i="0" u="none" strike="noStrike" baseline="0" dirty="0">
                <a:latin typeface="Palatino Linotype" panose="02040502050505030304" pitchFamily="18" charset="0"/>
              </a:rPr>
              <a:t>Document review and Adequacy of Audit: </a:t>
            </a:r>
            <a:r>
              <a:rPr lang="en-US" sz="1300" b="0" i="0" u="none" strike="noStrike" baseline="0" dirty="0">
                <a:latin typeface="Palatino Linotype" panose="02040502050505030304" pitchFamily="18" charset="0"/>
              </a:rPr>
              <a:t>During this stage, the registrar reviews the document submitted by the organization and suggest an improvement. </a:t>
            </a:r>
          </a:p>
          <a:p>
            <a:r>
              <a:rPr lang="en-US" sz="1300" b="0" i="0" u="none" strike="noStrike" baseline="0" dirty="0">
                <a:latin typeface="Palatino Linotype" panose="02040502050505030304" pitchFamily="18" charset="0"/>
              </a:rPr>
              <a:t>4. </a:t>
            </a:r>
            <a:r>
              <a:rPr lang="en-US" sz="1300" b="1" i="0" u="none" strike="noStrike" baseline="0" dirty="0">
                <a:latin typeface="Palatino Linotype" panose="02040502050505030304" pitchFamily="18" charset="0"/>
              </a:rPr>
              <a:t>Compliance Audit: </a:t>
            </a:r>
            <a:r>
              <a:rPr lang="en-US" sz="1300" b="0" i="0" u="none" strike="noStrike" baseline="0" dirty="0">
                <a:latin typeface="Palatino Linotype" panose="02040502050505030304" pitchFamily="18" charset="0"/>
              </a:rPr>
              <a:t>During this stage, the registrar checks whether the organization has compiled the suggestion made by it during the review or not. </a:t>
            </a:r>
          </a:p>
          <a:p>
            <a:r>
              <a:rPr lang="en-US" sz="1300" b="0" i="0" u="none" strike="noStrike" baseline="0" dirty="0">
                <a:latin typeface="Palatino Linotype" panose="02040502050505030304" pitchFamily="18" charset="0"/>
              </a:rPr>
              <a:t>5. </a:t>
            </a:r>
            <a:r>
              <a:rPr lang="en-US" sz="1300" b="1" i="0" u="none" strike="noStrike" baseline="0" dirty="0">
                <a:latin typeface="Palatino Linotype" panose="02040502050505030304" pitchFamily="18" charset="0"/>
              </a:rPr>
              <a:t>Registration: </a:t>
            </a:r>
            <a:r>
              <a:rPr lang="en-US" sz="1300" b="0" i="0" u="none" strike="noStrike" baseline="0" dirty="0">
                <a:latin typeface="Palatino Linotype" panose="02040502050505030304" pitchFamily="18" charset="0"/>
              </a:rPr>
              <a:t>The Registrar awards the ISO certification after the successful completion of all the phases. </a:t>
            </a:r>
          </a:p>
          <a:p>
            <a:r>
              <a:rPr lang="en-US" sz="1300" b="0" i="0" u="none" strike="noStrike" baseline="0" dirty="0">
                <a:latin typeface="Palatino Linotype" panose="02040502050505030304" pitchFamily="18" charset="0"/>
              </a:rPr>
              <a:t>6. </a:t>
            </a:r>
            <a:r>
              <a:rPr lang="en-US" sz="1300" b="1" i="0" u="none" strike="noStrike" baseline="0" dirty="0">
                <a:latin typeface="Palatino Linotype" panose="02040502050505030304" pitchFamily="18" charset="0"/>
              </a:rPr>
              <a:t>Continued Inspection: </a:t>
            </a:r>
            <a:r>
              <a:rPr lang="en-US" sz="1300" b="0" i="0" u="none" strike="noStrike" baseline="0" dirty="0">
                <a:latin typeface="Palatino Linotype" panose="02040502050505030304" pitchFamily="18" charset="0"/>
              </a:rPr>
              <a:t>The registrar continued to monitor the organization time by time. </a:t>
            </a:r>
          </a:p>
          <a:p>
            <a:endParaRPr lang="en-IN" sz="1300" dirty="0">
              <a:latin typeface="Palatino Linotype" panose="02040502050505030304" pitchFamily="18" charset="0"/>
            </a:endParaRPr>
          </a:p>
        </p:txBody>
      </p:sp>
    </p:spTree>
    <p:extLst>
      <p:ext uri="{BB962C8B-B14F-4D97-AF65-F5344CB8AC3E}">
        <p14:creationId xmlns:p14="http://schemas.microsoft.com/office/powerpoint/2010/main" val="9962613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E43EE-66FD-4814-8B63-D1B9F86EE4C2}"/>
              </a:ext>
            </a:extLst>
          </p:cNvPr>
          <p:cNvSpPr>
            <a:spLocks noGrp="1"/>
          </p:cNvSpPr>
          <p:nvPr>
            <p:ph type="title" idx="4294967295"/>
          </p:nvPr>
        </p:nvSpPr>
        <p:spPr>
          <a:xfrm>
            <a:off x="0" y="452438"/>
            <a:ext cx="10515600" cy="777875"/>
          </a:xfrm>
        </p:spPr>
        <p:txBody>
          <a:bodyPr>
            <a:normAutofit/>
          </a:bodyPr>
          <a:lstStyle/>
          <a:p>
            <a:r>
              <a:rPr lang="en-US" sz="3200" b="1" dirty="0">
                <a:latin typeface="Palatino Linotype" panose="02040502050505030304" pitchFamily="18" charset="0"/>
              </a:rPr>
              <a:t>Why ISO Certification required by Software Industry?</a:t>
            </a:r>
            <a:endParaRPr lang="en-IN" sz="3200" b="1" dirty="0"/>
          </a:p>
        </p:txBody>
      </p:sp>
      <p:sp>
        <p:nvSpPr>
          <p:cNvPr id="3" name="Content Placeholder 2">
            <a:extLst>
              <a:ext uri="{FF2B5EF4-FFF2-40B4-BE49-F238E27FC236}">
                <a16:creationId xmlns:a16="http://schemas.microsoft.com/office/drawing/2014/main" id="{4D4A95C9-E34A-317B-DAD7-2CA2E3856388}"/>
              </a:ext>
            </a:extLst>
          </p:cNvPr>
          <p:cNvSpPr>
            <a:spLocks noGrp="1"/>
          </p:cNvSpPr>
          <p:nvPr>
            <p:ph idx="4294967295"/>
          </p:nvPr>
        </p:nvSpPr>
        <p:spPr>
          <a:xfrm>
            <a:off x="914400" y="2028825"/>
            <a:ext cx="9601200" cy="3576638"/>
          </a:xfrm>
        </p:spPr>
        <p:txBody>
          <a:bodyPr>
            <a:normAutofit fontScale="92500"/>
          </a:bodyPr>
          <a:lstStyle/>
          <a:p>
            <a:pPr marL="0" indent="0" algn="just">
              <a:buNone/>
            </a:pPr>
            <a:r>
              <a:rPr lang="en-US" sz="2200" dirty="0">
                <a:latin typeface="Palatino Linotype" panose="02040502050505030304" pitchFamily="18" charset="0"/>
              </a:rPr>
              <a:t>There are several reasons why software industry must get an ISO certification. Some of reasons are as follows :</a:t>
            </a:r>
          </a:p>
          <a:p>
            <a:pPr algn="just">
              <a:lnSpc>
                <a:spcPct val="150000"/>
              </a:lnSpc>
              <a:buFont typeface="Wingdings" panose="05000000000000000000" pitchFamily="2" charset="2"/>
              <a:buChar char="Ø"/>
            </a:pPr>
            <a:r>
              <a:rPr lang="en-US" sz="2200" dirty="0">
                <a:latin typeface="Palatino Linotype" panose="02040502050505030304" pitchFamily="18" charset="0"/>
              </a:rPr>
              <a:t>This certification has become a standards for international bidding.</a:t>
            </a:r>
          </a:p>
          <a:p>
            <a:pPr algn="just">
              <a:lnSpc>
                <a:spcPct val="150000"/>
              </a:lnSpc>
              <a:buFont typeface="Wingdings" panose="05000000000000000000" pitchFamily="2" charset="2"/>
              <a:buChar char="Ø"/>
            </a:pPr>
            <a:r>
              <a:rPr lang="en-US" sz="2200" dirty="0">
                <a:latin typeface="Palatino Linotype" panose="02040502050505030304" pitchFamily="18" charset="0"/>
              </a:rPr>
              <a:t>It helps in designing high-quality repeatable software products.</a:t>
            </a:r>
          </a:p>
          <a:p>
            <a:pPr algn="just">
              <a:lnSpc>
                <a:spcPct val="150000"/>
              </a:lnSpc>
              <a:buFont typeface="Wingdings" panose="05000000000000000000" pitchFamily="2" charset="2"/>
              <a:buChar char="Ø"/>
            </a:pPr>
            <a:r>
              <a:rPr lang="en-US" sz="2200" dirty="0">
                <a:latin typeface="Palatino Linotype" panose="02040502050505030304" pitchFamily="18" charset="0"/>
              </a:rPr>
              <a:t>It emphasis need for proper documentation.</a:t>
            </a:r>
          </a:p>
          <a:p>
            <a:pPr algn="just">
              <a:lnSpc>
                <a:spcPct val="150000"/>
              </a:lnSpc>
              <a:buFont typeface="Wingdings" panose="05000000000000000000" pitchFamily="2" charset="2"/>
              <a:buChar char="Ø"/>
            </a:pPr>
            <a:r>
              <a:rPr lang="en-US" sz="2200" dirty="0">
                <a:latin typeface="Palatino Linotype" panose="02040502050505030304" pitchFamily="18" charset="0"/>
              </a:rPr>
              <a:t>It facilitates development of optimal processes and totally quality measurements</a:t>
            </a:r>
            <a:endParaRPr lang="en-IN" sz="2200" dirty="0">
              <a:latin typeface="Palatino Linotype" panose="02040502050505030304" pitchFamily="18" charset="0"/>
            </a:endParaRPr>
          </a:p>
        </p:txBody>
      </p:sp>
    </p:spTree>
    <p:extLst>
      <p:ext uri="{BB962C8B-B14F-4D97-AF65-F5344CB8AC3E}">
        <p14:creationId xmlns:p14="http://schemas.microsoft.com/office/powerpoint/2010/main" val="335115935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Total Quality Management (TQM)</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5053510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Total Quality Management (TQM)</a:t>
            </a:r>
            <a:endParaRPr lang="en-US" dirty="0"/>
          </a:p>
        </p:txBody>
      </p:sp>
      <p:sp>
        <p:nvSpPr>
          <p:cNvPr id="3" name="Content Placeholder 2"/>
          <p:cNvSpPr>
            <a:spLocks noGrp="1"/>
          </p:cNvSpPr>
          <p:nvPr>
            <p:ph idx="1"/>
          </p:nvPr>
        </p:nvSpPr>
        <p:spPr/>
        <p:txBody>
          <a:bodyPr/>
          <a:lstStyle/>
          <a:p>
            <a:pPr marL="339725" indent="-339725" algn="just">
              <a:buFont typeface="Wingdings" panose="05000000000000000000" pitchFamily="2" charset="2"/>
              <a:buChar char="Ø"/>
            </a:pPr>
            <a:r>
              <a:rPr lang="en-US" dirty="0"/>
              <a:t>Total quality management (TQM) is an ongoing process of detecting and reducing or eliminating errors.</a:t>
            </a:r>
          </a:p>
          <a:p>
            <a:pPr marL="339725" indent="-339725" algn="just">
              <a:buFont typeface="Wingdings" panose="05000000000000000000" pitchFamily="2" charset="2"/>
              <a:buChar char="Ø"/>
            </a:pPr>
            <a:r>
              <a:rPr lang="en-US" dirty="0"/>
              <a:t>TQM is used to streamline supply chain management, improve customer service, and ensure that employees are properly trained.</a:t>
            </a:r>
          </a:p>
          <a:p>
            <a:pPr marL="339725" indent="-339725" algn="just">
              <a:buFont typeface="Wingdings" panose="05000000000000000000" pitchFamily="2" charset="2"/>
              <a:buChar char="Ø"/>
            </a:pPr>
            <a:r>
              <a:rPr lang="en-US" dirty="0"/>
              <a:t>The focus is to improve the quality of an organization’s outputs, including goods and services, through the continual improvement of internal practices.</a:t>
            </a:r>
          </a:p>
          <a:p>
            <a:pPr marL="339725" indent="-339725" algn="just">
              <a:buFont typeface="Wingdings" panose="05000000000000000000" pitchFamily="2" charset="2"/>
              <a:buChar char="Ø"/>
            </a:pPr>
            <a:r>
              <a:rPr lang="en-US" dirty="0"/>
              <a:t>Total quality management aims to hold all parties involved in the production process accountable for the overall quality of the final product or service.</a:t>
            </a:r>
          </a:p>
          <a:p>
            <a:pPr marL="339725" indent="-339725" algn="just">
              <a:buFont typeface="Wingdings" panose="05000000000000000000" pitchFamily="2" charset="2"/>
              <a:buChar char="Ø"/>
            </a:pPr>
            <a:r>
              <a:rPr lang="en-US" dirty="0"/>
              <a:t>There are often eight guiding principles to TQM that range from focusing on customers, to continually improving, and adhering to processes.</a:t>
            </a:r>
          </a:p>
          <a:p>
            <a:pPr>
              <a:buFont typeface="Wingdings" panose="05000000000000000000" pitchFamily="2" charset="2"/>
              <a:buChar char="Ø"/>
            </a:pPr>
            <a:endParaRPr lang="en-US" dirty="0"/>
          </a:p>
        </p:txBody>
      </p:sp>
    </p:spTree>
    <p:extLst>
      <p:ext uri="{BB962C8B-B14F-4D97-AF65-F5344CB8AC3E}">
        <p14:creationId xmlns:p14="http://schemas.microsoft.com/office/powerpoint/2010/main" val="106669746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Principles of TQM</a:t>
            </a:r>
            <a:endParaRPr lang="en-US" dirty="0"/>
          </a:p>
        </p:txBody>
      </p:sp>
      <p:sp>
        <p:nvSpPr>
          <p:cNvPr id="3" name="Content Placeholder 2"/>
          <p:cNvSpPr>
            <a:spLocks noGrp="1"/>
          </p:cNvSpPr>
          <p:nvPr>
            <p:ph idx="1"/>
          </p:nvPr>
        </p:nvSpPr>
        <p:spPr/>
        <p:txBody>
          <a:bodyPr>
            <a:normAutofit fontScale="85000" lnSpcReduction="20000"/>
          </a:bodyPr>
          <a:lstStyle/>
          <a:p>
            <a:pPr algn="just"/>
            <a:r>
              <a:rPr lang="en-US" dirty="0"/>
              <a:t>1. </a:t>
            </a:r>
            <a:r>
              <a:rPr lang="en-US" b="1" dirty="0"/>
              <a:t>Focus on Customers</a:t>
            </a:r>
          </a:p>
          <a:p>
            <a:pPr marL="282575" indent="-282575" algn="just">
              <a:buFont typeface="Wingdings" panose="05000000000000000000" pitchFamily="2" charset="2"/>
              <a:buChar char="Ø"/>
            </a:pPr>
            <a:r>
              <a:rPr lang="en-US" dirty="0"/>
              <a:t>Under TQM, your customers define whether your products are high quality. </a:t>
            </a:r>
          </a:p>
          <a:p>
            <a:pPr marL="282575" indent="-282575" algn="just">
              <a:buFont typeface="Wingdings" panose="05000000000000000000" pitchFamily="2" charset="2"/>
              <a:buChar char="Ø"/>
            </a:pPr>
            <a:r>
              <a:rPr lang="en-US" dirty="0"/>
              <a:t>Customer input is highly valued because it allows a company to better understand the needs and requirements in the manufacturing process. </a:t>
            </a:r>
          </a:p>
          <a:p>
            <a:pPr marL="282575" indent="-282575" algn="just">
              <a:buFont typeface="Wingdings" panose="05000000000000000000" pitchFamily="2" charset="2"/>
              <a:buChar char="Ø"/>
            </a:pPr>
            <a:r>
              <a:rPr lang="en-US" dirty="0"/>
              <a:t>Customer surveys may reveal insufficient durability of goods. This input is then fed back into TQM systems to implement better raw material sourcing, manufacturing processes, and </a:t>
            </a:r>
            <a:r>
              <a:rPr lang="en-US" u="sng" dirty="0"/>
              <a:t>quality control</a:t>
            </a:r>
            <a:r>
              <a:rPr lang="en-US" dirty="0"/>
              <a:t> procedures.</a:t>
            </a:r>
          </a:p>
          <a:p>
            <a:pPr algn="just"/>
            <a:r>
              <a:rPr lang="en-US" dirty="0"/>
              <a:t>2. </a:t>
            </a:r>
            <a:r>
              <a:rPr lang="en-US" b="1" dirty="0"/>
              <a:t>Commitment by Employees</a:t>
            </a:r>
          </a:p>
          <a:p>
            <a:pPr marL="339725" indent="-339725" algn="just">
              <a:buFont typeface="Wingdings" panose="05000000000000000000" pitchFamily="2" charset="2"/>
              <a:buChar char="Ø"/>
            </a:pPr>
            <a:r>
              <a:rPr lang="en-US" dirty="0"/>
              <a:t>Employees must buy into the processes and system if TQM is going to be successful. </a:t>
            </a:r>
          </a:p>
          <a:p>
            <a:pPr marL="339725" indent="-339725" algn="just">
              <a:buFont typeface="Wingdings" panose="05000000000000000000" pitchFamily="2" charset="2"/>
              <a:buChar char="Ø"/>
            </a:pPr>
            <a:r>
              <a:rPr lang="en-US" dirty="0"/>
              <a:t>This includes clearly communicating across departments and leaders what goals, expectations, needs, and constraints are in place. </a:t>
            </a:r>
          </a:p>
          <a:p>
            <a:pPr marL="339725" indent="-339725" algn="just">
              <a:buFont typeface="Wingdings" panose="05000000000000000000" pitchFamily="2" charset="2"/>
              <a:buChar char="Ø"/>
            </a:pPr>
            <a:r>
              <a:rPr lang="en-US" dirty="0"/>
              <a:t>A company adopting TQM principles must be willing to train employees and give them sufficient resources to complete tasks successfully and on time. </a:t>
            </a:r>
          </a:p>
          <a:p>
            <a:pPr marL="339725" indent="-339725" algn="just">
              <a:buFont typeface="Wingdings" panose="05000000000000000000" pitchFamily="2" charset="2"/>
              <a:buChar char="Ø"/>
            </a:pPr>
            <a:r>
              <a:rPr lang="en-US" dirty="0"/>
              <a:t>TQM also strives to reduce </a:t>
            </a:r>
            <a:r>
              <a:rPr lang="en-US" u="sng" dirty="0">
                <a:hlinkClick r:id="rId2"/>
              </a:rPr>
              <a:t>attrition</a:t>
            </a:r>
            <a:r>
              <a:rPr lang="en-US" dirty="0"/>
              <a:t> and maintain knowledgeable workers.</a:t>
            </a:r>
          </a:p>
          <a:p>
            <a:pPr algn="just"/>
            <a:endParaRPr lang="en-US" dirty="0"/>
          </a:p>
        </p:txBody>
      </p:sp>
    </p:spTree>
    <p:extLst>
      <p:ext uri="{BB962C8B-B14F-4D97-AF65-F5344CB8AC3E}">
        <p14:creationId xmlns:p14="http://schemas.microsoft.com/office/powerpoint/2010/main" val="11051509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pPr algn="just"/>
            <a:r>
              <a:rPr lang="en-US" dirty="0"/>
              <a:t>3. </a:t>
            </a:r>
            <a:r>
              <a:rPr lang="en-US" b="1" dirty="0"/>
              <a:t>Improve Continuously</a:t>
            </a:r>
          </a:p>
          <a:p>
            <a:pPr marL="339725" indent="-339725" algn="just">
              <a:buFont typeface="Wingdings" panose="05000000000000000000" pitchFamily="2" charset="2"/>
              <a:buChar char="Ø"/>
            </a:pPr>
            <a:r>
              <a:rPr lang="en-US" dirty="0"/>
              <a:t>A company should gradually evolve and strive for incremental, small improvements as it learns more about its customers, processes, and competition. </a:t>
            </a:r>
          </a:p>
          <a:p>
            <a:pPr marL="339725" indent="-339725" algn="just">
              <a:buFont typeface="Wingdings" panose="05000000000000000000" pitchFamily="2" charset="2"/>
              <a:buChar char="Ø"/>
            </a:pPr>
            <a:r>
              <a:rPr lang="en-US" dirty="0"/>
              <a:t>This concept of continuous improvement helps a company adapt to changing market expectations. </a:t>
            </a:r>
          </a:p>
          <a:p>
            <a:pPr marL="339725" indent="-339725" algn="just">
              <a:buFont typeface="Wingdings" panose="05000000000000000000" pitchFamily="2" charset="2"/>
              <a:buChar char="Ø"/>
            </a:pPr>
            <a:r>
              <a:rPr lang="en-US" dirty="0"/>
              <a:t>It allows for greater adaptability to different products, markets, customers, or regions. </a:t>
            </a:r>
          </a:p>
          <a:p>
            <a:pPr marL="339725" indent="-339725" algn="just">
              <a:buFont typeface="Wingdings" panose="05000000000000000000" pitchFamily="2" charset="2"/>
              <a:buChar char="Ø"/>
            </a:pPr>
            <a:r>
              <a:rPr lang="en-US" dirty="0"/>
              <a:t>Continuous improvement also drives and widens the </a:t>
            </a:r>
            <a:r>
              <a:rPr lang="en-US" u="sng" dirty="0">
                <a:hlinkClick r:id="rId2"/>
              </a:rPr>
              <a:t>competitive advantage</a:t>
            </a:r>
            <a:r>
              <a:rPr lang="en-US" dirty="0"/>
              <a:t> that a company has built over related companies.</a:t>
            </a:r>
          </a:p>
          <a:p>
            <a:pPr algn="just"/>
            <a:r>
              <a:rPr lang="en-US" b="1" dirty="0"/>
              <a:t>4. Adherence to Processes</a:t>
            </a:r>
          </a:p>
          <a:p>
            <a:pPr marL="339725" indent="-339725" algn="just">
              <a:buFont typeface="Wingdings" panose="05000000000000000000" pitchFamily="2" charset="2"/>
              <a:buChar char="Ø"/>
            </a:pPr>
            <a:r>
              <a:rPr lang="en-US" dirty="0"/>
              <a:t>TQM’s systematic approach relies heavily on process flowcharts, TQM diagrams, visual action plans, and documented </a:t>
            </a:r>
            <a:r>
              <a:rPr lang="en-US" u="sng" dirty="0">
                <a:hlinkClick r:id="rId3"/>
              </a:rPr>
              <a:t>workflows</a:t>
            </a:r>
            <a:r>
              <a:rPr lang="en-US" dirty="0"/>
              <a:t>. </a:t>
            </a:r>
          </a:p>
          <a:p>
            <a:pPr marL="339725" indent="-339725" algn="just">
              <a:buFont typeface="Wingdings" panose="05000000000000000000" pitchFamily="2" charset="2"/>
              <a:buChar char="Ø"/>
            </a:pPr>
            <a:r>
              <a:rPr lang="en-US" dirty="0"/>
              <a:t>Every member engaged in the process must be aware and educated on their part of the process to ensure proper steps are taken at the right time of production. </a:t>
            </a:r>
          </a:p>
          <a:p>
            <a:pPr marL="339725" indent="-339725" algn="just">
              <a:buFont typeface="Wingdings" panose="05000000000000000000" pitchFamily="2" charset="2"/>
              <a:buChar char="Ø"/>
            </a:pPr>
            <a:r>
              <a:rPr lang="en-US" dirty="0"/>
              <a:t>These processes are then continually analyzed to better understand deficiencies in the process.</a:t>
            </a:r>
          </a:p>
          <a:p>
            <a:pPr algn="just"/>
            <a:endParaRPr lang="en-US" dirty="0"/>
          </a:p>
        </p:txBody>
      </p:sp>
    </p:spTree>
    <p:extLst>
      <p:ext uri="{BB962C8B-B14F-4D97-AF65-F5344CB8AC3E}">
        <p14:creationId xmlns:p14="http://schemas.microsoft.com/office/powerpoint/2010/main" val="197393970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r>
              <a:rPr lang="en-US" b="1" dirty="0"/>
              <a:t>5. Strategic and Systematic Approach</a:t>
            </a:r>
          </a:p>
          <a:p>
            <a:pPr marL="339725" indent="-339725" algn="just">
              <a:buFont typeface="Wingdings" panose="05000000000000000000" pitchFamily="2" charset="2"/>
              <a:buChar char="Ø"/>
            </a:pPr>
            <a:r>
              <a:rPr lang="en-US" dirty="0"/>
              <a:t>A company’s processes and procedures should be a direct reflection of the organization’s vision, </a:t>
            </a:r>
            <a:r>
              <a:rPr lang="en-US" u="sng" dirty="0">
                <a:hlinkClick r:id="rId2"/>
              </a:rPr>
              <a:t>mission</a:t>
            </a:r>
            <a:r>
              <a:rPr lang="en-US" dirty="0"/>
              <a:t>, and long-term plan. </a:t>
            </a:r>
          </a:p>
          <a:p>
            <a:pPr marL="339725" indent="-339725" algn="just">
              <a:buFont typeface="Wingdings" panose="05000000000000000000" pitchFamily="2" charset="2"/>
              <a:buChar char="Ø"/>
            </a:pPr>
            <a:r>
              <a:rPr lang="en-US" dirty="0"/>
              <a:t>TQM calls for a system approach to decision-making that requires that a company dedicate itself to integrating quality as its core component and making the appropriate financial investments to make that happen.</a:t>
            </a:r>
          </a:p>
          <a:p>
            <a:pPr algn="just"/>
            <a:r>
              <a:rPr lang="en-US" b="1" dirty="0"/>
              <a:t>6. Data Utilization</a:t>
            </a:r>
          </a:p>
          <a:p>
            <a:pPr marL="282575" indent="-282575" algn="just">
              <a:buFont typeface="Wingdings" panose="05000000000000000000" pitchFamily="2" charset="2"/>
              <a:buChar char="Ø"/>
            </a:pPr>
            <a:r>
              <a:rPr lang="en-US" dirty="0"/>
              <a:t>The systematic approach of TQM only works if feedback and input are given to evaluate how the process flow is moving. Management must continually rely on production, turnover, efficiency, and employee metrics to correlate the anticipated outcomes with the actual results.</a:t>
            </a:r>
          </a:p>
          <a:p>
            <a:pPr marL="282575" indent="-282575" algn="just">
              <a:buFont typeface="Wingdings" panose="05000000000000000000" pitchFamily="2" charset="2"/>
              <a:buChar char="Ø"/>
            </a:pPr>
            <a:r>
              <a:rPr lang="en-US" dirty="0"/>
              <a:t>TQM relies heavily on documentation and planning, and only by utilizing and </a:t>
            </a:r>
            <a:r>
              <a:rPr lang="en-US" u="sng" dirty="0">
                <a:hlinkClick r:id="rId3"/>
              </a:rPr>
              <a:t>analyzing data</a:t>
            </a:r>
            <a:r>
              <a:rPr lang="en-US" dirty="0"/>
              <a:t> can management understand if those plans are being met.</a:t>
            </a:r>
          </a:p>
          <a:p>
            <a:pPr algn="just"/>
            <a:endParaRPr lang="en-US" dirty="0"/>
          </a:p>
        </p:txBody>
      </p:sp>
    </p:spTree>
    <p:extLst>
      <p:ext uri="{BB962C8B-B14F-4D97-AF65-F5344CB8AC3E}">
        <p14:creationId xmlns:p14="http://schemas.microsoft.com/office/powerpoint/2010/main" val="22673249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1097280" y="1845733"/>
            <a:ext cx="10058400" cy="4404237"/>
          </a:xfrm>
        </p:spPr>
        <p:txBody>
          <a:bodyPr>
            <a:normAutofit fontScale="92500" lnSpcReduction="20000"/>
          </a:bodyPr>
          <a:lstStyle/>
          <a:p>
            <a:r>
              <a:rPr lang="en-US" dirty="0"/>
              <a:t>7. </a:t>
            </a:r>
            <a:r>
              <a:rPr lang="en-US" b="1" dirty="0"/>
              <a:t>Integrate Systems</a:t>
            </a:r>
          </a:p>
          <a:p>
            <a:pPr marL="339725" indent="-339725">
              <a:buFont typeface="Wingdings" panose="05000000000000000000" pitchFamily="2" charset="2"/>
              <a:buChar char="Ø"/>
            </a:pPr>
            <a:r>
              <a:rPr lang="en-US" dirty="0"/>
              <a:t>One way to utilize data is to integrate systems. </a:t>
            </a:r>
          </a:p>
          <a:p>
            <a:pPr marL="339725" indent="-339725">
              <a:buFont typeface="Wingdings" panose="05000000000000000000" pitchFamily="2" charset="2"/>
              <a:buChar char="Ø"/>
            </a:pPr>
            <a:r>
              <a:rPr lang="en-US" dirty="0"/>
              <a:t>TQM strategies believe systems should talk to each other, conveying useful information across departments and making smart decisions.</a:t>
            </a:r>
          </a:p>
          <a:p>
            <a:pPr marL="339725" indent="-339725">
              <a:buFont typeface="Wingdings" panose="05000000000000000000" pitchFamily="2" charset="2"/>
              <a:buChar char="Ø"/>
            </a:pPr>
            <a:r>
              <a:rPr lang="en-US" dirty="0"/>
              <a:t>When goods or inventory are used in one area, another department should have immediate access to that </a:t>
            </a:r>
            <a:r>
              <a:rPr lang="en-US" u="sng" dirty="0">
                <a:hlinkClick r:id="rId2"/>
              </a:rPr>
              <a:t>enterprise resource planning (ERP)</a:t>
            </a:r>
            <a:r>
              <a:rPr lang="en-US" dirty="0"/>
              <a:t> information. </a:t>
            </a:r>
          </a:p>
          <a:p>
            <a:pPr marL="339725" indent="-339725">
              <a:buFont typeface="Wingdings" panose="05000000000000000000" pitchFamily="2" charset="2"/>
              <a:buChar char="Ø"/>
            </a:pPr>
            <a:r>
              <a:rPr lang="en-US" dirty="0"/>
              <a:t>TQM strives to allow everyone to be on the same page at the same time by linking data sources and sharing information across systems.</a:t>
            </a:r>
          </a:p>
          <a:p>
            <a:r>
              <a:rPr lang="en-US" b="1" dirty="0"/>
              <a:t>8. Communication</a:t>
            </a:r>
          </a:p>
          <a:p>
            <a:pPr marL="339725" indent="-339725">
              <a:buFont typeface="Wingdings" panose="05000000000000000000" pitchFamily="2" charset="2"/>
              <a:buChar char="Ø"/>
            </a:pPr>
            <a:r>
              <a:rPr lang="en-US" dirty="0"/>
              <a:t>Data may transfer between departments freely, but there is a human element to coordinating processes and making sure an entire production line is operating efficiently.</a:t>
            </a:r>
          </a:p>
          <a:p>
            <a:pPr marL="339725" indent="-339725">
              <a:buFont typeface="Wingdings" panose="05000000000000000000" pitchFamily="2" charset="2"/>
              <a:buChar char="Ø"/>
            </a:pPr>
            <a:r>
              <a:rPr lang="en-US" dirty="0"/>
              <a:t>Effective communication plays a large part in TQM to motivate employees, educate members along a process, and avoid process errors, whether it is normal day-to-day operations or large organizational changes.</a:t>
            </a:r>
          </a:p>
          <a:p>
            <a:pPr marL="339725" indent="-339725">
              <a:buFont typeface="Wingdings" panose="05000000000000000000" pitchFamily="2" charset="2"/>
              <a:buChar char="Ø"/>
            </a:pPr>
            <a:endParaRPr lang="en-US" dirty="0"/>
          </a:p>
        </p:txBody>
      </p:sp>
    </p:spTree>
    <p:extLst>
      <p:ext uri="{BB962C8B-B14F-4D97-AF65-F5344CB8AC3E}">
        <p14:creationId xmlns:p14="http://schemas.microsoft.com/office/powerpoint/2010/main" val="33570983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How to Implement TQM</a:t>
            </a:r>
            <a:endParaRPr lang="en-US" dirty="0"/>
          </a:p>
        </p:txBody>
      </p:sp>
      <p:sp>
        <p:nvSpPr>
          <p:cNvPr id="3" name="Content Placeholder 2"/>
          <p:cNvSpPr>
            <a:spLocks noGrp="1"/>
          </p:cNvSpPr>
          <p:nvPr>
            <p:ph idx="1"/>
          </p:nvPr>
        </p:nvSpPr>
        <p:spPr/>
        <p:txBody>
          <a:bodyPr/>
          <a:lstStyle/>
          <a:p>
            <a:pPr marL="339725" indent="-339725">
              <a:buFont typeface="Wingdings" panose="05000000000000000000" pitchFamily="2" charset="2"/>
              <a:buChar char="Ø"/>
            </a:pPr>
            <a:r>
              <a:rPr lang="en-US" dirty="0"/>
              <a:t>Identify your company’s existing culture, its core values, and its systems.</a:t>
            </a:r>
          </a:p>
          <a:p>
            <a:pPr marL="339725" indent="-339725">
              <a:buFont typeface="Wingdings" panose="05000000000000000000" pitchFamily="2" charset="2"/>
              <a:buChar char="Ø"/>
            </a:pPr>
            <a:r>
              <a:rPr lang="en-US" dirty="0"/>
              <a:t>Use this information to create a system that will serve as your master plan.</a:t>
            </a:r>
          </a:p>
          <a:p>
            <a:pPr marL="339725" indent="-339725">
              <a:buFont typeface="Wingdings" panose="05000000000000000000" pitchFamily="2" charset="2"/>
              <a:buChar char="Ø"/>
            </a:pPr>
            <a:r>
              <a:rPr lang="en-US" dirty="0"/>
              <a:t>Establish what your customers and clients want and what they expect from your business. Determine how to best meet these expectations and needs.</a:t>
            </a:r>
          </a:p>
          <a:p>
            <a:pPr marL="339725" indent="-339725">
              <a:buFont typeface="Wingdings" panose="05000000000000000000" pitchFamily="2" charset="2"/>
              <a:buChar char="Ø"/>
            </a:pPr>
            <a:r>
              <a:rPr lang="en-US" dirty="0"/>
              <a:t>Create a team of management and employees to guide and implement your goals, and include these efforts in your daily business management process.</a:t>
            </a:r>
          </a:p>
          <a:p>
            <a:pPr marL="339725" indent="-339725">
              <a:buFont typeface="Wingdings" panose="05000000000000000000" pitchFamily="2" charset="2"/>
              <a:buChar char="Ø"/>
            </a:pPr>
            <a:r>
              <a:rPr lang="en-US" dirty="0"/>
              <a:t>Consistently gather feedback from employees and customers to gauge your progress.</a:t>
            </a:r>
          </a:p>
          <a:p>
            <a:pPr marL="339725" indent="-339725">
              <a:buFont typeface="Wingdings" panose="05000000000000000000" pitchFamily="2" charset="2"/>
              <a:buChar char="Ø"/>
            </a:pPr>
            <a:endParaRPr lang="en-US" dirty="0"/>
          </a:p>
        </p:txBody>
      </p:sp>
    </p:spTree>
    <p:extLst>
      <p:ext uri="{BB962C8B-B14F-4D97-AF65-F5344CB8AC3E}">
        <p14:creationId xmlns:p14="http://schemas.microsoft.com/office/powerpoint/2010/main" val="12422420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Pros and Cons of TQM</a:t>
            </a:r>
          </a:p>
        </p:txBody>
      </p:sp>
      <p:pic>
        <p:nvPicPr>
          <p:cNvPr id="4" name="Content Placeholder 3"/>
          <p:cNvPicPr>
            <a:picLocks noGrp="1" noChangeAspect="1"/>
          </p:cNvPicPr>
          <p:nvPr>
            <p:ph idx="1"/>
          </p:nvPr>
        </p:nvPicPr>
        <p:blipFill>
          <a:blip r:embed="rId2"/>
          <a:stretch>
            <a:fillRect/>
          </a:stretch>
        </p:blipFill>
        <p:spPr>
          <a:xfrm>
            <a:off x="3686851" y="1846263"/>
            <a:ext cx="4878623" cy="4022725"/>
          </a:xfrm>
          <a:prstGeom prst="rect">
            <a:avLst/>
          </a:prstGeom>
        </p:spPr>
      </p:pic>
    </p:spTree>
    <p:extLst>
      <p:ext uri="{BB962C8B-B14F-4D97-AF65-F5344CB8AC3E}">
        <p14:creationId xmlns:p14="http://schemas.microsoft.com/office/powerpoint/2010/main" val="25375786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idx="4294967295"/>
          </p:nvPr>
        </p:nvSpPr>
        <p:spPr>
          <a:xfrm>
            <a:off x="4648200" y="758825"/>
            <a:ext cx="7543800" cy="3565525"/>
          </a:xfrm>
        </p:spPr>
        <p:txBody>
          <a:bodyPr/>
          <a:lstStyle/>
          <a:p>
            <a:pPr>
              <a:defRPr/>
            </a:pPr>
            <a:r>
              <a:rPr lang="en-US" altLang="en-US" dirty="0"/>
              <a:t>Capability Maturity Model (CMM)</a:t>
            </a:r>
          </a:p>
        </p:txBody>
      </p:sp>
      <p:sp>
        <p:nvSpPr>
          <p:cNvPr id="2051" name="Rectangle 3"/>
          <p:cNvSpPr>
            <a:spLocks noGrp="1" noChangeArrowheads="1"/>
          </p:cNvSpPr>
          <p:nvPr>
            <p:ph type="subTitle" idx="4294967295"/>
          </p:nvPr>
        </p:nvSpPr>
        <p:spPr>
          <a:xfrm>
            <a:off x="4648200" y="4456113"/>
            <a:ext cx="7543800" cy="1143000"/>
          </a:xfrm>
        </p:spPr>
        <p:txBody>
          <a:bodyPr rtlCol="0"/>
          <a:lstStyle/>
          <a:p>
            <a:pPr fontAlgn="auto">
              <a:defRPr/>
            </a:pPr>
            <a:r>
              <a:rPr lang="en-US" altLang="en-US"/>
              <a:t> </a:t>
            </a:r>
          </a:p>
        </p:txBody>
      </p:sp>
    </p:spTree>
    <p:extLst>
      <p:ext uri="{BB962C8B-B14F-4D97-AF65-F5344CB8AC3E}">
        <p14:creationId xmlns:p14="http://schemas.microsoft.com/office/powerpoint/2010/main" val="6192999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32890" y="53248"/>
            <a:ext cx="10726674" cy="573786"/>
            <a:chOff x="102741" y="44373"/>
            <a:chExt cx="8938895" cy="478155"/>
          </a:xfrm>
        </p:grpSpPr>
        <p:sp>
          <p:nvSpPr>
            <p:cNvPr id="3" name="object 3"/>
            <p:cNvSpPr/>
            <p:nvPr/>
          </p:nvSpPr>
          <p:spPr>
            <a:xfrm>
              <a:off x="107504" y="49136"/>
              <a:ext cx="8929370" cy="468630"/>
            </a:xfrm>
            <a:custGeom>
              <a:avLst/>
              <a:gdLst/>
              <a:ahLst/>
              <a:cxnLst/>
              <a:rect l="l" t="t" r="r" b="b"/>
              <a:pathLst>
                <a:path w="8929370" h="468630">
                  <a:moveTo>
                    <a:pt x="8928989" y="0"/>
                  </a:moveTo>
                  <a:lnTo>
                    <a:pt x="0" y="0"/>
                  </a:lnTo>
                  <a:lnTo>
                    <a:pt x="0" y="468388"/>
                  </a:lnTo>
                  <a:lnTo>
                    <a:pt x="8928989" y="468388"/>
                  </a:lnTo>
                  <a:lnTo>
                    <a:pt x="8928989" y="0"/>
                  </a:lnTo>
                  <a:close/>
                </a:path>
              </a:pathLst>
            </a:custGeom>
            <a:solidFill>
              <a:srgbClr val="F9C090"/>
            </a:solidFill>
          </p:spPr>
          <p:txBody>
            <a:bodyPr wrap="square" lIns="0" tIns="0" rIns="0" bIns="0" rtlCol="0"/>
            <a:lstStyle/>
            <a:p>
              <a:endParaRPr sz="2160"/>
            </a:p>
          </p:txBody>
        </p:sp>
        <p:sp>
          <p:nvSpPr>
            <p:cNvPr id="4" name="object 4"/>
            <p:cNvSpPr/>
            <p:nvPr/>
          </p:nvSpPr>
          <p:spPr>
            <a:xfrm>
              <a:off x="107504" y="49136"/>
              <a:ext cx="8929370" cy="468630"/>
            </a:xfrm>
            <a:custGeom>
              <a:avLst/>
              <a:gdLst/>
              <a:ahLst/>
              <a:cxnLst/>
              <a:rect l="l" t="t" r="r" b="b"/>
              <a:pathLst>
                <a:path w="8929370" h="468630">
                  <a:moveTo>
                    <a:pt x="0" y="468388"/>
                  </a:moveTo>
                  <a:lnTo>
                    <a:pt x="8928989" y="468388"/>
                  </a:lnTo>
                  <a:lnTo>
                    <a:pt x="8928989" y="0"/>
                  </a:lnTo>
                  <a:lnTo>
                    <a:pt x="0" y="0"/>
                  </a:lnTo>
                  <a:lnTo>
                    <a:pt x="0" y="468388"/>
                  </a:lnTo>
                  <a:close/>
                </a:path>
              </a:pathLst>
            </a:custGeom>
            <a:ln w="9525">
              <a:solidFill>
                <a:srgbClr val="000000"/>
              </a:solidFill>
            </a:ln>
          </p:spPr>
          <p:txBody>
            <a:bodyPr wrap="square" lIns="0" tIns="0" rIns="0" bIns="0" rtlCol="0"/>
            <a:lstStyle/>
            <a:p>
              <a:endParaRPr sz="2160"/>
            </a:p>
          </p:txBody>
        </p:sp>
      </p:grpSp>
      <p:sp>
        <p:nvSpPr>
          <p:cNvPr id="5" name="object 5"/>
          <p:cNvSpPr txBox="1">
            <a:spLocks noGrp="1"/>
          </p:cNvSpPr>
          <p:nvPr>
            <p:ph type="title" idx="4294967295"/>
          </p:nvPr>
        </p:nvSpPr>
        <p:spPr>
          <a:xfrm>
            <a:off x="738606" y="-36890"/>
            <a:ext cx="11594796" cy="754063"/>
          </a:xfrm>
          <a:prstGeom prst="rect">
            <a:avLst/>
          </a:prstGeom>
        </p:spPr>
        <p:txBody>
          <a:bodyPr vert="horz" wrap="square" lIns="0" tIns="15240" rIns="0" bIns="0" rtlCol="0" anchor="b">
            <a:spAutoFit/>
          </a:bodyPr>
          <a:lstStyle/>
          <a:p>
            <a:pPr marL="15240">
              <a:lnSpc>
                <a:spcPct val="100000"/>
              </a:lnSpc>
              <a:spcBef>
                <a:spcPts val="120"/>
              </a:spcBef>
            </a:pPr>
            <a:r>
              <a:rPr dirty="0"/>
              <a:t>Process</a:t>
            </a:r>
            <a:r>
              <a:rPr spc="-108" dirty="0"/>
              <a:t> </a:t>
            </a:r>
            <a:r>
              <a:rPr spc="-24" dirty="0"/>
              <a:t>Improvement</a:t>
            </a:r>
            <a:r>
              <a:rPr spc="-102" dirty="0"/>
              <a:t> </a:t>
            </a:r>
            <a:r>
              <a:rPr dirty="0"/>
              <a:t>Models:</a:t>
            </a:r>
            <a:r>
              <a:rPr spc="-114" dirty="0"/>
              <a:t> </a:t>
            </a:r>
            <a:r>
              <a:rPr dirty="0"/>
              <a:t>CMM</a:t>
            </a:r>
            <a:r>
              <a:rPr spc="-120" dirty="0"/>
              <a:t> </a:t>
            </a:r>
            <a:r>
              <a:rPr dirty="0"/>
              <a:t>&amp;</a:t>
            </a:r>
            <a:r>
              <a:rPr spc="-114" dirty="0"/>
              <a:t> </a:t>
            </a:r>
            <a:r>
              <a:rPr spc="-24" dirty="0"/>
              <a:t>CMMI</a:t>
            </a:r>
          </a:p>
        </p:txBody>
      </p:sp>
      <p:sp>
        <p:nvSpPr>
          <p:cNvPr id="6" name="object 6"/>
          <p:cNvSpPr txBox="1"/>
          <p:nvPr/>
        </p:nvSpPr>
        <p:spPr>
          <a:xfrm>
            <a:off x="919521" y="731222"/>
            <a:ext cx="10441686" cy="5992410"/>
          </a:xfrm>
          <a:prstGeom prst="rect">
            <a:avLst/>
          </a:prstGeom>
        </p:spPr>
        <p:txBody>
          <a:bodyPr vert="horz" wrap="square" lIns="0" tIns="53340" rIns="0" bIns="0" rtlCol="0">
            <a:spAutoFit/>
          </a:bodyPr>
          <a:lstStyle/>
          <a:p>
            <a:pPr marL="15240">
              <a:spcBef>
                <a:spcPts val="420"/>
              </a:spcBef>
            </a:pPr>
            <a:r>
              <a:rPr sz="2640" b="1" spc="-30" dirty="0">
                <a:latin typeface="Calibri"/>
                <a:cs typeface="Calibri"/>
              </a:rPr>
              <a:t>CMM</a:t>
            </a:r>
            <a:endParaRPr sz="2640" dirty="0">
              <a:latin typeface="Calibri"/>
              <a:cs typeface="Calibri"/>
            </a:endParaRPr>
          </a:p>
          <a:p>
            <a:pPr marL="423672" indent="-408432" algn="just">
              <a:spcBef>
                <a:spcPts val="258"/>
              </a:spcBef>
              <a:buFont typeface="Arial MT"/>
              <a:buChar char="•"/>
              <a:tabLst>
                <a:tab pos="423672" algn="l"/>
              </a:tabLst>
            </a:pPr>
            <a:r>
              <a:rPr sz="2280" dirty="0">
                <a:latin typeface="Calibri"/>
                <a:cs typeface="Calibri"/>
              </a:rPr>
              <a:t>The</a:t>
            </a:r>
            <a:r>
              <a:rPr sz="2280" spc="54" dirty="0">
                <a:latin typeface="Calibri"/>
                <a:cs typeface="Calibri"/>
              </a:rPr>
              <a:t> </a:t>
            </a:r>
            <a:r>
              <a:rPr sz="2280" dirty="0">
                <a:latin typeface="Calibri"/>
                <a:cs typeface="Calibri"/>
              </a:rPr>
              <a:t>Capability</a:t>
            </a:r>
            <a:r>
              <a:rPr sz="2280" spc="54" dirty="0">
                <a:latin typeface="Calibri"/>
                <a:cs typeface="Calibri"/>
              </a:rPr>
              <a:t> </a:t>
            </a:r>
            <a:r>
              <a:rPr sz="2280" dirty="0">
                <a:latin typeface="Calibri"/>
                <a:cs typeface="Calibri"/>
              </a:rPr>
              <a:t>Maturity</a:t>
            </a:r>
            <a:r>
              <a:rPr sz="2280" spc="60" dirty="0">
                <a:latin typeface="Calibri"/>
                <a:cs typeface="Calibri"/>
              </a:rPr>
              <a:t> </a:t>
            </a:r>
            <a:r>
              <a:rPr sz="2280" dirty="0">
                <a:latin typeface="Calibri"/>
                <a:cs typeface="Calibri"/>
              </a:rPr>
              <a:t>Model</a:t>
            </a:r>
            <a:r>
              <a:rPr sz="2280" spc="54" dirty="0">
                <a:latin typeface="Calibri"/>
                <a:cs typeface="Calibri"/>
              </a:rPr>
              <a:t> </a:t>
            </a:r>
            <a:r>
              <a:rPr sz="2280" dirty="0">
                <a:latin typeface="Calibri"/>
                <a:cs typeface="Calibri"/>
              </a:rPr>
              <a:t>(CMM)</a:t>
            </a:r>
            <a:r>
              <a:rPr sz="2280" spc="48" dirty="0">
                <a:latin typeface="Calibri"/>
                <a:cs typeface="Calibri"/>
              </a:rPr>
              <a:t> </a:t>
            </a:r>
            <a:r>
              <a:rPr sz="2280" dirty="0">
                <a:latin typeface="Calibri"/>
                <a:cs typeface="Calibri"/>
              </a:rPr>
              <a:t>is</a:t>
            </a:r>
            <a:r>
              <a:rPr sz="2280" spc="42" dirty="0">
                <a:latin typeface="Calibri"/>
                <a:cs typeface="Calibri"/>
              </a:rPr>
              <a:t> </a:t>
            </a:r>
            <a:r>
              <a:rPr sz="2280" dirty="0">
                <a:latin typeface="Calibri"/>
                <a:cs typeface="Calibri"/>
              </a:rPr>
              <a:t>a</a:t>
            </a:r>
            <a:r>
              <a:rPr sz="2280" spc="60" dirty="0">
                <a:latin typeface="Calibri"/>
                <a:cs typeface="Calibri"/>
              </a:rPr>
              <a:t> </a:t>
            </a:r>
            <a:r>
              <a:rPr sz="2280" dirty="0">
                <a:latin typeface="Calibri"/>
                <a:cs typeface="Calibri"/>
              </a:rPr>
              <a:t>procedure</a:t>
            </a:r>
            <a:r>
              <a:rPr sz="2280" spc="54" dirty="0">
                <a:latin typeface="Calibri"/>
                <a:cs typeface="Calibri"/>
              </a:rPr>
              <a:t> </a:t>
            </a:r>
            <a:r>
              <a:rPr sz="2280" dirty="0">
                <a:latin typeface="Calibri"/>
                <a:cs typeface="Calibri"/>
              </a:rPr>
              <a:t>used</a:t>
            </a:r>
            <a:r>
              <a:rPr sz="2280" spc="54" dirty="0">
                <a:latin typeface="Calibri"/>
                <a:cs typeface="Calibri"/>
              </a:rPr>
              <a:t> </a:t>
            </a:r>
            <a:r>
              <a:rPr sz="2280" dirty="0">
                <a:latin typeface="Calibri"/>
                <a:cs typeface="Calibri"/>
              </a:rPr>
              <a:t>to</a:t>
            </a:r>
            <a:r>
              <a:rPr sz="2280" spc="54" dirty="0">
                <a:latin typeface="Calibri"/>
                <a:cs typeface="Calibri"/>
              </a:rPr>
              <a:t> </a:t>
            </a:r>
            <a:r>
              <a:rPr sz="2280" b="1" i="1" dirty="0">
                <a:solidFill>
                  <a:srgbClr val="006FC0"/>
                </a:solidFill>
                <a:latin typeface="Calibri"/>
                <a:cs typeface="Calibri"/>
              </a:rPr>
              <a:t>develop</a:t>
            </a:r>
            <a:r>
              <a:rPr sz="2280" b="1" i="1" spc="42" dirty="0">
                <a:solidFill>
                  <a:srgbClr val="006FC0"/>
                </a:solidFill>
                <a:latin typeface="Calibri"/>
                <a:cs typeface="Calibri"/>
              </a:rPr>
              <a:t> </a:t>
            </a:r>
            <a:r>
              <a:rPr sz="2280" b="1" i="1" dirty="0">
                <a:solidFill>
                  <a:srgbClr val="006FC0"/>
                </a:solidFill>
                <a:latin typeface="Calibri"/>
                <a:cs typeface="Calibri"/>
              </a:rPr>
              <a:t>and</a:t>
            </a:r>
            <a:r>
              <a:rPr sz="2280" b="1" i="1" spc="30" dirty="0">
                <a:solidFill>
                  <a:srgbClr val="006FC0"/>
                </a:solidFill>
                <a:latin typeface="Calibri"/>
                <a:cs typeface="Calibri"/>
              </a:rPr>
              <a:t> </a:t>
            </a:r>
            <a:r>
              <a:rPr sz="2280" b="1" i="1" dirty="0">
                <a:solidFill>
                  <a:srgbClr val="006FC0"/>
                </a:solidFill>
                <a:latin typeface="Calibri"/>
                <a:cs typeface="Calibri"/>
              </a:rPr>
              <a:t>refine</a:t>
            </a:r>
            <a:r>
              <a:rPr sz="2280" b="1" i="1" spc="54" dirty="0">
                <a:solidFill>
                  <a:srgbClr val="006FC0"/>
                </a:solidFill>
                <a:latin typeface="Calibri"/>
                <a:cs typeface="Calibri"/>
              </a:rPr>
              <a:t> </a:t>
            </a:r>
            <a:r>
              <a:rPr sz="2280" b="1" i="1" spc="-30" dirty="0">
                <a:solidFill>
                  <a:srgbClr val="006FC0"/>
                </a:solidFill>
                <a:latin typeface="Calibri"/>
                <a:cs typeface="Calibri"/>
              </a:rPr>
              <a:t>an</a:t>
            </a:r>
            <a:endParaRPr sz="2280" dirty="0">
              <a:latin typeface="Calibri"/>
              <a:cs typeface="Calibri"/>
            </a:endParaRPr>
          </a:p>
          <a:p>
            <a:pPr marL="426720" algn="just"/>
            <a:r>
              <a:rPr sz="2280" b="1" i="1" spc="-12" dirty="0">
                <a:solidFill>
                  <a:srgbClr val="006FC0"/>
                </a:solidFill>
                <a:latin typeface="Calibri"/>
                <a:cs typeface="Calibri"/>
              </a:rPr>
              <a:t>organization's</a:t>
            </a:r>
            <a:r>
              <a:rPr sz="2280" b="1" i="1" spc="-72" dirty="0">
                <a:solidFill>
                  <a:srgbClr val="006FC0"/>
                </a:solidFill>
                <a:latin typeface="Calibri"/>
                <a:cs typeface="Calibri"/>
              </a:rPr>
              <a:t> </a:t>
            </a:r>
            <a:r>
              <a:rPr sz="2280" b="1" i="1" dirty="0">
                <a:solidFill>
                  <a:srgbClr val="006FC0"/>
                </a:solidFill>
                <a:latin typeface="Calibri"/>
                <a:cs typeface="Calibri"/>
              </a:rPr>
              <a:t>software</a:t>
            </a:r>
            <a:r>
              <a:rPr sz="2280" b="1" i="1" spc="-54" dirty="0">
                <a:solidFill>
                  <a:srgbClr val="006FC0"/>
                </a:solidFill>
                <a:latin typeface="Calibri"/>
                <a:cs typeface="Calibri"/>
              </a:rPr>
              <a:t> </a:t>
            </a:r>
            <a:r>
              <a:rPr sz="2280" b="1" i="1" spc="-12" dirty="0">
                <a:solidFill>
                  <a:srgbClr val="006FC0"/>
                </a:solidFill>
                <a:latin typeface="Calibri"/>
                <a:cs typeface="Calibri"/>
              </a:rPr>
              <a:t>development</a:t>
            </a:r>
            <a:r>
              <a:rPr sz="2280" b="1" i="1" spc="-66" dirty="0">
                <a:solidFill>
                  <a:srgbClr val="006FC0"/>
                </a:solidFill>
                <a:latin typeface="Calibri"/>
                <a:cs typeface="Calibri"/>
              </a:rPr>
              <a:t> </a:t>
            </a:r>
            <a:r>
              <a:rPr sz="2280" b="1" i="1" spc="-12" dirty="0">
                <a:solidFill>
                  <a:srgbClr val="006FC0"/>
                </a:solidFill>
                <a:latin typeface="Calibri"/>
                <a:cs typeface="Calibri"/>
              </a:rPr>
              <a:t>process</a:t>
            </a:r>
            <a:r>
              <a:rPr sz="2280" spc="-12" dirty="0">
                <a:latin typeface="Calibri"/>
                <a:cs typeface="Calibri"/>
              </a:rPr>
              <a:t>.</a:t>
            </a:r>
            <a:endParaRPr sz="2280" dirty="0">
              <a:latin typeface="Calibri"/>
              <a:cs typeface="Calibri"/>
            </a:endParaRPr>
          </a:p>
          <a:p>
            <a:pPr marL="423672" marR="8382" indent="-408432" algn="just">
              <a:spcBef>
                <a:spcPts val="245"/>
              </a:spcBef>
              <a:buFont typeface="Arial MT"/>
              <a:buChar char="•"/>
              <a:tabLst>
                <a:tab pos="426720" algn="l"/>
              </a:tabLst>
            </a:pPr>
            <a:r>
              <a:rPr sz="2280" dirty="0">
                <a:latin typeface="Calibri"/>
                <a:cs typeface="Calibri"/>
              </a:rPr>
              <a:t>It</a:t>
            </a:r>
            <a:r>
              <a:rPr sz="2280" spc="216" dirty="0">
                <a:latin typeface="Calibri"/>
                <a:cs typeface="Calibri"/>
              </a:rPr>
              <a:t> </a:t>
            </a:r>
            <a:r>
              <a:rPr sz="2280" dirty="0">
                <a:latin typeface="Calibri"/>
                <a:cs typeface="Calibri"/>
              </a:rPr>
              <a:t>also</a:t>
            </a:r>
            <a:r>
              <a:rPr sz="2280" spc="228" dirty="0">
                <a:latin typeface="Calibri"/>
                <a:cs typeface="Calibri"/>
              </a:rPr>
              <a:t> </a:t>
            </a:r>
            <a:r>
              <a:rPr sz="2280" dirty="0">
                <a:latin typeface="Calibri"/>
                <a:cs typeface="Calibri"/>
              </a:rPr>
              <a:t>provides</a:t>
            </a:r>
            <a:r>
              <a:rPr sz="2280" spc="240" dirty="0">
                <a:latin typeface="Calibri"/>
                <a:cs typeface="Calibri"/>
              </a:rPr>
              <a:t> </a:t>
            </a:r>
            <a:r>
              <a:rPr sz="2280" dirty="0">
                <a:latin typeface="Calibri"/>
                <a:cs typeface="Calibri"/>
              </a:rPr>
              <a:t>guidelines</a:t>
            </a:r>
            <a:r>
              <a:rPr sz="2280" spc="234" dirty="0">
                <a:latin typeface="Calibri"/>
                <a:cs typeface="Calibri"/>
              </a:rPr>
              <a:t> </a:t>
            </a:r>
            <a:r>
              <a:rPr sz="2280" dirty="0">
                <a:latin typeface="Calibri"/>
                <a:cs typeface="Calibri"/>
              </a:rPr>
              <a:t>to</a:t>
            </a:r>
            <a:r>
              <a:rPr sz="2280" spc="228" dirty="0">
                <a:latin typeface="Calibri"/>
                <a:cs typeface="Calibri"/>
              </a:rPr>
              <a:t> </a:t>
            </a:r>
            <a:r>
              <a:rPr sz="2280" dirty="0">
                <a:latin typeface="Calibri"/>
                <a:cs typeface="Calibri"/>
              </a:rPr>
              <a:t>enhance</a:t>
            </a:r>
            <a:r>
              <a:rPr sz="2280" spc="228" dirty="0">
                <a:latin typeface="Calibri"/>
                <a:cs typeface="Calibri"/>
              </a:rPr>
              <a:t> </a:t>
            </a:r>
            <a:r>
              <a:rPr sz="2280" dirty="0">
                <a:latin typeface="Calibri"/>
                <a:cs typeface="Calibri"/>
              </a:rPr>
              <a:t>further</a:t>
            </a:r>
            <a:r>
              <a:rPr sz="2280" spc="234" dirty="0">
                <a:latin typeface="Calibri"/>
                <a:cs typeface="Calibri"/>
              </a:rPr>
              <a:t> </a:t>
            </a:r>
            <a:r>
              <a:rPr sz="2280" dirty="0">
                <a:latin typeface="Calibri"/>
                <a:cs typeface="Calibri"/>
              </a:rPr>
              <a:t>the</a:t>
            </a:r>
            <a:r>
              <a:rPr sz="2280" spc="222" dirty="0">
                <a:latin typeface="Calibri"/>
                <a:cs typeface="Calibri"/>
              </a:rPr>
              <a:t> </a:t>
            </a:r>
            <a:r>
              <a:rPr sz="2280" dirty="0">
                <a:latin typeface="Calibri"/>
                <a:cs typeface="Calibri"/>
              </a:rPr>
              <a:t>maturity</a:t>
            </a:r>
            <a:r>
              <a:rPr sz="2280" spc="228" dirty="0">
                <a:latin typeface="Calibri"/>
                <a:cs typeface="Calibri"/>
              </a:rPr>
              <a:t> </a:t>
            </a:r>
            <a:r>
              <a:rPr sz="2280" dirty="0">
                <a:latin typeface="Calibri"/>
                <a:cs typeface="Calibri"/>
              </a:rPr>
              <a:t>of</a:t>
            </a:r>
            <a:r>
              <a:rPr sz="2280" spc="222" dirty="0">
                <a:latin typeface="Calibri"/>
                <a:cs typeface="Calibri"/>
              </a:rPr>
              <a:t> </a:t>
            </a:r>
            <a:r>
              <a:rPr sz="2280" dirty="0">
                <a:latin typeface="Calibri"/>
                <a:cs typeface="Calibri"/>
              </a:rPr>
              <a:t>the</a:t>
            </a:r>
            <a:r>
              <a:rPr sz="2280" spc="222" dirty="0">
                <a:latin typeface="Calibri"/>
                <a:cs typeface="Calibri"/>
              </a:rPr>
              <a:t> </a:t>
            </a:r>
            <a:r>
              <a:rPr sz="2280" dirty="0">
                <a:latin typeface="Calibri"/>
                <a:cs typeface="Calibri"/>
              </a:rPr>
              <a:t>process</a:t>
            </a:r>
            <a:r>
              <a:rPr sz="2280" spc="234" dirty="0">
                <a:latin typeface="Calibri"/>
                <a:cs typeface="Calibri"/>
              </a:rPr>
              <a:t> </a:t>
            </a:r>
            <a:r>
              <a:rPr sz="2280" dirty="0">
                <a:latin typeface="Calibri"/>
                <a:cs typeface="Calibri"/>
              </a:rPr>
              <a:t>used</a:t>
            </a:r>
            <a:r>
              <a:rPr sz="2280" spc="216" dirty="0">
                <a:latin typeface="Calibri"/>
                <a:cs typeface="Calibri"/>
              </a:rPr>
              <a:t> </a:t>
            </a:r>
            <a:r>
              <a:rPr sz="2280" spc="-30" dirty="0">
                <a:latin typeface="Calibri"/>
                <a:cs typeface="Calibri"/>
              </a:rPr>
              <a:t>to 	</a:t>
            </a:r>
            <a:r>
              <a:rPr sz="2280" dirty="0">
                <a:latin typeface="Calibri"/>
                <a:cs typeface="Calibri"/>
              </a:rPr>
              <a:t>develop</a:t>
            </a:r>
            <a:r>
              <a:rPr sz="2280" spc="-48" dirty="0">
                <a:latin typeface="Calibri"/>
                <a:cs typeface="Calibri"/>
              </a:rPr>
              <a:t> </a:t>
            </a:r>
            <a:r>
              <a:rPr sz="2280" dirty="0">
                <a:latin typeface="Calibri"/>
                <a:cs typeface="Calibri"/>
              </a:rPr>
              <a:t>those</a:t>
            </a:r>
            <a:r>
              <a:rPr sz="2280" spc="-78" dirty="0">
                <a:latin typeface="Calibri"/>
                <a:cs typeface="Calibri"/>
              </a:rPr>
              <a:t> </a:t>
            </a:r>
            <a:r>
              <a:rPr sz="2280" spc="-12" dirty="0">
                <a:latin typeface="Calibri"/>
                <a:cs typeface="Calibri"/>
              </a:rPr>
              <a:t>software</a:t>
            </a:r>
            <a:r>
              <a:rPr sz="2280" spc="-72" dirty="0">
                <a:latin typeface="Calibri"/>
                <a:cs typeface="Calibri"/>
              </a:rPr>
              <a:t> </a:t>
            </a:r>
            <a:r>
              <a:rPr sz="2280" spc="-12" dirty="0">
                <a:latin typeface="Calibri"/>
                <a:cs typeface="Calibri"/>
              </a:rPr>
              <a:t>products.</a:t>
            </a:r>
            <a:endParaRPr sz="2280" dirty="0">
              <a:latin typeface="Calibri"/>
              <a:cs typeface="Calibri"/>
            </a:endParaRPr>
          </a:p>
          <a:p>
            <a:pPr marL="423672" indent="-408432" algn="just">
              <a:spcBef>
                <a:spcPts val="234"/>
              </a:spcBef>
              <a:buFont typeface="Arial MT"/>
              <a:buChar char="•"/>
              <a:tabLst>
                <a:tab pos="423672" algn="l"/>
              </a:tabLst>
            </a:pPr>
            <a:r>
              <a:rPr sz="2280" dirty="0">
                <a:latin typeface="Calibri"/>
                <a:cs typeface="Calibri"/>
              </a:rPr>
              <a:t>It</a:t>
            </a:r>
            <a:r>
              <a:rPr sz="2280" spc="318" dirty="0">
                <a:latin typeface="Calibri"/>
                <a:cs typeface="Calibri"/>
              </a:rPr>
              <a:t> </a:t>
            </a:r>
            <a:r>
              <a:rPr sz="2280" dirty="0">
                <a:latin typeface="Calibri"/>
                <a:cs typeface="Calibri"/>
              </a:rPr>
              <a:t>is</a:t>
            </a:r>
            <a:r>
              <a:rPr sz="2280" spc="324" dirty="0">
                <a:latin typeface="Calibri"/>
                <a:cs typeface="Calibri"/>
              </a:rPr>
              <a:t> </a:t>
            </a:r>
            <a:r>
              <a:rPr sz="2280" dirty="0">
                <a:latin typeface="Calibri"/>
                <a:cs typeface="Calibri"/>
              </a:rPr>
              <a:t>based</a:t>
            </a:r>
            <a:r>
              <a:rPr sz="2280" spc="318" dirty="0">
                <a:latin typeface="Calibri"/>
                <a:cs typeface="Calibri"/>
              </a:rPr>
              <a:t> </a:t>
            </a:r>
            <a:r>
              <a:rPr sz="2280" dirty="0">
                <a:latin typeface="Calibri"/>
                <a:cs typeface="Calibri"/>
              </a:rPr>
              <a:t>on</a:t>
            </a:r>
            <a:r>
              <a:rPr sz="2280" spc="324" dirty="0">
                <a:latin typeface="Calibri"/>
                <a:cs typeface="Calibri"/>
              </a:rPr>
              <a:t> </a:t>
            </a:r>
            <a:r>
              <a:rPr sz="2280" dirty="0">
                <a:latin typeface="Calibri"/>
                <a:cs typeface="Calibri"/>
              </a:rPr>
              <a:t>intense</a:t>
            </a:r>
            <a:r>
              <a:rPr sz="2280" spc="330" dirty="0">
                <a:latin typeface="Calibri"/>
                <a:cs typeface="Calibri"/>
              </a:rPr>
              <a:t> </a:t>
            </a:r>
            <a:r>
              <a:rPr sz="2280" dirty="0">
                <a:latin typeface="Calibri"/>
                <a:cs typeface="Calibri"/>
              </a:rPr>
              <a:t>feedback</a:t>
            </a:r>
            <a:r>
              <a:rPr sz="2280" spc="330" dirty="0">
                <a:latin typeface="Calibri"/>
                <a:cs typeface="Calibri"/>
              </a:rPr>
              <a:t> </a:t>
            </a:r>
            <a:r>
              <a:rPr sz="2280" dirty="0">
                <a:latin typeface="Calibri"/>
                <a:cs typeface="Calibri"/>
              </a:rPr>
              <a:t>and</a:t>
            </a:r>
            <a:r>
              <a:rPr sz="2280" spc="324" dirty="0">
                <a:latin typeface="Calibri"/>
                <a:cs typeface="Calibri"/>
              </a:rPr>
              <a:t> </a:t>
            </a:r>
            <a:r>
              <a:rPr sz="2280" dirty="0">
                <a:latin typeface="Calibri"/>
                <a:cs typeface="Calibri"/>
              </a:rPr>
              <a:t>development</a:t>
            </a:r>
            <a:r>
              <a:rPr sz="2280" spc="330" dirty="0">
                <a:latin typeface="Calibri"/>
                <a:cs typeface="Calibri"/>
              </a:rPr>
              <a:t> </a:t>
            </a:r>
            <a:r>
              <a:rPr sz="2280" dirty="0">
                <a:latin typeface="Calibri"/>
                <a:cs typeface="Calibri"/>
              </a:rPr>
              <a:t>practices</a:t>
            </a:r>
            <a:r>
              <a:rPr sz="2280" spc="330" dirty="0">
                <a:latin typeface="Calibri"/>
                <a:cs typeface="Calibri"/>
              </a:rPr>
              <a:t> </a:t>
            </a:r>
            <a:r>
              <a:rPr sz="2280" dirty="0">
                <a:latin typeface="Calibri"/>
                <a:cs typeface="Calibri"/>
              </a:rPr>
              <a:t>adopted</a:t>
            </a:r>
            <a:r>
              <a:rPr sz="2280" spc="324" dirty="0">
                <a:latin typeface="Calibri"/>
                <a:cs typeface="Calibri"/>
              </a:rPr>
              <a:t> </a:t>
            </a:r>
            <a:r>
              <a:rPr sz="2280" dirty="0">
                <a:latin typeface="Calibri"/>
                <a:cs typeface="Calibri"/>
              </a:rPr>
              <a:t>by</a:t>
            </a:r>
            <a:r>
              <a:rPr sz="2280" spc="324" dirty="0">
                <a:latin typeface="Calibri"/>
                <a:cs typeface="Calibri"/>
              </a:rPr>
              <a:t> </a:t>
            </a:r>
            <a:r>
              <a:rPr sz="2280" dirty="0">
                <a:latin typeface="Calibri"/>
                <a:cs typeface="Calibri"/>
              </a:rPr>
              <a:t>the</a:t>
            </a:r>
            <a:r>
              <a:rPr sz="2280" spc="318" dirty="0">
                <a:latin typeface="Calibri"/>
                <a:cs typeface="Calibri"/>
              </a:rPr>
              <a:t> </a:t>
            </a:r>
            <a:r>
              <a:rPr sz="2280" spc="-24" dirty="0">
                <a:latin typeface="Calibri"/>
                <a:cs typeface="Calibri"/>
              </a:rPr>
              <a:t>most</a:t>
            </a:r>
            <a:endParaRPr sz="2280" dirty="0">
              <a:latin typeface="Calibri"/>
              <a:cs typeface="Calibri"/>
            </a:endParaRPr>
          </a:p>
          <a:p>
            <a:pPr marL="426720" algn="just"/>
            <a:r>
              <a:rPr sz="2280" dirty="0">
                <a:latin typeface="Calibri"/>
                <a:cs typeface="Calibri"/>
              </a:rPr>
              <a:t>successful</a:t>
            </a:r>
            <a:r>
              <a:rPr sz="2280" spc="-120" dirty="0">
                <a:latin typeface="Calibri"/>
                <a:cs typeface="Calibri"/>
              </a:rPr>
              <a:t> </a:t>
            </a:r>
            <a:r>
              <a:rPr sz="2280" spc="-12" dirty="0">
                <a:latin typeface="Calibri"/>
                <a:cs typeface="Calibri"/>
              </a:rPr>
              <a:t>organizations</a:t>
            </a:r>
            <a:r>
              <a:rPr sz="2280" spc="-48" dirty="0">
                <a:latin typeface="Calibri"/>
                <a:cs typeface="Calibri"/>
              </a:rPr>
              <a:t> </a:t>
            </a:r>
            <a:r>
              <a:rPr sz="2280" spc="-12" dirty="0">
                <a:latin typeface="Calibri"/>
                <a:cs typeface="Calibri"/>
              </a:rPr>
              <a:t>worldwide.</a:t>
            </a:r>
            <a:endParaRPr sz="2280" dirty="0">
              <a:latin typeface="Calibri"/>
              <a:cs typeface="Calibri"/>
            </a:endParaRPr>
          </a:p>
          <a:p>
            <a:pPr marL="423672" marR="6096" indent="-408432" algn="just">
              <a:spcBef>
                <a:spcPts val="245"/>
              </a:spcBef>
              <a:buFont typeface="Arial MT"/>
              <a:buChar char="•"/>
              <a:tabLst>
                <a:tab pos="426720" algn="l"/>
              </a:tabLst>
            </a:pPr>
            <a:r>
              <a:rPr sz="2280" dirty="0">
                <a:latin typeface="Calibri"/>
                <a:cs typeface="Calibri"/>
              </a:rPr>
              <a:t>CMM</a:t>
            </a:r>
            <a:r>
              <a:rPr sz="2280" spc="18" dirty="0">
                <a:latin typeface="Calibri"/>
                <a:cs typeface="Calibri"/>
              </a:rPr>
              <a:t> </a:t>
            </a:r>
            <a:r>
              <a:rPr sz="2280" dirty="0">
                <a:latin typeface="Calibri"/>
                <a:cs typeface="Calibri"/>
              </a:rPr>
              <a:t>was</a:t>
            </a:r>
            <a:r>
              <a:rPr sz="2280" spc="24" dirty="0">
                <a:latin typeface="Calibri"/>
                <a:cs typeface="Calibri"/>
              </a:rPr>
              <a:t> </a:t>
            </a:r>
            <a:r>
              <a:rPr sz="2280" dirty="0">
                <a:latin typeface="Calibri"/>
                <a:cs typeface="Calibri"/>
              </a:rPr>
              <a:t>developed</a:t>
            </a:r>
            <a:r>
              <a:rPr sz="2280" spc="18" dirty="0">
                <a:latin typeface="Calibri"/>
                <a:cs typeface="Calibri"/>
              </a:rPr>
              <a:t> </a:t>
            </a:r>
            <a:r>
              <a:rPr sz="2280" dirty="0">
                <a:latin typeface="Calibri"/>
                <a:cs typeface="Calibri"/>
              </a:rPr>
              <a:t>and</a:t>
            </a:r>
            <a:r>
              <a:rPr sz="2280" spc="18" dirty="0">
                <a:latin typeface="Calibri"/>
                <a:cs typeface="Calibri"/>
              </a:rPr>
              <a:t> </a:t>
            </a:r>
            <a:r>
              <a:rPr sz="2280" dirty="0">
                <a:latin typeface="Calibri"/>
                <a:cs typeface="Calibri"/>
              </a:rPr>
              <a:t>is</a:t>
            </a:r>
            <a:r>
              <a:rPr sz="2280" spc="18" dirty="0">
                <a:latin typeface="Calibri"/>
                <a:cs typeface="Calibri"/>
              </a:rPr>
              <a:t> </a:t>
            </a:r>
            <a:r>
              <a:rPr sz="2280" dirty="0">
                <a:latin typeface="Calibri"/>
                <a:cs typeface="Calibri"/>
              </a:rPr>
              <a:t>promoted</a:t>
            </a:r>
            <a:r>
              <a:rPr sz="2280" spc="18" dirty="0">
                <a:latin typeface="Calibri"/>
                <a:cs typeface="Calibri"/>
              </a:rPr>
              <a:t> </a:t>
            </a:r>
            <a:r>
              <a:rPr sz="2280" dirty="0">
                <a:latin typeface="Calibri"/>
                <a:cs typeface="Calibri"/>
              </a:rPr>
              <a:t>by</a:t>
            </a:r>
            <a:r>
              <a:rPr sz="2280" spc="24" dirty="0">
                <a:latin typeface="Calibri"/>
                <a:cs typeface="Calibri"/>
              </a:rPr>
              <a:t> </a:t>
            </a:r>
            <a:r>
              <a:rPr sz="2280" dirty="0">
                <a:latin typeface="Calibri"/>
                <a:cs typeface="Calibri"/>
              </a:rPr>
              <a:t>the</a:t>
            </a:r>
            <a:r>
              <a:rPr sz="2280" spc="24" dirty="0">
                <a:latin typeface="Calibri"/>
                <a:cs typeface="Calibri"/>
              </a:rPr>
              <a:t> </a:t>
            </a:r>
            <a:r>
              <a:rPr sz="2280" b="1" dirty="0">
                <a:solidFill>
                  <a:srgbClr val="6F2F9F"/>
                </a:solidFill>
                <a:latin typeface="Calibri"/>
                <a:cs typeface="Calibri"/>
              </a:rPr>
              <a:t>Software</a:t>
            </a:r>
            <a:r>
              <a:rPr sz="2280" b="1" spc="24" dirty="0">
                <a:solidFill>
                  <a:srgbClr val="6F2F9F"/>
                </a:solidFill>
                <a:latin typeface="Calibri"/>
                <a:cs typeface="Calibri"/>
              </a:rPr>
              <a:t> </a:t>
            </a:r>
            <a:r>
              <a:rPr sz="2280" b="1" dirty="0">
                <a:solidFill>
                  <a:srgbClr val="6F2F9F"/>
                </a:solidFill>
                <a:latin typeface="Calibri"/>
                <a:cs typeface="Calibri"/>
              </a:rPr>
              <a:t>Engineering</a:t>
            </a:r>
            <a:r>
              <a:rPr sz="2280" b="1" spc="30" dirty="0">
                <a:solidFill>
                  <a:srgbClr val="6F2F9F"/>
                </a:solidFill>
                <a:latin typeface="Calibri"/>
                <a:cs typeface="Calibri"/>
              </a:rPr>
              <a:t> </a:t>
            </a:r>
            <a:r>
              <a:rPr sz="2280" b="1" dirty="0">
                <a:solidFill>
                  <a:srgbClr val="6F2F9F"/>
                </a:solidFill>
                <a:latin typeface="Calibri"/>
                <a:cs typeface="Calibri"/>
              </a:rPr>
              <a:t>Institute</a:t>
            </a:r>
            <a:r>
              <a:rPr sz="2280" b="1" spc="36" dirty="0">
                <a:solidFill>
                  <a:srgbClr val="6F2F9F"/>
                </a:solidFill>
                <a:latin typeface="Calibri"/>
                <a:cs typeface="Calibri"/>
              </a:rPr>
              <a:t> </a:t>
            </a:r>
            <a:r>
              <a:rPr sz="2280" dirty="0">
                <a:latin typeface="Calibri"/>
                <a:cs typeface="Calibri"/>
              </a:rPr>
              <a:t>(SEI),</a:t>
            </a:r>
            <a:r>
              <a:rPr sz="2280" spc="12" dirty="0">
                <a:latin typeface="Calibri"/>
                <a:cs typeface="Calibri"/>
              </a:rPr>
              <a:t> </a:t>
            </a:r>
            <a:r>
              <a:rPr sz="2280" spc="-60" dirty="0">
                <a:latin typeface="Calibri"/>
                <a:cs typeface="Calibri"/>
              </a:rPr>
              <a:t>a 	</a:t>
            </a:r>
            <a:r>
              <a:rPr sz="2280" dirty="0">
                <a:latin typeface="Calibri"/>
                <a:cs typeface="Calibri"/>
              </a:rPr>
              <a:t>research</a:t>
            </a:r>
            <a:r>
              <a:rPr sz="2280" spc="456" dirty="0">
                <a:latin typeface="Calibri"/>
                <a:cs typeface="Calibri"/>
              </a:rPr>
              <a:t> </a:t>
            </a:r>
            <a:r>
              <a:rPr sz="2280" dirty="0">
                <a:latin typeface="Calibri"/>
                <a:cs typeface="Calibri"/>
              </a:rPr>
              <a:t>and</a:t>
            </a:r>
            <a:r>
              <a:rPr sz="2280" spc="462" dirty="0">
                <a:latin typeface="Calibri"/>
                <a:cs typeface="Calibri"/>
              </a:rPr>
              <a:t> </a:t>
            </a:r>
            <a:r>
              <a:rPr sz="2280" dirty="0">
                <a:latin typeface="Calibri"/>
                <a:cs typeface="Calibri"/>
              </a:rPr>
              <a:t>development</a:t>
            </a:r>
            <a:r>
              <a:rPr sz="2280" spc="462" dirty="0">
                <a:latin typeface="Calibri"/>
                <a:cs typeface="Calibri"/>
              </a:rPr>
              <a:t> </a:t>
            </a:r>
            <a:r>
              <a:rPr sz="2280" dirty="0">
                <a:latin typeface="Calibri"/>
                <a:cs typeface="Calibri"/>
              </a:rPr>
              <a:t>center</a:t>
            </a:r>
            <a:r>
              <a:rPr sz="2280" spc="462" dirty="0">
                <a:latin typeface="Calibri"/>
                <a:cs typeface="Calibri"/>
              </a:rPr>
              <a:t> </a:t>
            </a:r>
            <a:r>
              <a:rPr sz="2280" dirty="0">
                <a:latin typeface="Calibri"/>
                <a:cs typeface="Calibri"/>
              </a:rPr>
              <a:t>promote</a:t>
            </a:r>
            <a:r>
              <a:rPr sz="2280" spc="480" dirty="0">
                <a:latin typeface="Calibri"/>
                <a:cs typeface="Calibri"/>
              </a:rPr>
              <a:t> </a:t>
            </a:r>
            <a:r>
              <a:rPr sz="2280" dirty="0">
                <a:latin typeface="Calibri"/>
                <a:cs typeface="Calibri"/>
              </a:rPr>
              <a:t>by</a:t>
            </a:r>
            <a:r>
              <a:rPr sz="2280" spc="456" dirty="0">
                <a:latin typeface="Calibri"/>
                <a:cs typeface="Calibri"/>
              </a:rPr>
              <a:t> </a:t>
            </a:r>
            <a:r>
              <a:rPr sz="2280" dirty="0">
                <a:latin typeface="Calibri"/>
                <a:cs typeface="Calibri"/>
              </a:rPr>
              <a:t>the</a:t>
            </a:r>
            <a:r>
              <a:rPr sz="2280" spc="456" dirty="0">
                <a:latin typeface="Calibri"/>
                <a:cs typeface="Calibri"/>
              </a:rPr>
              <a:t> </a:t>
            </a:r>
            <a:r>
              <a:rPr sz="2280" b="1" dirty="0">
                <a:solidFill>
                  <a:srgbClr val="6F2F9F"/>
                </a:solidFill>
                <a:latin typeface="Calibri"/>
                <a:cs typeface="Calibri"/>
              </a:rPr>
              <a:t>U.S.</a:t>
            </a:r>
            <a:r>
              <a:rPr sz="2280" b="1" spc="468" dirty="0">
                <a:solidFill>
                  <a:srgbClr val="6F2F9F"/>
                </a:solidFill>
                <a:latin typeface="Calibri"/>
                <a:cs typeface="Calibri"/>
              </a:rPr>
              <a:t> </a:t>
            </a:r>
            <a:r>
              <a:rPr sz="2280" b="1" dirty="0">
                <a:solidFill>
                  <a:srgbClr val="6F2F9F"/>
                </a:solidFill>
                <a:latin typeface="Calibri"/>
                <a:cs typeface="Calibri"/>
              </a:rPr>
              <a:t>Department</a:t>
            </a:r>
            <a:r>
              <a:rPr sz="2280" b="1" spc="462" dirty="0">
                <a:solidFill>
                  <a:srgbClr val="6F2F9F"/>
                </a:solidFill>
                <a:latin typeface="Calibri"/>
                <a:cs typeface="Calibri"/>
              </a:rPr>
              <a:t> </a:t>
            </a:r>
            <a:r>
              <a:rPr sz="2280" b="1" dirty="0">
                <a:solidFill>
                  <a:srgbClr val="6F2F9F"/>
                </a:solidFill>
                <a:latin typeface="Calibri"/>
                <a:cs typeface="Calibri"/>
              </a:rPr>
              <a:t>of</a:t>
            </a:r>
            <a:r>
              <a:rPr sz="2280" b="1" spc="468" dirty="0">
                <a:solidFill>
                  <a:srgbClr val="6F2F9F"/>
                </a:solidFill>
                <a:latin typeface="Calibri"/>
                <a:cs typeface="Calibri"/>
              </a:rPr>
              <a:t> </a:t>
            </a:r>
            <a:r>
              <a:rPr sz="2280" b="1" spc="-12" dirty="0">
                <a:solidFill>
                  <a:srgbClr val="6F2F9F"/>
                </a:solidFill>
                <a:latin typeface="Calibri"/>
                <a:cs typeface="Calibri"/>
              </a:rPr>
              <a:t>Defense 	</a:t>
            </a:r>
            <a:r>
              <a:rPr sz="2280" spc="-12" dirty="0">
                <a:latin typeface="Calibri"/>
                <a:cs typeface="Calibri"/>
              </a:rPr>
              <a:t>(DOD).</a:t>
            </a:r>
            <a:endParaRPr sz="2280" dirty="0">
              <a:latin typeface="Calibri"/>
              <a:cs typeface="Calibri"/>
            </a:endParaRPr>
          </a:p>
          <a:p>
            <a:pPr marL="425958" indent="-410718">
              <a:spcBef>
                <a:spcPts val="245"/>
              </a:spcBef>
              <a:buFont typeface="Arial MT"/>
              <a:buChar char="•"/>
              <a:tabLst>
                <a:tab pos="425958" algn="l"/>
              </a:tabLst>
            </a:pPr>
            <a:r>
              <a:rPr sz="2280" b="1" dirty="0">
                <a:latin typeface="Calibri"/>
                <a:cs typeface="Calibri"/>
              </a:rPr>
              <a:t>Importance</a:t>
            </a:r>
            <a:r>
              <a:rPr sz="2280" b="1" spc="-42" dirty="0">
                <a:latin typeface="Calibri"/>
                <a:cs typeface="Calibri"/>
              </a:rPr>
              <a:t> </a:t>
            </a:r>
            <a:r>
              <a:rPr sz="2280" b="1" dirty="0">
                <a:latin typeface="Calibri"/>
                <a:cs typeface="Calibri"/>
              </a:rPr>
              <a:t>of</a:t>
            </a:r>
            <a:r>
              <a:rPr sz="2280" b="1" spc="-84" dirty="0">
                <a:latin typeface="Calibri"/>
                <a:cs typeface="Calibri"/>
              </a:rPr>
              <a:t> </a:t>
            </a:r>
            <a:r>
              <a:rPr sz="2280" b="1" dirty="0">
                <a:latin typeface="Calibri"/>
                <a:cs typeface="Calibri"/>
              </a:rPr>
              <a:t>Capability</a:t>
            </a:r>
            <a:r>
              <a:rPr sz="2280" b="1" spc="-84" dirty="0">
                <a:latin typeface="Calibri"/>
                <a:cs typeface="Calibri"/>
              </a:rPr>
              <a:t> </a:t>
            </a:r>
            <a:r>
              <a:rPr sz="2280" b="1" dirty="0">
                <a:latin typeface="Calibri"/>
                <a:cs typeface="Calibri"/>
              </a:rPr>
              <a:t>Maturity</a:t>
            </a:r>
            <a:r>
              <a:rPr sz="2280" b="1" spc="-84" dirty="0">
                <a:latin typeface="Calibri"/>
                <a:cs typeface="Calibri"/>
              </a:rPr>
              <a:t> </a:t>
            </a:r>
            <a:r>
              <a:rPr sz="2280" b="1" spc="-12" dirty="0">
                <a:latin typeface="Calibri"/>
                <a:cs typeface="Calibri"/>
              </a:rPr>
              <a:t>Model</a:t>
            </a:r>
            <a:endParaRPr sz="2280" dirty="0">
              <a:latin typeface="Calibri"/>
              <a:cs typeface="Calibri"/>
            </a:endParaRPr>
          </a:p>
          <a:p>
            <a:pPr marL="907542" lvl="1" indent="-343662">
              <a:spcBef>
                <a:spcPts val="234"/>
              </a:spcBef>
              <a:buFont typeface="Arial MT"/>
              <a:buChar char="–"/>
              <a:tabLst>
                <a:tab pos="907542" algn="l"/>
              </a:tabLst>
            </a:pPr>
            <a:r>
              <a:rPr sz="2280" b="1" i="1" spc="-12" dirty="0">
                <a:solidFill>
                  <a:srgbClr val="C00000"/>
                </a:solidFill>
                <a:latin typeface="Calibri"/>
                <a:cs typeface="Calibri"/>
              </a:rPr>
              <a:t>Optimization</a:t>
            </a:r>
            <a:r>
              <a:rPr sz="2280" b="1" i="1" spc="-30" dirty="0">
                <a:solidFill>
                  <a:srgbClr val="C00000"/>
                </a:solidFill>
                <a:latin typeface="Calibri"/>
                <a:cs typeface="Calibri"/>
              </a:rPr>
              <a:t> </a:t>
            </a:r>
            <a:r>
              <a:rPr sz="2280" b="1" i="1" dirty="0">
                <a:solidFill>
                  <a:srgbClr val="C00000"/>
                </a:solidFill>
                <a:latin typeface="Calibri"/>
                <a:cs typeface="Calibri"/>
              </a:rPr>
              <a:t>of</a:t>
            </a:r>
            <a:r>
              <a:rPr sz="2280" b="1" i="1" spc="-30" dirty="0">
                <a:solidFill>
                  <a:srgbClr val="C00000"/>
                </a:solidFill>
                <a:latin typeface="Calibri"/>
                <a:cs typeface="Calibri"/>
              </a:rPr>
              <a:t> </a:t>
            </a:r>
            <a:r>
              <a:rPr sz="2280" b="1" i="1" spc="-12" dirty="0">
                <a:solidFill>
                  <a:srgbClr val="C00000"/>
                </a:solidFill>
                <a:latin typeface="Calibri"/>
                <a:cs typeface="Calibri"/>
              </a:rPr>
              <a:t>Resources</a:t>
            </a:r>
            <a:endParaRPr sz="2280" dirty="0">
              <a:latin typeface="Calibri"/>
              <a:cs typeface="Calibri"/>
            </a:endParaRPr>
          </a:p>
          <a:p>
            <a:pPr marL="907542" lvl="1" indent="-343662">
              <a:spcBef>
                <a:spcPts val="245"/>
              </a:spcBef>
              <a:buFont typeface="Arial MT"/>
              <a:buChar char="–"/>
              <a:tabLst>
                <a:tab pos="907542" algn="l"/>
              </a:tabLst>
            </a:pPr>
            <a:r>
              <a:rPr sz="2280" b="1" i="1" dirty="0">
                <a:solidFill>
                  <a:srgbClr val="C00000"/>
                </a:solidFill>
                <a:latin typeface="Calibri"/>
                <a:cs typeface="Calibri"/>
              </a:rPr>
              <a:t>Comparing</a:t>
            </a:r>
            <a:r>
              <a:rPr sz="2280" b="1" i="1" spc="-36" dirty="0">
                <a:solidFill>
                  <a:srgbClr val="C00000"/>
                </a:solidFill>
                <a:latin typeface="Calibri"/>
                <a:cs typeface="Calibri"/>
              </a:rPr>
              <a:t> </a:t>
            </a:r>
            <a:r>
              <a:rPr sz="2280" b="1" i="1" dirty="0">
                <a:solidFill>
                  <a:srgbClr val="C00000"/>
                </a:solidFill>
                <a:latin typeface="Calibri"/>
                <a:cs typeface="Calibri"/>
              </a:rPr>
              <a:t>and</a:t>
            </a:r>
            <a:r>
              <a:rPr sz="2280" b="1" i="1" spc="-36" dirty="0">
                <a:solidFill>
                  <a:srgbClr val="C00000"/>
                </a:solidFill>
                <a:latin typeface="Calibri"/>
                <a:cs typeface="Calibri"/>
              </a:rPr>
              <a:t> </a:t>
            </a:r>
            <a:r>
              <a:rPr sz="2280" b="1" i="1" spc="-12" dirty="0">
                <a:solidFill>
                  <a:srgbClr val="C00000"/>
                </a:solidFill>
                <a:latin typeface="Calibri"/>
                <a:cs typeface="Calibri"/>
              </a:rPr>
              <a:t>Evaluating</a:t>
            </a:r>
            <a:endParaRPr sz="2280" dirty="0">
              <a:latin typeface="Calibri"/>
              <a:cs typeface="Calibri"/>
            </a:endParaRPr>
          </a:p>
          <a:p>
            <a:pPr marL="907542" lvl="1" indent="-343662">
              <a:spcBef>
                <a:spcPts val="245"/>
              </a:spcBef>
              <a:buFont typeface="Arial MT"/>
              <a:buChar char="–"/>
              <a:tabLst>
                <a:tab pos="907542" algn="l"/>
              </a:tabLst>
            </a:pPr>
            <a:r>
              <a:rPr sz="2280" b="1" i="1" spc="-12" dirty="0">
                <a:solidFill>
                  <a:srgbClr val="C00000"/>
                </a:solidFill>
                <a:latin typeface="Calibri"/>
                <a:cs typeface="Calibri"/>
              </a:rPr>
              <a:t>Management</a:t>
            </a:r>
            <a:r>
              <a:rPr sz="2280" b="1" i="1" spc="-6" dirty="0">
                <a:solidFill>
                  <a:srgbClr val="C00000"/>
                </a:solidFill>
                <a:latin typeface="Calibri"/>
                <a:cs typeface="Calibri"/>
              </a:rPr>
              <a:t> </a:t>
            </a:r>
            <a:r>
              <a:rPr sz="2280" b="1" i="1" dirty="0">
                <a:solidFill>
                  <a:srgbClr val="C00000"/>
                </a:solidFill>
                <a:latin typeface="Calibri"/>
                <a:cs typeface="Calibri"/>
              </a:rPr>
              <a:t>of</a:t>
            </a:r>
            <a:r>
              <a:rPr sz="2280" b="1" i="1" spc="-48" dirty="0">
                <a:solidFill>
                  <a:srgbClr val="C00000"/>
                </a:solidFill>
                <a:latin typeface="Calibri"/>
                <a:cs typeface="Calibri"/>
              </a:rPr>
              <a:t> </a:t>
            </a:r>
            <a:r>
              <a:rPr sz="2280" b="1" i="1" spc="-12" dirty="0">
                <a:solidFill>
                  <a:srgbClr val="C00000"/>
                </a:solidFill>
                <a:latin typeface="Calibri"/>
                <a:cs typeface="Calibri"/>
              </a:rPr>
              <a:t>Quality</a:t>
            </a:r>
            <a:endParaRPr sz="2280" dirty="0">
              <a:latin typeface="Calibri"/>
              <a:cs typeface="Calibri"/>
            </a:endParaRPr>
          </a:p>
          <a:p>
            <a:pPr marL="907542" lvl="1" indent="-343662">
              <a:spcBef>
                <a:spcPts val="228"/>
              </a:spcBef>
              <a:buFont typeface="Arial MT"/>
              <a:buChar char="–"/>
              <a:tabLst>
                <a:tab pos="907542" algn="l"/>
              </a:tabLst>
            </a:pPr>
            <a:r>
              <a:rPr sz="2280" b="1" i="1" spc="-12" dirty="0">
                <a:solidFill>
                  <a:srgbClr val="C00000"/>
                </a:solidFill>
                <a:latin typeface="Calibri"/>
                <a:cs typeface="Calibri"/>
              </a:rPr>
              <a:t>Enhancement</a:t>
            </a:r>
            <a:r>
              <a:rPr sz="2280" b="1" i="1" spc="-18" dirty="0">
                <a:solidFill>
                  <a:srgbClr val="C00000"/>
                </a:solidFill>
                <a:latin typeface="Calibri"/>
                <a:cs typeface="Calibri"/>
              </a:rPr>
              <a:t> </a:t>
            </a:r>
            <a:r>
              <a:rPr sz="2280" b="1" i="1" dirty="0">
                <a:solidFill>
                  <a:srgbClr val="C00000"/>
                </a:solidFill>
                <a:latin typeface="Calibri"/>
                <a:cs typeface="Calibri"/>
              </a:rPr>
              <a:t>of</a:t>
            </a:r>
            <a:r>
              <a:rPr sz="2280" b="1" i="1" spc="-48" dirty="0">
                <a:solidFill>
                  <a:srgbClr val="C00000"/>
                </a:solidFill>
                <a:latin typeface="Calibri"/>
                <a:cs typeface="Calibri"/>
              </a:rPr>
              <a:t> </a:t>
            </a:r>
            <a:r>
              <a:rPr sz="2280" b="1" i="1" spc="-12" dirty="0">
                <a:solidFill>
                  <a:srgbClr val="C00000"/>
                </a:solidFill>
                <a:latin typeface="Calibri"/>
                <a:cs typeface="Calibri"/>
              </a:rPr>
              <a:t>Process</a:t>
            </a:r>
            <a:endParaRPr sz="2280" dirty="0">
              <a:latin typeface="Calibri"/>
              <a:cs typeface="Calibri"/>
            </a:endParaRPr>
          </a:p>
          <a:p>
            <a:pPr marL="907542" lvl="1" indent="-343662">
              <a:spcBef>
                <a:spcPts val="245"/>
              </a:spcBef>
              <a:buFont typeface="Arial MT"/>
              <a:buChar char="–"/>
              <a:tabLst>
                <a:tab pos="907542" algn="l"/>
              </a:tabLst>
            </a:pPr>
            <a:r>
              <a:rPr sz="2280" b="1" i="1" dirty="0">
                <a:solidFill>
                  <a:srgbClr val="C00000"/>
                </a:solidFill>
                <a:latin typeface="Calibri"/>
                <a:cs typeface="Calibri"/>
              </a:rPr>
              <a:t>Increased</a:t>
            </a:r>
            <a:r>
              <a:rPr sz="2280" b="1" i="1" spc="-78" dirty="0">
                <a:solidFill>
                  <a:srgbClr val="C00000"/>
                </a:solidFill>
                <a:latin typeface="Calibri"/>
                <a:cs typeface="Calibri"/>
              </a:rPr>
              <a:t> </a:t>
            </a:r>
            <a:r>
              <a:rPr sz="2280" b="1" i="1" spc="-12" dirty="0">
                <a:solidFill>
                  <a:srgbClr val="C00000"/>
                </a:solidFill>
                <a:latin typeface="Calibri"/>
                <a:cs typeface="Calibri"/>
              </a:rPr>
              <a:t>Output</a:t>
            </a:r>
            <a:endParaRPr sz="2280" dirty="0">
              <a:latin typeface="Calibri"/>
              <a:cs typeface="Calibri"/>
            </a:endParaRPr>
          </a:p>
        </p:txBody>
      </p:sp>
    </p:spTree>
    <p:extLst>
      <p:ext uri="{BB962C8B-B14F-4D97-AF65-F5344CB8AC3E}">
        <p14:creationId xmlns:p14="http://schemas.microsoft.com/office/powerpoint/2010/main" val="417172655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9520" y="80254"/>
            <a:ext cx="6928104" cy="365485"/>
          </a:xfrm>
          <a:prstGeom prst="rect">
            <a:avLst/>
          </a:prstGeom>
        </p:spPr>
        <p:txBody>
          <a:bodyPr vert="horz" wrap="square" lIns="0" tIns="14478" rIns="0" bIns="0" rtlCol="0">
            <a:spAutoFit/>
          </a:bodyPr>
          <a:lstStyle/>
          <a:p>
            <a:pPr marL="425958" indent="-410718">
              <a:spcBef>
                <a:spcPts val="114"/>
              </a:spcBef>
              <a:buFont typeface="Arial MT"/>
              <a:buChar char="•"/>
              <a:tabLst>
                <a:tab pos="425958" algn="l"/>
              </a:tabLst>
            </a:pPr>
            <a:r>
              <a:rPr sz="2280" dirty="0">
                <a:latin typeface="Calibri"/>
                <a:cs typeface="Calibri"/>
              </a:rPr>
              <a:t>There</a:t>
            </a:r>
            <a:r>
              <a:rPr sz="2280" spc="-84" dirty="0">
                <a:latin typeface="Calibri"/>
                <a:cs typeface="Calibri"/>
              </a:rPr>
              <a:t> </a:t>
            </a:r>
            <a:r>
              <a:rPr sz="2280" dirty="0">
                <a:latin typeface="Calibri"/>
                <a:cs typeface="Calibri"/>
              </a:rPr>
              <a:t>are</a:t>
            </a:r>
            <a:r>
              <a:rPr sz="2280" spc="-72" dirty="0">
                <a:latin typeface="Calibri"/>
                <a:cs typeface="Calibri"/>
              </a:rPr>
              <a:t> </a:t>
            </a:r>
            <a:r>
              <a:rPr sz="2280" dirty="0">
                <a:latin typeface="Calibri"/>
                <a:cs typeface="Calibri"/>
              </a:rPr>
              <a:t>five</a:t>
            </a:r>
            <a:r>
              <a:rPr sz="2280" spc="-48" dirty="0">
                <a:latin typeface="Calibri"/>
                <a:cs typeface="Calibri"/>
              </a:rPr>
              <a:t> </a:t>
            </a:r>
            <a:r>
              <a:rPr sz="2280" dirty="0">
                <a:latin typeface="Calibri"/>
                <a:cs typeface="Calibri"/>
              </a:rPr>
              <a:t>levels</a:t>
            </a:r>
            <a:r>
              <a:rPr sz="2280" spc="-48" dirty="0">
                <a:latin typeface="Calibri"/>
                <a:cs typeface="Calibri"/>
              </a:rPr>
              <a:t> </a:t>
            </a:r>
            <a:r>
              <a:rPr sz="2280" dirty="0">
                <a:latin typeface="Calibri"/>
                <a:cs typeface="Calibri"/>
              </a:rPr>
              <a:t>to</a:t>
            </a:r>
            <a:r>
              <a:rPr sz="2280" spc="-78" dirty="0">
                <a:latin typeface="Calibri"/>
                <a:cs typeface="Calibri"/>
              </a:rPr>
              <a:t> </a:t>
            </a:r>
            <a:r>
              <a:rPr sz="2280" dirty="0">
                <a:latin typeface="Calibri"/>
                <a:cs typeface="Calibri"/>
              </a:rPr>
              <a:t>the</a:t>
            </a:r>
            <a:r>
              <a:rPr sz="2280" spc="-66" dirty="0">
                <a:latin typeface="Calibri"/>
                <a:cs typeface="Calibri"/>
              </a:rPr>
              <a:t> </a:t>
            </a:r>
            <a:r>
              <a:rPr sz="2280" dirty="0">
                <a:latin typeface="Calibri"/>
                <a:cs typeface="Calibri"/>
              </a:rPr>
              <a:t>CMM</a:t>
            </a:r>
            <a:r>
              <a:rPr sz="2280" spc="-66" dirty="0">
                <a:latin typeface="Calibri"/>
                <a:cs typeface="Calibri"/>
              </a:rPr>
              <a:t> </a:t>
            </a:r>
            <a:r>
              <a:rPr sz="2280" spc="-12" dirty="0">
                <a:latin typeface="Calibri"/>
                <a:cs typeface="Calibri"/>
              </a:rPr>
              <a:t>development</a:t>
            </a:r>
            <a:r>
              <a:rPr sz="2280" spc="-30" dirty="0">
                <a:latin typeface="Calibri"/>
                <a:cs typeface="Calibri"/>
              </a:rPr>
              <a:t> </a:t>
            </a:r>
            <a:r>
              <a:rPr sz="2280" spc="-12" dirty="0">
                <a:latin typeface="Calibri"/>
                <a:cs typeface="Calibri"/>
              </a:rPr>
              <a:t>process.</a:t>
            </a:r>
            <a:endParaRPr sz="2280">
              <a:latin typeface="Calibri"/>
              <a:cs typeface="Calibri"/>
            </a:endParaRPr>
          </a:p>
        </p:txBody>
      </p:sp>
      <p:grpSp>
        <p:nvGrpSpPr>
          <p:cNvPr id="3" name="object 3"/>
          <p:cNvGrpSpPr/>
          <p:nvPr/>
        </p:nvGrpSpPr>
        <p:grpSpPr>
          <a:xfrm>
            <a:off x="1039230" y="652424"/>
            <a:ext cx="10166604" cy="6044184"/>
            <a:chOff x="358025" y="543687"/>
            <a:chExt cx="8472170" cy="5036820"/>
          </a:xfrm>
        </p:grpSpPr>
        <p:pic>
          <p:nvPicPr>
            <p:cNvPr id="4" name="object 4"/>
            <p:cNvPicPr/>
            <p:nvPr/>
          </p:nvPicPr>
          <p:blipFill>
            <a:blip r:embed="rId2" cstate="print"/>
            <a:stretch>
              <a:fillRect/>
            </a:stretch>
          </p:blipFill>
          <p:spPr>
            <a:xfrm>
              <a:off x="367550" y="553212"/>
              <a:ext cx="8452866" cy="5017262"/>
            </a:xfrm>
            <a:prstGeom prst="rect">
              <a:avLst/>
            </a:prstGeom>
          </p:spPr>
        </p:pic>
        <p:sp>
          <p:nvSpPr>
            <p:cNvPr id="5" name="object 5"/>
            <p:cNvSpPr/>
            <p:nvPr/>
          </p:nvSpPr>
          <p:spPr>
            <a:xfrm>
              <a:off x="362788" y="548449"/>
              <a:ext cx="8462645" cy="5027295"/>
            </a:xfrm>
            <a:custGeom>
              <a:avLst/>
              <a:gdLst/>
              <a:ahLst/>
              <a:cxnLst/>
              <a:rect l="l" t="t" r="r" b="b"/>
              <a:pathLst>
                <a:path w="8462645" h="5027295">
                  <a:moveTo>
                    <a:pt x="0" y="5026787"/>
                  </a:moveTo>
                  <a:lnTo>
                    <a:pt x="8462391" y="5026787"/>
                  </a:lnTo>
                  <a:lnTo>
                    <a:pt x="8462391" y="0"/>
                  </a:lnTo>
                  <a:lnTo>
                    <a:pt x="0" y="0"/>
                  </a:lnTo>
                  <a:lnTo>
                    <a:pt x="0" y="5026787"/>
                  </a:lnTo>
                  <a:close/>
                </a:path>
              </a:pathLst>
            </a:custGeom>
            <a:ln w="9525">
              <a:solidFill>
                <a:srgbClr val="000000"/>
              </a:solidFill>
            </a:ln>
          </p:spPr>
          <p:txBody>
            <a:bodyPr wrap="square" lIns="0" tIns="0" rIns="0" bIns="0" rtlCol="0"/>
            <a:lstStyle/>
            <a:p>
              <a:endParaRPr sz="2160"/>
            </a:p>
          </p:txBody>
        </p:sp>
      </p:grpSp>
    </p:spTree>
    <p:extLst>
      <p:ext uri="{BB962C8B-B14F-4D97-AF65-F5344CB8AC3E}">
        <p14:creationId xmlns:p14="http://schemas.microsoft.com/office/powerpoint/2010/main" val="171957953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3201" y="48466"/>
            <a:ext cx="10525506" cy="774315"/>
          </a:xfrm>
          <a:prstGeom prst="rect">
            <a:avLst/>
          </a:prstGeom>
        </p:spPr>
        <p:txBody>
          <a:bodyPr vert="horz" wrap="square" lIns="0" tIns="46482" rIns="0" bIns="0" rtlCol="0">
            <a:spAutoFit/>
          </a:bodyPr>
          <a:lstStyle/>
          <a:p>
            <a:pPr marL="15240">
              <a:spcBef>
                <a:spcPts val="366"/>
              </a:spcBef>
            </a:pPr>
            <a:r>
              <a:rPr sz="2280" b="1" dirty="0">
                <a:latin typeface="Calibri"/>
                <a:cs typeface="Calibri"/>
              </a:rPr>
              <a:t>CMMI</a:t>
            </a:r>
            <a:r>
              <a:rPr sz="2280" b="1" spc="-78" dirty="0">
                <a:latin typeface="Calibri"/>
                <a:cs typeface="Calibri"/>
              </a:rPr>
              <a:t> </a:t>
            </a:r>
            <a:r>
              <a:rPr sz="2280" b="1" dirty="0">
                <a:latin typeface="Calibri"/>
                <a:cs typeface="Calibri"/>
              </a:rPr>
              <a:t>(Capability</a:t>
            </a:r>
            <a:r>
              <a:rPr sz="2280" b="1" spc="-96" dirty="0">
                <a:latin typeface="Calibri"/>
                <a:cs typeface="Calibri"/>
              </a:rPr>
              <a:t> </a:t>
            </a:r>
            <a:r>
              <a:rPr sz="2280" b="1" dirty="0">
                <a:latin typeface="Calibri"/>
                <a:cs typeface="Calibri"/>
              </a:rPr>
              <a:t>Maturity</a:t>
            </a:r>
            <a:r>
              <a:rPr sz="2280" b="1" spc="-84" dirty="0">
                <a:latin typeface="Calibri"/>
                <a:cs typeface="Calibri"/>
              </a:rPr>
              <a:t> </a:t>
            </a:r>
            <a:r>
              <a:rPr sz="2280" b="1" dirty="0">
                <a:latin typeface="Calibri"/>
                <a:cs typeface="Calibri"/>
              </a:rPr>
              <a:t>Model</a:t>
            </a:r>
            <a:r>
              <a:rPr sz="2280" b="1" spc="-66" dirty="0">
                <a:latin typeface="Calibri"/>
                <a:cs typeface="Calibri"/>
              </a:rPr>
              <a:t> </a:t>
            </a:r>
            <a:r>
              <a:rPr sz="2280" b="1" spc="-12" dirty="0">
                <a:latin typeface="Calibri"/>
                <a:cs typeface="Calibri"/>
              </a:rPr>
              <a:t>Integration)</a:t>
            </a:r>
            <a:endParaRPr sz="2280">
              <a:latin typeface="Calibri"/>
              <a:cs typeface="Calibri"/>
            </a:endParaRPr>
          </a:p>
          <a:p>
            <a:pPr marL="425958" indent="-410718">
              <a:spcBef>
                <a:spcPts val="245"/>
              </a:spcBef>
              <a:buFont typeface="Arial MT"/>
              <a:buChar char="•"/>
              <a:tabLst>
                <a:tab pos="425958" algn="l"/>
                <a:tab pos="1328166" algn="l"/>
                <a:tab pos="1688592" algn="l"/>
                <a:tab pos="2008632" algn="l"/>
                <a:tab pos="3083814" algn="l"/>
                <a:tab pos="4879848" algn="l"/>
                <a:tab pos="6389370" algn="l"/>
                <a:tab pos="7053072" algn="l"/>
                <a:tab pos="8241791" algn="l"/>
                <a:tab pos="9989058" algn="l"/>
              </a:tabLst>
            </a:pPr>
            <a:r>
              <a:rPr sz="2280" spc="-24" dirty="0">
                <a:latin typeface="Calibri"/>
                <a:cs typeface="Calibri"/>
              </a:rPr>
              <a:t>CMMI</a:t>
            </a:r>
            <a:r>
              <a:rPr sz="2280" dirty="0">
                <a:latin typeface="Calibri"/>
                <a:cs typeface="Calibri"/>
              </a:rPr>
              <a:t>	</a:t>
            </a:r>
            <a:r>
              <a:rPr sz="2280" spc="-30" dirty="0">
                <a:latin typeface="Calibri"/>
                <a:cs typeface="Calibri"/>
              </a:rPr>
              <a:t>is</a:t>
            </a:r>
            <a:r>
              <a:rPr sz="2280" dirty="0">
                <a:latin typeface="Calibri"/>
                <a:cs typeface="Calibri"/>
              </a:rPr>
              <a:t>	</a:t>
            </a:r>
            <a:r>
              <a:rPr sz="2280" spc="-60" dirty="0">
                <a:latin typeface="Calibri"/>
                <a:cs typeface="Calibri"/>
              </a:rPr>
              <a:t>a</a:t>
            </a:r>
            <a:r>
              <a:rPr sz="2280" dirty="0">
                <a:latin typeface="Calibri"/>
                <a:cs typeface="Calibri"/>
              </a:rPr>
              <a:t>	</a:t>
            </a:r>
            <a:r>
              <a:rPr sz="2280" b="1" i="1" spc="-12" dirty="0">
                <a:solidFill>
                  <a:srgbClr val="006FC0"/>
                </a:solidFill>
                <a:latin typeface="Calibri"/>
                <a:cs typeface="Calibri"/>
              </a:rPr>
              <a:t>process</a:t>
            </a:r>
            <a:r>
              <a:rPr sz="2280" b="1" i="1" dirty="0">
                <a:solidFill>
                  <a:srgbClr val="006FC0"/>
                </a:solidFill>
                <a:latin typeface="Calibri"/>
                <a:cs typeface="Calibri"/>
              </a:rPr>
              <a:t>	</a:t>
            </a:r>
            <a:r>
              <a:rPr sz="2280" b="1" i="1" spc="-12" dirty="0">
                <a:solidFill>
                  <a:srgbClr val="006FC0"/>
                </a:solidFill>
                <a:latin typeface="Calibri"/>
                <a:cs typeface="Calibri"/>
              </a:rPr>
              <a:t>improvement</a:t>
            </a:r>
            <a:r>
              <a:rPr sz="2280" b="1" i="1" dirty="0">
                <a:solidFill>
                  <a:srgbClr val="006FC0"/>
                </a:solidFill>
                <a:latin typeface="Calibri"/>
                <a:cs typeface="Calibri"/>
              </a:rPr>
              <a:t>	</a:t>
            </a:r>
            <a:r>
              <a:rPr sz="2280" b="1" i="1" spc="-12" dirty="0">
                <a:solidFill>
                  <a:srgbClr val="006FC0"/>
                </a:solidFill>
                <a:latin typeface="Calibri"/>
                <a:cs typeface="Calibri"/>
              </a:rPr>
              <a:t>framework</a:t>
            </a:r>
            <a:r>
              <a:rPr sz="2280" b="1" i="1" dirty="0">
                <a:solidFill>
                  <a:srgbClr val="006FC0"/>
                </a:solidFill>
                <a:latin typeface="Calibri"/>
                <a:cs typeface="Calibri"/>
              </a:rPr>
              <a:t>	</a:t>
            </a:r>
            <a:r>
              <a:rPr sz="2280" spc="-24" dirty="0">
                <a:latin typeface="Calibri"/>
                <a:cs typeface="Calibri"/>
              </a:rPr>
              <a:t>that</a:t>
            </a:r>
            <a:r>
              <a:rPr sz="2280" dirty="0">
                <a:latin typeface="Calibri"/>
                <a:cs typeface="Calibri"/>
              </a:rPr>
              <a:t>	</a:t>
            </a:r>
            <a:r>
              <a:rPr sz="2280" spc="-12" dirty="0">
                <a:latin typeface="Calibri"/>
                <a:cs typeface="Calibri"/>
              </a:rPr>
              <a:t>provides</a:t>
            </a:r>
            <a:r>
              <a:rPr sz="2280" dirty="0">
                <a:latin typeface="Calibri"/>
                <a:cs typeface="Calibri"/>
              </a:rPr>
              <a:t>	</a:t>
            </a:r>
            <a:r>
              <a:rPr sz="2280" spc="-12" dirty="0">
                <a:latin typeface="Calibri"/>
                <a:cs typeface="Calibri"/>
              </a:rPr>
              <a:t>organizations</a:t>
            </a:r>
            <a:r>
              <a:rPr sz="2280" dirty="0">
                <a:latin typeface="Calibri"/>
                <a:cs typeface="Calibri"/>
              </a:rPr>
              <a:t>	</a:t>
            </a:r>
            <a:r>
              <a:rPr sz="2280" spc="-24" dirty="0">
                <a:latin typeface="Calibri"/>
                <a:cs typeface="Calibri"/>
              </a:rPr>
              <a:t>with</a:t>
            </a:r>
            <a:endParaRPr sz="2280">
              <a:latin typeface="Calibri"/>
              <a:cs typeface="Calibri"/>
            </a:endParaRPr>
          </a:p>
        </p:txBody>
      </p:sp>
      <p:sp>
        <p:nvSpPr>
          <p:cNvPr id="3" name="object 3"/>
          <p:cNvSpPr txBox="1"/>
          <p:nvPr/>
        </p:nvSpPr>
        <p:spPr>
          <a:xfrm>
            <a:off x="10359085" y="806654"/>
            <a:ext cx="999743" cy="365485"/>
          </a:xfrm>
          <a:prstGeom prst="rect">
            <a:avLst/>
          </a:prstGeom>
        </p:spPr>
        <p:txBody>
          <a:bodyPr vert="horz" wrap="square" lIns="0" tIns="14478" rIns="0" bIns="0" rtlCol="0">
            <a:spAutoFit/>
          </a:bodyPr>
          <a:lstStyle/>
          <a:p>
            <a:pPr marL="15240">
              <a:spcBef>
                <a:spcPts val="114"/>
              </a:spcBef>
            </a:pPr>
            <a:r>
              <a:rPr sz="2280" spc="-12" dirty="0">
                <a:latin typeface="Calibri"/>
                <a:cs typeface="Calibri"/>
              </a:rPr>
              <a:t>improve</a:t>
            </a:r>
            <a:endParaRPr sz="2280">
              <a:latin typeface="Calibri"/>
              <a:cs typeface="Calibri"/>
            </a:endParaRPr>
          </a:p>
        </p:txBody>
      </p:sp>
      <p:sp>
        <p:nvSpPr>
          <p:cNvPr id="4" name="object 4"/>
          <p:cNvSpPr txBox="1"/>
          <p:nvPr/>
        </p:nvSpPr>
        <p:spPr>
          <a:xfrm>
            <a:off x="833201" y="806654"/>
            <a:ext cx="9180576" cy="1131335"/>
          </a:xfrm>
          <a:prstGeom prst="rect">
            <a:avLst/>
          </a:prstGeom>
        </p:spPr>
        <p:txBody>
          <a:bodyPr vert="horz" wrap="square" lIns="0" tIns="14478" rIns="0" bIns="0" rtlCol="0">
            <a:spAutoFit/>
          </a:bodyPr>
          <a:lstStyle/>
          <a:p>
            <a:pPr marL="425958">
              <a:spcBef>
                <a:spcPts val="114"/>
              </a:spcBef>
              <a:tabLst>
                <a:tab pos="1995677" algn="l"/>
                <a:tab pos="2703576" algn="l"/>
                <a:tab pos="4373880" algn="l"/>
                <a:tab pos="5189220" algn="l"/>
                <a:tab pos="6462522" algn="l"/>
                <a:tab pos="7396734" algn="l"/>
                <a:tab pos="8922258" algn="l"/>
              </a:tabLst>
            </a:pPr>
            <a:r>
              <a:rPr sz="2280" spc="-12" dirty="0">
                <a:latin typeface="Calibri"/>
                <a:cs typeface="Calibri"/>
              </a:rPr>
              <a:t>guidelines</a:t>
            </a:r>
            <a:r>
              <a:rPr sz="2280" dirty="0">
                <a:latin typeface="Calibri"/>
                <a:cs typeface="Calibri"/>
              </a:rPr>
              <a:t>	</a:t>
            </a:r>
            <a:r>
              <a:rPr sz="2280" spc="-30" dirty="0">
                <a:latin typeface="Calibri"/>
                <a:cs typeface="Calibri"/>
              </a:rPr>
              <a:t>for</a:t>
            </a:r>
            <a:r>
              <a:rPr sz="2280" dirty="0">
                <a:latin typeface="Calibri"/>
                <a:cs typeface="Calibri"/>
              </a:rPr>
              <a:t>	</a:t>
            </a:r>
            <a:r>
              <a:rPr sz="2280" spc="-12" dirty="0">
                <a:latin typeface="Calibri"/>
                <a:cs typeface="Calibri"/>
              </a:rPr>
              <a:t>developing</a:t>
            </a:r>
            <a:r>
              <a:rPr sz="2280" dirty="0">
                <a:latin typeface="Calibri"/>
                <a:cs typeface="Calibri"/>
              </a:rPr>
              <a:t>	</a:t>
            </a:r>
            <a:r>
              <a:rPr sz="2280" spc="-30" dirty="0">
                <a:latin typeface="Calibri"/>
                <a:cs typeface="Calibri"/>
              </a:rPr>
              <a:t>and</a:t>
            </a:r>
            <a:r>
              <a:rPr sz="2280" dirty="0">
                <a:latin typeface="Calibri"/>
                <a:cs typeface="Calibri"/>
              </a:rPr>
              <a:t>	</a:t>
            </a:r>
            <a:r>
              <a:rPr sz="2280" spc="-12" dirty="0">
                <a:latin typeface="Calibri"/>
                <a:cs typeface="Calibri"/>
              </a:rPr>
              <a:t>refining</a:t>
            </a:r>
            <a:r>
              <a:rPr sz="2280" dirty="0">
                <a:latin typeface="Calibri"/>
                <a:cs typeface="Calibri"/>
              </a:rPr>
              <a:t>	</a:t>
            </a:r>
            <a:r>
              <a:rPr sz="2280" spc="-12" dirty="0">
                <a:latin typeface="Calibri"/>
                <a:cs typeface="Calibri"/>
              </a:rPr>
              <a:t>their</a:t>
            </a:r>
            <a:r>
              <a:rPr sz="2280" dirty="0">
                <a:latin typeface="Calibri"/>
                <a:cs typeface="Calibri"/>
              </a:rPr>
              <a:t>	</a:t>
            </a:r>
            <a:r>
              <a:rPr sz="2280" spc="-12" dirty="0">
                <a:latin typeface="Calibri"/>
                <a:cs typeface="Calibri"/>
              </a:rPr>
              <a:t>processes</a:t>
            </a:r>
            <a:r>
              <a:rPr sz="2280" dirty="0">
                <a:latin typeface="Calibri"/>
                <a:cs typeface="Calibri"/>
              </a:rPr>
              <a:t>	</a:t>
            </a:r>
            <a:r>
              <a:rPr sz="2280" spc="-30" dirty="0">
                <a:latin typeface="Calibri"/>
                <a:cs typeface="Calibri"/>
              </a:rPr>
              <a:t>to</a:t>
            </a:r>
            <a:endParaRPr sz="2280">
              <a:latin typeface="Calibri"/>
              <a:cs typeface="Calibri"/>
            </a:endParaRPr>
          </a:p>
          <a:p>
            <a:pPr marL="425958"/>
            <a:r>
              <a:rPr sz="2280" spc="-12" dirty="0">
                <a:latin typeface="Calibri"/>
                <a:cs typeface="Calibri"/>
              </a:rPr>
              <a:t>performance,</a:t>
            </a:r>
            <a:r>
              <a:rPr sz="2280" spc="-42" dirty="0">
                <a:latin typeface="Calibri"/>
                <a:cs typeface="Calibri"/>
              </a:rPr>
              <a:t> </a:t>
            </a:r>
            <a:r>
              <a:rPr sz="2280" spc="-24" dirty="0">
                <a:latin typeface="Calibri"/>
                <a:cs typeface="Calibri"/>
              </a:rPr>
              <a:t>quality,</a:t>
            </a:r>
            <a:r>
              <a:rPr sz="2280" spc="-48" dirty="0">
                <a:latin typeface="Calibri"/>
                <a:cs typeface="Calibri"/>
              </a:rPr>
              <a:t> </a:t>
            </a:r>
            <a:r>
              <a:rPr sz="2280" dirty="0">
                <a:latin typeface="Calibri"/>
                <a:cs typeface="Calibri"/>
              </a:rPr>
              <a:t>and</a:t>
            </a:r>
            <a:r>
              <a:rPr sz="2280" spc="-30" dirty="0">
                <a:latin typeface="Calibri"/>
                <a:cs typeface="Calibri"/>
              </a:rPr>
              <a:t> </a:t>
            </a:r>
            <a:r>
              <a:rPr sz="2280" spc="-12" dirty="0">
                <a:latin typeface="Calibri"/>
                <a:cs typeface="Calibri"/>
              </a:rPr>
              <a:t>efficiency.</a:t>
            </a:r>
            <a:endParaRPr sz="2280">
              <a:latin typeface="Calibri"/>
              <a:cs typeface="Calibri"/>
            </a:endParaRPr>
          </a:p>
          <a:p>
            <a:pPr marL="425958" indent="-410718">
              <a:spcBef>
                <a:spcPts val="546"/>
              </a:spcBef>
              <a:buFont typeface="Arial MT"/>
              <a:buChar char="•"/>
              <a:tabLst>
                <a:tab pos="425958" algn="l"/>
              </a:tabLst>
            </a:pPr>
            <a:r>
              <a:rPr sz="2280" dirty="0">
                <a:latin typeface="Calibri"/>
                <a:cs typeface="Calibri"/>
              </a:rPr>
              <a:t>The</a:t>
            </a:r>
            <a:r>
              <a:rPr sz="2280" spc="-72" dirty="0">
                <a:latin typeface="Calibri"/>
                <a:cs typeface="Calibri"/>
              </a:rPr>
              <a:t> </a:t>
            </a:r>
            <a:r>
              <a:rPr sz="2280" dirty="0">
                <a:latin typeface="Calibri"/>
                <a:cs typeface="Calibri"/>
              </a:rPr>
              <a:t>Capability</a:t>
            </a:r>
            <a:r>
              <a:rPr sz="2280" spc="-36" dirty="0">
                <a:latin typeface="Calibri"/>
                <a:cs typeface="Calibri"/>
              </a:rPr>
              <a:t> </a:t>
            </a:r>
            <a:r>
              <a:rPr sz="2280" dirty="0">
                <a:latin typeface="Calibri"/>
                <a:cs typeface="Calibri"/>
              </a:rPr>
              <a:t>Maturity</a:t>
            </a:r>
            <a:r>
              <a:rPr sz="2280" spc="-66" dirty="0">
                <a:latin typeface="Calibri"/>
                <a:cs typeface="Calibri"/>
              </a:rPr>
              <a:t> </a:t>
            </a:r>
            <a:r>
              <a:rPr sz="2280" dirty="0">
                <a:latin typeface="Calibri"/>
                <a:cs typeface="Calibri"/>
              </a:rPr>
              <a:t>Model</a:t>
            </a:r>
            <a:r>
              <a:rPr sz="2280" spc="-54" dirty="0">
                <a:latin typeface="Calibri"/>
                <a:cs typeface="Calibri"/>
              </a:rPr>
              <a:t> </a:t>
            </a:r>
            <a:r>
              <a:rPr sz="2280" spc="-12" dirty="0">
                <a:latin typeface="Calibri"/>
                <a:cs typeface="Calibri"/>
              </a:rPr>
              <a:t>Integration</a:t>
            </a:r>
            <a:r>
              <a:rPr sz="2280" spc="-54" dirty="0">
                <a:latin typeface="Calibri"/>
                <a:cs typeface="Calibri"/>
              </a:rPr>
              <a:t> </a:t>
            </a:r>
            <a:r>
              <a:rPr sz="2280" dirty="0">
                <a:latin typeface="Calibri"/>
                <a:cs typeface="Calibri"/>
              </a:rPr>
              <a:t>(CMMI)</a:t>
            </a:r>
            <a:r>
              <a:rPr sz="2280" spc="-60" dirty="0">
                <a:latin typeface="Calibri"/>
                <a:cs typeface="Calibri"/>
              </a:rPr>
              <a:t> </a:t>
            </a:r>
            <a:r>
              <a:rPr sz="2280" dirty="0">
                <a:latin typeface="Calibri"/>
                <a:cs typeface="Calibri"/>
              </a:rPr>
              <a:t>is</a:t>
            </a:r>
            <a:r>
              <a:rPr sz="2280" spc="-84" dirty="0">
                <a:latin typeface="Calibri"/>
                <a:cs typeface="Calibri"/>
              </a:rPr>
              <a:t> </a:t>
            </a:r>
            <a:r>
              <a:rPr sz="2280" dirty="0">
                <a:latin typeface="Calibri"/>
                <a:cs typeface="Calibri"/>
              </a:rPr>
              <a:t>based</a:t>
            </a:r>
            <a:r>
              <a:rPr sz="2280" spc="-66" dirty="0">
                <a:latin typeface="Calibri"/>
                <a:cs typeface="Calibri"/>
              </a:rPr>
              <a:t> </a:t>
            </a:r>
            <a:r>
              <a:rPr sz="2280" dirty="0">
                <a:latin typeface="Calibri"/>
                <a:cs typeface="Calibri"/>
              </a:rPr>
              <a:t>on</a:t>
            </a:r>
            <a:r>
              <a:rPr sz="2280" spc="-66" dirty="0">
                <a:latin typeface="Calibri"/>
                <a:cs typeface="Calibri"/>
              </a:rPr>
              <a:t> </a:t>
            </a:r>
            <a:r>
              <a:rPr sz="2280" dirty="0">
                <a:latin typeface="Calibri"/>
                <a:cs typeface="Calibri"/>
              </a:rPr>
              <a:t>four</a:t>
            </a:r>
            <a:r>
              <a:rPr sz="2280" spc="-78" dirty="0">
                <a:latin typeface="Calibri"/>
                <a:cs typeface="Calibri"/>
              </a:rPr>
              <a:t> </a:t>
            </a:r>
            <a:r>
              <a:rPr sz="2280" spc="-12" dirty="0">
                <a:latin typeface="Calibri"/>
                <a:cs typeface="Calibri"/>
              </a:rPr>
              <a:t>pillars:</a:t>
            </a:r>
            <a:endParaRPr sz="2280">
              <a:latin typeface="Calibri"/>
              <a:cs typeface="Calibri"/>
            </a:endParaRPr>
          </a:p>
        </p:txBody>
      </p:sp>
      <p:sp>
        <p:nvSpPr>
          <p:cNvPr id="5" name="object 5"/>
          <p:cNvSpPr txBox="1"/>
          <p:nvPr/>
        </p:nvSpPr>
        <p:spPr>
          <a:xfrm>
            <a:off x="833201" y="1919966"/>
            <a:ext cx="10528554" cy="4823885"/>
          </a:xfrm>
          <a:prstGeom prst="rect">
            <a:avLst/>
          </a:prstGeom>
        </p:spPr>
        <p:txBody>
          <a:bodyPr vert="horz" wrap="square" lIns="0" tIns="44196" rIns="0" bIns="0" rtlCol="0">
            <a:spAutoFit/>
          </a:bodyPr>
          <a:lstStyle/>
          <a:p>
            <a:pPr marL="15240">
              <a:spcBef>
                <a:spcPts val="348"/>
              </a:spcBef>
            </a:pPr>
            <a:r>
              <a:rPr sz="2280" b="1" i="1" dirty="0">
                <a:solidFill>
                  <a:srgbClr val="C00000"/>
                </a:solidFill>
                <a:latin typeface="Calibri"/>
                <a:cs typeface="Calibri"/>
              </a:rPr>
              <a:t>Capability</a:t>
            </a:r>
            <a:r>
              <a:rPr sz="2280" b="1" i="1" spc="-60" dirty="0">
                <a:solidFill>
                  <a:srgbClr val="C00000"/>
                </a:solidFill>
                <a:latin typeface="Calibri"/>
                <a:cs typeface="Calibri"/>
              </a:rPr>
              <a:t> </a:t>
            </a:r>
            <a:r>
              <a:rPr sz="2280" spc="-60" dirty="0">
                <a:latin typeface="Calibri"/>
                <a:cs typeface="Calibri"/>
              </a:rPr>
              <a:t>:</a:t>
            </a:r>
            <a:endParaRPr sz="2280">
              <a:latin typeface="Calibri"/>
              <a:cs typeface="Calibri"/>
            </a:endParaRPr>
          </a:p>
          <a:p>
            <a:pPr marL="425958" indent="-410718">
              <a:spcBef>
                <a:spcPts val="234"/>
              </a:spcBef>
              <a:buFont typeface="Arial MT"/>
              <a:buChar char="•"/>
              <a:tabLst>
                <a:tab pos="425958" algn="l"/>
              </a:tabLst>
            </a:pPr>
            <a:r>
              <a:rPr sz="2280" dirty="0">
                <a:latin typeface="Calibri"/>
                <a:cs typeface="Calibri"/>
              </a:rPr>
              <a:t>A</a:t>
            </a:r>
            <a:r>
              <a:rPr sz="2280" spc="-66" dirty="0">
                <a:latin typeface="Calibri"/>
                <a:cs typeface="Calibri"/>
              </a:rPr>
              <a:t> </a:t>
            </a:r>
            <a:r>
              <a:rPr sz="2280" dirty="0">
                <a:latin typeface="Calibri"/>
                <a:cs typeface="Calibri"/>
              </a:rPr>
              <a:t>capable</a:t>
            </a:r>
            <a:r>
              <a:rPr sz="2280" spc="-54" dirty="0">
                <a:latin typeface="Calibri"/>
                <a:cs typeface="Calibri"/>
              </a:rPr>
              <a:t> </a:t>
            </a:r>
            <a:r>
              <a:rPr sz="2280" dirty="0">
                <a:latin typeface="Calibri"/>
                <a:cs typeface="Calibri"/>
              </a:rPr>
              <a:t>process</a:t>
            </a:r>
            <a:r>
              <a:rPr sz="2280" spc="-48" dirty="0">
                <a:latin typeface="Calibri"/>
                <a:cs typeface="Calibri"/>
              </a:rPr>
              <a:t> </a:t>
            </a:r>
            <a:r>
              <a:rPr sz="2280" b="1" i="1" spc="-12" dirty="0">
                <a:solidFill>
                  <a:srgbClr val="006FC0"/>
                </a:solidFill>
                <a:latin typeface="Calibri"/>
                <a:cs typeface="Calibri"/>
              </a:rPr>
              <a:t>consistently</a:t>
            </a:r>
            <a:r>
              <a:rPr sz="2280" b="1" i="1" spc="-54" dirty="0">
                <a:solidFill>
                  <a:srgbClr val="006FC0"/>
                </a:solidFill>
                <a:latin typeface="Calibri"/>
                <a:cs typeface="Calibri"/>
              </a:rPr>
              <a:t> </a:t>
            </a:r>
            <a:r>
              <a:rPr sz="2280" b="1" i="1" dirty="0">
                <a:solidFill>
                  <a:srgbClr val="006FC0"/>
                </a:solidFill>
                <a:latin typeface="Calibri"/>
                <a:cs typeface="Calibri"/>
              </a:rPr>
              <a:t>produces</a:t>
            </a:r>
            <a:r>
              <a:rPr sz="2280" b="1" i="1" spc="-30" dirty="0">
                <a:solidFill>
                  <a:srgbClr val="006FC0"/>
                </a:solidFill>
                <a:latin typeface="Calibri"/>
                <a:cs typeface="Calibri"/>
              </a:rPr>
              <a:t> </a:t>
            </a:r>
            <a:r>
              <a:rPr sz="2280" b="1" i="1" dirty="0">
                <a:solidFill>
                  <a:srgbClr val="006FC0"/>
                </a:solidFill>
                <a:latin typeface="Calibri"/>
                <a:cs typeface="Calibri"/>
              </a:rPr>
              <a:t>output</a:t>
            </a:r>
            <a:r>
              <a:rPr sz="2280" b="1" i="1" spc="-42" dirty="0">
                <a:solidFill>
                  <a:srgbClr val="006FC0"/>
                </a:solidFill>
                <a:latin typeface="Calibri"/>
                <a:cs typeface="Calibri"/>
              </a:rPr>
              <a:t> </a:t>
            </a:r>
            <a:r>
              <a:rPr sz="2280" b="1" i="1" dirty="0">
                <a:solidFill>
                  <a:srgbClr val="006FC0"/>
                </a:solidFill>
                <a:latin typeface="Calibri"/>
                <a:cs typeface="Calibri"/>
              </a:rPr>
              <a:t>that</a:t>
            </a:r>
            <a:r>
              <a:rPr sz="2280" b="1" i="1" spc="-42" dirty="0">
                <a:solidFill>
                  <a:srgbClr val="006FC0"/>
                </a:solidFill>
                <a:latin typeface="Calibri"/>
                <a:cs typeface="Calibri"/>
              </a:rPr>
              <a:t> </a:t>
            </a:r>
            <a:r>
              <a:rPr sz="2280" b="1" i="1" dirty="0">
                <a:solidFill>
                  <a:srgbClr val="006FC0"/>
                </a:solidFill>
                <a:latin typeface="Calibri"/>
                <a:cs typeface="Calibri"/>
              </a:rPr>
              <a:t>is</a:t>
            </a:r>
            <a:r>
              <a:rPr sz="2280" b="1" i="1" spc="-72" dirty="0">
                <a:solidFill>
                  <a:srgbClr val="006FC0"/>
                </a:solidFill>
                <a:latin typeface="Calibri"/>
                <a:cs typeface="Calibri"/>
              </a:rPr>
              <a:t> </a:t>
            </a:r>
            <a:r>
              <a:rPr sz="2280" b="1" i="1" dirty="0">
                <a:solidFill>
                  <a:srgbClr val="006FC0"/>
                </a:solidFill>
                <a:latin typeface="Calibri"/>
                <a:cs typeface="Calibri"/>
              </a:rPr>
              <a:t>within</a:t>
            </a:r>
            <a:r>
              <a:rPr sz="2280" b="1" i="1" spc="-78" dirty="0">
                <a:solidFill>
                  <a:srgbClr val="006FC0"/>
                </a:solidFill>
                <a:latin typeface="Calibri"/>
                <a:cs typeface="Calibri"/>
              </a:rPr>
              <a:t> </a:t>
            </a:r>
            <a:r>
              <a:rPr sz="2280" b="1" i="1" dirty="0">
                <a:solidFill>
                  <a:srgbClr val="006FC0"/>
                </a:solidFill>
                <a:latin typeface="Calibri"/>
                <a:cs typeface="Calibri"/>
              </a:rPr>
              <a:t>its</a:t>
            </a:r>
            <a:r>
              <a:rPr sz="2280" b="1" i="1" spc="-60" dirty="0">
                <a:solidFill>
                  <a:srgbClr val="006FC0"/>
                </a:solidFill>
                <a:latin typeface="Calibri"/>
                <a:cs typeface="Calibri"/>
              </a:rPr>
              <a:t> </a:t>
            </a:r>
            <a:r>
              <a:rPr sz="2280" b="1" i="1" spc="-12" dirty="0">
                <a:solidFill>
                  <a:srgbClr val="006FC0"/>
                </a:solidFill>
                <a:latin typeface="Calibri"/>
                <a:cs typeface="Calibri"/>
              </a:rPr>
              <a:t>specifications</a:t>
            </a:r>
            <a:r>
              <a:rPr sz="2280" spc="-12" dirty="0">
                <a:latin typeface="Calibri"/>
                <a:cs typeface="Calibri"/>
              </a:rPr>
              <a:t>.</a:t>
            </a:r>
            <a:endParaRPr sz="2280">
              <a:latin typeface="Calibri"/>
              <a:cs typeface="Calibri"/>
            </a:endParaRPr>
          </a:p>
          <a:p>
            <a:pPr marL="425958" indent="-410718">
              <a:spcBef>
                <a:spcPts val="245"/>
              </a:spcBef>
              <a:buFont typeface="Arial MT"/>
              <a:buChar char="•"/>
              <a:tabLst>
                <a:tab pos="425958" algn="l"/>
              </a:tabLst>
            </a:pPr>
            <a:r>
              <a:rPr sz="2280" spc="-12" dirty="0">
                <a:latin typeface="Calibri"/>
                <a:cs typeface="Calibri"/>
              </a:rPr>
              <a:t>Execution</a:t>
            </a:r>
            <a:r>
              <a:rPr sz="2280" spc="-54" dirty="0">
                <a:latin typeface="Calibri"/>
                <a:cs typeface="Calibri"/>
              </a:rPr>
              <a:t> </a:t>
            </a:r>
            <a:r>
              <a:rPr sz="2280" dirty="0">
                <a:latin typeface="Calibri"/>
                <a:cs typeface="Calibri"/>
              </a:rPr>
              <a:t>of</a:t>
            </a:r>
            <a:r>
              <a:rPr sz="2280" spc="-72" dirty="0">
                <a:latin typeface="Calibri"/>
                <a:cs typeface="Calibri"/>
              </a:rPr>
              <a:t> </a:t>
            </a:r>
            <a:r>
              <a:rPr sz="2280" dirty="0">
                <a:latin typeface="Calibri"/>
                <a:cs typeface="Calibri"/>
              </a:rPr>
              <a:t>capable</a:t>
            </a:r>
            <a:r>
              <a:rPr sz="2280" spc="-72" dirty="0">
                <a:latin typeface="Calibri"/>
                <a:cs typeface="Calibri"/>
              </a:rPr>
              <a:t> </a:t>
            </a:r>
            <a:r>
              <a:rPr sz="2280" dirty="0">
                <a:latin typeface="Calibri"/>
                <a:cs typeface="Calibri"/>
              </a:rPr>
              <a:t>process</a:t>
            </a:r>
            <a:r>
              <a:rPr sz="2280" spc="-66" dirty="0">
                <a:latin typeface="Calibri"/>
                <a:cs typeface="Calibri"/>
              </a:rPr>
              <a:t> </a:t>
            </a:r>
            <a:r>
              <a:rPr sz="2280" spc="-12" dirty="0">
                <a:latin typeface="Calibri"/>
                <a:cs typeface="Calibri"/>
              </a:rPr>
              <a:t>always</a:t>
            </a:r>
            <a:r>
              <a:rPr sz="2280" spc="-84" dirty="0">
                <a:latin typeface="Calibri"/>
                <a:cs typeface="Calibri"/>
              </a:rPr>
              <a:t> </a:t>
            </a:r>
            <a:r>
              <a:rPr sz="2280" dirty="0">
                <a:latin typeface="Calibri"/>
                <a:cs typeface="Calibri"/>
              </a:rPr>
              <a:t>gives</a:t>
            </a:r>
            <a:r>
              <a:rPr sz="2280" spc="-36" dirty="0">
                <a:latin typeface="Calibri"/>
                <a:cs typeface="Calibri"/>
              </a:rPr>
              <a:t> </a:t>
            </a:r>
            <a:r>
              <a:rPr sz="2280" spc="-12" dirty="0">
                <a:latin typeface="Calibri"/>
                <a:cs typeface="Calibri"/>
              </a:rPr>
              <a:t>predictable</a:t>
            </a:r>
            <a:r>
              <a:rPr sz="2280" spc="-48" dirty="0">
                <a:latin typeface="Calibri"/>
                <a:cs typeface="Calibri"/>
              </a:rPr>
              <a:t> </a:t>
            </a:r>
            <a:r>
              <a:rPr sz="2280" spc="-12" dirty="0">
                <a:latin typeface="Calibri"/>
                <a:cs typeface="Calibri"/>
              </a:rPr>
              <a:t>results.</a:t>
            </a:r>
            <a:endParaRPr sz="2280">
              <a:latin typeface="Calibri"/>
              <a:cs typeface="Calibri"/>
            </a:endParaRPr>
          </a:p>
          <a:p>
            <a:pPr marL="15240">
              <a:spcBef>
                <a:spcPts val="245"/>
              </a:spcBef>
            </a:pPr>
            <a:r>
              <a:rPr sz="2280" b="1" i="1" spc="-12" dirty="0">
                <a:solidFill>
                  <a:srgbClr val="C00000"/>
                </a:solidFill>
                <a:latin typeface="Calibri"/>
                <a:cs typeface="Calibri"/>
              </a:rPr>
              <a:t>Maturity</a:t>
            </a:r>
            <a:endParaRPr sz="2280">
              <a:latin typeface="Calibri"/>
              <a:cs typeface="Calibri"/>
            </a:endParaRPr>
          </a:p>
          <a:p>
            <a:pPr marL="422910" marR="6096" indent="-408432" algn="just">
              <a:spcBef>
                <a:spcPts val="228"/>
              </a:spcBef>
              <a:buFont typeface="Arial MT"/>
              <a:buChar char="•"/>
              <a:tabLst>
                <a:tab pos="425958" algn="l"/>
              </a:tabLst>
            </a:pPr>
            <a:r>
              <a:rPr sz="2280" dirty="0">
                <a:latin typeface="Calibri"/>
                <a:cs typeface="Calibri"/>
              </a:rPr>
              <a:t>Maturity</a:t>
            </a:r>
            <a:r>
              <a:rPr sz="2280" spc="114" dirty="0">
                <a:latin typeface="Calibri"/>
                <a:cs typeface="Calibri"/>
              </a:rPr>
              <a:t> </a:t>
            </a:r>
            <a:r>
              <a:rPr sz="2280" dirty="0">
                <a:latin typeface="Calibri"/>
                <a:cs typeface="Calibri"/>
              </a:rPr>
              <a:t>means</a:t>
            </a:r>
            <a:r>
              <a:rPr sz="2280" spc="114" dirty="0">
                <a:latin typeface="Calibri"/>
                <a:cs typeface="Calibri"/>
              </a:rPr>
              <a:t> </a:t>
            </a:r>
            <a:r>
              <a:rPr sz="2280" dirty="0">
                <a:latin typeface="Calibri"/>
                <a:cs typeface="Calibri"/>
              </a:rPr>
              <a:t>that</a:t>
            </a:r>
            <a:r>
              <a:rPr sz="2280" spc="114" dirty="0">
                <a:latin typeface="Calibri"/>
                <a:cs typeface="Calibri"/>
              </a:rPr>
              <a:t> </a:t>
            </a:r>
            <a:r>
              <a:rPr sz="2280" dirty="0">
                <a:latin typeface="Calibri"/>
                <a:cs typeface="Calibri"/>
              </a:rPr>
              <a:t>whatever</a:t>
            </a:r>
            <a:r>
              <a:rPr sz="2280" spc="120" dirty="0">
                <a:latin typeface="Calibri"/>
                <a:cs typeface="Calibri"/>
              </a:rPr>
              <a:t> </a:t>
            </a:r>
            <a:r>
              <a:rPr sz="2280" dirty="0">
                <a:latin typeface="Calibri"/>
                <a:cs typeface="Calibri"/>
              </a:rPr>
              <a:t>the</a:t>
            </a:r>
            <a:r>
              <a:rPr sz="2280" spc="108" dirty="0">
                <a:latin typeface="Calibri"/>
                <a:cs typeface="Calibri"/>
              </a:rPr>
              <a:t> </a:t>
            </a:r>
            <a:r>
              <a:rPr sz="2280" dirty="0">
                <a:latin typeface="Calibri"/>
                <a:cs typeface="Calibri"/>
              </a:rPr>
              <a:t>company</a:t>
            </a:r>
            <a:r>
              <a:rPr sz="2280" spc="108" dirty="0">
                <a:latin typeface="Calibri"/>
                <a:cs typeface="Calibri"/>
              </a:rPr>
              <a:t> </a:t>
            </a:r>
            <a:r>
              <a:rPr sz="2280" dirty="0">
                <a:latin typeface="Calibri"/>
                <a:cs typeface="Calibri"/>
              </a:rPr>
              <a:t>is</a:t>
            </a:r>
            <a:r>
              <a:rPr sz="2280" spc="120" dirty="0">
                <a:latin typeface="Calibri"/>
                <a:cs typeface="Calibri"/>
              </a:rPr>
              <a:t> </a:t>
            </a:r>
            <a:r>
              <a:rPr sz="2280" dirty="0">
                <a:latin typeface="Calibri"/>
                <a:cs typeface="Calibri"/>
              </a:rPr>
              <a:t>doing,</a:t>
            </a:r>
            <a:r>
              <a:rPr sz="2280" spc="108" dirty="0">
                <a:latin typeface="Calibri"/>
                <a:cs typeface="Calibri"/>
              </a:rPr>
              <a:t> </a:t>
            </a:r>
            <a:r>
              <a:rPr sz="2280" dirty="0">
                <a:latin typeface="Calibri"/>
                <a:cs typeface="Calibri"/>
              </a:rPr>
              <a:t>the</a:t>
            </a:r>
            <a:r>
              <a:rPr sz="2280" spc="120" dirty="0">
                <a:latin typeface="Calibri"/>
                <a:cs typeface="Calibri"/>
              </a:rPr>
              <a:t> </a:t>
            </a:r>
            <a:r>
              <a:rPr sz="2280" b="1" i="1" dirty="0">
                <a:solidFill>
                  <a:srgbClr val="006FC0"/>
                </a:solidFill>
                <a:latin typeface="Calibri"/>
                <a:cs typeface="Calibri"/>
              </a:rPr>
              <a:t>company</a:t>
            </a:r>
            <a:r>
              <a:rPr sz="2280" b="1" i="1" spc="114" dirty="0">
                <a:solidFill>
                  <a:srgbClr val="006FC0"/>
                </a:solidFill>
                <a:latin typeface="Calibri"/>
                <a:cs typeface="Calibri"/>
              </a:rPr>
              <a:t> </a:t>
            </a:r>
            <a:r>
              <a:rPr sz="2280" b="1" i="1" dirty="0">
                <a:solidFill>
                  <a:srgbClr val="006FC0"/>
                </a:solidFill>
                <a:latin typeface="Calibri"/>
                <a:cs typeface="Calibri"/>
              </a:rPr>
              <a:t>does</a:t>
            </a:r>
            <a:r>
              <a:rPr sz="2280" b="1" i="1" spc="120" dirty="0">
                <a:solidFill>
                  <a:srgbClr val="006FC0"/>
                </a:solidFill>
                <a:latin typeface="Calibri"/>
                <a:cs typeface="Calibri"/>
              </a:rPr>
              <a:t> </a:t>
            </a:r>
            <a:r>
              <a:rPr sz="2280" b="1" i="1" dirty="0">
                <a:solidFill>
                  <a:srgbClr val="006FC0"/>
                </a:solidFill>
                <a:latin typeface="Calibri"/>
                <a:cs typeface="Calibri"/>
              </a:rPr>
              <a:t>it</a:t>
            </a:r>
            <a:r>
              <a:rPr sz="2280" b="1" i="1" spc="108" dirty="0">
                <a:solidFill>
                  <a:srgbClr val="006FC0"/>
                </a:solidFill>
                <a:latin typeface="Calibri"/>
                <a:cs typeface="Calibri"/>
              </a:rPr>
              <a:t> </a:t>
            </a:r>
            <a:r>
              <a:rPr sz="2280" b="1" i="1" dirty="0">
                <a:solidFill>
                  <a:srgbClr val="006FC0"/>
                </a:solidFill>
                <a:latin typeface="Calibri"/>
                <a:cs typeface="Calibri"/>
              </a:rPr>
              <a:t>in</a:t>
            </a:r>
            <a:r>
              <a:rPr sz="2280" b="1" i="1" spc="108" dirty="0">
                <a:solidFill>
                  <a:srgbClr val="006FC0"/>
                </a:solidFill>
                <a:latin typeface="Calibri"/>
                <a:cs typeface="Calibri"/>
              </a:rPr>
              <a:t> </a:t>
            </a:r>
            <a:r>
              <a:rPr sz="2280" b="1" i="1" dirty="0">
                <a:solidFill>
                  <a:srgbClr val="006FC0"/>
                </a:solidFill>
                <a:latin typeface="Calibri"/>
                <a:cs typeface="Calibri"/>
              </a:rPr>
              <a:t>a</a:t>
            </a:r>
            <a:r>
              <a:rPr sz="2280" b="1" i="1" spc="96" dirty="0">
                <a:solidFill>
                  <a:srgbClr val="006FC0"/>
                </a:solidFill>
                <a:latin typeface="Calibri"/>
                <a:cs typeface="Calibri"/>
              </a:rPr>
              <a:t> </a:t>
            </a:r>
            <a:r>
              <a:rPr sz="2280" b="1" i="1" spc="-30" dirty="0">
                <a:solidFill>
                  <a:srgbClr val="006FC0"/>
                </a:solidFill>
                <a:latin typeface="Calibri"/>
                <a:cs typeface="Calibri"/>
              </a:rPr>
              <a:t>way 	</a:t>
            </a:r>
            <a:r>
              <a:rPr sz="2280" b="1" i="1" dirty="0">
                <a:solidFill>
                  <a:srgbClr val="006FC0"/>
                </a:solidFill>
                <a:latin typeface="Calibri"/>
                <a:cs typeface="Calibri"/>
              </a:rPr>
              <a:t>that</a:t>
            </a:r>
            <a:r>
              <a:rPr sz="2280" b="1" i="1" spc="210" dirty="0">
                <a:solidFill>
                  <a:srgbClr val="006FC0"/>
                </a:solidFill>
                <a:latin typeface="Calibri"/>
                <a:cs typeface="Calibri"/>
              </a:rPr>
              <a:t> </a:t>
            </a:r>
            <a:r>
              <a:rPr sz="2280" b="1" i="1" dirty="0">
                <a:solidFill>
                  <a:srgbClr val="006FC0"/>
                </a:solidFill>
                <a:latin typeface="Calibri"/>
                <a:cs typeface="Calibri"/>
              </a:rPr>
              <a:t>is</a:t>
            </a:r>
            <a:r>
              <a:rPr sz="2280" b="1" i="1" spc="204" dirty="0">
                <a:solidFill>
                  <a:srgbClr val="006FC0"/>
                </a:solidFill>
                <a:latin typeface="Calibri"/>
                <a:cs typeface="Calibri"/>
              </a:rPr>
              <a:t> </a:t>
            </a:r>
            <a:r>
              <a:rPr sz="2280" b="1" i="1" spc="-24" dirty="0">
                <a:solidFill>
                  <a:srgbClr val="006FC0"/>
                </a:solidFill>
                <a:latin typeface="Calibri"/>
                <a:cs typeface="Calibri"/>
              </a:rPr>
              <a:t>well-</a:t>
            </a:r>
            <a:r>
              <a:rPr sz="2280" b="1" i="1" dirty="0">
                <a:solidFill>
                  <a:srgbClr val="006FC0"/>
                </a:solidFill>
                <a:latin typeface="Calibri"/>
                <a:cs typeface="Calibri"/>
              </a:rPr>
              <a:t>documented</a:t>
            </a:r>
            <a:r>
              <a:rPr sz="2280" dirty="0">
                <a:latin typeface="Calibri"/>
                <a:cs typeface="Calibri"/>
              </a:rPr>
              <a:t>,</a:t>
            </a:r>
            <a:r>
              <a:rPr sz="2280" spc="204" dirty="0">
                <a:latin typeface="Calibri"/>
                <a:cs typeface="Calibri"/>
              </a:rPr>
              <a:t> </a:t>
            </a:r>
            <a:r>
              <a:rPr sz="2280" dirty="0">
                <a:latin typeface="Calibri"/>
                <a:cs typeface="Calibri"/>
              </a:rPr>
              <a:t>where</a:t>
            </a:r>
            <a:r>
              <a:rPr sz="2280" spc="216" dirty="0">
                <a:latin typeface="Calibri"/>
                <a:cs typeface="Calibri"/>
              </a:rPr>
              <a:t> </a:t>
            </a:r>
            <a:r>
              <a:rPr sz="2280" dirty="0">
                <a:latin typeface="Calibri"/>
                <a:cs typeface="Calibri"/>
              </a:rPr>
              <a:t>everyone</a:t>
            </a:r>
            <a:r>
              <a:rPr sz="2280" spc="222" dirty="0">
                <a:latin typeface="Calibri"/>
                <a:cs typeface="Calibri"/>
              </a:rPr>
              <a:t> </a:t>
            </a:r>
            <a:r>
              <a:rPr sz="2280" dirty="0">
                <a:latin typeface="Calibri"/>
                <a:cs typeface="Calibri"/>
              </a:rPr>
              <a:t>knows</a:t>
            </a:r>
            <a:r>
              <a:rPr sz="2280" spc="222" dirty="0">
                <a:latin typeface="Calibri"/>
                <a:cs typeface="Calibri"/>
              </a:rPr>
              <a:t> </a:t>
            </a:r>
            <a:r>
              <a:rPr sz="2280" dirty="0">
                <a:latin typeface="Calibri"/>
                <a:cs typeface="Calibri"/>
              </a:rPr>
              <a:t>what</a:t>
            </a:r>
            <a:r>
              <a:rPr sz="2280" spc="210" dirty="0">
                <a:latin typeface="Calibri"/>
                <a:cs typeface="Calibri"/>
              </a:rPr>
              <a:t> </a:t>
            </a:r>
            <a:r>
              <a:rPr sz="2280" dirty="0">
                <a:latin typeface="Calibri"/>
                <a:cs typeface="Calibri"/>
              </a:rPr>
              <a:t>is</a:t>
            </a:r>
            <a:r>
              <a:rPr sz="2280" spc="186" dirty="0">
                <a:latin typeface="Calibri"/>
                <a:cs typeface="Calibri"/>
              </a:rPr>
              <a:t> </a:t>
            </a:r>
            <a:r>
              <a:rPr sz="2280" dirty="0">
                <a:latin typeface="Calibri"/>
                <a:cs typeface="Calibri"/>
              </a:rPr>
              <a:t>expected</a:t>
            </a:r>
            <a:r>
              <a:rPr sz="2280" spc="216" dirty="0">
                <a:latin typeface="Calibri"/>
                <a:cs typeface="Calibri"/>
              </a:rPr>
              <a:t> </a:t>
            </a:r>
            <a:r>
              <a:rPr sz="2280" dirty="0">
                <a:latin typeface="Calibri"/>
                <a:cs typeface="Calibri"/>
              </a:rPr>
              <a:t>of</a:t>
            </a:r>
            <a:r>
              <a:rPr sz="2280" spc="210" dirty="0">
                <a:latin typeface="Calibri"/>
                <a:cs typeface="Calibri"/>
              </a:rPr>
              <a:t> </a:t>
            </a:r>
            <a:r>
              <a:rPr sz="2280" dirty="0">
                <a:latin typeface="Calibri"/>
                <a:cs typeface="Calibri"/>
              </a:rPr>
              <a:t>them,</a:t>
            </a:r>
            <a:r>
              <a:rPr sz="2280" spc="198" dirty="0">
                <a:latin typeface="Calibri"/>
                <a:cs typeface="Calibri"/>
              </a:rPr>
              <a:t> </a:t>
            </a:r>
            <a:r>
              <a:rPr sz="2280" spc="-12" dirty="0">
                <a:latin typeface="Calibri"/>
                <a:cs typeface="Calibri"/>
              </a:rPr>
              <a:t>where 	</a:t>
            </a:r>
            <a:r>
              <a:rPr sz="2280" dirty="0">
                <a:latin typeface="Calibri"/>
                <a:cs typeface="Calibri"/>
              </a:rPr>
              <a:t>performance</a:t>
            </a:r>
            <a:r>
              <a:rPr sz="2280" spc="150" dirty="0">
                <a:latin typeface="Calibri"/>
                <a:cs typeface="Calibri"/>
              </a:rPr>
              <a:t> </a:t>
            </a:r>
            <a:r>
              <a:rPr sz="2280" dirty="0">
                <a:latin typeface="Calibri"/>
                <a:cs typeface="Calibri"/>
              </a:rPr>
              <a:t>is</a:t>
            </a:r>
            <a:r>
              <a:rPr sz="2280" spc="137" dirty="0">
                <a:latin typeface="Calibri"/>
                <a:cs typeface="Calibri"/>
              </a:rPr>
              <a:t> </a:t>
            </a:r>
            <a:r>
              <a:rPr sz="2280" dirty="0">
                <a:latin typeface="Calibri"/>
                <a:cs typeface="Calibri"/>
              </a:rPr>
              <a:t>not</a:t>
            </a:r>
            <a:r>
              <a:rPr sz="2280" spc="137" dirty="0">
                <a:latin typeface="Calibri"/>
                <a:cs typeface="Calibri"/>
              </a:rPr>
              <a:t> </a:t>
            </a:r>
            <a:r>
              <a:rPr sz="2280" dirty="0">
                <a:latin typeface="Calibri"/>
                <a:cs typeface="Calibri"/>
              </a:rPr>
              <a:t>dependent</a:t>
            </a:r>
            <a:r>
              <a:rPr sz="2280" spc="144" dirty="0">
                <a:latin typeface="Calibri"/>
                <a:cs typeface="Calibri"/>
              </a:rPr>
              <a:t> </a:t>
            </a:r>
            <a:r>
              <a:rPr sz="2280" dirty="0">
                <a:latin typeface="Calibri"/>
                <a:cs typeface="Calibri"/>
              </a:rPr>
              <a:t>on</a:t>
            </a:r>
            <a:r>
              <a:rPr sz="2280" spc="144" dirty="0">
                <a:latin typeface="Calibri"/>
                <a:cs typeface="Calibri"/>
              </a:rPr>
              <a:t> </a:t>
            </a:r>
            <a:r>
              <a:rPr sz="2280" dirty="0">
                <a:latin typeface="Calibri"/>
                <a:cs typeface="Calibri"/>
              </a:rPr>
              <a:t>heroes,</a:t>
            </a:r>
            <a:r>
              <a:rPr sz="2280" spc="132" dirty="0">
                <a:latin typeface="Calibri"/>
                <a:cs typeface="Calibri"/>
              </a:rPr>
              <a:t> </a:t>
            </a:r>
            <a:r>
              <a:rPr sz="2280" dirty="0">
                <a:latin typeface="Calibri"/>
                <a:cs typeface="Calibri"/>
              </a:rPr>
              <a:t>and</a:t>
            </a:r>
            <a:r>
              <a:rPr sz="2280" spc="144" dirty="0">
                <a:latin typeface="Calibri"/>
                <a:cs typeface="Calibri"/>
              </a:rPr>
              <a:t> </a:t>
            </a:r>
            <a:r>
              <a:rPr sz="2280" dirty="0">
                <a:latin typeface="Calibri"/>
                <a:cs typeface="Calibri"/>
              </a:rPr>
              <a:t>where</a:t>
            </a:r>
            <a:r>
              <a:rPr sz="2280" spc="137" dirty="0">
                <a:latin typeface="Calibri"/>
                <a:cs typeface="Calibri"/>
              </a:rPr>
              <a:t> </a:t>
            </a:r>
            <a:r>
              <a:rPr sz="2280" dirty="0">
                <a:latin typeface="Calibri"/>
                <a:cs typeface="Calibri"/>
              </a:rPr>
              <a:t>decisions</a:t>
            </a:r>
            <a:r>
              <a:rPr sz="2280" spc="137" dirty="0">
                <a:latin typeface="Calibri"/>
                <a:cs typeface="Calibri"/>
              </a:rPr>
              <a:t> </a:t>
            </a:r>
            <a:r>
              <a:rPr sz="2280" dirty="0">
                <a:latin typeface="Calibri"/>
                <a:cs typeface="Calibri"/>
              </a:rPr>
              <a:t>are</a:t>
            </a:r>
            <a:r>
              <a:rPr sz="2280" spc="150" dirty="0">
                <a:latin typeface="Calibri"/>
                <a:cs typeface="Calibri"/>
              </a:rPr>
              <a:t> </a:t>
            </a:r>
            <a:r>
              <a:rPr sz="2280" dirty="0">
                <a:latin typeface="Calibri"/>
                <a:cs typeface="Calibri"/>
              </a:rPr>
              <a:t>made</a:t>
            </a:r>
            <a:r>
              <a:rPr sz="2280" spc="126" dirty="0">
                <a:latin typeface="Calibri"/>
                <a:cs typeface="Calibri"/>
              </a:rPr>
              <a:t> </a:t>
            </a:r>
            <a:r>
              <a:rPr sz="2280" dirty="0">
                <a:latin typeface="Calibri"/>
                <a:cs typeface="Calibri"/>
              </a:rPr>
              <a:t>on</a:t>
            </a:r>
            <a:r>
              <a:rPr sz="2280" spc="144" dirty="0">
                <a:latin typeface="Calibri"/>
                <a:cs typeface="Calibri"/>
              </a:rPr>
              <a:t> </a:t>
            </a:r>
            <a:r>
              <a:rPr sz="2280" spc="-12" dirty="0">
                <a:latin typeface="Calibri"/>
                <a:cs typeface="Calibri"/>
              </a:rPr>
              <a:t>proper 	</a:t>
            </a:r>
            <a:r>
              <a:rPr sz="2280" dirty="0">
                <a:latin typeface="Calibri"/>
                <a:cs typeface="Calibri"/>
              </a:rPr>
              <a:t>analysis</a:t>
            </a:r>
            <a:r>
              <a:rPr sz="2280" spc="-48" dirty="0">
                <a:latin typeface="Calibri"/>
                <a:cs typeface="Calibri"/>
              </a:rPr>
              <a:t> </a:t>
            </a:r>
            <a:r>
              <a:rPr sz="2280" dirty="0">
                <a:latin typeface="Calibri"/>
                <a:cs typeface="Calibri"/>
              </a:rPr>
              <a:t>of</a:t>
            </a:r>
            <a:r>
              <a:rPr sz="2280" spc="-36" dirty="0">
                <a:latin typeface="Calibri"/>
                <a:cs typeface="Calibri"/>
              </a:rPr>
              <a:t> </a:t>
            </a:r>
            <a:r>
              <a:rPr sz="2280" dirty="0">
                <a:latin typeface="Calibri"/>
                <a:cs typeface="Calibri"/>
              </a:rPr>
              <a:t>the</a:t>
            </a:r>
            <a:r>
              <a:rPr sz="2280" spc="-36" dirty="0">
                <a:latin typeface="Calibri"/>
                <a:cs typeface="Calibri"/>
              </a:rPr>
              <a:t> </a:t>
            </a:r>
            <a:r>
              <a:rPr sz="2280" spc="-12" dirty="0">
                <a:latin typeface="Calibri"/>
                <a:cs typeface="Calibri"/>
              </a:rPr>
              <a:t>situation.</a:t>
            </a:r>
            <a:endParaRPr sz="2280">
              <a:latin typeface="Calibri"/>
              <a:cs typeface="Calibri"/>
            </a:endParaRPr>
          </a:p>
          <a:p>
            <a:pPr marL="15240">
              <a:spcBef>
                <a:spcPts val="245"/>
              </a:spcBef>
            </a:pPr>
            <a:r>
              <a:rPr sz="2280" b="1" i="1" spc="-12" dirty="0">
                <a:solidFill>
                  <a:srgbClr val="C00000"/>
                </a:solidFill>
                <a:latin typeface="Calibri"/>
                <a:cs typeface="Calibri"/>
              </a:rPr>
              <a:t>Model</a:t>
            </a:r>
            <a:endParaRPr sz="2280">
              <a:latin typeface="Calibri"/>
              <a:cs typeface="Calibri"/>
            </a:endParaRPr>
          </a:p>
          <a:p>
            <a:pPr marL="425958" indent="-410718">
              <a:spcBef>
                <a:spcPts val="252"/>
              </a:spcBef>
              <a:buFont typeface="Arial MT"/>
              <a:buChar char="•"/>
              <a:tabLst>
                <a:tab pos="425958" algn="l"/>
              </a:tabLst>
            </a:pPr>
            <a:r>
              <a:rPr sz="2280" dirty="0">
                <a:latin typeface="Calibri"/>
                <a:cs typeface="Calibri"/>
              </a:rPr>
              <a:t>A</a:t>
            </a:r>
            <a:r>
              <a:rPr sz="2280" spc="-42" dirty="0">
                <a:latin typeface="Calibri"/>
                <a:cs typeface="Calibri"/>
              </a:rPr>
              <a:t> </a:t>
            </a:r>
            <a:r>
              <a:rPr sz="2280" dirty="0">
                <a:latin typeface="Calibri"/>
                <a:cs typeface="Calibri"/>
              </a:rPr>
              <a:t>model</a:t>
            </a:r>
            <a:r>
              <a:rPr sz="2280" spc="-24" dirty="0">
                <a:latin typeface="Calibri"/>
                <a:cs typeface="Calibri"/>
              </a:rPr>
              <a:t> </a:t>
            </a:r>
            <a:r>
              <a:rPr sz="2280" dirty="0">
                <a:latin typeface="Calibri"/>
                <a:cs typeface="Calibri"/>
              </a:rPr>
              <a:t>is</a:t>
            </a:r>
            <a:r>
              <a:rPr sz="2280" spc="-36" dirty="0">
                <a:latin typeface="Calibri"/>
                <a:cs typeface="Calibri"/>
              </a:rPr>
              <a:t> </a:t>
            </a:r>
            <a:r>
              <a:rPr sz="2280" dirty="0">
                <a:latin typeface="Calibri"/>
                <a:cs typeface="Calibri"/>
              </a:rPr>
              <a:t>a</a:t>
            </a:r>
            <a:r>
              <a:rPr sz="2280" spc="-30" dirty="0">
                <a:latin typeface="Calibri"/>
                <a:cs typeface="Calibri"/>
              </a:rPr>
              <a:t> </a:t>
            </a:r>
            <a:r>
              <a:rPr sz="2280" b="1" i="1" spc="-12" dirty="0">
                <a:solidFill>
                  <a:srgbClr val="006FC0"/>
                </a:solidFill>
                <a:latin typeface="Calibri"/>
                <a:cs typeface="Calibri"/>
              </a:rPr>
              <a:t>framework</a:t>
            </a:r>
            <a:r>
              <a:rPr sz="2280" b="1" i="1" spc="-30" dirty="0">
                <a:solidFill>
                  <a:srgbClr val="006FC0"/>
                </a:solidFill>
                <a:latin typeface="Calibri"/>
                <a:cs typeface="Calibri"/>
              </a:rPr>
              <a:t> </a:t>
            </a:r>
            <a:r>
              <a:rPr sz="2280" dirty="0">
                <a:latin typeface="Calibri"/>
                <a:cs typeface="Calibri"/>
              </a:rPr>
              <a:t>or</a:t>
            </a:r>
            <a:r>
              <a:rPr sz="2280" spc="-42" dirty="0">
                <a:latin typeface="Calibri"/>
                <a:cs typeface="Calibri"/>
              </a:rPr>
              <a:t> </a:t>
            </a:r>
            <a:r>
              <a:rPr sz="2280" dirty="0">
                <a:latin typeface="Calibri"/>
                <a:cs typeface="Calibri"/>
              </a:rPr>
              <a:t>way</a:t>
            </a:r>
            <a:r>
              <a:rPr sz="2280" spc="-24" dirty="0">
                <a:latin typeface="Calibri"/>
                <a:cs typeface="Calibri"/>
              </a:rPr>
              <a:t> </a:t>
            </a:r>
            <a:r>
              <a:rPr sz="2280" dirty="0">
                <a:latin typeface="Calibri"/>
                <a:cs typeface="Calibri"/>
              </a:rPr>
              <a:t>of</a:t>
            </a:r>
            <a:r>
              <a:rPr sz="2280" spc="-42" dirty="0">
                <a:latin typeface="Calibri"/>
                <a:cs typeface="Calibri"/>
              </a:rPr>
              <a:t> </a:t>
            </a:r>
            <a:r>
              <a:rPr sz="2280" dirty="0">
                <a:latin typeface="Calibri"/>
                <a:cs typeface="Calibri"/>
              </a:rPr>
              <a:t>doing</a:t>
            </a:r>
            <a:r>
              <a:rPr sz="2280" spc="-18" dirty="0">
                <a:latin typeface="Calibri"/>
                <a:cs typeface="Calibri"/>
              </a:rPr>
              <a:t> </a:t>
            </a:r>
            <a:r>
              <a:rPr sz="2280" spc="-12" dirty="0">
                <a:latin typeface="Calibri"/>
                <a:cs typeface="Calibri"/>
              </a:rPr>
              <a:t>something.</a:t>
            </a:r>
            <a:endParaRPr sz="2280">
              <a:latin typeface="Calibri"/>
              <a:cs typeface="Calibri"/>
            </a:endParaRPr>
          </a:p>
          <a:p>
            <a:pPr marL="425958" marR="6858" indent="-411480">
              <a:spcBef>
                <a:spcPts val="228"/>
              </a:spcBef>
              <a:buFont typeface="Arial MT"/>
              <a:buChar char="•"/>
              <a:tabLst>
                <a:tab pos="425958" algn="l"/>
              </a:tabLst>
            </a:pPr>
            <a:r>
              <a:rPr sz="2280" dirty="0">
                <a:latin typeface="Calibri"/>
                <a:cs typeface="Calibri"/>
              </a:rPr>
              <a:t>CMMI</a:t>
            </a:r>
            <a:r>
              <a:rPr sz="2280" spc="294" dirty="0">
                <a:latin typeface="Calibri"/>
                <a:cs typeface="Calibri"/>
              </a:rPr>
              <a:t> </a:t>
            </a:r>
            <a:r>
              <a:rPr sz="2280" dirty="0">
                <a:latin typeface="Calibri"/>
                <a:cs typeface="Calibri"/>
              </a:rPr>
              <a:t>only</a:t>
            </a:r>
            <a:r>
              <a:rPr sz="2280" spc="312" dirty="0">
                <a:latin typeface="Calibri"/>
                <a:cs typeface="Calibri"/>
              </a:rPr>
              <a:t> </a:t>
            </a:r>
            <a:r>
              <a:rPr sz="2280" b="1" i="1" dirty="0">
                <a:solidFill>
                  <a:srgbClr val="006FC0"/>
                </a:solidFill>
                <a:latin typeface="Calibri"/>
                <a:cs typeface="Calibri"/>
              </a:rPr>
              <a:t>provides</a:t>
            </a:r>
            <a:r>
              <a:rPr sz="2280" b="1" i="1" spc="300" dirty="0">
                <a:solidFill>
                  <a:srgbClr val="006FC0"/>
                </a:solidFill>
                <a:latin typeface="Calibri"/>
                <a:cs typeface="Calibri"/>
              </a:rPr>
              <a:t> </a:t>
            </a:r>
            <a:r>
              <a:rPr sz="2280" b="1" i="1" dirty="0">
                <a:solidFill>
                  <a:srgbClr val="006FC0"/>
                </a:solidFill>
                <a:latin typeface="Calibri"/>
                <a:cs typeface="Calibri"/>
              </a:rPr>
              <a:t>a</a:t>
            </a:r>
            <a:r>
              <a:rPr sz="2280" b="1" i="1" spc="300" dirty="0">
                <a:solidFill>
                  <a:srgbClr val="006FC0"/>
                </a:solidFill>
                <a:latin typeface="Calibri"/>
                <a:cs typeface="Calibri"/>
              </a:rPr>
              <a:t> </a:t>
            </a:r>
            <a:r>
              <a:rPr sz="2280" b="1" i="1" dirty="0">
                <a:solidFill>
                  <a:srgbClr val="006FC0"/>
                </a:solidFill>
                <a:latin typeface="Calibri"/>
                <a:cs typeface="Calibri"/>
              </a:rPr>
              <a:t>framework</a:t>
            </a:r>
            <a:r>
              <a:rPr sz="2280" b="1" i="1" spc="318" dirty="0">
                <a:solidFill>
                  <a:srgbClr val="006FC0"/>
                </a:solidFill>
                <a:latin typeface="Calibri"/>
                <a:cs typeface="Calibri"/>
              </a:rPr>
              <a:t> </a:t>
            </a:r>
            <a:r>
              <a:rPr sz="2280" b="1" i="1" dirty="0">
                <a:solidFill>
                  <a:srgbClr val="006FC0"/>
                </a:solidFill>
                <a:latin typeface="Calibri"/>
                <a:cs typeface="Calibri"/>
              </a:rPr>
              <a:t>to</a:t>
            </a:r>
            <a:r>
              <a:rPr sz="2280" b="1" i="1" spc="294" dirty="0">
                <a:solidFill>
                  <a:srgbClr val="006FC0"/>
                </a:solidFill>
                <a:latin typeface="Calibri"/>
                <a:cs typeface="Calibri"/>
              </a:rPr>
              <a:t> </a:t>
            </a:r>
            <a:r>
              <a:rPr sz="2280" b="1" i="1" dirty="0">
                <a:solidFill>
                  <a:srgbClr val="006FC0"/>
                </a:solidFill>
                <a:latin typeface="Calibri"/>
                <a:cs typeface="Calibri"/>
              </a:rPr>
              <a:t>define</a:t>
            </a:r>
            <a:r>
              <a:rPr sz="2280" b="1" i="1" spc="312" dirty="0">
                <a:solidFill>
                  <a:srgbClr val="006FC0"/>
                </a:solidFill>
                <a:latin typeface="Calibri"/>
                <a:cs typeface="Calibri"/>
              </a:rPr>
              <a:t> </a:t>
            </a:r>
            <a:r>
              <a:rPr sz="2280" b="1" i="1" dirty="0">
                <a:solidFill>
                  <a:srgbClr val="006FC0"/>
                </a:solidFill>
                <a:latin typeface="Calibri"/>
                <a:cs typeface="Calibri"/>
              </a:rPr>
              <a:t>processes</a:t>
            </a:r>
            <a:r>
              <a:rPr sz="2280" b="1" i="1" spc="300" dirty="0">
                <a:solidFill>
                  <a:srgbClr val="006FC0"/>
                </a:solidFill>
                <a:latin typeface="Calibri"/>
                <a:cs typeface="Calibri"/>
              </a:rPr>
              <a:t> </a:t>
            </a:r>
            <a:r>
              <a:rPr sz="2280" dirty="0">
                <a:latin typeface="Calibri"/>
                <a:cs typeface="Calibri"/>
              </a:rPr>
              <a:t>at</a:t>
            </a:r>
            <a:r>
              <a:rPr sz="2280" spc="305" dirty="0">
                <a:latin typeface="Calibri"/>
                <a:cs typeface="Calibri"/>
              </a:rPr>
              <a:t> </a:t>
            </a:r>
            <a:r>
              <a:rPr sz="2280" dirty="0">
                <a:latin typeface="Calibri"/>
                <a:cs typeface="Calibri"/>
              </a:rPr>
              <a:t>your</a:t>
            </a:r>
            <a:r>
              <a:rPr sz="2280" spc="300" dirty="0">
                <a:latin typeface="Calibri"/>
                <a:cs typeface="Calibri"/>
              </a:rPr>
              <a:t> </a:t>
            </a:r>
            <a:r>
              <a:rPr sz="2280" dirty="0">
                <a:latin typeface="Calibri"/>
                <a:cs typeface="Calibri"/>
              </a:rPr>
              <a:t>organisation</a:t>
            </a:r>
            <a:r>
              <a:rPr sz="2280" spc="294" dirty="0">
                <a:latin typeface="Calibri"/>
                <a:cs typeface="Calibri"/>
              </a:rPr>
              <a:t> </a:t>
            </a:r>
            <a:r>
              <a:rPr sz="2280" dirty="0">
                <a:latin typeface="Calibri"/>
                <a:cs typeface="Calibri"/>
              </a:rPr>
              <a:t>and</a:t>
            </a:r>
            <a:r>
              <a:rPr sz="2280" spc="312" dirty="0">
                <a:latin typeface="Calibri"/>
                <a:cs typeface="Calibri"/>
              </a:rPr>
              <a:t> </a:t>
            </a:r>
            <a:r>
              <a:rPr sz="2280" spc="-30" dirty="0">
                <a:latin typeface="Calibri"/>
                <a:cs typeface="Calibri"/>
              </a:rPr>
              <a:t>it </a:t>
            </a:r>
            <a:r>
              <a:rPr sz="2280" dirty="0">
                <a:latin typeface="Calibri"/>
                <a:cs typeface="Calibri"/>
              </a:rPr>
              <a:t>does</a:t>
            </a:r>
            <a:r>
              <a:rPr sz="2280" spc="-78" dirty="0">
                <a:latin typeface="Calibri"/>
                <a:cs typeface="Calibri"/>
              </a:rPr>
              <a:t> </a:t>
            </a:r>
            <a:r>
              <a:rPr sz="2280" dirty="0">
                <a:latin typeface="Calibri"/>
                <a:cs typeface="Calibri"/>
              </a:rPr>
              <a:t>not</a:t>
            </a:r>
            <a:r>
              <a:rPr sz="2280" spc="-78" dirty="0">
                <a:latin typeface="Calibri"/>
                <a:cs typeface="Calibri"/>
              </a:rPr>
              <a:t> </a:t>
            </a:r>
            <a:r>
              <a:rPr sz="2280" dirty="0">
                <a:latin typeface="Calibri"/>
                <a:cs typeface="Calibri"/>
              </a:rPr>
              <a:t>give</a:t>
            </a:r>
            <a:r>
              <a:rPr sz="2280" spc="-48" dirty="0">
                <a:latin typeface="Calibri"/>
                <a:cs typeface="Calibri"/>
              </a:rPr>
              <a:t> </a:t>
            </a:r>
            <a:r>
              <a:rPr sz="2280" dirty="0">
                <a:latin typeface="Calibri"/>
                <a:cs typeface="Calibri"/>
              </a:rPr>
              <a:t>exact</a:t>
            </a:r>
            <a:r>
              <a:rPr sz="2280" spc="-72" dirty="0">
                <a:latin typeface="Calibri"/>
                <a:cs typeface="Calibri"/>
              </a:rPr>
              <a:t> </a:t>
            </a:r>
            <a:r>
              <a:rPr sz="2280" dirty="0">
                <a:latin typeface="Calibri"/>
                <a:cs typeface="Calibri"/>
              </a:rPr>
              <a:t>process</a:t>
            </a:r>
            <a:r>
              <a:rPr sz="2280" spc="-66" dirty="0">
                <a:latin typeface="Calibri"/>
                <a:cs typeface="Calibri"/>
              </a:rPr>
              <a:t> </a:t>
            </a:r>
            <a:r>
              <a:rPr sz="2280" spc="-12" dirty="0">
                <a:latin typeface="Calibri"/>
                <a:cs typeface="Calibri"/>
              </a:rPr>
              <a:t>details.</a:t>
            </a:r>
            <a:endParaRPr sz="2280">
              <a:latin typeface="Calibri"/>
              <a:cs typeface="Calibri"/>
            </a:endParaRPr>
          </a:p>
          <a:p>
            <a:pPr marL="425958" indent="-410718">
              <a:spcBef>
                <a:spcPts val="245"/>
              </a:spcBef>
              <a:buFont typeface="Arial MT"/>
              <a:buChar char="•"/>
              <a:tabLst>
                <a:tab pos="425958" algn="l"/>
              </a:tabLst>
            </a:pPr>
            <a:r>
              <a:rPr sz="2280" dirty="0">
                <a:latin typeface="Calibri"/>
                <a:cs typeface="Calibri"/>
              </a:rPr>
              <a:t>It</a:t>
            </a:r>
            <a:r>
              <a:rPr sz="2280" spc="-78" dirty="0">
                <a:latin typeface="Calibri"/>
                <a:cs typeface="Calibri"/>
              </a:rPr>
              <a:t> </a:t>
            </a:r>
            <a:r>
              <a:rPr sz="2280" dirty="0">
                <a:latin typeface="Calibri"/>
                <a:cs typeface="Calibri"/>
              </a:rPr>
              <a:t>only</a:t>
            </a:r>
            <a:r>
              <a:rPr sz="2280" spc="-48" dirty="0">
                <a:latin typeface="Calibri"/>
                <a:cs typeface="Calibri"/>
              </a:rPr>
              <a:t> </a:t>
            </a:r>
            <a:r>
              <a:rPr sz="2280" dirty="0">
                <a:latin typeface="Calibri"/>
                <a:cs typeface="Calibri"/>
              </a:rPr>
              <a:t>guides</a:t>
            </a:r>
            <a:r>
              <a:rPr sz="2280" spc="-48" dirty="0">
                <a:latin typeface="Calibri"/>
                <a:cs typeface="Calibri"/>
              </a:rPr>
              <a:t> </a:t>
            </a:r>
            <a:r>
              <a:rPr sz="2280" dirty="0">
                <a:latin typeface="Calibri"/>
                <a:cs typeface="Calibri"/>
              </a:rPr>
              <a:t>to</a:t>
            </a:r>
            <a:r>
              <a:rPr sz="2280" spc="-66" dirty="0">
                <a:latin typeface="Calibri"/>
                <a:cs typeface="Calibri"/>
              </a:rPr>
              <a:t> </a:t>
            </a:r>
            <a:r>
              <a:rPr sz="2280" dirty="0">
                <a:latin typeface="Calibri"/>
                <a:cs typeface="Calibri"/>
              </a:rPr>
              <a:t>implement</a:t>
            </a:r>
            <a:r>
              <a:rPr sz="2280" spc="-54" dirty="0">
                <a:latin typeface="Calibri"/>
                <a:cs typeface="Calibri"/>
              </a:rPr>
              <a:t> </a:t>
            </a:r>
            <a:r>
              <a:rPr sz="2280" spc="-12" dirty="0">
                <a:latin typeface="Calibri"/>
                <a:cs typeface="Calibri"/>
              </a:rPr>
              <a:t>efficient</a:t>
            </a:r>
            <a:r>
              <a:rPr sz="2280" spc="-60" dirty="0">
                <a:latin typeface="Calibri"/>
                <a:cs typeface="Calibri"/>
              </a:rPr>
              <a:t> </a:t>
            </a:r>
            <a:r>
              <a:rPr sz="2280" dirty="0">
                <a:latin typeface="Calibri"/>
                <a:cs typeface="Calibri"/>
              </a:rPr>
              <a:t>and</a:t>
            </a:r>
            <a:r>
              <a:rPr sz="2280" spc="-48" dirty="0">
                <a:latin typeface="Calibri"/>
                <a:cs typeface="Calibri"/>
              </a:rPr>
              <a:t> </a:t>
            </a:r>
            <a:r>
              <a:rPr sz="2280" spc="-12" dirty="0">
                <a:latin typeface="Calibri"/>
                <a:cs typeface="Calibri"/>
              </a:rPr>
              <a:t>effective</a:t>
            </a:r>
            <a:r>
              <a:rPr sz="2280" spc="-48" dirty="0">
                <a:latin typeface="Calibri"/>
                <a:cs typeface="Calibri"/>
              </a:rPr>
              <a:t> </a:t>
            </a:r>
            <a:r>
              <a:rPr sz="2280" spc="-12" dirty="0">
                <a:latin typeface="Calibri"/>
                <a:cs typeface="Calibri"/>
              </a:rPr>
              <a:t>processes.</a:t>
            </a:r>
            <a:endParaRPr sz="2280">
              <a:latin typeface="Calibri"/>
              <a:cs typeface="Calibri"/>
            </a:endParaRPr>
          </a:p>
        </p:txBody>
      </p:sp>
    </p:spTree>
    <p:extLst>
      <p:ext uri="{BB962C8B-B14F-4D97-AF65-F5344CB8AC3E}">
        <p14:creationId xmlns:p14="http://schemas.microsoft.com/office/powerpoint/2010/main" val="216581096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idx="4294967295"/>
          </p:nvPr>
        </p:nvSpPr>
        <p:spPr>
          <a:xfrm>
            <a:off x="0" y="92075"/>
            <a:ext cx="1379538" cy="366713"/>
          </a:xfrm>
          <a:prstGeom prst="rect">
            <a:avLst/>
          </a:prstGeom>
        </p:spPr>
        <p:txBody>
          <a:bodyPr vert="horz" wrap="square" lIns="0" tIns="14478" rIns="0" bIns="0" rtlCol="0" anchor="b">
            <a:spAutoFit/>
          </a:bodyPr>
          <a:lstStyle/>
          <a:p>
            <a:pPr marL="15240">
              <a:lnSpc>
                <a:spcPct val="100000"/>
              </a:lnSpc>
              <a:spcBef>
                <a:spcPts val="114"/>
              </a:spcBef>
            </a:pPr>
            <a:r>
              <a:rPr sz="2280" i="1" spc="-12" dirty="0">
                <a:solidFill>
                  <a:srgbClr val="C00000"/>
                </a:solidFill>
                <a:latin typeface="Calibri"/>
                <a:cs typeface="Calibri"/>
              </a:rPr>
              <a:t>Integration</a:t>
            </a:r>
            <a:endParaRPr sz="2280">
              <a:latin typeface="Calibri"/>
              <a:cs typeface="Calibri"/>
            </a:endParaRPr>
          </a:p>
        </p:txBody>
      </p:sp>
      <p:grpSp>
        <p:nvGrpSpPr>
          <p:cNvPr id="3" name="object 3"/>
          <p:cNvGrpSpPr/>
          <p:nvPr/>
        </p:nvGrpSpPr>
        <p:grpSpPr>
          <a:xfrm>
            <a:off x="5575478" y="1948556"/>
            <a:ext cx="5976366" cy="3982974"/>
            <a:chOff x="4138231" y="1623796"/>
            <a:chExt cx="4980305" cy="3319145"/>
          </a:xfrm>
        </p:grpSpPr>
        <p:pic>
          <p:nvPicPr>
            <p:cNvPr id="4" name="object 4"/>
            <p:cNvPicPr/>
            <p:nvPr/>
          </p:nvPicPr>
          <p:blipFill>
            <a:blip r:embed="rId2" cstate="print"/>
            <a:stretch>
              <a:fillRect/>
            </a:stretch>
          </p:blipFill>
          <p:spPr>
            <a:xfrm>
              <a:off x="4409510" y="1747100"/>
              <a:ext cx="4596655" cy="3151674"/>
            </a:xfrm>
            <a:prstGeom prst="rect">
              <a:avLst/>
            </a:prstGeom>
          </p:spPr>
        </p:pic>
        <p:sp>
          <p:nvSpPr>
            <p:cNvPr id="5" name="object 5"/>
            <p:cNvSpPr/>
            <p:nvPr/>
          </p:nvSpPr>
          <p:spPr>
            <a:xfrm>
              <a:off x="4142994" y="1628559"/>
              <a:ext cx="4970780" cy="3309620"/>
            </a:xfrm>
            <a:custGeom>
              <a:avLst/>
              <a:gdLst/>
              <a:ahLst/>
              <a:cxnLst/>
              <a:rect l="l" t="t" r="r" b="b"/>
              <a:pathLst>
                <a:path w="4970780" h="3309620">
                  <a:moveTo>
                    <a:pt x="0" y="3309112"/>
                  </a:moveTo>
                  <a:lnTo>
                    <a:pt x="4970272" y="3309112"/>
                  </a:lnTo>
                  <a:lnTo>
                    <a:pt x="4970272" y="0"/>
                  </a:lnTo>
                  <a:lnTo>
                    <a:pt x="0" y="0"/>
                  </a:lnTo>
                  <a:lnTo>
                    <a:pt x="0" y="3309112"/>
                  </a:lnTo>
                  <a:close/>
                </a:path>
              </a:pathLst>
            </a:custGeom>
            <a:ln w="9525">
              <a:solidFill>
                <a:srgbClr val="000000"/>
              </a:solidFill>
            </a:ln>
          </p:spPr>
          <p:txBody>
            <a:bodyPr wrap="square" lIns="0" tIns="0" rIns="0" bIns="0" rtlCol="0"/>
            <a:lstStyle/>
            <a:p>
              <a:endParaRPr sz="2160"/>
            </a:p>
          </p:txBody>
        </p:sp>
      </p:grpSp>
      <p:sp>
        <p:nvSpPr>
          <p:cNvPr id="6" name="object 6"/>
          <p:cNvSpPr txBox="1"/>
          <p:nvPr/>
        </p:nvSpPr>
        <p:spPr>
          <a:xfrm>
            <a:off x="833201" y="497585"/>
            <a:ext cx="10612374" cy="6258380"/>
          </a:xfrm>
          <a:prstGeom prst="rect">
            <a:avLst/>
          </a:prstGeom>
        </p:spPr>
        <p:txBody>
          <a:bodyPr vert="horz" wrap="square" lIns="0" tIns="14478" rIns="0" bIns="0" rtlCol="0">
            <a:spAutoFit/>
          </a:bodyPr>
          <a:lstStyle/>
          <a:p>
            <a:pPr marL="425958" marR="91440" indent="-411480">
              <a:spcBef>
                <a:spcPts val="114"/>
              </a:spcBef>
              <a:buFont typeface="Arial MT"/>
              <a:buChar char="•"/>
              <a:tabLst>
                <a:tab pos="425958" algn="l"/>
              </a:tabLst>
            </a:pPr>
            <a:r>
              <a:rPr sz="2280" dirty="0">
                <a:latin typeface="Calibri"/>
                <a:cs typeface="Calibri"/>
              </a:rPr>
              <a:t>From</a:t>
            </a:r>
            <a:r>
              <a:rPr sz="2280" spc="-24" dirty="0">
                <a:latin typeface="Calibri"/>
                <a:cs typeface="Calibri"/>
              </a:rPr>
              <a:t> </a:t>
            </a:r>
            <a:r>
              <a:rPr sz="2280" dirty="0">
                <a:latin typeface="Calibri"/>
                <a:cs typeface="Calibri"/>
              </a:rPr>
              <a:t>a</a:t>
            </a:r>
            <a:r>
              <a:rPr sz="2280" spc="-12" dirty="0">
                <a:latin typeface="Calibri"/>
                <a:cs typeface="Calibri"/>
              </a:rPr>
              <a:t> </a:t>
            </a:r>
            <a:r>
              <a:rPr sz="2280" dirty="0">
                <a:latin typeface="Calibri"/>
                <a:cs typeface="Calibri"/>
              </a:rPr>
              <a:t>historical</a:t>
            </a:r>
            <a:r>
              <a:rPr sz="2280" spc="-18" dirty="0">
                <a:latin typeface="Calibri"/>
                <a:cs typeface="Calibri"/>
              </a:rPr>
              <a:t> </a:t>
            </a:r>
            <a:r>
              <a:rPr sz="2280" dirty="0">
                <a:latin typeface="Calibri"/>
                <a:cs typeface="Calibri"/>
              </a:rPr>
              <a:t>point</a:t>
            </a:r>
            <a:r>
              <a:rPr sz="2280" spc="-18" dirty="0">
                <a:latin typeface="Calibri"/>
                <a:cs typeface="Calibri"/>
              </a:rPr>
              <a:t> </a:t>
            </a:r>
            <a:r>
              <a:rPr sz="2280" dirty="0">
                <a:latin typeface="Calibri"/>
                <a:cs typeface="Calibri"/>
              </a:rPr>
              <a:t>of</a:t>
            </a:r>
            <a:r>
              <a:rPr sz="2280" spc="-6" dirty="0">
                <a:latin typeface="Calibri"/>
                <a:cs typeface="Calibri"/>
              </a:rPr>
              <a:t> </a:t>
            </a:r>
            <a:r>
              <a:rPr sz="2280" dirty="0">
                <a:latin typeface="Calibri"/>
                <a:cs typeface="Calibri"/>
              </a:rPr>
              <a:t>view</a:t>
            </a:r>
            <a:r>
              <a:rPr sz="2280" spc="6" dirty="0">
                <a:latin typeface="Calibri"/>
                <a:cs typeface="Calibri"/>
              </a:rPr>
              <a:t> </a:t>
            </a:r>
            <a:r>
              <a:rPr sz="2280" dirty="0">
                <a:latin typeface="Calibri"/>
                <a:cs typeface="Calibri"/>
              </a:rPr>
              <a:t>CMMI</a:t>
            </a:r>
            <a:r>
              <a:rPr sz="2280" spc="-18" dirty="0">
                <a:latin typeface="Calibri"/>
                <a:cs typeface="Calibri"/>
              </a:rPr>
              <a:t> </a:t>
            </a:r>
            <a:r>
              <a:rPr sz="2280" dirty="0">
                <a:latin typeface="Calibri"/>
                <a:cs typeface="Calibri"/>
              </a:rPr>
              <a:t>was</a:t>
            </a:r>
            <a:r>
              <a:rPr sz="2280" spc="-12" dirty="0">
                <a:latin typeface="Calibri"/>
                <a:cs typeface="Calibri"/>
              </a:rPr>
              <a:t> </a:t>
            </a:r>
            <a:r>
              <a:rPr sz="2280" dirty="0">
                <a:latin typeface="Calibri"/>
                <a:cs typeface="Calibri"/>
              </a:rPr>
              <a:t>a</a:t>
            </a:r>
            <a:r>
              <a:rPr sz="2280" spc="-12" dirty="0">
                <a:latin typeface="Calibri"/>
                <a:cs typeface="Calibri"/>
              </a:rPr>
              <a:t> </a:t>
            </a:r>
            <a:r>
              <a:rPr sz="2280" dirty="0">
                <a:latin typeface="Calibri"/>
                <a:cs typeface="Calibri"/>
              </a:rPr>
              <a:t>fusion</a:t>
            </a:r>
            <a:r>
              <a:rPr sz="2280" spc="-18" dirty="0">
                <a:latin typeface="Calibri"/>
                <a:cs typeface="Calibri"/>
              </a:rPr>
              <a:t> </a:t>
            </a:r>
            <a:r>
              <a:rPr sz="2280" dirty="0">
                <a:latin typeface="Calibri"/>
                <a:cs typeface="Calibri"/>
              </a:rPr>
              <a:t>of</a:t>
            </a:r>
            <a:r>
              <a:rPr sz="2280" spc="-18" dirty="0">
                <a:latin typeface="Calibri"/>
                <a:cs typeface="Calibri"/>
              </a:rPr>
              <a:t> </a:t>
            </a:r>
            <a:r>
              <a:rPr sz="2280" dirty="0">
                <a:latin typeface="Calibri"/>
                <a:cs typeface="Calibri"/>
              </a:rPr>
              <a:t>proven</a:t>
            </a:r>
            <a:r>
              <a:rPr sz="2280" spc="-18" dirty="0">
                <a:latin typeface="Calibri"/>
                <a:cs typeface="Calibri"/>
              </a:rPr>
              <a:t> </a:t>
            </a:r>
            <a:r>
              <a:rPr sz="2280" dirty="0">
                <a:latin typeface="Calibri"/>
                <a:cs typeface="Calibri"/>
              </a:rPr>
              <a:t>practices from</a:t>
            </a:r>
            <a:r>
              <a:rPr sz="2280" spc="-24" dirty="0">
                <a:latin typeface="Calibri"/>
                <a:cs typeface="Calibri"/>
              </a:rPr>
              <a:t> </a:t>
            </a:r>
            <a:r>
              <a:rPr sz="2280" dirty="0">
                <a:latin typeface="Calibri"/>
                <a:cs typeface="Calibri"/>
              </a:rPr>
              <a:t>a</a:t>
            </a:r>
            <a:r>
              <a:rPr sz="2280" spc="-12" dirty="0">
                <a:latin typeface="Calibri"/>
                <a:cs typeface="Calibri"/>
              </a:rPr>
              <a:t> number </a:t>
            </a:r>
            <a:r>
              <a:rPr sz="2280" dirty="0">
                <a:latin typeface="Calibri"/>
                <a:cs typeface="Calibri"/>
              </a:rPr>
              <a:t>of</a:t>
            </a:r>
            <a:r>
              <a:rPr sz="2280" spc="-78" dirty="0">
                <a:latin typeface="Calibri"/>
                <a:cs typeface="Calibri"/>
              </a:rPr>
              <a:t> </a:t>
            </a:r>
            <a:r>
              <a:rPr sz="2280" spc="-12" dirty="0">
                <a:latin typeface="Calibri"/>
                <a:cs typeface="Calibri"/>
              </a:rPr>
              <a:t>different</a:t>
            </a:r>
            <a:r>
              <a:rPr sz="2280" spc="-54" dirty="0">
                <a:latin typeface="Calibri"/>
                <a:cs typeface="Calibri"/>
              </a:rPr>
              <a:t> </a:t>
            </a:r>
            <a:r>
              <a:rPr sz="2280" spc="-12" dirty="0">
                <a:latin typeface="Calibri"/>
                <a:cs typeface="Calibri"/>
              </a:rPr>
              <a:t>Software</a:t>
            </a:r>
            <a:r>
              <a:rPr sz="2280" spc="-66" dirty="0">
                <a:latin typeface="Calibri"/>
                <a:cs typeface="Calibri"/>
              </a:rPr>
              <a:t> </a:t>
            </a:r>
            <a:r>
              <a:rPr sz="2280" dirty="0">
                <a:latin typeface="Calibri"/>
                <a:cs typeface="Calibri"/>
              </a:rPr>
              <a:t>and</a:t>
            </a:r>
            <a:r>
              <a:rPr sz="2280" spc="-60" dirty="0">
                <a:latin typeface="Calibri"/>
                <a:cs typeface="Calibri"/>
              </a:rPr>
              <a:t> </a:t>
            </a:r>
            <a:r>
              <a:rPr sz="2280" spc="-12" dirty="0">
                <a:latin typeface="Calibri"/>
                <a:cs typeface="Calibri"/>
              </a:rPr>
              <a:t>System</a:t>
            </a:r>
            <a:r>
              <a:rPr sz="2280" spc="-78" dirty="0">
                <a:latin typeface="Calibri"/>
                <a:cs typeface="Calibri"/>
              </a:rPr>
              <a:t> </a:t>
            </a:r>
            <a:r>
              <a:rPr sz="2280" spc="-12" dirty="0">
                <a:latin typeface="Calibri"/>
                <a:cs typeface="Calibri"/>
              </a:rPr>
              <a:t>Development</a:t>
            </a:r>
            <a:r>
              <a:rPr sz="2280" spc="-36" dirty="0">
                <a:latin typeface="Calibri"/>
                <a:cs typeface="Calibri"/>
              </a:rPr>
              <a:t> </a:t>
            </a:r>
            <a:r>
              <a:rPr sz="2280" dirty="0">
                <a:latin typeface="Calibri"/>
                <a:cs typeface="Calibri"/>
              </a:rPr>
              <a:t>capability</a:t>
            </a:r>
            <a:r>
              <a:rPr sz="2280" spc="-60" dirty="0">
                <a:latin typeface="Calibri"/>
                <a:cs typeface="Calibri"/>
              </a:rPr>
              <a:t> </a:t>
            </a:r>
            <a:r>
              <a:rPr sz="2280" dirty="0">
                <a:latin typeface="Calibri"/>
                <a:cs typeface="Calibri"/>
              </a:rPr>
              <a:t>maturity</a:t>
            </a:r>
            <a:r>
              <a:rPr sz="2280" spc="-72" dirty="0">
                <a:latin typeface="Calibri"/>
                <a:cs typeface="Calibri"/>
              </a:rPr>
              <a:t> </a:t>
            </a:r>
            <a:r>
              <a:rPr sz="2280" spc="-12" dirty="0">
                <a:latin typeface="Calibri"/>
                <a:cs typeface="Calibri"/>
              </a:rPr>
              <a:t>models.</a:t>
            </a:r>
            <a:endParaRPr sz="2280">
              <a:latin typeface="Calibri"/>
              <a:cs typeface="Calibri"/>
            </a:endParaRPr>
          </a:p>
          <a:p>
            <a:pPr marL="425958" indent="-410718">
              <a:spcBef>
                <a:spcPts val="245"/>
              </a:spcBef>
              <a:buFont typeface="Arial MT"/>
              <a:buChar char="•"/>
              <a:tabLst>
                <a:tab pos="425958" algn="l"/>
              </a:tabLst>
            </a:pPr>
            <a:r>
              <a:rPr sz="2280" dirty="0">
                <a:latin typeface="Calibri"/>
                <a:cs typeface="Calibri"/>
              </a:rPr>
              <a:t>The</a:t>
            </a:r>
            <a:r>
              <a:rPr sz="2280" spc="-60" dirty="0">
                <a:latin typeface="Calibri"/>
                <a:cs typeface="Calibri"/>
              </a:rPr>
              <a:t> </a:t>
            </a:r>
            <a:r>
              <a:rPr sz="2280" dirty="0">
                <a:latin typeface="Calibri"/>
                <a:cs typeface="Calibri"/>
              </a:rPr>
              <a:t>CMMI</a:t>
            </a:r>
            <a:r>
              <a:rPr sz="2280" spc="-48" dirty="0">
                <a:latin typeface="Calibri"/>
                <a:cs typeface="Calibri"/>
              </a:rPr>
              <a:t> </a:t>
            </a:r>
            <a:r>
              <a:rPr sz="2280" spc="-12" dirty="0">
                <a:latin typeface="Calibri"/>
                <a:cs typeface="Calibri"/>
              </a:rPr>
              <a:t>represents</a:t>
            </a:r>
            <a:r>
              <a:rPr sz="2280" spc="-54" dirty="0">
                <a:latin typeface="Calibri"/>
                <a:cs typeface="Calibri"/>
              </a:rPr>
              <a:t> </a:t>
            </a:r>
            <a:r>
              <a:rPr sz="2280" dirty="0">
                <a:latin typeface="Calibri"/>
                <a:cs typeface="Calibri"/>
              </a:rPr>
              <a:t>a</a:t>
            </a:r>
            <a:r>
              <a:rPr sz="2280" spc="-66" dirty="0">
                <a:latin typeface="Calibri"/>
                <a:cs typeface="Calibri"/>
              </a:rPr>
              <a:t> </a:t>
            </a:r>
            <a:r>
              <a:rPr sz="2280" b="1" dirty="0">
                <a:solidFill>
                  <a:srgbClr val="006FC0"/>
                </a:solidFill>
                <a:latin typeface="Calibri"/>
                <a:cs typeface="Calibri"/>
              </a:rPr>
              <a:t>process</a:t>
            </a:r>
            <a:r>
              <a:rPr sz="2280" b="1" spc="-12" dirty="0">
                <a:solidFill>
                  <a:srgbClr val="006FC0"/>
                </a:solidFill>
                <a:latin typeface="Calibri"/>
                <a:cs typeface="Calibri"/>
              </a:rPr>
              <a:t> </a:t>
            </a:r>
            <a:r>
              <a:rPr sz="2280" b="1" spc="-30" dirty="0">
                <a:solidFill>
                  <a:srgbClr val="006FC0"/>
                </a:solidFill>
                <a:latin typeface="Calibri"/>
                <a:cs typeface="Calibri"/>
              </a:rPr>
              <a:t>meta-</a:t>
            </a:r>
            <a:r>
              <a:rPr sz="2280" b="1" dirty="0">
                <a:solidFill>
                  <a:srgbClr val="006FC0"/>
                </a:solidFill>
                <a:latin typeface="Calibri"/>
                <a:cs typeface="Calibri"/>
              </a:rPr>
              <a:t>model</a:t>
            </a:r>
            <a:r>
              <a:rPr sz="2280" b="1" spc="-24" dirty="0">
                <a:solidFill>
                  <a:srgbClr val="006FC0"/>
                </a:solidFill>
                <a:latin typeface="Calibri"/>
                <a:cs typeface="Calibri"/>
              </a:rPr>
              <a:t> </a:t>
            </a:r>
            <a:r>
              <a:rPr sz="2280" dirty="0">
                <a:latin typeface="Calibri"/>
                <a:cs typeface="Calibri"/>
              </a:rPr>
              <a:t>in</a:t>
            </a:r>
            <a:r>
              <a:rPr sz="2280" spc="-54" dirty="0">
                <a:latin typeface="Calibri"/>
                <a:cs typeface="Calibri"/>
              </a:rPr>
              <a:t> </a:t>
            </a:r>
            <a:r>
              <a:rPr sz="2280" dirty="0">
                <a:latin typeface="Calibri"/>
                <a:cs typeface="Calibri"/>
              </a:rPr>
              <a:t>two</a:t>
            </a:r>
            <a:r>
              <a:rPr sz="2280" spc="-60" dirty="0">
                <a:latin typeface="Calibri"/>
                <a:cs typeface="Calibri"/>
              </a:rPr>
              <a:t> </a:t>
            </a:r>
            <a:r>
              <a:rPr sz="2280" spc="-12" dirty="0">
                <a:latin typeface="Calibri"/>
                <a:cs typeface="Calibri"/>
              </a:rPr>
              <a:t>different</a:t>
            </a:r>
            <a:r>
              <a:rPr sz="2280" spc="-36" dirty="0">
                <a:latin typeface="Calibri"/>
                <a:cs typeface="Calibri"/>
              </a:rPr>
              <a:t> </a:t>
            </a:r>
            <a:r>
              <a:rPr sz="2280" spc="-12" dirty="0">
                <a:latin typeface="Calibri"/>
                <a:cs typeface="Calibri"/>
              </a:rPr>
              <a:t>ways:</a:t>
            </a:r>
            <a:endParaRPr sz="2280">
              <a:latin typeface="Calibri"/>
              <a:cs typeface="Calibri"/>
            </a:endParaRPr>
          </a:p>
          <a:p>
            <a:pPr marL="1501902" lvl="1" indent="-389382">
              <a:spcBef>
                <a:spcPts val="245"/>
              </a:spcBef>
              <a:buAutoNum type="arabicParenBoth"/>
              <a:tabLst>
                <a:tab pos="1501902" algn="l"/>
              </a:tabLst>
            </a:pPr>
            <a:r>
              <a:rPr sz="2280" b="1" i="1" dirty="0">
                <a:solidFill>
                  <a:srgbClr val="C00000"/>
                </a:solidFill>
                <a:latin typeface="Calibri"/>
                <a:cs typeface="Calibri"/>
              </a:rPr>
              <a:t>as</a:t>
            </a:r>
            <a:r>
              <a:rPr sz="2280" b="1" i="1" spc="-18" dirty="0">
                <a:solidFill>
                  <a:srgbClr val="C00000"/>
                </a:solidFill>
                <a:latin typeface="Calibri"/>
                <a:cs typeface="Calibri"/>
              </a:rPr>
              <a:t> </a:t>
            </a:r>
            <a:r>
              <a:rPr sz="2280" b="1" i="1" dirty="0">
                <a:solidFill>
                  <a:srgbClr val="C00000"/>
                </a:solidFill>
                <a:latin typeface="Calibri"/>
                <a:cs typeface="Calibri"/>
              </a:rPr>
              <a:t>a</a:t>
            </a:r>
            <a:r>
              <a:rPr sz="2280" b="1" i="1" spc="-12" dirty="0">
                <a:solidFill>
                  <a:srgbClr val="C00000"/>
                </a:solidFill>
                <a:latin typeface="Calibri"/>
                <a:cs typeface="Calibri"/>
              </a:rPr>
              <a:t> </a:t>
            </a:r>
            <a:r>
              <a:rPr sz="2280" b="1" i="1" spc="-24" dirty="0">
                <a:solidFill>
                  <a:srgbClr val="C00000"/>
                </a:solidFill>
                <a:latin typeface="Calibri"/>
                <a:cs typeface="Calibri"/>
              </a:rPr>
              <a:t>“continuous”</a:t>
            </a:r>
            <a:r>
              <a:rPr sz="2280" b="1" i="1" spc="-6" dirty="0">
                <a:solidFill>
                  <a:srgbClr val="C00000"/>
                </a:solidFill>
                <a:latin typeface="Calibri"/>
                <a:cs typeface="Calibri"/>
              </a:rPr>
              <a:t> </a:t>
            </a:r>
            <a:r>
              <a:rPr sz="2280" b="1" i="1" spc="-24" dirty="0">
                <a:solidFill>
                  <a:srgbClr val="C00000"/>
                </a:solidFill>
                <a:latin typeface="Calibri"/>
                <a:cs typeface="Calibri"/>
              </a:rPr>
              <a:t>model</a:t>
            </a:r>
            <a:endParaRPr sz="2280">
              <a:latin typeface="Calibri"/>
              <a:cs typeface="Calibri"/>
            </a:endParaRPr>
          </a:p>
          <a:p>
            <a:pPr marL="1501902" lvl="1" indent="-389382">
              <a:spcBef>
                <a:spcPts val="228"/>
              </a:spcBef>
              <a:buAutoNum type="arabicParenBoth"/>
              <a:tabLst>
                <a:tab pos="1501902" algn="l"/>
              </a:tabLst>
            </a:pPr>
            <a:r>
              <a:rPr sz="2280" b="1" i="1" dirty="0">
                <a:solidFill>
                  <a:srgbClr val="C00000"/>
                </a:solidFill>
                <a:latin typeface="Calibri"/>
                <a:cs typeface="Calibri"/>
              </a:rPr>
              <a:t>as</a:t>
            </a:r>
            <a:r>
              <a:rPr sz="2280" b="1" i="1" spc="-48" dirty="0">
                <a:solidFill>
                  <a:srgbClr val="C00000"/>
                </a:solidFill>
                <a:latin typeface="Calibri"/>
                <a:cs typeface="Calibri"/>
              </a:rPr>
              <a:t> </a:t>
            </a:r>
            <a:r>
              <a:rPr sz="2280" b="1" i="1" dirty="0">
                <a:solidFill>
                  <a:srgbClr val="C00000"/>
                </a:solidFill>
                <a:latin typeface="Calibri"/>
                <a:cs typeface="Calibri"/>
              </a:rPr>
              <a:t>a</a:t>
            </a:r>
            <a:r>
              <a:rPr sz="2280" b="1" i="1" spc="-42" dirty="0">
                <a:solidFill>
                  <a:srgbClr val="C00000"/>
                </a:solidFill>
                <a:latin typeface="Calibri"/>
                <a:cs typeface="Calibri"/>
              </a:rPr>
              <a:t> </a:t>
            </a:r>
            <a:r>
              <a:rPr sz="2280" b="1" i="1" spc="-12" dirty="0">
                <a:solidFill>
                  <a:srgbClr val="C00000"/>
                </a:solidFill>
                <a:latin typeface="Calibri"/>
                <a:cs typeface="Calibri"/>
              </a:rPr>
              <a:t>“staged”</a:t>
            </a:r>
            <a:r>
              <a:rPr sz="2280" b="1" i="1" spc="-24" dirty="0">
                <a:solidFill>
                  <a:srgbClr val="C00000"/>
                </a:solidFill>
                <a:latin typeface="Calibri"/>
                <a:cs typeface="Calibri"/>
              </a:rPr>
              <a:t> </a:t>
            </a:r>
            <a:r>
              <a:rPr sz="2280" b="1" i="1" spc="-12" dirty="0">
                <a:solidFill>
                  <a:srgbClr val="C00000"/>
                </a:solidFill>
                <a:latin typeface="Calibri"/>
                <a:cs typeface="Calibri"/>
              </a:rPr>
              <a:t>model</a:t>
            </a:r>
            <a:endParaRPr sz="2280">
              <a:latin typeface="Calibri"/>
              <a:cs typeface="Calibri"/>
            </a:endParaRPr>
          </a:p>
          <a:p>
            <a:pPr lvl="1">
              <a:spcBef>
                <a:spcPts val="120"/>
              </a:spcBef>
              <a:buClr>
                <a:srgbClr val="C00000"/>
              </a:buClr>
              <a:buFont typeface="Calibri"/>
              <a:buAutoNum type="arabicParenBoth"/>
            </a:pPr>
            <a:endParaRPr sz="2280">
              <a:latin typeface="Calibri"/>
              <a:cs typeface="Calibri"/>
            </a:endParaRPr>
          </a:p>
          <a:p>
            <a:pPr marL="358902" marR="5957316" indent="-344424" algn="just">
              <a:spcBef>
                <a:spcPts val="6"/>
              </a:spcBef>
              <a:buFont typeface="Arial MT"/>
              <a:buChar char="•"/>
              <a:tabLst>
                <a:tab pos="358902" algn="l"/>
              </a:tabLst>
            </a:pPr>
            <a:r>
              <a:rPr sz="2160" dirty="0">
                <a:latin typeface="Calibri"/>
                <a:cs typeface="Calibri"/>
              </a:rPr>
              <a:t>The</a:t>
            </a:r>
            <a:r>
              <a:rPr sz="2160" spc="216" dirty="0">
                <a:latin typeface="Calibri"/>
                <a:cs typeface="Calibri"/>
              </a:rPr>
              <a:t> </a:t>
            </a:r>
            <a:r>
              <a:rPr sz="2160" dirty="0">
                <a:latin typeface="Calibri"/>
                <a:cs typeface="Calibri"/>
              </a:rPr>
              <a:t>CMMI</a:t>
            </a:r>
            <a:r>
              <a:rPr sz="2160" spc="228" dirty="0">
                <a:latin typeface="Calibri"/>
                <a:cs typeface="Calibri"/>
              </a:rPr>
              <a:t> </a:t>
            </a:r>
            <a:r>
              <a:rPr sz="2160" dirty="0">
                <a:latin typeface="Calibri"/>
                <a:cs typeface="Calibri"/>
              </a:rPr>
              <a:t>defines</a:t>
            </a:r>
            <a:r>
              <a:rPr sz="2160" spc="228" dirty="0">
                <a:latin typeface="Calibri"/>
                <a:cs typeface="Calibri"/>
              </a:rPr>
              <a:t> </a:t>
            </a:r>
            <a:r>
              <a:rPr sz="2160" dirty="0">
                <a:latin typeface="Calibri"/>
                <a:cs typeface="Calibri"/>
              </a:rPr>
              <a:t>each</a:t>
            </a:r>
            <a:r>
              <a:rPr sz="2160" spc="234" dirty="0">
                <a:latin typeface="Calibri"/>
                <a:cs typeface="Calibri"/>
              </a:rPr>
              <a:t> </a:t>
            </a:r>
            <a:r>
              <a:rPr sz="2160" b="1" dirty="0">
                <a:latin typeface="Calibri"/>
                <a:cs typeface="Calibri"/>
              </a:rPr>
              <a:t>process</a:t>
            </a:r>
            <a:r>
              <a:rPr sz="2160" b="1" spc="222" dirty="0">
                <a:latin typeface="Calibri"/>
                <a:cs typeface="Calibri"/>
              </a:rPr>
              <a:t> </a:t>
            </a:r>
            <a:r>
              <a:rPr sz="2160" b="1" spc="-24" dirty="0">
                <a:latin typeface="Calibri"/>
                <a:cs typeface="Calibri"/>
              </a:rPr>
              <a:t>area </a:t>
            </a:r>
            <a:r>
              <a:rPr sz="2160" dirty="0">
                <a:latin typeface="Calibri"/>
                <a:cs typeface="Calibri"/>
              </a:rPr>
              <a:t>in</a:t>
            </a:r>
            <a:r>
              <a:rPr sz="2160" spc="444" dirty="0">
                <a:latin typeface="Calibri"/>
                <a:cs typeface="Calibri"/>
              </a:rPr>
              <a:t> </a:t>
            </a:r>
            <a:r>
              <a:rPr sz="2160" dirty="0">
                <a:latin typeface="Calibri"/>
                <a:cs typeface="Calibri"/>
              </a:rPr>
              <a:t>terms</a:t>
            </a:r>
            <a:r>
              <a:rPr sz="2160" spc="450" dirty="0">
                <a:latin typeface="Calibri"/>
                <a:cs typeface="Calibri"/>
              </a:rPr>
              <a:t> </a:t>
            </a:r>
            <a:r>
              <a:rPr sz="2160" dirty="0">
                <a:latin typeface="Calibri"/>
                <a:cs typeface="Calibri"/>
              </a:rPr>
              <a:t>of</a:t>
            </a:r>
            <a:r>
              <a:rPr sz="2160" spc="450" dirty="0">
                <a:latin typeface="Calibri"/>
                <a:cs typeface="Calibri"/>
              </a:rPr>
              <a:t> </a:t>
            </a:r>
            <a:r>
              <a:rPr sz="2160" b="1" dirty="0">
                <a:solidFill>
                  <a:srgbClr val="6F2F9F"/>
                </a:solidFill>
                <a:latin typeface="Calibri"/>
                <a:cs typeface="Calibri"/>
              </a:rPr>
              <a:t>“specific</a:t>
            </a:r>
            <a:r>
              <a:rPr sz="2160" b="1" spc="438" dirty="0">
                <a:solidFill>
                  <a:srgbClr val="6F2F9F"/>
                </a:solidFill>
                <a:latin typeface="Calibri"/>
                <a:cs typeface="Calibri"/>
              </a:rPr>
              <a:t> </a:t>
            </a:r>
            <a:r>
              <a:rPr sz="2160" b="1" dirty="0">
                <a:solidFill>
                  <a:srgbClr val="6F2F9F"/>
                </a:solidFill>
                <a:latin typeface="Calibri"/>
                <a:cs typeface="Calibri"/>
              </a:rPr>
              <a:t>goals”</a:t>
            </a:r>
            <a:r>
              <a:rPr sz="2160" b="1" spc="444" dirty="0">
                <a:solidFill>
                  <a:srgbClr val="6F2F9F"/>
                </a:solidFill>
                <a:latin typeface="Calibri"/>
                <a:cs typeface="Calibri"/>
              </a:rPr>
              <a:t> </a:t>
            </a:r>
            <a:r>
              <a:rPr sz="2160" dirty="0">
                <a:latin typeface="Calibri"/>
                <a:cs typeface="Calibri"/>
              </a:rPr>
              <a:t>and</a:t>
            </a:r>
            <a:r>
              <a:rPr sz="2160" spc="456" dirty="0">
                <a:latin typeface="Calibri"/>
                <a:cs typeface="Calibri"/>
              </a:rPr>
              <a:t> </a:t>
            </a:r>
            <a:r>
              <a:rPr sz="2160" spc="-30" dirty="0">
                <a:latin typeface="Calibri"/>
                <a:cs typeface="Calibri"/>
              </a:rPr>
              <a:t>the </a:t>
            </a:r>
            <a:r>
              <a:rPr sz="2160" b="1" dirty="0">
                <a:solidFill>
                  <a:srgbClr val="6F2F9F"/>
                </a:solidFill>
                <a:latin typeface="Calibri"/>
                <a:cs typeface="Calibri"/>
              </a:rPr>
              <a:t>“specific</a:t>
            </a:r>
            <a:r>
              <a:rPr sz="2160" b="1" spc="354" dirty="0">
                <a:solidFill>
                  <a:srgbClr val="6F2F9F"/>
                </a:solidFill>
                <a:latin typeface="Calibri"/>
                <a:cs typeface="Calibri"/>
              </a:rPr>
              <a:t>   </a:t>
            </a:r>
            <a:r>
              <a:rPr sz="2160" b="1" dirty="0">
                <a:solidFill>
                  <a:srgbClr val="6F2F9F"/>
                </a:solidFill>
                <a:latin typeface="Calibri"/>
                <a:cs typeface="Calibri"/>
              </a:rPr>
              <a:t>practices”</a:t>
            </a:r>
            <a:r>
              <a:rPr sz="2160" b="1" spc="354" dirty="0">
                <a:solidFill>
                  <a:srgbClr val="6F2F9F"/>
                </a:solidFill>
                <a:latin typeface="Calibri"/>
                <a:cs typeface="Calibri"/>
              </a:rPr>
              <a:t>   </a:t>
            </a:r>
            <a:r>
              <a:rPr sz="2160" dirty="0">
                <a:latin typeface="Calibri"/>
                <a:cs typeface="Calibri"/>
              </a:rPr>
              <a:t>required</a:t>
            </a:r>
            <a:r>
              <a:rPr sz="2160" spc="366" dirty="0">
                <a:latin typeface="Calibri"/>
                <a:cs typeface="Calibri"/>
              </a:rPr>
              <a:t>   </a:t>
            </a:r>
            <a:r>
              <a:rPr sz="2160" spc="-30" dirty="0">
                <a:latin typeface="Calibri"/>
                <a:cs typeface="Calibri"/>
              </a:rPr>
              <a:t>to </a:t>
            </a:r>
            <a:r>
              <a:rPr sz="2160" dirty="0">
                <a:latin typeface="Calibri"/>
                <a:cs typeface="Calibri"/>
              </a:rPr>
              <a:t>achieve</a:t>
            </a:r>
            <a:r>
              <a:rPr sz="2160" spc="-66" dirty="0">
                <a:latin typeface="Calibri"/>
                <a:cs typeface="Calibri"/>
              </a:rPr>
              <a:t> </a:t>
            </a:r>
            <a:r>
              <a:rPr sz="2160" dirty="0">
                <a:latin typeface="Calibri"/>
                <a:cs typeface="Calibri"/>
              </a:rPr>
              <a:t>these</a:t>
            </a:r>
            <a:r>
              <a:rPr sz="2160" spc="-66" dirty="0">
                <a:latin typeface="Calibri"/>
                <a:cs typeface="Calibri"/>
              </a:rPr>
              <a:t> </a:t>
            </a:r>
            <a:r>
              <a:rPr sz="2160" spc="-12" dirty="0">
                <a:latin typeface="Calibri"/>
                <a:cs typeface="Calibri"/>
              </a:rPr>
              <a:t>goals.</a:t>
            </a:r>
            <a:endParaRPr sz="2160">
              <a:latin typeface="Calibri"/>
              <a:cs typeface="Calibri"/>
            </a:endParaRPr>
          </a:p>
          <a:p>
            <a:pPr marL="358902" marR="5957316" indent="-344424" algn="just">
              <a:buFont typeface="Arial MT"/>
              <a:buChar char="•"/>
              <a:tabLst>
                <a:tab pos="358902" algn="l"/>
              </a:tabLst>
            </a:pPr>
            <a:r>
              <a:rPr sz="2160" b="1" dirty="0">
                <a:solidFill>
                  <a:srgbClr val="C00000"/>
                </a:solidFill>
                <a:latin typeface="Calibri"/>
                <a:cs typeface="Calibri"/>
              </a:rPr>
              <a:t>Specific</a:t>
            </a:r>
            <a:r>
              <a:rPr sz="2160" b="1" spc="450" dirty="0">
                <a:solidFill>
                  <a:srgbClr val="C00000"/>
                </a:solidFill>
                <a:latin typeface="Calibri"/>
                <a:cs typeface="Calibri"/>
              </a:rPr>
              <a:t>    </a:t>
            </a:r>
            <a:r>
              <a:rPr sz="2160" b="1" dirty="0">
                <a:solidFill>
                  <a:srgbClr val="C00000"/>
                </a:solidFill>
                <a:latin typeface="Calibri"/>
                <a:cs typeface="Calibri"/>
              </a:rPr>
              <a:t>goals</a:t>
            </a:r>
            <a:r>
              <a:rPr sz="2160" b="1" spc="456" dirty="0">
                <a:solidFill>
                  <a:srgbClr val="C00000"/>
                </a:solidFill>
                <a:latin typeface="Calibri"/>
                <a:cs typeface="Calibri"/>
              </a:rPr>
              <a:t>    </a:t>
            </a:r>
            <a:r>
              <a:rPr sz="2160" b="1" i="1" dirty="0">
                <a:solidFill>
                  <a:srgbClr val="006FC0"/>
                </a:solidFill>
                <a:latin typeface="Calibri"/>
                <a:cs typeface="Calibri"/>
              </a:rPr>
              <a:t>establish</a:t>
            </a:r>
            <a:r>
              <a:rPr sz="2160" b="1" i="1" spc="456" dirty="0">
                <a:solidFill>
                  <a:srgbClr val="006FC0"/>
                </a:solidFill>
                <a:latin typeface="Calibri"/>
                <a:cs typeface="Calibri"/>
              </a:rPr>
              <a:t>    </a:t>
            </a:r>
            <a:r>
              <a:rPr sz="2160" b="1" i="1" spc="-30" dirty="0">
                <a:solidFill>
                  <a:srgbClr val="006FC0"/>
                </a:solidFill>
                <a:latin typeface="Calibri"/>
                <a:cs typeface="Calibri"/>
              </a:rPr>
              <a:t>the </a:t>
            </a:r>
            <a:r>
              <a:rPr sz="2160" b="1" i="1" dirty="0">
                <a:solidFill>
                  <a:srgbClr val="006FC0"/>
                </a:solidFill>
                <a:latin typeface="Calibri"/>
                <a:cs typeface="Calibri"/>
              </a:rPr>
              <a:t>characteristics</a:t>
            </a:r>
            <a:r>
              <a:rPr sz="2160" b="1" i="1" spc="408" dirty="0">
                <a:solidFill>
                  <a:srgbClr val="006FC0"/>
                </a:solidFill>
                <a:latin typeface="Calibri"/>
                <a:cs typeface="Calibri"/>
              </a:rPr>
              <a:t> </a:t>
            </a:r>
            <a:r>
              <a:rPr sz="2160" dirty="0">
                <a:latin typeface="Calibri"/>
                <a:cs typeface="Calibri"/>
              </a:rPr>
              <a:t>that</a:t>
            </a:r>
            <a:r>
              <a:rPr sz="2160" spc="408" dirty="0">
                <a:latin typeface="Calibri"/>
                <a:cs typeface="Calibri"/>
              </a:rPr>
              <a:t> </a:t>
            </a:r>
            <a:r>
              <a:rPr sz="2160" dirty="0">
                <a:latin typeface="Calibri"/>
                <a:cs typeface="Calibri"/>
              </a:rPr>
              <a:t>must</a:t>
            </a:r>
            <a:r>
              <a:rPr sz="2160" spc="402" dirty="0">
                <a:latin typeface="Calibri"/>
                <a:cs typeface="Calibri"/>
              </a:rPr>
              <a:t> </a:t>
            </a:r>
            <a:r>
              <a:rPr sz="2160" dirty="0">
                <a:latin typeface="Calibri"/>
                <a:cs typeface="Calibri"/>
              </a:rPr>
              <a:t>exist</a:t>
            </a:r>
            <a:r>
              <a:rPr sz="2160" spc="408" dirty="0">
                <a:latin typeface="Calibri"/>
                <a:cs typeface="Calibri"/>
              </a:rPr>
              <a:t> </a:t>
            </a:r>
            <a:r>
              <a:rPr sz="2160" dirty="0">
                <a:latin typeface="Calibri"/>
                <a:cs typeface="Calibri"/>
              </a:rPr>
              <a:t>if</a:t>
            </a:r>
            <a:r>
              <a:rPr sz="2160" spc="414" dirty="0">
                <a:latin typeface="Calibri"/>
                <a:cs typeface="Calibri"/>
              </a:rPr>
              <a:t> </a:t>
            </a:r>
            <a:r>
              <a:rPr sz="2160" spc="-30" dirty="0">
                <a:latin typeface="Calibri"/>
                <a:cs typeface="Calibri"/>
              </a:rPr>
              <a:t>the </a:t>
            </a:r>
            <a:r>
              <a:rPr sz="2160" dirty="0">
                <a:latin typeface="Calibri"/>
                <a:cs typeface="Calibri"/>
              </a:rPr>
              <a:t>activities</a:t>
            </a:r>
            <a:r>
              <a:rPr sz="2160" spc="60" dirty="0">
                <a:latin typeface="Calibri"/>
                <a:cs typeface="Calibri"/>
              </a:rPr>
              <a:t>  </a:t>
            </a:r>
            <a:r>
              <a:rPr sz="2160" dirty="0">
                <a:latin typeface="Calibri"/>
                <a:cs typeface="Calibri"/>
              </a:rPr>
              <a:t>implied</a:t>
            </a:r>
            <a:r>
              <a:rPr sz="2160" spc="66" dirty="0">
                <a:latin typeface="Calibri"/>
                <a:cs typeface="Calibri"/>
              </a:rPr>
              <a:t>  </a:t>
            </a:r>
            <a:r>
              <a:rPr sz="2160" dirty="0">
                <a:latin typeface="Calibri"/>
                <a:cs typeface="Calibri"/>
              </a:rPr>
              <a:t>by</a:t>
            </a:r>
            <a:r>
              <a:rPr sz="2160" spc="54" dirty="0">
                <a:latin typeface="Calibri"/>
                <a:cs typeface="Calibri"/>
              </a:rPr>
              <a:t>  </a:t>
            </a:r>
            <a:r>
              <a:rPr sz="2160" dirty="0">
                <a:latin typeface="Calibri"/>
                <a:cs typeface="Calibri"/>
              </a:rPr>
              <a:t>a</a:t>
            </a:r>
            <a:r>
              <a:rPr sz="2160" spc="66" dirty="0">
                <a:latin typeface="Calibri"/>
                <a:cs typeface="Calibri"/>
              </a:rPr>
              <a:t>  </a:t>
            </a:r>
            <a:r>
              <a:rPr sz="2160" dirty="0">
                <a:latin typeface="Calibri"/>
                <a:cs typeface="Calibri"/>
              </a:rPr>
              <a:t>process</a:t>
            </a:r>
            <a:r>
              <a:rPr sz="2160" spc="66" dirty="0">
                <a:latin typeface="Calibri"/>
                <a:cs typeface="Calibri"/>
              </a:rPr>
              <a:t>  </a:t>
            </a:r>
            <a:r>
              <a:rPr sz="2160" spc="-24" dirty="0">
                <a:latin typeface="Calibri"/>
                <a:cs typeface="Calibri"/>
              </a:rPr>
              <a:t>area </a:t>
            </a:r>
            <a:r>
              <a:rPr sz="2160" dirty="0">
                <a:latin typeface="Calibri"/>
                <a:cs typeface="Calibri"/>
              </a:rPr>
              <a:t>are</a:t>
            </a:r>
            <a:r>
              <a:rPr sz="2160" spc="-30" dirty="0">
                <a:latin typeface="Calibri"/>
                <a:cs typeface="Calibri"/>
              </a:rPr>
              <a:t> </a:t>
            </a:r>
            <a:r>
              <a:rPr sz="2160" dirty="0">
                <a:latin typeface="Calibri"/>
                <a:cs typeface="Calibri"/>
              </a:rPr>
              <a:t>to</a:t>
            </a:r>
            <a:r>
              <a:rPr sz="2160" spc="-30" dirty="0">
                <a:latin typeface="Calibri"/>
                <a:cs typeface="Calibri"/>
              </a:rPr>
              <a:t> </a:t>
            </a:r>
            <a:r>
              <a:rPr sz="2160" dirty="0">
                <a:latin typeface="Calibri"/>
                <a:cs typeface="Calibri"/>
              </a:rPr>
              <a:t>be</a:t>
            </a:r>
            <a:r>
              <a:rPr sz="2160" spc="-12" dirty="0">
                <a:latin typeface="Calibri"/>
                <a:cs typeface="Calibri"/>
              </a:rPr>
              <a:t> effective.</a:t>
            </a:r>
            <a:endParaRPr sz="2160">
              <a:latin typeface="Calibri"/>
              <a:cs typeface="Calibri"/>
            </a:endParaRPr>
          </a:p>
          <a:p>
            <a:pPr marL="358902" marR="5958840" indent="-344424" algn="just">
              <a:spcBef>
                <a:spcPts val="6"/>
              </a:spcBef>
              <a:buFont typeface="Arial MT"/>
              <a:buChar char="•"/>
              <a:tabLst>
                <a:tab pos="358902" algn="l"/>
              </a:tabLst>
            </a:pPr>
            <a:r>
              <a:rPr sz="2160" b="1" dirty="0">
                <a:solidFill>
                  <a:srgbClr val="C00000"/>
                </a:solidFill>
                <a:latin typeface="Calibri"/>
                <a:cs typeface="Calibri"/>
              </a:rPr>
              <a:t>Specific</a:t>
            </a:r>
            <a:r>
              <a:rPr sz="2160" b="1" spc="120" dirty="0">
                <a:solidFill>
                  <a:srgbClr val="C00000"/>
                </a:solidFill>
                <a:latin typeface="Calibri"/>
                <a:cs typeface="Calibri"/>
              </a:rPr>
              <a:t> </a:t>
            </a:r>
            <a:r>
              <a:rPr sz="2160" b="1" dirty="0">
                <a:solidFill>
                  <a:srgbClr val="C00000"/>
                </a:solidFill>
                <a:latin typeface="Calibri"/>
                <a:cs typeface="Calibri"/>
              </a:rPr>
              <a:t>practices</a:t>
            </a:r>
            <a:r>
              <a:rPr sz="2160" b="1" spc="126" dirty="0">
                <a:solidFill>
                  <a:srgbClr val="C00000"/>
                </a:solidFill>
                <a:latin typeface="Calibri"/>
                <a:cs typeface="Calibri"/>
              </a:rPr>
              <a:t> </a:t>
            </a:r>
            <a:r>
              <a:rPr sz="2160" b="1" i="1" dirty="0">
                <a:solidFill>
                  <a:srgbClr val="006FC0"/>
                </a:solidFill>
                <a:latin typeface="Calibri"/>
                <a:cs typeface="Calibri"/>
              </a:rPr>
              <a:t>refine</a:t>
            </a:r>
            <a:r>
              <a:rPr sz="2160" b="1" i="1" spc="120" dirty="0">
                <a:solidFill>
                  <a:srgbClr val="006FC0"/>
                </a:solidFill>
                <a:latin typeface="Calibri"/>
                <a:cs typeface="Calibri"/>
              </a:rPr>
              <a:t> </a:t>
            </a:r>
            <a:r>
              <a:rPr sz="2160" b="1" i="1" dirty="0">
                <a:solidFill>
                  <a:srgbClr val="006FC0"/>
                </a:solidFill>
                <a:latin typeface="Calibri"/>
                <a:cs typeface="Calibri"/>
              </a:rPr>
              <a:t>a</a:t>
            </a:r>
            <a:r>
              <a:rPr sz="2160" b="1" i="1" spc="114" dirty="0">
                <a:solidFill>
                  <a:srgbClr val="006FC0"/>
                </a:solidFill>
                <a:latin typeface="Calibri"/>
                <a:cs typeface="Calibri"/>
              </a:rPr>
              <a:t> </a:t>
            </a:r>
            <a:r>
              <a:rPr sz="2160" b="1" i="1" dirty="0">
                <a:solidFill>
                  <a:srgbClr val="006FC0"/>
                </a:solidFill>
                <a:latin typeface="Calibri"/>
                <a:cs typeface="Calibri"/>
              </a:rPr>
              <a:t>goal</a:t>
            </a:r>
            <a:r>
              <a:rPr sz="2160" b="1" i="1" spc="126" dirty="0">
                <a:solidFill>
                  <a:srgbClr val="006FC0"/>
                </a:solidFill>
                <a:latin typeface="Calibri"/>
                <a:cs typeface="Calibri"/>
              </a:rPr>
              <a:t> </a:t>
            </a:r>
            <a:r>
              <a:rPr sz="2160" b="1" i="1" dirty="0">
                <a:solidFill>
                  <a:srgbClr val="006FC0"/>
                </a:solidFill>
                <a:latin typeface="Calibri"/>
                <a:cs typeface="Calibri"/>
              </a:rPr>
              <a:t>into</a:t>
            </a:r>
            <a:r>
              <a:rPr sz="2160" b="1" i="1" spc="120" dirty="0">
                <a:solidFill>
                  <a:srgbClr val="006FC0"/>
                </a:solidFill>
                <a:latin typeface="Calibri"/>
                <a:cs typeface="Calibri"/>
              </a:rPr>
              <a:t> </a:t>
            </a:r>
            <a:r>
              <a:rPr sz="2160" b="1" i="1" spc="-60" dirty="0">
                <a:solidFill>
                  <a:srgbClr val="006FC0"/>
                </a:solidFill>
                <a:latin typeface="Calibri"/>
                <a:cs typeface="Calibri"/>
              </a:rPr>
              <a:t>a </a:t>
            </a:r>
            <a:r>
              <a:rPr sz="2160" b="1" i="1" dirty="0">
                <a:solidFill>
                  <a:srgbClr val="006FC0"/>
                </a:solidFill>
                <a:latin typeface="Calibri"/>
                <a:cs typeface="Calibri"/>
              </a:rPr>
              <a:t>set of</a:t>
            </a:r>
            <a:r>
              <a:rPr sz="2160" b="1" i="1" spc="-6" dirty="0">
                <a:solidFill>
                  <a:srgbClr val="006FC0"/>
                </a:solidFill>
                <a:latin typeface="Calibri"/>
                <a:cs typeface="Calibri"/>
              </a:rPr>
              <a:t> </a:t>
            </a:r>
            <a:r>
              <a:rPr sz="2160" b="1" i="1" spc="-24" dirty="0">
                <a:solidFill>
                  <a:srgbClr val="006FC0"/>
                </a:solidFill>
                <a:latin typeface="Calibri"/>
                <a:cs typeface="Calibri"/>
              </a:rPr>
              <a:t>process-</a:t>
            </a:r>
            <a:r>
              <a:rPr sz="2160" b="1" i="1" dirty="0">
                <a:solidFill>
                  <a:srgbClr val="006FC0"/>
                </a:solidFill>
                <a:latin typeface="Calibri"/>
                <a:cs typeface="Calibri"/>
              </a:rPr>
              <a:t>related</a:t>
            </a:r>
            <a:r>
              <a:rPr sz="2160" b="1" i="1" spc="6" dirty="0">
                <a:solidFill>
                  <a:srgbClr val="006FC0"/>
                </a:solidFill>
                <a:latin typeface="Calibri"/>
                <a:cs typeface="Calibri"/>
              </a:rPr>
              <a:t> </a:t>
            </a:r>
            <a:r>
              <a:rPr sz="2160" b="1" i="1" spc="-12" dirty="0">
                <a:solidFill>
                  <a:srgbClr val="006FC0"/>
                </a:solidFill>
                <a:latin typeface="Calibri"/>
                <a:cs typeface="Calibri"/>
              </a:rPr>
              <a:t>activities</a:t>
            </a:r>
            <a:r>
              <a:rPr sz="2160" spc="-12" dirty="0">
                <a:latin typeface="Calibri"/>
                <a:cs typeface="Calibri"/>
              </a:rPr>
              <a:t>.</a:t>
            </a:r>
            <a:endParaRPr sz="2160">
              <a:latin typeface="Calibri"/>
              <a:cs typeface="Calibri"/>
            </a:endParaRPr>
          </a:p>
          <a:p>
            <a:pPr marL="4939284" marR="6096" indent="-344424" algn="just">
              <a:spcBef>
                <a:spcPts val="918"/>
              </a:spcBef>
              <a:buFont typeface="Arial MT"/>
              <a:buChar char="•"/>
              <a:tabLst>
                <a:tab pos="4939284" algn="l"/>
              </a:tabLst>
            </a:pPr>
            <a:r>
              <a:rPr sz="1980" dirty="0">
                <a:latin typeface="Calibri"/>
                <a:cs typeface="Calibri"/>
              </a:rPr>
              <a:t>The</a:t>
            </a:r>
            <a:r>
              <a:rPr sz="1980" spc="120" dirty="0">
                <a:latin typeface="Calibri"/>
                <a:cs typeface="Calibri"/>
              </a:rPr>
              <a:t> </a:t>
            </a:r>
            <a:r>
              <a:rPr sz="1980" dirty="0">
                <a:latin typeface="Calibri"/>
                <a:cs typeface="Calibri"/>
              </a:rPr>
              <a:t>continuous</a:t>
            </a:r>
            <a:r>
              <a:rPr sz="1980" spc="114" dirty="0">
                <a:latin typeface="Calibri"/>
                <a:cs typeface="Calibri"/>
              </a:rPr>
              <a:t> </a:t>
            </a:r>
            <a:r>
              <a:rPr sz="1980" dirty="0">
                <a:latin typeface="Calibri"/>
                <a:cs typeface="Calibri"/>
              </a:rPr>
              <a:t>CMMI</a:t>
            </a:r>
            <a:r>
              <a:rPr sz="1980" spc="108" dirty="0">
                <a:latin typeface="Calibri"/>
                <a:cs typeface="Calibri"/>
              </a:rPr>
              <a:t> </a:t>
            </a:r>
            <a:r>
              <a:rPr sz="1980" dirty="0">
                <a:latin typeface="Calibri"/>
                <a:cs typeface="Calibri"/>
              </a:rPr>
              <a:t>metamodel</a:t>
            </a:r>
            <a:r>
              <a:rPr sz="1980" spc="114" dirty="0">
                <a:latin typeface="Calibri"/>
                <a:cs typeface="Calibri"/>
              </a:rPr>
              <a:t> </a:t>
            </a:r>
            <a:r>
              <a:rPr sz="1980" dirty="0">
                <a:latin typeface="Calibri"/>
                <a:cs typeface="Calibri"/>
              </a:rPr>
              <a:t>describes</a:t>
            </a:r>
            <a:r>
              <a:rPr sz="1980" spc="126" dirty="0">
                <a:latin typeface="Calibri"/>
                <a:cs typeface="Calibri"/>
              </a:rPr>
              <a:t> </a:t>
            </a:r>
            <a:r>
              <a:rPr sz="1980" dirty="0">
                <a:latin typeface="Calibri"/>
                <a:cs typeface="Calibri"/>
              </a:rPr>
              <a:t>a</a:t>
            </a:r>
            <a:r>
              <a:rPr sz="1980" spc="90" dirty="0">
                <a:latin typeface="Calibri"/>
                <a:cs typeface="Calibri"/>
              </a:rPr>
              <a:t> </a:t>
            </a:r>
            <a:r>
              <a:rPr sz="1980" spc="-12" dirty="0">
                <a:latin typeface="Calibri"/>
                <a:cs typeface="Calibri"/>
              </a:rPr>
              <a:t>process </a:t>
            </a:r>
            <a:r>
              <a:rPr sz="1980" dirty="0">
                <a:latin typeface="Calibri"/>
                <a:cs typeface="Calibri"/>
              </a:rPr>
              <a:t>in</a:t>
            </a:r>
            <a:r>
              <a:rPr sz="1980" spc="-48" dirty="0">
                <a:latin typeface="Calibri"/>
                <a:cs typeface="Calibri"/>
              </a:rPr>
              <a:t> </a:t>
            </a:r>
            <a:r>
              <a:rPr sz="1980" dirty="0">
                <a:latin typeface="Calibri"/>
                <a:cs typeface="Calibri"/>
              </a:rPr>
              <a:t>two</a:t>
            </a:r>
            <a:r>
              <a:rPr sz="1980" spc="-36" dirty="0">
                <a:latin typeface="Calibri"/>
                <a:cs typeface="Calibri"/>
              </a:rPr>
              <a:t> </a:t>
            </a:r>
            <a:r>
              <a:rPr sz="1980" dirty="0">
                <a:latin typeface="Calibri"/>
                <a:cs typeface="Calibri"/>
              </a:rPr>
              <a:t>dimensions</a:t>
            </a:r>
            <a:r>
              <a:rPr sz="1980" spc="-48" dirty="0">
                <a:latin typeface="Calibri"/>
                <a:cs typeface="Calibri"/>
              </a:rPr>
              <a:t> </a:t>
            </a:r>
            <a:r>
              <a:rPr sz="1980" dirty="0">
                <a:latin typeface="Calibri"/>
                <a:cs typeface="Calibri"/>
              </a:rPr>
              <a:t>ie</a:t>
            </a:r>
            <a:r>
              <a:rPr sz="1980" spc="-36" dirty="0">
                <a:latin typeface="Calibri"/>
                <a:cs typeface="Calibri"/>
              </a:rPr>
              <a:t> </a:t>
            </a:r>
            <a:r>
              <a:rPr sz="1980" b="1" dirty="0">
                <a:solidFill>
                  <a:srgbClr val="6F2F9F"/>
                </a:solidFill>
                <a:latin typeface="Calibri"/>
                <a:cs typeface="Calibri"/>
              </a:rPr>
              <a:t>Process</a:t>
            </a:r>
            <a:r>
              <a:rPr sz="1980" b="1" spc="-30" dirty="0">
                <a:solidFill>
                  <a:srgbClr val="6F2F9F"/>
                </a:solidFill>
                <a:latin typeface="Calibri"/>
                <a:cs typeface="Calibri"/>
              </a:rPr>
              <a:t> </a:t>
            </a:r>
            <a:r>
              <a:rPr sz="1980" b="1" dirty="0">
                <a:solidFill>
                  <a:srgbClr val="6F2F9F"/>
                </a:solidFill>
                <a:latin typeface="Calibri"/>
                <a:cs typeface="Calibri"/>
              </a:rPr>
              <a:t>area</a:t>
            </a:r>
            <a:r>
              <a:rPr sz="1980" b="1" spc="-24" dirty="0">
                <a:solidFill>
                  <a:srgbClr val="6F2F9F"/>
                </a:solidFill>
                <a:latin typeface="Calibri"/>
                <a:cs typeface="Calibri"/>
              </a:rPr>
              <a:t> </a:t>
            </a:r>
            <a:r>
              <a:rPr sz="1980" dirty="0">
                <a:latin typeface="Calibri"/>
                <a:cs typeface="Calibri"/>
              </a:rPr>
              <a:t>and</a:t>
            </a:r>
            <a:r>
              <a:rPr sz="1980" spc="-60" dirty="0">
                <a:latin typeface="Calibri"/>
                <a:cs typeface="Calibri"/>
              </a:rPr>
              <a:t> </a:t>
            </a:r>
            <a:r>
              <a:rPr sz="1980" b="1" dirty="0">
                <a:solidFill>
                  <a:srgbClr val="6F2F9F"/>
                </a:solidFill>
                <a:latin typeface="Calibri"/>
                <a:cs typeface="Calibri"/>
              </a:rPr>
              <a:t>Capability</a:t>
            </a:r>
            <a:r>
              <a:rPr sz="1980" b="1" spc="-54" dirty="0">
                <a:solidFill>
                  <a:srgbClr val="6F2F9F"/>
                </a:solidFill>
                <a:latin typeface="Calibri"/>
                <a:cs typeface="Calibri"/>
              </a:rPr>
              <a:t> </a:t>
            </a:r>
            <a:r>
              <a:rPr sz="1980" b="1" spc="-12" dirty="0">
                <a:solidFill>
                  <a:srgbClr val="6F2F9F"/>
                </a:solidFill>
                <a:latin typeface="Calibri"/>
                <a:cs typeface="Calibri"/>
              </a:rPr>
              <a:t>area</a:t>
            </a:r>
            <a:r>
              <a:rPr sz="1980" spc="-12" dirty="0">
                <a:latin typeface="Calibri"/>
                <a:cs typeface="Calibri"/>
              </a:rPr>
              <a:t>.</a:t>
            </a:r>
            <a:endParaRPr sz="1980">
              <a:latin typeface="Calibri"/>
              <a:cs typeface="Calibri"/>
            </a:endParaRPr>
          </a:p>
        </p:txBody>
      </p:sp>
    </p:spTree>
    <p:extLst>
      <p:ext uri="{BB962C8B-B14F-4D97-AF65-F5344CB8AC3E}">
        <p14:creationId xmlns:p14="http://schemas.microsoft.com/office/powerpoint/2010/main" val="52533834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3201" y="166879"/>
            <a:ext cx="10527792" cy="6586675"/>
          </a:xfrm>
          <a:prstGeom prst="rect">
            <a:avLst/>
          </a:prstGeom>
        </p:spPr>
        <p:txBody>
          <a:bodyPr vert="horz" wrap="square" lIns="0" tIns="14478" rIns="0" bIns="0" rtlCol="0">
            <a:spAutoFit/>
          </a:bodyPr>
          <a:lstStyle/>
          <a:p>
            <a:pPr marL="422910" marR="8382" indent="-408432" algn="just">
              <a:spcBef>
                <a:spcPts val="114"/>
              </a:spcBef>
              <a:buFont typeface="Arial MT"/>
              <a:buChar char="•"/>
              <a:tabLst>
                <a:tab pos="425958" algn="l"/>
              </a:tabLst>
            </a:pPr>
            <a:r>
              <a:rPr sz="2280" dirty="0">
                <a:latin typeface="Calibri"/>
                <a:cs typeface="Calibri"/>
              </a:rPr>
              <a:t>Each</a:t>
            </a:r>
            <a:r>
              <a:rPr sz="2280" spc="-42" dirty="0">
                <a:latin typeface="Calibri"/>
                <a:cs typeface="Calibri"/>
              </a:rPr>
              <a:t> </a:t>
            </a:r>
            <a:r>
              <a:rPr sz="2280" dirty="0">
                <a:latin typeface="Calibri"/>
                <a:cs typeface="Calibri"/>
              </a:rPr>
              <a:t>process</a:t>
            </a:r>
            <a:r>
              <a:rPr sz="2280" spc="-30" dirty="0">
                <a:latin typeface="Calibri"/>
                <a:cs typeface="Calibri"/>
              </a:rPr>
              <a:t> </a:t>
            </a:r>
            <a:r>
              <a:rPr sz="2280" dirty="0">
                <a:latin typeface="Calibri"/>
                <a:cs typeface="Calibri"/>
              </a:rPr>
              <a:t>area</a:t>
            </a:r>
            <a:r>
              <a:rPr sz="2280" spc="-36" dirty="0">
                <a:latin typeface="Calibri"/>
                <a:cs typeface="Calibri"/>
              </a:rPr>
              <a:t> </a:t>
            </a:r>
            <a:r>
              <a:rPr sz="2280" dirty="0">
                <a:latin typeface="Calibri"/>
                <a:cs typeface="Calibri"/>
              </a:rPr>
              <a:t>is</a:t>
            </a:r>
            <a:r>
              <a:rPr sz="2280" spc="-48" dirty="0">
                <a:latin typeface="Calibri"/>
                <a:cs typeface="Calibri"/>
              </a:rPr>
              <a:t> </a:t>
            </a:r>
            <a:r>
              <a:rPr sz="2280" dirty="0">
                <a:latin typeface="Calibri"/>
                <a:cs typeface="Calibri"/>
              </a:rPr>
              <a:t>formally</a:t>
            </a:r>
            <a:r>
              <a:rPr sz="2280" spc="-42" dirty="0">
                <a:latin typeface="Calibri"/>
                <a:cs typeface="Calibri"/>
              </a:rPr>
              <a:t> </a:t>
            </a:r>
            <a:r>
              <a:rPr sz="2280" dirty="0">
                <a:latin typeface="Calibri"/>
                <a:cs typeface="Calibri"/>
              </a:rPr>
              <a:t>assessed</a:t>
            </a:r>
            <a:r>
              <a:rPr sz="2280" spc="-36" dirty="0">
                <a:latin typeface="Calibri"/>
                <a:cs typeface="Calibri"/>
              </a:rPr>
              <a:t> </a:t>
            </a:r>
            <a:r>
              <a:rPr sz="2280" spc="-12" dirty="0">
                <a:latin typeface="Calibri"/>
                <a:cs typeface="Calibri"/>
              </a:rPr>
              <a:t>against</a:t>
            </a:r>
            <a:r>
              <a:rPr sz="2280" spc="-36" dirty="0">
                <a:latin typeface="Calibri"/>
                <a:cs typeface="Calibri"/>
              </a:rPr>
              <a:t> </a:t>
            </a:r>
            <a:r>
              <a:rPr sz="2280" dirty="0">
                <a:latin typeface="Calibri"/>
                <a:cs typeface="Calibri"/>
              </a:rPr>
              <a:t>specific</a:t>
            </a:r>
            <a:r>
              <a:rPr sz="2280" spc="-42" dirty="0">
                <a:latin typeface="Calibri"/>
                <a:cs typeface="Calibri"/>
              </a:rPr>
              <a:t> </a:t>
            </a:r>
            <a:r>
              <a:rPr sz="2280" dirty="0">
                <a:latin typeface="Calibri"/>
                <a:cs typeface="Calibri"/>
              </a:rPr>
              <a:t>goals</a:t>
            </a:r>
            <a:r>
              <a:rPr sz="2280" spc="-36" dirty="0">
                <a:latin typeface="Calibri"/>
                <a:cs typeface="Calibri"/>
              </a:rPr>
              <a:t> </a:t>
            </a:r>
            <a:r>
              <a:rPr sz="2280" dirty="0">
                <a:latin typeface="Calibri"/>
                <a:cs typeface="Calibri"/>
              </a:rPr>
              <a:t>and</a:t>
            </a:r>
            <a:r>
              <a:rPr sz="2280" spc="-36" dirty="0">
                <a:latin typeface="Calibri"/>
                <a:cs typeface="Calibri"/>
              </a:rPr>
              <a:t> </a:t>
            </a:r>
            <a:r>
              <a:rPr sz="2280" dirty="0">
                <a:latin typeface="Calibri"/>
                <a:cs typeface="Calibri"/>
              </a:rPr>
              <a:t>practices</a:t>
            </a:r>
            <a:r>
              <a:rPr sz="2280" spc="-30" dirty="0">
                <a:latin typeface="Calibri"/>
                <a:cs typeface="Calibri"/>
              </a:rPr>
              <a:t> </a:t>
            </a:r>
            <a:r>
              <a:rPr sz="2280" dirty="0">
                <a:latin typeface="Calibri"/>
                <a:cs typeface="Calibri"/>
              </a:rPr>
              <a:t>and</a:t>
            </a:r>
            <a:r>
              <a:rPr sz="2280" spc="-42" dirty="0">
                <a:latin typeface="Calibri"/>
                <a:cs typeface="Calibri"/>
              </a:rPr>
              <a:t> </a:t>
            </a:r>
            <a:r>
              <a:rPr sz="2280" dirty="0">
                <a:latin typeface="Calibri"/>
                <a:cs typeface="Calibri"/>
              </a:rPr>
              <a:t>is</a:t>
            </a:r>
            <a:r>
              <a:rPr sz="2280" spc="-30" dirty="0">
                <a:latin typeface="Calibri"/>
                <a:cs typeface="Calibri"/>
              </a:rPr>
              <a:t> </a:t>
            </a:r>
            <a:r>
              <a:rPr sz="2280" spc="-12" dirty="0">
                <a:latin typeface="Calibri"/>
                <a:cs typeface="Calibri"/>
              </a:rPr>
              <a:t>rated 	</a:t>
            </a:r>
            <a:r>
              <a:rPr sz="2280" dirty="0">
                <a:latin typeface="Calibri"/>
                <a:cs typeface="Calibri"/>
              </a:rPr>
              <a:t>according</a:t>
            </a:r>
            <a:r>
              <a:rPr sz="2280" spc="-78" dirty="0">
                <a:latin typeface="Calibri"/>
                <a:cs typeface="Calibri"/>
              </a:rPr>
              <a:t> </a:t>
            </a:r>
            <a:r>
              <a:rPr sz="2280" dirty="0">
                <a:latin typeface="Calibri"/>
                <a:cs typeface="Calibri"/>
              </a:rPr>
              <a:t>to</a:t>
            </a:r>
            <a:r>
              <a:rPr sz="2280" spc="-78" dirty="0">
                <a:latin typeface="Calibri"/>
                <a:cs typeface="Calibri"/>
              </a:rPr>
              <a:t> </a:t>
            </a:r>
            <a:r>
              <a:rPr sz="2280" dirty="0">
                <a:latin typeface="Calibri"/>
                <a:cs typeface="Calibri"/>
              </a:rPr>
              <a:t>the</a:t>
            </a:r>
            <a:r>
              <a:rPr sz="2280" spc="-78" dirty="0">
                <a:latin typeface="Calibri"/>
                <a:cs typeface="Calibri"/>
              </a:rPr>
              <a:t> </a:t>
            </a:r>
            <a:r>
              <a:rPr sz="2280" dirty="0">
                <a:latin typeface="Calibri"/>
                <a:cs typeface="Calibri"/>
              </a:rPr>
              <a:t>following</a:t>
            </a:r>
            <a:r>
              <a:rPr sz="2280" spc="-42" dirty="0">
                <a:latin typeface="Calibri"/>
                <a:cs typeface="Calibri"/>
              </a:rPr>
              <a:t> </a:t>
            </a:r>
            <a:r>
              <a:rPr sz="2280" dirty="0">
                <a:latin typeface="Calibri"/>
                <a:cs typeface="Calibri"/>
              </a:rPr>
              <a:t>capability</a:t>
            </a:r>
            <a:r>
              <a:rPr sz="2280" spc="360" dirty="0">
                <a:latin typeface="Calibri"/>
                <a:cs typeface="Calibri"/>
              </a:rPr>
              <a:t> </a:t>
            </a:r>
            <a:r>
              <a:rPr sz="2280" spc="-12" dirty="0">
                <a:latin typeface="Calibri"/>
                <a:cs typeface="Calibri"/>
              </a:rPr>
              <a:t>levels:</a:t>
            </a:r>
            <a:endParaRPr sz="2280">
              <a:latin typeface="Calibri"/>
              <a:cs typeface="Calibri"/>
            </a:endParaRPr>
          </a:p>
          <a:p>
            <a:pPr marL="393192" indent="-377952" algn="just">
              <a:spcBef>
                <a:spcPts val="245"/>
              </a:spcBef>
              <a:buAutoNum type="romanLcParenBoth"/>
              <a:tabLst>
                <a:tab pos="393192" algn="l"/>
              </a:tabLst>
            </a:pPr>
            <a:r>
              <a:rPr sz="2280" b="1" dirty="0">
                <a:latin typeface="Calibri"/>
                <a:cs typeface="Calibri"/>
              </a:rPr>
              <a:t>Level</a:t>
            </a:r>
            <a:r>
              <a:rPr sz="2280" b="1" spc="-78" dirty="0">
                <a:latin typeface="Calibri"/>
                <a:cs typeface="Calibri"/>
              </a:rPr>
              <a:t> </a:t>
            </a:r>
            <a:r>
              <a:rPr sz="2280" b="1" dirty="0">
                <a:latin typeface="Calibri"/>
                <a:cs typeface="Calibri"/>
              </a:rPr>
              <a:t>0:</a:t>
            </a:r>
            <a:r>
              <a:rPr sz="2280" b="1" spc="-66" dirty="0">
                <a:latin typeface="Calibri"/>
                <a:cs typeface="Calibri"/>
              </a:rPr>
              <a:t> </a:t>
            </a:r>
            <a:r>
              <a:rPr sz="2280" b="1" i="1" spc="-12" dirty="0">
                <a:solidFill>
                  <a:srgbClr val="C00000"/>
                </a:solidFill>
                <a:latin typeface="Calibri"/>
                <a:cs typeface="Calibri"/>
              </a:rPr>
              <a:t>Incomplete</a:t>
            </a:r>
            <a:endParaRPr sz="2280">
              <a:latin typeface="Calibri"/>
              <a:cs typeface="Calibri"/>
            </a:endParaRPr>
          </a:p>
          <a:p>
            <a:pPr marL="422910" marR="6096" lvl="1" indent="-408432" algn="just">
              <a:spcBef>
                <a:spcPts val="245"/>
              </a:spcBef>
              <a:buFont typeface="Arial MT"/>
              <a:buChar char="•"/>
              <a:tabLst>
                <a:tab pos="425958" algn="l"/>
              </a:tabLst>
            </a:pPr>
            <a:r>
              <a:rPr sz="2280" dirty="0">
                <a:latin typeface="Calibri"/>
                <a:cs typeface="Calibri"/>
              </a:rPr>
              <a:t>The</a:t>
            </a:r>
            <a:r>
              <a:rPr sz="2280" spc="156" dirty="0">
                <a:latin typeface="Calibri"/>
                <a:cs typeface="Calibri"/>
              </a:rPr>
              <a:t> </a:t>
            </a:r>
            <a:r>
              <a:rPr sz="2280" dirty="0">
                <a:latin typeface="Calibri"/>
                <a:cs typeface="Calibri"/>
              </a:rPr>
              <a:t>process</a:t>
            </a:r>
            <a:r>
              <a:rPr sz="2280" spc="168" dirty="0">
                <a:latin typeface="Calibri"/>
                <a:cs typeface="Calibri"/>
              </a:rPr>
              <a:t> </a:t>
            </a:r>
            <a:r>
              <a:rPr sz="2280" dirty="0">
                <a:latin typeface="Calibri"/>
                <a:cs typeface="Calibri"/>
              </a:rPr>
              <a:t>area</a:t>
            </a:r>
            <a:r>
              <a:rPr sz="2280" spc="162" dirty="0">
                <a:latin typeface="Calibri"/>
                <a:cs typeface="Calibri"/>
              </a:rPr>
              <a:t> </a:t>
            </a:r>
            <a:r>
              <a:rPr sz="2280" dirty="0">
                <a:latin typeface="Calibri"/>
                <a:cs typeface="Calibri"/>
              </a:rPr>
              <a:t>(e.g.,</a:t>
            </a:r>
            <a:r>
              <a:rPr sz="2280" spc="150" dirty="0">
                <a:latin typeface="Calibri"/>
                <a:cs typeface="Calibri"/>
              </a:rPr>
              <a:t> </a:t>
            </a:r>
            <a:r>
              <a:rPr sz="2280" dirty="0">
                <a:latin typeface="Calibri"/>
                <a:cs typeface="Calibri"/>
              </a:rPr>
              <a:t>requirements</a:t>
            </a:r>
            <a:r>
              <a:rPr sz="2280" spc="168" dirty="0">
                <a:latin typeface="Calibri"/>
                <a:cs typeface="Calibri"/>
              </a:rPr>
              <a:t> </a:t>
            </a:r>
            <a:r>
              <a:rPr sz="2280" dirty="0">
                <a:latin typeface="Calibri"/>
                <a:cs typeface="Calibri"/>
              </a:rPr>
              <a:t>management)</a:t>
            </a:r>
            <a:r>
              <a:rPr sz="2280" spc="168" dirty="0">
                <a:latin typeface="Calibri"/>
                <a:cs typeface="Calibri"/>
              </a:rPr>
              <a:t> </a:t>
            </a:r>
            <a:r>
              <a:rPr sz="2280" dirty="0">
                <a:latin typeface="Calibri"/>
                <a:cs typeface="Calibri"/>
              </a:rPr>
              <a:t>is</a:t>
            </a:r>
            <a:r>
              <a:rPr sz="2280" spc="162" dirty="0">
                <a:latin typeface="Calibri"/>
                <a:cs typeface="Calibri"/>
              </a:rPr>
              <a:t> </a:t>
            </a:r>
            <a:r>
              <a:rPr sz="2280" dirty="0">
                <a:latin typeface="Calibri"/>
                <a:cs typeface="Calibri"/>
              </a:rPr>
              <a:t>either</a:t>
            </a:r>
            <a:r>
              <a:rPr sz="2280" spc="156" dirty="0">
                <a:latin typeface="Calibri"/>
                <a:cs typeface="Calibri"/>
              </a:rPr>
              <a:t> </a:t>
            </a:r>
            <a:r>
              <a:rPr sz="2280" dirty="0">
                <a:latin typeface="Calibri"/>
                <a:cs typeface="Calibri"/>
              </a:rPr>
              <a:t>not</a:t>
            </a:r>
            <a:r>
              <a:rPr sz="2280" spc="150" dirty="0">
                <a:latin typeface="Calibri"/>
                <a:cs typeface="Calibri"/>
              </a:rPr>
              <a:t> </a:t>
            </a:r>
            <a:r>
              <a:rPr sz="2280" dirty="0">
                <a:latin typeface="Calibri"/>
                <a:cs typeface="Calibri"/>
              </a:rPr>
              <a:t>performed</a:t>
            </a:r>
            <a:r>
              <a:rPr sz="2280" spc="168" dirty="0">
                <a:latin typeface="Calibri"/>
                <a:cs typeface="Calibri"/>
              </a:rPr>
              <a:t> </a:t>
            </a:r>
            <a:r>
              <a:rPr sz="2280" dirty="0">
                <a:latin typeface="Calibri"/>
                <a:cs typeface="Calibri"/>
              </a:rPr>
              <a:t>or</a:t>
            </a:r>
            <a:r>
              <a:rPr sz="2280" spc="156" dirty="0">
                <a:latin typeface="Calibri"/>
                <a:cs typeface="Calibri"/>
              </a:rPr>
              <a:t> </a:t>
            </a:r>
            <a:r>
              <a:rPr sz="2280" spc="-24" dirty="0">
                <a:latin typeface="Calibri"/>
                <a:cs typeface="Calibri"/>
              </a:rPr>
              <a:t>does 	</a:t>
            </a:r>
            <a:r>
              <a:rPr sz="2280" dirty="0">
                <a:latin typeface="Calibri"/>
                <a:cs typeface="Calibri"/>
              </a:rPr>
              <a:t>not</a:t>
            </a:r>
            <a:r>
              <a:rPr sz="2280" spc="-6" dirty="0">
                <a:latin typeface="Calibri"/>
                <a:cs typeface="Calibri"/>
              </a:rPr>
              <a:t> </a:t>
            </a:r>
            <a:r>
              <a:rPr sz="2280" dirty="0">
                <a:latin typeface="Calibri"/>
                <a:cs typeface="Calibri"/>
              </a:rPr>
              <a:t>achieve</a:t>
            </a:r>
            <a:r>
              <a:rPr sz="2280" spc="6" dirty="0">
                <a:latin typeface="Calibri"/>
                <a:cs typeface="Calibri"/>
              </a:rPr>
              <a:t> </a:t>
            </a:r>
            <a:r>
              <a:rPr sz="2280" dirty="0">
                <a:latin typeface="Calibri"/>
                <a:cs typeface="Calibri"/>
              </a:rPr>
              <a:t>all</a:t>
            </a:r>
            <a:r>
              <a:rPr sz="2280" spc="12" dirty="0">
                <a:latin typeface="Calibri"/>
                <a:cs typeface="Calibri"/>
              </a:rPr>
              <a:t> </a:t>
            </a:r>
            <a:r>
              <a:rPr sz="2280" dirty="0">
                <a:latin typeface="Calibri"/>
                <a:cs typeface="Calibri"/>
              </a:rPr>
              <a:t>goals and</a:t>
            </a:r>
            <a:r>
              <a:rPr sz="2280" spc="6" dirty="0">
                <a:latin typeface="Calibri"/>
                <a:cs typeface="Calibri"/>
              </a:rPr>
              <a:t> </a:t>
            </a:r>
            <a:r>
              <a:rPr sz="2280" dirty="0">
                <a:latin typeface="Calibri"/>
                <a:cs typeface="Calibri"/>
              </a:rPr>
              <a:t>objectives</a:t>
            </a:r>
            <a:r>
              <a:rPr sz="2280" spc="6" dirty="0">
                <a:latin typeface="Calibri"/>
                <a:cs typeface="Calibri"/>
              </a:rPr>
              <a:t> </a:t>
            </a:r>
            <a:r>
              <a:rPr sz="2280" dirty="0">
                <a:latin typeface="Calibri"/>
                <a:cs typeface="Calibri"/>
              </a:rPr>
              <a:t>defined</a:t>
            </a:r>
            <a:r>
              <a:rPr sz="2280" spc="6" dirty="0">
                <a:latin typeface="Calibri"/>
                <a:cs typeface="Calibri"/>
              </a:rPr>
              <a:t> </a:t>
            </a:r>
            <a:r>
              <a:rPr sz="2280" dirty="0">
                <a:latin typeface="Calibri"/>
                <a:cs typeface="Calibri"/>
              </a:rPr>
              <a:t>by the</a:t>
            </a:r>
            <a:r>
              <a:rPr sz="2280" spc="6" dirty="0">
                <a:latin typeface="Calibri"/>
                <a:cs typeface="Calibri"/>
              </a:rPr>
              <a:t> </a:t>
            </a:r>
            <a:r>
              <a:rPr sz="2280" dirty="0">
                <a:latin typeface="Calibri"/>
                <a:cs typeface="Calibri"/>
              </a:rPr>
              <a:t>CMMI</a:t>
            </a:r>
            <a:r>
              <a:rPr sz="2280" spc="-6" dirty="0">
                <a:latin typeface="Calibri"/>
                <a:cs typeface="Calibri"/>
              </a:rPr>
              <a:t> </a:t>
            </a:r>
            <a:r>
              <a:rPr sz="2280" dirty="0">
                <a:latin typeface="Calibri"/>
                <a:cs typeface="Calibri"/>
              </a:rPr>
              <a:t>for</a:t>
            </a:r>
            <a:r>
              <a:rPr sz="2280" spc="-18" dirty="0">
                <a:latin typeface="Calibri"/>
                <a:cs typeface="Calibri"/>
              </a:rPr>
              <a:t> </a:t>
            </a:r>
            <a:r>
              <a:rPr sz="2280" dirty="0">
                <a:latin typeface="Calibri"/>
                <a:cs typeface="Calibri"/>
              </a:rPr>
              <a:t>level</a:t>
            </a:r>
            <a:r>
              <a:rPr sz="2280" spc="-6" dirty="0">
                <a:latin typeface="Calibri"/>
                <a:cs typeface="Calibri"/>
              </a:rPr>
              <a:t> </a:t>
            </a:r>
            <a:r>
              <a:rPr sz="2280" dirty="0">
                <a:latin typeface="Calibri"/>
                <a:cs typeface="Calibri"/>
              </a:rPr>
              <a:t>1</a:t>
            </a:r>
            <a:r>
              <a:rPr sz="2280" spc="6" dirty="0">
                <a:latin typeface="Calibri"/>
                <a:cs typeface="Calibri"/>
              </a:rPr>
              <a:t> </a:t>
            </a:r>
            <a:r>
              <a:rPr sz="2280" dirty="0">
                <a:latin typeface="Calibri"/>
                <a:cs typeface="Calibri"/>
              </a:rPr>
              <a:t>capability</a:t>
            </a:r>
            <a:r>
              <a:rPr sz="2280" spc="12" dirty="0">
                <a:latin typeface="Calibri"/>
                <a:cs typeface="Calibri"/>
              </a:rPr>
              <a:t> </a:t>
            </a:r>
            <a:r>
              <a:rPr sz="2280" dirty="0">
                <a:latin typeface="Calibri"/>
                <a:cs typeface="Calibri"/>
              </a:rPr>
              <a:t>for</a:t>
            </a:r>
            <a:r>
              <a:rPr sz="2280" spc="-12" dirty="0">
                <a:latin typeface="Calibri"/>
                <a:cs typeface="Calibri"/>
              </a:rPr>
              <a:t> </a:t>
            </a:r>
            <a:r>
              <a:rPr sz="2280" spc="-30" dirty="0">
                <a:latin typeface="Calibri"/>
                <a:cs typeface="Calibri"/>
              </a:rPr>
              <a:t>the 	</a:t>
            </a:r>
            <a:r>
              <a:rPr sz="2280" dirty="0">
                <a:latin typeface="Calibri"/>
                <a:cs typeface="Calibri"/>
              </a:rPr>
              <a:t>process</a:t>
            </a:r>
            <a:r>
              <a:rPr sz="2280" spc="-102" dirty="0">
                <a:latin typeface="Calibri"/>
                <a:cs typeface="Calibri"/>
              </a:rPr>
              <a:t> </a:t>
            </a:r>
            <a:r>
              <a:rPr sz="2280" spc="-24" dirty="0">
                <a:latin typeface="Calibri"/>
                <a:cs typeface="Calibri"/>
              </a:rPr>
              <a:t>area.</a:t>
            </a:r>
            <a:endParaRPr sz="2280">
              <a:latin typeface="Calibri"/>
              <a:cs typeface="Calibri"/>
            </a:endParaRPr>
          </a:p>
          <a:p>
            <a:pPr marL="462534" indent="-447294" algn="just">
              <a:spcBef>
                <a:spcPts val="234"/>
              </a:spcBef>
              <a:buAutoNum type="romanLcParenBoth" startAt="2"/>
              <a:tabLst>
                <a:tab pos="462534" algn="l"/>
              </a:tabLst>
            </a:pPr>
            <a:r>
              <a:rPr sz="2280" b="1" dirty="0">
                <a:latin typeface="Calibri"/>
                <a:cs typeface="Calibri"/>
              </a:rPr>
              <a:t>Level</a:t>
            </a:r>
            <a:r>
              <a:rPr sz="2280" b="1" spc="-60" dirty="0">
                <a:latin typeface="Calibri"/>
                <a:cs typeface="Calibri"/>
              </a:rPr>
              <a:t> </a:t>
            </a:r>
            <a:r>
              <a:rPr sz="2280" b="1" dirty="0">
                <a:latin typeface="Calibri"/>
                <a:cs typeface="Calibri"/>
              </a:rPr>
              <a:t>1:</a:t>
            </a:r>
            <a:r>
              <a:rPr sz="2280" b="1" spc="-66" dirty="0">
                <a:latin typeface="Calibri"/>
                <a:cs typeface="Calibri"/>
              </a:rPr>
              <a:t> </a:t>
            </a:r>
            <a:r>
              <a:rPr sz="2280" b="1" i="1" spc="-12" dirty="0">
                <a:solidFill>
                  <a:srgbClr val="C00000"/>
                </a:solidFill>
                <a:latin typeface="Calibri"/>
                <a:cs typeface="Calibri"/>
              </a:rPr>
              <a:t>Performed</a:t>
            </a:r>
            <a:endParaRPr sz="2280">
              <a:latin typeface="Calibri"/>
              <a:cs typeface="Calibri"/>
            </a:endParaRPr>
          </a:p>
          <a:p>
            <a:pPr marL="425958" marR="6096" lvl="1" indent="-411480">
              <a:spcBef>
                <a:spcPts val="245"/>
              </a:spcBef>
              <a:buFont typeface="Arial MT"/>
              <a:buChar char="•"/>
              <a:tabLst>
                <a:tab pos="425958" algn="l"/>
              </a:tabLst>
            </a:pPr>
            <a:r>
              <a:rPr sz="2280" dirty="0">
                <a:latin typeface="Calibri"/>
                <a:cs typeface="Calibri"/>
              </a:rPr>
              <a:t>All</a:t>
            </a:r>
            <a:r>
              <a:rPr sz="2280" spc="342" dirty="0">
                <a:latin typeface="Calibri"/>
                <a:cs typeface="Calibri"/>
              </a:rPr>
              <a:t> </a:t>
            </a:r>
            <a:r>
              <a:rPr sz="2280" dirty="0">
                <a:latin typeface="Calibri"/>
                <a:cs typeface="Calibri"/>
              </a:rPr>
              <a:t>of</a:t>
            </a:r>
            <a:r>
              <a:rPr sz="2280" spc="348" dirty="0">
                <a:latin typeface="Calibri"/>
                <a:cs typeface="Calibri"/>
              </a:rPr>
              <a:t> </a:t>
            </a:r>
            <a:r>
              <a:rPr sz="2280" dirty="0">
                <a:latin typeface="Calibri"/>
                <a:cs typeface="Calibri"/>
              </a:rPr>
              <a:t>the</a:t>
            </a:r>
            <a:r>
              <a:rPr sz="2280" spc="354" dirty="0">
                <a:latin typeface="Calibri"/>
                <a:cs typeface="Calibri"/>
              </a:rPr>
              <a:t> </a:t>
            </a:r>
            <a:r>
              <a:rPr sz="2280" dirty="0">
                <a:latin typeface="Calibri"/>
                <a:cs typeface="Calibri"/>
              </a:rPr>
              <a:t>specific</a:t>
            </a:r>
            <a:r>
              <a:rPr sz="2280" spc="348" dirty="0">
                <a:latin typeface="Calibri"/>
                <a:cs typeface="Calibri"/>
              </a:rPr>
              <a:t> </a:t>
            </a:r>
            <a:r>
              <a:rPr sz="2280" dirty="0">
                <a:latin typeface="Calibri"/>
                <a:cs typeface="Calibri"/>
              </a:rPr>
              <a:t>goals</a:t>
            </a:r>
            <a:r>
              <a:rPr sz="2280" spc="342" dirty="0">
                <a:latin typeface="Calibri"/>
                <a:cs typeface="Calibri"/>
              </a:rPr>
              <a:t> </a:t>
            </a:r>
            <a:r>
              <a:rPr sz="2280" dirty="0">
                <a:latin typeface="Calibri"/>
                <a:cs typeface="Calibri"/>
              </a:rPr>
              <a:t>of</a:t>
            </a:r>
            <a:r>
              <a:rPr sz="2280" spc="348" dirty="0">
                <a:latin typeface="Calibri"/>
                <a:cs typeface="Calibri"/>
              </a:rPr>
              <a:t> </a:t>
            </a:r>
            <a:r>
              <a:rPr sz="2280" dirty="0">
                <a:latin typeface="Calibri"/>
                <a:cs typeface="Calibri"/>
              </a:rPr>
              <a:t>the</a:t>
            </a:r>
            <a:r>
              <a:rPr sz="2280" spc="354" dirty="0">
                <a:latin typeface="Calibri"/>
                <a:cs typeface="Calibri"/>
              </a:rPr>
              <a:t> </a:t>
            </a:r>
            <a:r>
              <a:rPr sz="2280" dirty="0">
                <a:latin typeface="Calibri"/>
                <a:cs typeface="Calibri"/>
              </a:rPr>
              <a:t>process</a:t>
            </a:r>
            <a:r>
              <a:rPr sz="2280" spc="360" dirty="0">
                <a:latin typeface="Calibri"/>
                <a:cs typeface="Calibri"/>
              </a:rPr>
              <a:t> </a:t>
            </a:r>
            <a:r>
              <a:rPr sz="2280" dirty="0">
                <a:latin typeface="Calibri"/>
                <a:cs typeface="Calibri"/>
              </a:rPr>
              <a:t>area</a:t>
            </a:r>
            <a:r>
              <a:rPr sz="2280" spc="354" dirty="0">
                <a:latin typeface="Calibri"/>
                <a:cs typeface="Calibri"/>
              </a:rPr>
              <a:t> </a:t>
            </a:r>
            <a:r>
              <a:rPr sz="2280" dirty="0">
                <a:latin typeface="Calibri"/>
                <a:cs typeface="Calibri"/>
              </a:rPr>
              <a:t>(as</a:t>
            </a:r>
            <a:r>
              <a:rPr sz="2280" spc="348" dirty="0">
                <a:latin typeface="Calibri"/>
                <a:cs typeface="Calibri"/>
              </a:rPr>
              <a:t> </a:t>
            </a:r>
            <a:r>
              <a:rPr sz="2280" dirty="0">
                <a:latin typeface="Calibri"/>
                <a:cs typeface="Calibri"/>
              </a:rPr>
              <a:t>defined</a:t>
            </a:r>
            <a:r>
              <a:rPr sz="2280" spc="354" dirty="0">
                <a:latin typeface="Calibri"/>
                <a:cs typeface="Calibri"/>
              </a:rPr>
              <a:t> </a:t>
            </a:r>
            <a:r>
              <a:rPr sz="2280" dirty="0">
                <a:latin typeface="Calibri"/>
                <a:cs typeface="Calibri"/>
              </a:rPr>
              <a:t>by</a:t>
            </a:r>
            <a:r>
              <a:rPr sz="2280" spc="366" dirty="0">
                <a:latin typeface="Calibri"/>
                <a:cs typeface="Calibri"/>
              </a:rPr>
              <a:t> </a:t>
            </a:r>
            <a:r>
              <a:rPr sz="2280" dirty="0">
                <a:latin typeface="Calibri"/>
                <a:cs typeface="Calibri"/>
              </a:rPr>
              <a:t>the</a:t>
            </a:r>
            <a:r>
              <a:rPr sz="2280" spc="354" dirty="0">
                <a:latin typeface="Calibri"/>
                <a:cs typeface="Calibri"/>
              </a:rPr>
              <a:t> </a:t>
            </a:r>
            <a:r>
              <a:rPr sz="2280" dirty="0">
                <a:latin typeface="Calibri"/>
                <a:cs typeface="Calibri"/>
              </a:rPr>
              <a:t>CMMI)</a:t>
            </a:r>
            <a:r>
              <a:rPr sz="2280" spc="348" dirty="0">
                <a:latin typeface="Calibri"/>
                <a:cs typeface="Calibri"/>
              </a:rPr>
              <a:t> </a:t>
            </a:r>
            <a:r>
              <a:rPr sz="2280" dirty="0">
                <a:latin typeface="Calibri"/>
                <a:cs typeface="Calibri"/>
              </a:rPr>
              <a:t>have</a:t>
            </a:r>
            <a:r>
              <a:rPr sz="2280" spc="354" dirty="0">
                <a:latin typeface="Calibri"/>
                <a:cs typeface="Calibri"/>
              </a:rPr>
              <a:t> </a:t>
            </a:r>
            <a:r>
              <a:rPr sz="2280" spc="-24" dirty="0">
                <a:latin typeface="Calibri"/>
                <a:cs typeface="Calibri"/>
              </a:rPr>
              <a:t>been </a:t>
            </a:r>
            <a:r>
              <a:rPr sz="2280" spc="-12" dirty="0">
                <a:latin typeface="Calibri"/>
                <a:cs typeface="Calibri"/>
              </a:rPr>
              <a:t>satisfied.</a:t>
            </a:r>
            <a:endParaRPr sz="2280">
              <a:latin typeface="Calibri"/>
              <a:cs typeface="Calibri"/>
            </a:endParaRPr>
          </a:p>
          <a:p>
            <a:pPr marL="425958" lvl="1" indent="-410718">
              <a:spcBef>
                <a:spcPts val="245"/>
              </a:spcBef>
              <a:buFont typeface="Arial MT"/>
              <a:buChar char="•"/>
              <a:tabLst>
                <a:tab pos="425958" algn="l"/>
              </a:tabLst>
            </a:pPr>
            <a:r>
              <a:rPr sz="2280" dirty="0">
                <a:latin typeface="Calibri"/>
                <a:cs typeface="Calibri"/>
              </a:rPr>
              <a:t>Work</a:t>
            </a:r>
            <a:r>
              <a:rPr sz="2280" spc="-66" dirty="0">
                <a:latin typeface="Calibri"/>
                <a:cs typeface="Calibri"/>
              </a:rPr>
              <a:t> </a:t>
            </a:r>
            <a:r>
              <a:rPr sz="2280" dirty="0">
                <a:latin typeface="Calibri"/>
                <a:cs typeface="Calibri"/>
              </a:rPr>
              <a:t>tasks</a:t>
            </a:r>
            <a:r>
              <a:rPr sz="2280" spc="-84" dirty="0">
                <a:latin typeface="Calibri"/>
                <a:cs typeface="Calibri"/>
              </a:rPr>
              <a:t> </a:t>
            </a:r>
            <a:r>
              <a:rPr sz="2280" spc="-12" dirty="0">
                <a:latin typeface="Calibri"/>
                <a:cs typeface="Calibri"/>
              </a:rPr>
              <a:t>required</a:t>
            </a:r>
            <a:r>
              <a:rPr sz="2280" spc="-48" dirty="0">
                <a:latin typeface="Calibri"/>
                <a:cs typeface="Calibri"/>
              </a:rPr>
              <a:t> </a:t>
            </a:r>
            <a:r>
              <a:rPr sz="2280" dirty="0">
                <a:latin typeface="Calibri"/>
                <a:cs typeface="Calibri"/>
              </a:rPr>
              <a:t>to</a:t>
            </a:r>
            <a:r>
              <a:rPr sz="2280" spc="-54" dirty="0">
                <a:latin typeface="Calibri"/>
                <a:cs typeface="Calibri"/>
              </a:rPr>
              <a:t> </a:t>
            </a:r>
            <a:r>
              <a:rPr sz="2280" spc="-12" dirty="0">
                <a:latin typeface="Calibri"/>
                <a:cs typeface="Calibri"/>
              </a:rPr>
              <a:t>produce</a:t>
            </a:r>
            <a:r>
              <a:rPr sz="2280" spc="-42" dirty="0">
                <a:latin typeface="Calibri"/>
                <a:cs typeface="Calibri"/>
              </a:rPr>
              <a:t> </a:t>
            </a:r>
            <a:r>
              <a:rPr sz="2280" dirty="0">
                <a:latin typeface="Calibri"/>
                <a:cs typeface="Calibri"/>
              </a:rPr>
              <a:t>defined</a:t>
            </a:r>
            <a:r>
              <a:rPr sz="2280" spc="-54" dirty="0">
                <a:latin typeface="Calibri"/>
                <a:cs typeface="Calibri"/>
              </a:rPr>
              <a:t> </a:t>
            </a:r>
            <a:r>
              <a:rPr sz="2280" dirty="0">
                <a:latin typeface="Calibri"/>
                <a:cs typeface="Calibri"/>
              </a:rPr>
              <a:t>work</a:t>
            </a:r>
            <a:r>
              <a:rPr sz="2280" spc="-66" dirty="0">
                <a:latin typeface="Calibri"/>
                <a:cs typeface="Calibri"/>
              </a:rPr>
              <a:t> </a:t>
            </a:r>
            <a:r>
              <a:rPr sz="2280" spc="-12" dirty="0">
                <a:latin typeface="Calibri"/>
                <a:cs typeface="Calibri"/>
              </a:rPr>
              <a:t>products</a:t>
            </a:r>
            <a:r>
              <a:rPr sz="2280" spc="-54" dirty="0">
                <a:latin typeface="Calibri"/>
                <a:cs typeface="Calibri"/>
              </a:rPr>
              <a:t> </a:t>
            </a:r>
            <a:r>
              <a:rPr sz="2280" dirty="0">
                <a:latin typeface="Calibri"/>
                <a:cs typeface="Calibri"/>
              </a:rPr>
              <a:t>are</a:t>
            </a:r>
            <a:r>
              <a:rPr sz="2280" spc="-60" dirty="0">
                <a:latin typeface="Calibri"/>
                <a:cs typeface="Calibri"/>
              </a:rPr>
              <a:t> </a:t>
            </a:r>
            <a:r>
              <a:rPr sz="2280" dirty="0">
                <a:latin typeface="Calibri"/>
                <a:cs typeface="Calibri"/>
              </a:rPr>
              <a:t>being</a:t>
            </a:r>
            <a:r>
              <a:rPr sz="2280" spc="-48" dirty="0">
                <a:latin typeface="Calibri"/>
                <a:cs typeface="Calibri"/>
              </a:rPr>
              <a:t> </a:t>
            </a:r>
            <a:r>
              <a:rPr sz="2280" spc="-12" dirty="0">
                <a:latin typeface="Calibri"/>
                <a:cs typeface="Calibri"/>
              </a:rPr>
              <a:t>conducted.</a:t>
            </a:r>
            <a:endParaRPr sz="2280">
              <a:latin typeface="Calibri"/>
              <a:cs typeface="Calibri"/>
            </a:endParaRPr>
          </a:p>
          <a:p>
            <a:pPr marL="15240">
              <a:spcBef>
                <a:spcPts val="228"/>
              </a:spcBef>
            </a:pPr>
            <a:r>
              <a:rPr sz="2280" b="1" dirty="0">
                <a:latin typeface="Calibri"/>
                <a:cs typeface="Calibri"/>
              </a:rPr>
              <a:t>(iii)</a:t>
            </a:r>
            <a:r>
              <a:rPr sz="2280" b="1" spc="-66" dirty="0">
                <a:latin typeface="Calibri"/>
                <a:cs typeface="Calibri"/>
              </a:rPr>
              <a:t> </a:t>
            </a:r>
            <a:r>
              <a:rPr sz="2280" b="1" dirty="0">
                <a:latin typeface="Calibri"/>
                <a:cs typeface="Calibri"/>
              </a:rPr>
              <a:t>Level</a:t>
            </a:r>
            <a:r>
              <a:rPr sz="2280" b="1" spc="-36" dirty="0">
                <a:latin typeface="Calibri"/>
                <a:cs typeface="Calibri"/>
              </a:rPr>
              <a:t> </a:t>
            </a:r>
            <a:r>
              <a:rPr sz="2280" b="1" dirty="0">
                <a:latin typeface="Calibri"/>
                <a:cs typeface="Calibri"/>
              </a:rPr>
              <a:t>2:</a:t>
            </a:r>
            <a:r>
              <a:rPr sz="2280" b="1" spc="-42" dirty="0">
                <a:latin typeface="Calibri"/>
                <a:cs typeface="Calibri"/>
              </a:rPr>
              <a:t> </a:t>
            </a:r>
            <a:r>
              <a:rPr sz="2280" b="1" i="1" spc="-12" dirty="0">
                <a:solidFill>
                  <a:srgbClr val="C00000"/>
                </a:solidFill>
                <a:latin typeface="Calibri"/>
                <a:cs typeface="Calibri"/>
              </a:rPr>
              <a:t>Managed</a:t>
            </a:r>
            <a:endParaRPr sz="2280">
              <a:latin typeface="Calibri"/>
              <a:cs typeface="Calibri"/>
            </a:endParaRPr>
          </a:p>
          <a:p>
            <a:pPr marL="425958" indent="-410718">
              <a:spcBef>
                <a:spcPts val="245"/>
              </a:spcBef>
              <a:buFont typeface="Arial MT"/>
              <a:buChar char="•"/>
              <a:tabLst>
                <a:tab pos="425958" algn="l"/>
              </a:tabLst>
            </a:pPr>
            <a:r>
              <a:rPr sz="2280" dirty="0">
                <a:latin typeface="Calibri"/>
                <a:cs typeface="Calibri"/>
              </a:rPr>
              <a:t>All</a:t>
            </a:r>
            <a:r>
              <a:rPr sz="2280" spc="-66" dirty="0">
                <a:latin typeface="Calibri"/>
                <a:cs typeface="Calibri"/>
              </a:rPr>
              <a:t> </a:t>
            </a:r>
            <a:r>
              <a:rPr sz="2280" dirty="0">
                <a:latin typeface="Calibri"/>
                <a:cs typeface="Calibri"/>
              </a:rPr>
              <a:t>capability</a:t>
            </a:r>
            <a:r>
              <a:rPr sz="2280" spc="-54" dirty="0">
                <a:latin typeface="Calibri"/>
                <a:cs typeface="Calibri"/>
              </a:rPr>
              <a:t> </a:t>
            </a:r>
            <a:r>
              <a:rPr sz="2280" dirty="0">
                <a:latin typeface="Calibri"/>
                <a:cs typeface="Calibri"/>
              </a:rPr>
              <a:t>level</a:t>
            </a:r>
            <a:r>
              <a:rPr sz="2280" spc="-42" dirty="0">
                <a:latin typeface="Calibri"/>
                <a:cs typeface="Calibri"/>
              </a:rPr>
              <a:t> </a:t>
            </a:r>
            <a:r>
              <a:rPr sz="2280" dirty="0">
                <a:latin typeface="Calibri"/>
                <a:cs typeface="Calibri"/>
              </a:rPr>
              <a:t>1</a:t>
            </a:r>
            <a:r>
              <a:rPr sz="2280" spc="-72" dirty="0">
                <a:latin typeface="Calibri"/>
                <a:cs typeface="Calibri"/>
              </a:rPr>
              <a:t> </a:t>
            </a:r>
            <a:r>
              <a:rPr sz="2280" dirty="0">
                <a:latin typeface="Calibri"/>
                <a:cs typeface="Calibri"/>
              </a:rPr>
              <a:t>criteria</a:t>
            </a:r>
            <a:r>
              <a:rPr sz="2280" spc="-48" dirty="0">
                <a:latin typeface="Calibri"/>
                <a:cs typeface="Calibri"/>
              </a:rPr>
              <a:t> </a:t>
            </a:r>
            <a:r>
              <a:rPr sz="2280" dirty="0">
                <a:latin typeface="Calibri"/>
                <a:cs typeface="Calibri"/>
              </a:rPr>
              <a:t>have</a:t>
            </a:r>
            <a:r>
              <a:rPr sz="2280" spc="-48" dirty="0">
                <a:latin typeface="Calibri"/>
                <a:cs typeface="Calibri"/>
              </a:rPr>
              <a:t> </a:t>
            </a:r>
            <a:r>
              <a:rPr sz="2280" dirty="0">
                <a:latin typeface="Calibri"/>
                <a:cs typeface="Calibri"/>
              </a:rPr>
              <a:t>been</a:t>
            </a:r>
            <a:r>
              <a:rPr sz="2280" spc="-54" dirty="0">
                <a:latin typeface="Calibri"/>
                <a:cs typeface="Calibri"/>
              </a:rPr>
              <a:t> </a:t>
            </a:r>
            <a:r>
              <a:rPr sz="2280" spc="-12" dirty="0">
                <a:latin typeface="Calibri"/>
                <a:cs typeface="Calibri"/>
              </a:rPr>
              <a:t>satisfied.</a:t>
            </a:r>
            <a:endParaRPr sz="2280">
              <a:latin typeface="Calibri"/>
              <a:cs typeface="Calibri"/>
            </a:endParaRPr>
          </a:p>
          <a:p>
            <a:pPr marL="425958" indent="-410718">
              <a:spcBef>
                <a:spcPts val="245"/>
              </a:spcBef>
              <a:buFont typeface="Arial MT"/>
              <a:buChar char="•"/>
              <a:tabLst>
                <a:tab pos="425958" algn="l"/>
              </a:tabLst>
            </a:pPr>
            <a:r>
              <a:rPr sz="2280" dirty="0">
                <a:latin typeface="Calibri"/>
                <a:cs typeface="Calibri"/>
              </a:rPr>
              <a:t>All</a:t>
            </a:r>
            <a:r>
              <a:rPr sz="2280" spc="275" dirty="0">
                <a:latin typeface="Calibri"/>
                <a:cs typeface="Calibri"/>
              </a:rPr>
              <a:t> </a:t>
            </a:r>
            <a:r>
              <a:rPr sz="2280" dirty="0">
                <a:latin typeface="Calibri"/>
                <a:cs typeface="Calibri"/>
              </a:rPr>
              <a:t>work</a:t>
            </a:r>
            <a:r>
              <a:rPr sz="2280" spc="282" dirty="0">
                <a:latin typeface="Calibri"/>
                <a:cs typeface="Calibri"/>
              </a:rPr>
              <a:t> </a:t>
            </a:r>
            <a:r>
              <a:rPr sz="2280" dirty="0">
                <a:latin typeface="Calibri"/>
                <a:cs typeface="Calibri"/>
              </a:rPr>
              <a:t>associated</a:t>
            </a:r>
            <a:r>
              <a:rPr sz="2280" spc="282" dirty="0">
                <a:latin typeface="Calibri"/>
                <a:cs typeface="Calibri"/>
              </a:rPr>
              <a:t> </a:t>
            </a:r>
            <a:r>
              <a:rPr sz="2280" dirty="0">
                <a:latin typeface="Calibri"/>
                <a:cs typeface="Calibri"/>
              </a:rPr>
              <a:t>with</a:t>
            </a:r>
            <a:r>
              <a:rPr sz="2280" spc="282" dirty="0">
                <a:latin typeface="Calibri"/>
                <a:cs typeface="Calibri"/>
              </a:rPr>
              <a:t> </a:t>
            </a:r>
            <a:r>
              <a:rPr sz="2280" dirty="0">
                <a:latin typeface="Calibri"/>
                <a:cs typeface="Calibri"/>
              </a:rPr>
              <a:t>the</a:t>
            </a:r>
            <a:r>
              <a:rPr sz="2280" spc="300" dirty="0">
                <a:latin typeface="Calibri"/>
                <a:cs typeface="Calibri"/>
              </a:rPr>
              <a:t> </a:t>
            </a:r>
            <a:r>
              <a:rPr sz="2280" dirty="0">
                <a:latin typeface="Calibri"/>
                <a:cs typeface="Calibri"/>
              </a:rPr>
              <a:t>process</a:t>
            </a:r>
            <a:r>
              <a:rPr sz="2280" spc="294" dirty="0">
                <a:latin typeface="Calibri"/>
                <a:cs typeface="Calibri"/>
              </a:rPr>
              <a:t> </a:t>
            </a:r>
            <a:r>
              <a:rPr sz="2280" dirty="0">
                <a:latin typeface="Calibri"/>
                <a:cs typeface="Calibri"/>
              </a:rPr>
              <a:t>area</a:t>
            </a:r>
            <a:r>
              <a:rPr sz="2280" spc="288" dirty="0">
                <a:latin typeface="Calibri"/>
                <a:cs typeface="Calibri"/>
              </a:rPr>
              <a:t> </a:t>
            </a:r>
            <a:r>
              <a:rPr sz="2280" dirty="0">
                <a:latin typeface="Calibri"/>
                <a:cs typeface="Calibri"/>
              </a:rPr>
              <a:t>conforms</a:t>
            </a:r>
            <a:r>
              <a:rPr sz="2280" spc="288" dirty="0">
                <a:latin typeface="Calibri"/>
                <a:cs typeface="Calibri"/>
              </a:rPr>
              <a:t> </a:t>
            </a:r>
            <a:r>
              <a:rPr sz="2280" dirty="0">
                <a:latin typeface="Calibri"/>
                <a:cs typeface="Calibri"/>
              </a:rPr>
              <a:t>to</a:t>
            </a:r>
            <a:r>
              <a:rPr sz="2280" spc="275" dirty="0">
                <a:latin typeface="Calibri"/>
                <a:cs typeface="Calibri"/>
              </a:rPr>
              <a:t> </a:t>
            </a:r>
            <a:r>
              <a:rPr sz="2280" dirty="0">
                <a:latin typeface="Calibri"/>
                <a:cs typeface="Calibri"/>
              </a:rPr>
              <a:t>an</a:t>
            </a:r>
            <a:r>
              <a:rPr sz="2280" spc="282" dirty="0">
                <a:latin typeface="Calibri"/>
                <a:cs typeface="Calibri"/>
              </a:rPr>
              <a:t> </a:t>
            </a:r>
            <a:r>
              <a:rPr sz="2280" dirty="0">
                <a:latin typeface="Calibri"/>
                <a:cs typeface="Calibri"/>
              </a:rPr>
              <a:t>organizationally</a:t>
            </a:r>
            <a:r>
              <a:rPr sz="2280" spc="305" dirty="0">
                <a:latin typeface="Calibri"/>
                <a:cs typeface="Calibri"/>
              </a:rPr>
              <a:t> </a:t>
            </a:r>
            <a:r>
              <a:rPr sz="2280" spc="-12" dirty="0">
                <a:latin typeface="Calibri"/>
                <a:cs typeface="Calibri"/>
              </a:rPr>
              <a:t>defined</a:t>
            </a:r>
            <a:endParaRPr sz="2280">
              <a:latin typeface="Calibri"/>
              <a:cs typeface="Calibri"/>
            </a:endParaRPr>
          </a:p>
          <a:p>
            <a:pPr marL="425958"/>
            <a:r>
              <a:rPr sz="2280" spc="-12" dirty="0">
                <a:latin typeface="Calibri"/>
                <a:cs typeface="Calibri"/>
              </a:rPr>
              <a:t>policy</a:t>
            </a:r>
            <a:endParaRPr sz="2280">
              <a:latin typeface="Calibri"/>
              <a:cs typeface="Calibri"/>
            </a:endParaRPr>
          </a:p>
          <a:p>
            <a:pPr marL="425958" marR="6858" indent="-411480">
              <a:spcBef>
                <a:spcPts val="234"/>
              </a:spcBef>
              <a:buFont typeface="Arial MT"/>
              <a:buChar char="•"/>
              <a:tabLst>
                <a:tab pos="425958" algn="l"/>
              </a:tabLst>
            </a:pPr>
            <a:r>
              <a:rPr sz="2280" dirty="0">
                <a:latin typeface="Calibri"/>
                <a:cs typeface="Calibri"/>
              </a:rPr>
              <a:t>All</a:t>
            </a:r>
            <a:r>
              <a:rPr sz="2280" spc="228" dirty="0">
                <a:latin typeface="Calibri"/>
                <a:cs typeface="Calibri"/>
              </a:rPr>
              <a:t> </a:t>
            </a:r>
            <a:r>
              <a:rPr sz="2280" dirty="0">
                <a:latin typeface="Calibri"/>
                <a:cs typeface="Calibri"/>
              </a:rPr>
              <a:t>people</a:t>
            </a:r>
            <a:r>
              <a:rPr sz="2280" spc="240" dirty="0">
                <a:latin typeface="Calibri"/>
                <a:cs typeface="Calibri"/>
              </a:rPr>
              <a:t> </a:t>
            </a:r>
            <a:r>
              <a:rPr sz="2280" dirty="0">
                <a:latin typeface="Calibri"/>
                <a:cs typeface="Calibri"/>
              </a:rPr>
              <a:t>doing</a:t>
            </a:r>
            <a:r>
              <a:rPr sz="2280" spc="234" dirty="0">
                <a:latin typeface="Calibri"/>
                <a:cs typeface="Calibri"/>
              </a:rPr>
              <a:t> </a:t>
            </a:r>
            <a:r>
              <a:rPr sz="2280" dirty="0">
                <a:latin typeface="Calibri"/>
                <a:cs typeface="Calibri"/>
              </a:rPr>
              <a:t>the</a:t>
            </a:r>
            <a:r>
              <a:rPr sz="2280" spc="234" dirty="0">
                <a:latin typeface="Calibri"/>
                <a:cs typeface="Calibri"/>
              </a:rPr>
              <a:t> </a:t>
            </a:r>
            <a:r>
              <a:rPr sz="2280" dirty="0">
                <a:latin typeface="Calibri"/>
                <a:cs typeface="Calibri"/>
              </a:rPr>
              <a:t>work</a:t>
            </a:r>
            <a:r>
              <a:rPr sz="2280" spc="228" dirty="0">
                <a:latin typeface="Calibri"/>
                <a:cs typeface="Calibri"/>
              </a:rPr>
              <a:t> </a:t>
            </a:r>
            <a:r>
              <a:rPr sz="2280" dirty="0">
                <a:latin typeface="Calibri"/>
                <a:cs typeface="Calibri"/>
              </a:rPr>
              <a:t>have</a:t>
            </a:r>
            <a:r>
              <a:rPr sz="2280" spc="240" dirty="0">
                <a:latin typeface="Calibri"/>
                <a:cs typeface="Calibri"/>
              </a:rPr>
              <a:t> </a:t>
            </a:r>
            <a:r>
              <a:rPr sz="2280" dirty="0">
                <a:latin typeface="Calibri"/>
                <a:cs typeface="Calibri"/>
              </a:rPr>
              <a:t>access</a:t>
            </a:r>
            <a:r>
              <a:rPr sz="2280" spc="222" dirty="0">
                <a:latin typeface="Calibri"/>
                <a:cs typeface="Calibri"/>
              </a:rPr>
              <a:t> </a:t>
            </a:r>
            <a:r>
              <a:rPr sz="2280" dirty="0">
                <a:latin typeface="Calibri"/>
                <a:cs typeface="Calibri"/>
              </a:rPr>
              <a:t>to</a:t>
            </a:r>
            <a:r>
              <a:rPr sz="2280" spc="228" dirty="0">
                <a:latin typeface="Calibri"/>
                <a:cs typeface="Calibri"/>
              </a:rPr>
              <a:t> </a:t>
            </a:r>
            <a:r>
              <a:rPr sz="2280" dirty="0">
                <a:latin typeface="Calibri"/>
                <a:cs typeface="Calibri"/>
              </a:rPr>
              <a:t>adequate</a:t>
            </a:r>
            <a:r>
              <a:rPr sz="2280" spc="240" dirty="0">
                <a:latin typeface="Calibri"/>
                <a:cs typeface="Calibri"/>
              </a:rPr>
              <a:t> </a:t>
            </a:r>
            <a:r>
              <a:rPr sz="2280" dirty="0">
                <a:latin typeface="Calibri"/>
                <a:cs typeface="Calibri"/>
              </a:rPr>
              <a:t>resources</a:t>
            </a:r>
            <a:r>
              <a:rPr sz="2280" spc="240" dirty="0">
                <a:latin typeface="Calibri"/>
                <a:cs typeface="Calibri"/>
              </a:rPr>
              <a:t> </a:t>
            </a:r>
            <a:r>
              <a:rPr sz="2280" dirty="0">
                <a:latin typeface="Calibri"/>
                <a:cs typeface="Calibri"/>
              </a:rPr>
              <a:t>to</a:t>
            </a:r>
            <a:r>
              <a:rPr sz="2280" spc="234" dirty="0">
                <a:latin typeface="Calibri"/>
                <a:cs typeface="Calibri"/>
              </a:rPr>
              <a:t> </a:t>
            </a:r>
            <a:r>
              <a:rPr sz="2280" dirty="0">
                <a:latin typeface="Calibri"/>
                <a:cs typeface="Calibri"/>
              </a:rPr>
              <a:t>get</a:t>
            </a:r>
            <a:r>
              <a:rPr sz="2280" spc="234" dirty="0">
                <a:latin typeface="Calibri"/>
                <a:cs typeface="Calibri"/>
              </a:rPr>
              <a:t> </a:t>
            </a:r>
            <a:r>
              <a:rPr sz="2280" dirty="0">
                <a:latin typeface="Calibri"/>
                <a:cs typeface="Calibri"/>
              </a:rPr>
              <a:t>the</a:t>
            </a:r>
            <a:r>
              <a:rPr sz="2280" spc="234" dirty="0">
                <a:latin typeface="Calibri"/>
                <a:cs typeface="Calibri"/>
              </a:rPr>
              <a:t> </a:t>
            </a:r>
            <a:r>
              <a:rPr sz="2280" dirty="0">
                <a:latin typeface="Calibri"/>
                <a:cs typeface="Calibri"/>
              </a:rPr>
              <a:t>job</a:t>
            </a:r>
            <a:r>
              <a:rPr sz="2280" spc="228" dirty="0">
                <a:latin typeface="Calibri"/>
                <a:cs typeface="Calibri"/>
              </a:rPr>
              <a:t> </a:t>
            </a:r>
            <a:r>
              <a:rPr sz="2280" spc="-12" dirty="0">
                <a:latin typeface="Calibri"/>
                <a:cs typeface="Calibri"/>
              </a:rPr>
              <a:t>done; </a:t>
            </a:r>
            <a:r>
              <a:rPr sz="2280" spc="-24" dirty="0">
                <a:latin typeface="Calibri"/>
                <a:cs typeface="Calibri"/>
              </a:rPr>
              <a:t>stakeholders</a:t>
            </a:r>
            <a:r>
              <a:rPr sz="2280" spc="-48" dirty="0">
                <a:latin typeface="Calibri"/>
                <a:cs typeface="Calibri"/>
              </a:rPr>
              <a:t> </a:t>
            </a:r>
            <a:r>
              <a:rPr sz="2280" dirty="0">
                <a:latin typeface="Calibri"/>
                <a:cs typeface="Calibri"/>
              </a:rPr>
              <a:t>are</a:t>
            </a:r>
            <a:r>
              <a:rPr sz="2280" spc="-54" dirty="0">
                <a:latin typeface="Calibri"/>
                <a:cs typeface="Calibri"/>
              </a:rPr>
              <a:t> </a:t>
            </a:r>
            <a:r>
              <a:rPr sz="2280" dirty="0">
                <a:latin typeface="Calibri"/>
                <a:cs typeface="Calibri"/>
              </a:rPr>
              <a:t>actively</a:t>
            </a:r>
            <a:r>
              <a:rPr sz="2280" spc="-30" dirty="0">
                <a:latin typeface="Calibri"/>
                <a:cs typeface="Calibri"/>
              </a:rPr>
              <a:t> </a:t>
            </a:r>
            <a:r>
              <a:rPr sz="2280" spc="-12" dirty="0">
                <a:latin typeface="Calibri"/>
                <a:cs typeface="Calibri"/>
              </a:rPr>
              <a:t>involved</a:t>
            </a:r>
            <a:r>
              <a:rPr sz="2280" dirty="0">
                <a:latin typeface="Calibri"/>
                <a:cs typeface="Calibri"/>
              </a:rPr>
              <a:t> in</a:t>
            </a:r>
            <a:r>
              <a:rPr sz="2280" spc="-54" dirty="0">
                <a:latin typeface="Calibri"/>
                <a:cs typeface="Calibri"/>
              </a:rPr>
              <a:t> </a:t>
            </a:r>
            <a:r>
              <a:rPr sz="2280" dirty="0">
                <a:latin typeface="Calibri"/>
                <a:cs typeface="Calibri"/>
              </a:rPr>
              <a:t>the</a:t>
            </a:r>
            <a:r>
              <a:rPr sz="2280" spc="-60" dirty="0">
                <a:latin typeface="Calibri"/>
                <a:cs typeface="Calibri"/>
              </a:rPr>
              <a:t> </a:t>
            </a:r>
            <a:r>
              <a:rPr sz="2280" dirty="0">
                <a:latin typeface="Calibri"/>
                <a:cs typeface="Calibri"/>
              </a:rPr>
              <a:t>process</a:t>
            </a:r>
            <a:r>
              <a:rPr sz="2280" spc="-42" dirty="0">
                <a:latin typeface="Calibri"/>
                <a:cs typeface="Calibri"/>
              </a:rPr>
              <a:t> </a:t>
            </a:r>
            <a:r>
              <a:rPr sz="2280" dirty="0">
                <a:latin typeface="Calibri"/>
                <a:cs typeface="Calibri"/>
              </a:rPr>
              <a:t>area</a:t>
            </a:r>
            <a:r>
              <a:rPr sz="2280" spc="-66" dirty="0">
                <a:latin typeface="Calibri"/>
                <a:cs typeface="Calibri"/>
              </a:rPr>
              <a:t> </a:t>
            </a:r>
            <a:r>
              <a:rPr sz="2280" dirty="0">
                <a:latin typeface="Calibri"/>
                <a:cs typeface="Calibri"/>
              </a:rPr>
              <a:t>as</a:t>
            </a:r>
            <a:r>
              <a:rPr sz="2280" spc="-66" dirty="0">
                <a:latin typeface="Calibri"/>
                <a:cs typeface="Calibri"/>
              </a:rPr>
              <a:t> </a:t>
            </a:r>
            <a:r>
              <a:rPr sz="2280" spc="-12" dirty="0">
                <a:latin typeface="Calibri"/>
                <a:cs typeface="Calibri"/>
              </a:rPr>
              <a:t>required</a:t>
            </a:r>
            <a:endParaRPr sz="2280">
              <a:latin typeface="Calibri"/>
              <a:cs typeface="Calibri"/>
            </a:endParaRPr>
          </a:p>
          <a:p>
            <a:pPr marL="425958" indent="-410718">
              <a:spcBef>
                <a:spcPts val="245"/>
              </a:spcBef>
              <a:buFont typeface="Arial MT"/>
              <a:buChar char="•"/>
              <a:tabLst>
                <a:tab pos="425958" algn="l"/>
              </a:tabLst>
            </a:pPr>
            <a:r>
              <a:rPr sz="2280" dirty="0">
                <a:latin typeface="Calibri"/>
                <a:cs typeface="Calibri"/>
              </a:rPr>
              <a:t>All</a:t>
            </a:r>
            <a:r>
              <a:rPr sz="2280" spc="72" dirty="0">
                <a:latin typeface="Calibri"/>
                <a:cs typeface="Calibri"/>
              </a:rPr>
              <a:t> </a:t>
            </a:r>
            <a:r>
              <a:rPr sz="2280" dirty="0">
                <a:latin typeface="Calibri"/>
                <a:cs typeface="Calibri"/>
              </a:rPr>
              <a:t>work</a:t>
            </a:r>
            <a:r>
              <a:rPr sz="2280" spc="72" dirty="0">
                <a:latin typeface="Calibri"/>
                <a:cs typeface="Calibri"/>
              </a:rPr>
              <a:t> </a:t>
            </a:r>
            <a:r>
              <a:rPr sz="2280" dirty="0">
                <a:latin typeface="Calibri"/>
                <a:cs typeface="Calibri"/>
              </a:rPr>
              <a:t>tasks</a:t>
            </a:r>
            <a:r>
              <a:rPr sz="2280" spc="66" dirty="0">
                <a:latin typeface="Calibri"/>
                <a:cs typeface="Calibri"/>
              </a:rPr>
              <a:t> </a:t>
            </a:r>
            <a:r>
              <a:rPr sz="2280" dirty="0">
                <a:latin typeface="Calibri"/>
                <a:cs typeface="Calibri"/>
              </a:rPr>
              <a:t>and</a:t>
            </a:r>
            <a:r>
              <a:rPr sz="2280" spc="72" dirty="0">
                <a:latin typeface="Calibri"/>
                <a:cs typeface="Calibri"/>
              </a:rPr>
              <a:t> </a:t>
            </a:r>
            <a:r>
              <a:rPr sz="2280" dirty="0">
                <a:latin typeface="Calibri"/>
                <a:cs typeface="Calibri"/>
              </a:rPr>
              <a:t>work</a:t>
            </a:r>
            <a:r>
              <a:rPr sz="2280" spc="72" dirty="0">
                <a:latin typeface="Calibri"/>
                <a:cs typeface="Calibri"/>
              </a:rPr>
              <a:t> </a:t>
            </a:r>
            <a:r>
              <a:rPr sz="2280" dirty="0">
                <a:latin typeface="Calibri"/>
                <a:cs typeface="Calibri"/>
              </a:rPr>
              <a:t>products</a:t>
            </a:r>
            <a:r>
              <a:rPr sz="2280" spc="84" dirty="0">
                <a:latin typeface="Calibri"/>
                <a:cs typeface="Calibri"/>
              </a:rPr>
              <a:t> </a:t>
            </a:r>
            <a:r>
              <a:rPr sz="2280" dirty="0">
                <a:latin typeface="Calibri"/>
                <a:cs typeface="Calibri"/>
              </a:rPr>
              <a:t>are</a:t>
            </a:r>
            <a:r>
              <a:rPr sz="2280" spc="66" dirty="0">
                <a:latin typeface="Calibri"/>
                <a:cs typeface="Calibri"/>
              </a:rPr>
              <a:t> </a:t>
            </a:r>
            <a:r>
              <a:rPr sz="2280" dirty="0">
                <a:latin typeface="Calibri"/>
                <a:cs typeface="Calibri"/>
              </a:rPr>
              <a:t>“monitored,</a:t>
            </a:r>
            <a:r>
              <a:rPr sz="2280" spc="72" dirty="0">
                <a:latin typeface="Calibri"/>
                <a:cs typeface="Calibri"/>
              </a:rPr>
              <a:t> </a:t>
            </a:r>
            <a:r>
              <a:rPr sz="2280" dirty="0">
                <a:latin typeface="Calibri"/>
                <a:cs typeface="Calibri"/>
              </a:rPr>
              <a:t>controlled,</a:t>
            </a:r>
            <a:r>
              <a:rPr sz="2280" spc="78" dirty="0">
                <a:latin typeface="Calibri"/>
                <a:cs typeface="Calibri"/>
              </a:rPr>
              <a:t> </a:t>
            </a:r>
            <a:r>
              <a:rPr sz="2280" dirty="0">
                <a:latin typeface="Calibri"/>
                <a:cs typeface="Calibri"/>
              </a:rPr>
              <a:t>and</a:t>
            </a:r>
            <a:r>
              <a:rPr sz="2280" spc="78" dirty="0">
                <a:latin typeface="Calibri"/>
                <a:cs typeface="Calibri"/>
              </a:rPr>
              <a:t> </a:t>
            </a:r>
            <a:r>
              <a:rPr sz="2280" dirty="0">
                <a:latin typeface="Calibri"/>
                <a:cs typeface="Calibri"/>
              </a:rPr>
              <a:t>reviewed;</a:t>
            </a:r>
            <a:r>
              <a:rPr sz="2280" spc="72" dirty="0">
                <a:latin typeface="Calibri"/>
                <a:cs typeface="Calibri"/>
              </a:rPr>
              <a:t> </a:t>
            </a:r>
            <a:r>
              <a:rPr sz="2280" dirty="0">
                <a:latin typeface="Calibri"/>
                <a:cs typeface="Calibri"/>
              </a:rPr>
              <a:t>and</a:t>
            </a:r>
            <a:r>
              <a:rPr sz="2280" spc="78" dirty="0">
                <a:latin typeface="Calibri"/>
                <a:cs typeface="Calibri"/>
              </a:rPr>
              <a:t> </a:t>
            </a:r>
            <a:r>
              <a:rPr sz="2280" spc="-30" dirty="0">
                <a:latin typeface="Calibri"/>
                <a:cs typeface="Calibri"/>
              </a:rPr>
              <a:t>are</a:t>
            </a:r>
            <a:endParaRPr sz="2280">
              <a:latin typeface="Calibri"/>
              <a:cs typeface="Calibri"/>
            </a:endParaRPr>
          </a:p>
          <a:p>
            <a:pPr marL="425958"/>
            <a:r>
              <a:rPr sz="2280" spc="-12" dirty="0">
                <a:latin typeface="Calibri"/>
                <a:cs typeface="Calibri"/>
              </a:rPr>
              <a:t>evaluated</a:t>
            </a:r>
            <a:r>
              <a:rPr sz="2280" spc="-48" dirty="0">
                <a:latin typeface="Calibri"/>
                <a:cs typeface="Calibri"/>
              </a:rPr>
              <a:t> </a:t>
            </a:r>
            <a:r>
              <a:rPr sz="2280" dirty="0">
                <a:latin typeface="Calibri"/>
                <a:cs typeface="Calibri"/>
              </a:rPr>
              <a:t>for</a:t>
            </a:r>
            <a:r>
              <a:rPr sz="2280" spc="-90" dirty="0">
                <a:latin typeface="Calibri"/>
                <a:cs typeface="Calibri"/>
              </a:rPr>
              <a:t> </a:t>
            </a:r>
            <a:r>
              <a:rPr sz="2280" dirty="0">
                <a:latin typeface="Calibri"/>
                <a:cs typeface="Calibri"/>
              </a:rPr>
              <a:t>adherence</a:t>
            </a:r>
            <a:r>
              <a:rPr sz="2280" spc="-60" dirty="0">
                <a:latin typeface="Calibri"/>
                <a:cs typeface="Calibri"/>
              </a:rPr>
              <a:t> </a:t>
            </a:r>
            <a:r>
              <a:rPr sz="2280" dirty="0">
                <a:latin typeface="Calibri"/>
                <a:cs typeface="Calibri"/>
              </a:rPr>
              <a:t>to</a:t>
            </a:r>
            <a:r>
              <a:rPr sz="2280" spc="-78" dirty="0">
                <a:latin typeface="Calibri"/>
                <a:cs typeface="Calibri"/>
              </a:rPr>
              <a:t> </a:t>
            </a:r>
            <a:r>
              <a:rPr sz="2280" dirty="0">
                <a:latin typeface="Calibri"/>
                <a:cs typeface="Calibri"/>
              </a:rPr>
              <a:t>the</a:t>
            </a:r>
            <a:r>
              <a:rPr sz="2280" spc="-72" dirty="0">
                <a:latin typeface="Calibri"/>
                <a:cs typeface="Calibri"/>
              </a:rPr>
              <a:t> </a:t>
            </a:r>
            <a:r>
              <a:rPr sz="2280" dirty="0">
                <a:latin typeface="Calibri"/>
                <a:cs typeface="Calibri"/>
              </a:rPr>
              <a:t>process</a:t>
            </a:r>
            <a:r>
              <a:rPr sz="2280" spc="-60" dirty="0">
                <a:latin typeface="Calibri"/>
                <a:cs typeface="Calibri"/>
              </a:rPr>
              <a:t> </a:t>
            </a:r>
            <a:r>
              <a:rPr sz="2280" spc="-12" dirty="0">
                <a:latin typeface="Calibri"/>
                <a:cs typeface="Calibri"/>
              </a:rPr>
              <a:t>description</a:t>
            </a:r>
            <a:endParaRPr sz="2280">
              <a:latin typeface="Calibri"/>
              <a:cs typeface="Calibri"/>
            </a:endParaRPr>
          </a:p>
        </p:txBody>
      </p:sp>
    </p:spTree>
    <p:extLst>
      <p:ext uri="{BB962C8B-B14F-4D97-AF65-F5344CB8AC3E}">
        <p14:creationId xmlns:p14="http://schemas.microsoft.com/office/powerpoint/2010/main" val="274778373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3201" y="183211"/>
            <a:ext cx="10527030" cy="5976764"/>
          </a:xfrm>
          <a:prstGeom prst="rect">
            <a:avLst/>
          </a:prstGeom>
        </p:spPr>
        <p:txBody>
          <a:bodyPr vert="horz" wrap="square" lIns="0" tIns="84582" rIns="0" bIns="0" rtlCol="0">
            <a:spAutoFit/>
          </a:bodyPr>
          <a:lstStyle/>
          <a:p>
            <a:pPr marL="15240" algn="just">
              <a:spcBef>
                <a:spcPts val="666"/>
              </a:spcBef>
            </a:pPr>
            <a:r>
              <a:rPr sz="2280" b="1" dirty="0">
                <a:latin typeface="Calibri"/>
                <a:cs typeface="Calibri"/>
              </a:rPr>
              <a:t>Level</a:t>
            </a:r>
            <a:r>
              <a:rPr sz="2280" b="1" spc="-60" dirty="0">
                <a:latin typeface="Calibri"/>
                <a:cs typeface="Calibri"/>
              </a:rPr>
              <a:t> </a:t>
            </a:r>
            <a:r>
              <a:rPr sz="2280" b="1" dirty="0">
                <a:latin typeface="Calibri"/>
                <a:cs typeface="Calibri"/>
              </a:rPr>
              <a:t>3:</a:t>
            </a:r>
            <a:r>
              <a:rPr sz="2280" b="1" spc="-54" dirty="0">
                <a:latin typeface="Calibri"/>
                <a:cs typeface="Calibri"/>
              </a:rPr>
              <a:t> </a:t>
            </a:r>
            <a:r>
              <a:rPr sz="2280" b="1" i="1" spc="-12" dirty="0">
                <a:solidFill>
                  <a:srgbClr val="C00000"/>
                </a:solidFill>
                <a:latin typeface="Calibri"/>
                <a:cs typeface="Calibri"/>
              </a:rPr>
              <a:t>Defined</a:t>
            </a:r>
            <a:endParaRPr sz="2280">
              <a:latin typeface="Calibri"/>
              <a:cs typeface="Calibri"/>
            </a:endParaRPr>
          </a:p>
          <a:p>
            <a:pPr marL="423672" indent="-408432" algn="just">
              <a:spcBef>
                <a:spcPts val="546"/>
              </a:spcBef>
              <a:buFont typeface="Arial MT"/>
              <a:buChar char="•"/>
              <a:tabLst>
                <a:tab pos="423672" algn="l"/>
              </a:tabLst>
            </a:pPr>
            <a:r>
              <a:rPr sz="2280" dirty="0">
                <a:latin typeface="Calibri"/>
                <a:cs typeface="Calibri"/>
              </a:rPr>
              <a:t>All</a:t>
            </a:r>
            <a:r>
              <a:rPr sz="2280" spc="-72" dirty="0">
                <a:latin typeface="Calibri"/>
                <a:cs typeface="Calibri"/>
              </a:rPr>
              <a:t> </a:t>
            </a:r>
            <a:r>
              <a:rPr sz="2280" dirty="0">
                <a:latin typeface="Calibri"/>
                <a:cs typeface="Calibri"/>
              </a:rPr>
              <a:t>capability</a:t>
            </a:r>
            <a:r>
              <a:rPr sz="2280" spc="-54" dirty="0">
                <a:latin typeface="Calibri"/>
                <a:cs typeface="Calibri"/>
              </a:rPr>
              <a:t> </a:t>
            </a:r>
            <a:r>
              <a:rPr sz="2280" dirty="0">
                <a:latin typeface="Calibri"/>
                <a:cs typeface="Calibri"/>
              </a:rPr>
              <a:t>level</a:t>
            </a:r>
            <a:r>
              <a:rPr sz="2280" spc="-54" dirty="0">
                <a:latin typeface="Calibri"/>
                <a:cs typeface="Calibri"/>
              </a:rPr>
              <a:t> </a:t>
            </a:r>
            <a:r>
              <a:rPr sz="2280" dirty="0">
                <a:latin typeface="Calibri"/>
                <a:cs typeface="Calibri"/>
              </a:rPr>
              <a:t>2</a:t>
            </a:r>
            <a:r>
              <a:rPr sz="2280" spc="-72" dirty="0">
                <a:latin typeface="Calibri"/>
                <a:cs typeface="Calibri"/>
              </a:rPr>
              <a:t> </a:t>
            </a:r>
            <a:r>
              <a:rPr sz="2280" dirty="0">
                <a:latin typeface="Calibri"/>
                <a:cs typeface="Calibri"/>
              </a:rPr>
              <a:t>criteria</a:t>
            </a:r>
            <a:r>
              <a:rPr sz="2280" spc="-60" dirty="0">
                <a:latin typeface="Calibri"/>
                <a:cs typeface="Calibri"/>
              </a:rPr>
              <a:t> </a:t>
            </a:r>
            <a:r>
              <a:rPr sz="2280" dirty="0">
                <a:latin typeface="Calibri"/>
                <a:cs typeface="Calibri"/>
              </a:rPr>
              <a:t>have</a:t>
            </a:r>
            <a:r>
              <a:rPr sz="2280" spc="-60" dirty="0">
                <a:latin typeface="Calibri"/>
                <a:cs typeface="Calibri"/>
              </a:rPr>
              <a:t> </a:t>
            </a:r>
            <a:r>
              <a:rPr sz="2280" dirty="0">
                <a:latin typeface="Calibri"/>
                <a:cs typeface="Calibri"/>
              </a:rPr>
              <a:t>been</a:t>
            </a:r>
            <a:r>
              <a:rPr sz="2280" spc="-48" dirty="0">
                <a:latin typeface="Calibri"/>
                <a:cs typeface="Calibri"/>
              </a:rPr>
              <a:t> </a:t>
            </a:r>
            <a:r>
              <a:rPr sz="2280" spc="-12" dirty="0">
                <a:latin typeface="Calibri"/>
                <a:cs typeface="Calibri"/>
              </a:rPr>
              <a:t>achieved.</a:t>
            </a:r>
            <a:endParaRPr sz="2280">
              <a:latin typeface="Calibri"/>
              <a:cs typeface="Calibri"/>
            </a:endParaRPr>
          </a:p>
          <a:p>
            <a:pPr marL="422910" marR="6858" indent="-408432" algn="just">
              <a:spcBef>
                <a:spcPts val="551"/>
              </a:spcBef>
              <a:buFont typeface="Arial MT"/>
              <a:buChar char="•"/>
              <a:tabLst>
                <a:tab pos="425958" algn="l"/>
              </a:tabLst>
            </a:pPr>
            <a:r>
              <a:rPr sz="2280" dirty="0">
                <a:latin typeface="Calibri"/>
                <a:cs typeface="Calibri"/>
              </a:rPr>
              <a:t>The</a:t>
            </a:r>
            <a:r>
              <a:rPr sz="2280" spc="480" dirty="0">
                <a:latin typeface="Calibri"/>
                <a:cs typeface="Calibri"/>
              </a:rPr>
              <a:t> </a:t>
            </a:r>
            <a:r>
              <a:rPr sz="2280" dirty="0">
                <a:latin typeface="Calibri"/>
                <a:cs typeface="Calibri"/>
              </a:rPr>
              <a:t>process</a:t>
            </a:r>
            <a:r>
              <a:rPr sz="2280" spc="486" dirty="0">
                <a:latin typeface="Calibri"/>
                <a:cs typeface="Calibri"/>
              </a:rPr>
              <a:t> </a:t>
            </a:r>
            <a:r>
              <a:rPr sz="2280" dirty="0">
                <a:latin typeface="Calibri"/>
                <a:cs typeface="Calibri"/>
              </a:rPr>
              <a:t>is</a:t>
            </a:r>
            <a:r>
              <a:rPr sz="2280" spc="474" dirty="0">
                <a:latin typeface="Calibri"/>
                <a:cs typeface="Calibri"/>
              </a:rPr>
              <a:t> </a:t>
            </a:r>
            <a:r>
              <a:rPr sz="2280" dirty="0">
                <a:latin typeface="Calibri"/>
                <a:cs typeface="Calibri"/>
              </a:rPr>
              <a:t>customized</a:t>
            </a:r>
            <a:r>
              <a:rPr sz="2280" spc="486" dirty="0">
                <a:latin typeface="Calibri"/>
                <a:cs typeface="Calibri"/>
              </a:rPr>
              <a:t> </a:t>
            </a:r>
            <a:r>
              <a:rPr sz="2280" dirty="0">
                <a:latin typeface="Calibri"/>
                <a:cs typeface="Calibri"/>
              </a:rPr>
              <a:t>based</a:t>
            </a:r>
            <a:r>
              <a:rPr sz="2280" spc="486" dirty="0">
                <a:latin typeface="Calibri"/>
                <a:cs typeface="Calibri"/>
              </a:rPr>
              <a:t> </a:t>
            </a:r>
            <a:r>
              <a:rPr sz="2280" dirty="0">
                <a:latin typeface="Calibri"/>
                <a:cs typeface="Calibri"/>
              </a:rPr>
              <a:t>on</a:t>
            </a:r>
            <a:r>
              <a:rPr sz="2280" spc="480" dirty="0">
                <a:latin typeface="Calibri"/>
                <a:cs typeface="Calibri"/>
              </a:rPr>
              <a:t> </a:t>
            </a:r>
            <a:r>
              <a:rPr sz="2280" dirty="0">
                <a:latin typeface="Calibri"/>
                <a:cs typeface="Calibri"/>
              </a:rPr>
              <a:t>the</a:t>
            </a:r>
            <a:r>
              <a:rPr sz="2280" spc="480" dirty="0">
                <a:latin typeface="Calibri"/>
                <a:cs typeface="Calibri"/>
              </a:rPr>
              <a:t> </a:t>
            </a:r>
            <a:r>
              <a:rPr sz="2280" dirty="0">
                <a:latin typeface="Calibri"/>
                <a:cs typeface="Calibri"/>
              </a:rPr>
              <a:t>organization's</a:t>
            </a:r>
            <a:r>
              <a:rPr sz="2280" spc="498" dirty="0">
                <a:latin typeface="Calibri"/>
                <a:cs typeface="Calibri"/>
              </a:rPr>
              <a:t> </a:t>
            </a:r>
            <a:r>
              <a:rPr sz="2280" dirty="0">
                <a:latin typeface="Calibri"/>
                <a:cs typeface="Calibri"/>
              </a:rPr>
              <a:t>standard</a:t>
            </a:r>
            <a:r>
              <a:rPr sz="2280" spc="486" dirty="0">
                <a:latin typeface="Calibri"/>
                <a:cs typeface="Calibri"/>
              </a:rPr>
              <a:t> </a:t>
            </a:r>
            <a:r>
              <a:rPr sz="2280" dirty="0">
                <a:latin typeface="Calibri"/>
                <a:cs typeface="Calibri"/>
              </a:rPr>
              <a:t>procedures</a:t>
            </a:r>
            <a:r>
              <a:rPr sz="2280" spc="491" dirty="0">
                <a:latin typeface="Calibri"/>
                <a:cs typeface="Calibri"/>
              </a:rPr>
              <a:t> </a:t>
            </a:r>
            <a:r>
              <a:rPr sz="2280" spc="-30" dirty="0">
                <a:latin typeface="Calibri"/>
                <a:cs typeface="Calibri"/>
              </a:rPr>
              <a:t>and 	</a:t>
            </a:r>
            <a:r>
              <a:rPr sz="2280" dirty="0">
                <a:latin typeface="Calibri"/>
                <a:cs typeface="Calibri"/>
              </a:rPr>
              <a:t>guidelines,</a:t>
            </a:r>
            <a:r>
              <a:rPr sz="2280" spc="456" dirty="0">
                <a:latin typeface="Calibri"/>
                <a:cs typeface="Calibri"/>
              </a:rPr>
              <a:t> </a:t>
            </a:r>
            <a:r>
              <a:rPr sz="2280" dirty="0">
                <a:latin typeface="Calibri"/>
                <a:cs typeface="Calibri"/>
              </a:rPr>
              <a:t>and</a:t>
            </a:r>
            <a:r>
              <a:rPr sz="2280" spc="474" dirty="0">
                <a:latin typeface="Calibri"/>
                <a:cs typeface="Calibri"/>
              </a:rPr>
              <a:t> </a:t>
            </a:r>
            <a:r>
              <a:rPr sz="2280" dirty="0">
                <a:latin typeface="Calibri"/>
                <a:cs typeface="Calibri"/>
              </a:rPr>
              <a:t>it</a:t>
            </a:r>
            <a:r>
              <a:rPr sz="2280" spc="456" dirty="0">
                <a:latin typeface="Calibri"/>
                <a:cs typeface="Calibri"/>
              </a:rPr>
              <a:t> </a:t>
            </a:r>
            <a:r>
              <a:rPr sz="2280" dirty="0">
                <a:latin typeface="Calibri"/>
                <a:cs typeface="Calibri"/>
              </a:rPr>
              <a:t>adds</a:t>
            </a:r>
            <a:r>
              <a:rPr sz="2280" spc="462" dirty="0">
                <a:latin typeface="Calibri"/>
                <a:cs typeface="Calibri"/>
              </a:rPr>
              <a:t> </a:t>
            </a:r>
            <a:r>
              <a:rPr sz="2280" dirty="0">
                <a:latin typeface="Calibri"/>
                <a:cs typeface="Calibri"/>
              </a:rPr>
              <a:t>work</a:t>
            </a:r>
            <a:r>
              <a:rPr sz="2280" spc="432" dirty="0">
                <a:latin typeface="Calibri"/>
                <a:cs typeface="Calibri"/>
              </a:rPr>
              <a:t> </a:t>
            </a:r>
            <a:r>
              <a:rPr sz="2280" dirty="0">
                <a:latin typeface="Calibri"/>
                <a:cs typeface="Calibri"/>
              </a:rPr>
              <a:t>materials,</a:t>
            </a:r>
            <a:r>
              <a:rPr sz="2280" spc="444" dirty="0">
                <a:latin typeface="Calibri"/>
                <a:cs typeface="Calibri"/>
              </a:rPr>
              <a:t> </a:t>
            </a:r>
            <a:r>
              <a:rPr sz="2280" dirty="0">
                <a:latin typeface="Calibri"/>
                <a:cs typeface="Calibri"/>
              </a:rPr>
              <a:t>measurements,</a:t>
            </a:r>
            <a:r>
              <a:rPr sz="2280" spc="462" dirty="0">
                <a:latin typeface="Calibri"/>
                <a:cs typeface="Calibri"/>
              </a:rPr>
              <a:t> </a:t>
            </a:r>
            <a:r>
              <a:rPr sz="2280" dirty="0">
                <a:latin typeface="Calibri"/>
                <a:cs typeface="Calibri"/>
              </a:rPr>
              <a:t>and</a:t>
            </a:r>
            <a:r>
              <a:rPr sz="2280" spc="456" dirty="0">
                <a:latin typeface="Calibri"/>
                <a:cs typeface="Calibri"/>
              </a:rPr>
              <a:t> </a:t>
            </a:r>
            <a:r>
              <a:rPr sz="2280" dirty="0">
                <a:latin typeface="Calibri"/>
                <a:cs typeface="Calibri"/>
              </a:rPr>
              <a:t>other</a:t>
            </a:r>
            <a:r>
              <a:rPr sz="2280" spc="450" dirty="0">
                <a:latin typeface="Calibri"/>
                <a:cs typeface="Calibri"/>
              </a:rPr>
              <a:t> </a:t>
            </a:r>
            <a:r>
              <a:rPr sz="2280" dirty="0">
                <a:latin typeface="Calibri"/>
                <a:cs typeface="Calibri"/>
              </a:rPr>
              <a:t>information</a:t>
            </a:r>
            <a:r>
              <a:rPr sz="2280" spc="444" dirty="0">
                <a:latin typeface="Calibri"/>
                <a:cs typeface="Calibri"/>
              </a:rPr>
              <a:t> </a:t>
            </a:r>
            <a:r>
              <a:rPr sz="2280" spc="-30" dirty="0">
                <a:latin typeface="Calibri"/>
                <a:cs typeface="Calibri"/>
              </a:rPr>
              <a:t>to 	</a:t>
            </a:r>
            <a:r>
              <a:rPr sz="2280" dirty="0">
                <a:latin typeface="Calibri"/>
                <a:cs typeface="Calibri"/>
              </a:rPr>
              <a:t>improve</a:t>
            </a:r>
            <a:r>
              <a:rPr sz="2280" spc="-66" dirty="0">
                <a:latin typeface="Calibri"/>
                <a:cs typeface="Calibri"/>
              </a:rPr>
              <a:t> </a:t>
            </a:r>
            <a:r>
              <a:rPr sz="2280" dirty="0">
                <a:latin typeface="Calibri"/>
                <a:cs typeface="Calibri"/>
              </a:rPr>
              <a:t>the</a:t>
            </a:r>
            <a:r>
              <a:rPr sz="2280" spc="-102" dirty="0">
                <a:latin typeface="Calibri"/>
                <a:cs typeface="Calibri"/>
              </a:rPr>
              <a:t> </a:t>
            </a:r>
            <a:r>
              <a:rPr sz="2280" spc="-12" dirty="0">
                <a:latin typeface="Calibri"/>
                <a:cs typeface="Calibri"/>
              </a:rPr>
              <a:t>organization's</a:t>
            </a:r>
            <a:r>
              <a:rPr sz="2280" spc="-66" dirty="0">
                <a:latin typeface="Calibri"/>
                <a:cs typeface="Calibri"/>
              </a:rPr>
              <a:t> </a:t>
            </a:r>
            <a:r>
              <a:rPr sz="2280" spc="-12" dirty="0">
                <a:latin typeface="Calibri"/>
                <a:cs typeface="Calibri"/>
              </a:rPr>
              <a:t>processes.</a:t>
            </a:r>
            <a:endParaRPr sz="2280">
              <a:latin typeface="Calibri"/>
              <a:cs typeface="Calibri"/>
            </a:endParaRPr>
          </a:p>
          <a:p>
            <a:pPr marL="15240" algn="just">
              <a:spcBef>
                <a:spcPts val="546"/>
              </a:spcBef>
            </a:pPr>
            <a:r>
              <a:rPr sz="2280" b="1" dirty="0">
                <a:latin typeface="Calibri"/>
                <a:cs typeface="Calibri"/>
              </a:rPr>
              <a:t>Level</a:t>
            </a:r>
            <a:r>
              <a:rPr sz="2280" b="1" spc="-42" dirty="0">
                <a:latin typeface="Calibri"/>
                <a:cs typeface="Calibri"/>
              </a:rPr>
              <a:t> </a:t>
            </a:r>
            <a:r>
              <a:rPr sz="2280" b="1" dirty="0">
                <a:latin typeface="Calibri"/>
                <a:cs typeface="Calibri"/>
              </a:rPr>
              <a:t>4:</a:t>
            </a:r>
            <a:r>
              <a:rPr sz="2280" b="1" spc="-36" dirty="0">
                <a:latin typeface="Calibri"/>
                <a:cs typeface="Calibri"/>
              </a:rPr>
              <a:t> </a:t>
            </a:r>
            <a:r>
              <a:rPr sz="2280" b="1" i="1" spc="-12" dirty="0">
                <a:solidFill>
                  <a:srgbClr val="C00000"/>
                </a:solidFill>
                <a:latin typeface="Calibri"/>
                <a:cs typeface="Calibri"/>
              </a:rPr>
              <a:t>Quantitatively</a:t>
            </a:r>
            <a:r>
              <a:rPr sz="2280" b="1" i="1" spc="-30" dirty="0">
                <a:solidFill>
                  <a:srgbClr val="C00000"/>
                </a:solidFill>
                <a:latin typeface="Calibri"/>
                <a:cs typeface="Calibri"/>
              </a:rPr>
              <a:t> </a:t>
            </a:r>
            <a:r>
              <a:rPr sz="2280" b="1" i="1" spc="-12" dirty="0">
                <a:solidFill>
                  <a:srgbClr val="C00000"/>
                </a:solidFill>
                <a:latin typeface="Calibri"/>
                <a:cs typeface="Calibri"/>
              </a:rPr>
              <a:t>managed</a:t>
            </a:r>
            <a:endParaRPr sz="2280">
              <a:latin typeface="Calibri"/>
              <a:cs typeface="Calibri"/>
            </a:endParaRPr>
          </a:p>
          <a:p>
            <a:pPr marL="423672" indent="-408432" algn="just">
              <a:spcBef>
                <a:spcPts val="546"/>
              </a:spcBef>
              <a:buFont typeface="Arial MT"/>
              <a:buChar char="•"/>
              <a:tabLst>
                <a:tab pos="423672" algn="l"/>
              </a:tabLst>
            </a:pPr>
            <a:r>
              <a:rPr sz="2280" dirty="0">
                <a:latin typeface="Calibri"/>
                <a:cs typeface="Calibri"/>
              </a:rPr>
              <a:t>All</a:t>
            </a:r>
            <a:r>
              <a:rPr sz="2280" spc="-66" dirty="0">
                <a:latin typeface="Calibri"/>
                <a:cs typeface="Calibri"/>
              </a:rPr>
              <a:t> </a:t>
            </a:r>
            <a:r>
              <a:rPr sz="2280" dirty="0">
                <a:latin typeface="Calibri"/>
                <a:cs typeface="Calibri"/>
              </a:rPr>
              <a:t>capability</a:t>
            </a:r>
            <a:r>
              <a:rPr sz="2280" spc="-54" dirty="0">
                <a:latin typeface="Calibri"/>
                <a:cs typeface="Calibri"/>
              </a:rPr>
              <a:t> </a:t>
            </a:r>
            <a:r>
              <a:rPr sz="2280" dirty="0">
                <a:latin typeface="Calibri"/>
                <a:cs typeface="Calibri"/>
              </a:rPr>
              <a:t>level</a:t>
            </a:r>
            <a:r>
              <a:rPr sz="2280" spc="-42" dirty="0">
                <a:latin typeface="Calibri"/>
                <a:cs typeface="Calibri"/>
              </a:rPr>
              <a:t> </a:t>
            </a:r>
            <a:r>
              <a:rPr sz="2280" dirty="0">
                <a:latin typeface="Calibri"/>
                <a:cs typeface="Calibri"/>
              </a:rPr>
              <a:t>3</a:t>
            </a:r>
            <a:r>
              <a:rPr sz="2280" spc="-72" dirty="0">
                <a:latin typeface="Calibri"/>
                <a:cs typeface="Calibri"/>
              </a:rPr>
              <a:t> </a:t>
            </a:r>
            <a:r>
              <a:rPr sz="2280" dirty="0">
                <a:latin typeface="Calibri"/>
                <a:cs typeface="Calibri"/>
              </a:rPr>
              <a:t>criteria</a:t>
            </a:r>
            <a:r>
              <a:rPr sz="2280" spc="-48" dirty="0">
                <a:latin typeface="Calibri"/>
                <a:cs typeface="Calibri"/>
              </a:rPr>
              <a:t> </a:t>
            </a:r>
            <a:r>
              <a:rPr sz="2280" dirty="0">
                <a:latin typeface="Calibri"/>
                <a:cs typeface="Calibri"/>
              </a:rPr>
              <a:t>have</a:t>
            </a:r>
            <a:r>
              <a:rPr sz="2280" spc="-48" dirty="0">
                <a:latin typeface="Calibri"/>
                <a:cs typeface="Calibri"/>
              </a:rPr>
              <a:t> </a:t>
            </a:r>
            <a:r>
              <a:rPr sz="2280" dirty="0">
                <a:latin typeface="Calibri"/>
                <a:cs typeface="Calibri"/>
              </a:rPr>
              <a:t>been</a:t>
            </a:r>
            <a:r>
              <a:rPr sz="2280" spc="-54" dirty="0">
                <a:latin typeface="Calibri"/>
                <a:cs typeface="Calibri"/>
              </a:rPr>
              <a:t> </a:t>
            </a:r>
            <a:r>
              <a:rPr sz="2280" spc="-12" dirty="0">
                <a:latin typeface="Calibri"/>
                <a:cs typeface="Calibri"/>
              </a:rPr>
              <a:t>achieved.</a:t>
            </a:r>
            <a:endParaRPr sz="2280">
              <a:latin typeface="Calibri"/>
              <a:cs typeface="Calibri"/>
            </a:endParaRPr>
          </a:p>
          <a:p>
            <a:pPr marL="425958" marR="7620" indent="-411480">
              <a:spcBef>
                <a:spcPts val="551"/>
              </a:spcBef>
              <a:buFont typeface="Arial MT"/>
              <a:buChar char="•"/>
              <a:tabLst>
                <a:tab pos="425958" algn="l"/>
              </a:tabLst>
            </a:pPr>
            <a:r>
              <a:rPr sz="2280" dirty="0">
                <a:latin typeface="Calibri"/>
                <a:cs typeface="Calibri"/>
              </a:rPr>
              <a:t>The</a:t>
            </a:r>
            <a:r>
              <a:rPr sz="2280" spc="312" dirty="0">
                <a:latin typeface="Calibri"/>
                <a:cs typeface="Calibri"/>
              </a:rPr>
              <a:t> </a:t>
            </a:r>
            <a:r>
              <a:rPr sz="2280" dirty="0">
                <a:latin typeface="Calibri"/>
                <a:cs typeface="Calibri"/>
              </a:rPr>
              <a:t>process</a:t>
            </a:r>
            <a:r>
              <a:rPr sz="2280" spc="312" dirty="0">
                <a:latin typeface="Calibri"/>
                <a:cs typeface="Calibri"/>
              </a:rPr>
              <a:t> </a:t>
            </a:r>
            <a:r>
              <a:rPr sz="2280" dirty="0">
                <a:latin typeface="Calibri"/>
                <a:cs typeface="Calibri"/>
              </a:rPr>
              <a:t>area</a:t>
            </a:r>
            <a:r>
              <a:rPr sz="2280" spc="318" dirty="0">
                <a:latin typeface="Calibri"/>
                <a:cs typeface="Calibri"/>
              </a:rPr>
              <a:t> </a:t>
            </a:r>
            <a:r>
              <a:rPr sz="2280" dirty="0">
                <a:latin typeface="Calibri"/>
                <a:cs typeface="Calibri"/>
              </a:rPr>
              <a:t>is</a:t>
            </a:r>
            <a:r>
              <a:rPr sz="2280" spc="305" dirty="0">
                <a:latin typeface="Calibri"/>
                <a:cs typeface="Calibri"/>
              </a:rPr>
              <a:t> </a:t>
            </a:r>
            <a:r>
              <a:rPr sz="2280" dirty="0">
                <a:latin typeface="Calibri"/>
                <a:cs typeface="Calibri"/>
              </a:rPr>
              <a:t>controlled</a:t>
            </a:r>
            <a:r>
              <a:rPr sz="2280" spc="312" dirty="0">
                <a:latin typeface="Calibri"/>
                <a:cs typeface="Calibri"/>
              </a:rPr>
              <a:t> </a:t>
            </a:r>
            <a:r>
              <a:rPr sz="2280" dirty="0">
                <a:latin typeface="Calibri"/>
                <a:cs typeface="Calibri"/>
              </a:rPr>
              <a:t>and</a:t>
            </a:r>
            <a:r>
              <a:rPr sz="2280" spc="312" dirty="0">
                <a:latin typeface="Calibri"/>
                <a:cs typeface="Calibri"/>
              </a:rPr>
              <a:t> </a:t>
            </a:r>
            <a:r>
              <a:rPr sz="2280" dirty="0">
                <a:latin typeface="Calibri"/>
                <a:cs typeface="Calibri"/>
              </a:rPr>
              <a:t>improved</a:t>
            </a:r>
            <a:r>
              <a:rPr sz="2280" spc="312" dirty="0">
                <a:latin typeface="Calibri"/>
                <a:cs typeface="Calibri"/>
              </a:rPr>
              <a:t> </a:t>
            </a:r>
            <a:r>
              <a:rPr sz="2280" dirty="0">
                <a:latin typeface="Calibri"/>
                <a:cs typeface="Calibri"/>
              </a:rPr>
              <a:t>using</a:t>
            </a:r>
            <a:r>
              <a:rPr sz="2280" spc="300" dirty="0">
                <a:latin typeface="Calibri"/>
                <a:cs typeface="Calibri"/>
              </a:rPr>
              <a:t> </a:t>
            </a:r>
            <a:r>
              <a:rPr sz="2280" dirty="0">
                <a:latin typeface="Calibri"/>
                <a:cs typeface="Calibri"/>
              </a:rPr>
              <a:t>measurement</a:t>
            </a:r>
            <a:r>
              <a:rPr sz="2280" spc="318" dirty="0">
                <a:latin typeface="Calibri"/>
                <a:cs typeface="Calibri"/>
              </a:rPr>
              <a:t> </a:t>
            </a:r>
            <a:r>
              <a:rPr sz="2280" dirty="0">
                <a:latin typeface="Calibri"/>
                <a:cs typeface="Calibri"/>
              </a:rPr>
              <a:t>and</a:t>
            </a:r>
            <a:r>
              <a:rPr sz="2280" spc="312" dirty="0">
                <a:latin typeface="Calibri"/>
                <a:cs typeface="Calibri"/>
              </a:rPr>
              <a:t> </a:t>
            </a:r>
            <a:r>
              <a:rPr sz="2280" spc="-12" dirty="0">
                <a:latin typeface="Calibri"/>
                <a:cs typeface="Calibri"/>
              </a:rPr>
              <a:t>quantitative assessment.</a:t>
            </a:r>
            <a:endParaRPr sz="2280">
              <a:latin typeface="Calibri"/>
              <a:cs typeface="Calibri"/>
            </a:endParaRPr>
          </a:p>
          <a:p>
            <a:pPr marL="425958" marR="6096" indent="-411480">
              <a:spcBef>
                <a:spcPts val="546"/>
              </a:spcBef>
              <a:buFont typeface="Arial MT"/>
              <a:buChar char="•"/>
              <a:tabLst>
                <a:tab pos="425958" algn="l"/>
              </a:tabLst>
            </a:pPr>
            <a:r>
              <a:rPr sz="2280" dirty="0">
                <a:latin typeface="Calibri"/>
                <a:cs typeface="Calibri"/>
              </a:rPr>
              <a:t>We</a:t>
            </a:r>
            <a:r>
              <a:rPr sz="2280" spc="150" dirty="0">
                <a:latin typeface="Calibri"/>
                <a:cs typeface="Calibri"/>
              </a:rPr>
              <a:t> </a:t>
            </a:r>
            <a:r>
              <a:rPr sz="2280" dirty="0">
                <a:latin typeface="Calibri"/>
                <a:cs typeface="Calibri"/>
              </a:rPr>
              <a:t>set</a:t>
            </a:r>
            <a:r>
              <a:rPr sz="2280" spc="144" dirty="0">
                <a:latin typeface="Calibri"/>
                <a:cs typeface="Calibri"/>
              </a:rPr>
              <a:t> </a:t>
            </a:r>
            <a:r>
              <a:rPr sz="2280" dirty="0">
                <a:latin typeface="Calibri"/>
                <a:cs typeface="Calibri"/>
              </a:rPr>
              <a:t>specific</a:t>
            </a:r>
            <a:r>
              <a:rPr sz="2280" spc="150" dirty="0">
                <a:latin typeface="Calibri"/>
                <a:cs typeface="Calibri"/>
              </a:rPr>
              <a:t> </a:t>
            </a:r>
            <a:r>
              <a:rPr sz="2280" dirty="0">
                <a:latin typeface="Calibri"/>
                <a:cs typeface="Calibri"/>
              </a:rPr>
              <a:t>goals</a:t>
            </a:r>
            <a:r>
              <a:rPr sz="2280" spc="150" dirty="0">
                <a:latin typeface="Calibri"/>
                <a:cs typeface="Calibri"/>
              </a:rPr>
              <a:t> </a:t>
            </a:r>
            <a:r>
              <a:rPr sz="2280" dirty="0">
                <a:latin typeface="Calibri"/>
                <a:cs typeface="Calibri"/>
              </a:rPr>
              <a:t>for</a:t>
            </a:r>
            <a:r>
              <a:rPr sz="2280" spc="137" dirty="0">
                <a:latin typeface="Calibri"/>
                <a:cs typeface="Calibri"/>
              </a:rPr>
              <a:t> </a:t>
            </a:r>
            <a:r>
              <a:rPr sz="2280" dirty="0">
                <a:latin typeface="Calibri"/>
                <a:cs typeface="Calibri"/>
              </a:rPr>
              <a:t>quality</a:t>
            </a:r>
            <a:r>
              <a:rPr sz="2280" spc="156" dirty="0">
                <a:latin typeface="Calibri"/>
                <a:cs typeface="Calibri"/>
              </a:rPr>
              <a:t> </a:t>
            </a:r>
            <a:r>
              <a:rPr sz="2280" dirty="0">
                <a:latin typeface="Calibri"/>
                <a:cs typeface="Calibri"/>
              </a:rPr>
              <a:t>and</a:t>
            </a:r>
            <a:r>
              <a:rPr sz="2280" spc="156" dirty="0">
                <a:latin typeface="Calibri"/>
                <a:cs typeface="Calibri"/>
              </a:rPr>
              <a:t> </a:t>
            </a:r>
            <a:r>
              <a:rPr sz="2280" dirty="0">
                <a:latin typeface="Calibri"/>
                <a:cs typeface="Calibri"/>
              </a:rPr>
              <a:t>how</a:t>
            </a:r>
            <a:r>
              <a:rPr sz="2280" spc="144" dirty="0">
                <a:latin typeface="Calibri"/>
                <a:cs typeface="Calibri"/>
              </a:rPr>
              <a:t> </a:t>
            </a:r>
            <a:r>
              <a:rPr sz="2280" dirty="0">
                <a:latin typeface="Calibri"/>
                <a:cs typeface="Calibri"/>
              </a:rPr>
              <a:t>well</a:t>
            </a:r>
            <a:r>
              <a:rPr sz="2280" spc="150" dirty="0">
                <a:latin typeface="Calibri"/>
                <a:cs typeface="Calibri"/>
              </a:rPr>
              <a:t> </a:t>
            </a:r>
            <a:r>
              <a:rPr sz="2280" dirty="0">
                <a:latin typeface="Calibri"/>
                <a:cs typeface="Calibri"/>
              </a:rPr>
              <a:t>the</a:t>
            </a:r>
            <a:r>
              <a:rPr sz="2280" spc="156" dirty="0">
                <a:latin typeface="Calibri"/>
                <a:cs typeface="Calibri"/>
              </a:rPr>
              <a:t> </a:t>
            </a:r>
            <a:r>
              <a:rPr sz="2280" dirty="0">
                <a:latin typeface="Calibri"/>
                <a:cs typeface="Calibri"/>
              </a:rPr>
              <a:t>process</a:t>
            </a:r>
            <a:r>
              <a:rPr sz="2280" spc="150" dirty="0">
                <a:latin typeface="Calibri"/>
                <a:cs typeface="Calibri"/>
              </a:rPr>
              <a:t> </a:t>
            </a:r>
            <a:r>
              <a:rPr sz="2280" dirty="0">
                <a:latin typeface="Calibri"/>
                <a:cs typeface="Calibri"/>
              </a:rPr>
              <a:t>works,</a:t>
            </a:r>
            <a:r>
              <a:rPr sz="2280" spc="144" dirty="0">
                <a:latin typeface="Calibri"/>
                <a:cs typeface="Calibri"/>
              </a:rPr>
              <a:t> </a:t>
            </a:r>
            <a:r>
              <a:rPr sz="2280" dirty="0">
                <a:latin typeface="Calibri"/>
                <a:cs typeface="Calibri"/>
              </a:rPr>
              <a:t>and</a:t>
            </a:r>
            <a:r>
              <a:rPr sz="2280" spc="156" dirty="0">
                <a:latin typeface="Calibri"/>
                <a:cs typeface="Calibri"/>
              </a:rPr>
              <a:t> </a:t>
            </a:r>
            <a:r>
              <a:rPr sz="2280" dirty="0">
                <a:latin typeface="Calibri"/>
                <a:cs typeface="Calibri"/>
              </a:rPr>
              <a:t>we</a:t>
            </a:r>
            <a:r>
              <a:rPr sz="2280" spc="168" dirty="0">
                <a:latin typeface="Calibri"/>
                <a:cs typeface="Calibri"/>
              </a:rPr>
              <a:t> </a:t>
            </a:r>
            <a:r>
              <a:rPr sz="2280" dirty="0">
                <a:latin typeface="Calibri"/>
                <a:cs typeface="Calibri"/>
              </a:rPr>
              <a:t>use</a:t>
            </a:r>
            <a:r>
              <a:rPr sz="2280" spc="156" dirty="0">
                <a:latin typeface="Calibri"/>
                <a:cs typeface="Calibri"/>
              </a:rPr>
              <a:t> </a:t>
            </a:r>
            <a:r>
              <a:rPr sz="2280" spc="-12" dirty="0">
                <a:latin typeface="Calibri"/>
                <a:cs typeface="Calibri"/>
              </a:rPr>
              <a:t>these </a:t>
            </a:r>
            <a:r>
              <a:rPr sz="2280" dirty="0">
                <a:latin typeface="Calibri"/>
                <a:cs typeface="Calibri"/>
              </a:rPr>
              <a:t>goals</a:t>
            </a:r>
            <a:r>
              <a:rPr sz="2280" spc="-60" dirty="0">
                <a:latin typeface="Calibri"/>
                <a:cs typeface="Calibri"/>
              </a:rPr>
              <a:t> </a:t>
            </a:r>
            <a:r>
              <a:rPr sz="2280" dirty="0">
                <a:latin typeface="Calibri"/>
                <a:cs typeface="Calibri"/>
              </a:rPr>
              <a:t>to</a:t>
            </a:r>
            <a:r>
              <a:rPr sz="2280" spc="-66" dirty="0">
                <a:latin typeface="Calibri"/>
                <a:cs typeface="Calibri"/>
              </a:rPr>
              <a:t> </a:t>
            </a:r>
            <a:r>
              <a:rPr sz="2280" dirty="0">
                <a:latin typeface="Calibri"/>
                <a:cs typeface="Calibri"/>
              </a:rPr>
              <a:t>manage</a:t>
            </a:r>
            <a:r>
              <a:rPr sz="2280" spc="-48" dirty="0">
                <a:latin typeface="Calibri"/>
                <a:cs typeface="Calibri"/>
              </a:rPr>
              <a:t> </a:t>
            </a:r>
            <a:r>
              <a:rPr sz="2280" dirty="0">
                <a:latin typeface="Calibri"/>
                <a:cs typeface="Calibri"/>
              </a:rPr>
              <a:t>the</a:t>
            </a:r>
            <a:r>
              <a:rPr sz="2280" spc="-66" dirty="0">
                <a:latin typeface="Calibri"/>
                <a:cs typeface="Calibri"/>
              </a:rPr>
              <a:t> </a:t>
            </a:r>
            <a:r>
              <a:rPr sz="2280" spc="-12" dirty="0">
                <a:latin typeface="Calibri"/>
                <a:cs typeface="Calibri"/>
              </a:rPr>
              <a:t>process..</a:t>
            </a:r>
            <a:endParaRPr sz="2280">
              <a:latin typeface="Calibri"/>
              <a:cs typeface="Calibri"/>
            </a:endParaRPr>
          </a:p>
          <a:p>
            <a:pPr marL="15240">
              <a:spcBef>
                <a:spcPts val="551"/>
              </a:spcBef>
            </a:pPr>
            <a:r>
              <a:rPr sz="2280" b="1" dirty="0">
                <a:latin typeface="Calibri"/>
                <a:cs typeface="Calibri"/>
              </a:rPr>
              <a:t>Level</a:t>
            </a:r>
            <a:r>
              <a:rPr sz="2280" b="1" spc="-60" dirty="0">
                <a:latin typeface="Calibri"/>
                <a:cs typeface="Calibri"/>
              </a:rPr>
              <a:t> </a:t>
            </a:r>
            <a:r>
              <a:rPr sz="2280" b="1" dirty="0">
                <a:latin typeface="Calibri"/>
                <a:cs typeface="Calibri"/>
              </a:rPr>
              <a:t>5:</a:t>
            </a:r>
            <a:r>
              <a:rPr sz="2280" b="1" spc="-66" dirty="0">
                <a:latin typeface="Calibri"/>
                <a:cs typeface="Calibri"/>
              </a:rPr>
              <a:t> </a:t>
            </a:r>
            <a:r>
              <a:rPr sz="2280" b="1" i="1" spc="-12" dirty="0">
                <a:solidFill>
                  <a:srgbClr val="C00000"/>
                </a:solidFill>
                <a:latin typeface="Calibri"/>
                <a:cs typeface="Calibri"/>
              </a:rPr>
              <a:t>Optimized</a:t>
            </a:r>
            <a:endParaRPr sz="2280">
              <a:latin typeface="Calibri"/>
              <a:cs typeface="Calibri"/>
            </a:endParaRPr>
          </a:p>
          <a:p>
            <a:pPr marL="425958" indent="-410718">
              <a:spcBef>
                <a:spcPts val="546"/>
              </a:spcBef>
              <a:buFont typeface="Arial MT"/>
              <a:buChar char="•"/>
              <a:tabLst>
                <a:tab pos="425958" algn="l"/>
              </a:tabLst>
            </a:pPr>
            <a:r>
              <a:rPr sz="2280" dirty="0">
                <a:latin typeface="Calibri"/>
                <a:cs typeface="Calibri"/>
              </a:rPr>
              <a:t>All</a:t>
            </a:r>
            <a:r>
              <a:rPr sz="2280" spc="-66" dirty="0">
                <a:latin typeface="Calibri"/>
                <a:cs typeface="Calibri"/>
              </a:rPr>
              <a:t> </a:t>
            </a:r>
            <a:r>
              <a:rPr sz="2280" dirty="0">
                <a:latin typeface="Calibri"/>
                <a:cs typeface="Calibri"/>
              </a:rPr>
              <a:t>capability</a:t>
            </a:r>
            <a:r>
              <a:rPr sz="2280" spc="-54" dirty="0">
                <a:latin typeface="Calibri"/>
                <a:cs typeface="Calibri"/>
              </a:rPr>
              <a:t> </a:t>
            </a:r>
            <a:r>
              <a:rPr sz="2280" dirty="0">
                <a:latin typeface="Calibri"/>
                <a:cs typeface="Calibri"/>
              </a:rPr>
              <a:t>level</a:t>
            </a:r>
            <a:r>
              <a:rPr sz="2280" spc="-42" dirty="0">
                <a:latin typeface="Calibri"/>
                <a:cs typeface="Calibri"/>
              </a:rPr>
              <a:t> </a:t>
            </a:r>
            <a:r>
              <a:rPr sz="2280" dirty="0">
                <a:latin typeface="Calibri"/>
                <a:cs typeface="Calibri"/>
              </a:rPr>
              <a:t>4</a:t>
            </a:r>
            <a:r>
              <a:rPr sz="2280" spc="-72" dirty="0">
                <a:latin typeface="Calibri"/>
                <a:cs typeface="Calibri"/>
              </a:rPr>
              <a:t> </a:t>
            </a:r>
            <a:r>
              <a:rPr sz="2280" dirty="0">
                <a:latin typeface="Calibri"/>
                <a:cs typeface="Calibri"/>
              </a:rPr>
              <a:t>criteria</a:t>
            </a:r>
            <a:r>
              <a:rPr sz="2280" spc="-48" dirty="0">
                <a:latin typeface="Calibri"/>
                <a:cs typeface="Calibri"/>
              </a:rPr>
              <a:t> </a:t>
            </a:r>
            <a:r>
              <a:rPr sz="2280" dirty="0">
                <a:latin typeface="Calibri"/>
                <a:cs typeface="Calibri"/>
              </a:rPr>
              <a:t>have</a:t>
            </a:r>
            <a:r>
              <a:rPr sz="2280" spc="-48" dirty="0">
                <a:latin typeface="Calibri"/>
                <a:cs typeface="Calibri"/>
              </a:rPr>
              <a:t> </a:t>
            </a:r>
            <a:r>
              <a:rPr sz="2280" dirty="0">
                <a:latin typeface="Calibri"/>
                <a:cs typeface="Calibri"/>
              </a:rPr>
              <a:t>been</a:t>
            </a:r>
            <a:r>
              <a:rPr sz="2280" spc="-54" dirty="0">
                <a:latin typeface="Calibri"/>
                <a:cs typeface="Calibri"/>
              </a:rPr>
              <a:t> </a:t>
            </a:r>
            <a:r>
              <a:rPr sz="2280" spc="-12" dirty="0">
                <a:latin typeface="Calibri"/>
                <a:cs typeface="Calibri"/>
              </a:rPr>
              <a:t>achieved.</a:t>
            </a:r>
            <a:endParaRPr sz="2280">
              <a:latin typeface="Calibri"/>
              <a:cs typeface="Calibri"/>
            </a:endParaRPr>
          </a:p>
          <a:p>
            <a:pPr marL="425958" indent="-410718">
              <a:spcBef>
                <a:spcPts val="551"/>
              </a:spcBef>
              <a:buFont typeface="Arial MT"/>
              <a:buChar char="•"/>
              <a:tabLst>
                <a:tab pos="425958" algn="l"/>
              </a:tabLst>
            </a:pPr>
            <a:r>
              <a:rPr sz="2280" dirty="0">
                <a:latin typeface="Calibri"/>
                <a:cs typeface="Calibri"/>
              </a:rPr>
              <a:t>We</a:t>
            </a:r>
            <a:r>
              <a:rPr sz="2280" spc="-36" dirty="0">
                <a:latin typeface="Calibri"/>
                <a:cs typeface="Calibri"/>
              </a:rPr>
              <a:t> </a:t>
            </a:r>
            <a:r>
              <a:rPr sz="2280" dirty="0">
                <a:latin typeface="Calibri"/>
                <a:cs typeface="Calibri"/>
              </a:rPr>
              <a:t>adjust</a:t>
            </a:r>
            <a:r>
              <a:rPr sz="2280" spc="-30" dirty="0">
                <a:latin typeface="Calibri"/>
                <a:cs typeface="Calibri"/>
              </a:rPr>
              <a:t> </a:t>
            </a:r>
            <a:r>
              <a:rPr sz="2280" dirty="0">
                <a:latin typeface="Calibri"/>
                <a:cs typeface="Calibri"/>
              </a:rPr>
              <a:t>and</a:t>
            </a:r>
            <a:r>
              <a:rPr sz="2280" spc="-30" dirty="0">
                <a:latin typeface="Calibri"/>
                <a:cs typeface="Calibri"/>
              </a:rPr>
              <a:t> </a:t>
            </a:r>
            <a:r>
              <a:rPr sz="2280" dirty="0">
                <a:latin typeface="Calibri"/>
                <a:cs typeface="Calibri"/>
              </a:rPr>
              <a:t>improve</a:t>
            </a:r>
            <a:r>
              <a:rPr sz="2280" spc="-30" dirty="0">
                <a:latin typeface="Calibri"/>
                <a:cs typeface="Calibri"/>
              </a:rPr>
              <a:t> </a:t>
            </a:r>
            <a:r>
              <a:rPr sz="2280" dirty="0">
                <a:latin typeface="Calibri"/>
                <a:cs typeface="Calibri"/>
              </a:rPr>
              <a:t>the</a:t>
            </a:r>
            <a:r>
              <a:rPr sz="2280" spc="-30" dirty="0">
                <a:latin typeface="Calibri"/>
                <a:cs typeface="Calibri"/>
              </a:rPr>
              <a:t> </a:t>
            </a:r>
            <a:r>
              <a:rPr sz="2280" dirty="0">
                <a:latin typeface="Calibri"/>
                <a:cs typeface="Calibri"/>
              </a:rPr>
              <a:t>process</a:t>
            </a:r>
            <a:r>
              <a:rPr sz="2280" spc="-24" dirty="0">
                <a:latin typeface="Calibri"/>
                <a:cs typeface="Calibri"/>
              </a:rPr>
              <a:t> </a:t>
            </a:r>
            <a:r>
              <a:rPr sz="2280" dirty="0">
                <a:latin typeface="Calibri"/>
                <a:cs typeface="Calibri"/>
              </a:rPr>
              <a:t>area</a:t>
            </a:r>
            <a:r>
              <a:rPr sz="2280" spc="-24" dirty="0">
                <a:latin typeface="Calibri"/>
                <a:cs typeface="Calibri"/>
              </a:rPr>
              <a:t> </a:t>
            </a:r>
            <a:r>
              <a:rPr sz="2280" dirty="0">
                <a:latin typeface="Calibri"/>
                <a:cs typeface="Calibri"/>
              </a:rPr>
              <a:t>based</a:t>
            </a:r>
            <a:r>
              <a:rPr sz="2280" spc="-42" dirty="0">
                <a:latin typeface="Calibri"/>
                <a:cs typeface="Calibri"/>
              </a:rPr>
              <a:t> </a:t>
            </a:r>
            <a:r>
              <a:rPr sz="2280" dirty="0">
                <a:latin typeface="Calibri"/>
                <a:cs typeface="Calibri"/>
              </a:rPr>
              <a:t>on</a:t>
            </a:r>
            <a:r>
              <a:rPr sz="2280" spc="-36" dirty="0">
                <a:latin typeface="Calibri"/>
                <a:cs typeface="Calibri"/>
              </a:rPr>
              <a:t> </a:t>
            </a:r>
            <a:r>
              <a:rPr sz="2280" dirty="0">
                <a:latin typeface="Calibri"/>
                <a:cs typeface="Calibri"/>
              </a:rPr>
              <a:t>numbers</a:t>
            </a:r>
            <a:r>
              <a:rPr sz="2280" spc="-30" dirty="0">
                <a:latin typeface="Calibri"/>
                <a:cs typeface="Calibri"/>
              </a:rPr>
              <a:t> </a:t>
            </a:r>
            <a:r>
              <a:rPr sz="2280" dirty="0">
                <a:latin typeface="Calibri"/>
                <a:cs typeface="Calibri"/>
              </a:rPr>
              <a:t>and</a:t>
            </a:r>
            <a:r>
              <a:rPr sz="2280" spc="-30" dirty="0">
                <a:latin typeface="Calibri"/>
                <a:cs typeface="Calibri"/>
              </a:rPr>
              <a:t> </a:t>
            </a:r>
            <a:r>
              <a:rPr sz="2280" dirty="0">
                <a:latin typeface="Calibri"/>
                <a:cs typeface="Calibri"/>
              </a:rPr>
              <a:t>statistics</a:t>
            </a:r>
            <a:r>
              <a:rPr sz="2280" spc="-36" dirty="0">
                <a:latin typeface="Calibri"/>
                <a:cs typeface="Calibri"/>
              </a:rPr>
              <a:t> </a:t>
            </a:r>
            <a:r>
              <a:rPr sz="2280" dirty="0">
                <a:latin typeface="Calibri"/>
                <a:cs typeface="Calibri"/>
              </a:rPr>
              <a:t>to</a:t>
            </a:r>
            <a:r>
              <a:rPr sz="2280" spc="-36" dirty="0">
                <a:latin typeface="Calibri"/>
                <a:cs typeface="Calibri"/>
              </a:rPr>
              <a:t> </a:t>
            </a:r>
            <a:r>
              <a:rPr sz="2280" dirty="0">
                <a:latin typeface="Calibri"/>
                <a:cs typeface="Calibri"/>
              </a:rPr>
              <a:t>meet</a:t>
            </a:r>
            <a:r>
              <a:rPr sz="2280" spc="-36" dirty="0">
                <a:latin typeface="Calibri"/>
                <a:cs typeface="Calibri"/>
              </a:rPr>
              <a:t> </a:t>
            </a:r>
            <a:r>
              <a:rPr sz="2280" spc="-30" dirty="0">
                <a:latin typeface="Calibri"/>
                <a:cs typeface="Calibri"/>
              </a:rPr>
              <a:t>the</a:t>
            </a:r>
            <a:endParaRPr sz="2280">
              <a:latin typeface="Calibri"/>
              <a:cs typeface="Calibri"/>
            </a:endParaRPr>
          </a:p>
          <a:p>
            <a:pPr marL="425958"/>
            <a:r>
              <a:rPr sz="2280" dirty="0">
                <a:latin typeface="Calibri"/>
                <a:cs typeface="Calibri"/>
              </a:rPr>
              <a:t>changing</a:t>
            </a:r>
            <a:r>
              <a:rPr sz="2280" spc="-48" dirty="0">
                <a:latin typeface="Calibri"/>
                <a:cs typeface="Calibri"/>
              </a:rPr>
              <a:t> </a:t>
            </a:r>
            <a:r>
              <a:rPr sz="2280" dirty="0">
                <a:latin typeface="Calibri"/>
                <a:cs typeface="Calibri"/>
              </a:rPr>
              <a:t>needs</a:t>
            </a:r>
            <a:r>
              <a:rPr sz="2280" spc="-72" dirty="0">
                <a:latin typeface="Calibri"/>
                <a:cs typeface="Calibri"/>
              </a:rPr>
              <a:t> </a:t>
            </a:r>
            <a:r>
              <a:rPr sz="2280" dirty="0">
                <a:latin typeface="Calibri"/>
                <a:cs typeface="Calibri"/>
              </a:rPr>
              <a:t>of</a:t>
            </a:r>
            <a:r>
              <a:rPr sz="2280" spc="-72" dirty="0">
                <a:latin typeface="Calibri"/>
                <a:cs typeface="Calibri"/>
              </a:rPr>
              <a:t> </a:t>
            </a:r>
            <a:r>
              <a:rPr sz="2280" spc="-12" dirty="0">
                <a:latin typeface="Calibri"/>
                <a:cs typeface="Calibri"/>
              </a:rPr>
              <a:t>customers</a:t>
            </a:r>
            <a:r>
              <a:rPr sz="2280" spc="-66" dirty="0">
                <a:latin typeface="Calibri"/>
                <a:cs typeface="Calibri"/>
              </a:rPr>
              <a:t> </a:t>
            </a:r>
            <a:r>
              <a:rPr sz="2280" dirty="0">
                <a:latin typeface="Calibri"/>
                <a:cs typeface="Calibri"/>
              </a:rPr>
              <a:t>and</a:t>
            </a:r>
            <a:r>
              <a:rPr sz="2280" spc="-66" dirty="0">
                <a:latin typeface="Calibri"/>
                <a:cs typeface="Calibri"/>
              </a:rPr>
              <a:t> </a:t>
            </a:r>
            <a:r>
              <a:rPr sz="2280" dirty="0">
                <a:latin typeface="Calibri"/>
                <a:cs typeface="Calibri"/>
              </a:rPr>
              <a:t>to</a:t>
            </a:r>
            <a:r>
              <a:rPr sz="2280" spc="-60" dirty="0">
                <a:latin typeface="Calibri"/>
                <a:cs typeface="Calibri"/>
              </a:rPr>
              <a:t> </a:t>
            </a:r>
            <a:r>
              <a:rPr sz="2280" dirty="0">
                <a:latin typeface="Calibri"/>
                <a:cs typeface="Calibri"/>
              </a:rPr>
              <a:t>make</a:t>
            </a:r>
            <a:r>
              <a:rPr sz="2280" spc="-78" dirty="0">
                <a:latin typeface="Calibri"/>
                <a:cs typeface="Calibri"/>
              </a:rPr>
              <a:t> </a:t>
            </a:r>
            <a:r>
              <a:rPr sz="2280" dirty="0">
                <a:latin typeface="Calibri"/>
                <a:cs typeface="Calibri"/>
              </a:rPr>
              <a:t>the</a:t>
            </a:r>
            <a:r>
              <a:rPr sz="2280" spc="-66" dirty="0">
                <a:latin typeface="Calibri"/>
                <a:cs typeface="Calibri"/>
              </a:rPr>
              <a:t> </a:t>
            </a:r>
            <a:r>
              <a:rPr sz="2280" dirty="0">
                <a:latin typeface="Calibri"/>
                <a:cs typeface="Calibri"/>
              </a:rPr>
              <a:t>process</a:t>
            </a:r>
            <a:r>
              <a:rPr sz="2280" spc="-66" dirty="0">
                <a:latin typeface="Calibri"/>
                <a:cs typeface="Calibri"/>
              </a:rPr>
              <a:t> </a:t>
            </a:r>
            <a:r>
              <a:rPr sz="2280" dirty="0">
                <a:latin typeface="Calibri"/>
                <a:cs typeface="Calibri"/>
              </a:rPr>
              <a:t>better</a:t>
            </a:r>
            <a:r>
              <a:rPr sz="2280" spc="-54" dirty="0">
                <a:latin typeface="Calibri"/>
                <a:cs typeface="Calibri"/>
              </a:rPr>
              <a:t> </a:t>
            </a:r>
            <a:r>
              <a:rPr sz="2280" dirty="0">
                <a:latin typeface="Calibri"/>
                <a:cs typeface="Calibri"/>
              </a:rPr>
              <a:t>over</a:t>
            </a:r>
            <a:r>
              <a:rPr sz="2280" spc="-54" dirty="0">
                <a:latin typeface="Calibri"/>
                <a:cs typeface="Calibri"/>
              </a:rPr>
              <a:t> </a:t>
            </a:r>
            <a:r>
              <a:rPr sz="2280" spc="-12" dirty="0">
                <a:latin typeface="Calibri"/>
                <a:cs typeface="Calibri"/>
              </a:rPr>
              <a:t>time..</a:t>
            </a:r>
            <a:endParaRPr sz="2280">
              <a:latin typeface="Calibri"/>
              <a:cs typeface="Calibri"/>
            </a:endParaRPr>
          </a:p>
        </p:txBody>
      </p:sp>
    </p:spTree>
    <p:extLst>
      <p:ext uri="{BB962C8B-B14F-4D97-AF65-F5344CB8AC3E}">
        <p14:creationId xmlns:p14="http://schemas.microsoft.com/office/powerpoint/2010/main" val="16689162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33201" y="108355"/>
            <a:ext cx="10528554" cy="1207767"/>
          </a:xfrm>
          <a:prstGeom prst="rect">
            <a:avLst/>
          </a:prstGeom>
        </p:spPr>
        <p:txBody>
          <a:bodyPr vert="horz" wrap="square" lIns="0" tIns="78486" rIns="0" bIns="0" rtlCol="0">
            <a:spAutoFit/>
          </a:bodyPr>
          <a:lstStyle/>
          <a:p>
            <a:pPr marL="425958" marR="8382" indent="-411480">
              <a:lnSpc>
                <a:spcPts val="2076"/>
              </a:lnSpc>
              <a:spcBef>
                <a:spcPts val="618"/>
              </a:spcBef>
              <a:buFont typeface="Arial MT"/>
              <a:buChar char="•"/>
              <a:tabLst>
                <a:tab pos="425958" algn="l"/>
                <a:tab pos="1389888" algn="l"/>
                <a:tab pos="2531364" algn="l"/>
                <a:tab pos="2859024" algn="l"/>
                <a:tab pos="3444240" algn="l"/>
                <a:tab pos="3832098" algn="l"/>
                <a:tab pos="4554474" algn="l"/>
                <a:tab pos="5560314" algn="l"/>
                <a:tab pos="6317742" algn="l"/>
                <a:tab pos="7327392" algn="l"/>
                <a:tab pos="7753350" algn="l"/>
                <a:tab pos="8285988" algn="l"/>
                <a:tab pos="9127236" algn="l"/>
                <a:tab pos="9605010" algn="l"/>
              </a:tabLst>
            </a:pPr>
            <a:r>
              <a:rPr sz="2160" b="1" spc="-12" dirty="0">
                <a:latin typeface="Calibri"/>
                <a:cs typeface="Calibri"/>
              </a:rPr>
              <a:t>Project</a:t>
            </a:r>
            <a:r>
              <a:rPr sz="2160" b="1" dirty="0">
                <a:latin typeface="Calibri"/>
                <a:cs typeface="Calibri"/>
              </a:rPr>
              <a:t>	</a:t>
            </a:r>
            <a:r>
              <a:rPr sz="2160" b="1" spc="-12" dirty="0">
                <a:latin typeface="Calibri"/>
                <a:cs typeface="Calibri"/>
              </a:rPr>
              <a:t>planning</a:t>
            </a:r>
            <a:r>
              <a:rPr sz="2160" b="1" dirty="0">
                <a:latin typeface="Calibri"/>
                <a:cs typeface="Calibri"/>
              </a:rPr>
              <a:t>	</a:t>
            </a:r>
            <a:r>
              <a:rPr sz="2160" spc="-30" dirty="0">
                <a:latin typeface="Calibri"/>
                <a:cs typeface="Calibri"/>
              </a:rPr>
              <a:t>is</a:t>
            </a:r>
            <a:r>
              <a:rPr sz="2160" dirty="0">
                <a:latin typeface="Calibri"/>
                <a:cs typeface="Calibri"/>
              </a:rPr>
              <a:t>	</a:t>
            </a:r>
            <a:r>
              <a:rPr sz="2160" spc="-30" dirty="0">
                <a:latin typeface="Calibri"/>
                <a:cs typeface="Calibri"/>
              </a:rPr>
              <a:t>one</a:t>
            </a:r>
            <a:r>
              <a:rPr sz="2160" dirty="0">
                <a:latin typeface="Calibri"/>
                <a:cs typeface="Calibri"/>
              </a:rPr>
              <a:t>	</a:t>
            </a:r>
            <a:r>
              <a:rPr sz="2160" spc="-30" dirty="0">
                <a:latin typeface="Calibri"/>
                <a:cs typeface="Calibri"/>
              </a:rPr>
              <a:t>of</a:t>
            </a:r>
            <a:r>
              <a:rPr sz="2160" dirty="0">
                <a:latin typeface="Calibri"/>
                <a:cs typeface="Calibri"/>
              </a:rPr>
              <a:t>	</a:t>
            </a:r>
            <a:r>
              <a:rPr sz="2160" spc="-12" dirty="0">
                <a:latin typeface="Calibri"/>
                <a:cs typeface="Calibri"/>
              </a:rPr>
              <a:t>eight</a:t>
            </a:r>
            <a:r>
              <a:rPr sz="2160" dirty="0">
                <a:latin typeface="Calibri"/>
                <a:cs typeface="Calibri"/>
              </a:rPr>
              <a:t>	</a:t>
            </a:r>
            <a:r>
              <a:rPr sz="2160" spc="-12" dirty="0">
                <a:latin typeface="Calibri"/>
                <a:cs typeface="Calibri"/>
              </a:rPr>
              <a:t>process</a:t>
            </a:r>
            <a:r>
              <a:rPr sz="2160" dirty="0">
                <a:latin typeface="Calibri"/>
                <a:cs typeface="Calibri"/>
              </a:rPr>
              <a:t>	</a:t>
            </a:r>
            <a:r>
              <a:rPr sz="2160" spc="-12" dirty="0">
                <a:latin typeface="Calibri"/>
                <a:cs typeface="Calibri"/>
              </a:rPr>
              <a:t>areas</a:t>
            </a:r>
            <a:r>
              <a:rPr sz="2160" dirty="0">
                <a:latin typeface="Calibri"/>
                <a:cs typeface="Calibri"/>
              </a:rPr>
              <a:t>	</a:t>
            </a:r>
            <a:r>
              <a:rPr sz="2160" spc="-12" dirty="0">
                <a:latin typeface="Calibri"/>
                <a:cs typeface="Calibri"/>
              </a:rPr>
              <a:t>defined</a:t>
            </a:r>
            <a:r>
              <a:rPr sz="2160" dirty="0">
                <a:latin typeface="Calibri"/>
                <a:cs typeface="Calibri"/>
              </a:rPr>
              <a:t>	</a:t>
            </a:r>
            <a:r>
              <a:rPr sz="2160" spc="-30" dirty="0">
                <a:latin typeface="Calibri"/>
                <a:cs typeface="Calibri"/>
              </a:rPr>
              <a:t>by</a:t>
            </a:r>
            <a:r>
              <a:rPr sz="2160" dirty="0">
                <a:latin typeface="Calibri"/>
                <a:cs typeface="Calibri"/>
              </a:rPr>
              <a:t>	</a:t>
            </a:r>
            <a:r>
              <a:rPr sz="2160" spc="-30" dirty="0">
                <a:latin typeface="Calibri"/>
                <a:cs typeface="Calibri"/>
              </a:rPr>
              <a:t>the</a:t>
            </a:r>
            <a:r>
              <a:rPr sz="2160" dirty="0">
                <a:latin typeface="Calibri"/>
                <a:cs typeface="Calibri"/>
              </a:rPr>
              <a:t>	</a:t>
            </a:r>
            <a:r>
              <a:rPr sz="2160" spc="-24" dirty="0">
                <a:latin typeface="Calibri"/>
                <a:cs typeface="Calibri"/>
              </a:rPr>
              <a:t>CMMI</a:t>
            </a:r>
            <a:r>
              <a:rPr sz="2160" dirty="0">
                <a:latin typeface="Calibri"/>
                <a:cs typeface="Calibri"/>
              </a:rPr>
              <a:t>	</a:t>
            </a:r>
            <a:r>
              <a:rPr sz="2160" spc="-30" dirty="0">
                <a:latin typeface="Calibri"/>
                <a:cs typeface="Calibri"/>
              </a:rPr>
              <a:t>for</a:t>
            </a:r>
            <a:r>
              <a:rPr sz="2160" dirty="0">
                <a:latin typeface="Calibri"/>
                <a:cs typeface="Calibri"/>
              </a:rPr>
              <a:t>	</a:t>
            </a:r>
            <a:r>
              <a:rPr sz="2160" spc="-12" dirty="0">
                <a:latin typeface="Calibri"/>
                <a:cs typeface="Calibri"/>
              </a:rPr>
              <a:t>“project </a:t>
            </a:r>
            <a:r>
              <a:rPr sz="2160" dirty="0">
                <a:latin typeface="Calibri"/>
                <a:cs typeface="Calibri"/>
              </a:rPr>
              <a:t>management”</a:t>
            </a:r>
            <a:r>
              <a:rPr sz="2160" spc="-78" dirty="0">
                <a:latin typeface="Calibri"/>
                <a:cs typeface="Calibri"/>
              </a:rPr>
              <a:t> </a:t>
            </a:r>
            <a:r>
              <a:rPr sz="2160" spc="-12" dirty="0">
                <a:latin typeface="Calibri"/>
                <a:cs typeface="Calibri"/>
              </a:rPr>
              <a:t>category.</a:t>
            </a:r>
            <a:endParaRPr sz="2160" dirty="0">
              <a:latin typeface="Calibri"/>
              <a:cs typeface="Calibri"/>
            </a:endParaRPr>
          </a:p>
          <a:p>
            <a:pPr marL="425958" indent="-410718">
              <a:lnSpc>
                <a:spcPts val="2334"/>
              </a:lnSpc>
              <a:spcBef>
                <a:spcPts val="12"/>
              </a:spcBef>
              <a:buFont typeface="Arial MT"/>
              <a:buChar char="•"/>
              <a:tabLst>
                <a:tab pos="425958" algn="l"/>
              </a:tabLst>
            </a:pPr>
            <a:r>
              <a:rPr sz="2160" dirty="0">
                <a:latin typeface="Calibri"/>
                <a:cs typeface="Calibri"/>
              </a:rPr>
              <a:t>The</a:t>
            </a:r>
            <a:r>
              <a:rPr sz="2160" spc="450" dirty="0">
                <a:latin typeface="Calibri"/>
                <a:cs typeface="Calibri"/>
              </a:rPr>
              <a:t> </a:t>
            </a:r>
            <a:r>
              <a:rPr sz="2160" b="1" dirty="0">
                <a:solidFill>
                  <a:srgbClr val="006FC0"/>
                </a:solidFill>
                <a:latin typeface="Calibri"/>
                <a:cs typeface="Calibri"/>
              </a:rPr>
              <a:t>specific</a:t>
            </a:r>
            <a:r>
              <a:rPr sz="2160" b="1" spc="462" dirty="0">
                <a:solidFill>
                  <a:srgbClr val="006FC0"/>
                </a:solidFill>
                <a:latin typeface="Calibri"/>
                <a:cs typeface="Calibri"/>
              </a:rPr>
              <a:t> </a:t>
            </a:r>
            <a:r>
              <a:rPr sz="2160" b="1" dirty="0">
                <a:solidFill>
                  <a:srgbClr val="006FC0"/>
                </a:solidFill>
                <a:latin typeface="Calibri"/>
                <a:cs typeface="Calibri"/>
              </a:rPr>
              <a:t>goals</a:t>
            </a:r>
            <a:r>
              <a:rPr sz="2160" b="1" spc="450" dirty="0">
                <a:solidFill>
                  <a:srgbClr val="006FC0"/>
                </a:solidFill>
                <a:latin typeface="Calibri"/>
                <a:cs typeface="Calibri"/>
              </a:rPr>
              <a:t> </a:t>
            </a:r>
            <a:r>
              <a:rPr sz="2160" b="1" dirty="0">
                <a:solidFill>
                  <a:srgbClr val="006FC0"/>
                </a:solidFill>
                <a:latin typeface="Calibri"/>
                <a:cs typeface="Calibri"/>
              </a:rPr>
              <a:t>(SG)</a:t>
            </a:r>
            <a:r>
              <a:rPr sz="2160" b="1" spc="462" dirty="0">
                <a:solidFill>
                  <a:srgbClr val="006FC0"/>
                </a:solidFill>
                <a:latin typeface="Calibri"/>
                <a:cs typeface="Calibri"/>
              </a:rPr>
              <a:t> </a:t>
            </a:r>
            <a:r>
              <a:rPr sz="2160" dirty="0">
                <a:latin typeface="Calibri"/>
                <a:cs typeface="Calibri"/>
              </a:rPr>
              <a:t>and</a:t>
            </a:r>
            <a:r>
              <a:rPr sz="2160" spc="462" dirty="0">
                <a:latin typeface="Calibri"/>
                <a:cs typeface="Calibri"/>
              </a:rPr>
              <a:t> </a:t>
            </a:r>
            <a:r>
              <a:rPr sz="2160" dirty="0">
                <a:latin typeface="Calibri"/>
                <a:cs typeface="Calibri"/>
              </a:rPr>
              <a:t>the</a:t>
            </a:r>
            <a:r>
              <a:rPr sz="2160" spc="456" dirty="0">
                <a:latin typeface="Calibri"/>
                <a:cs typeface="Calibri"/>
              </a:rPr>
              <a:t> </a:t>
            </a:r>
            <a:r>
              <a:rPr sz="2160" dirty="0">
                <a:latin typeface="Calibri"/>
                <a:cs typeface="Calibri"/>
              </a:rPr>
              <a:t>associated</a:t>
            </a:r>
            <a:r>
              <a:rPr sz="2160" spc="462" dirty="0">
                <a:latin typeface="Calibri"/>
                <a:cs typeface="Calibri"/>
              </a:rPr>
              <a:t> </a:t>
            </a:r>
            <a:r>
              <a:rPr sz="2160" b="1" dirty="0">
                <a:solidFill>
                  <a:srgbClr val="006FC0"/>
                </a:solidFill>
                <a:latin typeface="Calibri"/>
                <a:cs typeface="Calibri"/>
              </a:rPr>
              <a:t>specific</a:t>
            </a:r>
            <a:r>
              <a:rPr sz="2160" b="1" spc="456" dirty="0">
                <a:solidFill>
                  <a:srgbClr val="006FC0"/>
                </a:solidFill>
                <a:latin typeface="Calibri"/>
                <a:cs typeface="Calibri"/>
              </a:rPr>
              <a:t> </a:t>
            </a:r>
            <a:r>
              <a:rPr sz="2160" b="1" dirty="0">
                <a:solidFill>
                  <a:srgbClr val="006FC0"/>
                </a:solidFill>
                <a:latin typeface="Calibri"/>
                <a:cs typeface="Calibri"/>
              </a:rPr>
              <a:t>practices</a:t>
            </a:r>
            <a:r>
              <a:rPr sz="2160" b="1" spc="456" dirty="0">
                <a:solidFill>
                  <a:srgbClr val="006FC0"/>
                </a:solidFill>
                <a:latin typeface="Calibri"/>
                <a:cs typeface="Calibri"/>
              </a:rPr>
              <a:t> </a:t>
            </a:r>
            <a:r>
              <a:rPr sz="2160" b="1" dirty="0">
                <a:solidFill>
                  <a:srgbClr val="006FC0"/>
                </a:solidFill>
                <a:latin typeface="Calibri"/>
                <a:cs typeface="Calibri"/>
              </a:rPr>
              <a:t>(SP)</a:t>
            </a:r>
            <a:r>
              <a:rPr sz="2160" b="1" spc="462" dirty="0">
                <a:solidFill>
                  <a:srgbClr val="006FC0"/>
                </a:solidFill>
                <a:latin typeface="Calibri"/>
                <a:cs typeface="Calibri"/>
              </a:rPr>
              <a:t> </a:t>
            </a:r>
            <a:r>
              <a:rPr sz="2160" dirty="0">
                <a:latin typeface="Calibri"/>
                <a:cs typeface="Calibri"/>
              </a:rPr>
              <a:t>defined</a:t>
            </a:r>
            <a:r>
              <a:rPr sz="2160" spc="474" dirty="0">
                <a:latin typeface="Calibri"/>
                <a:cs typeface="Calibri"/>
              </a:rPr>
              <a:t> </a:t>
            </a:r>
            <a:r>
              <a:rPr sz="2160" dirty="0">
                <a:latin typeface="Calibri"/>
                <a:cs typeface="Calibri"/>
              </a:rPr>
              <a:t>for</a:t>
            </a:r>
            <a:r>
              <a:rPr sz="2160" spc="444" dirty="0">
                <a:latin typeface="Calibri"/>
                <a:cs typeface="Calibri"/>
              </a:rPr>
              <a:t> </a:t>
            </a:r>
            <a:r>
              <a:rPr sz="2160" b="1" spc="-12" dirty="0">
                <a:latin typeface="Calibri"/>
                <a:cs typeface="Calibri"/>
              </a:rPr>
              <a:t>project</a:t>
            </a:r>
            <a:endParaRPr sz="2160" dirty="0">
              <a:latin typeface="Calibri"/>
              <a:cs typeface="Calibri"/>
            </a:endParaRPr>
          </a:p>
          <a:p>
            <a:pPr marL="425958">
              <a:lnSpc>
                <a:spcPts val="2334"/>
              </a:lnSpc>
            </a:pPr>
            <a:r>
              <a:rPr sz="2160" b="1" dirty="0">
                <a:latin typeface="Calibri"/>
                <a:cs typeface="Calibri"/>
              </a:rPr>
              <a:t>planning</a:t>
            </a:r>
            <a:r>
              <a:rPr sz="2160" b="1" spc="-54" dirty="0">
                <a:latin typeface="Calibri"/>
                <a:cs typeface="Calibri"/>
              </a:rPr>
              <a:t> </a:t>
            </a:r>
            <a:r>
              <a:rPr sz="2160" spc="-30" dirty="0">
                <a:latin typeface="Calibri"/>
                <a:cs typeface="Calibri"/>
              </a:rPr>
              <a:t>are</a:t>
            </a:r>
            <a:endParaRPr sz="2160" dirty="0">
              <a:latin typeface="Calibri"/>
              <a:cs typeface="Calibri"/>
            </a:endParaRPr>
          </a:p>
        </p:txBody>
      </p:sp>
      <p:sp>
        <p:nvSpPr>
          <p:cNvPr id="3" name="object 3"/>
          <p:cNvSpPr txBox="1"/>
          <p:nvPr/>
        </p:nvSpPr>
        <p:spPr>
          <a:xfrm>
            <a:off x="738605" y="1441551"/>
            <a:ext cx="7885176" cy="1698927"/>
          </a:xfrm>
          <a:prstGeom prst="rect">
            <a:avLst/>
          </a:prstGeom>
          <a:ln w="9525">
            <a:solidFill>
              <a:srgbClr val="000000"/>
            </a:solidFill>
          </a:ln>
        </p:spPr>
        <p:txBody>
          <a:bodyPr vert="horz" wrap="square" lIns="0" tIns="36576" rIns="0" bIns="0" rtlCol="0">
            <a:spAutoFit/>
          </a:bodyPr>
          <a:lstStyle/>
          <a:p>
            <a:pPr marL="109728">
              <a:spcBef>
                <a:spcPts val="288"/>
              </a:spcBef>
            </a:pPr>
            <a:r>
              <a:rPr sz="2160" b="1" dirty="0">
                <a:solidFill>
                  <a:srgbClr val="C00000"/>
                </a:solidFill>
                <a:latin typeface="Calibri"/>
                <a:cs typeface="Calibri"/>
              </a:rPr>
              <a:t>SG</a:t>
            </a:r>
            <a:r>
              <a:rPr sz="2160" b="1" spc="-24" dirty="0">
                <a:solidFill>
                  <a:srgbClr val="C00000"/>
                </a:solidFill>
                <a:latin typeface="Calibri"/>
                <a:cs typeface="Calibri"/>
              </a:rPr>
              <a:t> </a:t>
            </a:r>
            <a:r>
              <a:rPr sz="2160" b="1" dirty="0">
                <a:solidFill>
                  <a:srgbClr val="C00000"/>
                </a:solidFill>
                <a:latin typeface="Calibri"/>
                <a:cs typeface="Calibri"/>
              </a:rPr>
              <a:t>1</a:t>
            </a:r>
            <a:r>
              <a:rPr sz="2160" b="1" spc="-18" dirty="0">
                <a:solidFill>
                  <a:srgbClr val="C00000"/>
                </a:solidFill>
                <a:latin typeface="Calibri"/>
                <a:cs typeface="Calibri"/>
              </a:rPr>
              <a:t> </a:t>
            </a:r>
            <a:r>
              <a:rPr sz="2160" b="1" dirty="0">
                <a:solidFill>
                  <a:srgbClr val="C00000"/>
                </a:solidFill>
                <a:latin typeface="Calibri"/>
                <a:cs typeface="Calibri"/>
              </a:rPr>
              <a:t>Establish</a:t>
            </a:r>
            <a:r>
              <a:rPr sz="2160" b="1" spc="-24" dirty="0">
                <a:solidFill>
                  <a:srgbClr val="C00000"/>
                </a:solidFill>
                <a:latin typeface="Calibri"/>
                <a:cs typeface="Calibri"/>
              </a:rPr>
              <a:t> </a:t>
            </a:r>
            <a:r>
              <a:rPr sz="2160" b="1" spc="-12" dirty="0">
                <a:solidFill>
                  <a:srgbClr val="C00000"/>
                </a:solidFill>
                <a:latin typeface="Calibri"/>
                <a:cs typeface="Calibri"/>
              </a:rPr>
              <a:t>Estimates</a:t>
            </a:r>
            <a:endParaRPr sz="2160">
              <a:latin typeface="Calibri"/>
              <a:cs typeface="Calibri"/>
            </a:endParaRPr>
          </a:p>
          <a:p>
            <a:pPr marL="297942">
              <a:spcBef>
                <a:spcPts val="6"/>
              </a:spcBef>
            </a:pPr>
            <a:r>
              <a:rPr sz="2160" dirty="0">
                <a:latin typeface="Calibri"/>
                <a:cs typeface="Calibri"/>
              </a:rPr>
              <a:t>SP</a:t>
            </a:r>
            <a:r>
              <a:rPr sz="2160" spc="-36" dirty="0">
                <a:latin typeface="Calibri"/>
                <a:cs typeface="Calibri"/>
              </a:rPr>
              <a:t> </a:t>
            </a:r>
            <a:r>
              <a:rPr sz="2160" spc="-12" dirty="0">
                <a:latin typeface="Calibri"/>
                <a:cs typeface="Calibri"/>
              </a:rPr>
              <a:t>1.1-</a:t>
            </a:r>
            <a:r>
              <a:rPr sz="2160" dirty="0">
                <a:latin typeface="Calibri"/>
                <a:cs typeface="Calibri"/>
              </a:rPr>
              <a:t>1</a:t>
            </a:r>
            <a:r>
              <a:rPr sz="2160" spc="-30" dirty="0">
                <a:latin typeface="Calibri"/>
                <a:cs typeface="Calibri"/>
              </a:rPr>
              <a:t> </a:t>
            </a:r>
            <a:r>
              <a:rPr sz="2160" dirty="0">
                <a:latin typeface="Calibri"/>
                <a:cs typeface="Calibri"/>
              </a:rPr>
              <a:t>Estimate</a:t>
            </a:r>
            <a:r>
              <a:rPr sz="2160" spc="-30" dirty="0">
                <a:latin typeface="Calibri"/>
                <a:cs typeface="Calibri"/>
              </a:rPr>
              <a:t> </a:t>
            </a:r>
            <a:r>
              <a:rPr sz="2160" dirty="0">
                <a:latin typeface="Calibri"/>
                <a:cs typeface="Calibri"/>
              </a:rPr>
              <a:t>the</a:t>
            </a:r>
            <a:r>
              <a:rPr sz="2160" spc="-12" dirty="0">
                <a:latin typeface="Calibri"/>
                <a:cs typeface="Calibri"/>
              </a:rPr>
              <a:t> </a:t>
            </a:r>
            <a:r>
              <a:rPr sz="2160" dirty="0">
                <a:latin typeface="Calibri"/>
                <a:cs typeface="Calibri"/>
              </a:rPr>
              <a:t>Scope</a:t>
            </a:r>
            <a:r>
              <a:rPr sz="2160" spc="-30" dirty="0">
                <a:latin typeface="Calibri"/>
                <a:cs typeface="Calibri"/>
              </a:rPr>
              <a:t> </a:t>
            </a:r>
            <a:r>
              <a:rPr sz="2160" dirty="0">
                <a:latin typeface="Calibri"/>
                <a:cs typeface="Calibri"/>
              </a:rPr>
              <a:t>of</a:t>
            </a:r>
            <a:r>
              <a:rPr sz="2160" spc="-18" dirty="0">
                <a:latin typeface="Calibri"/>
                <a:cs typeface="Calibri"/>
              </a:rPr>
              <a:t> </a:t>
            </a:r>
            <a:r>
              <a:rPr sz="2160" dirty="0">
                <a:latin typeface="Calibri"/>
                <a:cs typeface="Calibri"/>
              </a:rPr>
              <a:t>the</a:t>
            </a:r>
            <a:r>
              <a:rPr sz="2160" spc="-36" dirty="0">
                <a:latin typeface="Calibri"/>
                <a:cs typeface="Calibri"/>
              </a:rPr>
              <a:t> </a:t>
            </a:r>
            <a:r>
              <a:rPr sz="2160" spc="-12" dirty="0">
                <a:latin typeface="Calibri"/>
                <a:cs typeface="Calibri"/>
              </a:rPr>
              <a:t>Project</a:t>
            </a:r>
            <a:endParaRPr sz="2160">
              <a:latin typeface="Calibri"/>
              <a:cs typeface="Calibri"/>
            </a:endParaRPr>
          </a:p>
          <a:p>
            <a:pPr marL="297942" marR="424434"/>
            <a:r>
              <a:rPr sz="2160" dirty="0">
                <a:latin typeface="Calibri"/>
                <a:cs typeface="Calibri"/>
              </a:rPr>
              <a:t>SP</a:t>
            </a:r>
            <a:r>
              <a:rPr sz="2160" spc="-54" dirty="0">
                <a:latin typeface="Calibri"/>
                <a:cs typeface="Calibri"/>
              </a:rPr>
              <a:t> </a:t>
            </a:r>
            <a:r>
              <a:rPr sz="2160" spc="-12" dirty="0">
                <a:latin typeface="Calibri"/>
                <a:cs typeface="Calibri"/>
              </a:rPr>
              <a:t>1.2-</a:t>
            </a:r>
            <a:r>
              <a:rPr sz="2160" dirty="0">
                <a:latin typeface="Calibri"/>
                <a:cs typeface="Calibri"/>
              </a:rPr>
              <a:t>1</a:t>
            </a:r>
            <a:r>
              <a:rPr sz="2160" spc="-54" dirty="0">
                <a:latin typeface="Calibri"/>
                <a:cs typeface="Calibri"/>
              </a:rPr>
              <a:t> </a:t>
            </a:r>
            <a:r>
              <a:rPr sz="2160" dirty="0">
                <a:latin typeface="Calibri"/>
                <a:cs typeface="Calibri"/>
              </a:rPr>
              <a:t>Establish</a:t>
            </a:r>
            <a:r>
              <a:rPr sz="2160" spc="-36" dirty="0">
                <a:latin typeface="Calibri"/>
                <a:cs typeface="Calibri"/>
              </a:rPr>
              <a:t> </a:t>
            </a:r>
            <a:r>
              <a:rPr sz="2160" spc="-12" dirty="0">
                <a:latin typeface="Calibri"/>
                <a:cs typeface="Calibri"/>
              </a:rPr>
              <a:t>Estimates</a:t>
            </a:r>
            <a:r>
              <a:rPr sz="2160" spc="-66" dirty="0">
                <a:latin typeface="Calibri"/>
                <a:cs typeface="Calibri"/>
              </a:rPr>
              <a:t> </a:t>
            </a:r>
            <a:r>
              <a:rPr sz="2160" dirty="0">
                <a:latin typeface="Calibri"/>
                <a:cs typeface="Calibri"/>
              </a:rPr>
              <a:t>of</a:t>
            </a:r>
            <a:r>
              <a:rPr sz="2160" spc="-54" dirty="0">
                <a:latin typeface="Calibri"/>
                <a:cs typeface="Calibri"/>
              </a:rPr>
              <a:t> </a:t>
            </a:r>
            <a:r>
              <a:rPr sz="2160" dirty="0">
                <a:latin typeface="Calibri"/>
                <a:cs typeface="Calibri"/>
              </a:rPr>
              <a:t>Work</a:t>
            </a:r>
            <a:r>
              <a:rPr sz="2160" spc="-54" dirty="0">
                <a:latin typeface="Calibri"/>
                <a:cs typeface="Calibri"/>
              </a:rPr>
              <a:t> </a:t>
            </a:r>
            <a:r>
              <a:rPr sz="2160" dirty="0">
                <a:latin typeface="Calibri"/>
                <a:cs typeface="Calibri"/>
              </a:rPr>
              <a:t>Product</a:t>
            </a:r>
            <a:r>
              <a:rPr sz="2160" spc="-48" dirty="0">
                <a:latin typeface="Calibri"/>
                <a:cs typeface="Calibri"/>
              </a:rPr>
              <a:t> </a:t>
            </a:r>
            <a:r>
              <a:rPr sz="2160" dirty="0">
                <a:latin typeface="Calibri"/>
                <a:cs typeface="Calibri"/>
              </a:rPr>
              <a:t>and</a:t>
            </a:r>
            <a:r>
              <a:rPr sz="2160" spc="-54" dirty="0">
                <a:latin typeface="Calibri"/>
                <a:cs typeface="Calibri"/>
              </a:rPr>
              <a:t> </a:t>
            </a:r>
            <a:r>
              <a:rPr sz="2160" spc="-24" dirty="0">
                <a:latin typeface="Calibri"/>
                <a:cs typeface="Calibri"/>
              </a:rPr>
              <a:t>Task</a:t>
            </a:r>
            <a:r>
              <a:rPr sz="2160" spc="-54" dirty="0">
                <a:latin typeface="Calibri"/>
                <a:cs typeface="Calibri"/>
              </a:rPr>
              <a:t> </a:t>
            </a:r>
            <a:r>
              <a:rPr sz="2160" spc="-12" dirty="0">
                <a:latin typeface="Calibri"/>
                <a:cs typeface="Calibri"/>
              </a:rPr>
              <a:t>Attributes </a:t>
            </a:r>
            <a:r>
              <a:rPr sz="2160" dirty="0">
                <a:latin typeface="Calibri"/>
                <a:cs typeface="Calibri"/>
              </a:rPr>
              <a:t>SP</a:t>
            </a:r>
            <a:r>
              <a:rPr sz="2160" spc="-42" dirty="0">
                <a:latin typeface="Calibri"/>
                <a:cs typeface="Calibri"/>
              </a:rPr>
              <a:t> </a:t>
            </a:r>
            <a:r>
              <a:rPr sz="2160" spc="-12" dirty="0">
                <a:latin typeface="Calibri"/>
                <a:cs typeface="Calibri"/>
              </a:rPr>
              <a:t>1.3-</a:t>
            </a:r>
            <a:r>
              <a:rPr sz="2160" dirty="0">
                <a:latin typeface="Calibri"/>
                <a:cs typeface="Calibri"/>
              </a:rPr>
              <a:t>1</a:t>
            </a:r>
            <a:r>
              <a:rPr sz="2160" spc="-36" dirty="0">
                <a:latin typeface="Calibri"/>
                <a:cs typeface="Calibri"/>
              </a:rPr>
              <a:t> </a:t>
            </a:r>
            <a:r>
              <a:rPr sz="2160" dirty="0">
                <a:latin typeface="Calibri"/>
                <a:cs typeface="Calibri"/>
              </a:rPr>
              <a:t>Define</a:t>
            </a:r>
            <a:r>
              <a:rPr sz="2160" spc="-18" dirty="0">
                <a:latin typeface="Calibri"/>
                <a:cs typeface="Calibri"/>
              </a:rPr>
              <a:t> </a:t>
            </a:r>
            <a:r>
              <a:rPr sz="2160" dirty="0">
                <a:latin typeface="Calibri"/>
                <a:cs typeface="Calibri"/>
              </a:rPr>
              <a:t>Project</a:t>
            </a:r>
            <a:r>
              <a:rPr sz="2160" spc="-30" dirty="0">
                <a:latin typeface="Calibri"/>
                <a:cs typeface="Calibri"/>
              </a:rPr>
              <a:t> </a:t>
            </a:r>
            <a:r>
              <a:rPr sz="2160" dirty="0">
                <a:latin typeface="Calibri"/>
                <a:cs typeface="Calibri"/>
              </a:rPr>
              <a:t>Life</a:t>
            </a:r>
            <a:r>
              <a:rPr sz="2160" spc="-18" dirty="0">
                <a:latin typeface="Calibri"/>
                <a:cs typeface="Calibri"/>
              </a:rPr>
              <a:t> </a:t>
            </a:r>
            <a:r>
              <a:rPr sz="2160" spc="-24" dirty="0">
                <a:latin typeface="Calibri"/>
                <a:cs typeface="Calibri"/>
              </a:rPr>
              <a:t>Cycle</a:t>
            </a:r>
            <a:endParaRPr sz="2160">
              <a:latin typeface="Calibri"/>
              <a:cs typeface="Calibri"/>
            </a:endParaRPr>
          </a:p>
          <a:p>
            <a:pPr marL="297942"/>
            <a:r>
              <a:rPr sz="2160" dirty="0">
                <a:latin typeface="Calibri"/>
                <a:cs typeface="Calibri"/>
              </a:rPr>
              <a:t>SP</a:t>
            </a:r>
            <a:r>
              <a:rPr sz="2160" spc="-54" dirty="0">
                <a:latin typeface="Calibri"/>
                <a:cs typeface="Calibri"/>
              </a:rPr>
              <a:t> </a:t>
            </a:r>
            <a:r>
              <a:rPr sz="2160" spc="-12" dirty="0">
                <a:latin typeface="Calibri"/>
                <a:cs typeface="Calibri"/>
              </a:rPr>
              <a:t>1.4-</a:t>
            </a:r>
            <a:r>
              <a:rPr sz="2160" dirty="0">
                <a:latin typeface="Calibri"/>
                <a:cs typeface="Calibri"/>
              </a:rPr>
              <a:t>1</a:t>
            </a:r>
            <a:r>
              <a:rPr sz="2160" spc="-48" dirty="0">
                <a:latin typeface="Calibri"/>
                <a:cs typeface="Calibri"/>
              </a:rPr>
              <a:t> </a:t>
            </a:r>
            <a:r>
              <a:rPr sz="2160" dirty="0">
                <a:latin typeface="Calibri"/>
                <a:cs typeface="Calibri"/>
              </a:rPr>
              <a:t>Determine</a:t>
            </a:r>
            <a:r>
              <a:rPr sz="2160" spc="-24" dirty="0">
                <a:latin typeface="Calibri"/>
                <a:cs typeface="Calibri"/>
              </a:rPr>
              <a:t> </a:t>
            </a:r>
            <a:r>
              <a:rPr sz="2160" dirty="0">
                <a:latin typeface="Calibri"/>
                <a:cs typeface="Calibri"/>
              </a:rPr>
              <a:t>Estimates</a:t>
            </a:r>
            <a:r>
              <a:rPr sz="2160" spc="-48" dirty="0">
                <a:latin typeface="Calibri"/>
                <a:cs typeface="Calibri"/>
              </a:rPr>
              <a:t> </a:t>
            </a:r>
            <a:r>
              <a:rPr sz="2160" dirty="0">
                <a:latin typeface="Calibri"/>
                <a:cs typeface="Calibri"/>
              </a:rPr>
              <a:t>of</a:t>
            </a:r>
            <a:r>
              <a:rPr sz="2160" spc="-54" dirty="0">
                <a:latin typeface="Calibri"/>
                <a:cs typeface="Calibri"/>
              </a:rPr>
              <a:t> </a:t>
            </a:r>
            <a:r>
              <a:rPr sz="2160" spc="-12" dirty="0">
                <a:latin typeface="Calibri"/>
                <a:cs typeface="Calibri"/>
              </a:rPr>
              <a:t>Effort</a:t>
            </a:r>
            <a:r>
              <a:rPr sz="2160" spc="-60" dirty="0">
                <a:latin typeface="Calibri"/>
                <a:cs typeface="Calibri"/>
              </a:rPr>
              <a:t> </a:t>
            </a:r>
            <a:r>
              <a:rPr sz="2160" dirty="0">
                <a:latin typeface="Calibri"/>
                <a:cs typeface="Calibri"/>
              </a:rPr>
              <a:t>and</a:t>
            </a:r>
            <a:r>
              <a:rPr sz="2160" spc="-60" dirty="0">
                <a:latin typeface="Calibri"/>
                <a:cs typeface="Calibri"/>
              </a:rPr>
              <a:t> </a:t>
            </a:r>
            <a:r>
              <a:rPr sz="2160" spc="-24" dirty="0">
                <a:latin typeface="Calibri"/>
                <a:cs typeface="Calibri"/>
              </a:rPr>
              <a:t>Cost</a:t>
            </a:r>
            <a:endParaRPr sz="2160">
              <a:latin typeface="Calibri"/>
              <a:cs typeface="Calibri"/>
            </a:endParaRPr>
          </a:p>
        </p:txBody>
      </p:sp>
      <p:sp>
        <p:nvSpPr>
          <p:cNvPr id="4" name="object 4"/>
          <p:cNvSpPr txBox="1"/>
          <p:nvPr/>
        </p:nvSpPr>
        <p:spPr>
          <a:xfrm>
            <a:off x="738605" y="3428984"/>
            <a:ext cx="5228844" cy="3029291"/>
          </a:xfrm>
          <a:prstGeom prst="rect">
            <a:avLst/>
          </a:prstGeom>
          <a:ln w="9525">
            <a:solidFill>
              <a:srgbClr val="000000"/>
            </a:solidFill>
          </a:ln>
        </p:spPr>
        <p:txBody>
          <a:bodyPr vert="horz" wrap="square" lIns="0" tIns="37338" rIns="0" bIns="0" rtlCol="0">
            <a:spAutoFit/>
          </a:bodyPr>
          <a:lstStyle/>
          <a:p>
            <a:pPr marL="109728">
              <a:spcBef>
                <a:spcPts val="294"/>
              </a:spcBef>
            </a:pPr>
            <a:r>
              <a:rPr sz="2160" b="1" dirty="0">
                <a:solidFill>
                  <a:srgbClr val="C00000"/>
                </a:solidFill>
                <a:latin typeface="Calibri"/>
                <a:cs typeface="Calibri"/>
              </a:rPr>
              <a:t>SG</a:t>
            </a:r>
            <a:r>
              <a:rPr sz="2160" b="1" spc="-36" dirty="0">
                <a:solidFill>
                  <a:srgbClr val="C00000"/>
                </a:solidFill>
                <a:latin typeface="Calibri"/>
                <a:cs typeface="Calibri"/>
              </a:rPr>
              <a:t> </a:t>
            </a:r>
            <a:r>
              <a:rPr sz="2160" b="1" dirty="0">
                <a:solidFill>
                  <a:srgbClr val="C00000"/>
                </a:solidFill>
                <a:latin typeface="Calibri"/>
                <a:cs typeface="Calibri"/>
              </a:rPr>
              <a:t>2</a:t>
            </a:r>
            <a:r>
              <a:rPr sz="2160" b="1" spc="-30" dirty="0">
                <a:solidFill>
                  <a:srgbClr val="C00000"/>
                </a:solidFill>
                <a:latin typeface="Calibri"/>
                <a:cs typeface="Calibri"/>
              </a:rPr>
              <a:t> </a:t>
            </a:r>
            <a:r>
              <a:rPr sz="2160" b="1" dirty="0">
                <a:solidFill>
                  <a:srgbClr val="C00000"/>
                </a:solidFill>
                <a:latin typeface="Calibri"/>
                <a:cs typeface="Calibri"/>
              </a:rPr>
              <a:t>Develop</a:t>
            </a:r>
            <a:r>
              <a:rPr sz="2160" b="1" spc="-78" dirty="0">
                <a:solidFill>
                  <a:srgbClr val="C00000"/>
                </a:solidFill>
                <a:latin typeface="Calibri"/>
                <a:cs typeface="Calibri"/>
              </a:rPr>
              <a:t> </a:t>
            </a:r>
            <a:r>
              <a:rPr sz="2160" b="1" dirty="0">
                <a:solidFill>
                  <a:srgbClr val="C00000"/>
                </a:solidFill>
                <a:latin typeface="Calibri"/>
                <a:cs typeface="Calibri"/>
              </a:rPr>
              <a:t>a</a:t>
            </a:r>
            <a:r>
              <a:rPr sz="2160" b="1" spc="-24" dirty="0">
                <a:solidFill>
                  <a:srgbClr val="C00000"/>
                </a:solidFill>
                <a:latin typeface="Calibri"/>
                <a:cs typeface="Calibri"/>
              </a:rPr>
              <a:t> </a:t>
            </a:r>
            <a:r>
              <a:rPr sz="2160" b="1" dirty="0">
                <a:solidFill>
                  <a:srgbClr val="C00000"/>
                </a:solidFill>
                <a:latin typeface="Calibri"/>
                <a:cs typeface="Calibri"/>
              </a:rPr>
              <a:t>Project</a:t>
            </a:r>
            <a:r>
              <a:rPr sz="2160" b="1" spc="-42" dirty="0">
                <a:solidFill>
                  <a:srgbClr val="C00000"/>
                </a:solidFill>
                <a:latin typeface="Calibri"/>
                <a:cs typeface="Calibri"/>
              </a:rPr>
              <a:t> </a:t>
            </a:r>
            <a:r>
              <a:rPr sz="2160" b="1" spc="-24" dirty="0">
                <a:solidFill>
                  <a:srgbClr val="C00000"/>
                </a:solidFill>
                <a:latin typeface="Calibri"/>
                <a:cs typeface="Calibri"/>
              </a:rPr>
              <a:t>Plan</a:t>
            </a:r>
            <a:endParaRPr sz="2160">
              <a:latin typeface="Calibri"/>
              <a:cs typeface="Calibri"/>
            </a:endParaRPr>
          </a:p>
          <a:p>
            <a:pPr marL="235458" marR="194310"/>
            <a:r>
              <a:rPr sz="2160" dirty="0">
                <a:latin typeface="Calibri"/>
                <a:cs typeface="Calibri"/>
              </a:rPr>
              <a:t>SP</a:t>
            </a:r>
            <a:r>
              <a:rPr sz="2160" spc="-30" dirty="0">
                <a:latin typeface="Calibri"/>
                <a:cs typeface="Calibri"/>
              </a:rPr>
              <a:t> </a:t>
            </a:r>
            <a:r>
              <a:rPr sz="2160" spc="-12" dirty="0">
                <a:latin typeface="Calibri"/>
                <a:cs typeface="Calibri"/>
              </a:rPr>
              <a:t>2.1-</a:t>
            </a:r>
            <a:r>
              <a:rPr sz="2160" dirty="0">
                <a:latin typeface="Calibri"/>
                <a:cs typeface="Calibri"/>
              </a:rPr>
              <a:t>1</a:t>
            </a:r>
            <a:r>
              <a:rPr sz="2160" spc="-24" dirty="0">
                <a:latin typeface="Calibri"/>
                <a:cs typeface="Calibri"/>
              </a:rPr>
              <a:t> </a:t>
            </a:r>
            <a:r>
              <a:rPr sz="2160" spc="-12" dirty="0">
                <a:latin typeface="Calibri"/>
                <a:cs typeface="Calibri"/>
              </a:rPr>
              <a:t>Establish</a:t>
            </a:r>
            <a:r>
              <a:rPr sz="2160" spc="-24" dirty="0">
                <a:latin typeface="Calibri"/>
                <a:cs typeface="Calibri"/>
              </a:rPr>
              <a:t> </a:t>
            </a:r>
            <a:r>
              <a:rPr sz="2160" dirty="0">
                <a:latin typeface="Calibri"/>
                <a:cs typeface="Calibri"/>
              </a:rPr>
              <a:t>the</a:t>
            </a:r>
            <a:r>
              <a:rPr sz="2160" spc="-12" dirty="0">
                <a:latin typeface="Calibri"/>
                <a:cs typeface="Calibri"/>
              </a:rPr>
              <a:t> </a:t>
            </a:r>
            <a:r>
              <a:rPr sz="2160" dirty="0">
                <a:latin typeface="Calibri"/>
                <a:cs typeface="Calibri"/>
              </a:rPr>
              <a:t>Budget</a:t>
            </a:r>
            <a:r>
              <a:rPr sz="2160" spc="-30" dirty="0">
                <a:latin typeface="Calibri"/>
                <a:cs typeface="Calibri"/>
              </a:rPr>
              <a:t> </a:t>
            </a:r>
            <a:r>
              <a:rPr sz="2160" dirty="0">
                <a:latin typeface="Calibri"/>
                <a:cs typeface="Calibri"/>
              </a:rPr>
              <a:t>and</a:t>
            </a:r>
            <a:r>
              <a:rPr sz="2160" spc="-30" dirty="0">
                <a:latin typeface="Calibri"/>
                <a:cs typeface="Calibri"/>
              </a:rPr>
              <a:t> </a:t>
            </a:r>
            <a:r>
              <a:rPr sz="2160" spc="-12" dirty="0">
                <a:latin typeface="Calibri"/>
                <a:cs typeface="Calibri"/>
              </a:rPr>
              <a:t>Schedule </a:t>
            </a:r>
            <a:r>
              <a:rPr sz="2160" dirty="0">
                <a:latin typeface="Calibri"/>
                <a:cs typeface="Calibri"/>
              </a:rPr>
              <a:t>SP</a:t>
            </a:r>
            <a:r>
              <a:rPr sz="2160" spc="-24" dirty="0">
                <a:latin typeface="Calibri"/>
                <a:cs typeface="Calibri"/>
              </a:rPr>
              <a:t> </a:t>
            </a:r>
            <a:r>
              <a:rPr sz="2160" spc="-12" dirty="0">
                <a:latin typeface="Calibri"/>
                <a:cs typeface="Calibri"/>
              </a:rPr>
              <a:t>2.2-</a:t>
            </a:r>
            <a:r>
              <a:rPr sz="2160" dirty="0">
                <a:latin typeface="Calibri"/>
                <a:cs typeface="Calibri"/>
              </a:rPr>
              <a:t>1</a:t>
            </a:r>
            <a:r>
              <a:rPr sz="2160" spc="-24" dirty="0">
                <a:latin typeface="Calibri"/>
                <a:cs typeface="Calibri"/>
              </a:rPr>
              <a:t> </a:t>
            </a:r>
            <a:r>
              <a:rPr sz="2160" dirty="0">
                <a:latin typeface="Calibri"/>
                <a:cs typeface="Calibri"/>
              </a:rPr>
              <a:t>Identify</a:t>
            </a:r>
            <a:r>
              <a:rPr sz="2160" spc="-36" dirty="0">
                <a:latin typeface="Calibri"/>
                <a:cs typeface="Calibri"/>
              </a:rPr>
              <a:t> </a:t>
            </a:r>
            <a:r>
              <a:rPr sz="2160" dirty="0">
                <a:latin typeface="Calibri"/>
                <a:cs typeface="Calibri"/>
              </a:rPr>
              <a:t>Project</a:t>
            </a:r>
            <a:r>
              <a:rPr sz="2160" spc="-18" dirty="0">
                <a:latin typeface="Calibri"/>
                <a:cs typeface="Calibri"/>
              </a:rPr>
              <a:t> </a:t>
            </a:r>
            <a:r>
              <a:rPr sz="2160" spc="-24" dirty="0">
                <a:latin typeface="Calibri"/>
                <a:cs typeface="Calibri"/>
              </a:rPr>
              <a:t>Risks</a:t>
            </a:r>
            <a:endParaRPr sz="2160">
              <a:latin typeface="Calibri"/>
              <a:cs typeface="Calibri"/>
            </a:endParaRPr>
          </a:p>
          <a:p>
            <a:pPr marL="235458">
              <a:spcBef>
                <a:spcPts val="6"/>
              </a:spcBef>
            </a:pPr>
            <a:r>
              <a:rPr sz="2160" dirty="0">
                <a:latin typeface="Calibri"/>
                <a:cs typeface="Calibri"/>
              </a:rPr>
              <a:t>SP</a:t>
            </a:r>
            <a:r>
              <a:rPr sz="2160" spc="-42" dirty="0">
                <a:latin typeface="Calibri"/>
                <a:cs typeface="Calibri"/>
              </a:rPr>
              <a:t> </a:t>
            </a:r>
            <a:r>
              <a:rPr sz="2160" spc="-12" dirty="0">
                <a:latin typeface="Calibri"/>
                <a:cs typeface="Calibri"/>
              </a:rPr>
              <a:t>2.3-</a:t>
            </a:r>
            <a:r>
              <a:rPr sz="2160" dirty="0">
                <a:latin typeface="Calibri"/>
                <a:cs typeface="Calibri"/>
              </a:rPr>
              <a:t>1</a:t>
            </a:r>
            <a:r>
              <a:rPr sz="2160" spc="-24" dirty="0">
                <a:latin typeface="Calibri"/>
                <a:cs typeface="Calibri"/>
              </a:rPr>
              <a:t> </a:t>
            </a:r>
            <a:r>
              <a:rPr sz="2160" dirty="0">
                <a:latin typeface="Calibri"/>
                <a:cs typeface="Calibri"/>
              </a:rPr>
              <a:t>Plan</a:t>
            </a:r>
            <a:r>
              <a:rPr sz="2160" spc="-12" dirty="0">
                <a:latin typeface="Calibri"/>
                <a:cs typeface="Calibri"/>
              </a:rPr>
              <a:t> </a:t>
            </a:r>
            <a:r>
              <a:rPr sz="2160" dirty="0">
                <a:latin typeface="Calibri"/>
                <a:cs typeface="Calibri"/>
              </a:rPr>
              <a:t>for</a:t>
            </a:r>
            <a:r>
              <a:rPr sz="2160" spc="-42" dirty="0">
                <a:latin typeface="Calibri"/>
                <a:cs typeface="Calibri"/>
              </a:rPr>
              <a:t> </a:t>
            </a:r>
            <a:r>
              <a:rPr sz="2160" dirty="0">
                <a:latin typeface="Calibri"/>
                <a:cs typeface="Calibri"/>
              </a:rPr>
              <a:t>Data</a:t>
            </a:r>
            <a:r>
              <a:rPr sz="2160" spc="-12" dirty="0">
                <a:latin typeface="Calibri"/>
                <a:cs typeface="Calibri"/>
              </a:rPr>
              <a:t> Management</a:t>
            </a:r>
            <a:endParaRPr sz="2160">
              <a:latin typeface="Calibri"/>
              <a:cs typeface="Calibri"/>
            </a:endParaRPr>
          </a:p>
          <a:p>
            <a:pPr marL="235458"/>
            <a:r>
              <a:rPr sz="2160" dirty="0">
                <a:latin typeface="Calibri"/>
                <a:cs typeface="Calibri"/>
              </a:rPr>
              <a:t>SP</a:t>
            </a:r>
            <a:r>
              <a:rPr sz="2160" spc="-24" dirty="0">
                <a:latin typeface="Calibri"/>
                <a:cs typeface="Calibri"/>
              </a:rPr>
              <a:t> </a:t>
            </a:r>
            <a:r>
              <a:rPr sz="2160" spc="-12" dirty="0">
                <a:latin typeface="Calibri"/>
                <a:cs typeface="Calibri"/>
              </a:rPr>
              <a:t>2.4-</a:t>
            </a:r>
            <a:r>
              <a:rPr sz="2160" dirty="0">
                <a:latin typeface="Calibri"/>
                <a:cs typeface="Calibri"/>
              </a:rPr>
              <a:t>1</a:t>
            </a:r>
            <a:r>
              <a:rPr sz="2160" spc="-24" dirty="0">
                <a:latin typeface="Calibri"/>
                <a:cs typeface="Calibri"/>
              </a:rPr>
              <a:t> </a:t>
            </a:r>
            <a:r>
              <a:rPr sz="2160" dirty="0">
                <a:latin typeface="Calibri"/>
                <a:cs typeface="Calibri"/>
              </a:rPr>
              <a:t>Plan</a:t>
            </a:r>
            <a:r>
              <a:rPr sz="2160" spc="-6" dirty="0">
                <a:latin typeface="Calibri"/>
                <a:cs typeface="Calibri"/>
              </a:rPr>
              <a:t> </a:t>
            </a:r>
            <a:r>
              <a:rPr sz="2160" dirty="0">
                <a:latin typeface="Calibri"/>
                <a:cs typeface="Calibri"/>
              </a:rPr>
              <a:t>for</a:t>
            </a:r>
            <a:r>
              <a:rPr sz="2160" spc="-18" dirty="0">
                <a:latin typeface="Calibri"/>
                <a:cs typeface="Calibri"/>
              </a:rPr>
              <a:t> </a:t>
            </a:r>
            <a:r>
              <a:rPr sz="2160" dirty="0">
                <a:latin typeface="Calibri"/>
                <a:cs typeface="Calibri"/>
              </a:rPr>
              <a:t>Project</a:t>
            </a:r>
            <a:r>
              <a:rPr sz="2160" spc="-30" dirty="0">
                <a:latin typeface="Calibri"/>
                <a:cs typeface="Calibri"/>
              </a:rPr>
              <a:t> </a:t>
            </a:r>
            <a:r>
              <a:rPr sz="2160" spc="-12" dirty="0">
                <a:latin typeface="Calibri"/>
                <a:cs typeface="Calibri"/>
              </a:rPr>
              <a:t>Resources</a:t>
            </a:r>
            <a:endParaRPr sz="2160">
              <a:latin typeface="Calibri"/>
              <a:cs typeface="Calibri"/>
            </a:endParaRPr>
          </a:p>
          <a:p>
            <a:pPr marL="1207008" marR="443484" indent="-971550"/>
            <a:r>
              <a:rPr sz="2160" dirty="0">
                <a:latin typeface="Calibri"/>
                <a:cs typeface="Calibri"/>
              </a:rPr>
              <a:t>SP</a:t>
            </a:r>
            <a:r>
              <a:rPr sz="2160" spc="-36" dirty="0">
                <a:latin typeface="Calibri"/>
                <a:cs typeface="Calibri"/>
              </a:rPr>
              <a:t> </a:t>
            </a:r>
            <a:r>
              <a:rPr sz="2160" spc="-12" dirty="0">
                <a:latin typeface="Calibri"/>
                <a:cs typeface="Calibri"/>
              </a:rPr>
              <a:t>2.5-</a:t>
            </a:r>
            <a:r>
              <a:rPr sz="2160" dirty="0">
                <a:latin typeface="Calibri"/>
                <a:cs typeface="Calibri"/>
              </a:rPr>
              <a:t>1</a:t>
            </a:r>
            <a:r>
              <a:rPr sz="2160" spc="-36" dirty="0">
                <a:latin typeface="Calibri"/>
                <a:cs typeface="Calibri"/>
              </a:rPr>
              <a:t> </a:t>
            </a:r>
            <a:r>
              <a:rPr sz="2160" dirty="0">
                <a:latin typeface="Calibri"/>
                <a:cs typeface="Calibri"/>
              </a:rPr>
              <a:t>Plan</a:t>
            </a:r>
            <a:r>
              <a:rPr sz="2160" spc="-24" dirty="0">
                <a:latin typeface="Calibri"/>
                <a:cs typeface="Calibri"/>
              </a:rPr>
              <a:t> </a:t>
            </a:r>
            <a:r>
              <a:rPr sz="2160" dirty="0">
                <a:latin typeface="Calibri"/>
                <a:cs typeface="Calibri"/>
              </a:rPr>
              <a:t>for</a:t>
            </a:r>
            <a:r>
              <a:rPr sz="2160" spc="-36" dirty="0">
                <a:latin typeface="Calibri"/>
                <a:cs typeface="Calibri"/>
              </a:rPr>
              <a:t> </a:t>
            </a:r>
            <a:r>
              <a:rPr sz="2160" dirty="0">
                <a:latin typeface="Calibri"/>
                <a:cs typeface="Calibri"/>
              </a:rPr>
              <a:t>Needed</a:t>
            </a:r>
            <a:r>
              <a:rPr sz="2160" spc="-18" dirty="0">
                <a:latin typeface="Calibri"/>
                <a:cs typeface="Calibri"/>
              </a:rPr>
              <a:t> </a:t>
            </a:r>
            <a:r>
              <a:rPr sz="2160" spc="-12" dirty="0">
                <a:latin typeface="Calibri"/>
                <a:cs typeface="Calibri"/>
              </a:rPr>
              <a:t>Knowledge</a:t>
            </a:r>
            <a:r>
              <a:rPr sz="2160" spc="-18" dirty="0">
                <a:latin typeface="Calibri"/>
                <a:cs typeface="Calibri"/>
              </a:rPr>
              <a:t> </a:t>
            </a:r>
            <a:r>
              <a:rPr sz="2160" spc="-30" dirty="0">
                <a:latin typeface="Calibri"/>
                <a:cs typeface="Calibri"/>
              </a:rPr>
              <a:t>and </a:t>
            </a:r>
            <a:r>
              <a:rPr sz="2160" spc="-12" dirty="0">
                <a:latin typeface="Calibri"/>
                <a:cs typeface="Calibri"/>
              </a:rPr>
              <a:t>Skills</a:t>
            </a:r>
            <a:endParaRPr sz="2160">
              <a:latin typeface="Calibri"/>
              <a:cs typeface="Calibri"/>
            </a:endParaRPr>
          </a:p>
          <a:p>
            <a:pPr marL="235458"/>
            <a:r>
              <a:rPr sz="2160" dirty="0">
                <a:latin typeface="Calibri"/>
                <a:cs typeface="Calibri"/>
              </a:rPr>
              <a:t>SP</a:t>
            </a:r>
            <a:r>
              <a:rPr sz="2160" spc="-30" dirty="0">
                <a:latin typeface="Calibri"/>
                <a:cs typeface="Calibri"/>
              </a:rPr>
              <a:t> </a:t>
            </a:r>
            <a:r>
              <a:rPr sz="2160" spc="-12" dirty="0">
                <a:latin typeface="Calibri"/>
                <a:cs typeface="Calibri"/>
              </a:rPr>
              <a:t>2.6-</a:t>
            </a:r>
            <a:r>
              <a:rPr sz="2160" dirty="0">
                <a:latin typeface="Calibri"/>
                <a:cs typeface="Calibri"/>
              </a:rPr>
              <a:t>1</a:t>
            </a:r>
            <a:r>
              <a:rPr sz="2160" spc="-12" dirty="0">
                <a:latin typeface="Calibri"/>
                <a:cs typeface="Calibri"/>
              </a:rPr>
              <a:t> </a:t>
            </a:r>
            <a:r>
              <a:rPr sz="2160" dirty="0">
                <a:latin typeface="Calibri"/>
                <a:cs typeface="Calibri"/>
              </a:rPr>
              <a:t>Plan</a:t>
            </a:r>
            <a:r>
              <a:rPr sz="2160" spc="-6" dirty="0">
                <a:latin typeface="Calibri"/>
                <a:cs typeface="Calibri"/>
              </a:rPr>
              <a:t> </a:t>
            </a:r>
            <a:r>
              <a:rPr sz="2160" spc="-12" dirty="0">
                <a:latin typeface="Calibri"/>
                <a:cs typeface="Calibri"/>
              </a:rPr>
              <a:t>Stakeholder</a:t>
            </a:r>
            <a:r>
              <a:rPr sz="2160" spc="-6" dirty="0">
                <a:latin typeface="Calibri"/>
                <a:cs typeface="Calibri"/>
              </a:rPr>
              <a:t> </a:t>
            </a:r>
            <a:r>
              <a:rPr sz="2160" spc="-12" dirty="0">
                <a:latin typeface="Calibri"/>
                <a:cs typeface="Calibri"/>
              </a:rPr>
              <a:t>Involvement</a:t>
            </a:r>
            <a:endParaRPr sz="2160">
              <a:latin typeface="Calibri"/>
              <a:cs typeface="Calibri"/>
            </a:endParaRPr>
          </a:p>
          <a:p>
            <a:pPr marL="235458"/>
            <a:r>
              <a:rPr sz="2160" dirty="0">
                <a:latin typeface="Calibri"/>
                <a:cs typeface="Calibri"/>
              </a:rPr>
              <a:t>SP</a:t>
            </a:r>
            <a:r>
              <a:rPr sz="2160" spc="-18" dirty="0">
                <a:latin typeface="Calibri"/>
                <a:cs typeface="Calibri"/>
              </a:rPr>
              <a:t> </a:t>
            </a:r>
            <a:r>
              <a:rPr sz="2160" spc="-12" dirty="0">
                <a:latin typeface="Calibri"/>
                <a:cs typeface="Calibri"/>
              </a:rPr>
              <a:t>2.7-</a:t>
            </a:r>
            <a:r>
              <a:rPr sz="2160" dirty="0">
                <a:latin typeface="Calibri"/>
                <a:cs typeface="Calibri"/>
              </a:rPr>
              <a:t>1</a:t>
            </a:r>
            <a:r>
              <a:rPr sz="2160" spc="-18" dirty="0">
                <a:latin typeface="Calibri"/>
                <a:cs typeface="Calibri"/>
              </a:rPr>
              <a:t> </a:t>
            </a:r>
            <a:r>
              <a:rPr sz="2160" spc="-12" dirty="0">
                <a:latin typeface="Calibri"/>
                <a:cs typeface="Calibri"/>
              </a:rPr>
              <a:t>Establish </a:t>
            </a:r>
            <a:r>
              <a:rPr sz="2160" dirty="0">
                <a:latin typeface="Calibri"/>
                <a:cs typeface="Calibri"/>
              </a:rPr>
              <a:t>the Project</a:t>
            </a:r>
            <a:r>
              <a:rPr sz="2160" spc="-24" dirty="0">
                <a:latin typeface="Calibri"/>
                <a:cs typeface="Calibri"/>
              </a:rPr>
              <a:t> Plan</a:t>
            </a:r>
            <a:endParaRPr sz="2160">
              <a:latin typeface="Calibri"/>
              <a:cs typeface="Calibri"/>
            </a:endParaRPr>
          </a:p>
        </p:txBody>
      </p:sp>
      <p:sp>
        <p:nvSpPr>
          <p:cNvPr id="5" name="object 5"/>
          <p:cNvSpPr txBox="1"/>
          <p:nvPr/>
        </p:nvSpPr>
        <p:spPr>
          <a:xfrm>
            <a:off x="6139738" y="3428939"/>
            <a:ext cx="5314188" cy="1367297"/>
          </a:xfrm>
          <a:prstGeom prst="rect">
            <a:avLst/>
          </a:prstGeom>
          <a:ln w="9525">
            <a:solidFill>
              <a:srgbClr val="000000"/>
            </a:solidFill>
          </a:ln>
        </p:spPr>
        <p:txBody>
          <a:bodyPr vert="horz" wrap="square" lIns="0" tIns="37338" rIns="0" bIns="0" rtlCol="0">
            <a:spAutoFit/>
          </a:bodyPr>
          <a:lstStyle/>
          <a:p>
            <a:pPr marL="110490" algn="just">
              <a:spcBef>
                <a:spcPts val="294"/>
              </a:spcBef>
            </a:pPr>
            <a:r>
              <a:rPr sz="2160" b="1" dirty="0">
                <a:solidFill>
                  <a:srgbClr val="C00000"/>
                </a:solidFill>
                <a:latin typeface="Calibri"/>
                <a:cs typeface="Calibri"/>
              </a:rPr>
              <a:t>SG</a:t>
            </a:r>
            <a:r>
              <a:rPr sz="2160" b="1" spc="-36" dirty="0">
                <a:solidFill>
                  <a:srgbClr val="C00000"/>
                </a:solidFill>
                <a:latin typeface="Calibri"/>
                <a:cs typeface="Calibri"/>
              </a:rPr>
              <a:t> </a:t>
            </a:r>
            <a:r>
              <a:rPr sz="2160" b="1" dirty="0">
                <a:solidFill>
                  <a:srgbClr val="C00000"/>
                </a:solidFill>
                <a:latin typeface="Calibri"/>
                <a:cs typeface="Calibri"/>
              </a:rPr>
              <a:t>3</a:t>
            </a:r>
            <a:r>
              <a:rPr sz="2160" b="1" spc="-30" dirty="0">
                <a:solidFill>
                  <a:srgbClr val="C00000"/>
                </a:solidFill>
                <a:latin typeface="Calibri"/>
                <a:cs typeface="Calibri"/>
              </a:rPr>
              <a:t> </a:t>
            </a:r>
            <a:r>
              <a:rPr sz="2160" b="1" dirty="0">
                <a:solidFill>
                  <a:srgbClr val="C00000"/>
                </a:solidFill>
                <a:latin typeface="Calibri"/>
                <a:cs typeface="Calibri"/>
              </a:rPr>
              <a:t>Obtain</a:t>
            </a:r>
            <a:r>
              <a:rPr sz="2160" b="1" spc="-42" dirty="0">
                <a:solidFill>
                  <a:srgbClr val="C00000"/>
                </a:solidFill>
                <a:latin typeface="Calibri"/>
                <a:cs typeface="Calibri"/>
              </a:rPr>
              <a:t> </a:t>
            </a:r>
            <a:r>
              <a:rPr sz="2160" b="1" dirty="0">
                <a:solidFill>
                  <a:srgbClr val="C00000"/>
                </a:solidFill>
                <a:latin typeface="Calibri"/>
                <a:cs typeface="Calibri"/>
              </a:rPr>
              <a:t>Commitment</a:t>
            </a:r>
            <a:r>
              <a:rPr sz="2160" b="1" spc="-60" dirty="0">
                <a:solidFill>
                  <a:srgbClr val="C00000"/>
                </a:solidFill>
                <a:latin typeface="Calibri"/>
                <a:cs typeface="Calibri"/>
              </a:rPr>
              <a:t> </a:t>
            </a:r>
            <a:r>
              <a:rPr sz="2160" b="1" dirty="0">
                <a:solidFill>
                  <a:srgbClr val="C00000"/>
                </a:solidFill>
                <a:latin typeface="Calibri"/>
                <a:cs typeface="Calibri"/>
              </a:rPr>
              <a:t>to</a:t>
            </a:r>
            <a:r>
              <a:rPr sz="2160" b="1" spc="-42" dirty="0">
                <a:solidFill>
                  <a:srgbClr val="C00000"/>
                </a:solidFill>
                <a:latin typeface="Calibri"/>
                <a:cs typeface="Calibri"/>
              </a:rPr>
              <a:t> </a:t>
            </a:r>
            <a:r>
              <a:rPr sz="2160" b="1" dirty="0">
                <a:solidFill>
                  <a:srgbClr val="C00000"/>
                </a:solidFill>
                <a:latin typeface="Calibri"/>
                <a:cs typeface="Calibri"/>
              </a:rPr>
              <a:t>the</a:t>
            </a:r>
            <a:r>
              <a:rPr sz="2160" b="1" spc="-54" dirty="0">
                <a:solidFill>
                  <a:srgbClr val="C00000"/>
                </a:solidFill>
                <a:latin typeface="Calibri"/>
                <a:cs typeface="Calibri"/>
              </a:rPr>
              <a:t> </a:t>
            </a:r>
            <a:r>
              <a:rPr sz="2160" b="1" spc="-24" dirty="0">
                <a:solidFill>
                  <a:srgbClr val="C00000"/>
                </a:solidFill>
                <a:latin typeface="Calibri"/>
                <a:cs typeface="Calibri"/>
              </a:rPr>
              <a:t>Plan</a:t>
            </a:r>
            <a:endParaRPr sz="2160">
              <a:latin typeface="Calibri"/>
              <a:cs typeface="Calibri"/>
            </a:endParaRPr>
          </a:p>
          <a:p>
            <a:pPr marL="172212" marR="135636" algn="just"/>
            <a:r>
              <a:rPr sz="2160" dirty="0">
                <a:latin typeface="Calibri"/>
                <a:cs typeface="Calibri"/>
              </a:rPr>
              <a:t>SP</a:t>
            </a:r>
            <a:r>
              <a:rPr sz="2160" spc="-54" dirty="0">
                <a:latin typeface="Calibri"/>
                <a:cs typeface="Calibri"/>
              </a:rPr>
              <a:t> </a:t>
            </a:r>
            <a:r>
              <a:rPr sz="2160" dirty="0">
                <a:latin typeface="Calibri"/>
                <a:cs typeface="Calibri"/>
              </a:rPr>
              <a:t>3.1-1</a:t>
            </a:r>
            <a:r>
              <a:rPr sz="2160" spc="-72" dirty="0">
                <a:latin typeface="Calibri"/>
                <a:cs typeface="Calibri"/>
              </a:rPr>
              <a:t> </a:t>
            </a:r>
            <a:r>
              <a:rPr sz="2160" dirty="0">
                <a:latin typeface="Calibri"/>
                <a:cs typeface="Calibri"/>
              </a:rPr>
              <a:t>Review</a:t>
            </a:r>
            <a:r>
              <a:rPr sz="2160" spc="-42" dirty="0">
                <a:latin typeface="Calibri"/>
                <a:cs typeface="Calibri"/>
              </a:rPr>
              <a:t> </a:t>
            </a:r>
            <a:r>
              <a:rPr sz="2160" dirty="0">
                <a:latin typeface="Calibri"/>
                <a:cs typeface="Calibri"/>
              </a:rPr>
              <a:t>Plans</a:t>
            </a:r>
            <a:r>
              <a:rPr sz="2160" spc="-42" dirty="0">
                <a:latin typeface="Calibri"/>
                <a:cs typeface="Calibri"/>
              </a:rPr>
              <a:t> </a:t>
            </a:r>
            <a:r>
              <a:rPr sz="2160" dirty="0">
                <a:latin typeface="Calibri"/>
                <a:cs typeface="Calibri"/>
              </a:rPr>
              <a:t>That</a:t>
            </a:r>
            <a:r>
              <a:rPr sz="2160" spc="-72" dirty="0">
                <a:latin typeface="Calibri"/>
                <a:cs typeface="Calibri"/>
              </a:rPr>
              <a:t> </a:t>
            </a:r>
            <a:r>
              <a:rPr sz="2160" dirty="0">
                <a:latin typeface="Calibri"/>
                <a:cs typeface="Calibri"/>
              </a:rPr>
              <a:t>Affect</a:t>
            </a:r>
            <a:r>
              <a:rPr sz="2160" spc="-60" dirty="0">
                <a:latin typeface="Calibri"/>
                <a:cs typeface="Calibri"/>
              </a:rPr>
              <a:t> </a:t>
            </a:r>
            <a:r>
              <a:rPr sz="2160" dirty="0">
                <a:latin typeface="Calibri"/>
                <a:cs typeface="Calibri"/>
              </a:rPr>
              <a:t>the</a:t>
            </a:r>
            <a:r>
              <a:rPr sz="2160" spc="-42" dirty="0">
                <a:latin typeface="Calibri"/>
                <a:cs typeface="Calibri"/>
              </a:rPr>
              <a:t> </a:t>
            </a:r>
            <a:r>
              <a:rPr sz="2160" spc="-12" dirty="0">
                <a:latin typeface="Calibri"/>
                <a:cs typeface="Calibri"/>
              </a:rPr>
              <a:t>Project </a:t>
            </a:r>
            <a:r>
              <a:rPr sz="2160" dirty="0">
                <a:latin typeface="Calibri"/>
                <a:cs typeface="Calibri"/>
              </a:rPr>
              <a:t>SP</a:t>
            </a:r>
            <a:r>
              <a:rPr sz="2160" spc="-60" dirty="0">
                <a:latin typeface="Calibri"/>
                <a:cs typeface="Calibri"/>
              </a:rPr>
              <a:t> </a:t>
            </a:r>
            <a:r>
              <a:rPr sz="2160" dirty="0">
                <a:latin typeface="Calibri"/>
                <a:cs typeface="Calibri"/>
              </a:rPr>
              <a:t>3.2-1</a:t>
            </a:r>
            <a:r>
              <a:rPr sz="2160" spc="-78" dirty="0">
                <a:latin typeface="Calibri"/>
                <a:cs typeface="Calibri"/>
              </a:rPr>
              <a:t> </a:t>
            </a:r>
            <a:r>
              <a:rPr sz="2160" dirty="0">
                <a:latin typeface="Calibri"/>
                <a:cs typeface="Calibri"/>
              </a:rPr>
              <a:t>Reconcile</a:t>
            </a:r>
            <a:r>
              <a:rPr sz="2160" spc="-18" dirty="0">
                <a:latin typeface="Calibri"/>
                <a:cs typeface="Calibri"/>
              </a:rPr>
              <a:t> </a:t>
            </a:r>
            <a:r>
              <a:rPr sz="2160" dirty="0">
                <a:latin typeface="Calibri"/>
                <a:cs typeface="Calibri"/>
              </a:rPr>
              <a:t>Work</a:t>
            </a:r>
            <a:r>
              <a:rPr sz="2160" spc="-60" dirty="0">
                <a:latin typeface="Calibri"/>
                <a:cs typeface="Calibri"/>
              </a:rPr>
              <a:t> </a:t>
            </a:r>
            <a:r>
              <a:rPr sz="2160" dirty="0">
                <a:latin typeface="Calibri"/>
                <a:cs typeface="Calibri"/>
              </a:rPr>
              <a:t>and</a:t>
            </a:r>
            <a:r>
              <a:rPr sz="2160" spc="-60" dirty="0">
                <a:latin typeface="Calibri"/>
                <a:cs typeface="Calibri"/>
              </a:rPr>
              <a:t> </a:t>
            </a:r>
            <a:r>
              <a:rPr sz="2160" spc="-12" dirty="0">
                <a:latin typeface="Calibri"/>
                <a:cs typeface="Calibri"/>
              </a:rPr>
              <a:t>Resource</a:t>
            </a:r>
            <a:r>
              <a:rPr sz="2160" spc="-48" dirty="0">
                <a:latin typeface="Calibri"/>
                <a:cs typeface="Calibri"/>
              </a:rPr>
              <a:t> </a:t>
            </a:r>
            <a:r>
              <a:rPr sz="2160" spc="-12" dirty="0">
                <a:latin typeface="Calibri"/>
                <a:cs typeface="Calibri"/>
              </a:rPr>
              <a:t>Levels </a:t>
            </a:r>
            <a:r>
              <a:rPr sz="2160" dirty="0">
                <a:latin typeface="Calibri"/>
                <a:cs typeface="Calibri"/>
              </a:rPr>
              <a:t>SP</a:t>
            </a:r>
            <a:r>
              <a:rPr sz="2160" spc="-24" dirty="0">
                <a:latin typeface="Calibri"/>
                <a:cs typeface="Calibri"/>
              </a:rPr>
              <a:t> </a:t>
            </a:r>
            <a:r>
              <a:rPr sz="2160" spc="-12" dirty="0">
                <a:latin typeface="Calibri"/>
                <a:cs typeface="Calibri"/>
              </a:rPr>
              <a:t>3.3-</a:t>
            </a:r>
            <a:r>
              <a:rPr sz="2160" dirty="0">
                <a:latin typeface="Calibri"/>
                <a:cs typeface="Calibri"/>
              </a:rPr>
              <a:t>1</a:t>
            </a:r>
            <a:r>
              <a:rPr sz="2160" spc="-42" dirty="0">
                <a:latin typeface="Calibri"/>
                <a:cs typeface="Calibri"/>
              </a:rPr>
              <a:t> </a:t>
            </a:r>
            <a:r>
              <a:rPr sz="2160" dirty="0">
                <a:latin typeface="Calibri"/>
                <a:cs typeface="Calibri"/>
              </a:rPr>
              <a:t>Obtain Plan</a:t>
            </a:r>
            <a:r>
              <a:rPr sz="2160" spc="-12" dirty="0">
                <a:latin typeface="Calibri"/>
                <a:cs typeface="Calibri"/>
              </a:rPr>
              <a:t> Commitment</a:t>
            </a:r>
            <a:endParaRPr sz="2160">
              <a:latin typeface="Calibri"/>
              <a:cs typeface="Calibri"/>
            </a:endParaRPr>
          </a:p>
        </p:txBody>
      </p:sp>
    </p:spTree>
    <p:extLst>
      <p:ext uri="{BB962C8B-B14F-4D97-AF65-F5344CB8AC3E}">
        <p14:creationId xmlns:p14="http://schemas.microsoft.com/office/powerpoint/2010/main" val="110192016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46882" y="166878"/>
            <a:ext cx="10612374" cy="1144159"/>
          </a:xfrm>
          <a:prstGeom prst="rect">
            <a:avLst/>
          </a:prstGeom>
        </p:spPr>
        <p:txBody>
          <a:bodyPr vert="horz" wrap="square" lIns="0" tIns="14478" rIns="0" bIns="0" rtlCol="0">
            <a:spAutoFit/>
          </a:bodyPr>
          <a:lstStyle/>
          <a:p>
            <a:pPr marL="426720" marR="6096" indent="-411480">
              <a:spcBef>
                <a:spcPts val="114"/>
              </a:spcBef>
              <a:buFont typeface="Arial MT"/>
              <a:buChar char="•"/>
              <a:tabLst>
                <a:tab pos="426720" algn="l"/>
              </a:tabLst>
            </a:pPr>
            <a:r>
              <a:rPr sz="2280" dirty="0">
                <a:latin typeface="Calibri"/>
                <a:cs typeface="Calibri"/>
              </a:rPr>
              <a:t>The</a:t>
            </a:r>
            <a:r>
              <a:rPr sz="2280" spc="126" dirty="0">
                <a:latin typeface="Calibri"/>
                <a:cs typeface="Calibri"/>
              </a:rPr>
              <a:t> </a:t>
            </a:r>
            <a:r>
              <a:rPr sz="2280" dirty="0">
                <a:latin typeface="Calibri"/>
                <a:cs typeface="Calibri"/>
              </a:rPr>
              <a:t>CMMI</a:t>
            </a:r>
            <a:r>
              <a:rPr sz="2280" spc="120" dirty="0">
                <a:latin typeface="Calibri"/>
                <a:cs typeface="Calibri"/>
              </a:rPr>
              <a:t> </a:t>
            </a:r>
            <a:r>
              <a:rPr sz="2280" dirty="0">
                <a:latin typeface="Calibri"/>
                <a:cs typeface="Calibri"/>
              </a:rPr>
              <a:t>also</a:t>
            </a:r>
            <a:r>
              <a:rPr sz="2280" spc="137" dirty="0">
                <a:latin typeface="Calibri"/>
                <a:cs typeface="Calibri"/>
              </a:rPr>
              <a:t> </a:t>
            </a:r>
            <a:r>
              <a:rPr sz="2280" dirty="0">
                <a:latin typeface="Calibri"/>
                <a:cs typeface="Calibri"/>
              </a:rPr>
              <a:t>defines</a:t>
            </a:r>
            <a:r>
              <a:rPr sz="2280" spc="132" dirty="0">
                <a:latin typeface="Calibri"/>
                <a:cs typeface="Calibri"/>
              </a:rPr>
              <a:t> </a:t>
            </a:r>
            <a:r>
              <a:rPr sz="2280" dirty="0">
                <a:latin typeface="Calibri"/>
                <a:cs typeface="Calibri"/>
              </a:rPr>
              <a:t>a</a:t>
            </a:r>
            <a:r>
              <a:rPr sz="2280" spc="126" dirty="0">
                <a:latin typeface="Calibri"/>
                <a:cs typeface="Calibri"/>
              </a:rPr>
              <a:t> </a:t>
            </a:r>
            <a:r>
              <a:rPr sz="2280" dirty="0">
                <a:latin typeface="Calibri"/>
                <a:cs typeface="Calibri"/>
              </a:rPr>
              <a:t>set</a:t>
            </a:r>
            <a:r>
              <a:rPr sz="2280" spc="114" dirty="0">
                <a:latin typeface="Calibri"/>
                <a:cs typeface="Calibri"/>
              </a:rPr>
              <a:t> </a:t>
            </a:r>
            <a:r>
              <a:rPr sz="2280" dirty="0">
                <a:latin typeface="Calibri"/>
                <a:cs typeface="Calibri"/>
              </a:rPr>
              <a:t>of</a:t>
            </a:r>
            <a:r>
              <a:rPr sz="2280" spc="126" dirty="0">
                <a:latin typeface="Calibri"/>
                <a:cs typeface="Calibri"/>
              </a:rPr>
              <a:t> </a:t>
            </a:r>
            <a:r>
              <a:rPr sz="2280" dirty="0">
                <a:latin typeface="Calibri"/>
                <a:cs typeface="Calibri"/>
              </a:rPr>
              <a:t>five</a:t>
            </a:r>
            <a:r>
              <a:rPr sz="2280" spc="126" dirty="0">
                <a:latin typeface="Calibri"/>
                <a:cs typeface="Calibri"/>
              </a:rPr>
              <a:t> </a:t>
            </a:r>
            <a:r>
              <a:rPr sz="2280" b="1" dirty="0">
                <a:latin typeface="Calibri"/>
                <a:cs typeface="Calibri"/>
              </a:rPr>
              <a:t>generic</a:t>
            </a:r>
            <a:r>
              <a:rPr sz="2280" b="1" spc="126" dirty="0">
                <a:latin typeface="Calibri"/>
                <a:cs typeface="Calibri"/>
              </a:rPr>
              <a:t> </a:t>
            </a:r>
            <a:r>
              <a:rPr sz="2280" b="1" dirty="0">
                <a:latin typeface="Calibri"/>
                <a:cs typeface="Calibri"/>
              </a:rPr>
              <a:t>goals(GG)</a:t>
            </a:r>
            <a:r>
              <a:rPr sz="2280" b="1" spc="126" dirty="0">
                <a:latin typeface="Calibri"/>
                <a:cs typeface="Calibri"/>
              </a:rPr>
              <a:t> </a:t>
            </a:r>
            <a:r>
              <a:rPr sz="2280" dirty="0">
                <a:latin typeface="Calibri"/>
                <a:cs typeface="Calibri"/>
              </a:rPr>
              <a:t>and</a:t>
            </a:r>
            <a:r>
              <a:rPr sz="2280" spc="126" dirty="0">
                <a:latin typeface="Calibri"/>
                <a:cs typeface="Calibri"/>
              </a:rPr>
              <a:t> </a:t>
            </a:r>
            <a:r>
              <a:rPr sz="2280" dirty="0">
                <a:latin typeface="Calibri"/>
                <a:cs typeface="Calibri"/>
              </a:rPr>
              <a:t>related</a:t>
            </a:r>
            <a:r>
              <a:rPr sz="2280" spc="126" dirty="0">
                <a:latin typeface="Calibri"/>
                <a:cs typeface="Calibri"/>
              </a:rPr>
              <a:t> </a:t>
            </a:r>
            <a:r>
              <a:rPr sz="2280" dirty="0">
                <a:latin typeface="Calibri"/>
                <a:cs typeface="Calibri"/>
              </a:rPr>
              <a:t>practices</a:t>
            </a:r>
            <a:r>
              <a:rPr sz="2280" spc="132" dirty="0">
                <a:latin typeface="Calibri"/>
                <a:cs typeface="Calibri"/>
              </a:rPr>
              <a:t> </a:t>
            </a:r>
            <a:r>
              <a:rPr sz="2280" dirty="0">
                <a:latin typeface="Calibri"/>
                <a:cs typeface="Calibri"/>
              </a:rPr>
              <a:t>for</a:t>
            </a:r>
            <a:r>
              <a:rPr sz="2280" spc="114" dirty="0">
                <a:latin typeface="Calibri"/>
                <a:cs typeface="Calibri"/>
              </a:rPr>
              <a:t> </a:t>
            </a:r>
            <a:r>
              <a:rPr sz="2280" spc="-24" dirty="0">
                <a:latin typeface="Calibri"/>
                <a:cs typeface="Calibri"/>
              </a:rPr>
              <a:t>each </a:t>
            </a:r>
            <a:r>
              <a:rPr sz="2280" dirty="0">
                <a:latin typeface="Calibri"/>
                <a:cs typeface="Calibri"/>
              </a:rPr>
              <a:t>process</a:t>
            </a:r>
            <a:r>
              <a:rPr sz="2280" spc="-102" dirty="0">
                <a:latin typeface="Calibri"/>
                <a:cs typeface="Calibri"/>
              </a:rPr>
              <a:t> </a:t>
            </a:r>
            <a:r>
              <a:rPr sz="2280" spc="-24" dirty="0">
                <a:latin typeface="Calibri"/>
                <a:cs typeface="Calibri"/>
              </a:rPr>
              <a:t>area.</a:t>
            </a:r>
            <a:endParaRPr sz="2280">
              <a:latin typeface="Calibri"/>
              <a:cs typeface="Calibri"/>
            </a:endParaRPr>
          </a:p>
          <a:p>
            <a:pPr marL="425958" indent="-410718">
              <a:spcBef>
                <a:spcPts val="551"/>
              </a:spcBef>
              <a:buFont typeface="Arial MT"/>
              <a:buChar char="•"/>
              <a:tabLst>
                <a:tab pos="425958" algn="l"/>
              </a:tabLst>
            </a:pPr>
            <a:r>
              <a:rPr sz="2280" dirty="0">
                <a:latin typeface="Calibri"/>
                <a:cs typeface="Calibri"/>
              </a:rPr>
              <a:t>Each</a:t>
            </a:r>
            <a:r>
              <a:rPr sz="2280" spc="-54" dirty="0">
                <a:latin typeface="Calibri"/>
                <a:cs typeface="Calibri"/>
              </a:rPr>
              <a:t> </a:t>
            </a:r>
            <a:r>
              <a:rPr sz="2280" dirty="0">
                <a:latin typeface="Calibri"/>
                <a:cs typeface="Calibri"/>
              </a:rPr>
              <a:t>of</a:t>
            </a:r>
            <a:r>
              <a:rPr sz="2280" spc="-60" dirty="0">
                <a:latin typeface="Calibri"/>
                <a:cs typeface="Calibri"/>
              </a:rPr>
              <a:t> </a:t>
            </a:r>
            <a:r>
              <a:rPr sz="2280" dirty="0">
                <a:latin typeface="Calibri"/>
                <a:cs typeface="Calibri"/>
              </a:rPr>
              <a:t>the</a:t>
            </a:r>
            <a:r>
              <a:rPr sz="2280" spc="-54" dirty="0">
                <a:latin typeface="Calibri"/>
                <a:cs typeface="Calibri"/>
              </a:rPr>
              <a:t> </a:t>
            </a:r>
            <a:r>
              <a:rPr sz="2280" dirty="0">
                <a:latin typeface="Calibri"/>
                <a:cs typeface="Calibri"/>
              </a:rPr>
              <a:t>five</a:t>
            </a:r>
            <a:r>
              <a:rPr sz="2280" spc="-36" dirty="0">
                <a:latin typeface="Calibri"/>
                <a:cs typeface="Calibri"/>
              </a:rPr>
              <a:t> </a:t>
            </a:r>
            <a:r>
              <a:rPr sz="2280" dirty="0">
                <a:latin typeface="Calibri"/>
                <a:cs typeface="Calibri"/>
              </a:rPr>
              <a:t>generic</a:t>
            </a:r>
            <a:r>
              <a:rPr sz="2280" spc="-42" dirty="0">
                <a:latin typeface="Calibri"/>
                <a:cs typeface="Calibri"/>
              </a:rPr>
              <a:t> </a:t>
            </a:r>
            <a:r>
              <a:rPr sz="2280" dirty="0">
                <a:latin typeface="Calibri"/>
                <a:cs typeface="Calibri"/>
              </a:rPr>
              <a:t>goals</a:t>
            </a:r>
            <a:r>
              <a:rPr sz="2280" spc="-42" dirty="0">
                <a:latin typeface="Calibri"/>
                <a:cs typeface="Calibri"/>
              </a:rPr>
              <a:t> </a:t>
            </a:r>
            <a:r>
              <a:rPr sz="2280" spc="-12" dirty="0">
                <a:latin typeface="Calibri"/>
                <a:cs typeface="Calibri"/>
              </a:rPr>
              <a:t>corresponds</a:t>
            </a:r>
            <a:r>
              <a:rPr sz="2280" spc="-66" dirty="0">
                <a:latin typeface="Calibri"/>
                <a:cs typeface="Calibri"/>
              </a:rPr>
              <a:t> </a:t>
            </a:r>
            <a:r>
              <a:rPr sz="2280" dirty="0">
                <a:latin typeface="Calibri"/>
                <a:cs typeface="Calibri"/>
              </a:rPr>
              <a:t>to</a:t>
            </a:r>
            <a:r>
              <a:rPr sz="2280" spc="-42" dirty="0">
                <a:latin typeface="Calibri"/>
                <a:cs typeface="Calibri"/>
              </a:rPr>
              <a:t> </a:t>
            </a:r>
            <a:r>
              <a:rPr sz="2280" dirty="0">
                <a:latin typeface="Calibri"/>
                <a:cs typeface="Calibri"/>
              </a:rPr>
              <a:t>one</a:t>
            </a:r>
            <a:r>
              <a:rPr sz="2280" spc="-60" dirty="0">
                <a:latin typeface="Calibri"/>
                <a:cs typeface="Calibri"/>
              </a:rPr>
              <a:t> </a:t>
            </a:r>
            <a:r>
              <a:rPr sz="2280" dirty="0">
                <a:latin typeface="Calibri"/>
                <a:cs typeface="Calibri"/>
              </a:rPr>
              <a:t>of</a:t>
            </a:r>
            <a:r>
              <a:rPr sz="2280" spc="-60" dirty="0">
                <a:latin typeface="Calibri"/>
                <a:cs typeface="Calibri"/>
              </a:rPr>
              <a:t> </a:t>
            </a:r>
            <a:r>
              <a:rPr sz="2280" dirty="0">
                <a:latin typeface="Calibri"/>
                <a:cs typeface="Calibri"/>
              </a:rPr>
              <a:t>the</a:t>
            </a:r>
            <a:r>
              <a:rPr sz="2280" spc="-54" dirty="0">
                <a:latin typeface="Calibri"/>
                <a:cs typeface="Calibri"/>
              </a:rPr>
              <a:t> </a:t>
            </a:r>
            <a:r>
              <a:rPr sz="2280" dirty="0">
                <a:latin typeface="Calibri"/>
                <a:cs typeface="Calibri"/>
              </a:rPr>
              <a:t>five</a:t>
            </a:r>
            <a:r>
              <a:rPr sz="2280" spc="-42" dirty="0">
                <a:latin typeface="Calibri"/>
                <a:cs typeface="Calibri"/>
              </a:rPr>
              <a:t> </a:t>
            </a:r>
            <a:r>
              <a:rPr sz="2280" dirty="0">
                <a:latin typeface="Calibri"/>
                <a:cs typeface="Calibri"/>
              </a:rPr>
              <a:t>capability</a:t>
            </a:r>
            <a:r>
              <a:rPr sz="2280" spc="-42" dirty="0">
                <a:latin typeface="Calibri"/>
                <a:cs typeface="Calibri"/>
              </a:rPr>
              <a:t> </a:t>
            </a:r>
            <a:r>
              <a:rPr sz="2280" spc="-12" dirty="0">
                <a:latin typeface="Calibri"/>
                <a:cs typeface="Calibri"/>
              </a:rPr>
              <a:t>levels</a:t>
            </a:r>
            <a:endParaRPr sz="2280">
              <a:latin typeface="Calibri"/>
              <a:cs typeface="Calibri"/>
            </a:endParaRPr>
          </a:p>
        </p:txBody>
      </p:sp>
      <p:sp>
        <p:nvSpPr>
          <p:cNvPr id="3" name="object 3"/>
          <p:cNvSpPr txBox="1"/>
          <p:nvPr/>
        </p:nvSpPr>
        <p:spPr>
          <a:xfrm>
            <a:off x="738605" y="1441520"/>
            <a:ext cx="3975354" cy="702499"/>
          </a:xfrm>
          <a:prstGeom prst="rect">
            <a:avLst/>
          </a:prstGeom>
          <a:ln w="9525">
            <a:solidFill>
              <a:srgbClr val="000000"/>
            </a:solidFill>
          </a:ln>
        </p:spPr>
        <p:txBody>
          <a:bodyPr vert="horz" wrap="square" lIns="0" tIns="37337" rIns="0" bIns="0" rtlCol="0">
            <a:spAutoFit/>
          </a:bodyPr>
          <a:lstStyle/>
          <a:p>
            <a:pPr marL="109728">
              <a:spcBef>
                <a:spcPts val="293"/>
              </a:spcBef>
            </a:pPr>
            <a:r>
              <a:rPr sz="2160" b="1" dirty="0">
                <a:solidFill>
                  <a:srgbClr val="C00000"/>
                </a:solidFill>
                <a:latin typeface="Calibri"/>
                <a:cs typeface="Calibri"/>
              </a:rPr>
              <a:t>GG</a:t>
            </a:r>
            <a:r>
              <a:rPr sz="2160" b="1" spc="-24" dirty="0">
                <a:solidFill>
                  <a:srgbClr val="C00000"/>
                </a:solidFill>
                <a:latin typeface="Calibri"/>
                <a:cs typeface="Calibri"/>
              </a:rPr>
              <a:t> </a:t>
            </a:r>
            <a:r>
              <a:rPr sz="2160" b="1" dirty="0">
                <a:solidFill>
                  <a:srgbClr val="C00000"/>
                </a:solidFill>
                <a:latin typeface="Calibri"/>
                <a:cs typeface="Calibri"/>
              </a:rPr>
              <a:t>1</a:t>
            </a:r>
            <a:r>
              <a:rPr sz="2160" b="1" spc="-24" dirty="0">
                <a:solidFill>
                  <a:srgbClr val="C00000"/>
                </a:solidFill>
                <a:latin typeface="Calibri"/>
                <a:cs typeface="Calibri"/>
              </a:rPr>
              <a:t> </a:t>
            </a:r>
            <a:r>
              <a:rPr sz="2160" b="1" dirty="0">
                <a:solidFill>
                  <a:srgbClr val="C00000"/>
                </a:solidFill>
                <a:latin typeface="Calibri"/>
                <a:cs typeface="Calibri"/>
              </a:rPr>
              <a:t>Achieve</a:t>
            </a:r>
            <a:r>
              <a:rPr sz="2160" b="1" spc="-78" dirty="0">
                <a:solidFill>
                  <a:srgbClr val="C00000"/>
                </a:solidFill>
                <a:latin typeface="Calibri"/>
                <a:cs typeface="Calibri"/>
              </a:rPr>
              <a:t> </a:t>
            </a:r>
            <a:r>
              <a:rPr sz="2160" b="1" dirty="0">
                <a:solidFill>
                  <a:srgbClr val="C00000"/>
                </a:solidFill>
                <a:latin typeface="Calibri"/>
                <a:cs typeface="Calibri"/>
              </a:rPr>
              <a:t>Specific</a:t>
            </a:r>
            <a:r>
              <a:rPr sz="2160" b="1" spc="-54" dirty="0">
                <a:solidFill>
                  <a:srgbClr val="C00000"/>
                </a:solidFill>
                <a:latin typeface="Calibri"/>
                <a:cs typeface="Calibri"/>
              </a:rPr>
              <a:t> </a:t>
            </a:r>
            <a:r>
              <a:rPr sz="2160" b="1" spc="-12" dirty="0">
                <a:solidFill>
                  <a:srgbClr val="C00000"/>
                </a:solidFill>
                <a:latin typeface="Calibri"/>
                <a:cs typeface="Calibri"/>
              </a:rPr>
              <a:t>Goals</a:t>
            </a:r>
            <a:endParaRPr sz="2160">
              <a:latin typeface="Calibri"/>
              <a:cs typeface="Calibri"/>
            </a:endParaRPr>
          </a:p>
          <a:p>
            <a:pPr marL="235458"/>
            <a:r>
              <a:rPr sz="2160" dirty="0">
                <a:latin typeface="Calibri"/>
                <a:cs typeface="Calibri"/>
              </a:rPr>
              <a:t>GP</a:t>
            </a:r>
            <a:r>
              <a:rPr sz="2160" spc="-18" dirty="0">
                <a:latin typeface="Calibri"/>
                <a:cs typeface="Calibri"/>
              </a:rPr>
              <a:t> </a:t>
            </a:r>
            <a:r>
              <a:rPr sz="2160" dirty="0">
                <a:latin typeface="Calibri"/>
                <a:cs typeface="Calibri"/>
              </a:rPr>
              <a:t>1.1</a:t>
            </a:r>
            <a:r>
              <a:rPr sz="2160" spc="-18" dirty="0">
                <a:latin typeface="Calibri"/>
                <a:cs typeface="Calibri"/>
              </a:rPr>
              <a:t> </a:t>
            </a:r>
            <a:r>
              <a:rPr sz="2160" spc="-12" dirty="0">
                <a:latin typeface="Calibri"/>
                <a:cs typeface="Calibri"/>
              </a:rPr>
              <a:t>Perform</a:t>
            </a:r>
            <a:r>
              <a:rPr sz="2160" spc="-18" dirty="0">
                <a:latin typeface="Calibri"/>
                <a:cs typeface="Calibri"/>
              </a:rPr>
              <a:t> </a:t>
            </a:r>
            <a:r>
              <a:rPr sz="2160" dirty="0">
                <a:latin typeface="Calibri"/>
                <a:cs typeface="Calibri"/>
              </a:rPr>
              <a:t>Base</a:t>
            </a:r>
            <a:r>
              <a:rPr sz="2160" spc="-24" dirty="0">
                <a:latin typeface="Calibri"/>
                <a:cs typeface="Calibri"/>
              </a:rPr>
              <a:t> </a:t>
            </a:r>
            <a:r>
              <a:rPr sz="2160" spc="-12" dirty="0">
                <a:latin typeface="Calibri"/>
                <a:cs typeface="Calibri"/>
              </a:rPr>
              <a:t>Practices</a:t>
            </a:r>
            <a:endParaRPr sz="2160">
              <a:latin typeface="Calibri"/>
              <a:cs typeface="Calibri"/>
            </a:endParaRPr>
          </a:p>
        </p:txBody>
      </p:sp>
      <p:sp>
        <p:nvSpPr>
          <p:cNvPr id="4" name="object 4"/>
          <p:cNvSpPr txBox="1"/>
          <p:nvPr/>
        </p:nvSpPr>
        <p:spPr>
          <a:xfrm>
            <a:off x="738605" y="2305712"/>
            <a:ext cx="4991862" cy="4358885"/>
          </a:xfrm>
          <a:prstGeom prst="rect">
            <a:avLst/>
          </a:prstGeom>
          <a:ln w="9525">
            <a:solidFill>
              <a:srgbClr val="000000"/>
            </a:solidFill>
          </a:ln>
        </p:spPr>
        <p:txBody>
          <a:bodyPr vert="horz" wrap="square" lIns="0" tIns="37337" rIns="0" bIns="0" rtlCol="0">
            <a:spAutoFit/>
          </a:bodyPr>
          <a:lstStyle/>
          <a:p>
            <a:pPr marL="235458" marR="265938" indent="-126492" algn="just">
              <a:spcBef>
                <a:spcPts val="293"/>
              </a:spcBef>
            </a:pPr>
            <a:r>
              <a:rPr sz="2160" b="1" dirty="0">
                <a:solidFill>
                  <a:srgbClr val="C00000"/>
                </a:solidFill>
                <a:latin typeface="Calibri"/>
                <a:cs typeface="Calibri"/>
              </a:rPr>
              <a:t>GG</a:t>
            </a:r>
            <a:r>
              <a:rPr sz="2160" b="1" spc="-36" dirty="0">
                <a:solidFill>
                  <a:srgbClr val="C00000"/>
                </a:solidFill>
                <a:latin typeface="Calibri"/>
                <a:cs typeface="Calibri"/>
              </a:rPr>
              <a:t> </a:t>
            </a:r>
            <a:r>
              <a:rPr sz="2160" b="1" dirty="0">
                <a:solidFill>
                  <a:srgbClr val="C00000"/>
                </a:solidFill>
                <a:latin typeface="Calibri"/>
                <a:cs typeface="Calibri"/>
              </a:rPr>
              <a:t>2</a:t>
            </a:r>
            <a:r>
              <a:rPr sz="2160" b="1" spc="-42" dirty="0">
                <a:solidFill>
                  <a:srgbClr val="C00000"/>
                </a:solidFill>
                <a:latin typeface="Calibri"/>
                <a:cs typeface="Calibri"/>
              </a:rPr>
              <a:t> </a:t>
            </a:r>
            <a:r>
              <a:rPr sz="2160" b="1" dirty="0">
                <a:solidFill>
                  <a:srgbClr val="C00000"/>
                </a:solidFill>
                <a:latin typeface="Calibri"/>
                <a:cs typeface="Calibri"/>
              </a:rPr>
              <a:t>Institutionalize</a:t>
            </a:r>
            <a:r>
              <a:rPr sz="2160" b="1" spc="-54" dirty="0">
                <a:solidFill>
                  <a:srgbClr val="C00000"/>
                </a:solidFill>
                <a:latin typeface="Calibri"/>
                <a:cs typeface="Calibri"/>
              </a:rPr>
              <a:t> </a:t>
            </a:r>
            <a:r>
              <a:rPr sz="2160" b="1" dirty="0">
                <a:solidFill>
                  <a:srgbClr val="C00000"/>
                </a:solidFill>
                <a:latin typeface="Calibri"/>
                <a:cs typeface="Calibri"/>
              </a:rPr>
              <a:t>a</a:t>
            </a:r>
            <a:r>
              <a:rPr sz="2160" b="1" spc="-66" dirty="0">
                <a:solidFill>
                  <a:srgbClr val="C00000"/>
                </a:solidFill>
                <a:latin typeface="Calibri"/>
                <a:cs typeface="Calibri"/>
              </a:rPr>
              <a:t> </a:t>
            </a:r>
            <a:r>
              <a:rPr sz="2160" b="1" dirty="0">
                <a:solidFill>
                  <a:srgbClr val="C00000"/>
                </a:solidFill>
                <a:latin typeface="Calibri"/>
                <a:cs typeface="Calibri"/>
              </a:rPr>
              <a:t>Managed</a:t>
            </a:r>
            <a:r>
              <a:rPr sz="2160" b="1" spc="-66" dirty="0">
                <a:solidFill>
                  <a:srgbClr val="C00000"/>
                </a:solidFill>
                <a:latin typeface="Calibri"/>
                <a:cs typeface="Calibri"/>
              </a:rPr>
              <a:t> </a:t>
            </a:r>
            <a:r>
              <a:rPr sz="2160" b="1" spc="-12" dirty="0">
                <a:solidFill>
                  <a:srgbClr val="C00000"/>
                </a:solidFill>
                <a:latin typeface="Calibri"/>
                <a:cs typeface="Calibri"/>
              </a:rPr>
              <a:t>Process </a:t>
            </a:r>
            <a:r>
              <a:rPr sz="2160" dirty="0">
                <a:latin typeface="Calibri"/>
                <a:cs typeface="Calibri"/>
              </a:rPr>
              <a:t>GP</a:t>
            </a:r>
            <a:r>
              <a:rPr sz="2160" spc="-30" dirty="0">
                <a:latin typeface="Calibri"/>
                <a:cs typeface="Calibri"/>
              </a:rPr>
              <a:t> </a:t>
            </a:r>
            <a:r>
              <a:rPr sz="2160" dirty="0">
                <a:latin typeface="Calibri"/>
                <a:cs typeface="Calibri"/>
              </a:rPr>
              <a:t>2.1</a:t>
            </a:r>
            <a:r>
              <a:rPr sz="2160" spc="-30" dirty="0">
                <a:latin typeface="Calibri"/>
                <a:cs typeface="Calibri"/>
              </a:rPr>
              <a:t> </a:t>
            </a:r>
            <a:r>
              <a:rPr sz="2160" spc="-12" dirty="0">
                <a:latin typeface="Calibri"/>
                <a:cs typeface="Calibri"/>
              </a:rPr>
              <a:t>Establish</a:t>
            </a:r>
            <a:r>
              <a:rPr sz="2160" spc="-24" dirty="0">
                <a:latin typeface="Calibri"/>
                <a:cs typeface="Calibri"/>
              </a:rPr>
              <a:t> </a:t>
            </a:r>
            <a:r>
              <a:rPr sz="2160" dirty="0">
                <a:latin typeface="Calibri"/>
                <a:cs typeface="Calibri"/>
              </a:rPr>
              <a:t>an</a:t>
            </a:r>
            <a:r>
              <a:rPr sz="2160" spc="-18" dirty="0">
                <a:latin typeface="Calibri"/>
                <a:cs typeface="Calibri"/>
              </a:rPr>
              <a:t> </a:t>
            </a:r>
            <a:r>
              <a:rPr sz="2160" spc="-12" dirty="0">
                <a:latin typeface="Calibri"/>
                <a:cs typeface="Calibri"/>
              </a:rPr>
              <a:t>Organizational</a:t>
            </a:r>
            <a:r>
              <a:rPr sz="2160" spc="-18" dirty="0">
                <a:latin typeface="Calibri"/>
                <a:cs typeface="Calibri"/>
              </a:rPr>
              <a:t> </a:t>
            </a:r>
            <a:r>
              <a:rPr sz="2160" spc="-12" dirty="0">
                <a:latin typeface="Calibri"/>
                <a:cs typeface="Calibri"/>
              </a:rPr>
              <a:t>Policy </a:t>
            </a:r>
            <a:r>
              <a:rPr sz="2160" dirty="0">
                <a:latin typeface="Calibri"/>
                <a:cs typeface="Calibri"/>
              </a:rPr>
              <a:t>GP</a:t>
            </a:r>
            <a:r>
              <a:rPr sz="2160" spc="-18" dirty="0">
                <a:latin typeface="Calibri"/>
                <a:cs typeface="Calibri"/>
              </a:rPr>
              <a:t> </a:t>
            </a:r>
            <a:r>
              <a:rPr sz="2160" dirty="0">
                <a:latin typeface="Calibri"/>
                <a:cs typeface="Calibri"/>
              </a:rPr>
              <a:t>2.2</a:t>
            </a:r>
            <a:r>
              <a:rPr sz="2160" spc="-18" dirty="0">
                <a:latin typeface="Calibri"/>
                <a:cs typeface="Calibri"/>
              </a:rPr>
              <a:t> </a:t>
            </a:r>
            <a:r>
              <a:rPr sz="2160" dirty="0">
                <a:latin typeface="Calibri"/>
                <a:cs typeface="Calibri"/>
              </a:rPr>
              <a:t>Plan the</a:t>
            </a:r>
            <a:r>
              <a:rPr sz="2160" spc="-18" dirty="0">
                <a:latin typeface="Calibri"/>
                <a:cs typeface="Calibri"/>
              </a:rPr>
              <a:t> </a:t>
            </a:r>
            <a:r>
              <a:rPr sz="2160" spc="-12" dirty="0">
                <a:latin typeface="Calibri"/>
                <a:cs typeface="Calibri"/>
              </a:rPr>
              <a:t>Process</a:t>
            </a:r>
            <a:endParaRPr sz="2160">
              <a:latin typeface="Calibri"/>
              <a:cs typeface="Calibri"/>
            </a:endParaRPr>
          </a:p>
          <a:p>
            <a:pPr marL="235458" marR="1649730"/>
            <a:r>
              <a:rPr sz="2160" dirty="0">
                <a:latin typeface="Calibri"/>
                <a:cs typeface="Calibri"/>
              </a:rPr>
              <a:t>GP</a:t>
            </a:r>
            <a:r>
              <a:rPr sz="2160" spc="-42" dirty="0">
                <a:latin typeface="Calibri"/>
                <a:cs typeface="Calibri"/>
              </a:rPr>
              <a:t> </a:t>
            </a:r>
            <a:r>
              <a:rPr sz="2160" dirty="0">
                <a:latin typeface="Calibri"/>
                <a:cs typeface="Calibri"/>
              </a:rPr>
              <a:t>2.3</a:t>
            </a:r>
            <a:r>
              <a:rPr sz="2160" spc="-36" dirty="0">
                <a:latin typeface="Calibri"/>
                <a:cs typeface="Calibri"/>
              </a:rPr>
              <a:t> </a:t>
            </a:r>
            <a:r>
              <a:rPr sz="2160" dirty="0">
                <a:latin typeface="Calibri"/>
                <a:cs typeface="Calibri"/>
              </a:rPr>
              <a:t>Provide</a:t>
            </a:r>
            <a:r>
              <a:rPr sz="2160" spc="-30" dirty="0">
                <a:latin typeface="Calibri"/>
                <a:cs typeface="Calibri"/>
              </a:rPr>
              <a:t> </a:t>
            </a:r>
            <a:r>
              <a:rPr sz="2160" spc="-12" dirty="0">
                <a:latin typeface="Calibri"/>
                <a:cs typeface="Calibri"/>
              </a:rPr>
              <a:t>Resources </a:t>
            </a:r>
            <a:r>
              <a:rPr sz="2160" dirty="0">
                <a:latin typeface="Calibri"/>
                <a:cs typeface="Calibri"/>
              </a:rPr>
              <a:t>GP</a:t>
            </a:r>
            <a:r>
              <a:rPr sz="2160" spc="-18" dirty="0">
                <a:latin typeface="Calibri"/>
                <a:cs typeface="Calibri"/>
              </a:rPr>
              <a:t> </a:t>
            </a:r>
            <a:r>
              <a:rPr sz="2160" dirty="0">
                <a:latin typeface="Calibri"/>
                <a:cs typeface="Calibri"/>
              </a:rPr>
              <a:t>2.4</a:t>
            </a:r>
            <a:r>
              <a:rPr sz="2160" spc="-18" dirty="0">
                <a:latin typeface="Calibri"/>
                <a:cs typeface="Calibri"/>
              </a:rPr>
              <a:t> </a:t>
            </a:r>
            <a:r>
              <a:rPr sz="2160" dirty="0">
                <a:latin typeface="Calibri"/>
                <a:cs typeface="Calibri"/>
              </a:rPr>
              <a:t>Assign</a:t>
            </a:r>
            <a:r>
              <a:rPr sz="2160" spc="-30" dirty="0">
                <a:latin typeface="Calibri"/>
                <a:cs typeface="Calibri"/>
              </a:rPr>
              <a:t> </a:t>
            </a:r>
            <a:r>
              <a:rPr sz="2160" spc="-12" dirty="0">
                <a:latin typeface="Calibri"/>
                <a:cs typeface="Calibri"/>
              </a:rPr>
              <a:t>Responsibility </a:t>
            </a:r>
            <a:r>
              <a:rPr sz="2160" dirty="0">
                <a:latin typeface="Calibri"/>
                <a:cs typeface="Calibri"/>
              </a:rPr>
              <a:t>GP</a:t>
            </a:r>
            <a:r>
              <a:rPr sz="2160" spc="-24" dirty="0">
                <a:latin typeface="Calibri"/>
                <a:cs typeface="Calibri"/>
              </a:rPr>
              <a:t> </a:t>
            </a:r>
            <a:r>
              <a:rPr sz="2160" dirty="0">
                <a:latin typeface="Calibri"/>
                <a:cs typeface="Calibri"/>
              </a:rPr>
              <a:t>2.5</a:t>
            </a:r>
            <a:r>
              <a:rPr sz="2160" spc="-24" dirty="0">
                <a:latin typeface="Calibri"/>
                <a:cs typeface="Calibri"/>
              </a:rPr>
              <a:t> </a:t>
            </a:r>
            <a:r>
              <a:rPr sz="2160" spc="-30" dirty="0">
                <a:latin typeface="Calibri"/>
                <a:cs typeface="Calibri"/>
              </a:rPr>
              <a:t>Train </a:t>
            </a:r>
            <a:r>
              <a:rPr sz="2160" spc="-12" dirty="0">
                <a:latin typeface="Calibri"/>
                <a:cs typeface="Calibri"/>
              </a:rPr>
              <a:t>People</a:t>
            </a:r>
            <a:endParaRPr sz="2160">
              <a:latin typeface="Calibri"/>
              <a:cs typeface="Calibri"/>
            </a:endParaRPr>
          </a:p>
          <a:p>
            <a:pPr marL="235458"/>
            <a:r>
              <a:rPr sz="2160" dirty="0">
                <a:latin typeface="Calibri"/>
                <a:cs typeface="Calibri"/>
              </a:rPr>
              <a:t>GP</a:t>
            </a:r>
            <a:r>
              <a:rPr sz="2160" spc="-36" dirty="0">
                <a:latin typeface="Calibri"/>
                <a:cs typeface="Calibri"/>
              </a:rPr>
              <a:t> </a:t>
            </a:r>
            <a:r>
              <a:rPr sz="2160" dirty="0">
                <a:latin typeface="Calibri"/>
                <a:cs typeface="Calibri"/>
              </a:rPr>
              <a:t>2.6</a:t>
            </a:r>
            <a:r>
              <a:rPr sz="2160" spc="-30" dirty="0">
                <a:latin typeface="Calibri"/>
                <a:cs typeface="Calibri"/>
              </a:rPr>
              <a:t> </a:t>
            </a:r>
            <a:r>
              <a:rPr sz="2160" dirty="0">
                <a:latin typeface="Calibri"/>
                <a:cs typeface="Calibri"/>
              </a:rPr>
              <a:t>Manage</a:t>
            </a:r>
            <a:r>
              <a:rPr sz="2160" spc="-24" dirty="0">
                <a:latin typeface="Calibri"/>
                <a:cs typeface="Calibri"/>
              </a:rPr>
              <a:t> </a:t>
            </a:r>
            <a:r>
              <a:rPr sz="2160" spc="-12" dirty="0">
                <a:latin typeface="Calibri"/>
                <a:cs typeface="Calibri"/>
              </a:rPr>
              <a:t>Configurations</a:t>
            </a:r>
            <a:endParaRPr sz="2160">
              <a:latin typeface="Calibri"/>
              <a:cs typeface="Calibri"/>
            </a:endParaRPr>
          </a:p>
          <a:p>
            <a:pPr marL="235458">
              <a:spcBef>
                <a:spcPts val="6"/>
              </a:spcBef>
            </a:pPr>
            <a:r>
              <a:rPr sz="2160" dirty="0">
                <a:latin typeface="Calibri"/>
                <a:cs typeface="Calibri"/>
              </a:rPr>
              <a:t>GP</a:t>
            </a:r>
            <a:r>
              <a:rPr sz="2160" spc="-48" dirty="0">
                <a:latin typeface="Calibri"/>
                <a:cs typeface="Calibri"/>
              </a:rPr>
              <a:t> </a:t>
            </a:r>
            <a:r>
              <a:rPr sz="2160" dirty="0">
                <a:latin typeface="Calibri"/>
                <a:cs typeface="Calibri"/>
              </a:rPr>
              <a:t>2.7</a:t>
            </a:r>
            <a:r>
              <a:rPr sz="2160" spc="-42" dirty="0">
                <a:latin typeface="Calibri"/>
                <a:cs typeface="Calibri"/>
              </a:rPr>
              <a:t> </a:t>
            </a:r>
            <a:r>
              <a:rPr sz="2160" dirty="0">
                <a:latin typeface="Calibri"/>
                <a:cs typeface="Calibri"/>
              </a:rPr>
              <a:t>Identify</a:t>
            </a:r>
            <a:r>
              <a:rPr sz="2160" spc="-60" dirty="0">
                <a:latin typeface="Calibri"/>
                <a:cs typeface="Calibri"/>
              </a:rPr>
              <a:t> </a:t>
            </a:r>
            <a:r>
              <a:rPr sz="2160" dirty="0">
                <a:latin typeface="Calibri"/>
                <a:cs typeface="Calibri"/>
              </a:rPr>
              <a:t>and</a:t>
            </a:r>
            <a:r>
              <a:rPr sz="2160" spc="-30" dirty="0">
                <a:latin typeface="Calibri"/>
                <a:cs typeface="Calibri"/>
              </a:rPr>
              <a:t> </a:t>
            </a:r>
            <a:r>
              <a:rPr sz="2160" dirty="0">
                <a:latin typeface="Calibri"/>
                <a:cs typeface="Calibri"/>
              </a:rPr>
              <a:t>Involve</a:t>
            </a:r>
            <a:r>
              <a:rPr sz="2160" spc="-54" dirty="0">
                <a:latin typeface="Calibri"/>
                <a:cs typeface="Calibri"/>
              </a:rPr>
              <a:t> </a:t>
            </a:r>
            <a:r>
              <a:rPr sz="2160" spc="-12" dirty="0">
                <a:latin typeface="Calibri"/>
                <a:cs typeface="Calibri"/>
              </a:rPr>
              <a:t>Relevant</a:t>
            </a:r>
            <a:endParaRPr sz="2160">
              <a:latin typeface="Calibri"/>
              <a:cs typeface="Calibri"/>
            </a:endParaRPr>
          </a:p>
          <a:p>
            <a:pPr marL="1207008"/>
            <a:r>
              <a:rPr sz="2160" spc="-12" dirty="0">
                <a:latin typeface="Calibri"/>
                <a:cs typeface="Calibri"/>
              </a:rPr>
              <a:t>Stakeholders</a:t>
            </a:r>
            <a:endParaRPr sz="2160">
              <a:latin typeface="Calibri"/>
              <a:cs typeface="Calibri"/>
            </a:endParaRPr>
          </a:p>
          <a:p>
            <a:pPr marL="235458" marR="256032"/>
            <a:r>
              <a:rPr sz="2160" dirty="0">
                <a:latin typeface="Calibri"/>
                <a:cs typeface="Calibri"/>
              </a:rPr>
              <a:t>GP</a:t>
            </a:r>
            <a:r>
              <a:rPr sz="2160" spc="-42" dirty="0">
                <a:latin typeface="Calibri"/>
                <a:cs typeface="Calibri"/>
              </a:rPr>
              <a:t> </a:t>
            </a:r>
            <a:r>
              <a:rPr sz="2160" dirty="0">
                <a:latin typeface="Calibri"/>
                <a:cs typeface="Calibri"/>
              </a:rPr>
              <a:t>2.8</a:t>
            </a:r>
            <a:r>
              <a:rPr sz="2160" spc="-36" dirty="0">
                <a:latin typeface="Calibri"/>
                <a:cs typeface="Calibri"/>
              </a:rPr>
              <a:t> </a:t>
            </a:r>
            <a:r>
              <a:rPr sz="2160" dirty="0">
                <a:latin typeface="Calibri"/>
                <a:cs typeface="Calibri"/>
              </a:rPr>
              <a:t>Monitor</a:t>
            </a:r>
            <a:r>
              <a:rPr sz="2160" spc="-30" dirty="0">
                <a:latin typeface="Calibri"/>
                <a:cs typeface="Calibri"/>
              </a:rPr>
              <a:t> </a:t>
            </a:r>
            <a:r>
              <a:rPr sz="2160" dirty="0">
                <a:latin typeface="Calibri"/>
                <a:cs typeface="Calibri"/>
              </a:rPr>
              <a:t>and</a:t>
            </a:r>
            <a:r>
              <a:rPr sz="2160" spc="-18" dirty="0">
                <a:latin typeface="Calibri"/>
                <a:cs typeface="Calibri"/>
              </a:rPr>
              <a:t> </a:t>
            </a:r>
            <a:r>
              <a:rPr sz="2160" dirty="0">
                <a:latin typeface="Calibri"/>
                <a:cs typeface="Calibri"/>
              </a:rPr>
              <a:t>Control</a:t>
            </a:r>
            <a:r>
              <a:rPr sz="2160" spc="-42" dirty="0">
                <a:latin typeface="Calibri"/>
                <a:cs typeface="Calibri"/>
              </a:rPr>
              <a:t> </a:t>
            </a:r>
            <a:r>
              <a:rPr sz="2160" dirty="0">
                <a:latin typeface="Calibri"/>
                <a:cs typeface="Calibri"/>
              </a:rPr>
              <a:t>the</a:t>
            </a:r>
            <a:r>
              <a:rPr sz="2160" spc="-18" dirty="0">
                <a:latin typeface="Calibri"/>
                <a:cs typeface="Calibri"/>
              </a:rPr>
              <a:t> </a:t>
            </a:r>
            <a:r>
              <a:rPr sz="2160" spc="-12" dirty="0">
                <a:latin typeface="Calibri"/>
                <a:cs typeface="Calibri"/>
              </a:rPr>
              <a:t>Process </a:t>
            </a:r>
            <a:r>
              <a:rPr sz="2160" dirty="0">
                <a:latin typeface="Calibri"/>
                <a:cs typeface="Calibri"/>
              </a:rPr>
              <a:t>GP</a:t>
            </a:r>
            <a:r>
              <a:rPr sz="2160" spc="-48" dirty="0">
                <a:latin typeface="Calibri"/>
                <a:cs typeface="Calibri"/>
              </a:rPr>
              <a:t> </a:t>
            </a:r>
            <a:r>
              <a:rPr sz="2160" dirty="0">
                <a:latin typeface="Calibri"/>
                <a:cs typeface="Calibri"/>
              </a:rPr>
              <a:t>2.9</a:t>
            </a:r>
            <a:r>
              <a:rPr sz="2160" spc="-36" dirty="0">
                <a:latin typeface="Calibri"/>
                <a:cs typeface="Calibri"/>
              </a:rPr>
              <a:t> </a:t>
            </a:r>
            <a:r>
              <a:rPr sz="2160" dirty="0">
                <a:latin typeface="Calibri"/>
                <a:cs typeface="Calibri"/>
              </a:rPr>
              <a:t>Objectively</a:t>
            </a:r>
            <a:r>
              <a:rPr sz="2160" spc="-42" dirty="0">
                <a:latin typeface="Calibri"/>
                <a:cs typeface="Calibri"/>
              </a:rPr>
              <a:t> </a:t>
            </a:r>
            <a:r>
              <a:rPr sz="2160" spc="-12" dirty="0">
                <a:latin typeface="Calibri"/>
                <a:cs typeface="Calibri"/>
              </a:rPr>
              <a:t>Evaluate</a:t>
            </a:r>
            <a:r>
              <a:rPr sz="2160" spc="-36" dirty="0">
                <a:latin typeface="Calibri"/>
                <a:cs typeface="Calibri"/>
              </a:rPr>
              <a:t> </a:t>
            </a:r>
            <a:r>
              <a:rPr sz="2160" spc="-12" dirty="0">
                <a:latin typeface="Calibri"/>
                <a:cs typeface="Calibri"/>
              </a:rPr>
              <a:t>Adherence </a:t>
            </a:r>
            <a:r>
              <a:rPr sz="2160" dirty="0">
                <a:latin typeface="Calibri"/>
                <a:cs typeface="Calibri"/>
              </a:rPr>
              <a:t>GP</a:t>
            </a:r>
            <a:r>
              <a:rPr sz="2160" spc="-48" dirty="0">
                <a:latin typeface="Calibri"/>
                <a:cs typeface="Calibri"/>
              </a:rPr>
              <a:t> </a:t>
            </a:r>
            <a:r>
              <a:rPr sz="2160" dirty="0">
                <a:latin typeface="Calibri"/>
                <a:cs typeface="Calibri"/>
              </a:rPr>
              <a:t>2.10</a:t>
            </a:r>
            <a:r>
              <a:rPr sz="2160" spc="-36" dirty="0">
                <a:latin typeface="Calibri"/>
                <a:cs typeface="Calibri"/>
              </a:rPr>
              <a:t> </a:t>
            </a:r>
            <a:r>
              <a:rPr sz="2160" dirty="0">
                <a:latin typeface="Calibri"/>
                <a:cs typeface="Calibri"/>
              </a:rPr>
              <a:t>Review</a:t>
            </a:r>
            <a:r>
              <a:rPr sz="2160" spc="-18" dirty="0">
                <a:latin typeface="Calibri"/>
                <a:cs typeface="Calibri"/>
              </a:rPr>
              <a:t> </a:t>
            </a:r>
            <a:r>
              <a:rPr sz="2160" dirty="0">
                <a:latin typeface="Calibri"/>
                <a:cs typeface="Calibri"/>
              </a:rPr>
              <a:t>Status</a:t>
            </a:r>
            <a:r>
              <a:rPr sz="2160" spc="-54" dirty="0">
                <a:latin typeface="Calibri"/>
                <a:cs typeface="Calibri"/>
              </a:rPr>
              <a:t> </a:t>
            </a:r>
            <a:r>
              <a:rPr sz="2160" dirty="0">
                <a:latin typeface="Calibri"/>
                <a:cs typeface="Calibri"/>
              </a:rPr>
              <a:t>with</a:t>
            </a:r>
            <a:r>
              <a:rPr sz="2160" spc="-30" dirty="0">
                <a:latin typeface="Calibri"/>
                <a:cs typeface="Calibri"/>
              </a:rPr>
              <a:t> </a:t>
            </a:r>
            <a:r>
              <a:rPr sz="2160" spc="-12" dirty="0">
                <a:latin typeface="Calibri"/>
                <a:cs typeface="Calibri"/>
              </a:rPr>
              <a:t>Higher-Level</a:t>
            </a:r>
            <a:endParaRPr sz="2160">
              <a:latin typeface="Calibri"/>
              <a:cs typeface="Calibri"/>
            </a:endParaRPr>
          </a:p>
          <a:p>
            <a:pPr marL="1207008"/>
            <a:r>
              <a:rPr sz="2160" spc="-12" dirty="0">
                <a:latin typeface="Calibri"/>
                <a:cs typeface="Calibri"/>
              </a:rPr>
              <a:t>Management</a:t>
            </a:r>
            <a:endParaRPr sz="2160">
              <a:latin typeface="Calibri"/>
              <a:cs typeface="Calibri"/>
            </a:endParaRPr>
          </a:p>
        </p:txBody>
      </p:sp>
      <p:sp>
        <p:nvSpPr>
          <p:cNvPr id="5" name="object 5"/>
          <p:cNvSpPr txBox="1"/>
          <p:nvPr/>
        </p:nvSpPr>
        <p:spPr>
          <a:xfrm>
            <a:off x="6009588" y="1441506"/>
            <a:ext cx="5271516" cy="1034898"/>
          </a:xfrm>
          <a:prstGeom prst="rect">
            <a:avLst/>
          </a:prstGeom>
          <a:ln w="9525">
            <a:solidFill>
              <a:srgbClr val="000000"/>
            </a:solidFill>
          </a:ln>
        </p:spPr>
        <p:txBody>
          <a:bodyPr vert="horz" wrap="square" lIns="0" tIns="37337" rIns="0" bIns="0" rtlCol="0">
            <a:spAutoFit/>
          </a:bodyPr>
          <a:lstStyle/>
          <a:p>
            <a:pPr marL="110490">
              <a:spcBef>
                <a:spcPts val="293"/>
              </a:spcBef>
            </a:pPr>
            <a:r>
              <a:rPr sz="2160" b="1" dirty="0">
                <a:solidFill>
                  <a:srgbClr val="C00000"/>
                </a:solidFill>
                <a:latin typeface="Calibri"/>
                <a:cs typeface="Calibri"/>
              </a:rPr>
              <a:t>GG</a:t>
            </a:r>
            <a:r>
              <a:rPr sz="2160" b="1" spc="6" dirty="0">
                <a:solidFill>
                  <a:srgbClr val="C00000"/>
                </a:solidFill>
                <a:latin typeface="Calibri"/>
                <a:cs typeface="Calibri"/>
              </a:rPr>
              <a:t> </a:t>
            </a:r>
            <a:r>
              <a:rPr sz="2160" b="1" dirty="0">
                <a:solidFill>
                  <a:srgbClr val="C00000"/>
                </a:solidFill>
                <a:latin typeface="Calibri"/>
                <a:cs typeface="Calibri"/>
              </a:rPr>
              <a:t>3 </a:t>
            </a:r>
            <a:r>
              <a:rPr sz="2160" b="1" spc="-12" dirty="0">
                <a:solidFill>
                  <a:srgbClr val="C00000"/>
                </a:solidFill>
                <a:latin typeface="Calibri"/>
                <a:cs typeface="Calibri"/>
              </a:rPr>
              <a:t>Institutionalize</a:t>
            </a:r>
            <a:r>
              <a:rPr sz="2160" b="1" spc="-6" dirty="0">
                <a:solidFill>
                  <a:srgbClr val="C00000"/>
                </a:solidFill>
                <a:latin typeface="Calibri"/>
                <a:cs typeface="Calibri"/>
              </a:rPr>
              <a:t> </a:t>
            </a:r>
            <a:r>
              <a:rPr sz="2160" b="1" dirty="0">
                <a:solidFill>
                  <a:srgbClr val="C00000"/>
                </a:solidFill>
                <a:latin typeface="Calibri"/>
                <a:cs typeface="Calibri"/>
              </a:rPr>
              <a:t>a</a:t>
            </a:r>
            <a:r>
              <a:rPr sz="2160" b="1" spc="-30" dirty="0">
                <a:solidFill>
                  <a:srgbClr val="C00000"/>
                </a:solidFill>
                <a:latin typeface="Calibri"/>
                <a:cs typeface="Calibri"/>
              </a:rPr>
              <a:t> </a:t>
            </a:r>
            <a:r>
              <a:rPr sz="2160" b="1" dirty="0">
                <a:solidFill>
                  <a:srgbClr val="C00000"/>
                </a:solidFill>
                <a:latin typeface="Calibri"/>
                <a:cs typeface="Calibri"/>
              </a:rPr>
              <a:t>Defined</a:t>
            </a:r>
            <a:r>
              <a:rPr sz="2160" b="1" spc="-6" dirty="0">
                <a:solidFill>
                  <a:srgbClr val="C00000"/>
                </a:solidFill>
                <a:latin typeface="Calibri"/>
                <a:cs typeface="Calibri"/>
              </a:rPr>
              <a:t> </a:t>
            </a:r>
            <a:r>
              <a:rPr sz="2160" b="1" spc="-12" dirty="0">
                <a:solidFill>
                  <a:srgbClr val="C00000"/>
                </a:solidFill>
                <a:latin typeface="Calibri"/>
                <a:cs typeface="Calibri"/>
              </a:rPr>
              <a:t>Process</a:t>
            </a:r>
            <a:endParaRPr sz="2160">
              <a:latin typeface="Calibri"/>
              <a:cs typeface="Calibri"/>
            </a:endParaRPr>
          </a:p>
          <a:p>
            <a:pPr marL="236220"/>
            <a:r>
              <a:rPr sz="2160" dirty="0">
                <a:latin typeface="Calibri"/>
                <a:cs typeface="Calibri"/>
              </a:rPr>
              <a:t>GP</a:t>
            </a:r>
            <a:r>
              <a:rPr sz="2160" spc="-30" dirty="0">
                <a:latin typeface="Calibri"/>
                <a:cs typeface="Calibri"/>
              </a:rPr>
              <a:t> </a:t>
            </a:r>
            <a:r>
              <a:rPr sz="2160" dirty="0">
                <a:latin typeface="Calibri"/>
                <a:cs typeface="Calibri"/>
              </a:rPr>
              <a:t>3.1</a:t>
            </a:r>
            <a:r>
              <a:rPr sz="2160" spc="-30" dirty="0">
                <a:latin typeface="Calibri"/>
                <a:cs typeface="Calibri"/>
              </a:rPr>
              <a:t> </a:t>
            </a:r>
            <a:r>
              <a:rPr sz="2160" spc="-12" dirty="0">
                <a:latin typeface="Calibri"/>
                <a:cs typeface="Calibri"/>
              </a:rPr>
              <a:t>Establish</a:t>
            </a:r>
            <a:r>
              <a:rPr sz="2160" spc="-30" dirty="0">
                <a:latin typeface="Calibri"/>
                <a:cs typeface="Calibri"/>
              </a:rPr>
              <a:t> </a:t>
            </a:r>
            <a:r>
              <a:rPr sz="2160" dirty="0">
                <a:latin typeface="Calibri"/>
                <a:cs typeface="Calibri"/>
              </a:rPr>
              <a:t>a</a:t>
            </a:r>
            <a:r>
              <a:rPr sz="2160" spc="-18" dirty="0">
                <a:latin typeface="Calibri"/>
                <a:cs typeface="Calibri"/>
              </a:rPr>
              <a:t> </a:t>
            </a:r>
            <a:r>
              <a:rPr sz="2160" dirty="0">
                <a:latin typeface="Calibri"/>
                <a:cs typeface="Calibri"/>
              </a:rPr>
              <a:t>Defined</a:t>
            </a:r>
            <a:r>
              <a:rPr sz="2160" spc="-12" dirty="0">
                <a:latin typeface="Calibri"/>
                <a:cs typeface="Calibri"/>
              </a:rPr>
              <a:t> Process</a:t>
            </a:r>
            <a:endParaRPr sz="2160">
              <a:latin typeface="Calibri"/>
              <a:cs typeface="Calibri"/>
            </a:endParaRPr>
          </a:p>
          <a:p>
            <a:pPr marL="236220"/>
            <a:r>
              <a:rPr sz="2160" dirty="0">
                <a:latin typeface="Calibri"/>
                <a:cs typeface="Calibri"/>
              </a:rPr>
              <a:t>GP</a:t>
            </a:r>
            <a:r>
              <a:rPr sz="2160" spc="-30" dirty="0">
                <a:latin typeface="Calibri"/>
                <a:cs typeface="Calibri"/>
              </a:rPr>
              <a:t> </a:t>
            </a:r>
            <a:r>
              <a:rPr sz="2160" dirty="0">
                <a:latin typeface="Calibri"/>
                <a:cs typeface="Calibri"/>
              </a:rPr>
              <a:t>3.2</a:t>
            </a:r>
            <a:r>
              <a:rPr sz="2160" spc="-30" dirty="0">
                <a:latin typeface="Calibri"/>
                <a:cs typeface="Calibri"/>
              </a:rPr>
              <a:t> </a:t>
            </a:r>
            <a:r>
              <a:rPr sz="2160" dirty="0">
                <a:latin typeface="Calibri"/>
                <a:cs typeface="Calibri"/>
              </a:rPr>
              <a:t>Collect</a:t>
            </a:r>
            <a:r>
              <a:rPr sz="2160" spc="-18" dirty="0">
                <a:latin typeface="Calibri"/>
                <a:cs typeface="Calibri"/>
              </a:rPr>
              <a:t> </a:t>
            </a:r>
            <a:r>
              <a:rPr sz="2160" spc="-12" dirty="0">
                <a:latin typeface="Calibri"/>
                <a:cs typeface="Calibri"/>
              </a:rPr>
              <a:t>Improvement</a:t>
            </a:r>
            <a:r>
              <a:rPr sz="2160" spc="-42" dirty="0">
                <a:latin typeface="Calibri"/>
                <a:cs typeface="Calibri"/>
              </a:rPr>
              <a:t> </a:t>
            </a:r>
            <a:r>
              <a:rPr sz="2160" spc="-12" dirty="0">
                <a:latin typeface="Calibri"/>
                <a:cs typeface="Calibri"/>
              </a:rPr>
              <a:t>Information</a:t>
            </a:r>
            <a:endParaRPr sz="2160">
              <a:latin typeface="Calibri"/>
              <a:cs typeface="Calibri"/>
            </a:endParaRPr>
          </a:p>
        </p:txBody>
      </p:sp>
      <p:sp>
        <p:nvSpPr>
          <p:cNvPr id="6" name="object 6"/>
          <p:cNvSpPr txBox="1"/>
          <p:nvPr/>
        </p:nvSpPr>
        <p:spPr>
          <a:xfrm>
            <a:off x="5836767" y="2651303"/>
            <a:ext cx="5616702" cy="1699695"/>
          </a:xfrm>
          <a:prstGeom prst="rect">
            <a:avLst/>
          </a:prstGeom>
          <a:ln w="9525">
            <a:solidFill>
              <a:srgbClr val="000000"/>
            </a:solidFill>
          </a:ln>
        </p:spPr>
        <p:txBody>
          <a:bodyPr vert="horz" wrap="square" lIns="0" tIns="37337" rIns="0" bIns="0" rtlCol="0">
            <a:spAutoFit/>
          </a:bodyPr>
          <a:lstStyle/>
          <a:p>
            <a:pPr marL="110490" marR="98298">
              <a:spcBef>
                <a:spcPts val="293"/>
              </a:spcBef>
            </a:pPr>
            <a:r>
              <a:rPr sz="2160" b="1" dirty="0">
                <a:solidFill>
                  <a:srgbClr val="C00000"/>
                </a:solidFill>
                <a:latin typeface="Calibri"/>
                <a:cs typeface="Calibri"/>
              </a:rPr>
              <a:t>GG</a:t>
            </a:r>
            <a:r>
              <a:rPr sz="2160" b="1" spc="48" dirty="0">
                <a:solidFill>
                  <a:srgbClr val="C00000"/>
                </a:solidFill>
                <a:latin typeface="Calibri"/>
                <a:cs typeface="Calibri"/>
              </a:rPr>
              <a:t> </a:t>
            </a:r>
            <a:r>
              <a:rPr sz="2160" b="1" dirty="0">
                <a:solidFill>
                  <a:srgbClr val="C00000"/>
                </a:solidFill>
                <a:latin typeface="Calibri"/>
                <a:cs typeface="Calibri"/>
              </a:rPr>
              <a:t>4</a:t>
            </a:r>
            <a:r>
              <a:rPr sz="2160" b="1" spc="42" dirty="0">
                <a:solidFill>
                  <a:srgbClr val="C00000"/>
                </a:solidFill>
                <a:latin typeface="Calibri"/>
                <a:cs typeface="Calibri"/>
              </a:rPr>
              <a:t> </a:t>
            </a:r>
            <a:r>
              <a:rPr sz="2160" b="1" dirty="0">
                <a:solidFill>
                  <a:srgbClr val="C00000"/>
                </a:solidFill>
                <a:latin typeface="Calibri"/>
                <a:cs typeface="Calibri"/>
              </a:rPr>
              <a:t>Institutionalize</a:t>
            </a:r>
            <a:r>
              <a:rPr sz="2160" b="1" spc="60" dirty="0">
                <a:solidFill>
                  <a:srgbClr val="C00000"/>
                </a:solidFill>
                <a:latin typeface="Calibri"/>
                <a:cs typeface="Calibri"/>
              </a:rPr>
              <a:t> </a:t>
            </a:r>
            <a:r>
              <a:rPr sz="2160" b="1" dirty="0">
                <a:solidFill>
                  <a:srgbClr val="C00000"/>
                </a:solidFill>
                <a:latin typeface="Calibri"/>
                <a:cs typeface="Calibri"/>
              </a:rPr>
              <a:t>a</a:t>
            </a:r>
            <a:r>
              <a:rPr sz="2160" b="1" spc="42" dirty="0">
                <a:solidFill>
                  <a:srgbClr val="C00000"/>
                </a:solidFill>
                <a:latin typeface="Calibri"/>
                <a:cs typeface="Calibri"/>
              </a:rPr>
              <a:t> </a:t>
            </a:r>
            <a:r>
              <a:rPr sz="2160" b="1" dirty="0">
                <a:solidFill>
                  <a:srgbClr val="C00000"/>
                </a:solidFill>
                <a:latin typeface="Calibri"/>
                <a:cs typeface="Calibri"/>
              </a:rPr>
              <a:t>Quantitatively</a:t>
            </a:r>
            <a:r>
              <a:rPr sz="2160" b="1" spc="48" dirty="0">
                <a:solidFill>
                  <a:srgbClr val="C00000"/>
                </a:solidFill>
                <a:latin typeface="Calibri"/>
                <a:cs typeface="Calibri"/>
              </a:rPr>
              <a:t> </a:t>
            </a:r>
            <a:r>
              <a:rPr sz="2160" b="1" spc="-12" dirty="0">
                <a:solidFill>
                  <a:srgbClr val="C00000"/>
                </a:solidFill>
                <a:latin typeface="Calibri"/>
                <a:cs typeface="Calibri"/>
              </a:rPr>
              <a:t>Managed Process</a:t>
            </a:r>
            <a:endParaRPr sz="2160">
              <a:latin typeface="Calibri"/>
              <a:cs typeface="Calibri"/>
            </a:endParaRPr>
          </a:p>
          <a:p>
            <a:pPr marL="361188"/>
            <a:r>
              <a:rPr sz="2160" dirty="0">
                <a:latin typeface="Calibri"/>
                <a:cs typeface="Calibri"/>
              </a:rPr>
              <a:t>GP</a:t>
            </a:r>
            <a:r>
              <a:rPr sz="2160" spc="-36" dirty="0">
                <a:latin typeface="Calibri"/>
                <a:cs typeface="Calibri"/>
              </a:rPr>
              <a:t> </a:t>
            </a:r>
            <a:r>
              <a:rPr sz="2160" dirty="0">
                <a:latin typeface="Calibri"/>
                <a:cs typeface="Calibri"/>
              </a:rPr>
              <a:t>4.1</a:t>
            </a:r>
            <a:r>
              <a:rPr sz="2160" spc="-36" dirty="0">
                <a:latin typeface="Calibri"/>
                <a:cs typeface="Calibri"/>
              </a:rPr>
              <a:t> </a:t>
            </a:r>
            <a:r>
              <a:rPr sz="2160" dirty="0">
                <a:latin typeface="Calibri"/>
                <a:cs typeface="Calibri"/>
              </a:rPr>
              <a:t>Establish</a:t>
            </a:r>
            <a:r>
              <a:rPr sz="2160" spc="-36" dirty="0">
                <a:latin typeface="Calibri"/>
                <a:cs typeface="Calibri"/>
              </a:rPr>
              <a:t> </a:t>
            </a:r>
            <a:r>
              <a:rPr sz="2160" spc="-12" dirty="0">
                <a:latin typeface="Calibri"/>
                <a:cs typeface="Calibri"/>
              </a:rPr>
              <a:t>Quantitative</a:t>
            </a:r>
            <a:r>
              <a:rPr sz="2160" spc="-36" dirty="0">
                <a:latin typeface="Calibri"/>
                <a:cs typeface="Calibri"/>
              </a:rPr>
              <a:t> </a:t>
            </a:r>
            <a:r>
              <a:rPr sz="2160" dirty="0">
                <a:latin typeface="Calibri"/>
                <a:cs typeface="Calibri"/>
              </a:rPr>
              <a:t>Objectives</a:t>
            </a:r>
            <a:r>
              <a:rPr sz="2160" spc="-48" dirty="0">
                <a:latin typeface="Calibri"/>
                <a:cs typeface="Calibri"/>
              </a:rPr>
              <a:t> </a:t>
            </a:r>
            <a:r>
              <a:rPr sz="2160" spc="-30" dirty="0">
                <a:latin typeface="Calibri"/>
                <a:cs typeface="Calibri"/>
              </a:rPr>
              <a:t>for</a:t>
            </a:r>
            <a:endParaRPr sz="2160">
              <a:latin typeface="Calibri"/>
              <a:cs typeface="Calibri"/>
            </a:endParaRPr>
          </a:p>
          <a:p>
            <a:pPr marL="1207770"/>
            <a:r>
              <a:rPr sz="2160" dirty="0">
                <a:latin typeface="Calibri"/>
                <a:cs typeface="Calibri"/>
              </a:rPr>
              <a:t>the</a:t>
            </a:r>
            <a:r>
              <a:rPr sz="2160" spc="-12" dirty="0">
                <a:latin typeface="Calibri"/>
                <a:cs typeface="Calibri"/>
              </a:rPr>
              <a:t> Process</a:t>
            </a:r>
            <a:endParaRPr sz="2160">
              <a:latin typeface="Calibri"/>
              <a:cs typeface="Calibri"/>
            </a:endParaRPr>
          </a:p>
          <a:p>
            <a:pPr marL="361188"/>
            <a:r>
              <a:rPr sz="2160" dirty="0">
                <a:latin typeface="Calibri"/>
                <a:cs typeface="Calibri"/>
              </a:rPr>
              <a:t>GP</a:t>
            </a:r>
            <a:r>
              <a:rPr sz="2160" spc="-12" dirty="0">
                <a:latin typeface="Calibri"/>
                <a:cs typeface="Calibri"/>
              </a:rPr>
              <a:t> </a:t>
            </a:r>
            <a:r>
              <a:rPr sz="2160" dirty="0">
                <a:latin typeface="Calibri"/>
                <a:cs typeface="Calibri"/>
              </a:rPr>
              <a:t>4.2</a:t>
            </a:r>
            <a:r>
              <a:rPr sz="2160" spc="-18" dirty="0">
                <a:latin typeface="Calibri"/>
                <a:cs typeface="Calibri"/>
              </a:rPr>
              <a:t> </a:t>
            </a:r>
            <a:r>
              <a:rPr sz="2160" spc="-12" dirty="0">
                <a:latin typeface="Calibri"/>
                <a:cs typeface="Calibri"/>
              </a:rPr>
              <a:t>Stabilize</a:t>
            </a:r>
            <a:r>
              <a:rPr sz="2160" dirty="0">
                <a:latin typeface="Calibri"/>
                <a:cs typeface="Calibri"/>
              </a:rPr>
              <a:t> </a:t>
            </a:r>
            <a:r>
              <a:rPr sz="2160" spc="-12" dirty="0">
                <a:latin typeface="Calibri"/>
                <a:cs typeface="Calibri"/>
              </a:rPr>
              <a:t>Subprocess</a:t>
            </a:r>
            <a:r>
              <a:rPr sz="2160" spc="-6" dirty="0">
                <a:latin typeface="Calibri"/>
                <a:cs typeface="Calibri"/>
              </a:rPr>
              <a:t> </a:t>
            </a:r>
            <a:r>
              <a:rPr sz="2160" spc="-12" dirty="0">
                <a:latin typeface="Calibri"/>
                <a:cs typeface="Calibri"/>
              </a:rPr>
              <a:t>Performance</a:t>
            </a:r>
            <a:endParaRPr sz="2160">
              <a:latin typeface="Calibri"/>
              <a:cs typeface="Calibri"/>
            </a:endParaRPr>
          </a:p>
        </p:txBody>
      </p:sp>
      <p:sp>
        <p:nvSpPr>
          <p:cNvPr id="7" name="object 7"/>
          <p:cNvSpPr txBox="1"/>
          <p:nvPr/>
        </p:nvSpPr>
        <p:spPr>
          <a:xfrm>
            <a:off x="5836766" y="4552326"/>
            <a:ext cx="5486400" cy="1368067"/>
          </a:xfrm>
          <a:prstGeom prst="rect">
            <a:avLst/>
          </a:prstGeom>
          <a:ln w="9525">
            <a:solidFill>
              <a:srgbClr val="000000"/>
            </a:solidFill>
          </a:ln>
        </p:spPr>
        <p:txBody>
          <a:bodyPr vert="horz" wrap="square" lIns="0" tIns="38100" rIns="0" bIns="0" rtlCol="0">
            <a:spAutoFit/>
          </a:bodyPr>
          <a:lstStyle/>
          <a:p>
            <a:pPr marL="110490">
              <a:spcBef>
                <a:spcPts val="300"/>
              </a:spcBef>
            </a:pPr>
            <a:r>
              <a:rPr sz="2160" b="1" dirty="0">
                <a:solidFill>
                  <a:srgbClr val="C00000"/>
                </a:solidFill>
                <a:latin typeface="Calibri"/>
                <a:cs typeface="Calibri"/>
              </a:rPr>
              <a:t>GG</a:t>
            </a:r>
            <a:r>
              <a:rPr sz="2160" b="1" spc="-36" dirty="0">
                <a:solidFill>
                  <a:srgbClr val="C00000"/>
                </a:solidFill>
                <a:latin typeface="Calibri"/>
                <a:cs typeface="Calibri"/>
              </a:rPr>
              <a:t> </a:t>
            </a:r>
            <a:r>
              <a:rPr sz="2160" b="1" dirty="0">
                <a:solidFill>
                  <a:srgbClr val="C00000"/>
                </a:solidFill>
                <a:latin typeface="Calibri"/>
                <a:cs typeface="Calibri"/>
              </a:rPr>
              <a:t>5</a:t>
            </a:r>
            <a:r>
              <a:rPr sz="2160" b="1" spc="-36" dirty="0">
                <a:solidFill>
                  <a:srgbClr val="C00000"/>
                </a:solidFill>
                <a:latin typeface="Calibri"/>
                <a:cs typeface="Calibri"/>
              </a:rPr>
              <a:t> </a:t>
            </a:r>
            <a:r>
              <a:rPr sz="2160" b="1" dirty="0">
                <a:solidFill>
                  <a:srgbClr val="C00000"/>
                </a:solidFill>
                <a:latin typeface="Calibri"/>
                <a:cs typeface="Calibri"/>
              </a:rPr>
              <a:t>Institutionalize</a:t>
            </a:r>
            <a:r>
              <a:rPr sz="2160" b="1" spc="-48" dirty="0">
                <a:solidFill>
                  <a:srgbClr val="C00000"/>
                </a:solidFill>
                <a:latin typeface="Calibri"/>
                <a:cs typeface="Calibri"/>
              </a:rPr>
              <a:t> </a:t>
            </a:r>
            <a:r>
              <a:rPr sz="2160" b="1" dirty="0">
                <a:solidFill>
                  <a:srgbClr val="C00000"/>
                </a:solidFill>
                <a:latin typeface="Calibri"/>
                <a:cs typeface="Calibri"/>
              </a:rPr>
              <a:t>an</a:t>
            </a:r>
            <a:r>
              <a:rPr sz="2160" b="1" spc="-78" dirty="0">
                <a:solidFill>
                  <a:srgbClr val="C00000"/>
                </a:solidFill>
                <a:latin typeface="Calibri"/>
                <a:cs typeface="Calibri"/>
              </a:rPr>
              <a:t> </a:t>
            </a:r>
            <a:r>
              <a:rPr sz="2160" b="1" dirty="0">
                <a:solidFill>
                  <a:srgbClr val="C00000"/>
                </a:solidFill>
                <a:latin typeface="Calibri"/>
                <a:cs typeface="Calibri"/>
              </a:rPr>
              <a:t>Optimizing</a:t>
            </a:r>
            <a:r>
              <a:rPr sz="2160" b="1" spc="-84" dirty="0">
                <a:solidFill>
                  <a:srgbClr val="C00000"/>
                </a:solidFill>
                <a:latin typeface="Calibri"/>
                <a:cs typeface="Calibri"/>
              </a:rPr>
              <a:t> </a:t>
            </a:r>
            <a:r>
              <a:rPr sz="2160" b="1" spc="-12" dirty="0">
                <a:solidFill>
                  <a:srgbClr val="C00000"/>
                </a:solidFill>
                <a:latin typeface="Calibri"/>
                <a:cs typeface="Calibri"/>
              </a:rPr>
              <a:t>Process</a:t>
            </a:r>
            <a:endParaRPr sz="2160">
              <a:latin typeface="Calibri"/>
              <a:cs typeface="Calibri"/>
            </a:endParaRPr>
          </a:p>
          <a:p>
            <a:pPr marL="1207770" marR="1326642" indent="-847344"/>
            <a:r>
              <a:rPr sz="2160" dirty="0">
                <a:latin typeface="Calibri"/>
                <a:cs typeface="Calibri"/>
              </a:rPr>
              <a:t>GP</a:t>
            </a:r>
            <a:r>
              <a:rPr sz="2160" spc="-48" dirty="0">
                <a:latin typeface="Calibri"/>
                <a:cs typeface="Calibri"/>
              </a:rPr>
              <a:t> </a:t>
            </a:r>
            <a:r>
              <a:rPr sz="2160" dirty="0">
                <a:latin typeface="Calibri"/>
                <a:cs typeface="Calibri"/>
              </a:rPr>
              <a:t>5.1</a:t>
            </a:r>
            <a:r>
              <a:rPr sz="2160" spc="-48" dirty="0">
                <a:latin typeface="Calibri"/>
                <a:cs typeface="Calibri"/>
              </a:rPr>
              <a:t> </a:t>
            </a:r>
            <a:r>
              <a:rPr sz="2160" dirty="0">
                <a:latin typeface="Calibri"/>
                <a:cs typeface="Calibri"/>
              </a:rPr>
              <a:t>Ensure</a:t>
            </a:r>
            <a:r>
              <a:rPr sz="2160" spc="-54" dirty="0">
                <a:latin typeface="Calibri"/>
                <a:cs typeface="Calibri"/>
              </a:rPr>
              <a:t> </a:t>
            </a:r>
            <a:r>
              <a:rPr sz="2160" dirty="0">
                <a:latin typeface="Calibri"/>
                <a:cs typeface="Calibri"/>
              </a:rPr>
              <a:t>Continuous</a:t>
            </a:r>
            <a:r>
              <a:rPr sz="2160" spc="-30" dirty="0">
                <a:latin typeface="Calibri"/>
                <a:cs typeface="Calibri"/>
              </a:rPr>
              <a:t> </a:t>
            </a:r>
            <a:r>
              <a:rPr sz="2160" spc="-12" dirty="0">
                <a:latin typeface="Calibri"/>
                <a:cs typeface="Calibri"/>
              </a:rPr>
              <a:t>Process Improvement</a:t>
            </a:r>
            <a:endParaRPr sz="2160">
              <a:latin typeface="Calibri"/>
              <a:cs typeface="Calibri"/>
            </a:endParaRPr>
          </a:p>
          <a:p>
            <a:pPr marL="361188"/>
            <a:r>
              <a:rPr sz="2160" dirty="0">
                <a:latin typeface="Calibri"/>
                <a:cs typeface="Calibri"/>
              </a:rPr>
              <a:t>GP</a:t>
            </a:r>
            <a:r>
              <a:rPr sz="2160" spc="-30" dirty="0">
                <a:latin typeface="Calibri"/>
                <a:cs typeface="Calibri"/>
              </a:rPr>
              <a:t> </a:t>
            </a:r>
            <a:r>
              <a:rPr sz="2160" dirty="0">
                <a:latin typeface="Calibri"/>
                <a:cs typeface="Calibri"/>
              </a:rPr>
              <a:t>5.2</a:t>
            </a:r>
            <a:r>
              <a:rPr sz="2160" spc="-36" dirty="0">
                <a:latin typeface="Calibri"/>
                <a:cs typeface="Calibri"/>
              </a:rPr>
              <a:t> </a:t>
            </a:r>
            <a:r>
              <a:rPr sz="2160" dirty="0">
                <a:latin typeface="Calibri"/>
                <a:cs typeface="Calibri"/>
              </a:rPr>
              <a:t>Correct</a:t>
            </a:r>
            <a:r>
              <a:rPr sz="2160" spc="-24" dirty="0">
                <a:latin typeface="Calibri"/>
                <a:cs typeface="Calibri"/>
              </a:rPr>
              <a:t> </a:t>
            </a:r>
            <a:r>
              <a:rPr sz="2160" dirty="0">
                <a:latin typeface="Calibri"/>
                <a:cs typeface="Calibri"/>
              </a:rPr>
              <a:t>Root</a:t>
            </a:r>
            <a:r>
              <a:rPr sz="2160" spc="-30" dirty="0">
                <a:latin typeface="Calibri"/>
                <a:cs typeface="Calibri"/>
              </a:rPr>
              <a:t> </a:t>
            </a:r>
            <a:r>
              <a:rPr sz="2160" dirty="0">
                <a:latin typeface="Calibri"/>
                <a:cs typeface="Calibri"/>
              </a:rPr>
              <a:t>Causes</a:t>
            </a:r>
            <a:r>
              <a:rPr sz="2160" spc="-42" dirty="0">
                <a:latin typeface="Calibri"/>
                <a:cs typeface="Calibri"/>
              </a:rPr>
              <a:t> </a:t>
            </a:r>
            <a:r>
              <a:rPr sz="2160" dirty="0">
                <a:latin typeface="Calibri"/>
                <a:cs typeface="Calibri"/>
              </a:rPr>
              <a:t>of</a:t>
            </a:r>
            <a:r>
              <a:rPr sz="2160" spc="-24" dirty="0">
                <a:latin typeface="Calibri"/>
                <a:cs typeface="Calibri"/>
              </a:rPr>
              <a:t> </a:t>
            </a:r>
            <a:r>
              <a:rPr sz="2160" spc="-12" dirty="0">
                <a:latin typeface="Calibri"/>
                <a:cs typeface="Calibri"/>
              </a:rPr>
              <a:t>Problems</a:t>
            </a:r>
            <a:endParaRPr sz="2160">
              <a:latin typeface="Calibri"/>
              <a:cs typeface="Calibri"/>
            </a:endParaRPr>
          </a:p>
        </p:txBody>
      </p:sp>
    </p:spTree>
    <p:extLst>
      <p:ext uri="{BB962C8B-B14F-4D97-AF65-F5344CB8AC3E}">
        <p14:creationId xmlns:p14="http://schemas.microsoft.com/office/powerpoint/2010/main" val="408685884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919520" y="339486"/>
            <a:ext cx="3700272" cy="6210162"/>
          </a:xfrm>
          <a:prstGeom prst="rect">
            <a:avLst/>
          </a:prstGeom>
        </p:spPr>
        <p:txBody>
          <a:bodyPr vert="horz" wrap="square" lIns="0" tIns="14478" rIns="0" bIns="0" rtlCol="0">
            <a:spAutoFit/>
          </a:bodyPr>
          <a:lstStyle/>
          <a:p>
            <a:pPr marL="423672" marR="7620" indent="-408432" algn="just">
              <a:spcBef>
                <a:spcPts val="114"/>
              </a:spcBef>
              <a:buFont typeface="Arial MT"/>
              <a:buChar char="•"/>
              <a:tabLst>
                <a:tab pos="426720" algn="l"/>
              </a:tabLst>
            </a:pPr>
            <a:r>
              <a:rPr sz="2280" dirty="0">
                <a:latin typeface="Calibri"/>
                <a:cs typeface="Calibri"/>
              </a:rPr>
              <a:t>The</a:t>
            </a:r>
            <a:r>
              <a:rPr sz="2280" spc="198" dirty="0">
                <a:latin typeface="Calibri"/>
                <a:cs typeface="Calibri"/>
              </a:rPr>
              <a:t>  </a:t>
            </a:r>
            <a:r>
              <a:rPr sz="2280" dirty="0">
                <a:latin typeface="Calibri"/>
                <a:cs typeface="Calibri"/>
              </a:rPr>
              <a:t>staged</a:t>
            </a:r>
            <a:r>
              <a:rPr sz="2280" spc="204" dirty="0">
                <a:latin typeface="Calibri"/>
                <a:cs typeface="Calibri"/>
              </a:rPr>
              <a:t>  </a:t>
            </a:r>
            <a:r>
              <a:rPr sz="2280" dirty="0">
                <a:latin typeface="Calibri"/>
                <a:cs typeface="Calibri"/>
              </a:rPr>
              <a:t>CMMI</a:t>
            </a:r>
            <a:r>
              <a:rPr sz="2280" spc="204" dirty="0">
                <a:latin typeface="Calibri"/>
                <a:cs typeface="Calibri"/>
              </a:rPr>
              <a:t>  </a:t>
            </a:r>
            <a:r>
              <a:rPr sz="2280" spc="-24" dirty="0">
                <a:latin typeface="Calibri"/>
                <a:cs typeface="Calibri"/>
              </a:rPr>
              <a:t>model 	</a:t>
            </a:r>
            <a:r>
              <a:rPr sz="2280" dirty="0">
                <a:latin typeface="Calibri"/>
                <a:cs typeface="Calibri"/>
              </a:rPr>
              <a:t>defines</a:t>
            </a:r>
            <a:r>
              <a:rPr sz="2280" spc="102" dirty="0">
                <a:latin typeface="Calibri"/>
                <a:cs typeface="Calibri"/>
              </a:rPr>
              <a:t>  </a:t>
            </a:r>
            <a:r>
              <a:rPr sz="2280" dirty="0">
                <a:latin typeface="Calibri"/>
                <a:cs typeface="Calibri"/>
              </a:rPr>
              <a:t>the</a:t>
            </a:r>
            <a:r>
              <a:rPr sz="2280" spc="102" dirty="0">
                <a:latin typeface="Calibri"/>
                <a:cs typeface="Calibri"/>
              </a:rPr>
              <a:t>  </a:t>
            </a:r>
            <a:r>
              <a:rPr sz="2280" dirty="0">
                <a:latin typeface="Calibri"/>
                <a:cs typeface="Calibri"/>
              </a:rPr>
              <a:t>same</a:t>
            </a:r>
            <a:r>
              <a:rPr sz="2280" spc="102" dirty="0">
                <a:latin typeface="Calibri"/>
                <a:cs typeface="Calibri"/>
              </a:rPr>
              <a:t>  </a:t>
            </a:r>
            <a:r>
              <a:rPr sz="2280" spc="-12" dirty="0">
                <a:latin typeface="Calibri"/>
                <a:cs typeface="Calibri"/>
              </a:rPr>
              <a:t>process 	</a:t>
            </a:r>
            <a:r>
              <a:rPr sz="2280" dirty="0">
                <a:latin typeface="Calibri"/>
                <a:cs typeface="Calibri"/>
              </a:rPr>
              <a:t>areas,</a:t>
            </a:r>
            <a:r>
              <a:rPr sz="2280" spc="414" dirty="0">
                <a:latin typeface="Calibri"/>
                <a:cs typeface="Calibri"/>
              </a:rPr>
              <a:t> </a:t>
            </a:r>
            <a:r>
              <a:rPr sz="2280" dirty="0">
                <a:latin typeface="Calibri"/>
                <a:cs typeface="Calibri"/>
              </a:rPr>
              <a:t>goals,</a:t>
            </a:r>
            <a:r>
              <a:rPr sz="2280" spc="408" dirty="0">
                <a:latin typeface="Calibri"/>
                <a:cs typeface="Calibri"/>
              </a:rPr>
              <a:t> </a:t>
            </a:r>
            <a:r>
              <a:rPr sz="2280" dirty="0">
                <a:latin typeface="Calibri"/>
                <a:cs typeface="Calibri"/>
              </a:rPr>
              <a:t>and</a:t>
            </a:r>
            <a:r>
              <a:rPr sz="2280" spc="420" dirty="0">
                <a:latin typeface="Calibri"/>
                <a:cs typeface="Calibri"/>
              </a:rPr>
              <a:t> </a:t>
            </a:r>
            <a:r>
              <a:rPr sz="2280" spc="-12" dirty="0">
                <a:latin typeface="Calibri"/>
                <a:cs typeface="Calibri"/>
              </a:rPr>
              <a:t>practices 	</a:t>
            </a:r>
            <a:r>
              <a:rPr sz="2280" dirty="0">
                <a:latin typeface="Calibri"/>
                <a:cs typeface="Calibri"/>
              </a:rPr>
              <a:t>as</a:t>
            </a:r>
            <a:r>
              <a:rPr sz="2280" spc="-48" dirty="0">
                <a:latin typeface="Calibri"/>
                <a:cs typeface="Calibri"/>
              </a:rPr>
              <a:t> </a:t>
            </a:r>
            <a:r>
              <a:rPr sz="2280" dirty="0">
                <a:latin typeface="Calibri"/>
                <a:cs typeface="Calibri"/>
              </a:rPr>
              <a:t>the</a:t>
            </a:r>
            <a:r>
              <a:rPr sz="2280" spc="-30" dirty="0">
                <a:latin typeface="Calibri"/>
                <a:cs typeface="Calibri"/>
              </a:rPr>
              <a:t> </a:t>
            </a:r>
            <a:r>
              <a:rPr sz="2280" spc="-12" dirty="0">
                <a:latin typeface="Calibri"/>
                <a:cs typeface="Calibri"/>
              </a:rPr>
              <a:t>continuous</a:t>
            </a:r>
            <a:r>
              <a:rPr sz="2280" spc="-42" dirty="0">
                <a:latin typeface="Calibri"/>
                <a:cs typeface="Calibri"/>
              </a:rPr>
              <a:t> </a:t>
            </a:r>
            <a:r>
              <a:rPr sz="2280" spc="-12" dirty="0">
                <a:latin typeface="Calibri"/>
                <a:cs typeface="Calibri"/>
              </a:rPr>
              <a:t>model.</a:t>
            </a:r>
            <a:endParaRPr sz="2280">
              <a:latin typeface="Calibri"/>
              <a:cs typeface="Calibri"/>
            </a:endParaRPr>
          </a:p>
          <a:p>
            <a:pPr marL="423672" marR="7620" indent="-408432" algn="just">
              <a:spcBef>
                <a:spcPts val="551"/>
              </a:spcBef>
              <a:buFont typeface="Arial MT"/>
              <a:buChar char="•"/>
              <a:tabLst>
                <a:tab pos="426720" algn="l"/>
              </a:tabLst>
            </a:pPr>
            <a:r>
              <a:rPr sz="2280" dirty="0">
                <a:latin typeface="Calibri"/>
                <a:cs typeface="Calibri"/>
              </a:rPr>
              <a:t>The</a:t>
            </a:r>
            <a:r>
              <a:rPr sz="2280" spc="126" dirty="0">
                <a:latin typeface="Calibri"/>
                <a:cs typeface="Calibri"/>
              </a:rPr>
              <a:t>  </a:t>
            </a:r>
            <a:r>
              <a:rPr sz="2280" dirty="0">
                <a:latin typeface="Calibri"/>
                <a:cs typeface="Calibri"/>
              </a:rPr>
              <a:t>primary</a:t>
            </a:r>
            <a:r>
              <a:rPr sz="2280" spc="126" dirty="0">
                <a:latin typeface="Calibri"/>
                <a:cs typeface="Calibri"/>
              </a:rPr>
              <a:t>  </a:t>
            </a:r>
            <a:r>
              <a:rPr sz="2280" dirty="0">
                <a:latin typeface="Calibri"/>
                <a:cs typeface="Calibri"/>
              </a:rPr>
              <a:t>difference</a:t>
            </a:r>
            <a:r>
              <a:rPr sz="2280" spc="132" dirty="0">
                <a:latin typeface="Calibri"/>
                <a:cs typeface="Calibri"/>
              </a:rPr>
              <a:t>  </a:t>
            </a:r>
            <a:r>
              <a:rPr sz="2280" spc="-30" dirty="0">
                <a:latin typeface="Calibri"/>
                <a:cs typeface="Calibri"/>
              </a:rPr>
              <a:t>is 	</a:t>
            </a:r>
            <a:r>
              <a:rPr sz="2280" dirty="0">
                <a:latin typeface="Calibri"/>
                <a:cs typeface="Calibri"/>
              </a:rPr>
              <a:t>that</a:t>
            </a:r>
            <a:r>
              <a:rPr sz="2280" spc="570" dirty="0">
                <a:latin typeface="Calibri"/>
                <a:cs typeface="Calibri"/>
              </a:rPr>
              <a:t>  </a:t>
            </a:r>
            <a:r>
              <a:rPr sz="2280" dirty="0">
                <a:latin typeface="Calibri"/>
                <a:cs typeface="Calibri"/>
              </a:rPr>
              <a:t>the</a:t>
            </a:r>
            <a:r>
              <a:rPr sz="2280" spc="570" dirty="0">
                <a:latin typeface="Calibri"/>
                <a:cs typeface="Calibri"/>
              </a:rPr>
              <a:t>  </a:t>
            </a:r>
            <a:r>
              <a:rPr sz="2280" dirty="0">
                <a:latin typeface="Calibri"/>
                <a:cs typeface="Calibri"/>
              </a:rPr>
              <a:t>staged</a:t>
            </a:r>
            <a:r>
              <a:rPr sz="2280" spc="576" dirty="0">
                <a:latin typeface="Calibri"/>
                <a:cs typeface="Calibri"/>
              </a:rPr>
              <a:t>  </a:t>
            </a:r>
            <a:r>
              <a:rPr sz="2280" spc="-24" dirty="0">
                <a:latin typeface="Calibri"/>
                <a:cs typeface="Calibri"/>
              </a:rPr>
              <a:t>model 	</a:t>
            </a:r>
            <a:r>
              <a:rPr sz="2280" dirty="0">
                <a:latin typeface="Calibri"/>
                <a:cs typeface="Calibri"/>
              </a:rPr>
              <a:t>defines</a:t>
            </a:r>
            <a:r>
              <a:rPr sz="2280" spc="-6" dirty="0">
                <a:latin typeface="Calibri"/>
                <a:cs typeface="Calibri"/>
              </a:rPr>
              <a:t> </a:t>
            </a:r>
            <a:r>
              <a:rPr sz="2280" dirty="0">
                <a:latin typeface="Calibri"/>
                <a:cs typeface="Calibri"/>
              </a:rPr>
              <a:t>five</a:t>
            </a:r>
            <a:r>
              <a:rPr sz="2280" spc="-6" dirty="0">
                <a:latin typeface="Calibri"/>
                <a:cs typeface="Calibri"/>
              </a:rPr>
              <a:t> </a:t>
            </a:r>
            <a:r>
              <a:rPr sz="2280" dirty="0">
                <a:latin typeface="Calibri"/>
                <a:cs typeface="Calibri"/>
              </a:rPr>
              <a:t>maturity</a:t>
            </a:r>
            <a:r>
              <a:rPr sz="2280" spc="-12" dirty="0">
                <a:latin typeface="Calibri"/>
                <a:cs typeface="Calibri"/>
              </a:rPr>
              <a:t> levels, 	</a:t>
            </a:r>
            <a:r>
              <a:rPr sz="2280" dirty="0">
                <a:latin typeface="Calibri"/>
                <a:cs typeface="Calibri"/>
              </a:rPr>
              <a:t>rather</a:t>
            </a:r>
            <a:r>
              <a:rPr sz="2280" spc="528" dirty="0">
                <a:latin typeface="Calibri"/>
                <a:cs typeface="Calibri"/>
              </a:rPr>
              <a:t> </a:t>
            </a:r>
            <a:r>
              <a:rPr sz="2280" dirty="0">
                <a:latin typeface="Calibri"/>
                <a:cs typeface="Calibri"/>
              </a:rPr>
              <a:t>than</a:t>
            </a:r>
            <a:r>
              <a:rPr sz="2280" spc="540" dirty="0">
                <a:latin typeface="Calibri"/>
                <a:cs typeface="Calibri"/>
              </a:rPr>
              <a:t> </a:t>
            </a:r>
            <a:r>
              <a:rPr sz="2280" dirty="0">
                <a:latin typeface="Calibri"/>
                <a:cs typeface="Calibri"/>
              </a:rPr>
              <a:t>five</a:t>
            </a:r>
            <a:r>
              <a:rPr sz="2280" spc="540" dirty="0">
                <a:latin typeface="Calibri"/>
                <a:cs typeface="Calibri"/>
              </a:rPr>
              <a:t> </a:t>
            </a:r>
            <a:r>
              <a:rPr sz="2280" spc="-12" dirty="0">
                <a:latin typeface="Calibri"/>
                <a:cs typeface="Calibri"/>
              </a:rPr>
              <a:t>capability 	levels.</a:t>
            </a:r>
            <a:endParaRPr sz="2280">
              <a:latin typeface="Calibri"/>
              <a:cs typeface="Calibri"/>
            </a:endParaRPr>
          </a:p>
          <a:p>
            <a:pPr marL="423672" marR="6096" indent="-408432" algn="just">
              <a:spcBef>
                <a:spcPts val="551"/>
              </a:spcBef>
              <a:buFont typeface="Arial MT"/>
              <a:buChar char="•"/>
              <a:tabLst>
                <a:tab pos="426720" algn="l"/>
              </a:tabLst>
            </a:pPr>
            <a:r>
              <a:rPr sz="2280" dirty="0">
                <a:latin typeface="Calibri"/>
                <a:cs typeface="Calibri"/>
              </a:rPr>
              <a:t>To</a:t>
            </a:r>
            <a:r>
              <a:rPr sz="2280" spc="-6" dirty="0">
                <a:latin typeface="Calibri"/>
                <a:cs typeface="Calibri"/>
              </a:rPr>
              <a:t> </a:t>
            </a:r>
            <a:r>
              <a:rPr sz="2280" dirty="0">
                <a:latin typeface="Calibri"/>
                <a:cs typeface="Calibri"/>
              </a:rPr>
              <a:t>achieve</a:t>
            </a:r>
            <a:r>
              <a:rPr sz="2280" spc="18" dirty="0">
                <a:latin typeface="Calibri"/>
                <a:cs typeface="Calibri"/>
              </a:rPr>
              <a:t> </a:t>
            </a:r>
            <a:r>
              <a:rPr sz="2280" dirty="0">
                <a:latin typeface="Calibri"/>
                <a:cs typeface="Calibri"/>
              </a:rPr>
              <a:t>a</a:t>
            </a:r>
            <a:r>
              <a:rPr sz="2280" spc="6" dirty="0">
                <a:latin typeface="Calibri"/>
                <a:cs typeface="Calibri"/>
              </a:rPr>
              <a:t> </a:t>
            </a:r>
            <a:r>
              <a:rPr sz="2280" dirty="0">
                <a:latin typeface="Calibri"/>
                <a:cs typeface="Calibri"/>
              </a:rPr>
              <a:t>maturity</a:t>
            </a:r>
            <a:r>
              <a:rPr sz="2280" spc="12" dirty="0">
                <a:latin typeface="Calibri"/>
                <a:cs typeface="Calibri"/>
              </a:rPr>
              <a:t> </a:t>
            </a:r>
            <a:r>
              <a:rPr sz="2280" spc="-12" dirty="0">
                <a:latin typeface="Calibri"/>
                <a:cs typeface="Calibri"/>
              </a:rPr>
              <a:t>level, 	</a:t>
            </a:r>
            <a:r>
              <a:rPr sz="2280" dirty="0">
                <a:latin typeface="Calibri"/>
                <a:cs typeface="Calibri"/>
              </a:rPr>
              <a:t>the</a:t>
            </a:r>
            <a:r>
              <a:rPr sz="2280" spc="288" dirty="0">
                <a:latin typeface="Calibri"/>
                <a:cs typeface="Calibri"/>
              </a:rPr>
              <a:t>   </a:t>
            </a:r>
            <a:r>
              <a:rPr sz="2280" dirty="0">
                <a:latin typeface="Calibri"/>
                <a:cs typeface="Calibri"/>
              </a:rPr>
              <a:t>specific</a:t>
            </a:r>
            <a:r>
              <a:rPr sz="2280" spc="288" dirty="0">
                <a:latin typeface="Calibri"/>
                <a:cs typeface="Calibri"/>
              </a:rPr>
              <a:t>   </a:t>
            </a:r>
            <a:r>
              <a:rPr sz="2280" dirty="0">
                <a:latin typeface="Calibri"/>
                <a:cs typeface="Calibri"/>
              </a:rPr>
              <a:t>goals</a:t>
            </a:r>
            <a:r>
              <a:rPr sz="2280" spc="288" dirty="0">
                <a:latin typeface="Calibri"/>
                <a:cs typeface="Calibri"/>
              </a:rPr>
              <a:t>   </a:t>
            </a:r>
            <a:r>
              <a:rPr sz="2280" spc="-30" dirty="0">
                <a:latin typeface="Calibri"/>
                <a:cs typeface="Calibri"/>
              </a:rPr>
              <a:t>and 	</a:t>
            </a:r>
            <a:r>
              <a:rPr sz="2280" dirty="0">
                <a:latin typeface="Calibri"/>
                <a:cs typeface="Calibri"/>
              </a:rPr>
              <a:t>practices</a:t>
            </a:r>
            <a:r>
              <a:rPr sz="2280" spc="192" dirty="0">
                <a:latin typeface="Calibri"/>
                <a:cs typeface="Calibri"/>
              </a:rPr>
              <a:t> </a:t>
            </a:r>
            <a:r>
              <a:rPr sz="2280" dirty="0">
                <a:latin typeface="Calibri"/>
                <a:cs typeface="Calibri"/>
              </a:rPr>
              <a:t>associated</a:t>
            </a:r>
            <a:r>
              <a:rPr sz="2280" spc="180" dirty="0">
                <a:latin typeface="Calibri"/>
                <a:cs typeface="Calibri"/>
              </a:rPr>
              <a:t> </a:t>
            </a:r>
            <a:r>
              <a:rPr sz="2280" dirty="0">
                <a:latin typeface="Calibri"/>
                <a:cs typeface="Calibri"/>
              </a:rPr>
              <a:t>with</a:t>
            </a:r>
            <a:r>
              <a:rPr sz="2280" spc="192" dirty="0">
                <a:latin typeface="Calibri"/>
                <a:cs typeface="Calibri"/>
              </a:rPr>
              <a:t> </a:t>
            </a:r>
            <a:r>
              <a:rPr sz="2280" spc="-60" dirty="0">
                <a:latin typeface="Calibri"/>
                <a:cs typeface="Calibri"/>
              </a:rPr>
              <a:t>a 	</a:t>
            </a:r>
            <a:r>
              <a:rPr sz="2280" dirty="0">
                <a:latin typeface="Calibri"/>
                <a:cs typeface="Calibri"/>
              </a:rPr>
              <a:t>set</a:t>
            </a:r>
            <a:r>
              <a:rPr sz="2280" spc="516" dirty="0">
                <a:latin typeface="Calibri"/>
                <a:cs typeface="Calibri"/>
              </a:rPr>
              <a:t> </a:t>
            </a:r>
            <a:r>
              <a:rPr sz="2280" dirty="0">
                <a:latin typeface="Calibri"/>
                <a:cs typeface="Calibri"/>
              </a:rPr>
              <a:t>of</a:t>
            </a:r>
            <a:r>
              <a:rPr sz="2280" spc="510" dirty="0">
                <a:latin typeface="Calibri"/>
                <a:cs typeface="Calibri"/>
              </a:rPr>
              <a:t> </a:t>
            </a:r>
            <a:r>
              <a:rPr sz="2280" dirty="0">
                <a:latin typeface="Calibri"/>
                <a:cs typeface="Calibri"/>
              </a:rPr>
              <a:t>process</a:t>
            </a:r>
            <a:r>
              <a:rPr sz="2280" spc="516" dirty="0">
                <a:latin typeface="Calibri"/>
                <a:cs typeface="Calibri"/>
              </a:rPr>
              <a:t> </a:t>
            </a:r>
            <a:r>
              <a:rPr sz="2280" dirty="0">
                <a:latin typeface="Calibri"/>
                <a:cs typeface="Calibri"/>
              </a:rPr>
              <a:t>areas</a:t>
            </a:r>
            <a:r>
              <a:rPr sz="2280" spc="516" dirty="0">
                <a:latin typeface="Calibri"/>
                <a:cs typeface="Calibri"/>
              </a:rPr>
              <a:t> </a:t>
            </a:r>
            <a:r>
              <a:rPr sz="2280" spc="-24" dirty="0">
                <a:latin typeface="Calibri"/>
                <a:cs typeface="Calibri"/>
              </a:rPr>
              <a:t>must 	</a:t>
            </a:r>
            <a:r>
              <a:rPr sz="2280" dirty="0">
                <a:latin typeface="Calibri"/>
                <a:cs typeface="Calibri"/>
              </a:rPr>
              <a:t>be</a:t>
            </a:r>
            <a:r>
              <a:rPr sz="2280" spc="-18" dirty="0">
                <a:latin typeface="Calibri"/>
                <a:cs typeface="Calibri"/>
              </a:rPr>
              <a:t> </a:t>
            </a:r>
            <a:r>
              <a:rPr sz="2280" spc="-12" dirty="0">
                <a:latin typeface="Calibri"/>
                <a:cs typeface="Calibri"/>
              </a:rPr>
              <a:t>achieved.</a:t>
            </a:r>
            <a:endParaRPr sz="2280">
              <a:latin typeface="Calibri"/>
              <a:cs typeface="Calibri"/>
            </a:endParaRPr>
          </a:p>
          <a:p>
            <a:pPr marL="423672" marR="6858" indent="-408432" algn="just">
              <a:spcBef>
                <a:spcPts val="551"/>
              </a:spcBef>
              <a:buFont typeface="Arial MT"/>
              <a:buChar char="•"/>
              <a:tabLst>
                <a:tab pos="426720" algn="l"/>
              </a:tabLst>
            </a:pPr>
            <a:r>
              <a:rPr sz="2280" dirty="0">
                <a:latin typeface="Calibri"/>
                <a:cs typeface="Calibri"/>
              </a:rPr>
              <a:t>The</a:t>
            </a:r>
            <a:r>
              <a:rPr sz="2280" spc="174" dirty="0">
                <a:latin typeface="Calibri"/>
                <a:cs typeface="Calibri"/>
              </a:rPr>
              <a:t>  </a:t>
            </a:r>
            <a:r>
              <a:rPr sz="2280" dirty="0">
                <a:latin typeface="Calibri"/>
                <a:cs typeface="Calibri"/>
              </a:rPr>
              <a:t>relationship</a:t>
            </a:r>
            <a:r>
              <a:rPr sz="2280" spc="180" dirty="0">
                <a:latin typeface="Calibri"/>
                <a:cs typeface="Calibri"/>
              </a:rPr>
              <a:t>  </a:t>
            </a:r>
            <a:r>
              <a:rPr sz="2280" spc="-12" dirty="0">
                <a:latin typeface="Calibri"/>
                <a:cs typeface="Calibri"/>
              </a:rPr>
              <a:t>between 	</a:t>
            </a:r>
            <a:r>
              <a:rPr sz="2280" dirty="0">
                <a:latin typeface="Calibri"/>
                <a:cs typeface="Calibri"/>
              </a:rPr>
              <a:t>maturity</a:t>
            </a:r>
            <a:r>
              <a:rPr sz="2280" spc="54" dirty="0">
                <a:latin typeface="Calibri"/>
                <a:cs typeface="Calibri"/>
              </a:rPr>
              <a:t> </a:t>
            </a:r>
            <a:r>
              <a:rPr sz="2280" dirty="0">
                <a:latin typeface="Calibri"/>
                <a:cs typeface="Calibri"/>
              </a:rPr>
              <a:t>levels</a:t>
            </a:r>
            <a:r>
              <a:rPr sz="2280" spc="60" dirty="0">
                <a:latin typeface="Calibri"/>
                <a:cs typeface="Calibri"/>
              </a:rPr>
              <a:t> </a:t>
            </a:r>
            <a:r>
              <a:rPr sz="2280" dirty="0">
                <a:latin typeface="Calibri"/>
                <a:cs typeface="Calibri"/>
              </a:rPr>
              <a:t>and</a:t>
            </a:r>
            <a:r>
              <a:rPr sz="2280" spc="60" dirty="0">
                <a:latin typeface="Calibri"/>
                <a:cs typeface="Calibri"/>
              </a:rPr>
              <a:t> </a:t>
            </a:r>
            <a:r>
              <a:rPr sz="2280" spc="-12" dirty="0">
                <a:latin typeface="Calibri"/>
                <a:cs typeface="Calibri"/>
              </a:rPr>
              <a:t>process 	</a:t>
            </a:r>
            <a:r>
              <a:rPr sz="2280" dirty="0">
                <a:latin typeface="Calibri"/>
                <a:cs typeface="Calibri"/>
              </a:rPr>
              <a:t>areas</a:t>
            </a:r>
            <a:r>
              <a:rPr sz="2280" spc="-42" dirty="0">
                <a:latin typeface="Calibri"/>
                <a:cs typeface="Calibri"/>
              </a:rPr>
              <a:t> </a:t>
            </a:r>
            <a:r>
              <a:rPr sz="2280" dirty="0">
                <a:latin typeface="Calibri"/>
                <a:cs typeface="Calibri"/>
              </a:rPr>
              <a:t>is</a:t>
            </a:r>
            <a:r>
              <a:rPr sz="2280" spc="-30" dirty="0">
                <a:latin typeface="Calibri"/>
                <a:cs typeface="Calibri"/>
              </a:rPr>
              <a:t> </a:t>
            </a:r>
            <a:r>
              <a:rPr sz="2280" spc="-12" dirty="0">
                <a:latin typeface="Calibri"/>
                <a:cs typeface="Calibri"/>
              </a:rPr>
              <a:t>shown</a:t>
            </a:r>
            <a:endParaRPr sz="2280">
              <a:latin typeface="Calibri"/>
              <a:cs typeface="Calibri"/>
            </a:endParaRPr>
          </a:p>
        </p:txBody>
      </p:sp>
      <p:pic>
        <p:nvPicPr>
          <p:cNvPr id="3" name="object 3"/>
          <p:cNvPicPr/>
          <p:nvPr/>
        </p:nvPicPr>
        <p:blipFill>
          <a:blip r:embed="rId2" cstate="print"/>
          <a:stretch>
            <a:fillRect/>
          </a:stretch>
        </p:blipFill>
        <p:spPr>
          <a:xfrm>
            <a:off x="4889179" y="308455"/>
            <a:ext cx="6253854" cy="5985858"/>
          </a:xfrm>
          <a:prstGeom prst="rect">
            <a:avLst/>
          </a:prstGeom>
        </p:spPr>
      </p:pic>
    </p:spTree>
    <p:extLst>
      <p:ext uri="{BB962C8B-B14F-4D97-AF65-F5344CB8AC3E}">
        <p14:creationId xmlns:p14="http://schemas.microsoft.com/office/powerpoint/2010/main" val="37264622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893799" y="750371"/>
            <a:ext cx="10473259" cy="5582260"/>
          </a:xfrm>
          <a:prstGeom prst="rect">
            <a:avLst/>
          </a:prstGeom>
        </p:spPr>
      </p:pic>
    </p:spTree>
    <p:extLst>
      <p:ext uri="{BB962C8B-B14F-4D97-AF65-F5344CB8AC3E}">
        <p14:creationId xmlns:p14="http://schemas.microsoft.com/office/powerpoint/2010/main" val="55515229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Quality Control and Quality Assurance </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43128381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Quality Assurance</a:t>
            </a:r>
          </a:p>
        </p:txBody>
      </p:sp>
      <p:sp>
        <p:nvSpPr>
          <p:cNvPr id="3" name="Content Placeholder 2"/>
          <p:cNvSpPr>
            <a:spLocks noGrp="1"/>
          </p:cNvSpPr>
          <p:nvPr>
            <p:ph idx="1"/>
          </p:nvPr>
        </p:nvSpPr>
        <p:spPr/>
        <p:txBody>
          <a:bodyPr/>
          <a:lstStyle/>
          <a:p>
            <a:pPr marL="339725" indent="-339725" algn="just">
              <a:buFont typeface="Wingdings" panose="05000000000000000000" pitchFamily="2" charset="2"/>
              <a:buChar char="Ø"/>
            </a:pPr>
            <a:r>
              <a:rPr lang="en-US" dirty="0"/>
              <a:t>Software quality assurance is (also known as QA) a sequence of tasks to prevent defects and ensure that the techniques, methods, approaches, and processes are designed for a specific application must be implemented correctly. </a:t>
            </a:r>
          </a:p>
          <a:p>
            <a:pPr marL="339725" indent="-339725" algn="just">
              <a:buFont typeface="Wingdings" panose="05000000000000000000" pitchFamily="2" charset="2"/>
              <a:buChar char="Ø"/>
            </a:pPr>
            <a:r>
              <a:rPr lang="en-US" dirty="0"/>
              <a:t>This is an ongoing process within the development of a software system.</a:t>
            </a:r>
          </a:p>
          <a:p>
            <a:pPr marL="339725" indent="-339725" algn="just">
              <a:buFont typeface="Wingdings" panose="05000000000000000000" pitchFamily="2" charset="2"/>
              <a:buChar char="Ø"/>
            </a:pPr>
            <a:r>
              <a:rPr lang="en-US" dirty="0"/>
              <a:t>The development of units of an application is checked under the quality assurance specifications in the sequence of their development.</a:t>
            </a:r>
          </a:p>
          <a:p>
            <a:pPr marL="339725" indent="-339725" algn="just">
              <a:buFont typeface="Wingdings" panose="05000000000000000000" pitchFamily="2" charset="2"/>
              <a:buChar char="Ø"/>
            </a:pPr>
            <a:r>
              <a:rPr lang="en-US" dirty="0"/>
              <a:t>Quality assurance test ensures the development of high-quality software because of its main focus on the high-quality processes, good quality management system and periodic conformance audit during the development of software. </a:t>
            </a:r>
          </a:p>
          <a:p>
            <a:pPr marL="339725" indent="-339725" algn="just">
              <a:buFont typeface="Wingdings" panose="05000000000000000000" pitchFamily="2" charset="2"/>
              <a:buChar char="Ø"/>
            </a:pPr>
            <a:r>
              <a:rPr lang="en-US" dirty="0"/>
              <a:t>It is a managerial tool includes planned and systematic activities and documentation to prevent problems related to quality.</a:t>
            </a:r>
          </a:p>
          <a:p>
            <a:pPr marL="339725" indent="-339725" algn="just">
              <a:buFont typeface="Wingdings" panose="05000000000000000000" pitchFamily="2" charset="2"/>
              <a:buChar char="Ø"/>
            </a:pPr>
            <a:endParaRPr lang="en-US" dirty="0"/>
          </a:p>
          <a:p>
            <a:pPr algn="just"/>
            <a:endParaRPr lang="en-US" dirty="0"/>
          </a:p>
        </p:txBody>
      </p:sp>
    </p:spTree>
    <p:extLst>
      <p:ext uri="{BB962C8B-B14F-4D97-AF65-F5344CB8AC3E}">
        <p14:creationId xmlns:p14="http://schemas.microsoft.com/office/powerpoint/2010/main" val="27229899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Quality Control</a:t>
            </a:r>
          </a:p>
        </p:txBody>
      </p:sp>
      <p:sp>
        <p:nvSpPr>
          <p:cNvPr id="3" name="Content Placeholder 2"/>
          <p:cNvSpPr>
            <a:spLocks noGrp="1"/>
          </p:cNvSpPr>
          <p:nvPr>
            <p:ph idx="1"/>
          </p:nvPr>
        </p:nvSpPr>
        <p:spPr/>
        <p:txBody>
          <a:bodyPr>
            <a:normAutofit fontScale="85000" lnSpcReduction="20000"/>
          </a:bodyPr>
          <a:lstStyle/>
          <a:p>
            <a:pPr algn="just"/>
            <a:r>
              <a:rPr lang="en-US" b="1" i="1" dirty="0"/>
              <a:t>Quality Control also known as QC</a:t>
            </a:r>
            <a:r>
              <a:rPr lang="en-US" dirty="0"/>
              <a:t> is a sequence of tasks to ensure the quality of software by identifying defects and correction of defects in the developed software. </a:t>
            </a:r>
          </a:p>
          <a:p>
            <a:pPr algn="just"/>
            <a:r>
              <a:rPr lang="en-US" dirty="0"/>
              <a:t>It is a reactive process, and the main purpose of this process is to correct all types of defects before releasing the software. </a:t>
            </a:r>
          </a:p>
          <a:p>
            <a:pPr algn="just"/>
            <a:r>
              <a:rPr lang="en-US" dirty="0"/>
              <a:t>The process is done by eliminating sources of problems (which cause to low the quality) through the corrective tools so that software can meet customer's requirements and high quality.</a:t>
            </a:r>
          </a:p>
          <a:p>
            <a:pPr algn="just"/>
            <a:r>
              <a:rPr lang="en-US" dirty="0"/>
              <a:t>The responsibility of quality control is of a specific team which is known as a testing team that tests the defects of software by validation and corrective tools.</a:t>
            </a:r>
          </a:p>
          <a:p>
            <a:pPr marL="801688" indent="-90488" algn="just">
              <a:buFont typeface="Wingdings" panose="05000000000000000000" pitchFamily="2" charset="2"/>
              <a:buChar char="Ø"/>
            </a:pPr>
            <a:r>
              <a:rPr lang="en-US" dirty="0"/>
              <a:t>Quality Control provides identification of defects.</a:t>
            </a:r>
          </a:p>
          <a:p>
            <a:pPr marL="801688" indent="-90488" algn="just">
              <a:buFont typeface="Wingdings" panose="05000000000000000000" pitchFamily="2" charset="2"/>
              <a:buChar char="Ø"/>
            </a:pPr>
            <a:r>
              <a:rPr lang="en-US" dirty="0"/>
              <a:t>Quality Control is product oriented.</a:t>
            </a:r>
          </a:p>
          <a:p>
            <a:pPr marL="801688" indent="-90488" algn="just">
              <a:buFont typeface="Wingdings" panose="05000000000000000000" pitchFamily="2" charset="2"/>
              <a:buChar char="Ø"/>
            </a:pPr>
            <a:r>
              <a:rPr lang="en-US" dirty="0"/>
              <a:t>Quality Control is a corrective tool.</a:t>
            </a:r>
          </a:p>
          <a:p>
            <a:pPr marL="801688" indent="-90488" algn="just">
              <a:buFont typeface="Wingdings" panose="05000000000000000000" pitchFamily="2" charset="2"/>
              <a:buChar char="Ø"/>
            </a:pPr>
            <a:r>
              <a:rPr lang="en-US" dirty="0"/>
              <a:t>Testing team is responsible for Quality control.</a:t>
            </a:r>
          </a:p>
          <a:p>
            <a:pPr marL="801688" indent="-90488" algn="just">
              <a:buFont typeface="Wingdings" panose="05000000000000000000" pitchFamily="2" charset="2"/>
              <a:buChar char="Ø"/>
            </a:pPr>
            <a:r>
              <a:rPr lang="en-US" dirty="0"/>
              <a:t>Quality Control is a reactive process.</a:t>
            </a:r>
          </a:p>
          <a:p>
            <a:pPr algn="just"/>
            <a:endParaRPr lang="en-US" dirty="0"/>
          </a:p>
        </p:txBody>
      </p:sp>
    </p:spTree>
    <p:extLst>
      <p:ext uri="{BB962C8B-B14F-4D97-AF65-F5344CB8AC3E}">
        <p14:creationId xmlns:p14="http://schemas.microsoft.com/office/powerpoint/2010/main" val="15723852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045025318"/>
              </p:ext>
            </p:extLst>
          </p:nvPr>
        </p:nvGraphicFramePr>
        <p:xfrm>
          <a:off x="224784" y="98175"/>
          <a:ext cx="11811786" cy="6107508"/>
        </p:xfrm>
        <a:graphic>
          <a:graphicData uri="http://schemas.openxmlformats.org/drawingml/2006/table">
            <a:tbl>
              <a:tblPr/>
              <a:tblGrid>
                <a:gridCol w="1890293">
                  <a:extLst>
                    <a:ext uri="{9D8B030D-6E8A-4147-A177-3AD203B41FA5}">
                      <a16:colId xmlns:a16="http://schemas.microsoft.com/office/drawing/2014/main" val="20000"/>
                    </a:ext>
                  </a:extLst>
                </a:gridCol>
                <a:gridCol w="5384785">
                  <a:extLst>
                    <a:ext uri="{9D8B030D-6E8A-4147-A177-3AD203B41FA5}">
                      <a16:colId xmlns:a16="http://schemas.microsoft.com/office/drawing/2014/main" val="20001"/>
                    </a:ext>
                  </a:extLst>
                </a:gridCol>
                <a:gridCol w="4536708">
                  <a:extLst>
                    <a:ext uri="{9D8B030D-6E8A-4147-A177-3AD203B41FA5}">
                      <a16:colId xmlns:a16="http://schemas.microsoft.com/office/drawing/2014/main" val="20002"/>
                    </a:ext>
                  </a:extLst>
                </a:gridCol>
              </a:tblGrid>
              <a:tr h="107889">
                <a:tc>
                  <a:txBody>
                    <a:bodyPr/>
                    <a:lstStyle/>
                    <a:p>
                      <a:pPr algn="l" fontAlgn="t"/>
                      <a:r>
                        <a:rPr lang="en-US" sz="1800" b="1" dirty="0">
                          <a:solidFill>
                            <a:schemeClr val="tx1"/>
                          </a:solidFill>
                          <a:effectLst/>
                        </a:rPr>
                        <a:t>Points</a:t>
                      </a:r>
                    </a:p>
                  </a:txBody>
                  <a:tcPr marL="19266" marR="19266" marT="19266" marB="19266">
                    <a:lnL w="12700" cap="flat" cmpd="sng" algn="ctr">
                      <a:solidFill>
                        <a:srgbClr val="702F12"/>
                      </a:solidFill>
                      <a:prstDash val="solid"/>
                      <a:round/>
                      <a:headEnd type="none" w="med" len="med"/>
                      <a:tailEnd type="none" w="med" len="med"/>
                    </a:lnL>
                    <a:lnR w="12700" cap="flat" cmpd="sng" algn="ctr">
                      <a:solidFill>
                        <a:srgbClr val="A03212"/>
                      </a:solidFill>
                      <a:prstDash val="solid"/>
                      <a:round/>
                      <a:headEnd type="none" w="med" len="med"/>
                      <a:tailEnd type="none" w="med" len="med"/>
                    </a:lnR>
                    <a:lnT w="12700" cap="flat" cmpd="sng" algn="ctr">
                      <a:solidFill>
                        <a:srgbClr val="702F12"/>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1800" b="1" dirty="0">
                          <a:solidFill>
                            <a:schemeClr val="tx1"/>
                          </a:solidFill>
                          <a:effectLst/>
                        </a:rPr>
                        <a:t>Quality Assurance</a:t>
                      </a:r>
                    </a:p>
                  </a:txBody>
                  <a:tcPr marL="19266" marR="19266" marT="19266" marB="19266">
                    <a:lnL w="12700" cap="flat" cmpd="sng" algn="ctr">
                      <a:solidFill>
                        <a:srgbClr val="A03212"/>
                      </a:solidFill>
                      <a:prstDash val="solid"/>
                      <a:round/>
                      <a:headEnd type="none" w="med" len="med"/>
                      <a:tailEnd type="none" w="med" len="med"/>
                    </a:lnL>
                    <a:lnR w="12700" cap="flat" cmpd="sng" algn="ctr">
                      <a:solidFill>
                        <a:srgbClr val="983112"/>
                      </a:solidFill>
                      <a:prstDash val="solid"/>
                      <a:round/>
                      <a:headEnd type="none" w="med" len="med"/>
                      <a:tailEnd type="none" w="med" len="med"/>
                    </a:lnR>
                    <a:lnT w="12700" cap="flat" cmpd="sng" algn="ctr">
                      <a:solidFill>
                        <a:srgbClr val="A03212"/>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1800" b="1" dirty="0">
                          <a:solidFill>
                            <a:schemeClr val="tx1"/>
                          </a:solidFill>
                          <a:effectLst/>
                        </a:rPr>
                        <a:t>Quality Control</a:t>
                      </a:r>
                    </a:p>
                  </a:txBody>
                  <a:tcPr marL="19266" marR="19266" marT="19266" marB="19266">
                    <a:lnL w="12700" cap="flat" cmpd="sng" algn="ctr">
                      <a:solidFill>
                        <a:srgbClr val="983112"/>
                      </a:solidFill>
                      <a:prstDash val="solid"/>
                      <a:round/>
                      <a:headEnd type="none" w="med" len="med"/>
                      <a:tailEnd type="none" w="med" len="med"/>
                    </a:lnL>
                    <a:lnR w="6096" cap="flat" cmpd="sng" algn="ctr">
                      <a:solidFill>
                        <a:srgbClr val="983112"/>
                      </a:solidFill>
                      <a:prstDash val="solid"/>
                      <a:round/>
                      <a:headEnd type="none" w="med" len="med"/>
                      <a:tailEnd type="none" w="med" len="med"/>
                    </a:lnR>
                    <a:lnT w="12700" cap="flat" cmpd="sng" algn="ctr">
                      <a:solidFill>
                        <a:srgbClr val="983112"/>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extLst>
                  <a:ext uri="{0D108BD9-81ED-4DB2-BD59-A6C34878D82A}">
                    <a16:rowId xmlns:a16="http://schemas.microsoft.com/office/drawing/2014/main" val="10000"/>
                  </a:ext>
                </a:extLst>
              </a:tr>
              <a:tr h="662748">
                <a:tc>
                  <a:txBody>
                    <a:bodyPr/>
                    <a:lstStyle/>
                    <a:p>
                      <a:pPr algn="l" fontAlgn="t"/>
                      <a:r>
                        <a:rPr lang="en-US" sz="1800" b="1">
                          <a:solidFill>
                            <a:schemeClr val="tx1"/>
                          </a:solidFill>
                          <a:effectLst/>
                          <a:latin typeface="Inter-Regular"/>
                        </a:rPr>
                        <a:t>Definition</a:t>
                      </a:r>
                      <a:endParaRPr lang="en-US" sz="1800">
                        <a:solidFill>
                          <a:schemeClr val="tx1"/>
                        </a:solidFill>
                        <a:effectLst/>
                        <a:latin typeface="Inter-Regular"/>
                      </a:endParaRP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1800">
                          <a:solidFill>
                            <a:schemeClr val="tx1"/>
                          </a:solidFill>
                          <a:effectLst/>
                          <a:latin typeface="Inter-Regular"/>
                        </a:rPr>
                        <a:t>QA is a group of activities which ensures that the quality of processes which is used during the development of the software always be maintained.</a:t>
                      </a: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1800">
                          <a:solidFill>
                            <a:schemeClr val="tx1"/>
                          </a:solidFill>
                          <a:effectLst/>
                          <a:latin typeface="Inter-Regular"/>
                        </a:rPr>
                        <a:t>QC is a group of activities to detect the defects in the developed software.</a:t>
                      </a: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EEF7F0"/>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4033">
                <a:tc>
                  <a:txBody>
                    <a:bodyPr/>
                    <a:lstStyle/>
                    <a:p>
                      <a:pPr algn="l" fontAlgn="t"/>
                      <a:r>
                        <a:rPr lang="en-US" sz="1800" b="1">
                          <a:solidFill>
                            <a:schemeClr val="tx1"/>
                          </a:solidFill>
                          <a:effectLst/>
                          <a:latin typeface="Inter-Regular"/>
                        </a:rPr>
                        <a:t>Focus</a:t>
                      </a:r>
                      <a:endParaRPr lang="en-US" sz="1800">
                        <a:solidFill>
                          <a:schemeClr val="tx1"/>
                        </a:solidFill>
                        <a:effectLst/>
                        <a:latin typeface="Inter-Regular"/>
                      </a:endParaRP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1800" dirty="0">
                          <a:solidFill>
                            <a:schemeClr val="tx1"/>
                          </a:solidFill>
                          <a:effectLst/>
                          <a:latin typeface="Inter-Regular"/>
                        </a:rPr>
                        <a:t>The focus of QA is to </a:t>
                      </a:r>
                      <a:r>
                        <a:rPr lang="en-US" sz="1800" b="1" dirty="0">
                          <a:solidFill>
                            <a:schemeClr val="tx1"/>
                          </a:solidFill>
                          <a:effectLst/>
                          <a:latin typeface="Inter-Regular"/>
                        </a:rPr>
                        <a:t>prevent defects</a:t>
                      </a:r>
                      <a:r>
                        <a:rPr lang="en-US" sz="1800" dirty="0">
                          <a:solidFill>
                            <a:schemeClr val="tx1"/>
                          </a:solidFill>
                          <a:effectLst/>
                          <a:latin typeface="Inter-Regular"/>
                        </a:rPr>
                        <a:t> in the developing software by paying attention to processes.</a:t>
                      </a: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1800">
                          <a:solidFill>
                            <a:schemeClr val="tx1"/>
                          </a:solidFill>
                          <a:effectLst/>
                          <a:latin typeface="Inter-Regular"/>
                        </a:rPr>
                        <a:t>The focus of QC is to </a:t>
                      </a:r>
                      <a:r>
                        <a:rPr lang="en-US" sz="1800" b="1">
                          <a:solidFill>
                            <a:schemeClr val="tx1"/>
                          </a:solidFill>
                          <a:effectLst/>
                          <a:latin typeface="Inter-Regular"/>
                        </a:rPr>
                        <a:t>identify defects</a:t>
                      </a:r>
                      <a:r>
                        <a:rPr lang="en-US" sz="1800">
                          <a:solidFill>
                            <a:schemeClr val="tx1"/>
                          </a:solidFill>
                          <a:effectLst/>
                          <a:latin typeface="Inter-Regular"/>
                        </a:rPr>
                        <a:t> in the developed software by paying attention to testing processes.</a:t>
                      </a: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EEF7F0"/>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extLst>
                  <a:ext uri="{0D108BD9-81ED-4DB2-BD59-A6C34878D82A}">
                    <a16:rowId xmlns:a16="http://schemas.microsoft.com/office/drawing/2014/main" val="10002"/>
                  </a:ext>
                </a:extLst>
              </a:tr>
              <a:tr h="662748">
                <a:tc>
                  <a:txBody>
                    <a:bodyPr/>
                    <a:lstStyle/>
                    <a:p>
                      <a:pPr algn="l" fontAlgn="t"/>
                      <a:r>
                        <a:rPr lang="en-US" sz="1800" b="1">
                          <a:solidFill>
                            <a:schemeClr val="tx1"/>
                          </a:solidFill>
                          <a:effectLst/>
                          <a:latin typeface="Inter-Regular"/>
                        </a:rPr>
                        <a:t>How</a:t>
                      </a:r>
                      <a:endParaRPr lang="en-US" sz="1800">
                        <a:solidFill>
                          <a:schemeClr val="tx1"/>
                        </a:solidFill>
                        <a:effectLst/>
                        <a:latin typeface="Inter-Regular"/>
                      </a:endParaRP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1800">
                          <a:solidFill>
                            <a:schemeClr val="tx1"/>
                          </a:solidFill>
                          <a:effectLst/>
                          <a:latin typeface="Inter-Regular"/>
                        </a:rPr>
                        <a:t>Establishment of the high-quality management system and periodic audits for conformance of the operations of the developing software.</a:t>
                      </a: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1800">
                          <a:solidFill>
                            <a:schemeClr val="tx1"/>
                          </a:solidFill>
                          <a:effectLst/>
                          <a:latin typeface="Inter-Regular"/>
                        </a:rPr>
                        <a:t>Detecting and eliminating the quality problem elements by using testing techniques and tools in the developed software.</a:t>
                      </a: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EEF7F0"/>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32105">
                <a:tc>
                  <a:txBody>
                    <a:bodyPr/>
                    <a:lstStyle/>
                    <a:p>
                      <a:pPr algn="l" fontAlgn="t"/>
                      <a:r>
                        <a:rPr lang="en-US" sz="1800" b="1">
                          <a:solidFill>
                            <a:schemeClr val="tx1"/>
                          </a:solidFill>
                          <a:effectLst/>
                          <a:latin typeface="Inter-Regular"/>
                        </a:rPr>
                        <a:t>What</a:t>
                      </a:r>
                      <a:endParaRPr lang="en-US" sz="1800">
                        <a:solidFill>
                          <a:schemeClr val="tx1"/>
                        </a:solidFill>
                        <a:effectLst/>
                        <a:latin typeface="Inter-Regular"/>
                      </a:endParaRP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1800">
                          <a:solidFill>
                            <a:schemeClr val="tx1"/>
                          </a:solidFill>
                          <a:effectLst/>
                          <a:latin typeface="Inter-Regular"/>
                        </a:rPr>
                        <a:t>QA ensures prevention of quality problem elements by using systematic activities including documentation.</a:t>
                      </a: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1800">
                          <a:solidFill>
                            <a:schemeClr val="tx1"/>
                          </a:solidFill>
                          <a:effectLst/>
                          <a:latin typeface="Inter-Regular"/>
                        </a:rPr>
                        <a:t>QC ensures identification and elimination of defects by using processes and techniques to achieve and maintain high quality of the software.</a:t>
                      </a: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EEF7F0"/>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extLst>
                  <a:ext uri="{0D108BD9-81ED-4DB2-BD59-A6C34878D82A}">
                    <a16:rowId xmlns:a16="http://schemas.microsoft.com/office/drawing/2014/main" val="10004"/>
                  </a:ext>
                </a:extLst>
              </a:tr>
              <a:tr h="177246">
                <a:tc>
                  <a:txBody>
                    <a:bodyPr/>
                    <a:lstStyle/>
                    <a:p>
                      <a:pPr algn="l" fontAlgn="t"/>
                      <a:r>
                        <a:rPr lang="en-US" sz="1800" b="1">
                          <a:solidFill>
                            <a:schemeClr val="tx1"/>
                          </a:solidFill>
                          <a:effectLst/>
                          <a:latin typeface="Inter-Regular"/>
                        </a:rPr>
                        <a:t>Orientation</a:t>
                      </a:r>
                      <a:endParaRPr lang="en-US" sz="1800">
                        <a:solidFill>
                          <a:schemeClr val="tx1"/>
                        </a:solidFill>
                        <a:effectLst/>
                        <a:latin typeface="Inter-Regular"/>
                      </a:endParaRP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1800">
                          <a:solidFill>
                            <a:schemeClr val="tx1"/>
                          </a:solidFill>
                          <a:effectLst/>
                          <a:latin typeface="Inter-Regular"/>
                        </a:rPr>
                        <a:t>QA is </a:t>
                      </a:r>
                      <a:r>
                        <a:rPr lang="en-US" sz="1800" b="1">
                          <a:solidFill>
                            <a:schemeClr val="tx1"/>
                          </a:solidFill>
                          <a:effectLst/>
                          <a:latin typeface="Inter-Regular"/>
                        </a:rPr>
                        <a:t>process oriented</a:t>
                      </a:r>
                      <a:r>
                        <a:rPr lang="en-US" sz="1800">
                          <a:solidFill>
                            <a:schemeClr val="tx1"/>
                          </a:solidFill>
                          <a:effectLst/>
                          <a:latin typeface="Inter-Regular"/>
                        </a:rPr>
                        <a:t>.</a:t>
                      </a: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1800">
                          <a:solidFill>
                            <a:schemeClr val="tx1"/>
                          </a:solidFill>
                          <a:effectLst/>
                          <a:latin typeface="Inter-Regular"/>
                        </a:rPr>
                        <a:t>QC is </a:t>
                      </a:r>
                      <a:r>
                        <a:rPr lang="en-US" sz="1800" b="1">
                          <a:solidFill>
                            <a:schemeClr val="tx1"/>
                          </a:solidFill>
                          <a:effectLst/>
                          <a:latin typeface="Inter-Regular"/>
                        </a:rPr>
                        <a:t>product oriented</a:t>
                      </a:r>
                      <a:r>
                        <a:rPr lang="en-US" sz="1800">
                          <a:solidFill>
                            <a:schemeClr val="tx1"/>
                          </a:solidFill>
                          <a:effectLst/>
                          <a:latin typeface="Inter-Regular"/>
                        </a:rPr>
                        <a:t>.</a:t>
                      </a: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EEF7F0"/>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93390">
                <a:tc>
                  <a:txBody>
                    <a:bodyPr/>
                    <a:lstStyle/>
                    <a:p>
                      <a:pPr algn="l" fontAlgn="t"/>
                      <a:r>
                        <a:rPr lang="en-US" sz="1800" b="1">
                          <a:solidFill>
                            <a:schemeClr val="tx1"/>
                          </a:solidFill>
                          <a:effectLst/>
                          <a:latin typeface="Inter-Regular"/>
                        </a:rPr>
                        <a:t>Type of process</a:t>
                      </a:r>
                      <a:endParaRPr lang="en-US" sz="1800">
                        <a:solidFill>
                          <a:schemeClr val="tx1"/>
                        </a:solidFill>
                        <a:effectLst/>
                        <a:latin typeface="Inter-Regular"/>
                      </a:endParaRP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1800">
                          <a:solidFill>
                            <a:schemeClr val="tx1"/>
                          </a:solidFill>
                          <a:effectLst/>
                          <a:latin typeface="Inter-Regular"/>
                        </a:rPr>
                        <a:t>QA is a proactive process. It concerns to improve development so; defects do not arise in the testing period.</a:t>
                      </a: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1800">
                          <a:solidFill>
                            <a:schemeClr val="tx1"/>
                          </a:solidFill>
                          <a:effectLst/>
                          <a:latin typeface="Inter-Regular"/>
                        </a:rPr>
                        <a:t>QC is a reactive process because it concerns to identify defects after the development of product and before its release.</a:t>
                      </a: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EEF7F0"/>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extLst>
                  <a:ext uri="{0D108BD9-81ED-4DB2-BD59-A6C34878D82A}">
                    <a16:rowId xmlns:a16="http://schemas.microsoft.com/office/drawing/2014/main" val="10006"/>
                  </a:ext>
                </a:extLst>
              </a:tr>
              <a:tr h="385318">
                <a:tc>
                  <a:txBody>
                    <a:bodyPr/>
                    <a:lstStyle/>
                    <a:p>
                      <a:pPr algn="l" fontAlgn="t"/>
                      <a:r>
                        <a:rPr lang="en-US" sz="1800" b="1">
                          <a:solidFill>
                            <a:schemeClr val="tx1"/>
                          </a:solidFill>
                          <a:effectLst/>
                          <a:latin typeface="Inter-Regular"/>
                        </a:rPr>
                        <a:t>Responsibility</a:t>
                      </a:r>
                      <a:endParaRPr lang="en-US" sz="1800">
                        <a:solidFill>
                          <a:schemeClr val="tx1"/>
                        </a:solidFill>
                        <a:effectLst/>
                        <a:latin typeface="Inter-Regular"/>
                      </a:endParaRP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1800">
                          <a:solidFill>
                            <a:schemeClr val="tx1"/>
                          </a:solidFill>
                          <a:effectLst/>
                          <a:latin typeface="Inter-Regular"/>
                        </a:rPr>
                        <a:t>Each and every member of the development team is responsible for QA</a:t>
                      </a: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tc>
                  <a:txBody>
                    <a:bodyPr/>
                    <a:lstStyle/>
                    <a:p>
                      <a:pPr algn="l" fontAlgn="t"/>
                      <a:r>
                        <a:rPr lang="en-US" sz="1800">
                          <a:solidFill>
                            <a:schemeClr val="tx1"/>
                          </a:solidFill>
                          <a:effectLst/>
                          <a:latin typeface="Inter-Regular"/>
                        </a:rPr>
                        <a:t>Only the specific testing team is responsible for QC</a:t>
                      </a: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EEF7F0"/>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177246">
                <a:tc>
                  <a:txBody>
                    <a:bodyPr/>
                    <a:lstStyle/>
                    <a:p>
                      <a:pPr algn="l" fontAlgn="t"/>
                      <a:r>
                        <a:rPr lang="en-US" sz="1800" b="1">
                          <a:solidFill>
                            <a:schemeClr val="tx1"/>
                          </a:solidFill>
                          <a:effectLst/>
                          <a:latin typeface="Inter-Regular"/>
                        </a:rPr>
                        <a:t>Example</a:t>
                      </a:r>
                      <a:endParaRPr lang="en-US" sz="1800">
                        <a:solidFill>
                          <a:schemeClr val="tx1"/>
                        </a:solidFill>
                        <a:effectLst/>
                        <a:latin typeface="Inter-Regular"/>
                      </a:endParaRP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1800">
                          <a:solidFill>
                            <a:schemeClr val="tx1"/>
                          </a:solidFill>
                          <a:effectLst/>
                          <a:latin typeface="Inter-Regular"/>
                        </a:rPr>
                        <a:t>Verification is the example of QA</a:t>
                      </a: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DCE8DC"/>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tc>
                  <a:txBody>
                    <a:bodyPr/>
                    <a:lstStyle/>
                    <a:p>
                      <a:pPr algn="l" fontAlgn="t"/>
                      <a:r>
                        <a:rPr lang="en-US" sz="1800" dirty="0">
                          <a:solidFill>
                            <a:schemeClr val="tx1"/>
                          </a:solidFill>
                          <a:effectLst/>
                          <a:latin typeface="Inter-Regular"/>
                        </a:rPr>
                        <a:t>Validation is the example of QC</a:t>
                      </a:r>
                    </a:p>
                  </a:txBody>
                  <a:tcPr marL="19266" marR="19266" marT="19266" marB="19266">
                    <a:lnL w="6096" cap="flat" cmpd="sng" algn="ctr">
                      <a:solidFill>
                        <a:srgbClr val="DCE8DC"/>
                      </a:solidFill>
                      <a:prstDash val="solid"/>
                      <a:round/>
                      <a:headEnd type="none" w="med" len="med"/>
                      <a:tailEnd type="none" w="med" len="med"/>
                    </a:lnL>
                    <a:lnR w="6096" cap="flat" cmpd="sng" algn="ctr">
                      <a:solidFill>
                        <a:srgbClr val="EEF7F0"/>
                      </a:solidFill>
                      <a:prstDash val="solid"/>
                      <a:round/>
                      <a:headEnd type="none" w="med" len="med"/>
                      <a:tailEnd type="none" w="med" len="med"/>
                    </a:lnR>
                    <a:lnT w="6096" cap="flat" cmpd="sng" algn="ctr">
                      <a:solidFill>
                        <a:srgbClr val="EEF7F0"/>
                      </a:solidFill>
                      <a:prstDash val="solid"/>
                      <a:round/>
                      <a:headEnd type="none" w="med" len="med"/>
                      <a:tailEnd type="none" w="med" len="med"/>
                    </a:lnT>
                    <a:lnB w="6096" cap="flat" cmpd="sng" algn="ctr">
                      <a:solidFill>
                        <a:srgbClr val="EEF7F0"/>
                      </a:solidFill>
                      <a:prstDash val="solid"/>
                      <a:round/>
                      <a:headEnd type="none" w="med" len="med"/>
                      <a:tailEnd type="none" w="med" len="med"/>
                    </a:lnB>
                    <a:solidFill>
                      <a:srgbClr val="EEF7F0"/>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68834034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normAutofit/>
          </a:bodyPr>
          <a:lstStyle/>
          <a:p>
            <a:r>
              <a:rPr lang="en-US" dirty="0"/>
              <a:t>Quality Management</a:t>
            </a:r>
            <a:br>
              <a:rPr lang="en-US" dirty="0"/>
            </a:br>
            <a:endParaRPr lang="en-US" dirty="0"/>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4251591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Quality Management</a:t>
            </a:r>
          </a:p>
        </p:txBody>
      </p:sp>
      <p:sp>
        <p:nvSpPr>
          <p:cNvPr id="3" name="Content Placeholder 2"/>
          <p:cNvSpPr>
            <a:spLocks noGrp="1"/>
          </p:cNvSpPr>
          <p:nvPr>
            <p:ph idx="1"/>
          </p:nvPr>
        </p:nvSpPr>
        <p:spPr/>
        <p:txBody>
          <a:bodyPr/>
          <a:lstStyle/>
          <a:p>
            <a:pPr marL="347663" indent="-347663" algn="just">
              <a:buFont typeface="Wingdings" panose="05000000000000000000" pitchFamily="2" charset="2"/>
              <a:buChar char="Ø"/>
            </a:pPr>
            <a:r>
              <a:rPr lang="en-US" dirty="0"/>
              <a:t>Software quality management is a systematic process of ensuring that software meets the highest standards in terms of functionality, reliability, and user satisfaction. </a:t>
            </a:r>
          </a:p>
          <a:p>
            <a:pPr marL="347663" indent="-347663" algn="just">
              <a:buFont typeface="Wingdings" panose="05000000000000000000" pitchFamily="2" charset="2"/>
              <a:buChar char="Ø"/>
            </a:pPr>
            <a:r>
              <a:rPr lang="en-US" dirty="0"/>
              <a:t>It is a disciplined approach to overseeing and enhancing all aspects of software development, deployment, and maintenance to ensure the final product meets or exceeds user expectations. </a:t>
            </a:r>
          </a:p>
          <a:p>
            <a:pPr marL="347663" indent="-347663" algn="just">
              <a:buFont typeface="Wingdings" panose="05000000000000000000" pitchFamily="2" charset="2"/>
              <a:buChar char="Ø"/>
            </a:pPr>
            <a:r>
              <a:rPr lang="en-US" dirty="0"/>
              <a:t>It encompasses processes, standards, and practices that focus on functionality, performance, reliability, and user satisfaction, ultimately creating high-quality software products. </a:t>
            </a:r>
          </a:p>
          <a:p>
            <a:pPr marL="347663" indent="-347663" algn="just">
              <a:buFont typeface="Wingdings" panose="05000000000000000000" pitchFamily="2" charset="2"/>
              <a:buChar char="Ø"/>
            </a:pPr>
            <a:r>
              <a:rPr lang="en-US" dirty="0"/>
              <a:t>Software Quality Management (SQM) is the process of constant improvement of product quality, integrated into the development process until the expectations are achieved. </a:t>
            </a:r>
          </a:p>
          <a:p>
            <a:pPr marL="347663" indent="-347663" algn="just">
              <a:buFont typeface="Wingdings" panose="05000000000000000000" pitchFamily="2" charset="2"/>
              <a:buChar char="Ø"/>
            </a:pPr>
            <a:r>
              <a:rPr lang="en-US" dirty="0"/>
              <a:t>Software quality management aims to create a working environment where quality is the responsibility of everyone on the team. </a:t>
            </a:r>
          </a:p>
          <a:p>
            <a:pPr marL="282575" indent="-282575" algn="just">
              <a:buFont typeface="Wingdings" panose="05000000000000000000" pitchFamily="2" charset="2"/>
              <a:buChar char="Ø"/>
            </a:pPr>
            <a:endParaRPr lang="en-US" dirty="0"/>
          </a:p>
        </p:txBody>
      </p:sp>
    </p:spTree>
    <p:extLst>
      <p:ext uri="{BB962C8B-B14F-4D97-AF65-F5344CB8AC3E}">
        <p14:creationId xmlns:p14="http://schemas.microsoft.com/office/powerpoint/2010/main" val="16110462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Why Software Quality Management is Important?</a:t>
            </a:r>
            <a:endParaRPr lang="en-US" dirty="0"/>
          </a:p>
        </p:txBody>
      </p:sp>
      <p:sp>
        <p:nvSpPr>
          <p:cNvPr id="3" name="Content Placeholder 2"/>
          <p:cNvSpPr>
            <a:spLocks noGrp="1"/>
          </p:cNvSpPr>
          <p:nvPr>
            <p:ph idx="1"/>
          </p:nvPr>
        </p:nvSpPr>
        <p:spPr/>
        <p:txBody>
          <a:bodyPr/>
          <a:lstStyle/>
          <a:p>
            <a:pPr marL="576263" indent="-457200">
              <a:buFont typeface="Wingdings" panose="05000000000000000000" pitchFamily="2" charset="2"/>
              <a:buChar char="Ø"/>
            </a:pPr>
            <a:r>
              <a:rPr lang="en-US" dirty="0"/>
              <a:t>Software Quality Management is important because it helps to identify and correct errors in software, which is essential for the effective implementation of a project. </a:t>
            </a:r>
          </a:p>
          <a:p>
            <a:pPr marL="576263" indent="-457200">
              <a:buFont typeface="Wingdings" panose="05000000000000000000" pitchFamily="2" charset="2"/>
              <a:buChar char="Ø"/>
            </a:pPr>
            <a:r>
              <a:rPr lang="en-US" dirty="0"/>
              <a:t>The quality of the software is simply the measurement of how well the product has been able to fulfill your needs. </a:t>
            </a:r>
          </a:p>
          <a:p>
            <a:pPr marL="576263" indent="-457200">
              <a:buFont typeface="Wingdings" panose="05000000000000000000" pitchFamily="2" charset="2"/>
              <a:buChar char="Ø"/>
            </a:pPr>
            <a:r>
              <a:rPr lang="en-US" dirty="0"/>
              <a:t>It is measured by how often errors are found and repaired, how well the software works under different conditions, and how easily software can be maintained. </a:t>
            </a:r>
          </a:p>
          <a:p>
            <a:pPr marL="576263" indent="-457200">
              <a:buFont typeface="Wingdings" panose="05000000000000000000" pitchFamily="2" charset="2"/>
              <a:buChar char="Ø"/>
            </a:pPr>
            <a:r>
              <a:rPr lang="en-US" dirty="0"/>
              <a:t>Software quality is determined by comparing actual results against the expected results. </a:t>
            </a:r>
          </a:p>
          <a:p>
            <a:pPr marL="576263" indent="-457200">
              <a:buFont typeface="Wingdings" panose="05000000000000000000" pitchFamily="2" charset="2"/>
              <a:buChar char="Ø"/>
            </a:pPr>
            <a:r>
              <a:rPr lang="en-US" dirty="0"/>
              <a:t>If a project fails to meet its objectives because of poor quality, then the project will be a failure. </a:t>
            </a:r>
          </a:p>
          <a:p>
            <a:pPr marL="576263" indent="-457200">
              <a:buFont typeface="Wingdings" panose="05000000000000000000" pitchFamily="2" charset="2"/>
              <a:buChar char="Ø"/>
            </a:pPr>
            <a:r>
              <a:rPr lang="en-US" dirty="0"/>
              <a:t>Software quality can include a large variety of factors such as degree of completeness, efficiency, usability, correctness, and reliability. </a:t>
            </a:r>
          </a:p>
          <a:p>
            <a:endParaRPr lang="en-US" dirty="0"/>
          </a:p>
        </p:txBody>
      </p:sp>
    </p:spTree>
    <p:extLst>
      <p:ext uri="{BB962C8B-B14F-4D97-AF65-F5344CB8AC3E}">
        <p14:creationId xmlns:p14="http://schemas.microsoft.com/office/powerpoint/2010/main" val="106859714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What are Software Quality Management Metrics?</a:t>
            </a:r>
            <a:endParaRPr lang="en-US" dirty="0"/>
          </a:p>
        </p:txBody>
      </p:sp>
      <p:sp>
        <p:nvSpPr>
          <p:cNvPr id="3" name="Content Placeholder 2"/>
          <p:cNvSpPr>
            <a:spLocks noGrp="1"/>
          </p:cNvSpPr>
          <p:nvPr>
            <p:ph idx="1"/>
          </p:nvPr>
        </p:nvSpPr>
        <p:spPr/>
        <p:txBody>
          <a:bodyPr/>
          <a:lstStyle/>
          <a:p>
            <a:pPr marL="403225" indent="-403225" algn="just">
              <a:buFont typeface="Wingdings" panose="05000000000000000000" pitchFamily="2" charset="2"/>
              <a:buChar char="Ø"/>
            </a:pPr>
            <a:r>
              <a:rPr lang="en-US" dirty="0"/>
              <a:t>Software quality management metrics are quantitative measurements used to assess the various aspects of software development, deployment, and maintenance processes. </a:t>
            </a:r>
          </a:p>
          <a:p>
            <a:pPr marL="403225" indent="-403225" algn="just">
              <a:buFont typeface="Wingdings" panose="05000000000000000000" pitchFamily="2" charset="2"/>
              <a:buChar char="Ø"/>
            </a:pPr>
            <a:r>
              <a:rPr lang="en-US" dirty="0"/>
              <a:t>These metrics provide objective data that help evaluate the quality of software products, processes, and teams. </a:t>
            </a:r>
          </a:p>
          <a:p>
            <a:pPr marL="403225" indent="-403225" algn="just">
              <a:buFont typeface="Wingdings" panose="05000000000000000000" pitchFamily="2" charset="2"/>
              <a:buChar char="Ø"/>
            </a:pPr>
            <a:r>
              <a:rPr lang="en-US" dirty="0"/>
              <a:t>They offer insights into the effectiveness of quality management efforts and enable informed decision-making. </a:t>
            </a:r>
          </a:p>
          <a:p>
            <a:pPr marL="403225" indent="-403225" algn="just">
              <a:buFont typeface="Wingdings" panose="05000000000000000000" pitchFamily="2" charset="2"/>
              <a:buChar char="Ø"/>
            </a:pPr>
            <a:r>
              <a:rPr lang="en-US" dirty="0"/>
              <a:t>The main focus here is to understand the quality, complexity, software improvement, and development speed.</a:t>
            </a:r>
          </a:p>
          <a:p>
            <a:endParaRPr lang="en-US" dirty="0"/>
          </a:p>
        </p:txBody>
      </p:sp>
    </p:spTree>
    <p:extLst>
      <p:ext uri="{BB962C8B-B14F-4D97-AF65-F5344CB8AC3E}">
        <p14:creationId xmlns:p14="http://schemas.microsoft.com/office/powerpoint/2010/main" val="14083857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5 Aspects of Software Quality:</a:t>
            </a:r>
            <a:endParaRPr lang="en-US" dirty="0"/>
          </a:p>
        </p:txBody>
      </p:sp>
      <p:sp>
        <p:nvSpPr>
          <p:cNvPr id="3" name="Content Placeholder 2"/>
          <p:cNvSpPr>
            <a:spLocks noGrp="1"/>
          </p:cNvSpPr>
          <p:nvPr>
            <p:ph idx="1"/>
          </p:nvPr>
        </p:nvSpPr>
        <p:spPr/>
        <p:txBody>
          <a:bodyPr>
            <a:normAutofit/>
          </a:bodyPr>
          <a:lstStyle/>
          <a:p>
            <a:pPr algn="just"/>
            <a:r>
              <a:rPr lang="en-US" dirty="0"/>
              <a:t>Software quality can be measured in terms of its ability to perform its required functions and meet its specified requirements. The five aspects of software quality are:</a:t>
            </a:r>
          </a:p>
          <a:p>
            <a:pPr marL="282575" indent="-282575" algn="just">
              <a:buFont typeface="Wingdings" panose="05000000000000000000" pitchFamily="2" charset="2"/>
              <a:buChar char="Ø"/>
            </a:pPr>
            <a:r>
              <a:rPr lang="en-US" b="1" dirty="0"/>
              <a:t>Performance:</a:t>
            </a:r>
            <a:r>
              <a:rPr lang="en-US" dirty="0"/>
              <a:t> Performance refers to how well a system performs its functions or meets user requirements.</a:t>
            </a:r>
          </a:p>
          <a:p>
            <a:pPr marL="282575" indent="-282575" algn="just">
              <a:buFont typeface="Wingdings" panose="05000000000000000000" pitchFamily="2" charset="2"/>
              <a:buChar char="Ø"/>
            </a:pPr>
            <a:r>
              <a:rPr lang="en-US" b="1" dirty="0"/>
              <a:t>Usability:</a:t>
            </a:r>
            <a:r>
              <a:rPr lang="en-US" dirty="0"/>
              <a:t> Usability relates to the ease with which users can use the system and understand it.</a:t>
            </a:r>
          </a:p>
          <a:p>
            <a:pPr marL="282575" indent="-282575" algn="just">
              <a:buFont typeface="Wingdings" panose="05000000000000000000" pitchFamily="2" charset="2"/>
              <a:buChar char="Ø"/>
            </a:pPr>
            <a:r>
              <a:rPr lang="en-US" b="1" dirty="0"/>
              <a:t>Reliability: </a:t>
            </a:r>
            <a:r>
              <a:rPr lang="en-US" dirty="0"/>
              <a:t>Reliability relates to the ability of a system to continue operating without breakdown or failure.</a:t>
            </a:r>
          </a:p>
          <a:p>
            <a:pPr marL="282575" indent="-282575" algn="just">
              <a:buFont typeface="Wingdings" panose="05000000000000000000" pitchFamily="2" charset="2"/>
              <a:buChar char="Ø"/>
            </a:pPr>
            <a:r>
              <a:rPr lang="en-US" b="1" dirty="0"/>
              <a:t>Maintainability: </a:t>
            </a:r>
            <a:r>
              <a:rPr lang="en-US" dirty="0"/>
              <a:t>Maintainability refers to how easy it is to understand and modify code so that changes can be made easily when necessary.</a:t>
            </a:r>
          </a:p>
          <a:p>
            <a:pPr marL="282575" indent="-282575" algn="just">
              <a:buFont typeface="Wingdings" panose="05000000000000000000" pitchFamily="2" charset="2"/>
              <a:buChar char="Ø"/>
            </a:pPr>
            <a:r>
              <a:rPr lang="en-US" b="1" dirty="0"/>
              <a:t>Interoperability: </a:t>
            </a:r>
            <a:r>
              <a:rPr lang="en-US" dirty="0"/>
              <a:t>Interoperability refers to whether a system will work with other systems or programs without difficulty or incompatibility issues.</a:t>
            </a:r>
          </a:p>
          <a:p>
            <a:endParaRPr lang="en-US" dirty="0"/>
          </a:p>
        </p:txBody>
      </p:sp>
    </p:spTree>
    <p:extLst>
      <p:ext uri="{BB962C8B-B14F-4D97-AF65-F5344CB8AC3E}">
        <p14:creationId xmlns:p14="http://schemas.microsoft.com/office/powerpoint/2010/main" val="5022047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b="1" dirty="0"/>
              <a:t>How Does Software Quality Management Work?</a:t>
            </a:r>
            <a:endParaRPr lang="en-US" dirty="0"/>
          </a:p>
        </p:txBody>
      </p:sp>
      <p:sp>
        <p:nvSpPr>
          <p:cNvPr id="3" name="Content Placeholder 2"/>
          <p:cNvSpPr>
            <a:spLocks noGrp="1"/>
          </p:cNvSpPr>
          <p:nvPr>
            <p:ph idx="1"/>
          </p:nvPr>
        </p:nvSpPr>
        <p:spPr>
          <a:xfrm>
            <a:off x="283029" y="1845733"/>
            <a:ext cx="11244941" cy="4598609"/>
          </a:xfrm>
        </p:spPr>
        <p:txBody>
          <a:bodyPr>
            <a:normAutofit fontScale="77500" lnSpcReduction="20000"/>
          </a:bodyPr>
          <a:lstStyle/>
          <a:p>
            <a:pPr algn="just"/>
            <a:r>
              <a:rPr lang="en-US" dirty="0"/>
              <a:t>There are a series of steps in software quality management that ensure the delivery of high-quality software products. Here’s an overview for you:</a:t>
            </a:r>
          </a:p>
          <a:p>
            <a:pPr algn="just"/>
            <a:r>
              <a:rPr lang="en-US" b="1" dirty="0"/>
              <a:t>Defining Quality Objectives:</a:t>
            </a:r>
            <a:r>
              <a:rPr lang="en-US" dirty="0"/>
              <a:t> Establish clear quality objectives that align with the project’s goals and customer requirements.</a:t>
            </a:r>
          </a:p>
          <a:p>
            <a:pPr algn="just"/>
            <a:r>
              <a:rPr lang="en-US" b="1" dirty="0"/>
              <a:t>Requirements Analysis:</a:t>
            </a:r>
            <a:r>
              <a:rPr lang="en-US" dirty="0"/>
              <a:t> Thoroughly understand and document the software requirements. This step ensures that the development team has a clear understanding of what needs to be built and what quality standards should be met.</a:t>
            </a:r>
          </a:p>
          <a:p>
            <a:pPr algn="just"/>
            <a:r>
              <a:rPr lang="en-US" b="1" dirty="0"/>
              <a:t>Quality Planning:</a:t>
            </a:r>
            <a:r>
              <a:rPr lang="en-US" dirty="0"/>
              <a:t> Develop a comprehensive quality plan that outlines the strategies, processes, and methodologies to achieve the defined quality objectives. This plan includes details about testing, review processes, quality checks, and performance benchmarks.</a:t>
            </a:r>
          </a:p>
          <a:p>
            <a:pPr algn="just"/>
            <a:r>
              <a:rPr lang="en-US" b="1" dirty="0"/>
              <a:t>Risk Assessment:</a:t>
            </a:r>
            <a:r>
              <a:rPr lang="en-US" dirty="0"/>
              <a:t> Identify potential risks that could impact software </a:t>
            </a:r>
            <a:r>
              <a:rPr lang="en-US" dirty="0" err="1"/>
              <a:t>qualit</a:t>
            </a:r>
            <a:r>
              <a:rPr lang="en-US" dirty="0"/>
              <a:t> and develop mitigation strategies to address them, ensuring that potential quality issues are managed proactively.</a:t>
            </a:r>
          </a:p>
          <a:p>
            <a:pPr algn="just"/>
            <a:r>
              <a:rPr lang="en-US" b="1" dirty="0"/>
              <a:t>Quality Assurance:</a:t>
            </a:r>
            <a:r>
              <a:rPr lang="en-US" dirty="0"/>
              <a:t> Implement processes and practices that ensure adherence to quality standards throughout the development lifecycle. This includes conducting reviews, audits, and inspections to identify defects and inconsistencies.</a:t>
            </a:r>
          </a:p>
          <a:p>
            <a:pPr algn="just"/>
            <a:r>
              <a:rPr lang="en-US" b="1" dirty="0">
                <a:hlinkClick r:id="rId2"/>
              </a:rPr>
              <a:t>Quality Control</a:t>
            </a:r>
            <a:r>
              <a:rPr lang="en-US" b="1" dirty="0"/>
              <a:t>:</a:t>
            </a:r>
            <a:r>
              <a:rPr lang="en-US" dirty="0"/>
              <a:t> Execute testing procedures to identify defects and verify that the software meets the specified requirements. This involves various testing types, such as unit testing, integration testing, system testing, and user acceptance testing.</a:t>
            </a:r>
          </a:p>
          <a:p>
            <a:pPr algn="just"/>
            <a:r>
              <a:rPr lang="en-US" b="1" dirty="0"/>
              <a:t>Continuous Monitoring:</a:t>
            </a:r>
            <a:r>
              <a:rPr lang="en-US" dirty="0"/>
              <a:t> Continuously monitor the software development process to track progress, identify deviations from the quality plan, and address any issues promptly.</a:t>
            </a:r>
          </a:p>
          <a:p>
            <a:pPr algn="just"/>
            <a:r>
              <a:rPr lang="en-US" b="1" dirty="0"/>
              <a:t>Metrics and Measurement:</a:t>
            </a:r>
            <a:r>
              <a:rPr lang="en-US" dirty="0"/>
              <a:t> Collect and analyze relevant metrics to assess the software’s quality, performance, and progress to get insights into the effectiveness of quality management efforts.</a:t>
            </a:r>
          </a:p>
          <a:p>
            <a:pPr algn="just"/>
            <a:endParaRPr lang="en-US" dirty="0"/>
          </a:p>
        </p:txBody>
      </p:sp>
    </p:spTree>
    <p:extLst>
      <p:ext uri="{BB962C8B-B14F-4D97-AF65-F5344CB8AC3E}">
        <p14:creationId xmlns:p14="http://schemas.microsoft.com/office/powerpoint/2010/main" val="244501480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Benefits of Software Quality Management</a:t>
            </a:r>
          </a:p>
        </p:txBody>
      </p:sp>
      <p:sp>
        <p:nvSpPr>
          <p:cNvPr id="3" name="Content Placeholder 2"/>
          <p:cNvSpPr>
            <a:spLocks noGrp="1"/>
          </p:cNvSpPr>
          <p:nvPr>
            <p:ph idx="1"/>
          </p:nvPr>
        </p:nvSpPr>
        <p:spPr/>
        <p:txBody>
          <a:bodyPr>
            <a:normAutofit/>
          </a:bodyPr>
          <a:lstStyle/>
          <a:p>
            <a:pPr marL="282575" indent="-282575" algn="just">
              <a:buFont typeface="Wingdings" panose="05000000000000000000" pitchFamily="2" charset="2"/>
              <a:buChar char="Ø"/>
            </a:pPr>
            <a:r>
              <a:rPr lang="en-US" dirty="0"/>
              <a:t>Improves product quality.</a:t>
            </a:r>
          </a:p>
          <a:p>
            <a:pPr marL="282575" indent="-282575" algn="just">
              <a:buFont typeface="Wingdings" panose="05000000000000000000" pitchFamily="2" charset="2"/>
              <a:buChar char="Ø"/>
            </a:pPr>
            <a:r>
              <a:rPr lang="en-US" dirty="0"/>
              <a:t>Adds to customer satisfaction.</a:t>
            </a:r>
          </a:p>
          <a:p>
            <a:pPr marL="282575" indent="-282575" algn="just">
              <a:buFont typeface="Wingdings" panose="05000000000000000000" pitchFamily="2" charset="2"/>
              <a:buChar char="Ø"/>
            </a:pPr>
            <a:r>
              <a:rPr lang="en-US" dirty="0"/>
              <a:t>The software meets user needs and expectations and generates more value, leading to increased user adoption and potentially higher revenue.</a:t>
            </a:r>
          </a:p>
          <a:p>
            <a:pPr marL="282575" indent="-282575" algn="just">
              <a:buFont typeface="Wingdings" panose="05000000000000000000" pitchFamily="2" charset="2"/>
              <a:buChar char="Ø"/>
            </a:pPr>
            <a:r>
              <a:rPr lang="en-US" dirty="0"/>
              <a:t>Helps bring down the cost of rework as defects are detected early in SDLC. Assists in making credible and reliable product development decisions and test management strategies.</a:t>
            </a:r>
          </a:p>
          <a:p>
            <a:pPr marL="282575" indent="-282575" algn="just">
              <a:buFont typeface="Wingdings" panose="05000000000000000000" pitchFamily="2" charset="2"/>
              <a:buChar char="Ø"/>
            </a:pPr>
            <a:r>
              <a:rPr lang="en-US" dirty="0"/>
              <a:t>Increases productivity.</a:t>
            </a:r>
          </a:p>
        </p:txBody>
      </p:sp>
    </p:spTree>
    <p:extLst>
      <p:ext uri="{BB962C8B-B14F-4D97-AF65-F5344CB8AC3E}">
        <p14:creationId xmlns:p14="http://schemas.microsoft.com/office/powerpoint/2010/main" val="406769389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Quality Factors</a:t>
            </a:r>
          </a:p>
        </p:txBody>
      </p:sp>
      <p:sp>
        <p:nvSpPr>
          <p:cNvPr id="5" name="Subtitle 4"/>
          <p:cNvSpPr>
            <a:spLocks noGrp="1"/>
          </p:cNvSpPr>
          <p:nvPr>
            <p:ph type="subTitle" idx="1"/>
          </p:nvPr>
        </p:nvSpPr>
        <p:spPr/>
        <p:txBody>
          <a:bodyPr/>
          <a:lstStyle/>
          <a:p>
            <a:endParaRPr lang="en-US"/>
          </a:p>
        </p:txBody>
      </p:sp>
    </p:spTree>
    <p:extLst>
      <p:ext uri="{BB962C8B-B14F-4D97-AF65-F5344CB8AC3E}">
        <p14:creationId xmlns:p14="http://schemas.microsoft.com/office/powerpoint/2010/main" val="310927561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Quality Factors</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1097280" y="1845734"/>
            <a:ext cx="6695394" cy="3845453"/>
          </a:xfrm>
          <a:prstGeom prst="rect">
            <a:avLst/>
          </a:prstGeom>
        </p:spPr>
      </p:pic>
    </p:spTree>
    <p:extLst>
      <p:ext uri="{BB962C8B-B14F-4D97-AF65-F5344CB8AC3E}">
        <p14:creationId xmlns:p14="http://schemas.microsoft.com/office/powerpoint/2010/main" val="370208853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208088" y="0"/>
            <a:ext cx="10058400" cy="1449387"/>
          </a:xfrm>
        </p:spPr>
        <p:txBody>
          <a:bodyPr/>
          <a:lstStyle/>
          <a:p>
            <a:r>
              <a:rPr lang="en-US" b="1" dirty="0"/>
              <a:t>Product operation factors</a:t>
            </a:r>
            <a:br>
              <a:rPr lang="en-US" b="1" dirty="0"/>
            </a:br>
            <a:endParaRPr lang="en-US" dirty="0"/>
          </a:p>
        </p:txBody>
      </p:sp>
      <p:sp>
        <p:nvSpPr>
          <p:cNvPr id="3" name="Content Placeholder 2"/>
          <p:cNvSpPr>
            <a:spLocks noGrp="1"/>
          </p:cNvSpPr>
          <p:nvPr>
            <p:ph idx="4294967295"/>
          </p:nvPr>
        </p:nvSpPr>
        <p:spPr>
          <a:xfrm>
            <a:off x="745332" y="1012373"/>
            <a:ext cx="10983912" cy="5432652"/>
          </a:xfrm>
        </p:spPr>
        <p:txBody>
          <a:bodyPr>
            <a:normAutofit fontScale="92500" lnSpcReduction="20000"/>
          </a:bodyPr>
          <a:lstStyle/>
          <a:p>
            <a:pPr algn="just"/>
            <a:r>
              <a:rPr lang="en-US" dirty="0"/>
              <a:t>Product operation factors includes five software requirements. These requirements directly affect to the software operations such as operational performance, ease of usage and etc. These 5 factors help to provide a better user experience to users.</a:t>
            </a:r>
          </a:p>
          <a:p>
            <a:pPr marL="403225" indent="-403225" algn="just">
              <a:buFont typeface="Wingdings" panose="05000000000000000000" pitchFamily="2" charset="2"/>
              <a:buChar char="Ø"/>
            </a:pPr>
            <a:r>
              <a:rPr lang="en-US" b="1" dirty="0"/>
              <a:t>Correctness</a:t>
            </a:r>
            <a:endParaRPr lang="en-US" dirty="0"/>
          </a:p>
          <a:p>
            <a:pPr marL="695833" lvl="1" indent="-403225" algn="just">
              <a:buFont typeface="Wingdings" panose="05000000000000000000" pitchFamily="2" charset="2"/>
              <a:buChar char="Ø"/>
            </a:pPr>
            <a:r>
              <a:rPr lang="en-US" dirty="0"/>
              <a:t>Correctness means a program satisfy all its specifications. Correctness is the capability of software to perform the operations that were designed to perform.</a:t>
            </a:r>
          </a:p>
          <a:p>
            <a:pPr marL="695833" lvl="1" indent="-403225" algn="just">
              <a:buFont typeface="Wingdings" panose="05000000000000000000" pitchFamily="2" charset="2"/>
              <a:buChar char="Ø"/>
            </a:pPr>
            <a:r>
              <a:rPr lang="en-US" dirty="0"/>
              <a:t>In the correctness consider what are the things need to output, Accuracy of output ,Completeness of output information , Up-to-date of the information and Availability of the information</a:t>
            </a:r>
          </a:p>
          <a:p>
            <a:pPr marL="403225" indent="-403225" algn="just">
              <a:buFont typeface="Wingdings" panose="05000000000000000000" pitchFamily="2" charset="2"/>
              <a:buChar char="Ø"/>
            </a:pPr>
            <a:r>
              <a:rPr lang="en-US" b="1" dirty="0"/>
              <a:t>Reliability</a:t>
            </a:r>
            <a:endParaRPr lang="en-US" dirty="0"/>
          </a:p>
          <a:p>
            <a:pPr marL="695833" lvl="1" indent="-403225" algn="just">
              <a:buFont typeface="Wingdings" panose="05000000000000000000" pitchFamily="2" charset="2"/>
              <a:buChar char="Ø"/>
            </a:pPr>
            <a:r>
              <a:rPr lang="en-US" dirty="0"/>
              <a:t>Reliability means a program capable to be maintained so that it can perform its exact function. Reliability requirements deal with software product failure.</a:t>
            </a:r>
          </a:p>
          <a:p>
            <a:pPr marL="403225" indent="-403225" algn="just">
              <a:buFont typeface="Wingdings" panose="05000000000000000000" pitchFamily="2" charset="2"/>
              <a:buChar char="Ø"/>
            </a:pPr>
            <a:r>
              <a:rPr lang="en-US" b="1" dirty="0"/>
              <a:t>Efficiency</a:t>
            </a:r>
            <a:endParaRPr lang="en-US" dirty="0"/>
          </a:p>
          <a:p>
            <a:pPr marL="695833" lvl="1" indent="-403225" algn="just">
              <a:buFont typeface="Wingdings" panose="05000000000000000000" pitchFamily="2" charset="2"/>
              <a:buChar char="Ø"/>
            </a:pPr>
            <a:r>
              <a:rPr lang="en-US" dirty="0"/>
              <a:t>Efficiency requirements deal with the computer resources that include in a system to complete its functions.</a:t>
            </a:r>
          </a:p>
          <a:p>
            <a:pPr marL="403225" indent="-403225" algn="just">
              <a:buFont typeface="Wingdings" panose="05000000000000000000" pitchFamily="2" charset="2"/>
              <a:buChar char="Ø"/>
            </a:pPr>
            <a:r>
              <a:rPr lang="en-US" b="1" dirty="0"/>
              <a:t>Integrity</a:t>
            </a:r>
            <a:endParaRPr lang="en-US" dirty="0"/>
          </a:p>
          <a:p>
            <a:pPr marL="695833" lvl="1" indent="-403225" algn="just">
              <a:buFont typeface="Wingdings" panose="05000000000000000000" pitchFamily="2" charset="2"/>
              <a:buChar char="Ø"/>
            </a:pPr>
            <a:r>
              <a:rPr lang="en-US" dirty="0"/>
              <a:t>Integrity requirements deal with the software system security. This help to prevent access to unauthorized persons, to distinguish between the majority of personnel allowed to see the information and a limited group who will be allowed to add and change data in a system.</a:t>
            </a:r>
          </a:p>
          <a:p>
            <a:pPr marL="403225" indent="-403225" algn="just">
              <a:buFont typeface="Wingdings" panose="05000000000000000000" pitchFamily="2" charset="2"/>
              <a:buChar char="Ø"/>
            </a:pPr>
            <a:r>
              <a:rPr lang="en-US" b="1" dirty="0"/>
              <a:t>Usability</a:t>
            </a:r>
            <a:endParaRPr lang="en-US" dirty="0"/>
          </a:p>
          <a:p>
            <a:pPr marL="695833" lvl="1" indent="-403225" algn="just">
              <a:buFont typeface="Wingdings" panose="05000000000000000000" pitchFamily="2" charset="2"/>
              <a:buChar char="Ø"/>
            </a:pPr>
            <a:r>
              <a:rPr lang="en-US" dirty="0"/>
              <a:t>Usability means the requirements for staff to execute the software-based system and a new staff member training on this system. And usability deal with the quality of a user’s experience when interacting with products and systems.</a:t>
            </a:r>
          </a:p>
          <a:p>
            <a:pPr algn="just"/>
            <a:endParaRPr lang="en-US" dirty="0"/>
          </a:p>
        </p:txBody>
      </p:sp>
    </p:spTree>
    <p:extLst>
      <p:ext uri="{BB962C8B-B14F-4D97-AF65-F5344CB8AC3E}">
        <p14:creationId xmlns:p14="http://schemas.microsoft.com/office/powerpoint/2010/main" val="46395981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06829" y="335846"/>
            <a:ext cx="11713028" cy="5447645"/>
          </a:xfrm>
          <a:prstGeom prst="rect">
            <a:avLst/>
          </a:prstGeom>
        </p:spPr>
        <p:txBody>
          <a:bodyPr wrap="square">
            <a:spAutoFit/>
          </a:bodyPr>
          <a:lstStyle/>
          <a:p>
            <a:r>
              <a:rPr lang="en-US" sz="2800" b="1" dirty="0">
                <a:solidFill>
                  <a:srgbClr val="242424"/>
                </a:solidFill>
                <a:latin typeface="sohne"/>
              </a:rPr>
              <a:t>Product revision factors</a:t>
            </a:r>
          </a:p>
          <a:p>
            <a:r>
              <a:rPr lang="en-US" sz="2000" dirty="0">
                <a:solidFill>
                  <a:srgbClr val="242424"/>
                </a:solidFill>
                <a:latin typeface="source-serif-pro"/>
              </a:rPr>
              <a:t>Product revision factors includes three software quality factors. </a:t>
            </a:r>
          </a:p>
          <a:p>
            <a:r>
              <a:rPr lang="en-US" sz="2000" dirty="0">
                <a:solidFill>
                  <a:srgbClr val="242424"/>
                </a:solidFill>
                <a:latin typeface="source-serif-pro"/>
              </a:rPr>
              <a:t>These are Maintainability, Flexibility and Testability. </a:t>
            </a:r>
          </a:p>
          <a:p>
            <a:r>
              <a:rPr lang="en-US" sz="2000" dirty="0">
                <a:solidFill>
                  <a:srgbClr val="242424"/>
                </a:solidFill>
                <a:latin typeface="source-serif-pro"/>
              </a:rPr>
              <a:t>These requirements are required for testing and maintenance of the software. </a:t>
            </a:r>
          </a:p>
          <a:p>
            <a:r>
              <a:rPr lang="en-US" sz="2000" dirty="0">
                <a:solidFill>
                  <a:srgbClr val="242424"/>
                </a:solidFill>
                <a:latin typeface="source-serif-pro"/>
              </a:rPr>
              <a:t>They provide ease of maintenance, flexibility and testing effort to support the software to be functional according to the needs and requirements of the user in the future.</a:t>
            </a:r>
          </a:p>
          <a:p>
            <a:pPr marL="347663" indent="-347663">
              <a:buFont typeface="Wingdings" panose="05000000000000000000" pitchFamily="2" charset="2"/>
              <a:buChar char="Ø"/>
            </a:pPr>
            <a:r>
              <a:rPr lang="en-US" sz="2000" b="1" dirty="0">
                <a:solidFill>
                  <a:srgbClr val="242424"/>
                </a:solidFill>
                <a:latin typeface="source-serif-pro"/>
              </a:rPr>
              <a:t>Maintainability</a:t>
            </a:r>
            <a:endParaRPr lang="en-US" sz="2000" dirty="0">
              <a:solidFill>
                <a:srgbClr val="242424"/>
              </a:solidFill>
              <a:latin typeface="source-serif-pro"/>
            </a:endParaRPr>
          </a:p>
          <a:p>
            <a:pPr marL="804863" lvl="1" indent="-347663">
              <a:buFont typeface="Wingdings" panose="05000000000000000000" pitchFamily="2" charset="2"/>
              <a:buChar char="Ø"/>
            </a:pPr>
            <a:r>
              <a:rPr lang="en-US" sz="2000" dirty="0">
                <a:solidFill>
                  <a:srgbClr val="242424"/>
                </a:solidFill>
                <a:latin typeface="source-serif-pro"/>
              </a:rPr>
              <a:t>Maintainability considers the efforts that will be needed by users and maintenance personnel to identify the reasons for software failures, to correct the failures, and to verify the success of the corrections.</a:t>
            </a:r>
          </a:p>
          <a:p>
            <a:pPr marL="347663" indent="-347663">
              <a:buFont typeface="Wingdings" panose="05000000000000000000" pitchFamily="2" charset="2"/>
              <a:buChar char="Ø"/>
            </a:pPr>
            <a:r>
              <a:rPr lang="en-US" sz="2000" b="1" dirty="0">
                <a:solidFill>
                  <a:srgbClr val="242424"/>
                </a:solidFill>
                <a:latin typeface="source-serif-pro"/>
              </a:rPr>
              <a:t>Flexibility</a:t>
            </a:r>
            <a:endParaRPr lang="en-US" sz="2000" dirty="0">
              <a:solidFill>
                <a:srgbClr val="242424"/>
              </a:solidFill>
              <a:latin typeface="source-serif-pro"/>
            </a:endParaRPr>
          </a:p>
          <a:p>
            <a:pPr marL="804863" lvl="1" indent="-347663">
              <a:buFont typeface="Wingdings" panose="05000000000000000000" pitchFamily="2" charset="2"/>
              <a:buChar char="Ø"/>
            </a:pPr>
            <a:r>
              <a:rPr lang="en-US" sz="2000" dirty="0">
                <a:solidFill>
                  <a:srgbClr val="242424"/>
                </a:solidFill>
                <a:latin typeface="source-serif-pro"/>
              </a:rPr>
              <a:t>Flexibility means capabilities and effort needed to improve an operational software program.</a:t>
            </a:r>
          </a:p>
          <a:p>
            <a:pPr marL="347663" indent="-347663">
              <a:buFont typeface="Wingdings" panose="05000000000000000000" pitchFamily="2" charset="2"/>
              <a:buChar char="Ø"/>
            </a:pPr>
            <a:r>
              <a:rPr lang="en-US" sz="2000" b="1" dirty="0">
                <a:solidFill>
                  <a:srgbClr val="242424"/>
                </a:solidFill>
                <a:latin typeface="source-serif-pro"/>
              </a:rPr>
              <a:t>Testability</a:t>
            </a:r>
            <a:endParaRPr lang="en-US" sz="2000" dirty="0">
              <a:solidFill>
                <a:srgbClr val="242424"/>
              </a:solidFill>
              <a:latin typeface="source-serif-pro"/>
            </a:endParaRPr>
          </a:p>
          <a:p>
            <a:pPr marL="804863" lvl="1" indent="-347663">
              <a:buFont typeface="Wingdings" panose="05000000000000000000" pitchFamily="2" charset="2"/>
              <a:buChar char="Ø"/>
            </a:pPr>
            <a:r>
              <a:rPr lang="en-US" sz="2000" dirty="0">
                <a:solidFill>
                  <a:srgbClr val="242424"/>
                </a:solidFill>
                <a:latin typeface="source-serif-pro"/>
              </a:rPr>
              <a:t>Testability means effort and capabilities required to verify a software system to ensure software meets the specified requirements. </a:t>
            </a:r>
          </a:p>
          <a:p>
            <a:pPr marL="804863" lvl="1" indent="-347663">
              <a:buFont typeface="Wingdings" panose="05000000000000000000" pitchFamily="2" charset="2"/>
              <a:buChar char="Ø"/>
            </a:pPr>
            <a:r>
              <a:rPr lang="en-US" sz="2000" dirty="0">
                <a:solidFill>
                  <a:srgbClr val="242424"/>
                </a:solidFill>
                <a:latin typeface="source-serif-pro"/>
              </a:rPr>
              <a:t>Testability requirements deal with the testing of an information system as well as with its operation.</a:t>
            </a:r>
            <a:endParaRPr lang="en-US" sz="2000" b="0" i="0" dirty="0">
              <a:solidFill>
                <a:srgbClr val="242424"/>
              </a:solidFill>
              <a:effectLst/>
              <a:latin typeface="source-serif-pro"/>
            </a:endParaRPr>
          </a:p>
        </p:txBody>
      </p:sp>
    </p:spTree>
    <p:extLst>
      <p:ext uri="{BB962C8B-B14F-4D97-AF65-F5344CB8AC3E}">
        <p14:creationId xmlns:p14="http://schemas.microsoft.com/office/powerpoint/2010/main" val="33719497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1113" y="474345"/>
            <a:ext cx="10123715" cy="5293757"/>
          </a:xfrm>
          <a:prstGeom prst="rect">
            <a:avLst/>
          </a:prstGeom>
        </p:spPr>
        <p:txBody>
          <a:bodyPr wrap="square">
            <a:spAutoFit/>
          </a:bodyPr>
          <a:lstStyle/>
          <a:p>
            <a:br>
              <a:rPr lang="en-US" b="1" dirty="0">
                <a:solidFill>
                  <a:srgbClr val="242424"/>
                </a:solidFill>
                <a:latin typeface="sohne"/>
              </a:rPr>
            </a:br>
            <a:r>
              <a:rPr lang="en-US" sz="3200" b="1" dirty="0">
                <a:solidFill>
                  <a:srgbClr val="242424"/>
                </a:solidFill>
                <a:latin typeface="sohne"/>
              </a:rPr>
              <a:t>Product transition factors</a:t>
            </a:r>
          </a:p>
          <a:p>
            <a:r>
              <a:rPr lang="en-US" dirty="0">
                <a:solidFill>
                  <a:srgbClr val="242424"/>
                </a:solidFill>
                <a:latin typeface="source-serif-pro"/>
              </a:rPr>
              <a:t>Product transition factors includes three software quality factors. </a:t>
            </a:r>
          </a:p>
          <a:p>
            <a:r>
              <a:rPr lang="en-US" dirty="0">
                <a:solidFill>
                  <a:srgbClr val="242424"/>
                </a:solidFill>
                <a:latin typeface="source-serif-pro"/>
              </a:rPr>
              <a:t>There are Portability, Reusability and Interoperability. </a:t>
            </a:r>
          </a:p>
          <a:p>
            <a:r>
              <a:rPr lang="en-US" dirty="0">
                <a:solidFill>
                  <a:srgbClr val="242424"/>
                </a:solidFill>
                <a:latin typeface="source-serif-pro"/>
              </a:rPr>
              <a:t>That allows the software to adapt to the change of environments in the new platform or technology from the used platform or technology.</a:t>
            </a:r>
          </a:p>
          <a:p>
            <a:pPr marL="285750" indent="-285750">
              <a:buFont typeface="Wingdings" panose="05000000000000000000" pitchFamily="2" charset="2"/>
              <a:buChar char="Ø"/>
            </a:pPr>
            <a:r>
              <a:rPr lang="en-US" b="1" dirty="0">
                <a:solidFill>
                  <a:srgbClr val="242424"/>
                </a:solidFill>
                <a:latin typeface="sohne"/>
              </a:rPr>
              <a:t>Portability</a:t>
            </a:r>
          </a:p>
          <a:p>
            <a:pPr marL="742950" lvl="1" indent="-285750">
              <a:buFont typeface="Wingdings" panose="05000000000000000000" pitchFamily="2" charset="2"/>
              <a:buChar char="Ø"/>
            </a:pPr>
            <a:r>
              <a:rPr lang="en-US" dirty="0">
                <a:solidFill>
                  <a:srgbClr val="242424"/>
                </a:solidFill>
                <a:latin typeface="source-serif-pro"/>
              </a:rPr>
              <a:t>Portability means software program adaptation with different platforms and different environments continue using the same software. </a:t>
            </a:r>
          </a:p>
          <a:p>
            <a:pPr marL="742950" lvl="1" indent="-285750">
              <a:buFont typeface="Wingdings" panose="05000000000000000000" pitchFamily="2" charset="2"/>
              <a:buChar char="Ø"/>
            </a:pPr>
            <a:r>
              <a:rPr lang="en-US" dirty="0">
                <a:solidFill>
                  <a:srgbClr val="242424"/>
                </a:solidFill>
                <a:latin typeface="source-serif-pro"/>
              </a:rPr>
              <a:t>EX: different operating systems , different hardware.</a:t>
            </a:r>
          </a:p>
          <a:p>
            <a:pPr marL="285750" indent="-285750">
              <a:buFont typeface="Wingdings" panose="05000000000000000000" pitchFamily="2" charset="2"/>
              <a:buChar char="Ø"/>
            </a:pPr>
            <a:r>
              <a:rPr lang="en-US" b="1" dirty="0">
                <a:solidFill>
                  <a:srgbClr val="242424"/>
                </a:solidFill>
                <a:latin typeface="sohne"/>
              </a:rPr>
              <a:t>Reusability</a:t>
            </a:r>
          </a:p>
          <a:p>
            <a:pPr marL="742950" lvl="1" indent="-285750">
              <a:buFont typeface="Wingdings" panose="05000000000000000000" pitchFamily="2" charset="2"/>
              <a:buChar char="Ø"/>
            </a:pPr>
            <a:r>
              <a:rPr lang="en-US" dirty="0">
                <a:solidFill>
                  <a:srgbClr val="242424"/>
                </a:solidFill>
                <a:latin typeface="source-serif-pro"/>
              </a:rPr>
              <a:t>Reusability requirements deal with the use of software modules originally designed for one project in a new software project currently being developed.</a:t>
            </a:r>
          </a:p>
          <a:p>
            <a:pPr marL="285750" indent="-285750">
              <a:buFont typeface="Wingdings" panose="05000000000000000000" pitchFamily="2" charset="2"/>
              <a:buChar char="Ø"/>
            </a:pPr>
            <a:r>
              <a:rPr lang="en-US" b="1" dirty="0">
                <a:solidFill>
                  <a:srgbClr val="242424"/>
                </a:solidFill>
                <a:latin typeface="sohne"/>
              </a:rPr>
              <a:t>Interoperability</a:t>
            </a:r>
          </a:p>
          <a:p>
            <a:pPr marL="742950" lvl="1" indent="-285750">
              <a:buFont typeface="Wingdings" panose="05000000000000000000" pitchFamily="2" charset="2"/>
              <a:buChar char="Ø"/>
            </a:pPr>
            <a:r>
              <a:rPr lang="en-US" dirty="0">
                <a:solidFill>
                  <a:srgbClr val="242424"/>
                </a:solidFill>
                <a:latin typeface="source-serif-pro"/>
              </a:rPr>
              <a:t>Interoperability requirements is , the effort required to integrate two systems with one another. </a:t>
            </a:r>
          </a:p>
          <a:p>
            <a:pPr marL="742950" lvl="1" indent="-285750">
              <a:buFont typeface="Wingdings" panose="05000000000000000000" pitchFamily="2" charset="2"/>
              <a:buChar char="Ø"/>
            </a:pPr>
            <a:r>
              <a:rPr lang="en-US" dirty="0">
                <a:solidFill>
                  <a:srgbClr val="242424"/>
                </a:solidFill>
                <a:latin typeface="source-serif-pro"/>
              </a:rPr>
              <a:t>EX: the firmware of the production machinery and testing equipment interfaces with the production control software.</a:t>
            </a:r>
            <a:endParaRPr lang="en-US" b="0" i="0" dirty="0">
              <a:solidFill>
                <a:srgbClr val="242424"/>
              </a:solidFill>
              <a:effectLst/>
              <a:latin typeface="source-serif-pro"/>
            </a:endParaRPr>
          </a:p>
        </p:txBody>
      </p:sp>
    </p:spTree>
    <p:extLst>
      <p:ext uri="{BB962C8B-B14F-4D97-AF65-F5344CB8AC3E}">
        <p14:creationId xmlns:p14="http://schemas.microsoft.com/office/powerpoint/2010/main" val="253427340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a:t>Methods of Quality Management</a:t>
            </a:r>
          </a:p>
        </p:txBody>
      </p:sp>
      <p:sp>
        <p:nvSpPr>
          <p:cNvPr id="5" name="Subtitle 4"/>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08058165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15 Strategies to Improve Software Quality</a:t>
            </a:r>
          </a:p>
        </p:txBody>
      </p:sp>
      <p:sp>
        <p:nvSpPr>
          <p:cNvPr id="3" name="Content Placeholder 2"/>
          <p:cNvSpPr>
            <a:spLocks noGrp="1"/>
          </p:cNvSpPr>
          <p:nvPr>
            <p:ph idx="1"/>
          </p:nvPr>
        </p:nvSpPr>
        <p:spPr/>
        <p:txBody>
          <a:bodyPr>
            <a:normAutofit/>
          </a:bodyPr>
          <a:lstStyle/>
          <a:p>
            <a:r>
              <a:rPr lang="en-US" b="1" dirty="0"/>
              <a:t>1. Test Early</a:t>
            </a:r>
            <a:endParaRPr lang="en-US" dirty="0"/>
          </a:p>
          <a:p>
            <a:pPr marL="347663" indent="-347663" algn="just">
              <a:buFont typeface="Wingdings" panose="05000000000000000000" pitchFamily="2" charset="2"/>
              <a:buChar char="Ø"/>
            </a:pPr>
            <a:r>
              <a:rPr lang="en-US" dirty="0"/>
              <a:t>Testing is important when learning how to improve software quality and shouldn’t be neglected. </a:t>
            </a:r>
          </a:p>
          <a:p>
            <a:pPr marL="347663" indent="-347663" algn="just">
              <a:buFont typeface="Wingdings" panose="05000000000000000000" pitchFamily="2" charset="2"/>
              <a:buChar char="Ø"/>
            </a:pPr>
            <a:r>
              <a:rPr lang="en-US" dirty="0"/>
              <a:t>Testing aims to catch defects early during the design phase so they don’t snowball and grow into bigger issues later. </a:t>
            </a:r>
          </a:p>
          <a:p>
            <a:pPr marL="347663" indent="-347663" algn="just">
              <a:buFont typeface="Wingdings" panose="05000000000000000000" pitchFamily="2" charset="2"/>
              <a:buChar char="Ø"/>
            </a:pPr>
            <a:r>
              <a:rPr lang="en-US" dirty="0"/>
              <a:t>Software development teams resort to </a:t>
            </a:r>
            <a:r>
              <a:rPr lang="en-US" u="sng" dirty="0">
                <a:hlinkClick r:id="rId2" tooltip="Manual Testing for Beginners"/>
              </a:rPr>
              <a:t>manual testing</a:t>
            </a:r>
            <a:r>
              <a:rPr lang="en-US" dirty="0"/>
              <a:t> for many problems, but companies leverage </a:t>
            </a:r>
            <a:r>
              <a:rPr lang="en-US" u="sng" dirty="0">
                <a:hlinkClick r:id="rId3" tooltip="Key Elements of an Effective Test Automation Strategy"/>
              </a:rPr>
              <a:t>automated testing</a:t>
            </a:r>
            <a:r>
              <a:rPr lang="en-US" dirty="0"/>
              <a:t> strategies for non-UI tasks.</a:t>
            </a:r>
          </a:p>
          <a:p>
            <a:pPr marL="347663" indent="-347663" algn="just">
              <a:buFont typeface="Wingdings" panose="05000000000000000000" pitchFamily="2" charset="2"/>
              <a:buChar char="Ø"/>
            </a:pPr>
            <a:r>
              <a:rPr lang="en-US" dirty="0"/>
              <a:t>Testing early also invariably reduces the money spent on bug fixes. </a:t>
            </a:r>
          </a:p>
          <a:p>
            <a:pPr marL="347663" indent="-347663" algn="just">
              <a:buFont typeface="Wingdings" panose="05000000000000000000" pitchFamily="2" charset="2"/>
              <a:buChar char="Ø"/>
            </a:pPr>
            <a:r>
              <a:rPr lang="en-US" dirty="0"/>
              <a:t>A defect that could cost your company $100 in the requirements phase can cost $10,000 or more in the product implementation stages.</a:t>
            </a:r>
          </a:p>
          <a:p>
            <a:endParaRPr lang="en-US" dirty="0"/>
          </a:p>
        </p:txBody>
      </p:sp>
    </p:spTree>
    <p:extLst>
      <p:ext uri="{BB962C8B-B14F-4D97-AF65-F5344CB8AC3E}">
        <p14:creationId xmlns:p14="http://schemas.microsoft.com/office/powerpoint/2010/main" val="239949784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15686" y="315687"/>
            <a:ext cx="11440885" cy="5553302"/>
          </a:xfrm>
        </p:spPr>
        <p:txBody>
          <a:bodyPr>
            <a:normAutofit fontScale="85000" lnSpcReduction="20000"/>
          </a:bodyPr>
          <a:lstStyle/>
          <a:p>
            <a:pPr algn="just"/>
            <a:r>
              <a:rPr lang="en-US" b="1" dirty="0"/>
              <a:t>2. Implement Cross Browser Testing</a:t>
            </a:r>
            <a:endParaRPr lang="en-US" dirty="0"/>
          </a:p>
          <a:p>
            <a:pPr marL="228600" indent="-228600" algn="just">
              <a:buFont typeface="Wingdings" panose="05000000000000000000" pitchFamily="2" charset="2"/>
              <a:buChar char="Ø"/>
            </a:pPr>
            <a:r>
              <a:rPr lang="en-US" dirty="0"/>
              <a:t>Cross browser testing checks if the software runs seamlessly across different web browsers, screen sizes, and mobile apps. </a:t>
            </a:r>
          </a:p>
          <a:p>
            <a:pPr marL="228600" indent="-228600" algn="just">
              <a:buFont typeface="Wingdings" panose="05000000000000000000" pitchFamily="2" charset="2"/>
              <a:buChar char="Ø"/>
            </a:pPr>
            <a:r>
              <a:rPr lang="en-US" dirty="0"/>
              <a:t>With multiple devices and models coming out in the market, </a:t>
            </a:r>
            <a:r>
              <a:rPr lang="en-US" u="sng" dirty="0">
                <a:hlinkClick r:id="rId2" tooltip="Cross browser testing on desktop &amp;amp; mobile"/>
              </a:rPr>
              <a:t>cross browser testing</a:t>
            </a:r>
            <a:r>
              <a:rPr lang="en-US" dirty="0"/>
              <a:t> is becoming integral for every developer. </a:t>
            </a:r>
          </a:p>
          <a:p>
            <a:pPr marL="228600" indent="-228600" algn="just">
              <a:buFont typeface="Wingdings" panose="05000000000000000000" pitchFamily="2" charset="2"/>
              <a:buChar char="Ø"/>
            </a:pPr>
            <a:r>
              <a:rPr lang="en-US" dirty="0"/>
              <a:t>There are many upsides associated with cloud-based cross browser testing, and effective testing solutions lead to a flawless user experience.</a:t>
            </a:r>
          </a:p>
          <a:p>
            <a:pPr marL="228600" indent="-228600" algn="just">
              <a:buFont typeface="Wingdings" panose="05000000000000000000" pitchFamily="2" charset="2"/>
              <a:buChar char="Ø"/>
            </a:pPr>
            <a:r>
              <a:rPr lang="en-US" dirty="0"/>
              <a:t>You can cut costs, optimize the speed and performance of your products, and ensure that testing environments stay scalable and dynamic using various </a:t>
            </a:r>
            <a:r>
              <a:rPr lang="en-US" u="sng" dirty="0">
                <a:hlinkClick r:id="rId3" tooltip="How to choose a Cross Browser Testing Tool"/>
              </a:rPr>
              <a:t>cross-browser testing tools</a:t>
            </a:r>
            <a:r>
              <a:rPr lang="en-US" dirty="0"/>
              <a:t>. </a:t>
            </a:r>
          </a:p>
          <a:p>
            <a:pPr marL="228600" indent="-228600" algn="just">
              <a:buFont typeface="Wingdings" panose="05000000000000000000" pitchFamily="2" charset="2"/>
              <a:buChar char="Ø"/>
            </a:pPr>
            <a:r>
              <a:rPr lang="en-US" dirty="0"/>
              <a:t>For best results, combine </a:t>
            </a:r>
            <a:r>
              <a:rPr lang="en-US" u="sng" dirty="0">
                <a:hlinkClick r:id="rId4" tooltip="Parallel Testing: The Essential Guide"/>
              </a:rPr>
              <a:t>parallel testing</a:t>
            </a:r>
            <a:r>
              <a:rPr lang="en-US" dirty="0"/>
              <a:t> and testing automation tools.</a:t>
            </a:r>
          </a:p>
          <a:p>
            <a:r>
              <a:rPr lang="en-US" b="1" dirty="0"/>
              <a:t>3. Test on Multiple Devices</a:t>
            </a:r>
            <a:endParaRPr lang="en-US" dirty="0"/>
          </a:p>
          <a:p>
            <a:pPr marL="282575" indent="-282575">
              <a:buFont typeface="Wingdings" panose="05000000000000000000" pitchFamily="2" charset="2"/>
              <a:buChar char="Ø"/>
            </a:pPr>
            <a:r>
              <a:rPr lang="en-US" dirty="0"/>
              <a:t>Multi-device testing will help you make better decisions regarding software development and quality improvement processes. </a:t>
            </a:r>
          </a:p>
          <a:p>
            <a:pPr marL="282575" indent="-282575">
              <a:buFont typeface="Wingdings" panose="05000000000000000000" pitchFamily="2" charset="2"/>
              <a:buChar char="Ø"/>
            </a:pPr>
            <a:r>
              <a:rPr lang="en-US" dirty="0"/>
              <a:t>There is an overwhelming number of devices, screen sizes, and OS configurations in the market, so it’s important to test as many variations as possible.</a:t>
            </a:r>
          </a:p>
          <a:p>
            <a:pPr marL="282575" indent="-282575">
              <a:buFont typeface="Wingdings" panose="05000000000000000000" pitchFamily="2" charset="2"/>
              <a:buChar char="Ø"/>
            </a:pPr>
            <a:r>
              <a:rPr lang="en-US" dirty="0"/>
              <a:t>Windows and Mac are the two most popular operating systems used for testing purposes, and web browsers such as Chrome, Safari, Opera, and Firefox cover most of the users. </a:t>
            </a:r>
          </a:p>
          <a:p>
            <a:pPr marL="282575" indent="-282575">
              <a:buFont typeface="Wingdings" panose="05000000000000000000" pitchFamily="2" charset="2"/>
              <a:buChar char="Ø"/>
            </a:pPr>
            <a:r>
              <a:rPr lang="en-US" dirty="0"/>
              <a:t>Using the same configurations as end-users when testing software on these browser and OS environments is vital. </a:t>
            </a:r>
          </a:p>
          <a:p>
            <a:pPr marL="282575" indent="-282575">
              <a:buFont typeface="Wingdings" panose="05000000000000000000" pitchFamily="2" charset="2"/>
              <a:buChar char="Ø"/>
            </a:pPr>
            <a:r>
              <a:rPr lang="en-US" dirty="0"/>
              <a:t>Testing tools like </a:t>
            </a:r>
            <a:r>
              <a:rPr lang="en-US" dirty="0" err="1"/>
              <a:t>BrowserStack</a:t>
            </a:r>
            <a:r>
              <a:rPr lang="en-US" dirty="0"/>
              <a:t> gives developers access to real-time environments without having to install additional hardware on machines.</a:t>
            </a:r>
          </a:p>
          <a:p>
            <a:pPr marL="282575" indent="-282575" algn="just">
              <a:buFont typeface="Wingdings" panose="05000000000000000000" pitchFamily="2" charset="2"/>
              <a:buChar char="Ø"/>
            </a:pPr>
            <a:endParaRPr lang="en-US" dirty="0"/>
          </a:p>
          <a:p>
            <a:pPr algn="just"/>
            <a:endParaRPr lang="en-US" dirty="0"/>
          </a:p>
        </p:txBody>
      </p:sp>
    </p:spTree>
    <p:extLst>
      <p:ext uri="{BB962C8B-B14F-4D97-AF65-F5344CB8AC3E}">
        <p14:creationId xmlns:p14="http://schemas.microsoft.com/office/powerpoint/2010/main" val="343895292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15686" y="315687"/>
            <a:ext cx="11440885" cy="5553302"/>
          </a:xfrm>
        </p:spPr>
        <p:txBody>
          <a:bodyPr>
            <a:normAutofit lnSpcReduction="10000"/>
          </a:bodyPr>
          <a:lstStyle/>
          <a:p>
            <a:r>
              <a:rPr lang="en-US" b="1" dirty="0"/>
              <a:t>4. Optimize Automation Testing</a:t>
            </a:r>
            <a:endParaRPr lang="en-US" dirty="0"/>
          </a:p>
          <a:p>
            <a:pPr marL="403225" indent="-349250">
              <a:buFont typeface="Wingdings" panose="05000000000000000000" pitchFamily="2" charset="2"/>
              <a:buChar char="Ø"/>
            </a:pPr>
            <a:r>
              <a:rPr lang="en-US" dirty="0"/>
              <a:t>Increasing adoption of Automated testing and Agile methodologies has led to improvements in software quality. </a:t>
            </a:r>
          </a:p>
          <a:p>
            <a:pPr marL="403225" indent="-349250">
              <a:buFont typeface="Wingdings" panose="05000000000000000000" pitchFamily="2" charset="2"/>
              <a:buChar char="Ø"/>
            </a:pPr>
            <a:r>
              <a:rPr lang="en-US" dirty="0"/>
              <a:t>According to a </a:t>
            </a:r>
            <a:r>
              <a:rPr lang="en-US" u="sng" dirty="0">
                <a:hlinkClick r:id="rId2"/>
              </a:rPr>
              <a:t>2020-21 World Quality Report</a:t>
            </a:r>
            <a:r>
              <a:rPr lang="en-US" dirty="0"/>
              <a:t>, automation testing tools can save time, enhance coverage, minimize human errors, and improve testing capabilities. </a:t>
            </a:r>
          </a:p>
          <a:p>
            <a:pPr marL="403225" indent="-349250">
              <a:buFont typeface="Wingdings" panose="05000000000000000000" pitchFamily="2" charset="2"/>
              <a:buChar char="Ø"/>
            </a:pPr>
            <a:r>
              <a:rPr lang="en-US" dirty="0"/>
              <a:t>Some popular approaches are smoke testing, </a:t>
            </a:r>
            <a:r>
              <a:rPr lang="en-US" u="sng" dirty="0">
                <a:hlinkClick r:id="rId3" tooltip="Regression Testing: A Detailed Guide"/>
              </a:rPr>
              <a:t>regression testing</a:t>
            </a:r>
            <a:r>
              <a:rPr lang="en-US" dirty="0"/>
              <a:t>, </a:t>
            </a:r>
            <a:r>
              <a:rPr lang="en-US" u="sng" dirty="0">
                <a:hlinkClick r:id="rId4" tooltip="App &amp;amp; Browser Testing Made Easy"/>
              </a:rPr>
              <a:t>cross-device and cross-browser testing</a:t>
            </a:r>
            <a:r>
              <a:rPr lang="en-US" dirty="0"/>
              <a:t>, and load testing.</a:t>
            </a:r>
          </a:p>
          <a:p>
            <a:pPr marL="403225" indent="-349250">
              <a:buFont typeface="Wingdings" panose="05000000000000000000" pitchFamily="2" charset="2"/>
              <a:buChar char="Ø"/>
            </a:pPr>
            <a:r>
              <a:rPr lang="en-US" dirty="0"/>
              <a:t>There are various automated testing tools, and it’s critical to strike a balance between </a:t>
            </a:r>
            <a:r>
              <a:rPr lang="en-US" u="sng" dirty="0">
                <a:hlinkClick r:id="rId5" tooltip="Manual Testing vs Automation Testing: How to optimize for testing &amp;amp; costs"/>
              </a:rPr>
              <a:t>manual and automated testing methods</a:t>
            </a:r>
            <a:r>
              <a:rPr lang="en-US" dirty="0"/>
              <a:t>. </a:t>
            </a:r>
          </a:p>
          <a:p>
            <a:pPr marL="403225" indent="-349250">
              <a:buFont typeface="Wingdings" panose="05000000000000000000" pitchFamily="2" charset="2"/>
              <a:buChar char="Ø"/>
            </a:pPr>
            <a:r>
              <a:rPr lang="en-US" dirty="0"/>
              <a:t>Most automated testing solutions can be integrated with Agile workflows and be a core component of </a:t>
            </a:r>
            <a:r>
              <a:rPr lang="en-US" dirty="0" err="1"/>
              <a:t>DevOps</a:t>
            </a:r>
            <a:r>
              <a:rPr lang="en-US" dirty="0"/>
              <a:t> practices.</a:t>
            </a:r>
          </a:p>
          <a:p>
            <a:r>
              <a:rPr lang="en-US" b="1" dirty="0"/>
              <a:t>5. Use Quality Controls from the Beginning</a:t>
            </a:r>
            <a:endParaRPr lang="en-US" dirty="0"/>
          </a:p>
          <a:p>
            <a:pPr marL="347663" indent="-347663">
              <a:buFont typeface="Wingdings" panose="05000000000000000000" pitchFamily="2" charset="2"/>
              <a:buChar char="Ø"/>
            </a:pPr>
            <a:r>
              <a:rPr lang="en-US" u="sng" dirty="0">
                <a:hlinkClick r:id="rId6" tooltip="How to ensure an efficient Software Quality Management Process"/>
              </a:rPr>
              <a:t>Quality management and control</a:t>
            </a:r>
            <a:r>
              <a:rPr lang="en-US" dirty="0"/>
              <a:t> is an ongoing process, so testers must cooperate with developers and work together. </a:t>
            </a:r>
          </a:p>
          <a:p>
            <a:pPr marL="347663" indent="-347663">
              <a:buFont typeface="Wingdings" panose="05000000000000000000" pitchFamily="2" charset="2"/>
              <a:buChar char="Ø"/>
            </a:pPr>
            <a:r>
              <a:rPr lang="en-US" dirty="0"/>
              <a:t>A structured approach effectively improves test processes and cuts maintenance costs with native testing tools.</a:t>
            </a:r>
          </a:p>
          <a:p>
            <a:endParaRPr lang="en-US" dirty="0"/>
          </a:p>
          <a:p>
            <a:pPr algn="just"/>
            <a:endParaRPr lang="en-US" dirty="0"/>
          </a:p>
          <a:p>
            <a:pPr algn="just"/>
            <a:endParaRPr lang="en-US" dirty="0"/>
          </a:p>
        </p:txBody>
      </p:sp>
    </p:spTree>
    <p:extLst>
      <p:ext uri="{BB962C8B-B14F-4D97-AF65-F5344CB8AC3E}">
        <p14:creationId xmlns:p14="http://schemas.microsoft.com/office/powerpoint/2010/main" val="206714336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15686" y="315687"/>
            <a:ext cx="11440885" cy="6052456"/>
          </a:xfrm>
        </p:spPr>
        <p:txBody>
          <a:bodyPr>
            <a:normAutofit fontScale="92500" lnSpcReduction="20000"/>
          </a:bodyPr>
          <a:lstStyle/>
          <a:p>
            <a:pPr algn="just"/>
            <a:r>
              <a:rPr lang="en-US" b="1" dirty="0"/>
              <a:t>6. Leverage Continuous Delivery (CD) and Continuous Integration (CI)</a:t>
            </a:r>
            <a:endParaRPr lang="en-US" dirty="0"/>
          </a:p>
          <a:p>
            <a:pPr marL="347663" indent="-347663" algn="just">
              <a:buFont typeface="Wingdings" panose="05000000000000000000" pitchFamily="2" charset="2"/>
              <a:buChar char="Ø"/>
            </a:pPr>
            <a:r>
              <a:rPr lang="en-US" dirty="0"/>
              <a:t>CI-CD requires engineers to integrate changes and improvements to every step of the software development lifecycle. </a:t>
            </a:r>
          </a:p>
          <a:p>
            <a:pPr marL="347663" indent="-347663" algn="just">
              <a:buFont typeface="Wingdings" panose="05000000000000000000" pitchFamily="2" charset="2"/>
              <a:buChar char="Ø"/>
            </a:pPr>
            <a:r>
              <a:rPr lang="en-US" dirty="0"/>
              <a:t>Continuous Delivery focuses on releasing changes to customers interactively, while continuous integration makes code more dependable by integrating modifications to a product multiple times daily.</a:t>
            </a:r>
          </a:p>
          <a:p>
            <a:pPr algn="just"/>
            <a:r>
              <a:rPr lang="en-US" b="1" dirty="0"/>
              <a:t>7. Have Clear Communication</a:t>
            </a:r>
            <a:endParaRPr lang="en-US" dirty="0"/>
          </a:p>
          <a:p>
            <a:pPr marL="403225" indent="-403225" algn="just">
              <a:buFont typeface="Wingdings" panose="05000000000000000000" pitchFamily="2" charset="2"/>
              <a:buChar char="Ø"/>
            </a:pPr>
            <a:r>
              <a:rPr lang="en-US" dirty="0"/>
              <a:t>Clear communication with all team members is integral to the software quality improvement process. </a:t>
            </a:r>
          </a:p>
          <a:p>
            <a:pPr marL="403225" indent="-403225" algn="just">
              <a:buFont typeface="Wingdings" panose="05000000000000000000" pitchFamily="2" charset="2"/>
              <a:buChar char="Ø"/>
            </a:pPr>
            <a:r>
              <a:rPr lang="en-US" dirty="0"/>
              <a:t>Having consistent KPIs (Key Performance Indicators) throughout the project and conveying accurate test reports helps in communicating. </a:t>
            </a:r>
          </a:p>
          <a:p>
            <a:pPr marL="403225" indent="-403225" algn="just">
              <a:buFont typeface="Wingdings" panose="05000000000000000000" pitchFamily="2" charset="2"/>
              <a:buChar char="Ø"/>
            </a:pPr>
            <a:r>
              <a:rPr lang="en-US" dirty="0"/>
              <a:t>Everybody should be aligned when setting testing requirements and sharing feedback. </a:t>
            </a:r>
          </a:p>
          <a:p>
            <a:pPr marL="403225" indent="-403225" algn="just">
              <a:buFont typeface="Wingdings" panose="05000000000000000000" pitchFamily="2" charset="2"/>
              <a:buChar char="Ø"/>
            </a:pPr>
            <a:r>
              <a:rPr lang="en-US" dirty="0"/>
              <a:t>It’s critical to get all stakeholders involved in meetings and ensure team members communicate with vendors and do not work in isolation.</a:t>
            </a:r>
          </a:p>
          <a:p>
            <a:r>
              <a:rPr lang="en-US" b="1" dirty="0"/>
              <a:t>8. Create a Risk Registry</a:t>
            </a:r>
            <a:endParaRPr lang="en-US" dirty="0"/>
          </a:p>
          <a:p>
            <a:pPr marL="403225" indent="-293688">
              <a:buFont typeface="Wingdings" panose="05000000000000000000" pitchFamily="2" charset="2"/>
              <a:buChar char="Ø"/>
            </a:pPr>
            <a:r>
              <a:rPr lang="en-US" dirty="0"/>
              <a:t>Risk management is critical to software quality improvement, and project managers know they must monitor risks throughout the development lifecycle. </a:t>
            </a:r>
          </a:p>
          <a:p>
            <a:pPr marL="403225" indent="-293688">
              <a:buFont typeface="Wingdings" panose="05000000000000000000" pitchFamily="2" charset="2"/>
              <a:buChar char="Ø"/>
            </a:pPr>
            <a:r>
              <a:rPr lang="en-US" dirty="0"/>
              <a:t>A project risk register is also called a risk log, and it is used to identify, track, and analyze potential risks. </a:t>
            </a:r>
          </a:p>
          <a:p>
            <a:pPr marL="403225" indent="-293688">
              <a:buFont typeface="Wingdings" panose="05000000000000000000" pitchFamily="2" charset="2"/>
              <a:buChar char="Ø"/>
            </a:pPr>
            <a:r>
              <a:rPr lang="en-US" dirty="0"/>
              <a:t>Your team members should create a risk registry to record these risks, assess them, and assign appropriate priority levels for effective mitigation.</a:t>
            </a:r>
          </a:p>
          <a:p>
            <a:pPr algn="just"/>
            <a:endParaRPr lang="en-US" dirty="0"/>
          </a:p>
          <a:p>
            <a:pPr marL="0" indent="0" algn="just">
              <a:buNone/>
            </a:pPr>
            <a:endParaRPr lang="en-US" dirty="0"/>
          </a:p>
        </p:txBody>
      </p:sp>
    </p:spTree>
    <p:extLst>
      <p:ext uri="{BB962C8B-B14F-4D97-AF65-F5344CB8AC3E}">
        <p14:creationId xmlns:p14="http://schemas.microsoft.com/office/powerpoint/2010/main" val="409955551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15686" y="315687"/>
            <a:ext cx="11440885" cy="5553302"/>
          </a:xfrm>
        </p:spPr>
        <p:txBody>
          <a:bodyPr>
            <a:normAutofit fontScale="92500" lnSpcReduction="20000"/>
          </a:bodyPr>
          <a:lstStyle/>
          <a:p>
            <a:r>
              <a:rPr lang="en-US" b="1" dirty="0"/>
              <a:t>9. Document Your Project Requirements</a:t>
            </a:r>
            <a:endParaRPr lang="en-US" dirty="0"/>
          </a:p>
          <a:p>
            <a:pPr marL="347663" indent="-347663">
              <a:buFont typeface="Wingdings" panose="05000000000000000000" pitchFamily="2" charset="2"/>
              <a:buChar char="Ø"/>
            </a:pPr>
            <a:r>
              <a:rPr lang="en-US" dirty="0"/>
              <a:t>Good documentation defines the scope of the project, milestones, deliverables, and technical specifications, thus ensuring you meet deadlines and stay on track. </a:t>
            </a:r>
          </a:p>
          <a:p>
            <a:pPr marL="347663" indent="-347663">
              <a:buFont typeface="Wingdings" panose="05000000000000000000" pitchFamily="2" charset="2"/>
              <a:buChar char="Ø"/>
            </a:pPr>
            <a:r>
              <a:rPr lang="en-US" dirty="0"/>
              <a:t>The documentation also defines customers’ needs and </a:t>
            </a:r>
            <a:r>
              <a:rPr lang="en-US" u="sng" dirty="0">
                <a:hlinkClick r:id="rId2" tooltip="Functional and Non-Functional Testing Checklist"/>
              </a:rPr>
              <a:t>lists functional and non-functional requirements</a:t>
            </a:r>
            <a:r>
              <a:rPr lang="en-US" dirty="0"/>
              <a:t>.</a:t>
            </a:r>
          </a:p>
          <a:p>
            <a:pPr marL="347663" indent="-347663">
              <a:buFont typeface="Wingdings" panose="05000000000000000000" pitchFamily="2" charset="2"/>
              <a:buChar char="Ø"/>
            </a:pPr>
            <a:r>
              <a:rPr lang="en-US" dirty="0"/>
              <a:t>More importantly, it contains a list of all important features and processes with step-by-step breakdowns that help keep track of the development process. </a:t>
            </a:r>
          </a:p>
          <a:p>
            <a:pPr marL="347663" indent="-347663">
              <a:buFont typeface="Wingdings" panose="05000000000000000000" pitchFamily="2" charset="2"/>
              <a:buChar char="Ø"/>
            </a:pPr>
            <a:r>
              <a:rPr lang="en-US" dirty="0"/>
              <a:t>The first step to creating effective documentation is communicating to clients and collecting information about their expectations. </a:t>
            </a:r>
          </a:p>
          <a:p>
            <a:pPr marL="347663" indent="-347663">
              <a:buFont typeface="Wingdings" panose="05000000000000000000" pitchFamily="2" charset="2"/>
              <a:buChar char="Ø"/>
            </a:pPr>
            <a:r>
              <a:rPr lang="en-US" dirty="0"/>
              <a:t>All development processes and plans should follow the documentation based on them.</a:t>
            </a:r>
          </a:p>
          <a:p>
            <a:r>
              <a:rPr lang="en-US" b="1" dirty="0"/>
              <a:t>10. Think Outside the Box</a:t>
            </a:r>
            <a:endParaRPr lang="en-US" dirty="0"/>
          </a:p>
          <a:p>
            <a:pPr marL="403225" indent="-403225">
              <a:buFont typeface="Wingdings" panose="05000000000000000000" pitchFamily="2" charset="2"/>
              <a:buChar char="Ø"/>
            </a:pPr>
            <a:r>
              <a:rPr lang="en-US" dirty="0"/>
              <a:t>Promoting innovation and thinking outside the box should be a no-brainer. Simply copying your competitor’s strategy or growth hacks isn’t enough. </a:t>
            </a:r>
          </a:p>
          <a:p>
            <a:pPr marL="403225" indent="-403225">
              <a:buFont typeface="Wingdings" panose="05000000000000000000" pitchFamily="2" charset="2"/>
              <a:buChar char="Ø"/>
            </a:pPr>
            <a:r>
              <a:rPr lang="en-US" dirty="0"/>
              <a:t>People crave “different,” and you will stand out if you build a unique product that others cannot replicate. </a:t>
            </a:r>
          </a:p>
          <a:p>
            <a:pPr marL="403225" indent="-403225">
              <a:buFont typeface="Wingdings" panose="05000000000000000000" pitchFamily="2" charset="2"/>
              <a:buChar char="Ø"/>
            </a:pPr>
            <a:r>
              <a:rPr lang="en-US" dirty="0"/>
              <a:t>To improve software quality, think about what you stand for. </a:t>
            </a:r>
          </a:p>
          <a:p>
            <a:pPr marL="403225" indent="-403225">
              <a:buFont typeface="Wingdings" panose="05000000000000000000" pitchFamily="2" charset="2"/>
              <a:buChar char="Ø"/>
            </a:pPr>
            <a:r>
              <a:rPr lang="en-US" dirty="0"/>
              <a:t>Automate monotonous processes to free up time for productive tasks and </a:t>
            </a:r>
            <a:r>
              <a:rPr lang="en-US" u="sng" dirty="0">
                <a:hlinkClick r:id="rId3" tooltip="How to determine the right testing metrics"/>
              </a:rPr>
              <a:t>use quality metrics</a:t>
            </a:r>
            <a:r>
              <a:rPr lang="en-US" dirty="0"/>
              <a:t> with your testing structures.</a:t>
            </a:r>
          </a:p>
          <a:p>
            <a:pPr algn="just"/>
            <a:endParaRPr lang="en-US" dirty="0"/>
          </a:p>
          <a:p>
            <a:pPr algn="just"/>
            <a:endParaRPr lang="en-US" dirty="0"/>
          </a:p>
        </p:txBody>
      </p:sp>
    </p:spTree>
    <p:extLst>
      <p:ext uri="{BB962C8B-B14F-4D97-AF65-F5344CB8AC3E}">
        <p14:creationId xmlns:p14="http://schemas.microsoft.com/office/powerpoint/2010/main" val="405393068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15686" y="141514"/>
            <a:ext cx="11636828" cy="6259286"/>
          </a:xfrm>
        </p:spPr>
        <p:txBody>
          <a:bodyPr>
            <a:normAutofit fontScale="85000" lnSpcReduction="20000"/>
          </a:bodyPr>
          <a:lstStyle/>
          <a:p>
            <a:r>
              <a:rPr lang="en-US" b="1" dirty="0"/>
              <a:t>11. Incorporate Employee Training</a:t>
            </a:r>
            <a:endParaRPr lang="en-US" dirty="0"/>
          </a:p>
          <a:p>
            <a:pPr marL="347663" indent="-347663">
              <a:buFont typeface="Wingdings" panose="05000000000000000000" pitchFamily="2" charset="2"/>
              <a:buChar char="Ø"/>
            </a:pPr>
            <a:r>
              <a:rPr lang="en-US" dirty="0"/>
              <a:t>Your employees can play the role of your end-users. </a:t>
            </a:r>
          </a:p>
          <a:p>
            <a:pPr marL="347663" indent="-347663">
              <a:buFont typeface="Wingdings" panose="05000000000000000000" pitchFamily="2" charset="2"/>
              <a:buChar char="Ø"/>
            </a:pPr>
            <a:r>
              <a:rPr lang="en-US" dirty="0"/>
              <a:t>Tools, technologies, and techniques evolve, and it’s important to stay on track with the latest trends. </a:t>
            </a:r>
          </a:p>
          <a:p>
            <a:pPr marL="347663" indent="-347663">
              <a:buFont typeface="Wingdings" panose="05000000000000000000" pitchFamily="2" charset="2"/>
              <a:buChar char="Ø"/>
            </a:pPr>
            <a:r>
              <a:rPr lang="en-US" dirty="0"/>
              <a:t>Employee training instills an awareness of what to look out for in leading software products. </a:t>
            </a:r>
          </a:p>
          <a:p>
            <a:pPr marL="347663" indent="-347663">
              <a:buFont typeface="Wingdings" panose="05000000000000000000" pitchFamily="2" charset="2"/>
              <a:buChar char="Ø"/>
            </a:pPr>
            <a:r>
              <a:rPr lang="en-US" dirty="0"/>
              <a:t>Flaws and vulnerabilities your team normally wouldn’t notice during user journeys will crop up. </a:t>
            </a:r>
          </a:p>
          <a:p>
            <a:pPr marL="347663" indent="-347663">
              <a:buFont typeface="Wingdings" panose="05000000000000000000" pitchFamily="2" charset="2"/>
              <a:buChar char="Ø"/>
            </a:pPr>
            <a:r>
              <a:rPr lang="en-US" dirty="0"/>
              <a:t>Employees should also work on upgrading their coding skills to contribute to the software development process.</a:t>
            </a:r>
          </a:p>
          <a:p>
            <a:r>
              <a:rPr lang="en-US" b="1" dirty="0"/>
              <a:t>12. Create a Quality Management Plan</a:t>
            </a:r>
            <a:endParaRPr lang="en-US" dirty="0"/>
          </a:p>
          <a:p>
            <a:pPr marL="347663" indent="-347663">
              <a:buFont typeface="Wingdings" panose="05000000000000000000" pitchFamily="2" charset="2"/>
              <a:buChar char="Ø"/>
            </a:pPr>
            <a:r>
              <a:rPr lang="en-US" dirty="0"/>
              <a:t>A quality management plan (document) outlines software quality expectations, defines roles and responsibilities, supports project managers, and organizes tasks to ensure that software development matches customer requirements and expectations. </a:t>
            </a:r>
          </a:p>
          <a:p>
            <a:pPr marL="347663" indent="-347663">
              <a:buFont typeface="Wingdings" panose="05000000000000000000" pitchFamily="2" charset="2"/>
              <a:buChar char="Ø"/>
            </a:pPr>
            <a:r>
              <a:rPr lang="en-US" dirty="0"/>
              <a:t>It has key components such as reporting tools and assurance policies, quality standards, testing strategies, and software quality objectives. </a:t>
            </a:r>
          </a:p>
          <a:p>
            <a:pPr marL="347663" indent="-347663">
              <a:buFont typeface="Wingdings" panose="05000000000000000000" pitchFamily="2" charset="2"/>
              <a:buChar char="Ø"/>
            </a:pPr>
            <a:r>
              <a:rPr lang="en-US" dirty="0"/>
              <a:t>Think of it as a roadmap for future improvements with the foundation set in stone.</a:t>
            </a:r>
          </a:p>
          <a:p>
            <a:r>
              <a:rPr lang="en-US" b="1" dirty="0"/>
              <a:t>13. Do Formal Technical Reviews</a:t>
            </a:r>
            <a:endParaRPr lang="en-US" dirty="0"/>
          </a:p>
          <a:p>
            <a:pPr marL="347663" indent="-347663">
              <a:buFont typeface="Wingdings" panose="05000000000000000000" pitchFamily="2" charset="2"/>
              <a:buChar char="Ø"/>
            </a:pPr>
            <a:r>
              <a:rPr lang="en-US" dirty="0"/>
              <a:t>In a formal technical review, the stakeholders meet and discuss the logical and functional errors of a software program. </a:t>
            </a:r>
          </a:p>
          <a:p>
            <a:pPr marL="347663" indent="-347663">
              <a:buFont typeface="Wingdings" panose="05000000000000000000" pitchFamily="2" charset="2"/>
              <a:buChar char="Ø"/>
            </a:pPr>
            <a:r>
              <a:rPr lang="en-US" dirty="0"/>
              <a:t>These review rounds require a team of engineers and entail preparing reports for presentations.</a:t>
            </a:r>
          </a:p>
          <a:p>
            <a:pPr marL="347663" indent="-347663">
              <a:buFont typeface="Wingdings" panose="05000000000000000000" pitchFamily="2" charset="2"/>
              <a:buChar char="Ø"/>
            </a:pPr>
            <a:r>
              <a:rPr lang="en-US" dirty="0"/>
              <a:t>The main objective is to give all reviewers a product walkthrough, examine source code, detect bugs, and make additional inspections. </a:t>
            </a:r>
          </a:p>
          <a:p>
            <a:pPr marL="347663" indent="-347663">
              <a:buFont typeface="Wingdings" panose="05000000000000000000" pitchFamily="2" charset="2"/>
              <a:buChar char="Ø"/>
            </a:pPr>
            <a:r>
              <a:rPr lang="en-US" dirty="0"/>
              <a:t>These reviews improve the software quality and help keep developers accountable for the production management process.</a:t>
            </a:r>
          </a:p>
          <a:p>
            <a:pPr algn="just"/>
            <a:endParaRPr lang="en-US" dirty="0"/>
          </a:p>
          <a:p>
            <a:pPr algn="just"/>
            <a:endParaRPr lang="en-US" dirty="0"/>
          </a:p>
        </p:txBody>
      </p:sp>
    </p:spTree>
    <p:extLst>
      <p:ext uri="{BB962C8B-B14F-4D97-AF65-F5344CB8AC3E}">
        <p14:creationId xmlns:p14="http://schemas.microsoft.com/office/powerpoint/2010/main" val="222399508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4294967295"/>
          </p:nvPr>
        </p:nvSpPr>
        <p:spPr>
          <a:xfrm>
            <a:off x="315686" y="315687"/>
            <a:ext cx="11440885" cy="5553302"/>
          </a:xfrm>
        </p:spPr>
        <p:txBody>
          <a:bodyPr>
            <a:normAutofit/>
          </a:bodyPr>
          <a:lstStyle/>
          <a:p>
            <a:r>
              <a:rPr lang="en-US" b="1" dirty="0"/>
              <a:t>14. Try Ad Hoc and Exploratory Testing</a:t>
            </a:r>
            <a:endParaRPr lang="en-US" dirty="0"/>
          </a:p>
          <a:p>
            <a:pPr marL="347663" indent="-347663">
              <a:buFont typeface="Wingdings" panose="05000000000000000000" pitchFamily="2" charset="2"/>
              <a:buChar char="Ø"/>
            </a:pPr>
            <a:r>
              <a:rPr lang="en-US" dirty="0"/>
              <a:t>Ad hoc and </a:t>
            </a:r>
            <a:r>
              <a:rPr lang="en-US" u="sng" dirty="0">
                <a:hlinkClick r:id="rId2" tooltip="Exploratory Testing: A Detailed Guide"/>
              </a:rPr>
              <a:t>exploratory testing</a:t>
            </a:r>
            <a:r>
              <a:rPr lang="en-US" dirty="0"/>
              <a:t> go into the manual side of testing. </a:t>
            </a:r>
          </a:p>
          <a:p>
            <a:pPr marL="347663" indent="-347663">
              <a:buFont typeface="Wingdings" panose="05000000000000000000" pitchFamily="2" charset="2"/>
              <a:buChar char="Ø"/>
            </a:pPr>
            <a:r>
              <a:rPr lang="en-US" dirty="0"/>
              <a:t>The main idea is to explore creativity and push the boundaries of testing practices. </a:t>
            </a:r>
          </a:p>
          <a:p>
            <a:pPr marL="347663" indent="-347663">
              <a:buFont typeface="Wingdings" panose="05000000000000000000" pitchFamily="2" charset="2"/>
              <a:buChar char="Ø"/>
            </a:pPr>
            <a:r>
              <a:rPr lang="en-US" dirty="0"/>
              <a:t>There are no rules to this, and exploratory testing is conducted on the fly at any moment. </a:t>
            </a:r>
          </a:p>
          <a:p>
            <a:pPr marL="347663" indent="-347663">
              <a:buFont typeface="Wingdings" panose="05000000000000000000" pitchFamily="2" charset="2"/>
              <a:buChar char="Ø"/>
            </a:pPr>
            <a:r>
              <a:rPr lang="en-US" dirty="0"/>
              <a:t>This approach benefits developers in testing software usability and user </a:t>
            </a:r>
            <a:r>
              <a:rPr lang="en-US" dirty="0" err="1"/>
              <a:t>behaviours</a:t>
            </a:r>
            <a:r>
              <a:rPr lang="en-US" dirty="0"/>
              <a:t>.</a:t>
            </a:r>
          </a:p>
          <a:p>
            <a:pPr marL="347663" indent="-347663">
              <a:buFont typeface="Wingdings" panose="05000000000000000000" pitchFamily="2" charset="2"/>
              <a:buChar char="Ø"/>
            </a:pPr>
            <a:r>
              <a:rPr lang="en-US" dirty="0"/>
              <a:t>Ad hoc testing uses random data to generate tests and aims to break or disrupt software services. </a:t>
            </a:r>
          </a:p>
          <a:p>
            <a:pPr marL="347663" indent="-347663">
              <a:buFont typeface="Wingdings" panose="05000000000000000000" pitchFamily="2" charset="2"/>
              <a:buChar char="Ø"/>
            </a:pPr>
            <a:r>
              <a:rPr lang="en-US" dirty="0"/>
              <a:t>Its objective is to find vulnerabilities and is usually done near the end of the development process.</a:t>
            </a:r>
          </a:p>
          <a:p>
            <a:r>
              <a:rPr lang="en-US" b="1" dirty="0"/>
              <a:t>15. Produce Bug Reports</a:t>
            </a:r>
            <a:endParaRPr lang="en-US" dirty="0"/>
          </a:p>
          <a:p>
            <a:pPr marL="282575" indent="-282575">
              <a:buFont typeface="Wingdings" panose="05000000000000000000" pitchFamily="2" charset="2"/>
              <a:buChar char="Ø"/>
            </a:pPr>
            <a:r>
              <a:rPr lang="en-US" dirty="0"/>
              <a:t>A good bug report can make software testing and improvement highly effective. </a:t>
            </a:r>
          </a:p>
          <a:p>
            <a:pPr marL="282575" indent="-282575">
              <a:buFont typeface="Wingdings" panose="05000000000000000000" pitchFamily="2" charset="2"/>
              <a:buChar char="Ø"/>
            </a:pPr>
            <a:r>
              <a:rPr lang="en-US" dirty="0"/>
              <a:t>It includes all possible scenarios, and use-cases and describes </a:t>
            </a:r>
            <a:r>
              <a:rPr lang="en-US" dirty="0" err="1"/>
              <a:t>behaviours</a:t>
            </a:r>
            <a:r>
              <a:rPr lang="en-US" dirty="0"/>
              <a:t> exhibited while testing new features. </a:t>
            </a:r>
          </a:p>
          <a:p>
            <a:pPr marL="282575" indent="-282575">
              <a:buFont typeface="Wingdings" panose="05000000000000000000" pitchFamily="2" charset="2"/>
              <a:buChar char="Ø"/>
            </a:pPr>
            <a:r>
              <a:rPr lang="en-US" dirty="0"/>
              <a:t>You can add screenshots of failure exceptions in the report, list all possible solutions, and a bug summary.</a:t>
            </a:r>
          </a:p>
          <a:p>
            <a:pPr marL="282575" indent="-282575" algn="just">
              <a:buFont typeface="Wingdings" panose="05000000000000000000" pitchFamily="2" charset="2"/>
              <a:buChar char="Ø"/>
            </a:pPr>
            <a:endParaRPr lang="en-US" dirty="0"/>
          </a:p>
          <a:p>
            <a:pPr algn="just"/>
            <a:endParaRPr lang="en-US" dirty="0"/>
          </a:p>
        </p:txBody>
      </p:sp>
    </p:spTree>
    <p:extLst>
      <p:ext uri="{BB962C8B-B14F-4D97-AF65-F5344CB8AC3E}">
        <p14:creationId xmlns:p14="http://schemas.microsoft.com/office/powerpoint/2010/main" val="84708155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2913</TotalTime>
  <Words>7663</Words>
  <Application>Microsoft Macintosh PowerPoint</Application>
  <PresentationFormat>Widescreen</PresentationFormat>
  <Paragraphs>575</Paragraphs>
  <Slides>86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86</vt:i4>
      </vt:variant>
    </vt:vector>
  </HeadingPairs>
  <TitlesOfParts>
    <vt:vector size="96" baseType="lpstr">
      <vt:lpstr>Arial MT</vt:lpstr>
      <vt:lpstr>Calibri</vt:lpstr>
      <vt:lpstr>Calibri Light</vt:lpstr>
      <vt:lpstr>Inter-Regular</vt:lpstr>
      <vt:lpstr>Palatino Linotype</vt:lpstr>
      <vt:lpstr>sohne</vt:lpstr>
      <vt:lpstr>source-serif-pro</vt:lpstr>
      <vt:lpstr>Times New Roman</vt:lpstr>
      <vt:lpstr>Wingdings</vt:lpstr>
      <vt:lpstr>Retrospect</vt:lpstr>
      <vt:lpstr>Module 7</vt:lpstr>
      <vt:lpstr>Contents</vt:lpstr>
      <vt:lpstr>Software Metrics</vt:lpstr>
      <vt:lpstr>Software Metrics </vt:lpstr>
      <vt:lpstr>Classification of Software Metrics</vt:lpstr>
      <vt:lpstr>Product Metrics</vt:lpstr>
      <vt:lpstr>Process Metrics</vt:lpstr>
      <vt:lpstr>PowerPoint Presentation</vt:lpstr>
      <vt:lpstr>Size Oriented Metrics (LOC)</vt:lpstr>
      <vt:lpstr>Example</vt:lpstr>
      <vt:lpstr>PowerPoint Presentation</vt:lpstr>
      <vt:lpstr>Other Metrics based on LOC</vt:lpstr>
      <vt:lpstr>Function Point Analysis </vt:lpstr>
      <vt:lpstr>PowerPoint Presentation</vt:lpstr>
      <vt:lpstr>PowerPoint Presentation</vt:lpstr>
      <vt:lpstr>Extended Function Point (EFP) Metrics</vt:lpstr>
      <vt:lpstr>Feature points</vt:lpstr>
      <vt:lpstr>3D Function Points</vt:lpstr>
      <vt:lpstr>PowerPoint Presentation</vt:lpstr>
      <vt:lpstr>PowerPoint Presentation</vt:lpstr>
      <vt:lpstr>PowerPoint Presentation</vt:lpstr>
      <vt:lpstr>Object Oriented Metrics</vt:lpstr>
      <vt:lpstr>Use-Case Oriented Metrics</vt:lpstr>
      <vt:lpstr>Web Engineering Project Metrics </vt:lpstr>
      <vt:lpstr>Six Sigma</vt:lpstr>
      <vt:lpstr>Quality Standards Models - Six Sigma</vt:lpstr>
      <vt:lpstr>PowerPoint Presentation</vt:lpstr>
      <vt:lpstr>Characteristics of Six Sigma</vt:lpstr>
      <vt:lpstr>PowerPoint Presentation</vt:lpstr>
      <vt:lpstr>PowerPoint Presentation</vt:lpstr>
      <vt:lpstr>(iv) Improve: Improve the process by eliminating the root causes of defects.</vt:lpstr>
      <vt:lpstr>PowerPoint Presentation</vt:lpstr>
      <vt:lpstr>PowerPoint Presentation</vt:lpstr>
      <vt:lpstr>PowerPoint Presentation</vt:lpstr>
      <vt:lpstr>Quality Standards Models - ISO</vt:lpstr>
      <vt:lpstr>PowerPoint Presentation</vt:lpstr>
      <vt:lpstr>PowerPoint Presentation</vt:lpstr>
      <vt:lpstr>PowerPoint Presentation</vt:lpstr>
      <vt:lpstr>PowerPoint Presentation</vt:lpstr>
      <vt:lpstr>ISO 9000 Quality Standards </vt:lpstr>
      <vt:lpstr>Types of ISO 9000 Quality Standards </vt:lpstr>
      <vt:lpstr>PowerPoint Presentation</vt:lpstr>
      <vt:lpstr>Why ISO Certification required by Software Industry?</vt:lpstr>
      <vt:lpstr>Total Quality Management (TQM)</vt:lpstr>
      <vt:lpstr>Total Quality Management (TQM)</vt:lpstr>
      <vt:lpstr>Principles of TQM</vt:lpstr>
      <vt:lpstr>PowerPoint Presentation</vt:lpstr>
      <vt:lpstr>PowerPoint Presentation</vt:lpstr>
      <vt:lpstr>PowerPoint Presentation</vt:lpstr>
      <vt:lpstr>How to Implement TQM</vt:lpstr>
      <vt:lpstr>Pros and Cons of TQM</vt:lpstr>
      <vt:lpstr>Capability Maturity Model (CMM)</vt:lpstr>
      <vt:lpstr>Process Improvement Models: CMM &amp; CMMI</vt:lpstr>
      <vt:lpstr>PowerPoint Presentation</vt:lpstr>
      <vt:lpstr>PowerPoint Presentation</vt:lpstr>
      <vt:lpstr>Integration</vt:lpstr>
      <vt:lpstr>PowerPoint Presentation</vt:lpstr>
      <vt:lpstr>PowerPoint Presentation</vt:lpstr>
      <vt:lpstr>PowerPoint Presentation</vt:lpstr>
      <vt:lpstr>PowerPoint Presentation</vt:lpstr>
      <vt:lpstr>PowerPoint Presentation</vt:lpstr>
      <vt:lpstr>PowerPoint Presentation</vt:lpstr>
      <vt:lpstr>Quality Control and Quality Assurance </vt:lpstr>
      <vt:lpstr>Quality Assurance</vt:lpstr>
      <vt:lpstr>Quality Control</vt:lpstr>
      <vt:lpstr>PowerPoint Presentation</vt:lpstr>
      <vt:lpstr>Quality Management </vt:lpstr>
      <vt:lpstr>Software Quality Management</vt:lpstr>
      <vt:lpstr>Why Software Quality Management is Important?</vt:lpstr>
      <vt:lpstr>What are Software Quality Management Metrics?</vt:lpstr>
      <vt:lpstr>5 Aspects of Software Quality:</vt:lpstr>
      <vt:lpstr>How Does Software Quality Management Work?</vt:lpstr>
      <vt:lpstr>Benefits of Software Quality Management</vt:lpstr>
      <vt:lpstr>Quality Factors</vt:lpstr>
      <vt:lpstr>Software Quality Factors</vt:lpstr>
      <vt:lpstr>Product operation factors </vt:lpstr>
      <vt:lpstr>PowerPoint Presentation</vt:lpstr>
      <vt:lpstr>PowerPoint Presentation</vt:lpstr>
      <vt:lpstr>Methods of Quality Management</vt:lpstr>
      <vt:lpstr>15 Strategies to Improve Software Quality</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7</dc:title>
  <dc:creator>dell</dc:creator>
  <cp:lastModifiedBy>Apoorva Karnwal</cp:lastModifiedBy>
  <cp:revision>40</cp:revision>
  <dcterms:created xsi:type="dcterms:W3CDTF">2025-04-02T08:45:08Z</dcterms:created>
  <dcterms:modified xsi:type="dcterms:W3CDTF">2025-05-07T19:50:52Z</dcterms:modified>
</cp:coreProperties>
</file>