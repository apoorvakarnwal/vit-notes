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0" autoAdjust="0"/>
    <p:restoredTop sz="94694"/>
  </p:normalViewPr>
  <p:slideViewPr>
    <p:cSldViewPr snapToGrid="0">
      <p:cViewPr varScale="1">
        <p:scale>
          <a:sx n="90" d="100"/>
          <a:sy n="90" d="100"/>
        </p:scale>
        <p:origin x="232"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A22CB9-FA54-4C1C-BFC0-3617969B899A}"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3470304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A22CB9-FA54-4C1C-BFC0-3617969B899A}"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1854124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A22CB9-FA54-4C1C-BFC0-3617969B899A}"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278396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A22CB9-FA54-4C1C-BFC0-3617969B899A}"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2870491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A22CB9-FA54-4C1C-BFC0-3617969B899A}" type="datetimeFigureOut">
              <a:rPr lang="en-US" smtClean="0"/>
              <a:t>5/8/25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307790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A22CB9-FA54-4C1C-BFC0-3617969B899A}" type="datetimeFigureOut">
              <a:rPr lang="en-US" smtClean="0"/>
              <a:t>5/8/25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1810493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A22CB9-FA54-4C1C-BFC0-3617969B899A}" type="datetimeFigureOut">
              <a:rPr lang="en-US" smtClean="0"/>
              <a:t>5/8/25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2956750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A22CB9-FA54-4C1C-BFC0-3617969B899A}"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1344354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A22CB9-FA54-4C1C-BFC0-3617969B899A}"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196356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A22CB9-FA54-4C1C-BFC0-3617969B899A}"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3794531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A22CB9-FA54-4C1C-BFC0-3617969B899A}"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2650577-152B-4E2A-846D-D84DC2A15983}"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93494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BA22CB9-FA54-4C1C-BFC0-3617969B899A}"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778610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BA22CB9-FA54-4C1C-BFC0-3617969B899A}"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2650577-152B-4E2A-846D-D84DC2A15983}"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882910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BA22CB9-FA54-4C1C-BFC0-3617969B899A}" type="datetimeFigureOut">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1294545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A22CB9-FA54-4C1C-BFC0-3617969B899A}"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23057128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A22CB9-FA54-4C1C-BFC0-3617969B899A}" type="datetimeFigureOut">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2650577-152B-4E2A-846D-D84DC2A15983}" type="slidenum">
              <a:rPr lang="en-US" smtClean="0"/>
              <a:t>‹#›</a:t>
            </a:fld>
            <a:endParaRPr lang="en-US"/>
          </a:p>
        </p:txBody>
      </p:sp>
    </p:spTree>
    <p:extLst>
      <p:ext uri="{BB962C8B-B14F-4D97-AF65-F5344CB8AC3E}">
        <p14:creationId xmlns:p14="http://schemas.microsoft.com/office/powerpoint/2010/main" val="4127320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BA22CB9-FA54-4C1C-BFC0-3617969B899A}" type="datetimeFigureOut">
              <a:rPr lang="en-US" smtClean="0"/>
              <a:t>5/8/25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2650577-152B-4E2A-846D-D84DC2A15983}" type="slidenum">
              <a:rPr lang="en-US" smtClean="0"/>
              <a:t>‹#›</a:t>
            </a:fld>
            <a:endParaRPr lang="en-US"/>
          </a:p>
        </p:txBody>
      </p:sp>
    </p:spTree>
    <p:extLst>
      <p:ext uri="{BB962C8B-B14F-4D97-AF65-F5344CB8AC3E}">
        <p14:creationId xmlns:p14="http://schemas.microsoft.com/office/powerpoint/2010/main" val="343558732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automation-testing-software-testing/" TargetMode="External"/><Relationship Id="rId2" Type="http://schemas.openxmlformats.org/officeDocument/2006/relationships/hyperlink" Target="https://www.geeksforgeeks.org/software-testing-manual-testing/" TargetMode="External"/><Relationship Id="rId1" Type="http://schemas.openxmlformats.org/officeDocument/2006/relationships/slideLayout" Target="../slideLayouts/slideLayout2.xml"/><Relationship Id="rId5" Type="http://schemas.openxmlformats.org/officeDocument/2006/relationships/hyperlink" Target="https://www.geeksforgeeks.org/software-engineering-regression-testing/" TargetMode="External"/><Relationship Id="rId4" Type="http://schemas.openxmlformats.org/officeDocument/2006/relationships/hyperlink" Target="https://www.geeksforgeeks.org/software-testing-functional-testing/"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beta-testing-software-test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accessibility-testing-software-testing/" TargetMode="External"/><Relationship Id="rId7" Type="http://schemas.openxmlformats.org/officeDocument/2006/relationships/hyperlink" Target="https://www.geeksforgeeks.org/user-acceptance-testing-uat/" TargetMode="External"/><Relationship Id="rId2" Type="http://schemas.openxmlformats.org/officeDocument/2006/relationships/hyperlink" Target="https://www.geeksforgeeks.org/installation-testing-in-software-testing/" TargetMode="External"/><Relationship Id="rId1" Type="http://schemas.openxmlformats.org/officeDocument/2006/relationships/slideLayout" Target="../slideLayouts/slideLayout2.xml"/><Relationship Id="rId6" Type="http://schemas.openxmlformats.org/officeDocument/2006/relationships/hyperlink" Target="https://www.geeksforgeeks.org/software-testing-functional-testing/" TargetMode="External"/><Relationship Id="rId5" Type="http://schemas.openxmlformats.org/officeDocument/2006/relationships/hyperlink" Target="https://www.geeksforgeeks.org/security-testing/" TargetMode="External"/><Relationship Id="rId4" Type="http://schemas.openxmlformats.org/officeDocument/2006/relationships/hyperlink" Target="https://www.geeksforgeeks.org/automation-testing-software-testi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what-is-appiu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Testing Web Based System</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4988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Web Based System</a:t>
            </a:r>
          </a:p>
        </p:txBody>
      </p:sp>
      <p:sp>
        <p:nvSpPr>
          <p:cNvPr id="3" name="Content Placeholder 2"/>
          <p:cNvSpPr>
            <a:spLocks noGrp="1"/>
          </p:cNvSpPr>
          <p:nvPr>
            <p:ph idx="1"/>
          </p:nvPr>
        </p:nvSpPr>
        <p:spPr/>
        <p:txBody>
          <a:bodyPr>
            <a:normAutofit fontScale="92500" lnSpcReduction="10000"/>
          </a:bodyPr>
          <a:lstStyle/>
          <a:p>
            <a:pPr algn="just"/>
            <a:r>
              <a:rPr lang="en-US" b="1" dirty="0"/>
              <a:t>Web testing </a:t>
            </a:r>
            <a:r>
              <a:rPr lang="en-US" dirty="0"/>
              <a:t>is a software testing technique to </a:t>
            </a:r>
            <a:r>
              <a:rPr lang="en-US" b="1" dirty="0"/>
              <a:t>test web applications or websites for finding errors and bugs</a:t>
            </a:r>
            <a:r>
              <a:rPr lang="en-US" dirty="0"/>
              <a:t>. </a:t>
            </a:r>
          </a:p>
          <a:p>
            <a:pPr algn="just"/>
            <a:r>
              <a:rPr lang="en-US" dirty="0"/>
              <a:t>A web application must be tested properly before it goes to the end-users. </a:t>
            </a:r>
          </a:p>
          <a:p>
            <a:pPr algn="just"/>
            <a:r>
              <a:rPr lang="en-US" dirty="0"/>
              <a:t>Also, testing a web application does not only mean finding common bugs or errors but also testing the </a:t>
            </a:r>
            <a:r>
              <a:rPr lang="en-US" b="1" dirty="0"/>
              <a:t>quality-related risks associated with the application</a:t>
            </a:r>
            <a:r>
              <a:rPr lang="en-US" dirty="0"/>
              <a:t>. </a:t>
            </a:r>
          </a:p>
          <a:p>
            <a:pPr algn="just"/>
            <a:r>
              <a:rPr lang="en-US" dirty="0"/>
              <a:t>Software Testing should be done with </a:t>
            </a:r>
            <a:r>
              <a:rPr lang="en-US" b="1" dirty="0"/>
              <a:t>proper tools </a:t>
            </a:r>
            <a:r>
              <a:rPr lang="en-US" dirty="0"/>
              <a:t>and resources and should be done effectively. </a:t>
            </a:r>
          </a:p>
          <a:p>
            <a:pPr algn="just"/>
            <a:r>
              <a:rPr lang="en-US" dirty="0"/>
              <a:t>Testing a web application includes the </a:t>
            </a:r>
            <a:r>
              <a:rPr lang="en-US" b="1" dirty="0"/>
              <a:t>analysis of the web fault </a:t>
            </a:r>
            <a:r>
              <a:rPr lang="en-US" dirty="0"/>
              <a:t>compared to the general software faults. </a:t>
            </a:r>
          </a:p>
          <a:p>
            <a:pPr algn="just"/>
            <a:r>
              <a:rPr lang="en-US" dirty="0"/>
              <a:t>Web applications are required to be </a:t>
            </a:r>
            <a:r>
              <a:rPr lang="en-US" b="1" dirty="0"/>
              <a:t>tested on different browsers and platforms </a:t>
            </a:r>
            <a:r>
              <a:rPr lang="en-US" dirty="0"/>
              <a:t>so that we can identify the areas that need special focus while testing a web application. </a:t>
            </a:r>
          </a:p>
        </p:txBody>
      </p:sp>
    </p:spTree>
    <p:extLst>
      <p:ext uri="{BB962C8B-B14F-4D97-AF65-F5344CB8AC3E}">
        <p14:creationId xmlns:p14="http://schemas.microsoft.com/office/powerpoint/2010/main" val="4161173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337848" y="56562"/>
            <a:ext cx="7795967" cy="6594049"/>
          </a:xfrm>
          <a:prstGeom prst="rect">
            <a:avLst/>
          </a:prstGeom>
        </p:spPr>
      </p:pic>
    </p:spTree>
    <p:extLst>
      <p:ext uri="{BB962C8B-B14F-4D97-AF65-F5344CB8AC3E}">
        <p14:creationId xmlns:p14="http://schemas.microsoft.com/office/powerpoint/2010/main" val="396167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Types of Software Web Application Testing</a:t>
            </a:r>
            <a:br>
              <a:rPr lang="en-US" dirty="0"/>
            </a:br>
            <a:endParaRPr lang="en-US" dirty="0"/>
          </a:p>
        </p:txBody>
      </p:sp>
      <p:sp>
        <p:nvSpPr>
          <p:cNvPr id="4" name="Content Placeholder 2"/>
          <p:cNvSpPr>
            <a:spLocks noGrp="1"/>
          </p:cNvSpPr>
          <p:nvPr>
            <p:ph idx="1"/>
          </p:nvPr>
        </p:nvSpPr>
        <p:spPr>
          <a:xfrm>
            <a:off x="2589211" y="1423447"/>
            <a:ext cx="9241427" cy="5033914"/>
          </a:xfrm>
        </p:spPr>
        <p:txBody>
          <a:bodyPr>
            <a:normAutofit fontScale="92500" lnSpcReduction="10000"/>
          </a:bodyPr>
          <a:lstStyle/>
          <a:p>
            <a:pPr algn="just" fontAlgn="base"/>
            <a:r>
              <a:rPr lang="en-US" b="1" dirty="0"/>
              <a:t>Static Website Testing: </a:t>
            </a:r>
          </a:p>
          <a:p>
            <a:pPr lvl="1" algn="just" fontAlgn="base"/>
            <a:r>
              <a:rPr lang="en-US" dirty="0"/>
              <a:t>A static website is a type of website in which the content shown or displayed is exactly the same as it is stored in the server. </a:t>
            </a:r>
          </a:p>
          <a:p>
            <a:pPr lvl="1" algn="just" fontAlgn="base"/>
            <a:r>
              <a:rPr lang="en-US" dirty="0"/>
              <a:t>This type of website has great UI but does not have any dynamic feature that a user or visitor can use. </a:t>
            </a:r>
          </a:p>
          <a:p>
            <a:pPr lvl="1" algn="just" fontAlgn="base"/>
            <a:r>
              <a:rPr lang="en-US" dirty="0"/>
              <a:t>In static testing, we generally </a:t>
            </a:r>
            <a:r>
              <a:rPr lang="en-US" b="1" dirty="0"/>
              <a:t>focus on testing things like UI </a:t>
            </a:r>
            <a:r>
              <a:rPr lang="en-US" dirty="0"/>
              <a:t>as it is the most important part of a static website. </a:t>
            </a:r>
          </a:p>
          <a:p>
            <a:pPr lvl="1" algn="just" fontAlgn="base"/>
            <a:r>
              <a:rPr lang="en-US" dirty="0"/>
              <a:t>We check things </a:t>
            </a:r>
            <a:r>
              <a:rPr lang="en-US" b="1" dirty="0"/>
              <a:t>font size, color, spacing, etc</a:t>
            </a:r>
            <a:r>
              <a:rPr lang="en-US" dirty="0"/>
              <a:t>. testing also includes checking the contact us form, verifying URLs or links that are used in the website, etc.</a:t>
            </a:r>
          </a:p>
          <a:p>
            <a:pPr algn="just" fontAlgn="base"/>
            <a:r>
              <a:rPr lang="en-US" b="1" dirty="0"/>
              <a:t>Dynamic Website Testing: </a:t>
            </a:r>
          </a:p>
          <a:p>
            <a:pPr lvl="1" algn="just" fontAlgn="base"/>
            <a:r>
              <a:rPr lang="en-US" dirty="0"/>
              <a:t>A dynamic website is a type of website that consists of both a frontend i.e., UI, and the backend of the website like a database, etc. </a:t>
            </a:r>
          </a:p>
          <a:p>
            <a:pPr lvl="1" algn="just" fontAlgn="base"/>
            <a:r>
              <a:rPr lang="en-US" dirty="0"/>
              <a:t>This type of website gets updated or change regularly as per the user’s requirements. </a:t>
            </a:r>
          </a:p>
          <a:p>
            <a:pPr lvl="1" algn="just" fontAlgn="base"/>
            <a:r>
              <a:rPr lang="en-US" dirty="0"/>
              <a:t>In this website, there are a lot of functionalities involved like </a:t>
            </a:r>
            <a:r>
              <a:rPr lang="en-US" b="1" dirty="0"/>
              <a:t>what a button will do if it is pressed,</a:t>
            </a:r>
            <a:r>
              <a:rPr lang="en-US" dirty="0"/>
              <a:t> are </a:t>
            </a:r>
            <a:r>
              <a:rPr lang="en-US" b="1" dirty="0"/>
              <a:t>error messages are shown properly </a:t>
            </a:r>
            <a:r>
              <a:rPr lang="en-US" dirty="0"/>
              <a:t>at their defined time, etc. </a:t>
            </a:r>
          </a:p>
          <a:p>
            <a:pPr lvl="1" algn="just" fontAlgn="base"/>
            <a:r>
              <a:rPr lang="en-US" dirty="0"/>
              <a:t>We check if </a:t>
            </a:r>
            <a:r>
              <a:rPr lang="en-US" b="1" dirty="0"/>
              <a:t>the backend is working properly </a:t>
            </a:r>
            <a:r>
              <a:rPr lang="en-US" dirty="0"/>
              <a:t>or not, like does enter the data or information in the GUI or frontend gets updated in the databases or not.</a:t>
            </a:r>
          </a:p>
          <a:p>
            <a:pPr algn="just"/>
            <a:endParaRPr lang="en-US" dirty="0"/>
          </a:p>
        </p:txBody>
      </p:sp>
    </p:spTree>
    <p:extLst>
      <p:ext uri="{BB962C8B-B14F-4D97-AF65-F5344CB8AC3E}">
        <p14:creationId xmlns:p14="http://schemas.microsoft.com/office/powerpoint/2010/main" val="2668755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641023"/>
            <a:ext cx="8915400" cy="5967167"/>
          </a:xfrm>
        </p:spPr>
        <p:txBody>
          <a:bodyPr>
            <a:normAutofit/>
          </a:bodyPr>
          <a:lstStyle/>
          <a:p>
            <a:pPr algn="just" fontAlgn="base"/>
            <a:r>
              <a:rPr lang="en-US" b="1" dirty="0"/>
              <a:t>E-Commerce Website Testing: </a:t>
            </a:r>
          </a:p>
          <a:p>
            <a:pPr lvl="1" algn="just" fontAlgn="base"/>
            <a:r>
              <a:rPr lang="en-US" dirty="0"/>
              <a:t>An e-commerce website is very difficult in maintaining as it consists of different pages and functionalities, etc. </a:t>
            </a:r>
          </a:p>
          <a:p>
            <a:pPr lvl="1" algn="just" fontAlgn="base"/>
            <a:r>
              <a:rPr lang="en-US" dirty="0"/>
              <a:t>In this testing, the tester or developer has to check various things like checking if </a:t>
            </a:r>
            <a:r>
              <a:rPr lang="en-US" b="1" dirty="0"/>
              <a:t>the shopping cart is working as per the requirements</a:t>
            </a:r>
            <a:r>
              <a:rPr lang="en-US" dirty="0"/>
              <a:t> or not, are </a:t>
            </a:r>
            <a:r>
              <a:rPr lang="en-US" b="1" dirty="0"/>
              <a:t>user registration or login functionality</a:t>
            </a:r>
            <a:r>
              <a:rPr lang="en-US" dirty="0"/>
              <a:t> is also working properly or not, etc. </a:t>
            </a:r>
          </a:p>
          <a:p>
            <a:pPr lvl="1" algn="just" fontAlgn="base"/>
            <a:r>
              <a:rPr lang="en-US" dirty="0"/>
              <a:t>The most important thing in this testing is that does a user can successfully do payment or not and if the </a:t>
            </a:r>
            <a:r>
              <a:rPr lang="en-US" b="1" dirty="0"/>
              <a:t>website is secured</a:t>
            </a:r>
            <a:r>
              <a:rPr lang="en-US" dirty="0"/>
              <a:t>. </a:t>
            </a:r>
          </a:p>
          <a:p>
            <a:pPr algn="just" fontAlgn="base"/>
            <a:r>
              <a:rPr lang="en-US" b="1" dirty="0"/>
              <a:t>Mobile-Based Web Testing: </a:t>
            </a:r>
          </a:p>
          <a:p>
            <a:pPr lvl="1" algn="just" fontAlgn="base"/>
            <a:r>
              <a:rPr lang="en-US" dirty="0"/>
              <a:t>In this testing, the developer or tester basically </a:t>
            </a:r>
            <a:r>
              <a:rPr lang="en-US" b="1" dirty="0"/>
              <a:t>checks the website compatibility on different devices </a:t>
            </a:r>
            <a:r>
              <a:rPr lang="en-US" dirty="0"/>
              <a:t>and generally on mobile devices because many of the users open the website on their mobile devices. </a:t>
            </a:r>
          </a:p>
          <a:p>
            <a:pPr lvl="1" algn="just" fontAlgn="base"/>
            <a:r>
              <a:rPr lang="en-US" dirty="0"/>
              <a:t>So, keeping that thing in mind, we must check that the </a:t>
            </a:r>
            <a:r>
              <a:rPr lang="en-US" b="1" dirty="0"/>
              <a:t>site is responsive on all devices or platforms</a:t>
            </a:r>
            <a:r>
              <a:rPr lang="en-US" dirty="0"/>
              <a:t>.</a:t>
            </a:r>
          </a:p>
        </p:txBody>
      </p:sp>
    </p:spTree>
    <p:extLst>
      <p:ext uri="{BB962C8B-B14F-4D97-AF65-F5344CB8AC3E}">
        <p14:creationId xmlns:p14="http://schemas.microsoft.com/office/powerpoint/2010/main" val="1636153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 of Web Based Testing:</a:t>
            </a:r>
            <a:br>
              <a:rPr lang="en-US" b="1" dirty="0"/>
            </a:br>
            <a:endParaRPr lang="en-US" dirty="0"/>
          </a:p>
        </p:txBody>
      </p:sp>
      <p:sp>
        <p:nvSpPr>
          <p:cNvPr id="3" name="Content Placeholder 2"/>
          <p:cNvSpPr>
            <a:spLocks noGrp="1"/>
          </p:cNvSpPr>
          <p:nvPr>
            <p:ph idx="1"/>
          </p:nvPr>
        </p:nvSpPr>
        <p:spPr>
          <a:xfrm>
            <a:off x="2428956" y="1432874"/>
            <a:ext cx="8915400" cy="5137608"/>
          </a:xfrm>
        </p:spPr>
        <p:txBody>
          <a:bodyPr>
            <a:normAutofit fontScale="92500" lnSpcReduction="20000"/>
          </a:bodyPr>
          <a:lstStyle/>
          <a:p>
            <a:pPr algn="just" fontAlgn="base"/>
            <a:r>
              <a:rPr lang="en-US" b="1" dirty="0"/>
              <a:t>Testing for functionality:</a:t>
            </a:r>
            <a:r>
              <a:rPr lang="en-US" dirty="0"/>
              <a:t> Make that the web application performs as expected for all features and functions. Check that user interface elements like form submissions and navigation work as intended.</a:t>
            </a:r>
          </a:p>
          <a:p>
            <a:pPr algn="just" fontAlgn="base"/>
            <a:r>
              <a:rPr lang="en-US" b="1" dirty="0"/>
              <a:t>Testing for Compatibility:</a:t>
            </a:r>
            <a:r>
              <a:rPr lang="en-US" dirty="0"/>
              <a:t> To make sure it is compatible, test the web application across a variety of devices, operating systems, and browsers. Verify that the program operates consistently in a range of settings.</a:t>
            </a:r>
          </a:p>
          <a:p>
            <a:pPr algn="just" fontAlgn="base"/>
            <a:r>
              <a:rPr lang="en-US" b="1" dirty="0"/>
              <a:t>Evaluation of Performance:</a:t>
            </a:r>
            <a:r>
              <a:rPr lang="en-US" dirty="0"/>
              <a:t> Analyze the online application’s overall performance, speed, and responsiveness. Any performance bottlenecks, such as slow page loads or delayed server response times, should be located and fixed.</a:t>
            </a:r>
          </a:p>
          <a:p>
            <a:pPr algn="just" fontAlgn="base"/>
            <a:r>
              <a:rPr lang="en-US" b="1" dirty="0"/>
              <a:t>Testing for load: </a:t>
            </a:r>
            <a:r>
              <a:rPr lang="en-US" dirty="0"/>
              <a:t>Examine how well the web application can manage a particular load or multiple user connections at once. Determine and fix performance problems when there is a lot of traffic.</a:t>
            </a:r>
          </a:p>
          <a:p>
            <a:pPr algn="just" fontAlgn="base"/>
            <a:r>
              <a:rPr lang="en-US" b="1" dirty="0"/>
              <a:t>Testing for accessibility: </a:t>
            </a:r>
            <a:r>
              <a:rPr lang="en-US" dirty="0"/>
              <a:t>Make sure the online application complies with applicable accessibility standards (e.g., Web Content accessibility guidelines (WCAG)) and is usable by people with disabilities. Make sure the program can communicate with assistive technologies efficiently.</a:t>
            </a:r>
          </a:p>
          <a:p>
            <a:pPr algn="just" fontAlgn="base"/>
            <a:r>
              <a:rPr lang="en-US" b="1" dirty="0"/>
              <a:t>Testing Across Browsers: </a:t>
            </a:r>
            <a:r>
              <a:rPr lang="en-US" dirty="0"/>
              <a:t>Make sure the operation and appearance of the web application are consistent by testing it in various web browsers. Determine and fix any problems that might develop with a particular browser.</a:t>
            </a:r>
          </a:p>
        </p:txBody>
      </p:sp>
    </p:spTree>
    <p:extLst>
      <p:ext uri="{BB962C8B-B14F-4D97-AF65-F5344CB8AC3E}">
        <p14:creationId xmlns:p14="http://schemas.microsoft.com/office/powerpoint/2010/main" val="4122255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Execute Web Based Testing?</a:t>
            </a:r>
            <a:br>
              <a:rPr lang="en-US" dirty="0"/>
            </a:br>
            <a:endParaRPr lang="en-US" dirty="0"/>
          </a:p>
        </p:txBody>
      </p:sp>
      <p:sp>
        <p:nvSpPr>
          <p:cNvPr id="3" name="Content Placeholder 2"/>
          <p:cNvSpPr>
            <a:spLocks noGrp="1"/>
          </p:cNvSpPr>
          <p:nvPr>
            <p:ph idx="1"/>
          </p:nvPr>
        </p:nvSpPr>
        <p:spPr>
          <a:xfrm>
            <a:off x="2281287" y="1423447"/>
            <a:ext cx="9223325" cy="5137609"/>
          </a:xfrm>
        </p:spPr>
        <p:txBody>
          <a:bodyPr>
            <a:normAutofit/>
          </a:bodyPr>
          <a:lstStyle/>
          <a:p>
            <a:pPr algn="just"/>
            <a:r>
              <a:rPr lang="en-US" dirty="0"/>
              <a:t>The software web application testing can be executed by the ways listed below −</a:t>
            </a:r>
          </a:p>
          <a:p>
            <a:pPr algn="just"/>
            <a:r>
              <a:rPr lang="en-US" b="1" dirty="0"/>
              <a:t>Step 1</a:t>
            </a:r>
            <a:r>
              <a:rPr lang="en-US" dirty="0"/>
              <a:t> − The software web application testing should comprise the </a:t>
            </a:r>
            <a:r>
              <a:rPr lang="en-US" b="1" dirty="0"/>
              <a:t>verification of the frontend, backend, firewalls, internet protocols and all other entities </a:t>
            </a:r>
            <a:r>
              <a:rPr lang="en-US" dirty="0"/>
              <a:t>that are required to run the website on the server.</a:t>
            </a:r>
          </a:p>
          <a:p>
            <a:pPr algn="just"/>
            <a:r>
              <a:rPr lang="en-US" b="1" dirty="0"/>
              <a:t>Step 2</a:t>
            </a:r>
            <a:r>
              <a:rPr lang="en-US" dirty="0"/>
              <a:t> − Verify if all the </a:t>
            </a:r>
            <a:r>
              <a:rPr lang="en-US" b="1" dirty="0"/>
              <a:t>screens possess the correct URL or links</a:t>
            </a:r>
            <a:r>
              <a:rPr lang="en-US" dirty="0"/>
              <a:t>.</a:t>
            </a:r>
          </a:p>
          <a:p>
            <a:pPr algn="just"/>
            <a:r>
              <a:rPr lang="en-US" b="1" dirty="0"/>
              <a:t>Step 3</a:t>
            </a:r>
            <a:r>
              <a:rPr lang="en-US" dirty="0"/>
              <a:t> − Verify if the web application under test is </a:t>
            </a:r>
            <a:r>
              <a:rPr lang="en-US" b="1" dirty="0"/>
              <a:t>compatible with other systems.</a:t>
            </a:r>
          </a:p>
          <a:p>
            <a:pPr algn="just"/>
            <a:r>
              <a:rPr lang="en-US" b="1" dirty="0"/>
              <a:t>Step 4</a:t>
            </a:r>
            <a:r>
              <a:rPr lang="en-US" dirty="0"/>
              <a:t> − Verify if all </a:t>
            </a:r>
            <a:r>
              <a:rPr lang="en-US" b="1" dirty="0"/>
              <a:t>the dimensions of the images and displays are appropriate </a:t>
            </a:r>
            <a:r>
              <a:rPr lang="en-US" dirty="0"/>
              <a:t>for all kinds of end users.</a:t>
            </a:r>
          </a:p>
          <a:p>
            <a:pPr algn="just"/>
            <a:r>
              <a:rPr lang="en-US" b="1" dirty="0"/>
              <a:t>Step 5</a:t>
            </a:r>
            <a:r>
              <a:rPr lang="en-US" dirty="0"/>
              <a:t> − Verify the </a:t>
            </a:r>
            <a:r>
              <a:rPr lang="en-US" b="1" dirty="0"/>
              <a:t>security features </a:t>
            </a:r>
            <a:r>
              <a:rPr lang="en-US" dirty="0"/>
              <a:t>of the website.</a:t>
            </a:r>
          </a:p>
          <a:p>
            <a:pPr algn="just"/>
            <a:r>
              <a:rPr lang="en-US" b="1" dirty="0"/>
              <a:t>Step 6</a:t>
            </a:r>
            <a:r>
              <a:rPr lang="en-US" dirty="0"/>
              <a:t> − Verify </a:t>
            </a:r>
            <a:r>
              <a:rPr lang="en-US" b="1" dirty="0"/>
              <a:t>all the details </a:t>
            </a:r>
            <a:r>
              <a:rPr lang="en-US" dirty="0"/>
              <a:t>on the analytics of the websites.</a:t>
            </a:r>
          </a:p>
          <a:p>
            <a:pPr algn="just"/>
            <a:r>
              <a:rPr lang="en-US" b="1" dirty="0"/>
              <a:t>Step 7</a:t>
            </a:r>
            <a:r>
              <a:rPr lang="en-US" dirty="0"/>
              <a:t> − Verify if all the customer contact information is correctly updated on the website.</a:t>
            </a:r>
          </a:p>
          <a:p>
            <a:pPr algn="just"/>
            <a:endParaRPr lang="en-US" dirty="0"/>
          </a:p>
        </p:txBody>
      </p:sp>
    </p:spTree>
    <p:extLst>
      <p:ext uri="{BB962C8B-B14F-4D97-AF65-F5344CB8AC3E}">
        <p14:creationId xmlns:p14="http://schemas.microsoft.com/office/powerpoint/2010/main" val="1427297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Mobile Application Testing</a:t>
            </a:r>
          </a:p>
        </p:txBody>
      </p:sp>
      <p:sp>
        <p:nvSpPr>
          <p:cNvPr id="3" name="Content Placeholder 2"/>
          <p:cNvSpPr>
            <a:spLocks noGrp="1"/>
          </p:cNvSpPr>
          <p:nvPr>
            <p:ph idx="1"/>
          </p:nvPr>
        </p:nvSpPr>
        <p:spPr>
          <a:xfrm>
            <a:off x="2589212" y="1527141"/>
            <a:ext cx="9411110" cy="5099901"/>
          </a:xfrm>
        </p:spPr>
        <p:txBody>
          <a:bodyPr>
            <a:normAutofit/>
          </a:bodyPr>
          <a:lstStyle/>
          <a:p>
            <a:pPr algn="just"/>
            <a:r>
              <a:rPr lang="en-US" dirty="0"/>
              <a:t>Mobile Application Testing refers to the process of evaluating the functionality, usability, and performance of mobile apps across various devices and platforms.</a:t>
            </a:r>
          </a:p>
          <a:p>
            <a:pPr algn="just"/>
            <a:r>
              <a:rPr lang="en-US" dirty="0"/>
              <a:t>To ensure they meet quality standards and deliver a seamless user experience. </a:t>
            </a:r>
          </a:p>
          <a:p>
            <a:pPr algn="just"/>
            <a:r>
              <a:rPr lang="en-US" dirty="0"/>
              <a:t>It encompasses testing aspects such as functionality, compatibility, security, and user interface to identify and rectify issues before the app's release.</a:t>
            </a:r>
          </a:p>
          <a:p>
            <a:pPr algn="just" fontAlgn="base"/>
            <a:r>
              <a:rPr lang="en-US" b="1" dirty="0"/>
              <a:t>Types of Mobile Applications</a:t>
            </a:r>
            <a:r>
              <a:rPr lang="en-US" dirty="0"/>
              <a:t>:</a:t>
            </a:r>
          </a:p>
          <a:p>
            <a:pPr lvl="1" algn="just" fontAlgn="base"/>
            <a:r>
              <a:rPr lang="en-US" b="1" dirty="0"/>
              <a:t>Native Apps</a:t>
            </a:r>
            <a:r>
              <a:rPr lang="en-US" dirty="0"/>
              <a:t>: Developed for a specific platform (e.g., </a:t>
            </a:r>
            <a:r>
              <a:rPr lang="en-US" dirty="0" err="1"/>
              <a:t>iOS</a:t>
            </a:r>
            <a:r>
              <a:rPr lang="en-US" dirty="0"/>
              <a:t>, Android) using platform-specific programming languages and APIs.</a:t>
            </a:r>
          </a:p>
          <a:p>
            <a:pPr lvl="1" algn="just" fontAlgn="base"/>
            <a:r>
              <a:rPr lang="en-US" b="1" dirty="0"/>
              <a:t>Web Apps</a:t>
            </a:r>
            <a:r>
              <a:rPr lang="en-US" dirty="0"/>
              <a:t>: Accessed through mobile web browsers and often built using web technologies like HTML5, CSS, and JavaScript.</a:t>
            </a:r>
          </a:p>
          <a:p>
            <a:pPr lvl="1" algn="just" fontAlgn="base"/>
            <a:r>
              <a:rPr lang="en-US" b="1" dirty="0"/>
              <a:t>Hybrid Apps</a:t>
            </a:r>
            <a:r>
              <a:rPr lang="en-US" dirty="0"/>
              <a:t>: Combine elements of both native and web apps, typically using web technologies but wrapped in a native shell for distribution.</a:t>
            </a:r>
          </a:p>
          <a:p>
            <a:pPr algn="just"/>
            <a:endParaRPr lang="en-US" dirty="0"/>
          </a:p>
        </p:txBody>
      </p:sp>
    </p:spTree>
    <p:extLst>
      <p:ext uri="{BB962C8B-B14F-4D97-AF65-F5344CB8AC3E}">
        <p14:creationId xmlns:p14="http://schemas.microsoft.com/office/powerpoint/2010/main" val="1902928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Approaches to Test the Mobile Applications</a:t>
            </a:r>
          </a:p>
        </p:txBody>
      </p:sp>
      <p:pic>
        <p:nvPicPr>
          <p:cNvPr id="4" name="Content Placeholder 3"/>
          <p:cNvPicPr>
            <a:picLocks noGrp="1" noChangeAspect="1"/>
          </p:cNvPicPr>
          <p:nvPr>
            <p:ph idx="1"/>
          </p:nvPr>
        </p:nvPicPr>
        <p:blipFill>
          <a:blip r:embed="rId2"/>
          <a:stretch>
            <a:fillRect/>
          </a:stretch>
        </p:blipFill>
        <p:spPr>
          <a:xfrm>
            <a:off x="4432300" y="2441575"/>
            <a:ext cx="5229225" cy="3162300"/>
          </a:xfrm>
          <a:prstGeom prst="rect">
            <a:avLst/>
          </a:prstGeom>
        </p:spPr>
      </p:pic>
    </p:spTree>
    <p:extLst>
      <p:ext uri="{BB962C8B-B14F-4D97-AF65-F5344CB8AC3E}">
        <p14:creationId xmlns:p14="http://schemas.microsoft.com/office/powerpoint/2010/main" val="1795935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311085"/>
            <a:ext cx="8915400" cy="5600137"/>
          </a:xfrm>
        </p:spPr>
        <p:txBody>
          <a:bodyPr>
            <a:normAutofit/>
          </a:bodyPr>
          <a:lstStyle/>
          <a:p>
            <a:pPr algn="just" fontAlgn="base"/>
            <a:r>
              <a:rPr lang="en-US" b="1" dirty="0"/>
              <a:t>1. </a:t>
            </a:r>
            <a:r>
              <a:rPr lang="en-US" b="1" u="sng" dirty="0">
                <a:hlinkClick r:id="rId2"/>
              </a:rPr>
              <a:t>Manual Testing</a:t>
            </a:r>
            <a:endParaRPr lang="en-US" b="1" dirty="0"/>
          </a:p>
          <a:p>
            <a:pPr lvl="1" algn="just" fontAlgn="base"/>
            <a:r>
              <a:rPr lang="en-US" b="1" dirty="0"/>
              <a:t>Exploratory testing:</a:t>
            </a:r>
            <a:r>
              <a:rPr lang="en-US" dirty="0"/>
              <a:t> It involves testers experimenting with the program to </a:t>
            </a:r>
            <a:r>
              <a:rPr lang="en-US" b="1" dirty="0"/>
              <a:t>find bugs without using pre-defined test cases.</a:t>
            </a:r>
          </a:p>
          <a:p>
            <a:pPr lvl="1" algn="just" fontAlgn="base"/>
            <a:r>
              <a:rPr lang="en-US" b="1" dirty="0"/>
              <a:t>Ad Hoc Testing: </a:t>
            </a:r>
            <a:r>
              <a:rPr lang="en-US" dirty="0"/>
              <a:t>To find issues rapidly, testers do </a:t>
            </a:r>
            <a:r>
              <a:rPr lang="en-US" b="1" dirty="0"/>
              <a:t>spontaneous tests</a:t>
            </a:r>
            <a:r>
              <a:rPr lang="en-US" dirty="0"/>
              <a:t> without a hard and fast methodology.</a:t>
            </a:r>
          </a:p>
          <a:p>
            <a:pPr lvl="1" algn="just" fontAlgn="base"/>
            <a:r>
              <a:rPr lang="en-US" b="1" dirty="0"/>
              <a:t>Usability testing:</a:t>
            </a:r>
            <a:r>
              <a:rPr lang="en-US" dirty="0"/>
              <a:t> To ensure the software program lives as much as consumer expectancies, testers determine the user interface, navigation, and standard consumer experience.</a:t>
            </a:r>
          </a:p>
          <a:p>
            <a:pPr algn="just" fontAlgn="base"/>
            <a:r>
              <a:rPr lang="en-US" b="1" dirty="0"/>
              <a:t>2. </a:t>
            </a:r>
            <a:r>
              <a:rPr lang="en-US" b="1" u="sng" dirty="0">
                <a:hlinkClick r:id="rId3"/>
              </a:rPr>
              <a:t>Automation Testing</a:t>
            </a:r>
            <a:endParaRPr lang="en-US" b="1" dirty="0"/>
          </a:p>
          <a:p>
            <a:pPr lvl="1" algn="just" fontAlgn="base"/>
            <a:r>
              <a:rPr lang="en-US" b="1" dirty="0">
                <a:solidFill>
                  <a:schemeClr val="tx1"/>
                </a:solidFill>
                <a:hlinkClick r:id="rId4"/>
              </a:rPr>
              <a:t>Functional Testing</a:t>
            </a:r>
            <a:r>
              <a:rPr lang="en-US" b="1" dirty="0"/>
              <a:t>: </a:t>
            </a:r>
            <a:r>
              <a:rPr lang="en-US" dirty="0"/>
              <a:t>To test the application's functionality </a:t>
            </a:r>
            <a:r>
              <a:rPr lang="en-US" b="1" dirty="0"/>
              <a:t>across a range of scenarios and user interactions, automation scripts are written.</a:t>
            </a:r>
          </a:p>
          <a:p>
            <a:pPr lvl="1" algn="just" fontAlgn="base"/>
            <a:r>
              <a:rPr lang="en-US" b="1" u="sng" dirty="0">
                <a:hlinkClick r:id="rId5"/>
              </a:rPr>
              <a:t>Regression Testing</a:t>
            </a:r>
            <a:r>
              <a:rPr lang="en-US" b="1" dirty="0"/>
              <a:t>:</a:t>
            </a:r>
            <a:r>
              <a:rPr lang="en-US" dirty="0"/>
              <a:t> To ensure that </a:t>
            </a:r>
            <a:r>
              <a:rPr lang="en-US" b="1" dirty="0"/>
              <a:t>new updates do not add any new issues </a:t>
            </a:r>
            <a:r>
              <a:rPr lang="en-US" dirty="0"/>
              <a:t>or destroy contemporary capability, automatic tests are performed again after each code exchange.</a:t>
            </a:r>
          </a:p>
          <a:p>
            <a:pPr lvl="1" algn="just" fontAlgn="base"/>
            <a:r>
              <a:rPr lang="en-US" b="1" dirty="0"/>
              <a:t>Testing for Compatibility: </a:t>
            </a:r>
            <a:r>
              <a:rPr lang="en-US" dirty="0"/>
              <a:t>Automation scripts are used to check if an application is compatible with various hardware, operating systems, and screen sizes.</a:t>
            </a:r>
          </a:p>
          <a:p>
            <a:pPr algn="just"/>
            <a:endParaRPr lang="en-US" dirty="0"/>
          </a:p>
        </p:txBody>
      </p:sp>
    </p:spTree>
    <p:extLst>
      <p:ext uri="{BB962C8B-B14F-4D97-AF65-F5344CB8AC3E}">
        <p14:creationId xmlns:p14="http://schemas.microsoft.com/office/powerpoint/2010/main" val="3058162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509047"/>
            <a:ext cx="8915400" cy="5402175"/>
          </a:xfrm>
        </p:spPr>
        <p:txBody>
          <a:bodyPr>
            <a:normAutofit/>
          </a:bodyPr>
          <a:lstStyle/>
          <a:p>
            <a:pPr algn="just" fontAlgn="base"/>
            <a:r>
              <a:rPr lang="en-US" b="1" dirty="0"/>
              <a:t>3. </a:t>
            </a:r>
            <a:r>
              <a:rPr lang="en-US" u="sng" dirty="0">
                <a:hlinkClick r:id="rId2"/>
              </a:rPr>
              <a:t>Beta Testing</a:t>
            </a:r>
            <a:endParaRPr lang="en-US" b="1" dirty="0"/>
          </a:p>
          <a:p>
            <a:pPr lvl="1" algn="just" fontAlgn="base"/>
            <a:r>
              <a:rPr lang="en-US" dirty="0"/>
              <a:t>Before the app's official release, a small set of actual users are given access to a limited version of it through beta testing. </a:t>
            </a:r>
          </a:p>
          <a:p>
            <a:pPr lvl="1" algn="just" fontAlgn="base"/>
            <a:r>
              <a:rPr lang="en-US" dirty="0"/>
              <a:t>Beta tester's feedback is useful in locating flaws, usability problems, and potential improvement areas.</a:t>
            </a:r>
          </a:p>
          <a:p>
            <a:pPr algn="just" fontAlgn="base"/>
            <a:r>
              <a:rPr lang="en-US" b="1" dirty="0"/>
              <a:t>4. Testing of Devices</a:t>
            </a:r>
          </a:p>
          <a:p>
            <a:pPr lvl="1" algn="just" fontAlgn="base"/>
            <a:r>
              <a:rPr lang="en-US" b="1" dirty="0"/>
              <a:t>Real Device Testing: </a:t>
            </a:r>
            <a:r>
              <a:rPr lang="en-US" dirty="0"/>
              <a:t>To guarantee realistic performance and behavior, the app is tested on real devices, taking into account elements like hardware capabilities and device-specific features.</a:t>
            </a:r>
          </a:p>
          <a:p>
            <a:pPr lvl="1" algn="just" fontAlgn="base"/>
            <a:r>
              <a:rPr lang="en-US" b="1" dirty="0"/>
              <a:t>Emulator/Simulator Testing</a:t>
            </a:r>
            <a:r>
              <a:rPr lang="en-US" dirty="0"/>
              <a:t>: The application is evaluated using simulated devices that replicate real-world functionality. For testing Android apps, emulators are utilized, whilst simulators are utilized for testing </a:t>
            </a:r>
            <a:r>
              <a:rPr lang="en-US" dirty="0" err="1"/>
              <a:t>iOS</a:t>
            </a:r>
            <a:r>
              <a:rPr lang="en-US" dirty="0"/>
              <a:t> apps.</a:t>
            </a:r>
          </a:p>
          <a:p>
            <a:pPr algn="just"/>
            <a:endParaRPr lang="en-US" dirty="0"/>
          </a:p>
        </p:txBody>
      </p:sp>
    </p:spTree>
    <p:extLst>
      <p:ext uri="{BB962C8B-B14F-4D97-AF65-F5344CB8AC3E}">
        <p14:creationId xmlns:p14="http://schemas.microsoft.com/office/powerpoint/2010/main" val="3243173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0756" y="209331"/>
            <a:ext cx="8911687" cy="1280890"/>
          </a:xfrm>
        </p:spPr>
        <p:txBody>
          <a:bodyPr>
            <a:normAutofit/>
          </a:bodyPr>
          <a:lstStyle/>
          <a:p>
            <a:pPr algn="just"/>
            <a:r>
              <a:rPr lang="en-US" b="1" dirty="0"/>
              <a:t>Types of Mobile Application Testing</a:t>
            </a:r>
            <a:br>
              <a:rPr lang="en-US" b="1" dirty="0"/>
            </a:br>
            <a:endParaRPr lang="en-US" dirty="0"/>
          </a:p>
        </p:txBody>
      </p:sp>
      <p:sp>
        <p:nvSpPr>
          <p:cNvPr id="3" name="Content Placeholder 2"/>
          <p:cNvSpPr>
            <a:spLocks noGrp="1"/>
          </p:cNvSpPr>
          <p:nvPr>
            <p:ph idx="1"/>
          </p:nvPr>
        </p:nvSpPr>
        <p:spPr>
          <a:xfrm>
            <a:off x="1687398" y="1112363"/>
            <a:ext cx="9817214" cy="5745637"/>
          </a:xfrm>
        </p:spPr>
        <p:txBody>
          <a:bodyPr>
            <a:normAutofit lnSpcReduction="10000"/>
          </a:bodyPr>
          <a:lstStyle/>
          <a:p>
            <a:pPr algn="just" fontAlgn="base"/>
            <a:r>
              <a:rPr lang="en-US" b="1" u="sng" dirty="0">
                <a:hlinkClick r:id="rId2"/>
              </a:rPr>
              <a:t>Installation Testing</a:t>
            </a:r>
            <a:r>
              <a:rPr lang="en-US" dirty="0"/>
              <a:t>: To guarantee a seamless and error-free installation experience for users, installation testing examines the app's installation procedure, compatibility with various platforms and devices, handling of permissions, and uninstallation.</a:t>
            </a:r>
          </a:p>
          <a:p>
            <a:pPr algn="just" fontAlgn="base"/>
            <a:r>
              <a:rPr lang="en-US" b="1" u="sng" dirty="0">
                <a:hlinkClick r:id="rId3"/>
              </a:rPr>
              <a:t>Accessibility Testing</a:t>
            </a:r>
            <a:r>
              <a:rPr lang="en-US" b="1" dirty="0"/>
              <a:t>:</a:t>
            </a:r>
            <a:r>
              <a:rPr lang="en-US" dirty="0"/>
              <a:t> This process assesses if an application complies with accessibility guidelines (such as WCAG) and whether it is user-friendly enough for people with disabilities, such as those who have cognitive, motor, visual, or hearing impairments.</a:t>
            </a:r>
          </a:p>
          <a:p>
            <a:pPr algn="just" fontAlgn="base"/>
            <a:r>
              <a:rPr lang="en-US" b="1" u="sng" dirty="0">
                <a:hlinkClick r:id="rId4"/>
              </a:rPr>
              <a:t>Automation Testing:</a:t>
            </a:r>
            <a:r>
              <a:rPr lang="en-US" dirty="0"/>
              <a:t> To increase productivity, accuracy, and test coverage, automated testing uses tools and scripts to automate repetitive testing tasks like performance, functional, and regression testing.</a:t>
            </a:r>
          </a:p>
          <a:p>
            <a:pPr algn="just" fontAlgn="base"/>
            <a:r>
              <a:rPr lang="en-US" b="1" u="sng" dirty="0">
                <a:hlinkClick r:id="rId5"/>
              </a:rPr>
              <a:t>Security Testing</a:t>
            </a:r>
            <a:r>
              <a:rPr lang="en-US" u="sng" dirty="0">
                <a:hlinkClick r:id="rId5"/>
              </a:rPr>
              <a:t>: </a:t>
            </a:r>
            <a:r>
              <a:rPr lang="en-US" dirty="0"/>
              <a:t>Testing for vulnerabilities and dangers in data security, authentication, authorization, encryption, and defense against malware, hacking, and other cyber threats is known as security testing.</a:t>
            </a:r>
          </a:p>
          <a:p>
            <a:pPr algn="just" fontAlgn="base"/>
            <a:r>
              <a:rPr lang="en-US" b="1" u="sng" dirty="0">
                <a:hlinkClick r:id="rId6"/>
              </a:rPr>
              <a:t>Functional testing</a:t>
            </a:r>
            <a:r>
              <a:rPr lang="en-US" u="sng" dirty="0">
                <a:hlinkClick r:id="rId6"/>
              </a:rPr>
              <a:t>: </a:t>
            </a:r>
            <a:r>
              <a:rPr lang="en-US" dirty="0"/>
              <a:t>This kind of testing confirms that the application operates as intended and meets all requirements. Input validation, navigation, user interface, and other functional aspects are all tested.</a:t>
            </a:r>
          </a:p>
          <a:p>
            <a:pPr algn="just" fontAlgn="base"/>
            <a:r>
              <a:rPr lang="en-US" b="1" u="sng" dirty="0">
                <a:hlinkClick r:id="rId7"/>
              </a:rPr>
              <a:t>User Acceptance Testing (UAT)</a:t>
            </a:r>
            <a:r>
              <a:rPr lang="en-US" b="1" dirty="0"/>
              <a:t>:</a:t>
            </a:r>
            <a:r>
              <a:rPr lang="en-US" dirty="0"/>
              <a:t> Before the app's official release, actual users test it in a setting similar to production to see if it satisfies their wants, expectations, and business requirements.</a:t>
            </a:r>
          </a:p>
          <a:p>
            <a:pPr algn="just"/>
            <a:endParaRPr lang="en-US" dirty="0"/>
          </a:p>
        </p:txBody>
      </p:sp>
    </p:spTree>
    <p:extLst>
      <p:ext uri="{BB962C8B-B14F-4D97-AF65-F5344CB8AC3E}">
        <p14:creationId xmlns:p14="http://schemas.microsoft.com/office/powerpoint/2010/main" val="3320506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67362"/>
          </a:xfrm>
        </p:spPr>
        <p:txBody>
          <a:bodyPr>
            <a:normAutofit/>
          </a:bodyPr>
          <a:lstStyle/>
          <a:p>
            <a:r>
              <a:rPr lang="en-US" b="1" dirty="0"/>
              <a:t>Mobile Application Testing Strategies</a:t>
            </a:r>
            <a:endParaRPr lang="en-US" dirty="0"/>
          </a:p>
        </p:txBody>
      </p:sp>
      <p:sp>
        <p:nvSpPr>
          <p:cNvPr id="3" name="Content Placeholder 2"/>
          <p:cNvSpPr>
            <a:spLocks noGrp="1"/>
          </p:cNvSpPr>
          <p:nvPr>
            <p:ph idx="1"/>
          </p:nvPr>
        </p:nvSpPr>
        <p:spPr>
          <a:xfrm>
            <a:off x="1904214" y="1385740"/>
            <a:ext cx="9600398" cy="5392132"/>
          </a:xfrm>
        </p:spPr>
        <p:txBody>
          <a:bodyPr>
            <a:normAutofit fontScale="92500"/>
          </a:bodyPr>
          <a:lstStyle/>
          <a:p>
            <a:pPr algn="just" fontAlgn="base"/>
            <a:r>
              <a:rPr lang="en-US" b="1" dirty="0"/>
              <a:t>Establish Clear Needs and Objectives</a:t>
            </a:r>
            <a:r>
              <a:rPr lang="en-US" dirty="0"/>
              <a:t>: Clearly state the needs, acceptance criteria, and functional, performance, usability, security, and compatibility requirements for the application.</a:t>
            </a:r>
          </a:p>
          <a:p>
            <a:pPr algn="just" fontAlgn="base"/>
            <a:r>
              <a:rPr lang="en-US" b="1" dirty="0"/>
              <a:t>Testing Early in the Development Lifecycle</a:t>
            </a:r>
            <a:r>
              <a:rPr lang="en-US" dirty="0"/>
              <a:t>: By testing early in the process, problems can be found and fixed more quickly, saving money and effort in later stages of the project.</a:t>
            </a:r>
          </a:p>
          <a:p>
            <a:pPr algn="just" fontAlgn="base"/>
            <a:r>
              <a:rPr lang="en-US" b="1" dirty="0"/>
              <a:t>Test Automation:</a:t>
            </a:r>
            <a:r>
              <a:rPr lang="en-US" dirty="0"/>
              <a:t> To increase productivity, accuracy, and test coverage, automate repetitive and time-consuming tests including performance, functional, and regression testing.</a:t>
            </a:r>
          </a:p>
          <a:p>
            <a:pPr algn="just" fontAlgn="base"/>
            <a:r>
              <a:rPr lang="en-US" b="1" dirty="0"/>
              <a:t>Real-World Testing Scenarios</a:t>
            </a:r>
            <a:r>
              <a:rPr lang="en-US" dirty="0"/>
              <a:t>: Simulate real-world user interactions, network circumstances, device setups, and environmental constraints, such </a:t>
            </a:r>
            <a:r>
              <a:rPr lang="en-US" b="1" dirty="0"/>
              <a:t>as </a:t>
            </a:r>
            <a:r>
              <a:rPr lang="en-US" dirty="0"/>
              <a:t>low battery life, spotty connectivity, or interruptions, while testing the app in real-world settings.</a:t>
            </a:r>
          </a:p>
          <a:p>
            <a:pPr algn="just" fontAlgn="base"/>
            <a:r>
              <a:rPr lang="en-US" b="1" dirty="0"/>
              <a:t>Feedback Mechanisms and Bug Reporting:</a:t>
            </a:r>
            <a:r>
              <a:rPr lang="en-US" dirty="0"/>
              <a:t> Implement feedback mechanisms and bug reporting capabilities in the app so that users may report problems, offer comments, and recommend changes.</a:t>
            </a:r>
          </a:p>
          <a:p>
            <a:pPr algn="just" fontAlgn="base"/>
            <a:r>
              <a:rPr lang="en-US" b="1" dirty="0"/>
              <a:t>Documentation and Reporting</a:t>
            </a:r>
            <a:r>
              <a:rPr lang="en-US" dirty="0"/>
              <a:t>: Test cases, outcomes, and problems observed during testing should all be recorded. Detailed reports should be produced to monitor development, disseminate information, and aid in decision-making.</a:t>
            </a:r>
          </a:p>
          <a:p>
            <a:pPr algn="just"/>
            <a:endParaRPr lang="en-US" dirty="0"/>
          </a:p>
        </p:txBody>
      </p:sp>
    </p:spTree>
    <p:extLst>
      <p:ext uri="{BB962C8B-B14F-4D97-AF65-F5344CB8AC3E}">
        <p14:creationId xmlns:p14="http://schemas.microsoft.com/office/powerpoint/2010/main" val="2672513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2158" y="0"/>
            <a:ext cx="8911687" cy="714496"/>
          </a:xfrm>
        </p:spPr>
        <p:txBody>
          <a:bodyPr>
            <a:normAutofit fontScale="90000"/>
          </a:bodyPr>
          <a:lstStyle/>
          <a:p>
            <a:r>
              <a:rPr lang="en-US" b="1" dirty="0"/>
              <a:t>Types of Mobile Emulator</a:t>
            </a:r>
            <a:br>
              <a:rPr lang="en-US" b="1" dirty="0"/>
            </a:br>
            <a:endParaRPr lang="en-US" dirty="0"/>
          </a:p>
        </p:txBody>
      </p:sp>
      <p:sp>
        <p:nvSpPr>
          <p:cNvPr id="3" name="Content Placeholder 2"/>
          <p:cNvSpPr>
            <a:spLocks noGrp="1"/>
          </p:cNvSpPr>
          <p:nvPr>
            <p:ph idx="1"/>
          </p:nvPr>
        </p:nvSpPr>
        <p:spPr>
          <a:xfrm>
            <a:off x="2589212" y="714496"/>
            <a:ext cx="8915400" cy="6143504"/>
          </a:xfrm>
        </p:spPr>
        <p:txBody>
          <a:bodyPr>
            <a:normAutofit fontScale="85000" lnSpcReduction="20000"/>
          </a:bodyPr>
          <a:lstStyle/>
          <a:p>
            <a:pPr algn="just" fontAlgn="base"/>
            <a:r>
              <a:rPr lang="en-US" b="1" dirty="0"/>
              <a:t>Native Emulators:</a:t>
            </a:r>
            <a:r>
              <a:rPr lang="en-US" dirty="0"/>
              <a:t> </a:t>
            </a:r>
          </a:p>
          <a:p>
            <a:pPr lvl="1" algn="just" fontAlgn="base"/>
            <a:r>
              <a:rPr lang="en-US" dirty="0"/>
              <a:t>These emulators, like </a:t>
            </a:r>
            <a:r>
              <a:rPr lang="en-US" dirty="0" err="1"/>
              <a:t>iOS</a:t>
            </a:r>
            <a:r>
              <a:rPr lang="en-US" dirty="0"/>
              <a:t> Simulator for </a:t>
            </a:r>
            <a:r>
              <a:rPr lang="en-US" dirty="0" err="1"/>
              <a:t>iOS</a:t>
            </a:r>
            <a:r>
              <a:rPr lang="en-US" dirty="0"/>
              <a:t> and Android Virtual Device (AVD) for Android, are offered by the operating system vendors. </a:t>
            </a:r>
          </a:p>
          <a:p>
            <a:pPr lvl="1" algn="just" fontAlgn="base"/>
            <a:r>
              <a:rPr lang="en-US" dirty="0"/>
              <a:t>By providing precise emulations of the corresponding platforms, they enable developers to test apps in a setting that closely mimics actual hardware.</a:t>
            </a:r>
          </a:p>
          <a:p>
            <a:pPr algn="just" fontAlgn="base"/>
            <a:r>
              <a:rPr lang="en-US" b="1" dirty="0"/>
              <a:t>Browser-Based Emulators:</a:t>
            </a:r>
            <a:r>
              <a:rPr lang="en-US" dirty="0"/>
              <a:t> </a:t>
            </a:r>
          </a:p>
          <a:p>
            <a:pPr lvl="1" algn="just" fontAlgn="base"/>
            <a:r>
              <a:rPr lang="en-US" dirty="0"/>
              <a:t>These emulators, which include Sauce Labs and </a:t>
            </a:r>
            <a:r>
              <a:rPr lang="en-US" dirty="0" err="1"/>
              <a:t>BrowserStack</a:t>
            </a:r>
            <a:r>
              <a:rPr lang="en-US" dirty="0"/>
              <a:t>, allow mobile web applications to be tested on a variety of devices and browsers without requiring local installations. </a:t>
            </a:r>
          </a:p>
          <a:p>
            <a:pPr lvl="1" algn="just" fontAlgn="base"/>
            <a:r>
              <a:rPr lang="en-US" dirty="0"/>
              <a:t>They work by simulating mobile devices within web browsers.</a:t>
            </a:r>
          </a:p>
          <a:p>
            <a:pPr algn="just" fontAlgn="base"/>
            <a:r>
              <a:rPr lang="en-US" b="1" dirty="0"/>
              <a:t>Hardware Emulators:</a:t>
            </a:r>
            <a:r>
              <a:rPr lang="en-US" dirty="0"/>
              <a:t> </a:t>
            </a:r>
          </a:p>
          <a:p>
            <a:pPr lvl="1" algn="just" fontAlgn="base"/>
            <a:r>
              <a:rPr lang="en-US" dirty="0"/>
              <a:t>Hardware emulators use hardware virtualization technology to speed up virtualized Android device performance, increasing testing efficiency and speed. </a:t>
            </a:r>
          </a:p>
          <a:p>
            <a:pPr lvl="1" algn="just" fontAlgn="base"/>
            <a:r>
              <a:rPr lang="en-US" dirty="0"/>
              <a:t>One example of such an emulator is Intel Hardware Accelerated Execution Manager (HAXM).</a:t>
            </a:r>
          </a:p>
          <a:p>
            <a:pPr algn="just" fontAlgn="base"/>
            <a:r>
              <a:rPr lang="en-US" b="1" dirty="0" err="1"/>
              <a:t>Appium</a:t>
            </a:r>
            <a:r>
              <a:rPr lang="en-US" b="1" dirty="0"/>
              <a:t> Emulators:</a:t>
            </a:r>
            <a:r>
              <a:rPr lang="en-US" dirty="0"/>
              <a:t> </a:t>
            </a:r>
          </a:p>
          <a:p>
            <a:pPr lvl="1" algn="just" fontAlgn="base"/>
            <a:r>
              <a:rPr lang="en-US" u="sng" dirty="0" err="1">
                <a:hlinkClick r:id="rId2"/>
              </a:rPr>
              <a:t>Appium</a:t>
            </a:r>
            <a:r>
              <a:rPr lang="en-US" u="sng" dirty="0">
                <a:hlinkClick r:id="rId2"/>
              </a:rPr>
              <a:t> </a:t>
            </a:r>
            <a:r>
              <a:rPr lang="en-US" dirty="0"/>
              <a:t>is an open-source test automation framework that offers a uniform interface for testing on </a:t>
            </a:r>
            <a:r>
              <a:rPr lang="en-US" dirty="0" err="1"/>
              <a:t>iOS</a:t>
            </a:r>
            <a:r>
              <a:rPr lang="en-US" dirty="0"/>
              <a:t>, Android, and Windows devices. </a:t>
            </a:r>
          </a:p>
          <a:p>
            <a:pPr lvl="1" algn="just" fontAlgn="base"/>
            <a:r>
              <a:rPr lang="en-US" dirty="0"/>
              <a:t>It allows testing mobile apps utilizing emulators and simulators across several platforms.</a:t>
            </a:r>
          </a:p>
          <a:p>
            <a:pPr algn="just" fontAlgn="base"/>
            <a:r>
              <a:rPr lang="en-US" b="1" dirty="0"/>
              <a:t>Cloud-Based Emulators: </a:t>
            </a:r>
          </a:p>
          <a:p>
            <a:pPr lvl="1" algn="just" fontAlgn="base"/>
            <a:r>
              <a:rPr lang="en-US" dirty="0"/>
              <a:t>These emulators, which include AWS Device Farm and Firebase Test Lab, give developers remote access to a large number of genuine devices that are housed in the cloud. </a:t>
            </a:r>
          </a:p>
          <a:p>
            <a:pPr lvl="1" algn="just" fontAlgn="base"/>
            <a:r>
              <a:rPr lang="en-US" dirty="0"/>
              <a:t>This enables them to do testing on a variety of platforms and device configurations.</a:t>
            </a:r>
          </a:p>
          <a:p>
            <a:pPr algn="just"/>
            <a:endParaRPr lang="en-US" dirty="0"/>
          </a:p>
        </p:txBody>
      </p:sp>
    </p:spTree>
    <p:extLst>
      <p:ext uri="{BB962C8B-B14F-4D97-AF65-F5344CB8AC3E}">
        <p14:creationId xmlns:p14="http://schemas.microsoft.com/office/powerpoint/2010/main" val="56000869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1080</TotalTime>
  <Words>1969</Words>
  <Application>Microsoft Macintosh PowerPoint</Application>
  <PresentationFormat>Widescreen</PresentationFormat>
  <Paragraphs>95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Century Gothic</vt:lpstr>
      <vt:lpstr>Wingdings 3</vt:lpstr>
      <vt:lpstr>Wisp</vt:lpstr>
      <vt:lpstr>Testing Web Based System</vt:lpstr>
      <vt:lpstr>Testing Web Based System</vt:lpstr>
      <vt:lpstr>PowerPoint Presentation</vt:lpstr>
      <vt:lpstr>Types of Software Web Application Testing </vt:lpstr>
      <vt:lpstr>PowerPoint Presentation</vt:lpstr>
      <vt:lpstr>Objectives of Web Based Testing: </vt:lpstr>
      <vt:lpstr>How to Execute Web Based Testing? </vt:lpstr>
      <vt:lpstr>Mobile Application Testing</vt:lpstr>
      <vt:lpstr>Approaches to Test the Mobile Applications</vt:lpstr>
      <vt:lpstr>PowerPoint Presentation</vt:lpstr>
      <vt:lpstr>PowerPoint Presentation</vt:lpstr>
      <vt:lpstr>Types of Mobile Application Testing </vt:lpstr>
      <vt:lpstr>Mobile Application Testing Strategies</vt:lpstr>
      <vt:lpstr>Types of Mobile Emulator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Web Based System</dc:title>
  <dc:creator>dell</dc:creator>
  <cp:lastModifiedBy>Apoorva Karnwal</cp:lastModifiedBy>
  <cp:revision>4</cp:revision>
  <dcterms:created xsi:type="dcterms:W3CDTF">2025-03-24T05:25:02Z</dcterms:created>
  <dcterms:modified xsi:type="dcterms:W3CDTF">2025-05-07T20:36:30Z</dcterms:modified>
</cp:coreProperties>
</file>