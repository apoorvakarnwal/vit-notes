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6" r:id="rId30"/>
    <p:sldId id="287" r:id="rId31"/>
    <p:sldId id="288" r:id="rId32"/>
    <p:sldId id="284" r:id="rId33"/>
    <p:sldId id="28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60" autoAdjust="0"/>
    <p:restoredTop sz="94660"/>
  </p:normalViewPr>
  <p:slideViewPr>
    <p:cSldViewPr snapToGrid="0">
      <p:cViewPr>
        <p:scale>
          <a:sx n="60" d="100"/>
          <a:sy n="60" d="100"/>
        </p:scale>
        <p:origin x="540"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13E50-5075-4EB4-9B76-2A512B5B54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4FA36C-8233-17F7-48EA-3D7663049C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D888CA6-A867-9523-D467-09A84743D49E}"/>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5" name="Footer Placeholder 4">
            <a:extLst>
              <a:ext uri="{FF2B5EF4-FFF2-40B4-BE49-F238E27FC236}">
                <a16:creationId xmlns:a16="http://schemas.microsoft.com/office/drawing/2014/main" id="{BEFEA0C6-3D11-7EC9-9D2B-31E50986FE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8330AE-BB03-664E-4320-A403D906B724}"/>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2340119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D151E-0750-5428-2EE4-C395BF9B73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972033-CAFD-42FB-A761-72360A3927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CDCD3F-93B0-DFBA-6571-ACEF4F4278BD}"/>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5" name="Footer Placeholder 4">
            <a:extLst>
              <a:ext uri="{FF2B5EF4-FFF2-40B4-BE49-F238E27FC236}">
                <a16:creationId xmlns:a16="http://schemas.microsoft.com/office/drawing/2014/main" id="{CE511DEA-0510-3FAB-539D-D8DFA5BB4A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DA5BE0-0859-F7DF-F5E4-EE25DC759D36}"/>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1444980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A8E2B-070E-A762-ABA6-8588FB316D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7D75B8-5EBD-0863-9D3F-D36EF10E50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C83B3C-194B-73FA-A546-9F8B9AC4AEB0}"/>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5" name="Footer Placeholder 4">
            <a:extLst>
              <a:ext uri="{FF2B5EF4-FFF2-40B4-BE49-F238E27FC236}">
                <a16:creationId xmlns:a16="http://schemas.microsoft.com/office/drawing/2014/main" id="{E5723A99-EA6D-B618-F58B-2310FDCDA3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BC559E-873C-1752-2D70-1D0A0FCB7251}"/>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75474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5E2FF-79D4-C74E-B570-E06DA98DA8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2DE1DA-6E08-711E-F12A-B0E509E53C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CFC083-951C-35D0-D923-D3D3FFCEC2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28D9C8-709A-3EC9-5426-AD4ED9BD6938}"/>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6" name="Footer Placeholder 5">
            <a:extLst>
              <a:ext uri="{FF2B5EF4-FFF2-40B4-BE49-F238E27FC236}">
                <a16:creationId xmlns:a16="http://schemas.microsoft.com/office/drawing/2014/main" id="{66612396-0655-FDF1-6FED-921CFAE85A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56BD75-DE77-3613-1E4F-97AFDF3FA8C7}"/>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2987202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F4EED-8B02-F56F-7A92-D6FA6A69A3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0BF61C-01FB-9991-5D37-ECF065A4D8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F6A0EE-D9BD-AF27-61C7-65FED3CD2F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12B091-B213-4483-05F1-44BE2463CB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5FF226-3811-6CC1-417F-338242D1E5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3C16E4F-FE52-AB0C-3F89-DB358159C2F9}"/>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8" name="Footer Placeholder 7">
            <a:extLst>
              <a:ext uri="{FF2B5EF4-FFF2-40B4-BE49-F238E27FC236}">
                <a16:creationId xmlns:a16="http://schemas.microsoft.com/office/drawing/2014/main" id="{997AD527-9D95-B473-84DF-204E5A8949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213978-6A24-D5C3-0B3B-F26AF17BC3D6}"/>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1971311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FA266-8DBC-124B-0D5D-52DD68A1E0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C8B0A7-20F4-ED58-D0BD-6EA74AC49077}"/>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4" name="Footer Placeholder 3">
            <a:extLst>
              <a:ext uri="{FF2B5EF4-FFF2-40B4-BE49-F238E27FC236}">
                <a16:creationId xmlns:a16="http://schemas.microsoft.com/office/drawing/2014/main" id="{8AAC55C8-FA71-B7BF-0F87-3C7ECC62AA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497E34-A350-2700-1F0E-B795F7C79F70}"/>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2551647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C5E5D8-B8D9-090C-1975-C09A4607CD30}"/>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3" name="Footer Placeholder 2">
            <a:extLst>
              <a:ext uri="{FF2B5EF4-FFF2-40B4-BE49-F238E27FC236}">
                <a16:creationId xmlns:a16="http://schemas.microsoft.com/office/drawing/2014/main" id="{F248C2C0-DDC7-8549-BCF5-43CF31EE6A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1E4D3A-3E34-7BA4-6962-E1116C76BF29}"/>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1785679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D0E86-C2ED-42BD-5368-DDC2C33180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EB68CD-9A46-C428-DDD8-2675CBBB92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2427CB-A189-CA0C-E5A2-EF5B37C105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677118-6215-7C94-4E78-D3FF03CCB9A8}"/>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6" name="Footer Placeholder 5">
            <a:extLst>
              <a:ext uri="{FF2B5EF4-FFF2-40B4-BE49-F238E27FC236}">
                <a16:creationId xmlns:a16="http://schemas.microsoft.com/office/drawing/2014/main" id="{B24DA70D-5E80-FD37-CFD4-0BC5BFD3B4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C0E9EA-3648-7F7F-14F5-3207EEEA7E32}"/>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3090361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2ACD0-764D-75D8-9352-12B78A318D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BDB95A-C6A9-366A-76D2-76AF428DA5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51F94F-CE14-72DA-55D5-D83BD382BC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F57FF-5485-10A1-9BC1-DF5AA14B8428}"/>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6" name="Footer Placeholder 5">
            <a:extLst>
              <a:ext uri="{FF2B5EF4-FFF2-40B4-BE49-F238E27FC236}">
                <a16:creationId xmlns:a16="http://schemas.microsoft.com/office/drawing/2014/main" id="{DD3F9FCF-F6EE-EA6A-078B-47B4BE9F63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156EE8-1C19-C3B2-104F-DC583DF4A60E}"/>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1749505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4F6A-3E25-4A98-D2C9-564DD6BD95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72E178-BB41-C84F-1231-B1853DC239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B8602F-95A7-4423-A3BB-B6CEEA04EE54}"/>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5" name="Footer Placeholder 4">
            <a:extLst>
              <a:ext uri="{FF2B5EF4-FFF2-40B4-BE49-F238E27FC236}">
                <a16:creationId xmlns:a16="http://schemas.microsoft.com/office/drawing/2014/main" id="{E7A213B6-688E-DB83-6853-2CFF9696F4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2878B2-5B29-8422-AD7D-38E74D861A19}"/>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243109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91D9AE-A5B7-8AA6-841A-05FA3DE2EB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1D5714-4F6D-8BF4-CF49-66A0AC35DF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D714F7-9793-C332-BBCC-52D1CEE7C613}"/>
              </a:ext>
            </a:extLst>
          </p:cNvPr>
          <p:cNvSpPr>
            <a:spLocks noGrp="1"/>
          </p:cNvSpPr>
          <p:nvPr>
            <p:ph type="dt" sz="half" idx="10"/>
          </p:nvPr>
        </p:nvSpPr>
        <p:spPr/>
        <p:txBody>
          <a:bodyPr/>
          <a:lstStyle/>
          <a:p>
            <a:fld id="{9C4E4E1E-22D9-4CE8-8495-7D0C6ACD61A5}" type="datetimeFigureOut">
              <a:rPr lang="en-IN" smtClean="0"/>
              <a:t>20-01-2025</a:t>
            </a:fld>
            <a:endParaRPr lang="en-IN"/>
          </a:p>
        </p:txBody>
      </p:sp>
      <p:sp>
        <p:nvSpPr>
          <p:cNvPr id="5" name="Footer Placeholder 4">
            <a:extLst>
              <a:ext uri="{FF2B5EF4-FFF2-40B4-BE49-F238E27FC236}">
                <a16:creationId xmlns:a16="http://schemas.microsoft.com/office/drawing/2014/main" id="{27474D4A-68C1-E0E3-B329-E27A2CD545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DC0AB1-A80E-4BF4-7BD0-3809276A9831}"/>
              </a:ext>
            </a:extLst>
          </p:cNvPr>
          <p:cNvSpPr>
            <a:spLocks noGrp="1"/>
          </p:cNvSpPr>
          <p:nvPr>
            <p:ph type="sldNum" sz="quarter" idx="12"/>
          </p:nvPr>
        </p:nvSpPr>
        <p:spPr/>
        <p:txBody>
          <a:bodyPr/>
          <a:lstStyle/>
          <a:p>
            <a:fld id="{0B68C606-4FC3-4133-896C-048BADCE467C}" type="slidenum">
              <a:rPr lang="en-IN" smtClean="0"/>
              <a:t>‹#›</a:t>
            </a:fld>
            <a:endParaRPr lang="en-IN"/>
          </a:p>
        </p:txBody>
      </p:sp>
    </p:spTree>
    <p:extLst>
      <p:ext uri="{BB962C8B-B14F-4D97-AF65-F5344CB8AC3E}">
        <p14:creationId xmlns:p14="http://schemas.microsoft.com/office/powerpoint/2010/main" val="4084527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72E71F-3E4B-5116-3319-9257BF1A0D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CF0ACB-9FEE-9A99-FD6A-00D1213E91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8D2A33-F537-57D7-00DD-25C3D1C4CB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E4E1E-22D9-4CE8-8495-7D0C6ACD61A5}" type="datetimeFigureOut">
              <a:rPr lang="en-IN" smtClean="0"/>
              <a:t>20-01-2025</a:t>
            </a:fld>
            <a:endParaRPr lang="en-IN"/>
          </a:p>
        </p:txBody>
      </p:sp>
      <p:sp>
        <p:nvSpPr>
          <p:cNvPr id="5" name="Footer Placeholder 4">
            <a:extLst>
              <a:ext uri="{FF2B5EF4-FFF2-40B4-BE49-F238E27FC236}">
                <a16:creationId xmlns:a16="http://schemas.microsoft.com/office/drawing/2014/main" id="{D8E7735A-18BA-C798-F77C-CAA46D6D94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DE0E77-D333-F5C8-D9A7-AFBB0B7516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68C606-4FC3-4133-896C-048BADCE467C}" type="slidenum">
              <a:rPr lang="en-IN" smtClean="0"/>
              <a:t>‹#›</a:t>
            </a:fld>
            <a:endParaRPr lang="en-IN"/>
          </a:p>
        </p:txBody>
      </p:sp>
    </p:spTree>
    <p:extLst>
      <p:ext uri="{BB962C8B-B14F-4D97-AF65-F5344CB8AC3E}">
        <p14:creationId xmlns:p14="http://schemas.microsoft.com/office/powerpoint/2010/main" val="1369425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6A51F-42AD-8BE8-507A-3F8839806610}"/>
              </a:ext>
            </a:extLst>
          </p:cNvPr>
          <p:cNvSpPr>
            <a:spLocks noGrp="1"/>
          </p:cNvSpPr>
          <p:nvPr>
            <p:ph type="ctrTitle"/>
          </p:nvPr>
        </p:nvSpPr>
        <p:spPr/>
        <p:txBody>
          <a:bodyPr/>
          <a:lstStyle/>
          <a:p>
            <a:r>
              <a:rPr lang="en-IN" dirty="0"/>
              <a:t>Module 3: Modelling Requirements</a:t>
            </a:r>
          </a:p>
        </p:txBody>
      </p:sp>
      <p:sp>
        <p:nvSpPr>
          <p:cNvPr id="3" name="Subtitle 2">
            <a:extLst>
              <a:ext uri="{FF2B5EF4-FFF2-40B4-BE49-F238E27FC236}">
                <a16:creationId xmlns:a16="http://schemas.microsoft.com/office/drawing/2014/main" id="{3128FE66-A379-4EE7-7F77-B256DBC14863}"/>
              </a:ext>
            </a:extLst>
          </p:cNvPr>
          <p:cNvSpPr>
            <a:spLocks noGrp="1"/>
          </p:cNvSpPr>
          <p:nvPr>
            <p:ph type="subTitle" idx="1"/>
          </p:nvPr>
        </p:nvSpPr>
        <p:spPr/>
        <p:txBody>
          <a:bodyPr/>
          <a:lstStyle/>
          <a:p>
            <a:pPr algn="r"/>
            <a:r>
              <a:rPr lang="en-US" sz="1800" b="0" i="0" u="none" strike="noStrike" baseline="0" dirty="0">
                <a:latin typeface="CIDFont+F2"/>
              </a:rPr>
              <a:t>Software requirements and its types, </a:t>
            </a:r>
          </a:p>
          <a:p>
            <a:pPr algn="r"/>
            <a:r>
              <a:rPr lang="en-US" sz="1800" b="0" i="0" u="none" strike="noStrike" baseline="0" dirty="0">
                <a:latin typeface="CIDFont+F2"/>
              </a:rPr>
              <a:t>Requirements Engineering process, </a:t>
            </a:r>
          </a:p>
          <a:p>
            <a:pPr algn="r"/>
            <a:r>
              <a:rPr lang="en-US" sz="1800" b="0" i="0" u="none" strike="noStrike" baseline="0" dirty="0">
                <a:latin typeface="CIDFont+F2"/>
              </a:rPr>
              <a:t>Requirement</a:t>
            </a:r>
            <a:r>
              <a:rPr lang="en-US" sz="1800" dirty="0">
                <a:latin typeface="CIDFont+F2"/>
              </a:rPr>
              <a:t> </a:t>
            </a:r>
            <a:r>
              <a:rPr lang="en-IN" sz="1800" b="0" i="0" u="none" strike="noStrike" baseline="0" dirty="0">
                <a:latin typeface="CIDFont+F2"/>
              </a:rPr>
              <a:t>Elicitation</a:t>
            </a:r>
            <a:endParaRPr lang="en-IN" dirty="0"/>
          </a:p>
        </p:txBody>
      </p:sp>
      <p:sp>
        <p:nvSpPr>
          <p:cNvPr id="4" name="TextBox 3">
            <a:extLst>
              <a:ext uri="{FF2B5EF4-FFF2-40B4-BE49-F238E27FC236}">
                <a16:creationId xmlns:a16="http://schemas.microsoft.com/office/drawing/2014/main" id="{E0D7F4E6-53B0-E48C-D5B1-5B4876F80EF7}"/>
              </a:ext>
            </a:extLst>
          </p:cNvPr>
          <p:cNvSpPr txBox="1"/>
          <p:nvPr/>
        </p:nvSpPr>
        <p:spPr>
          <a:xfrm>
            <a:off x="827314" y="3744685"/>
            <a:ext cx="3508076" cy="923330"/>
          </a:xfrm>
          <a:prstGeom prst="rect">
            <a:avLst/>
          </a:prstGeom>
          <a:noFill/>
        </p:spPr>
        <p:txBody>
          <a:bodyPr wrap="none" rtlCol="0">
            <a:spAutoFit/>
          </a:bodyPr>
          <a:lstStyle/>
          <a:p>
            <a:r>
              <a:rPr lang="en-IN" sz="1800" b="1" i="0" u="none" strike="noStrike" baseline="0" dirty="0">
                <a:solidFill>
                  <a:srgbClr val="000000"/>
                </a:solidFill>
                <a:latin typeface="MetaPlusNormal-Roman"/>
              </a:rPr>
              <a:t>Book</a:t>
            </a:r>
            <a:r>
              <a:rPr lang="en-IN" sz="1800" b="0" i="0" u="none" strike="noStrike" baseline="0" dirty="0">
                <a:solidFill>
                  <a:srgbClr val="000000"/>
                </a:solidFill>
                <a:latin typeface="MetaPlusNormal-Roman"/>
              </a:rPr>
              <a:t>: </a:t>
            </a:r>
            <a:r>
              <a:rPr lang="en-US" sz="1800" b="0" i="0" u="none" strike="noStrike" baseline="0" dirty="0">
                <a:solidFill>
                  <a:srgbClr val="000000"/>
                </a:solidFill>
                <a:latin typeface="MetaPlusNormal-Roman"/>
              </a:rPr>
              <a:t>Software Engineering</a:t>
            </a:r>
          </a:p>
          <a:p>
            <a:r>
              <a:rPr lang="en-US" sz="1800" b="0" i="0" u="none" strike="noStrike" baseline="0" dirty="0">
                <a:solidFill>
                  <a:srgbClr val="000000"/>
                </a:solidFill>
                <a:latin typeface="MetaPlusNormal-Roman"/>
              </a:rPr>
              <a:t>Eighth Edition, Ian Sommerville</a:t>
            </a:r>
            <a:endParaRPr lang="en-IN" sz="1800" b="0" i="0" u="none" strike="noStrike" baseline="0" dirty="0">
              <a:solidFill>
                <a:srgbClr val="000000"/>
              </a:solidFill>
              <a:latin typeface="MetaPlusNormal-Roman"/>
            </a:endParaRPr>
          </a:p>
          <a:p>
            <a:r>
              <a:rPr lang="en-IN" sz="1800" b="1" i="0" u="none" strike="noStrike" baseline="0" dirty="0">
                <a:solidFill>
                  <a:srgbClr val="000000"/>
                </a:solidFill>
                <a:latin typeface="MetaPlusNormal-Roman"/>
              </a:rPr>
              <a:t>Chapter </a:t>
            </a:r>
            <a:r>
              <a:rPr lang="en-IN" sz="1800" b="1" i="0" u="none" strike="noStrike" baseline="0" dirty="0">
                <a:solidFill>
                  <a:srgbClr val="000000"/>
                </a:solidFill>
                <a:latin typeface="MetaPlusNormal-Caps"/>
              </a:rPr>
              <a:t>6</a:t>
            </a:r>
            <a:r>
              <a:rPr lang="en-IN" sz="1800" b="0" i="0" u="none" strike="noStrike" baseline="0" dirty="0">
                <a:solidFill>
                  <a:srgbClr val="000000"/>
                </a:solidFill>
                <a:latin typeface="MetaPlusNormal-Caps"/>
              </a:rPr>
              <a:t> </a:t>
            </a:r>
            <a:r>
              <a:rPr lang="en-IN" sz="1800" b="0" i="0" u="none" strike="noStrike" baseline="0" dirty="0">
                <a:solidFill>
                  <a:srgbClr val="80FFFF"/>
                </a:solidFill>
                <a:latin typeface="ZapfDingbats"/>
              </a:rPr>
              <a:t>■ </a:t>
            </a:r>
            <a:r>
              <a:rPr lang="en-IN" sz="1800" b="0" i="0" u="none" strike="noStrike" baseline="0" dirty="0">
                <a:solidFill>
                  <a:srgbClr val="000000"/>
                </a:solidFill>
                <a:latin typeface="MetaPlusNormal-Roman"/>
              </a:rPr>
              <a:t>Software requirements</a:t>
            </a:r>
            <a:endParaRPr lang="en-IN" dirty="0"/>
          </a:p>
        </p:txBody>
      </p:sp>
    </p:spTree>
    <p:extLst>
      <p:ext uri="{BB962C8B-B14F-4D97-AF65-F5344CB8AC3E}">
        <p14:creationId xmlns:p14="http://schemas.microsoft.com/office/powerpoint/2010/main" val="2452750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83759-CE4A-34E9-1087-0D34488D1365}"/>
              </a:ext>
            </a:extLst>
          </p:cNvPr>
          <p:cNvSpPr>
            <a:spLocks noGrp="1"/>
          </p:cNvSpPr>
          <p:nvPr>
            <p:ph type="title"/>
          </p:nvPr>
        </p:nvSpPr>
        <p:spPr>
          <a:xfrm>
            <a:off x="838200" y="365125"/>
            <a:ext cx="10515600" cy="788761"/>
          </a:xfrm>
        </p:spPr>
        <p:txBody>
          <a:bodyPr/>
          <a:lstStyle/>
          <a:p>
            <a:r>
              <a:rPr lang="en-IN" dirty="0"/>
              <a:t>Requirements Engineering</a:t>
            </a:r>
          </a:p>
        </p:txBody>
      </p:sp>
      <p:sp>
        <p:nvSpPr>
          <p:cNvPr id="3" name="Content Placeholder 2">
            <a:extLst>
              <a:ext uri="{FF2B5EF4-FFF2-40B4-BE49-F238E27FC236}">
                <a16:creationId xmlns:a16="http://schemas.microsoft.com/office/drawing/2014/main" id="{79477ABF-4EF5-BBCB-489C-C9760B871E0E}"/>
              </a:ext>
            </a:extLst>
          </p:cNvPr>
          <p:cNvSpPr>
            <a:spLocks noGrp="1"/>
          </p:cNvSpPr>
          <p:nvPr>
            <p:ph idx="1"/>
          </p:nvPr>
        </p:nvSpPr>
        <p:spPr>
          <a:xfrm>
            <a:off x="838200" y="1273629"/>
            <a:ext cx="10515600" cy="4903334"/>
          </a:xfrm>
        </p:spPr>
        <p:txBody>
          <a:bodyPr>
            <a:normAutofit/>
          </a:bodyPr>
          <a:lstStyle/>
          <a:p>
            <a:r>
              <a:rPr lang="en-US" dirty="0"/>
              <a:t>The process of finding out, </a:t>
            </a:r>
            <a:r>
              <a:rPr lang="en-US" dirty="0">
                <a:solidFill>
                  <a:srgbClr val="FF0000"/>
                </a:solidFill>
              </a:rPr>
              <a:t>analyzing</a:t>
            </a:r>
            <a:r>
              <a:rPr lang="en-US" dirty="0"/>
              <a:t>, </a:t>
            </a:r>
            <a:r>
              <a:rPr lang="en-US" dirty="0">
                <a:solidFill>
                  <a:srgbClr val="FF0000"/>
                </a:solidFill>
              </a:rPr>
              <a:t>documenting</a:t>
            </a:r>
            <a:r>
              <a:rPr lang="en-US" dirty="0"/>
              <a:t>, and checking these services and constraints is called requirements engineering (RE).</a:t>
            </a:r>
            <a:endParaRPr lang="en-IN" dirty="0"/>
          </a:p>
          <a:p>
            <a:pPr algn="l"/>
            <a:r>
              <a:rPr lang="en-IN" b="1" i="0" u="none" strike="noStrike" baseline="0" dirty="0"/>
              <a:t>Requirements engineering </a:t>
            </a:r>
            <a:r>
              <a:rPr lang="en-US" b="0" i="0" u="none" strike="noStrike" baseline="0" dirty="0"/>
              <a:t>is concerned with establishing what the </a:t>
            </a:r>
            <a:r>
              <a:rPr lang="en-US" b="0" i="0" u="none" strike="noStrike" baseline="0" dirty="0">
                <a:solidFill>
                  <a:srgbClr val="FF0000"/>
                </a:solidFill>
              </a:rPr>
              <a:t>system should do</a:t>
            </a:r>
            <a:r>
              <a:rPr lang="en-US" b="0" i="0" u="none" strike="noStrike" baseline="0" dirty="0"/>
              <a:t>, its </a:t>
            </a:r>
            <a:r>
              <a:rPr lang="en-US" b="0" i="0" u="none" strike="noStrike" baseline="0" dirty="0">
                <a:solidFill>
                  <a:srgbClr val="FF0000"/>
                </a:solidFill>
              </a:rPr>
              <a:t>desired and essential properties</a:t>
            </a:r>
            <a:r>
              <a:rPr lang="en-US" b="0" i="0" u="none" strike="noStrike" baseline="0" dirty="0"/>
              <a:t>, and the </a:t>
            </a:r>
            <a:r>
              <a:rPr lang="en-US" b="0" i="0" u="none" strike="noStrike" baseline="0" dirty="0">
                <a:solidFill>
                  <a:srgbClr val="FF0000"/>
                </a:solidFill>
              </a:rPr>
              <a:t>constraints on system operation </a:t>
            </a:r>
            <a:r>
              <a:rPr lang="en-US" b="0" i="0" u="none" strike="noStrike" baseline="0" dirty="0"/>
              <a:t>and the software development processes. </a:t>
            </a:r>
          </a:p>
          <a:p>
            <a:pPr algn="l"/>
            <a:r>
              <a:rPr lang="en-US" b="0" i="0" u="none" strike="noStrike" baseline="0" dirty="0"/>
              <a:t>You can therefore think of requirements engineering as the </a:t>
            </a:r>
            <a:r>
              <a:rPr lang="en-US" b="0" i="0" u="none" strike="noStrike" baseline="0" dirty="0">
                <a:solidFill>
                  <a:srgbClr val="FF0000"/>
                </a:solidFill>
              </a:rPr>
              <a:t>communications</a:t>
            </a:r>
            <a:r>
              <a:rPr lang="en-US" b="0" i="0" u="none" strike="noStrike" baseline="0" dirty="0"/>
              <a:t> process between the software </a:t>
            </a:r>
            <a:r>
              <a:rPr lang="en-US" b="0" i="0" u="none" strike="noStrike" baseline="0" dirty="0">
                <a:solidFill>
                  <a:srgbClr val="FF0000"/>
                </a:solidFill>
              </a:rPr>
              <a:t>customers</a:t>
            </a:r>
            <a:r>
              <a:rPr lang="en-US" b="0" i="0" u="none" strike="noStrike" baseline="0" dirty="0"/>
              <a:t> and users and the software </a:t>
            </a:r>
            <a:r>
              <a:rPr lang="en-US" b="0" i="0" u="none" strike="noStrike" baseline="0" dirty="0">
                <a:solidFill>
                  <a:srgbClr val="FF0000"/>
                </a:solidFill>
              </a:rPr>
              <a:t>developers</a:t>
            </a:r>
            <a:r>
              <a:rPr lang="en-US" b="0" i="0" u="none" strike="noStrike" baseline="0" dirty="0"/>
              <a:t>.</a:t>
            </a:r>
            <a:endParaRPr lang="en-IN" dirty="0"/>
          </a:p>
        </p:txBody>
      </p:sp>
    </p:spTree>
    <p:extLst>
      <p:ext uri="{BB962C8B-B14F-4D97-AF65-F5344CB8AC3E}">
        <p14:creationId xmlns:p14="http://schemas.microsoft.com/office/powerpoint/2010/main" val="1000220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5BB6A-30B1-BF90-C7E0-32891FBEB4ED}"/>
              </a:ext>
            </a:extLst>
          </p:cNvPr>
          <p:cNvSpPr>
            <a:spLocks noGrp="1"/>
          </p:cNvSpPr>
          <p:nvPr>
            <p:ph type="title"/>
          </p:nvPr>
        </p:nvSpPr>
        <p:spPr>
          <a:xfrm>
            <a:off x="838200" y="97971"/>
            <a:ext cx="10515600" cy="718459"/>
          </a:xfrm>
        </p:spPr>
        <p:txBody>
          <a:bodyPr>
            <a:normAutofit/>
          </a:bodyPr>
          <a:lstStyle/>
          <a:p>
            <a:r>
              <a:rPr lang="en-IN" dirty="0"/>
              <a:t>What is a requirement?</a:t>
            </a:r>
          </a:p>
        </p:txBody>
      </p:sp>
      <p:sp>
        <p:nvSpPr>
          <p:cNvPr id="3" name="Content Placeholder 2">
            <a:extLst>
              <a:ext uri="{FF2B5EF4-FFF2-40B4-BE49-F238E27FC236}">
                <a16:creationId xmlns:a16="http://schemas.microsoft.com/office/drawing/2014/main" id="{DDA19C4F-2FA0-A5E6-7175-405887FD7DDA}"/>
              </a:ext>
            </a:extLst>
          </p:cNvPr>
          <p:cNvSpPr>
            <a:spLocks noGrp="1"/>
          </p:cNvSpPr>
          <p:nvPr>
            <p:ph idx="1"/>
          </p:nvPr>
        </p:nvSpPr>
        <p:spPr>
          <a:xfrm>
            <a:off x="838200" y="1088571"/>
            <a:ext cx="10515600" cy="5088392"/>
          </a:xfrm>
        </p:spPr>
        <p:txBody>
          <a:bodyPr/>
          <a:lstStyle/>
          <a:p>
            <a:r>
              <a:rPr lang="en-GB" sz="2800" dirty="0"/>
              <a:t>It may range from a </a:t>
            </a:r>
            <a:r>
              <a:rPr lang="en-GB" sz="2800" b="1" dirty="0">
                <a:solidFill>
                  <a:srgbClr val="FF0000"/>
                </a:solidFill>
              </a:rPr>
              <a:t>high-level abstract statement </a:t>
            </a:r>
            <a:r>
              <a:rPr lang="en-GB" sz="2800" dirty="0"/>
              <a:t>of a </a:t>
            </a:r>
            <a:r>
              <a:rPr lang="en-GB" sz="2800" dirty="0">
                <a:solidFill>
                  <a:srgbClr val="FF0000"/>
                </a:solidFill>
              </a:rPr>
              <a:t>service</a:t>
            </a:r>
            <a:r>
              <a:rPr lang="en-GB" sz="2800" dirty="0"/>
              <a:t> or of a </a:t>
            </a:r>
            <a:r>
              <a:rPr lang="en-GB" sz="2800" dirty="0">
                <a:solidFill>
                  <a:srgbClr val="FF0000"/>
                </a:solidFill>
              </a:rPr>
              <a:t>system</a:t>
            </a:r>
            <a:r>
              <a:rPr lang="en-GB" dirty="0">
                <a:solidFill>
                  <a:srgbClr val="FF0000"/>
                </a:solidFill>
              </a:rPr>
              <a:t>, </a:t>
            </a:r>
            <a:r>
              <a:rPr lang="en-GB" sz="2800" dirty="0"/>
              <a:t>constraint to a </a:t>
            </a:r>
            <a:r>
              <a:rPr lang="en-GB" sz="2800" b="1" dirty="0"/>
              <a:t>detailed mathematical functional specification</a:t>
            </a:r>
            <a:r>
              <a:rPr lang="en-GB" sz="2800" dirty="0"/>
              <a:t>.</a:t>
            </a:r>
          </a:p>
          <a:p>
            <a:endParaRPr lang="en-IN" dirty="0"/>
          </a:p>
        </p:txBody>
      </p:sp>
      <p:sp>
        <p:nvSpPr>
          <p:cNvPr id="4" name="TextBox 3">
            <a:extLst>
              <a:ext uri="{FF2B5EF4-FFF2-40B4-BE49-F238E27FC236}">
                <a16:creationId xmlns:a16="http://schemas.microsoft.com/office/drawing/2014/main" id="{155A6A40-949C-52D5-4CAF-3F226FEF82D0}"/>
              </a:ext>
            </a:extLst>
          </p:cNvPr>
          <p:cNvSpPr txBox="1"/>
          <p:nvPr/>
        </p:nvSpPr>
        <p:spPr>
          <a:xfrm>
            <a:off x="4386943" y="2686538"/>
            <a:ext cx="3418114" cy="523220"/>
          </a:xfrm>
          <a:prstGeom prst="rect">
            <a:avLst/>
          </a:prstGeom>
          <a:noFill/>
        </p:spPr>
        <p:txBody>
          <a:bodyPr wrap="square" rtlCol="0">
            <a:spAutoFit/>
          </a:bodyPr>
          <a:lstStyle/>
          <a:p>
            <a:r>
              <a:rPr lang="en-GB" sz="2800" dirty="0"/>
              <a:t>Types of requirement</a:t>
            </a:r>
            <a:endParaRPr lang="en-IN" sz="2800" dirty="0"/>
          </a:p>
        </p:txBody>
      </p:sp>
      <p:cxnSp>
        <p:nvCxnSpPr>
          <p:cNvPr id="10" name="Straight Arrow Connector 9">
            <a:extLst>
              <a:ext uri="{FF2B5EF4-FFF2-40B4-BE49-F238E27FC236}">
                <a16:creationId xmlns:a16="http://schemas.microsoft.com/office/drawing/2014/main" id="{189A7E9E-5663-A565-7A89-7DB5D9B26B59}"/>
              </a:ext>
            </a:extLst>
          </p:cNvPr>
          <p:cNvCxnSpPr>
            <a:stCxn id="4" idx="2"/>
          </p:cNvCxnSpPr>
          <p:nvPr/>
        </p:nvCxnSpPr>
        <p:spPr>
          <a:xfrm flipH="1">
            <a:off x="3864429" y="3209758"/>
            <a:ext cx="2231571" cy="676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693065F-2D64-0F3A-671D-62DEEE47433E}"/>
              </a:ext>
            </a:extLst>
          </p:cNvPr>
          <p:cNvCxnSpPr>
            <a:cxnSpLocks/>
          </p:cNvCxnSpPr>
          <p:nvPr/>
        </p:nvCxnSpPr>
        <p:spPr>
          <a:xfrm>
            <a:off x="6357257" y="3209758"/>
            <a:ext cx="2275114" cy="676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352BD50-1776-80CC-4165-376FAADB2AB7}"/>
              </a:ext>
            </a:extLst>
          </p:cNvPr>
          <p:cNvSpPr txBox="1"/>
          <p:nvPr/>
        </p:nvSpPr>
        <p:spPr>
          <a:xfrm>
            <a:off x="859971" y="3886200"/>
            <a:ext cx="3526972" cy="1938992"/>
          </a:xfrm>
          <a:prstGeom prst="rect">
            <a:avLst/>
          </a:prstGeom>
          <a:noFill/>
        </p:spPr>
        <p:txBody>
          <a:bodyPr wrap="square" rtlCol="0">
            <a:spAutoFit/>
          </a:bodyPr>
          <a:lstStyle/>
          <a:p>
            <a:pPr algn="l"/>
            <a:r>
              <a:rPr lang="en-US" sz="2000" b="1" i="1" u="none" strike="noStrike" baseline="0" dirty="0">
                <a:latin typeface="Times-Italic"/>
              </a:rPr>
              <a:t>User requirements</a:t>
            </a:r>
            <a:r>
              <a:rPr lang="en-US" sz="2000" i="1" u="none" strike="noStrike" baseline="0" dirty="0">
                <a:latin typeface="Times-Italic"/>
              </a:rPr>
              <a:t> </a:t>
            </a:r>
            <a:r>
              <a:rPr lang="en-US" sz="2000" i="0" u="none" strike="noStrike" baseline="0" dirty="0">
                <a:latin typeface="Times-Roman"/>
              </a:rPr>
              <a:t>are statements, in a natural language plus diagrams, of what services the system is expected to provide and the constraints under which it </a:t>
            </a:r>
            <a:r>
              <a:rPr lang="en-IN" sz="2000" i="0" u="none" strike="noStrike" baseline="0" dirty="0">
                <a:latin typeface="Times-Roman"/>
              </a:rPr>
              <a:t>must operate.</a:t>
            </a:r>
            <a:endParaRPr lang="en-IN" sz="2000" dirty="0"/>
          </a:p>
        </p:txBody>
      </p:sp>
      <p:sp>
        <p:nvSpPr>
          <p:cNvPr id="19" name="TextBox 18">
            <a:extLst>
              <a:ext uri="{FF2B5EF4-FFF2-40B4-BE49-F238E27FC236}">
                <a16:creationId xmlns:a16="http://schemas.microsoft.com/office/drawing/2014/main" id="{D5B5BDDE-B380-727D-6601-05109D330B88}"/>
              </a:ext>
            </a:extLst>
          </p:cNvPr>
          <p:cNvSpPr txBox="1"/>
          <p:nvPr/>
        </p:nvSpPr>
        <p:spPr>
          <a:xfrm>
            <a:off x="6553200" y="3907324"/>
            <a:ext cx="5148943" cy="2246769"/>
          </a:xfrm>
          <a:prstGeom prst="rect">
            <a:avLst/>
          </a:prstGeom>
          <a:noFill/>
        </p:spPr>
        <p:txBody>
          <a:bodyPr wrap="square" rtlCol="0">
            <a:spAutoFit/>
          </a:bodyPr>
          <a:lstStyle/>
          <a:p>
            <a:pPr algn="l"/>
            <a:r>
              <a:rPr lang="en-US" sz="2000" b="1" i="1" u="none" strike="noStrike" baseline="0" dirty="0">
                <a:latin typeface="Times-Italic"/>
              </a:rPr>
              <a:t>System requirements </a:t>
            </a:r>
            <a:r>
              <a:rPr lang="en-US" sz="2000" b="0" i="0" u="none" strike="noStrike" baseline="0" dirty="0">
                <a:latin typeface="Times-Roman"/>
              </a:rPr>
              <a:t>set out the </a:t>
            </a:r>
            <a:r>
              <a:rPr lang="en-US" sz="2000" b="0" i="0" u="none" strike="noStrike" baseline="0" dirty="0">
                <a:solidFill>
                  <a:srgbClr val="FF0000"/>
                </a:solidFill>
                <a:latin typeface="Times-Roman"/>
              </a:rPr>
              <a:t>system’s functions, services and operational constraints </a:t>
            </a:r>
            <a:r>
              <a:rPr lang="en-US" sz="2000" b="0" i="0" u="none" strike="noStrike" baseline="0" dirty="0">
                <a:latin typeface="Times-Roman"/>
              </a:rPr>
              <a:t>in detail. The system requirements document should define exactly what is to be implemented. It may be part of the contract between the system buyer and </a:t>
            </a:r>
            <a:r>
              <a:rPr lang="en-IN" sz="2000" b="0" i="0" u="none" strike="noStrike" baseline="0" dirty="0">
                <a:latin typeface="Times-Roman"/>
              </a:rPr>
              <a:t>the software developers.</a:t>
            </a:r>
            <a:endParaRPr lang="en-IN" sz="2000" dirty="0"/>
          </a:p>
        </p:txBody>
      </p:sp>
    </p:spTree>
    <p:extLst>
      <p:ext uri="{BB962C8B-B14F-4D97-AF65-F5344CB8AC3E}">
        <p14:creationId xmlns:p14="http://schemas.microsoft.com/office/powerpoint/2010/main" val="3461263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28807-7C31-5D9A-654E-83E567788AAC}"/>
              </a:ext>
            </a:extLst>
          </p:cNvPr>
          <p:cNvSpPr>
            <a:spLocks noGrp="1"/>
          </p:cNvSpPr>
          <p:nvPr>
            <p:ph type="title"/>
          </p:nvPr>
        </p:nvSpPr>
        <p:spPr>
          <a:xfrm>
            <a:off x="293914" y="0"/>
            <a:ext cx="11059886" cy="751114"/>
          </a:xfrm>
        </p:spPr>
        <p:txBody>
          <a:bodyPr/>
          <a:lstStyle/>
          <a:p>
            <a:r>
              <a:rPr lang="en-IN" b="1" dirty="0"/>
              <a:t>Example 1</a:t>
            </a:r>
          </a:p>
        </p:txBody>
      </p:sp>
      <p:pic>
        <p:nvPicPr>
          <p:cNvPr id="5" name="Content Placeholder 4">
            <a:extLst>
              <a:ext uri="{FF2B5EF4-FFF2-40B4-BE49-F238E27FC236}">
                <a16:creationId xmlns:a16="http://schemas.microsoft.com/office/drawing/2014/main" id="{45198D2B-5CB3-443C-5368-5C560D95B9BC}"/>
              </a:ext>
            </a:extLst>
          </p:cNvPr>
          <p:cNvPicPr>
            <a:picLocks noGrp="1" noChangeAspect="1"/>
          </p:cNvPicPr>
          <p:nvPr>
            <p:ph idx="1"/>
          </p:nvPr>
        </p:nvPicPr>
        <p:blipFill>
          <a:blip r:embed="rId2"/>
          <a:stretch>
            <a:fillRect/>
          </a:stretch>
        </p:blipFill>
        <p:spPr>
          <a:xfrm>
            <a:off x="119743" y="751114"/>
            <a:ext cx="8360228" cy="5998029"/>
          </a:xfrm>
        </p:spPr>
      </p:pic>
      <p:sp>
        <p:nvSpPr>
          <p:cNvPr id="6" name="TextBox 5">
            <a:extLst>
              <a:ext uri="{FF2B5EF4-FFF2-40B4-BE49-F238E27FC236}">
                <a16:creationId xmlns:a16="http://schemas.microsoft.com/office/drawing/2014/main" id="{98179E07-4D87-2000-A929-18C9D6297C6E}"/>
              </a:ext>
            </a:extLst>
          </p:cNvPr>
          <p:cNvSpPr txBox="1"/>
          <p:nvPr/>
        </p:nvSpPr>
        <p:spPr>
          <a:xfrm>
            <a:off x="8164777" y="375557"/>
            <a:ext cx="3907480" cy="2862322"/>
          </a:xfrm>
          <a:prstGeom prst="rect">
            <a:avLst/>
          </a:prstGeom>
          <a:noFill/>
        </p:spPr>
        <p:txBody>
          <a:bodyPr wrap="square" rtlCol="0">
            <a:spAutoFit/>
          </a:bodyPr>
          <a:lstStyle/>
          <a:p>
            <a:pPr algn="l"/>
            <a:r>
              <a:rPr lang="en-US" sz="1800" b="0" i="0" u="none" strike="noStrike" baseline="0" dirty="0">
                <a:latin typeface="Times-Roman"/>
              </a:rPr>
              <a:t>This example from a library system</a:t>
            </a:r>
          </a:p>
          <a:p>
            <a:pPr algn="l"/>
            <a:r>
              <a:rPr lang="en-US" sz="1800" b="0" i="0" u="none" strike="noStrike" baseline="0" dirty="0">
                <a:latin typeface="Times-Roman"/>
              </a:rPr>
              <a:t>shows how a </a:t>
            </a:r>
            <a:r>
              <a:rPr lang="en-US" sz="1800" b="1" i="0" u="none" strike="noStrike" baseline="0" dirty="0">
                <a:latin typeface="Times-Roman"/>
              </a:rPr>
              <a:t>user requirement may be expanded into several system requirements</a:t>
            </a:r>
            <a:r>
              <a:rPr lang="en-US" sz="1800" b="0" i="0" u="none" strike="noStrike" baseline="0" dirty="0">
                <a:latin typeface="Times-Roman"/>
              </a:rPr>
              <a:t>.</a:t>
            </a:r>
          </a:p>
          <a:p>
            <a:pPr algn="l"/>
            <a:r>
              <a:rPr lang="en-US" sz="1800" b="0" i="0" u="none" strike="noStrike" baseline="0" dirty="0">
                <a:latin typeface="Times-Roman"/>
              </a:rPr>
              <a:t>You can see from Figure 6.1 that the user requirement is more abstract, and the system requirements add detail, explaining the services and functions that should be provided by the system to be developed</a:t>
            </a:r>
            <a:endParaRPr lang="en-IN" dirty="0"/>
          </a:p>
        </p:txBody>
      </p:sp>
    </p:spTree>
    <p:extLst>
      <p:ext uri="{BB962C8B-B14F-4D97-AF65-F5344CB8AC3E}">
        <p14:creationId xmlns:p14="http://schemas.microsoft.com/office/powerpoint/2010/main" val="2634044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1E733-89A6-A751-71D3-2802C5385BAF}"/>
              </a:ext>
            </a:extLst>
          </p:cNvPr>
          <p:cNvSpPr>
            <a:spLocks noGrp="1"/>
          </p:cNvSpPr>
          <p:nvPr>
            <p:ph type="title"/>
          </p:nvPr>
        </p:nvSpPr>
        <p:spPr>
          <a:xfrm>
            <a:off x="838200" y="174171"/>
            <a:ext cx="10515600" cy="653143"/>
          </a:xfrm>
        </p:spPr>
        <p:txBody>
          <a:bodyPr>
            <a:normAutofit fontScale="90000"/>
          </a:bodyPr>
          <a:lstStyle/>
          <a:p>
            <a:r>
              <a:rPr lang="en-IN" b="1" dirty="0"/>
              <a:t>Example 2</a:t>
            </a:r>
            <a:endParaRPr lang="en-IN" dirty="0"/>
          </a:p>
        </p:txBody>
      </p:sp>
      <p:pic>
        <p:nvPicPr>
          <p:cNvPr id="5" name="Content Placeholder 4">
            <a:extLst>
              <a:ext uri="{FF2B5EF4-FFF2-40B4-BE49-F238E27FC236}">
                <a16:creationId xmlns:a16="http://schemas.microsoft.com/office/drawing/2014/main" id="{2CFD596E-22AF-5AAD-47E5-93885BB66AAB}"/>
              </a:ext>
            </a:extLst>
          </p:cNvPr>
          <p:cNvPicPr>
            <a:picLocks noGrp="1" noChangeAspect="1"/>
          </p:cNvPicPr>
          <p:nvPr>
            <p:ph idx="1"/>
          </p:nvPr>
        </p:nvPicPr>
        <p:blipFill>
          <a:blip r:embed="rId2"/>
          <a:stretch>
            <a:fillRect/>
          </a:stretch>
        </p:blipFill>
        <p:spPr>
          <a:xfrm>
            <a:off x="914400" y="827314"/>
            <a:ext cx="9231086" cy="6030685"/>
          </a:xfrm>
        </p:spPr>
      </p:pic>
    </p:spTree>
    <p:extLst>
      <p:ext uri="{BB962C8B-B14F-4D97-AF65-F5344CB8AC3E}">
        <p14:creationId xmlns:p14="http://schemas.microsoft.com/office/powerpoint/2010/main" val="1690409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0503E-EFA4-61F4-D1BF-4DD31F9AB919}"/>
              </a:ext>
            </a:extLst>
          </p:cNvPr>
          <p:cNvSpPr>
            <a:spLocks noGrp="1"/>
          </p:cNvSpPr>
          <p:nvPr>
            <p:ph type="title"/>
          </p:nvPr>
        </p:nvSpPr>
        <p:spPr>
          <a:xfrm>
            <a:off x="838200" y="365125"/>
            <a:ext cx="10515600" cy="614589"/>
          </a:xfrm>
        </p:spPr>
        <p:txBody>
          <a:bodyPr>
            <a:normAutofit fontScale="90000"/>
          </a:bodyPr>
          <a:lstStyle/>
          <a:p>
            <a:r>
              <a:rPr lang="en-US" b="1" dirty="0"/>
              <a:t>System stakeholders</a:t>
            </a:r>
            <a:endParaRPr lang="en-IN" b="1" dirty="0"/>
          </a:p>
        </p:txBody>
      </p:sp>
      <p:sp>
        <p:nvSpPr>
          <p:cNvPr id="3" name="Content Placeholder 2">
            <a:extLst>
              <a:ext uri="{FF2B5EF4-FFF2-40B4-BE49-F238E27FC236}">
                <a16:creationId xmlns:a16="http://schemas.microsoft.com/office/drawing/2014/main" id="{CB7A11A5-B497-AF5D-A308-489984A30B77}"/>
              </a:ext>
            </a:extLst>
          </p:cNvPr>
          <p:cNvSpPr>
            <a:spLocks noGrp="1"/>
          </p:cNvSpPr>
          <p:nvPr>
            <p:ph idx="1"/>
          </p:nvPr>
        </p:nvSpPr>
        <p:spPr/>
        <p:txBody>
          <a:bodyPr/>
          <a:lstStyle/>
          <a:p>
            <a:pPr algn="just"/>
            <a:r>
              <a:rPr lang="en-US" sz="2800" dirty="0"/>
              <a:t>Any person or organization </a:t>
            </a:r>
            <a:r>
              <a:rPr lang="en-US" sz="2800" b="1" dirty="0"/>
              <a:t>who is affected by the system in some way</a:t>
            </a:r>
            <a:r>
              <a:rPr lang="en-US" sz="2800" dirty="0"/>
              <a:t> and so who has a legitimate interest</a:t>
            </a:r>
          </a:p>
          <a:p>
            <a:pPr algn="just"/>
            <a:endParaRPr lang="en-US" sz="2800" dirty="0"/>
          </a:p>
          <a:p>
            <a:pPr algn="just"/>
            <a:r>
              <a:rPr lang="en-US" sz="2800" dirty="0"/>
              <a:t>Stakeholder types</a:t>
            </a:r>
          </a:p>
          <a:p>
            <a:pPr lvl="1" algn="just"/>
            <a:r>
              <a:rPr lang="en-US" sz="2400" dirty="0"/>
              <a:t>End users</a:t>
            </a:r>
          </a:p>
          <a:p>
            <a:pPr lvl="1" algn="just"/>
            <a:r>
              <a:rPr lang="en-US" sz="2400" dirty="0"/>
              <a:t>System managers</a:t>
            </a:r>
          </a:p>
          <a:p>
            <a:pPr lvl="1" algn="just"/>
            <a:r>
              <a:rPr lang="en-US" sz="2400" dirty="0"/>
              <a:t>System owners</a:t>
            </a:r>
          </a:p>
          <a:p>
            <a:pPr lvl="1" algn="just"/>
            <a:r>
              <a:rPr lang="en-US" sz="2400" dirty="0"/>
              <a:t>External stakeholders</a:t>
            </a:r>
            <a:endParaRPr lang="en-IN" dirty="0"/>
          </a:p>
        </p:txBody>
      </p:sp>
      <p:pic>
        <p:nvPicPr>
          <p:cNvPr id="5" name="Picture 4">
            <a:extLst>
              <a:ext uri="{FF2B5EF4-FFF2-40B4-BE49-F238E27FC236}">
                <a16:creationId xmlns:a16="http://schemas.microsoft.com/office/drawing/2014/main" id="{54585AEC-113A-6482-E7C6-22CA1F288AD7}"/>
              </a:ext>
            </a:extLst>
          </p:cNvPr>
          <p:cNvPicPr>
            <a:picLocks noChangeAspect="1"/>
          </p:cNvPicPr>
          <p:nvPr/>
        </p:nvPicPr>
        <p:blipFill>
          <a:blip r:embed="rId2"/>
          <a:stretch>
            <a:fillRect/>
          </a:stretch>
        </p:blipFill>
        <p:spPr>
          <a:xfrm>
            <a:off x="5552265" y="2768836"/>
            <a:ext cx="5801535" cy="3849678"/>
          </a:xfrm>
          <a:prstGeom prst="rect">
            <a:avLst/>
          </a:prstGeom>
        </p:spPr>
      </p:pic>
    </p:spTree>
    <p:extLst>
      <p:ext uri="{BB962C8B-B14F-4D97-AF65-F5344CB8AC3E}">
        <p14:creationId xmlns:p14="http://schemas.microsoft.com/office/powerpoint/2010/main" val="2392065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9E90C4-FB45-BF3E-04AE-A5353D7086DA}"/>
              </a:ext>
            </a:extLst>
          </p:cNvPr>
          <p:cNvSpPr>
            <a:spLocks noGrp="1"/>
          </p:cNvSpPr>
          <p:nvPr>
            <p:ph idx="1"/>
          </p:nvPr>
        </p:nvSpPr>
        <p:spPr>
          <a:xfrm>
            <a:off x="2351314" y="2960915"/>
            <a:ext cx="9013371" cy="1317172"/>
          </a:xfrm>
        </p:spPr>
        <p:txBody>
          <a:bodyPr>
            <a:normAutofit/>
          </a:bodyPr>
          <a:lstStyle/>
          <a:p>
            <a:pPr marL="0" indent="0">
              <a:buNone/>
            </a:pPr>
            <a:r>
              <a:rPr lang="en-US" sz="3600" b="1" dirty="0">
                <a:solidFill>
                  <a:schemeClr val="tx1">
                    <a:lumMod val="85000"/>
                    <a:lumOff val="15000"/>
                  </a:schemeClr>
                </a:solidFill>
              </a:rPr>
              <a:t>Functional and Non-Functional requirements</a:t>
            </a:r>
            <a:endParaRPr lang="en-IN" sz="3600" b="1" dirty="0"/>
          </a:p>
        </p:txBody>
      </p:sp>
    </p:spTree>
    <p:extLst>
      <p:ext uri="{BB962C8B-B14F-4D97-AF65-F5344CB8AC3E}">
        <p14:creationId xmlns:p14="http://schemas.microsoft.com/office/powerpoint/2010/main" val="973278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771E-BC52-124B-82B6-767E0FD154B3}"/>
              </a:ext>
            </a:extLst>
          </p:cNvPr>
          <p:cNvSpPr>
            <a:spLocks noGrp="1"/>
          </p:cNvSpPr>
          <p:nvPr>
            <p:ph type="title"/>
          </p:nvPr>
        </p:nvSpPr>
        <p:spPr>
          <a:xfrm>
            <a:off x="838200" y="1"/>
            <a:ext cx="10515600" cy="827313"/>
          </a:xfrm>
        </p:spPr>
        <p:txBody>
          <a:bodyPr/>
          <a:lstStyle/>
          <a:p>
            <a:r>
              <a:rPr lang="en-IN" dirty="0"/>
              <a:t>Functional and non-functional requirements</a:t>
            </a:r>
          </a:p>
        </p:txBody>
      </p:sp>
      <p:sp>
        <p:nvSpPr>
          <p:cNvPr id="3" name="Content Placeholder 2">
            <a:extLst>
              <a:ext uri="{FF2B5EF4-FFF2-40B4-BE49-F238E27FC236}">
                <a16:creationId xmlns:a16="http://schemas.microsoft.com/office/drawing/2014/main" id="{9BCDC452-689F-94C8-8E2A-2A2AC8535CFE}"/>
              </a:ext>
            </a:extLst>
          </p:cNvPr>
          <p:cNvSpPr>
            <a:spLocks noGrp="1"/>
          </p:cNvSpPr>
          <p:nvPr>
            <p:ph idx="1"/>
          </p:nvPr>
        </p:nvSpPr>
        <p:spPr>
          <a:xfrm>
            <a:off x="838200" y="914400"/>
            <a:ext cx="10515600" cy="5943600"/>
          </a:xfrm>
        </p:spPr>
        <p:txBody>
          <a:bodyPr>
            <a:normAutofit lnSpcReduction="10000"/>
          </a:bodyPr>
          <a:lstStyle/>
          <a:p>
            <a:r>
              <a:rPr lang="en-GB" sz="2400" b="1" dirty="0"/>
              <a:t>Functional requirements</a:t>
            </a:r>
          </a:p>
          <a:p>
            <a:pPr lvl="1"/>
            <a:r>
              <a:rPr lang="en-GB" b="1" dirty="0"/>
              <a:t>Statements of services </a:t>
            </a:r>
            <a:r>
              <a:rPr lang="en-GB" dirty="0"/>
              <a:t>the system </a:t>
            </a:r>
            <a:r>
              <a:rPr lang="en-GB" b="1" dirty="0">
                <a:solidFill>
                  <a:srgbClr val="FF0000"/>
                </a:solidFill>
              </a:rPr>
              <a:t>should provide</a:t>
            </a:r>
            <a:r>
              <a:rPr lang="en-GB" dirty="0"/>
              <a:t>, </a:t>
            </a:r>
            <a:r>
              <a:rPr lang="en-GB" b="1" dirty="0"/>
              <a:t>how the system should </a:t>
            </a:r>
            <a:r>
              <a:rPr lang="en-GB" b="1" dirty="0">
                <a:solidFill>
                  <a:srgbClr val="FF0000"/>
                </a:solidFill>
              </a:rPr>
              <a:t>react to particular inputs</a:t>
            </a:r>
            <a:r>
              <a:rPr lang="en-GB" dirty="0"/>
              <a:t>, and how the system should behave in particular situations.</a:t>
            </a:r>
          </a:p>
          <a:p>
            <a:pPr lvl="1"/>
            <a:r>
              <a:rPr lang="en-GB" dirty="0"/>
              <a:t>May state what the system </a:t>
            </a:r>
            <a:r>
              <a:rPr lang="en-GB" b="1" dirty="0">
                <a:solidFill>
                  <a:srgbClr val="FF0000"/>
                </a:solidFill>
              </a:rPr>
              <a:t>should not do</a:t>
            </a:r>
            <a:r>
              <a:rPr lang="en-GB" b="1" dirty="0"/>
              <a:t>.</a:t>
            </a:r>
          </a:p>
          <a:p>
            <a:pPr lvl="1"/>
            <a:r>
              <a:rPr lang="en-GB" b="1" dirty="0">
                <a:solidFill>
                  <a:srgbClr val="FF0000"/>
                </a:solidFill>
              </a:rPr>
              <a:t>Specified by the user</a:t>
            </a:r>
          </a:p>
          <a:p>
            <a:r>
              <a:rPr lang="en-GB" sz="2400" b="1" dirty="0"/>
              <a:t>Non-functional requirements</a:t>
            </a:r>
          </a:p>
          <a:p>
            <a:pPr lvl="1"/>
            <a:r>
              <a:rPr lang="en-GB" sz="2000" b="1" dirty="0"/>
              <a:t>Good attributes</a:t>
            </a:r>
          </a:p>
          <a:p>
            <a:pPr lvl="1"/>
            <a:r>
              <a:rPr lang="en-GB" b="1" dirty="0"/>
              <a:t>Constraints on the services </a:t>
            </a:r>
            <a:r>
              <a:rPr lang="en-GB" dirty="0"/>
              <a:t>or functions offered by the system such as </a:t>
            </a:r>
            <a:r>
              <a:rPr lang="en-GB" b="1" dirty="0"/>
              <a:t>timing constraints, constraints on the development process, standards, etc.</a:t>
            </a:r>
          </a:p>
          <a:p>
            <a:pPr lvl="1"/>
            <a:r>
              <a:rPr lang="en-GB" dirty="0"/>
              <a:t>Often apply to the system </a:t>
            </a:r>
            <a:r>
              <a:rPr lang="en-GB" b="1" dirty="0"/>
              <a:t>as a whole </a:t>
            </a:r>
            <a:r>
              <a:rPr lang="en-GB" dirty="0"/>
              <a:t>rather than individual features or services.</a:t>
            </a:r>
          </a:p>
          <a:p>
            <a:pPr lvl="1"/>
            <a:r>
              <a:rPr lang="en-GB" b="1" dirty="0"/>
              <a:t>Specified by Technical people </a:t>
            </a:r>
            <a:r>
              <a:rPr lang="en-GB" dirty="0"/>
              <a:t>such as Architect, software developers</a:t>
            </a:r>
          </a:p>
          <a:p>
            <a:r>
              <a:rPr lang="en-GB" sz="2400" b="1" dirty="0"/>
              <a:t>Domain requirements</a:t>
            </a:r>
          </a:p>
          <a:p>
            <a:pPr lvl="1"/>
            <a:r>
              <a:rPr lang="en-US" dirty="0"/>
              <a:t>Domain requirements are derived from the application domain of the system rather than from the specific needs of system users</a:t>
            </a:r>
            <a:endParaRPr lang="en-IN" dirty="0"/>
          </a:p>
        </p:txBody>
      </p:sp>
    </p:spTree>
    <p:extLst>
      <p:ext uri="{BB962C8B-B14F-4D97-AF65-F5344CB8AC3E}">
        <p14:creationId xmlns:p14="http://schemas.microsoft.com/office/powerpoint/2010/main" val="727390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1DC8A-1A4D-F7BE-EC84-399E17821AEF}"/>
              </a:ext>
            </a:extLst>
          </p:cNvPr>
          <p:cNvSpPr>
            <a:spLocks noGrp="1"/>
          </p:cNvSpPr>
          <p:nvPr>
            <p:ph type="title"/>
          </p:nvPr>
        </p:nvSpPr>
        <p:spPr>
          <a:xfrm>
            <a:off x="838200" y="1"/>
            <a:ext cx="10515600" cy="979713"/>
          </a:xfrm>
        </p:spPr>
        <p:txBody>
          <a:bodyPr/>
          <a:lstStyle/>
          <a:p>
            <a:r>
              <a:rPr lang="en-IN" dirty="0"/>
              <a:t>Example: Functional requirements</a:t>
            </a:r>
          </a:p>
        </p:txBody>
      </p:sp>
      <p:sp>
        <p:nvSpPr>
          <p:cNvPr id="3" name="Content Placeholder 2">
            <a:extLst>
              <a:ext uri="{FF2B5EF4-FFF2-40B4-BE49-F238E27FC236}">
                <a16:creationId xmlns:a16="http://schemas.microsoft.com/office/drawing/2014/main" id="{6402D463-88BD-3908-88A9-6FDA92E9036D}"/>
              </a:ext>
            </a:extLst>
          </p:cNvPr>
          <p:cNvSpPr>
            <a:spLocks noGrp="1"/>
          </p:cNvSpPr>
          <p:nvPr>
            <p:ph idx="1"/>
          </p:nvPr>
        </p:nvSpPr>
        <p:spPr>
          <a:xfrm>
            <a:off x="838200" y="1077686"/>
            <a:ext cx="10515600" cy="5099277"/>
          </a:xfrm>
        </p:spPr>
        <p:txBody>
          <a:bodyPr/>
          <a:lstStyle/>
          <a:p>
            <a:pPr algn="l"/>
            <a:r>
              <a:rPr lang="en-US" sz="1800" b="0" i="0" u="none" strike="noStrike" baseline="0" dirty="0">
                <a:latin typeface="Times-Roman"/>
              </a:rPr>
              <a:t>Functional requirements for a software system may be expressed in a number of ways. For example, here are examples of functional requirements for a university library system called LIBSYS, used by students and faculty to order books and documents </a:t>
            </a:r>
            <a:r>
              <a:rPr lang="en-IN" sz="1800" b="0" i="0" u="none" strike="noStrike" baseline="0" dirty="0">
                <a:latin typeface="Times-Roman"/>
              </a:rPr>
              <a:t>from other libraries: </a:t>
            </a:r>
          </a:p>
          <a:p>
            <a:pPr algn="l"/>
            <a:endParaRPr lang="en-IN" dirty="0"/>
          </a:p>
        </p:txBody>
      </p:sp>
      <p:pic>
        <p:nvPicPr>
          <p:cNvPr id="5" name="Picture 4">
            <a:extLst>
              <a:ext uri="{FF2B5EF4-FFF2-40B4-BE49-F238E27FC236}">
                <a16:creationId xmlns:a16="http://schemas.microsoft.com/office/drawing/2014/main" id="{43DFDD2B-5F5A-C9EE-E0BE-A2187BCBEF96}"/>
              </a:ext>
            </a:extLst>
          </p:cNvPr>
          <p:cNvPicPr>
            <a:picLocks noChangeAspect="1"/>
          </p:cNvPicPr>
          <p:nvPr/>
        </p:nvPicPr>
        <p:blipFill>
          <a:blip r:embed="rId2"/>
          <a:stretch>
            <a:fillRect/>
          </a:stretch>
        </p:blipFill>
        <p:spPr>
          <a:xfrm>
            <a:off x="1045030" y="2166257"/>
            <a:ext cx="10167256" cy="3614057"/>
          </a:xfrm>
          <a:prstGeom prst="rect">
            <a:avLst/>
          </a:prstGeom>
        </p:spPr>
      </p:pic>
    </p:spTree>
    <p:extLst>
      <p:ext uri="{BB962C8B-B14F-4D97-AF65-F5344CB8AC3E}">
        <p14:creationId xmlns:p14="http://schemas.microsoft.com/office/powerpoint/2010/main" val="2305222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05843-8B66-D1AD-85CE-983A77F6A17C}"/>
              </a:ext>
            </a:extLst>
          </p:cNvPr>
          <p:cNvSpPr>
            <a:spLocks noGrp="1"/>
          </p:cNvSpPr>
          <p:nvPr>
            <p:ph type="title"/>
          </p:nvPr>
        </p:nvSpPr>
        <p:spPr>
          <a:xfrm>
            <a:off x="838200" y="365126"/>
            <a:ext cx="10515600" cy="603704"/>
          </a:xfrm>
        </p:spPr>
        <p:txBody>
          <a:bodyPr>
            <a:normAutofit fontScale="90000"/>
          </a:bodyPr>
          <a:lstStyle/>
          <a:p>
            <a:r>
              <a:rPr lang="en-IN" dirty="0"/>
              <a:t>Non-functional requirements</a:t>
            </a:r>
          </a:p>
        </p:txBody>
      </p:sp>
      <p:sp>
        <p:nvSpPr>
          <p:cNvPr id="3" name="Content Placeholder 2">
            <a:extLst>
              <a:ext uri="{FF2B5EF4-FFF2-40B4-BE49-F238E27FC236}">
                <a16:creationId xmlns:a16="http://schemas.microsoft.com/office/drawing/2014/main" id="{4F8261B5-AA6E-183A-CEA7-1CF9D5B8F176}"/>
              </a:ext>
            </a:extLst>
          </p:cNvPr>
          <p:cNvSpPr>
            <a:spLocks noGrp="1"/>
          </p:cNvSpPr>
          <p:nvPr>
            <p:ph idx="1"/>
          </p:nvPr>
        </p:nvSpPr>
        <p:spPr>
          <a:xfrm>
            <a:off x="838200" y="1132114"/>
            <a:ext cx="10515600" cy="5044849"/>
          </a:xfrm>
        </p:spPr>
        <p:txBody>
          <a:bodyPr>
            <a:normAutofit/>
          </a:bodyPr>
          <a:lstStyle/>
          <a:p>
            <a:pPr algn="l"/>
            <a:r>
              <a:rPr lang="en-US" sz="2400" b="0" i="0" u="none" strike="noStrike" baseline="0" dirty="0"/>
              <a:t>Non-functional requirements, as the name suggests, are requirements that are </a:t>
            </a:r>
            <a:r>
              <a:rPr lang="en-US" sz="2400" b="0" i="0" u="none" strike="noStrike" baseline="0" dirty="0">
                <a:solidFill>
                  <a:srgbClr val="FF0000"/>
                </a:solidFill>
              </a:rPr>
              <a:t>not directly concerned </a:t>
            </a:r>
            <a:r>
              <a:rPr lang="en-US" sz="2400" b="0" i="0" u="none" strike="noStrike" baseline="0" dirty="0"/>
              <a:t>with the </a:t>
            </a:r>
            <a:r>
              <a:rPr lang="en-US" sz="2400" b="0" i="0" u="none" strike="noStrike" baseline="0" dirty="0">
                <a:solidFill>
                  <a:srgbClr val="FF0000"/>
                </a:solidFill>
              </a:rPr>
              <a:t>specific functions </a:t>
            </a:r>
            <a:r>
              <a:rPr lang="en-US" sz="2400" b="0" i="0" u="none" strike="noStrike" baseline="0" dirty="0"/>
              <a:t>delivered by the system.</a:t>
            </a:r>
          </a:p>
          <a:p>
            <a:pPr algn="l"/>
            <a:r>
              <a:rPr lang="en-US" sz="2400" b="0" i="0" u="none" strike="noStrike" baseline="0" dirty="0"/>
              <a:t>They may relate to emergent </a:t>
            </a:r>
            <a:r>
              <a:rPr lang="en-US" sz="2400" b="0" i="0" u="none" strike="noStrike" baseline="0" dirty="0">
                <a:solidFill>
                  <a:srgbClr val="FF0000"/>
                </a:solidFill>
              </a:rPr>
              <a:t>system properties </a:t>
            </a:r>
            <a:r>
              <a:rPr lang="en-US" sz="2400" b="0" i="0" u="none" strike="noStrike" baseline="0" dirty="0"/>
              <a:t>such as </a:t>
            </a:r>
            <a:r>
              <a:rPr lang="en-US" sz="2400" b="0" i="0" u="none" strike="noStrike" baseline="0" dirty="0">
                <a:solidFill>
                  <a:srgbClr val="FF0000"/>
                </a:solidFill>
              </a:rPr>
              <a:t>reliability, response time and store occupancy</a:t>
            </a:r>
            <a:r>
              <a:rPr lang="en-US" sz="2400" b="0" i="0" u="none" strike="noStrike" baseline="0" dirty="0"/>
              <a:t>.</a:t>
            </a:r>
          </a:p>
          <a:p>
            <a:pPr algn="l"/>
            <a:r>
              <a:rPr lang="en-US" sz="2400" b="0" i="0" u="none" strike="noStrike" baseline="0" dirty="0"/>
              <a:t>Non-functional requirements are </a:t>
            </a:r>
            <a:r>
              <a:rPr lang="en-US" sz="2400" b="0" i="0" u="none" strike="noStrike" baseline="0" dirty="0">
                <a:solidFill>
                  <a:srgbClr val="FF0000"/>
                </a:solidFill>
              </a:rPr>
              <a:t>rarely associated </a:t>
            </a:r>
            <a:r>
              <a:rPr lang="en-US" sz="2400" b="0" i="0" u="none" strike="noStrike" baseline="0" dirty="0"/>
              <a:t>with individual system features.</a:t>
            </a:r>
            <a:endParaRPr lang="en-US" sz="2400" dirty="0"/>
          </a:p>
          <a:p>
            <a:pPr algn="l"/>
            <a:r>
              <a:rPr lang="en-US" sz="2400" b="0" i="0" u="none" strike="noStrike" baseline="0" dirty="0">
                <a:solidFill>
                  <a:srgbClr val="FF0000"/>
                </a:solidFill>
              </a:rPr>
              <a:t>more critical </a:t>
            </a:r>
            <a:r>
              <a:rPr lang="en-US" sz="2400" b="0" i="0" u="none" strike="noStrike" baseline="0" dirty="0"/>
              <a:t>than individual functional requirements</a:t>
            </a:r>
          </a:p>
          <a:p>
            <a:pPr algn="l"/>
            <a:r>
              <a:rPr lang="en-US" sz="2400" dirty="0">
                <a:solidFill>
                  <a:srgbClr val="FF0000"/>
                </a:solidFill>
              </a:rPr>
              <a:t>failing to meet </a:t>
            </a:r>
            <a:r>
              <a:rPr lang="en-US" sz="2400" dirty="0"/>
              <a:t>a non-functional requirement can mean that the whole system is </a:t>
            </a:r>
            <a:r>
              <a:rPr lang="en-US" sz="2400" dirty="0">
                <a:solidFill>
                  <a:srgbClr val="FF0000"/>
                </a:solidFill>
              </a:rPr>
              <a:t>unusable</a:t>
            </a:r>
            <a:r>
              <a:rPr lang="en-US" sz="2400" dirty="0"/>
              <a:t>.</a:t>
            </a:r>
          </a:p>
          <a:p>
            <a:pPr algn="l"/>
            <a:r>
              <a:rPr lang="en-US" sz="2400" b="0" i="0" u="none" strike="noStrike" baseline="0" dirty="0"/>
              <a:t>Non-functional requirements arise through user needs, because of budget constraints, because of </a:t>
            </a:r>
            <a:r>
              <a:rPr lang="en-US" sz="2400" b="0" i="0" u="none" strike="noStrike" baseline="0" dirty="0" err="1"/>
              <a:t>organisational</a:t>
            </a:r>
            <a:r>
              <a:rPr lang="en-US" sz="2400" b="0" i="0" u="none" strike="noStrike" baseline="0" dirty="0"/>
              <a:t> policies, because of the need for interoperability with other software or hardware systems, or because of external factors such as safety </a:t>
            </a:r>
            <a:r>
              <a:rPr lang="en-IN" sz="2400" b="0" i="0" u="none" strike="noStrike" baseline="0" dirty="0"/>
              <a:t>regulations or privacy legislation</a:t>
            </a:r>
            <a:endParaRPr lang="en-IN" sz="2400" dirty="0"/>
          </a:p>
        </p:txBody>
      </p:sp>
    </p:spTree>
    <p:extLst>
      <p:ext uri="{BB962C8B-B14F-4D97-AF65-F5344CB8AC3E}">
        <p14:creationId xmlns:p14="http://schemas.microsoft.com/office/powerpoint/2010/main" val="238396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E1F7A4-3E00-ACD1-DE1A-63065217680D}"/>
              </a:ext>
            </a:extLst>
          </p:cNvPr>
          <p:cNvPicPr>
            <a:picLocks noChangeAspect="1"/>
          </p:cNvPicPr>
          <p:nvPr/>
        </p:nvPicPr>
        <p:blipFill>
          <a:blip r:embed="rId2"/>
          <a:stretch>
            <a:fillRect/>
          </a:stretch>
        </p:blipFill>
        <p:spPr>
          <a:xfrm>
            <a:off x="1180414" y="485364"/>
            <a:ext cx="9831172" cy="5887272"/>
          </a:xfrm>
          <a:prstGeom prst="rect">
            <a:avLst/>
          </a:prstGeom>
        </p:spPr>
      </p:pic>
    </p:spTree>
    <p:extLst>
      <p:ext uri="{BB962C8B-B14F-4D97-AF65-F5344CB8AC3E}">
        <p14:creationId xmlns:p14="http://schemas.microsoft.com/office/powerpoint/2010/main" val="779989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2D4AB-9D3E-2FD5-0FC2-165BA58B1D1F}"/>
              </a:ext>
            </a:extLst>
          </p:cNvPr>
          <p:cNvSpPr>
            <a:spLocks noGrp="1"/>
          </p:cNvSpPr>
          <p:nvPr>
            <p:ph type="title"/>
          </p:nvPr>
        </p:nvSpPr>
        <p:spPr>
          <a:xfrm>
            <a:off x="838200" y="206830"/>
            <a:ext cx="10515600" cy="740228"/>
          </a:xfrm>
        </p:spPr>
        <p:txBody>
          <a:bodyPr/>
          <a:lstStyle/>
          <a:p>
            <a:r>
              <a:rPr lang="en-IN" dirty="0"/>
              <a:t>Non-functional Requirements</a:t>
            </a:r>
          </a:p>
        </p:txBody>
      </p:sp>
      <p:sp>
        <p:nvSpPr>
          <p:cNvPr id="3" name="Content Placeholder 2">
            <a:extLst>
              <a:ext uri="{FF2B5EF4-FFF2-40B4-BE49-F238E27FC236}">
                <a16:creationId xmlns:a16="http://schemas.microsoft.com/office/drawing/2014/main" id="{B0C7EF98-A0F6-506C-2D4E-B514318F5D33}"/>
              </a:ext>
            </a:extLst>
          </p:cNvPr>
          <p:cNvSpPr>
            <a:spLocks noGrp="1"/>
          </p:cNvSpPr>
          <p:nvPr>
            <p:ph idx="1"/>
          </p:nvPr>
        </p:nvSpPr>
        <p:spPr>
          <a:xfrm>
            <a:off x="838200" y="1077686"/>
            <a:ext cx="10515600" cy="5099277"/>
          </a:xfrm>
        </p:spPr>
        <p:txBody>
          <a:bodyPr/>
          <a:lstStyle/>
          <a:p>
            <a:pPr>
              <a:lnSpc>
                <a:spcPct val="100000"/>
              </a:lnSpc>
              <a:spcBef>
                <a:spcPts val="0"/>
              </a:spcBef>
              <a:defRPr/>
            </a:pPr>
            <a:r>
              <a:rPr lang="en-US" dirty="0"/>
              <a:t>Scalability</a:t>
            </a:r>
          </a:p>
          <a:p>
            <a:pPr>
              <a:lnSpc>
                <a:spcPct val="100000"/>
              </a:lnSpc>
              <a:spcBef>
                <a:spcPts val="0"/>
              </a:spcBef>
              <a:defRPr/>
            </a:pPr>
            <a:r>
              <a:rPr lang="en-US" dirty="0"/>
              <a:t>Capacity</a:t>
            </a:r>
          </a:p>
          <a:p>
            <a:pPr>
              <a:lnSpc>
                <a:spcPct val="100000"/>
              </a:lnSpc>
              <a:spcBef>
                <a:spcPts val="0"/>
              </a:spcBef>
              <a:defRPr/>
            </a:pPr>
            <a:r>
              <a:rPr lang="en-US" dirty="0"/>
              <a:t>Data integration</a:t>
            </a:r>
          </a:p>
          <a:p>
            <a:pPr>
              <a:lnSpc>
                <a:spcPct val="100000"/>
              </a:lnSpc>
              <a:spcBef>
                <a:spcPts val="0"/>
              </a:spcBef>
              <a:defRPr/>
            </a:pPr>
            <a:r>
              <a:rPr lang="en-US" dirty="0"/>
              <a:t>Recoverability</a:t>
            </a:r>
          </a:p>
          <a:p>
            <a:pPr>
              <a:lnSpc>
                <a:spcPct val="100000"/>
              </a:lnSpc>
              <a:spcBef>
                <a:spcPts val="0"/>
              </a:spcBef>
              <a:defRPr/>
            </a:pPr>
            <a:r>
              <a:rPr lang="en-US" dirty="0"/>
              <a:t>Availability</a:t>
            </a:r>
            <a:endParaRPr lang="en-IN" dirty="0"/>
          </a:p>
        </p:txBody>
      </p:sp>
      <p:pic>
        <p:nvPicPr>
          <p:cNvPr id="4" name="Picture 3">
            <a:extLst>
              <a:ext uri="{FF2B5EF4-FFF2-40B4-BE49-F238E27FC236}">
                <a16:creationId xmlns:a16="http://schemas.microsoft.com/office/drawing/2014/main" id="{27A9A42D-1E52-1EF2-DA22-116C24D97E5E}"/>
              </a:ext>
            </a:extLst>
          </p:cNvPr>
          <p:cNvPicPr>
            <a:picLocks noChangeAspect="1"/>
          </p:cNvPicPr>
          <p:nvPr/>
        </p:nvPicPr>
        <p:blipFill>
          <a:blip r:embed="rId2"/>
          <a:stretch>
            <a:fillRect/>
          </a:stretch>
        </p:blipFill>
        <p:spPr>
          <a:xfrm>
            <a:off x="5108507" y="947058"/>
            <a:ext cx="3716702" cy="3642984"/>
          </a:xfrm>
          <a:prstGeom prst="rect">
            <a:avLst/>
          </a:prstGeom>
        </p:spPr>
      </p:pic>
    </p:spTree>
    <p:extLst>
      <p:ext uri="{BB962C8B-B14F-4D97-AF65-F5344CB8AC3E}">
        <p14:creationId xmlns:p14="http://schemas.microsoft.com/office/powerpoint/2010/main" val="1547641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C100B-61FE-9BFE-C26C-EBB95C81CD4B}"/>
              </a:ext>
            </a:extLst>
          </p:cNvPr>
          <p:cNvSpPr>
            <a:spLocks noGrp="1"/>
          </p:cNvSpPr>
          <p:nvPr>
            <p:ph type="title"/>
          </p:nvPr>
        </p:nvSpPr>
        <p:spPr>
          <a:xfrm>
            <a:off x="315686" y="365125"/>
            <a:ext cx="11876314" cy="712561"/>
          </a:xfrm>
        </p:spPr>
        <p:txBody>
          <a:bodyPr>
            <a:normAutofit/>
          </a:bodyPr>
          <a:lstStyle/>
          <a:p>
            <a:r>
              <a:rPr lang="en-US" b="1" dirty="0"/>
              <a:t>Metrics for specifying non-functional requirements</a:t>
            </a:r>
            <a:endParaRPr lang="en-IN" b="1" dirty="0"/>
          </a:p>
        </p:txBody>
      </p:sp>
      <p:pic>
        <p:nvPicPr>
          <p:cNvPr id="5" name="Content Placeholder 4">
            <a:extLst>
              <a:ext uri="{FF2B5EF4-FFF2-40B4-BE49-F238E27FC236}">
                <a16:creationId xmlns:a16="http://schemas.microsoft.com/office/drawing/2014/main" id="{C7166DFD-9E97-6365-B876-4EA7953B34AF}"/>
              </a:ext>
            </a:extLst>
          </p:cNvPr>
          <p:cNvPicPr>
            <a:picLocks noGrp="1" noChangeAspect="1"/>
          </p:cNvPicPr>
          <p:nvPr>
            <p:ph idx="1"/>
          </p:nvPr>
        </p:nvPicPr>
        <p:blipFill>
          <a:blip r:embed="rId2"/>
          <a:stretch>
            <a:fillRect/>
          </a:stretch>
        </p:blipFill>
        <p:spPr>
          <a:xfrm>
            <a:off x="1360714" y="1251857"/>
            <a:ext cx="7759427" cy="5241018"/>
          </a:xfrm>
        </p:spPr>
      </p:pic>
    </p:spTree>
    <p:extLst>
      <p:ext uri="{BB962C8B-B14F-4D97-AF65-F5344CB8AC3E}">
        <p14:creationId xmlns:p14="http://schemas.microsoft.com/office/powerpoint/2010/main" val="3671630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F2991-7135-E449-30E7-8BBD98DE016F}"/>
              </a:ext>
            </a:extLst>
          </p:cNvPr>
          <p:cNvSpPr>
            <a:spLocks noGrp="1"/>
          </p:cNvSpPr>
          <p:nvPr>
            <p:ph type="title"/>
          </p:nvPr>
        </p:nvSpPr>
        <p:spPr>
          <a:xfrm>
            <a:off x="1273629" y="1845583"/>
            <a:ext cx="10515600" cy="1325563"/>
          </a:xfrm>
        </p:spPr>
        <p:txBody>
          <a:bodyPr>
            <a:normAutofit fontScale="90000"/>
          </a:bodyPr>
          <a:lstStyle/>
          <a:p>
            <a:pPr algn="ctr"/>
            <a:r>
              <a:rPr lang="en-US" sz="4400" b="1" dirty="0">
                <a:solidFill>
                  <a:schemeClr val="tx1">
                    <a:lumMod val="85000"/>
                    <a:lumOff val="15000"/>
                  </a:schemeClr>
                </a:solidFill>
              </a:rPr>
              <a:t>Requirements engineering processes</a:t>
            </a:r>
            <a:br>
              <a:rPr lang="en-US" sz="4400" b="1" dirty="0">
                <a:solidFill>
                  <a:schemeClr val="tx1">
                    <a:lumMod val="85000"/>
                    <a:lumOff val="15000"/>
                  </a:schemeClr>
                </a:solidFill>
              </a:rPr>
            </a:br>
            <a:br>
              <a:rPr lang="en-US" sz="4400" b="1" dirty="0">
                <a:solidFill>
                  <a:schemeClr val="tx1">
                    <a:lumMod val="85000"/>
                    <a:lumOff val="15000"/>
                  </a:schemeClr>
                </a:solidFill>
              </a:rPr>
            </a:br>
            <a:r>
              <a:rPr lang="en-US" sz="4400" b="1" dirty="0">
                <a:solidFill>
                  <a:schemeClr val="tx1">
                    <a:lumMod val="85000"/>
                    <a:lumOff val="15000"/>
                  </a:schemeClr>
                </a:solidFill>
              </a:rPr>
              <a:t>Chapter 7</a:t>
            </a:r>
            <a:endParaRPr lang="en-IN" b="1" dirty="0"/>
          </a:p>
        </p:txBody>
      </p:sp>
    </p:spTree>
    <p:extLst>
      <p:ext uri="{BB962C8B-B14F-4D97-AF65-F5344CB8AC3E}">
        <p14:creationId xmlns:p14="http://schemas.microsoft.com/office/powerpoint/2010/main" val="190769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06A17-32EE-799B-2EFB-1D2AB4DB80E0}"/>
              </a:ext>
            </a:extLst>
          </p:cNvPr>
          <p:cNvSpPr>
            <a:spLocks noGrp="1"/>
          </p:cNvSpPr>
          <p:nvPr>
            <p:ph type="title"/>
          </p:nvPr>
        </p:nvSpPr>
        <p:spPr>
          <a:xfrm>
            <a:off x="838200" y="365126"/>
            <a:ext cx="10515600" cy="810532"/>
          </a:xfrm>
        </p:spPr>
        <p:txBody>
          <a:bodyPr/>
          <a:lstStyle/>
          <a:p>
            <a:r>
              <a:rPr lang="en-US" sz="4400" b="1" dirty="0">
                <a:solidFill>
                  <a:schemeClr val="tx1">
                    <a:lumMod val="85000"/>
                    <a:lumOff val="15000"/>
                  </a:schemeClr>
                </a:solidFill>
              </a:rPr>
              <a:t>Requirements engineering processes</a:t>
            </a:r>
            <a:endParaRPr lang="en-IN" dirty="0"/>
          </a:p>
        </p:txBody>
      </p:sp>
      <p:sp>
        <p:nvSpPr>
          <p:cNvPr id="3" name="Content Placeholder 2">
            <a:extLst>
              <a:ext uri="{FF2B5EF4-FFF2-40B4-BE49-F238E27FC236}">
                <a16:creationId xmlns:a16="http://schemas.microsoft.com/office/drawing/2014/main" id="{9FE10FFF-7686-F554-F91F-2AC646561BE6}"/>
              </a:ext>
            </a:extLst>
          </p:cNvPr>
          <p:cNvSpPr>
            <a:spLocks noGrp="1"/>
          </p:cNvSpPr>
          <p:nvPr>
            <p:ph idx="1"/>
          </p:nvPr>
        </p:nvSpPr>
        <p:spPr/>
        <p:txBody>
          <a:bodyPr>
            <a:normAutofit fontScale="85000" lnSpcReduction="10000"/>
          </a:bodyPr>
          <a:lstStyle/>
          <a:p>
            <a:pPr algn="just">
              <a:lnSpc>
                <a:spcPct val="120000"/>
              </a:lnSpc>
            </a:pPr>
            <a:r>
              <a:rPr lang="en-GB" sz="2800" dirty="0"/>
              <a:t>The processes used for RE vary widely depending on the application domain, the people involved and the organisation developing the requirements.</a:t>
            </a:r>
          </a:p>
          <a:p>
            <a:pPr algn="just">
              <a:lnSpc>
                <a:spcPct val="120000"/>
              </a:lnSpc>
            </a:pPr>
            <a:r>
              <a:rPr lang="en-GB" sz="2800" dirty="0"/>
              <a:t>However, there are a number of generic activities common to all processes</a:t>
            </a:r>
          </a:p>
          <a:p>
            <a:pPr lvl="1" algn="just">
              <a:lnSpc>
                <a:spcPct val="120000"/>
              </a:lnSpc>
            </a:pPr>
            <a:r>
              <a:rPr lang="en-GB" sz="2400" dirty="0"/>
              <a:t>Requirements elicitation;</a:t>
            </a:r>
          </a:p>
          <a:p>
            <a:pPr lvl="1" algn="just">
              <a:lnSpc>
                <a:spcPct val="120000"/>
              </a:lnSpc>
            </a:pPr>
            <a:r>
              <a:rPr lang="en-GB" sz="2400" dirty="0"/>
              <a:t>Requirements analysis;</a:t>
            </a:r>
          </a:p>
          <a:p>
            <a:pPr lvl="1" algn="just">
              <a:lnSpc>
                <a:spcPct val="120000"/>
              </a:lnSpc>
            </a:pPr>
            <a:r>
              <a:rPr lang="en-GB" sz="2400" dirty="0"/>
              <a:t>Requirement specification;</a:t>
            </a:r>
          </a:p>
          <a:p>
            <a:pPr lvl="1" algn="just">
              <a:lnSpc>
                <a:spcPct val="120000"/>
              </a:lnSpc>
            </a:pPr>
            <a:r>
              <a:rPr lang="en-GB" sz="2400" dirty="0"/>
              <a:t>Requirements validation;</a:t>
            </a:r>
          </a:p>
          <a:p>
            <a:pPr lvl="1" algn="just">
              <a:lnSpc>
                <a:spcPct val="120000"/>
              </a:lnSpc>
            </a:pPr>
            <a:r>
              <a:rPr lang="en-GB" sz="2400" dirty="0"/>
              <a:t>Requirements management.</a:t>
            </a:r>
          </a:p>
          <a:p>
            <a:pPr algn="just">
              <a:lnSpc>
                <a:spcPct val="120000"/>
              </a:lnSpc>
            </a:pPr>
            <a:r>
              <a:rPr lang="en-GB" sz="2800" dirty="0"/>
              <a:t>In practice, RE is an iterative activity in which these processes are interleaved.</a:t>
            </a:r>
          </a:p>
          <a:p>
            <a:endParaRPr lang="en-IN" dirty="0"/>
          </a:p>
        </p:txBody>
      </p:sp>
    </p:spTree>
    <p:extLst>
      <p:ext uri="{BB962C8B-B14F-4D97-AF65-F5344CB8AC3E}">
        <p14:creationId xmlns:p14="http://schemas.microsoft.com/office/powerpoint/2010/main" val="3790236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91AF-AA3B-800A-8D87-504924704941}"/>
              </a:ext>
            </a:extLst>
          </p:cNvPr>
          <p:cNvSpPr>
            <a:spLocks noGrp="1"/>
          </p:cNvSpPr>
          <p:nvPr>
            <p:ph type="title"/>
          </p:nvPr>
        </p:nvSpPr>
        <p:spPr>
          <a:xfrm>
            <a:off x="838200" y="365125"/>
            <a:ext cx="10515600" cy="864961"/>
          </a:xfrm>
        </p:spPr>
        <p:txBody>
          <a:bodyPr>
            <a:normAutofit/>
          </a:bodyPr>
          <a:lstStyle/>
          <a:p>
            <a:r>
              <a:rPr lang="en-US" dirty="0">
                <a:solidFill>
                  <a:schemeClr val="tx1">
                    <a:lumMod val="85000"/>
                    <a:lumOff val="15000"/>
                  </a:schemeClr>
                </a:solidFill>
              </a:rPr>
              <a:t>R</a:t>
            </a:r>
            <a:r>
              <a:rPr lang="en-US" sz="4400" dirty="0">
                <a:solidFill>
                  <a:schemeClr val="tx1">
                    <a:lumMod val="85000"/>
                    <a:lumOff val="15000"/>
                  </a:schemeClr>
                </a:solidFill>
              </a:rPr>
              <a:t>equirements engineering process </a:t>
            </a:r>
            <a:endParaRPr lang="en-IN" dirty="0"/>
          </a:p>
        </p:txBody>
      </p:sp>
      <p:sp>
        <p:nvSpPr>
          <p:cNvPr id="3" name="Content Placeholder 2">
            <a:extLst>
              <a:ext uri="{FF2B5EF4-FFF2-40B4-BE49-F238E27FC236}">
                <a16:creationId xmlns:a16="http://schemas.microsoft.com/office/drawing/2014/main" id="{B4DA20C2-9460-7846-494E-2EAE8830281C}"/>
              </a:ext>
            </a:extLst>
          </p:cNvPr>
          <p:cNvSpPr>
            <a:spLocks noGrp="1"/>
          </p:cNvSpPr>
          <p:nvPr>
            <p:ph idx="1"/>
          </p:nvPr>
        </p:nvSpPr>
        <p:spPr/>
        <p:txBody>
          <a:bodyPr>
            <a:normAutofit/>
          </a:bodyPr>
          <a:lstStyle/>
          <a:p>
            <a:pPr marL="0" indent="0" algn="l">
              <a:buNone/>
            </a:pPr>
            <a:r>
              <a:rPr lang="en-US" sz="2400" b="0" i="0" u="none" strike="noStrike" baseline="0" dirty="0">
                <a:latin typeface="Times-Roman"/>
              </a:rPr>
              <a:t>The goal of the requirements engineering process is to </a:t>
            </a:r>
            <a:r>
              <a:rPr lang="en-US" sz="2400" b="1" i="0" u="none" strike="noStrike" baseline="0" dirty="0">
                <a:latin typeface="Times-Roman"/>
              </a:rPr>
              <a:t>create and maintain</a:t>
            </a:r>
            <a:r>
              <a:rPr lang="en-US" sz="2400" b="0" i="0" u="none" strike="noStrike" baseline="0" dirty="0">
                <a:latin typeface="Times-Roman"/>
              </a:rPr>
              <a:t> a </a:t>
            </a:r>
            <a:r>
              <a:rPr lang="en-US" sz="2400" b="1" i="0" u="none" strike="noStrike" baseline="0" dirty="0">
                <a:latin typeface="Times-Roman"/>
              </a:rPr>
              <a:t>system requirements document</a:t>
            </a:r>
            <a:r>
              <a:rPr lang="en-US" sz="2400" b="0" i="0" u="none" strike="noStrike" baseline="0" dirty="0">
                <a:latin typeface="Times-Roman"/>
              </a:rPr>
              <a:t>. The overall process includes four high-level requirements engineering sub-processes. These are concerned with:</a:t>
            </a:r>
          </a:p>
          <a:p>
            <a:pPr marL="457200" indent="-457200" algn="l">
              <a:buFont typeface="+mj-lt"/>
              <a:buAutoNum type="arabicPeriod"/>
            </a:pPr>
            <a:r>
              <a:rPr lang="en-US" sz="2400" b="0" i="0" u="none" strike="noStrike" baseline="0" dirty="0">
                <a:latin typeface="Times-Roman"/>
              </a:rPr>
              <a:t> assessing whether the system is </a:t>
            </a:r>
            <a:r>
              <a:rPr lang="en-US" sz="2400" b="0" i="0" u="none" strike="noStrike" baseline="0" dirty="0">
                <a:solidFill>
                  <a:srgbClr val="FF0000"/>
                </a:solidFill>
                <a:latin typeface="Times-Roman"/>
              </a:rPr>
              <a:t>useful to the business </a:t>
            </a:r>
            <a:r>
              <a:rPr lang="en-US" sz="2400" b="0" i="0" u="none" strike="noStrike" baseline="0" dirty="0">
                <a:latin typeface="Times-Roman"/>
              </a:rPr>
              <a:t>(</a:t>
            </a:r>
            <a:r>
              <a:rPr lang="en-US" sz="2400" b="1" i="0" u="none" strike="noStrike" baseline="0" dirty="0">
                <a:latin typeface="Times-Roman"/>
              </a:rPr>
              <a:t>feasibility study</a:t>
            </a:r>
            <a:r>
              <a:rPr lang="en-US" sz="2400" b="0" i="0" u="none" strike="noStrike" baseline="0" dirty="0">
                <a:latin typeface="Times-Roman"/>
              </a:rPr>
              <a:t>); </a:t>
            </a:r>
          </a:p>
          <a:p>
            <a:pPr marL="457200" indent="-457200" algn="l">
              <a:buFont typeface="+mj-lt"/>
              <a:buAutoNum type="arabicPeriod"/>
            </a:pPr>
            <a:r>
              <a:rPr lang="en-US" sz="2400" b="0" i="0" u="none" strike="noStrike" baseline="0" dirty="0">
                <a:solidFill>
                  <a:srgbClr val="FF0000"/>
                </a:solidFill>
                <a:latin typeface="Times-Roman"/>
              </a:rPr>
              <a:t>discoverin</a:t>
            </a:r>
            <a:r>
              <a:rPr lang="en-US" sz="2400" b="0" i="0" u="none" strike="noStrike" baseline="0" dirty="0">
                <a:latin typeface="Times-Roman"/>
              </a:rPr>
              <a:t>g requirements (</a:t>
            </a:r>
            <a:r>
              <a:rPr lang="en-US" sz="2400" b="1" i="0" u="none" strike="noStrike" baseline="0" dirty="0">
                <a:latin typeface="Times-Roman"/>
              </a:rPr>
              <a:t>elicitation and analysis</a:t>
            </a:r>
            <a:r>
              <a:rPr lang="en-US" sz="2400" b="0" i="0" u="none" strike="noStrike" baseline="0" dirty="0">
                <a:latin typeface="Times-Roman"/>
              </a:rPr>
              <a:t>); </a:t>
            </a:r>
          </a:p>
          <a:p>
            <a:pPr marL="457200" indent="-457200" algn="l">
              <a:buFont typeface="+mj-lt"/>
              <a:buAutoNum type="arabicPeriod"/>
            </a:pPr>
            <a:r>
              <a:rPr lang="en-US" sz="2400" b="0" i="0" u="none" strike="noStrike" baseline="0" dirty="0">
                <a:latin typeface="Times-Roman"/>
              </a:rPr>
              <a:t>converting these requirements into some standard form (</a:t>
            </a:r>
            <a:r>
              <a:rPr lang="en-US" sz="2400" b="1" i="0" u="none" strike="noStrike" baseline="0" dirty="0">
                <a:latin typeface="Times-Roman"/>
              </a:rPr>
              <a:t>specification</a:t>
            </a:r>
            <a:r>
              <a:rPr lang="en-US" sz="2400" b="0" i="0" u="none" strike="noStrike" baseline="0" dirty="0">
                <a:latin typeface="Times-Roman"/>
              </a:rPr>
              <a:t>); </a:t>
            </a:r>
          </a:p>
          <a:p>
            <a:pPr marL="457200" indent="-457200" algn="l">
              <a:buFont typeface="+mj-lt"/>
              <a:buAutoNum type="arabicPeriod"/>
            </a:pPr>
            <a:r>
              <a:rPr lang="en-US" sz="2400" b="0" i="0" u="none" strike="noStrike" baseline="0" dirty="0">
                <a:latin typeface="Times-Roman"/>
              </a:rPr>
              <a:t>and checking that the requirements actually define the system that the </a:t>
            </a:r>
            <a:r>
              <a:rPr lang="en-IN" sz="2400" b="0" i="0" u="none" strike="noStrike" baseline="0" dirty="0">
                <a:latin typeface="Times-Roman"/>
              </a:rPr>
              <a:t>customer wants (</a:t>
            </a:r>
            <a:r>
              <a:rPr lang="en-IN" sz="2400" b="1" i="0" u="none" strike="noStrike" baseline="0" dirty="0">
                <a:latin typeface="Times-Roman"/>
              </a:rPr>
              <a:t>validation</a:t>
            </a:r>
            <a:r>
              <a:rPr lang="en-IN" sz="2400" b="0" i="0" u="none" strike="noStrike" baseline="0" dirty="0">
                <a:latin typeface="Times-Roman"/>
              </a:rPr>
              <a:t>).</a:t>
            </a:r>
            <a:endParaRPr lang="en-IN" sz="2400" dirty="0"/>
          </a:p>
        </p:txBody>
      </p:sp>
    </p:spTree>
    <p:extLst>
      <p:ext uri="{BB962C8B-B14F-4D97-AF65-F5344CB8AC3E}">
        <p14:creationId xmlns:p14="http://schemas.microsoft.com/office/powerpoint/2010/main" val="1182211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D2463-BEA9-EEA9-6B78-9C81EB36DF34}"/>
              </a:ext>
            </a:extLst>
          </p:cNvPr>
          <p:cNvSpPr>
            <a:spLocks noGrp="1"/>
          </p:cNvSpPr>
          <p:nvPr>
            <p:ph type="title"/>
          </p:nvPr>
        </p:nvSpPr>
        <p:spPr>
          <a:xfrm>
            <a:off x="293915" y="86405"/>
            <a:ext cx="10515600" cy="1325563"/>
          </a:xfrm>
        </p:spPr>
        <p:txBody>
          <a:bodyPr>
            <a:normAutofit/>
          </a:bodyPr>
          <a:lstStyle/>
          <a:p>
            <a:r>
              <a:rPr lang="en-IN" b="1" dirty="0"/>
              <a:t>The requirements engineering process</a:t>
            </a:r>
          </a:p>
        </p:txBody>
      </p:sp>
      <p:pic>
        <p:nvPicPr>
          <p:cNvPr id="5" name="Content Placeholder 4">
            <a:extLst>
              <a:ext uri="{FF2B5EF4-FFF2-40B4-BE49-F238E27FC236}">
                <a16:creationId xmlns:a16="http://schemas.microsoft.com/office/drawing/2014/main" id="{D11C6682-5000-F643-2F44-0A7B09AD17D3}"/>
              </a:ext>
            </a:extLst>
          </p:cNvPr>
          <p:cNvPicPr>
            <a:picLocks noGrp="1" noChangeAspect="1"/>
          </p:cNvPicPr>
          <p:nvPr>
            <p:ph idx="1"/>
          </p:nvPr>
        </p:nvPicPr>
        <p:blipFill>
          <a:blip r:embed="rId2"/>
          <a:stretch>
            <a:fillRect/>
          </a:stretch>
        </p:blipFill>
        <p:spPr>
          <a:xfrm>
            <a:off x="152248" y="1411968"/>
            <a:ext cx="6836534" cy="4351338"/>
          </a:xfrm>
        </p:spPr>
      </p:pic>
      <p:sp>
        <p:nvSpPr>
          <p:cNvPr id="6" name="TextBox 5">
            <a:extLst>
              <a:ext uri="{FF2B5EF4-FFF2-40B4-BE49-F238E27FC236}">
                <a16:creationId xmlns:a16="http://schemas.microsoft.com/office/drawing/2014/main" id="{045784CB-2F5A-6F1E-BAD1-6472AF6051B9}"/>
              </a:ext>
            </a:extLst>
          </p:cNvPr>
          <p:cNvSpPr txBox="1"/>
          <p:nvPr/>
        </p:nvSpPr>
        <p:spPr>
          <a:xfrm>
            <a:off x="7391401" y="1305341"/>
            <a:ext cx="4201885" cy="3970318"/>
          </a:xfrm>
          <a:prstGeom prst="rect">
            <a:avLst/>
          </a:prstGeom>
          <a:noFill/>
        </p:spPr>
        <p:txBody>
          <a:bodyPr wrap="square" rtlCol="0">
            <a:spAutoFit/>
          </a:bodyPr>
          <a:lstStyle/>
          <a:p>
            <a:pPr algn="l"/>
            <a:r>
              <a:rPr lang="en-US" sz="1800" b="0" i="0" u="none" strike="noStrike" baseline="0" dirty="0">
                <a:latin typeface="Times-Roman"/>
              </a:rPr>
              <a:t>The activities shown in this figure are concerned with the discovery, documentation and checking of requirements. </a:t>
            </a:r>
            <a:r>
              <a:rPr lang="en-US" sz="1800" b="0" i="0" u="none" strike="noStrike" baseline="0" dirty="0">
                <a:solidFill>
                  <a:srgbClr val="FF0000"/>
                </a:solidFill>
                <a:latin typeface="Times-Roman"/>
              </a:rPr>
              <a:t>In virtually all systems, however, requirements change</a:t>
            </a:r>
            <a:r>
              <a:rPr lang="en-US" sz="1800" b="0" i="0" u="none" strike="noStrike" baseline="0" dirty="0">
                <a:latin typeface="Times-Roman"/>
              </a:rPr>
              <a:t>. The people involved develop a better understanding of what they want the software to do; the </a:t>
            </a:r>
            <a:r>
              <a:rPr lang="en-US" sz="1800" b="0" i="0" u="none" strike="noStrike" baseline="0" dirty="0" err="1">
                <a:latin typeface="Times-Roman"/>
              </a:rPr>
              <a:t>organisation</a:t>
            </a:r>
            <a:r>
              <a:rPr lang="en-US" sz="1800" b="0" i="0" u="none" strike="noStrike" baseline="0" dirty="0">
                <a:latin typeface="Times-Roman"/>
              </a:rPr>
              <a:t> buying the system changes; modifications are made to the system’s hardware, software and </a:t>
            </a:r>
            <a:r>
              <a:rPr lang="en-US" sz="1800" b="0" i="0" u="none" strike="noStrike" baseline="0" dirty="0" err="1">
                <a:latin typeface="Times-Roman"/>
              </a:rPr>
              <a:t>organisational</a:t>
            </a:r>
            <a:r>
              <a:rPr lang="en-US" sz="1800" b="0" i="0" u="none" strike="noStrike" baseline="0" dirty="0">
                <a:latin typeface="Times-Roman"/>
              </a:rPr>
              <a:t> environment. The process of managing these changing requirements is called requirements management, which is covered in the final section of this chapter.</a:t>
            </a:r>
            <a:endParaRPr lang="en-IN" dirty="0"/>
          </a:p>
        </p:txBody>
      </p:sp>
    </p:spTree>
    <p:extLst>
      <p:ext uri="{BB962C8B-B14F-4D97-AF65-F5344CB8AC3E}">
        <p14:creationId xmlns:p14="http://schemas.microsoft.com/office/powerpoint/2010/main" val="1990903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5341-014B-82A6-725C-0D56A7795BB8}"/>
              </a:ext>
            </a:extLst>
          </p:cNvPr>
          <p:cNvSpPr>
            <a:spLocks noGrp="1"/>
          </p:cNvSpPr>
          <p:nvPr>
            <p:ph type="title"/>
          </p:nvPr>
        </p:nvSpPr>
        <p:spPr>
          <a:xfrm>
            <a:off x="838200" y="365126"/>
            <a:ext cx="10515600" cy="592818"/>
          </a:xfrm>
        </p:spPr>
        <p:txBody>
          <a:bodyPr>
            <a:normAutofit fontScale="90000"/>
          </a:bodyPr>
          <a:lstStyle/>
          <a:p>
            <a:r>
              <a:rPr lang="en-IN" dirty="0"/>
              <a:t>Spiral model of RE</a:t>
            </a:r>
          </a:p>
        </p:txBody>
      </p:sp>
      <p:sp>
        <p:nvSpPr>
          <p:cNvPr id="4" name="TextBox 3">
            <a:extLst>
              <a:ext uri="{FF2B5EF4-FFF2-40B4-BE49-F238E27FC236}">
                <a16:creationId xmlns:a16="http://schemas.microsoft.com/office/drawing/2014/main" id="{99A0BF75-0231-CB8F-9C9F-1633E2A4023D}"/>
              </a:ext>
            </a:extLst>
          </p:cNvPr>
          <p:cNvSpPr txBox="1"/>
          <p:nvPr/>
        </p:nvSpPr>
        <p:spPr>
          <a:xfrm>
            <a:off x="7803463" y="365126"/>
            <a:ext cx="4150643" cy="5078313"/>
          </a:xfrm>
          <a:prstGeom prst="rect">
            <a:avLst/>
          </a:prstGeom>
          <a:noFill/>
        </p:spPr>
        <p:txBody>
          <a:bodyPr wrap="square" rtlCol="0">
            <a:spAutoFit/>
          </a:bodyPr>
          <a:lstStyle/>
          <a:p>
            <a:pPr marL="285750" indent="-285750" algn="just">
              <a:buFont typeface="Arial" panose="020B0604020202020204" pitchFamily="34" charset="0"/>
              <a:buChar char="•"/>
            </a:pPr>
            <a:r>
              <a:rPr lang="en-US" sz="1800" b="0" i="0" u="none" strike="noStrike" baseline="0" dirty="0">
                <a:latin typeface="Times-Roman"/>
              </a:rPr>
              <a:t>This presents the process as a </a:t>
            </a:r>
            <a:r>
              <a:rPr lang="en-US" sz="1800" b="0" i="0" u="none" strike="noStrike" baseline="0" dirty="0">
                <a:solidFill>
                  <a:srgbClr val="FF0000"/>
                </a:solidFill>
                <a:latin typeface="Times-Roman"/>
              </a:rPr>
              <a:t>three-stage activity</a:t>
            </a:r>
            <a:r>
              <a:rPr lang="en-US" sz="1800" b="0" i="0" u="none" strike="noStrike" baseline="0" dirty="0">
                <a:latin typeface="Times-Roman"/>
              </a:rPr>
              <a:t> where the activities are </a:t>
            </a:r>
            <a:r>
              <a:rPr lang="en-US" sz="1800" b="0" i="0" u="none" strike="noStrike" baseline="0" dirty="0" err="1">
                <a:latin typeface="Times-Roman"/>
              </a:rPr>
              <a:t>organised</a:t>
            </a:r>
            <a:r>
              <a:rPr lang="en-US" sz="1800" b="0" i="0" u="none" strike="noStrike" baseline="0" dirty="0">
                <a:latin typeface="Times-Roman"/>
              </a:rPr>
              <a:t> as an </a:t>
            </a:r>
            <a:r>
              <a:rPr lang="en-US" sz="1800" b="0" i="0" u="none" strike="noStrike" baseline="0" dirty="0">
                <a:solidFill>
                  <a:srgbClr val="FF0000"/>
                </a:solidFill>
                <a:latin typeface="Times-Roman"/>
              </a:rPr>
              <a:t>iterative process </a:t>
            </a:r>
            <a:r>
              <a:rPr lang="en-US" sz="1800" b="0" i="0" u="none" strike="noStrike" baseline="0" dirty="0">
                <a:latin typeface="Times-Roman"/>
              </a:rPr>
              <a:t>around a spiral. </a:t>
            </a:r>
          </a:p>
          <a:p>
            <a:pPr marL="285750" indent="-285750" algn="just">
              <a:buFont typeface="Arial" panose="020B0604020202020204" pitchFamily="34" charset="0"/>
              <a:buChar char="•"/>
            </a:pPr>
            <a:r>
              <a:rPr lang="en-US" sz="1800" b="0" i="0" u="none" strike="noStrike" baseline="0" dirty="0">
                <a:latin typeface="Times-Roman"/>
              </a:rPr>
              <a:t>The amount of </a:t>
            </a:r>
            <a:r>
              <a:rPr lang="en-US" sz="1800" b="0" i="0" u="none" strike="noStrike" baseline="0" dirty="0">
                <a:solidFill>
                  <a:srgbClr val="FF0000"/>
                </a:solidFill>
                <a:latin typeface="Times-Roman"/>
              </a:rPr>
              <a:t>time and effort </a:t>
            </a:r>
            <a:r>
              <a:rPr lang="en-US" sz="1800" b="0" i="0" u="none" strike="noStrike" baseline="0" dirty="0">
                <a:latin typeface="Times-Roman"/>
              </a:rPr>
              <a:t>devoted to each activity in an iteration </a:t>
            </a:r>
            <a:r>
              <a:rPr lang="en-US" sz="1800" b="0" i="0" u="none" strike="noStrike" baseline="0" dirty="0">
                <a:solidFill>
                  <a:srgbClr val="FF0000"/>
                </a:solidFill>
                <a:latin typeface="Times-Roman"/>
              </a:rPr>
              <a:t>depends on the stage </a:t>
            </a:r>
            <a:r>
              <a:rPr lang="en-US" sz="1800" b="0" i="0" u="none" strike="noStrike" baseline="0" dirty="0">
                <a:latin typeface="Times-Roman"/>
              </a:rPr>
              <a:t>of the overall </a:t>
            </a:r>
            <a:r>
              <a:rPr lang="en-US" sz="1800" b="0" i="0" u="none" strike="noStrike" baseline="0" dirty="0">
                <a:solidFill>
                  <a:srgbClr val="FF0000"/>
                </a:solidFill>
                <a:latin typeface="Times-Roman"/>
              </a:rPr>
              <a:t>process and the type of system </a:t>
            </a:r>
            <a:r>
              <a:rPr lang="en-US" sz="1800" b="0" i="0" u="none" strike="noStrike" baseline="0" dirty="0">
                <a:latin typeface="Times-Roman"/>
              </a:rPr>
              <a:t>being developed. </a:t>
            </a:r>
          </a:p>
          <a:p>
            <a:pPr marL="285750" indent="-285750" algn="just">
              <a:buFont typeface="Arial" panose="020B0604020202020204" pitchFamily="34" charset="0"/>
              <a:buChar char="•"/>
            </a:pPr>
            <a:r>
              <a:rPr lang="en-US" sz="1800" b="0" i="0" u="none" strike="noStrike" baseline="0" dirty="0">
                <a:solidFill>
                  <a:srgbClr val="FF0000"/>
                </a:solidFill>
                <a:latin typeface="Times-Roman"/>
              </a:rPr>
              <a:t>Early</a:t>
            </a:r>
            <a:r>
              <a:rPr lang="en-US" sz="1800" b="0" i="0" u="none" strike="noStrike" baseline="0" dirty="0">
                <a:latin typeface="Times-Roman"/>
              </a:rPr>
              <a:t> in the process, most effort will be spent on understanding high-level business and </a:t>
            </a:r>
            <a:r>
              <a:rPr lang="en-US" sz="1800" b="0" i="0" u="none" strike="noStrike" baseline="0" dirty="0">
                <a:solidFill>
                  <a:srgbClr val="FF0000"/>
                </a:solidFill>
                <a:latin typeface="Times-Roman"/>
              </a:rPr>
              <a:t>non-functional requirements and the user requirements</a:t>
            </a:r>
            <a:r>
              <a:rPr lang="en-US" sz="1800" b="0" i="0" u="none" strike="noStrike" baseline="0" dirty="0">
                <a:latin typeface="Times-Roman"/>
              </a:rPr>
              <a:t>. </a:t>
            </a:r>
          </a:p>
          <a:p>
            <a:pPr marL="285750" indent="-285750" algn="just">
              <a:buFont typeface="Arial" panose="020B0604020202020204" pitchFamily="34" charset="0"/>
              <a:buChar char="•"/>
            </a:pPr>
            <a:r>
              <a:rPr lang="en-US" sz="1800" b="0" i="0" u="none" strike="noStrike" baseline="0" dirty="0">
                <a:latin typeface="Times-Roman"/>
              </a:rPr>
              <a:t>Later in the process, in the outer rings of the spiral, more effort will be devoted to </a:t>
            </a:r>
            <a:r>
              <a:rPr lang="en-US" sz="1800" b="0" i="0" u="none" strike="noStrike" baseline="0" dirty="0">
                <a:solidFill>
                  <a:srgbClr val="FF0000"/>
                </a:solidFill>
                <a:latin typeface="Times-Roman"/>
              </a:rPr>
              <a:t>system requirements engineering</a:t>
            </a:r>
            <a:r>
              <a:rPr lang="en-US" sz="1800" b="0" i="0" u="none" strike="noStrike" baseline="0" dirty="0">
                <a:latin typeface="Times-Roman"/>
              </a:rPr>
              <a:t> and system modelling.</a:t>
            </a:r>
          </a:p>
          <a:p>
            <a:pPr marL="285750" indent="-285750" algn="just">
              <a:buFont typeface="Arial" panose="020B0604020202020204" pitchFamily="34" charset="0"/>
              <a:buChar char="•"/>
            </a:pPr>
            <a:r>
              <a:rPr lang="en-US" sz="1800" b="0" i="0" u="none" strike="noStrike" baseline="0" dirty="0">
                <a:latin typeface="Times-Roman"/>
              </a:rPr>
              <a:t>The </a:t>
            </a:r>
            <a:r>
              <a:rPr lang="en-US" sz="1800" b="0" i="0" u="none" strike="noStrike" baseline="0" dirty="0">
                <a:solidFill>
                  <a:srgbClr val="FF0000"/>
                </a:solidFill>
                <a:latin typeface="Times-Roman"/>
              </a:rPr>
              <a:t>number of iterations</a:t>
            </a:r>
            <a:r>
              <a:rPr lang="en-US" sz="1800" b="0" i="0" u="none" strike="noStrike" baseline="0" dirty="0">
                <a:latin typeface="Times-Roman"/>
              </a:rPr>
              <a:t> around the </a:t>
            </a:r>
            <a:r>
              <a:rPr lang="en-IN" sz="1800" b="0" i="0" u="none" strike="noStrike" baseline="0" dirty="0">
                <a:latin typeface="Times-Roman"/>
              </a:rPr>
              <a:t>spiral can </a:t>
            </a:r>
            <a:r>
              <a:rPr lang="en-IN" sz="1800" b="0" i="0" u="none" strike="noStrike" baseline="0" dirty="0">
                <a:solidFill>
                  <a:srgbClr val="FF0000"/>
                </a:solidFill>
                <a:latin typeface="Times-Roman"/>
              </a:rPr>
              <a:t>vary</a:t>
            </a:r>
            <a:endParaRPr lang="en-IN" dirty="0">
              <a:solidFill>
                <a:srgbClr val="FF0000"/>
              </a:solidFill>
            </a:endParaRPr>
          </a:p>
        </p:txBody>
      </p:sp>
      <p:pic>
        <p:nvPicPr>
          <p:cNvPr id="6" name="Picture 5">
            <a:extLst>
              <a:ext uri="{FF2B5EF4-FFF2-40B4-BE49-F238E27FC236}">
                <a16:creationId xmlns:a16="http://schemas.microsoft.com/office/drawing/2014/main" id="{9A5C148E-9C4E-3DD4-6C02-DC1BFB1CE354}"/>
              </a:ext>
            </a:extLst>
          </p:cNvPr>
          <p:cNvPicPr>
            <a:picLocks noChangeAspect="1"/>
          </p:cNvPicPr>
          <p:nvPr/>
        </p:nvPicPr>
        <p:blipFill>
          <a:blip r:embed="rId2"/>
          <a:stretch>
            <a:fillRect/>
          </a:stretch>
        </p:blipFill>
        <p:spPr>
          <a:xfrm>
            <a:off x="0" y="279879"/>
            <a:ext cx="7133065" cy="5896798"/>
          </a:xfrm>
          <a:prstGeom prst="rect">
            <a:avLst/>
          </a:prstGeom>
        </p:spPr>
      </p:pic>
    </p:spTree>
    <p:extLst>
      <p:ext uri="{BB962C8B-B14F-4D97-AF65-F5344CB8AC3E}">
        <p14:creationId xmlns:p14="http://schemas.microsoft.com/office/powerpoint/2010/main" val="1896116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77200-1811-9090-E183-9AA35AC388BD}"/>
              </a:ext>
            </a:extLst>
          </p:cNvPr>
          <p:cNvSpPr>
            <a:spLocks noGrp="1"/>
          </p:cNvSpPr>
          <p:nvPr>
            <p:ph type="title"/>
          </p:nvPr>
        </p:nvSpPr>
        <p:spPr>
          <a:xfrm>
            <a:off x="838200" y="272144"/>
            <a:ext cx="10515600" cy="892628"/>
          </a:xfrm>
        </p:spPr>
        <p:txBody>
          <a:bodyPr/>
          <a:lstStyle/>
          <a:p>
            <a:r>
              <a:rPr lang="en-US" b="1" dirty="0"/>
              <a:t>FEASIBILITY STUDY</a:t>
            </a:r>
            <a:endParaRPr lang="en-IN" b="1" dirty="0"/>
          </a:p>
        </p:txBody>
      </p:sp>
      <p:sp>
        <p:nvSpPr>
          <p:cNvPr id="3" name="Content Placeholder 2">
            <a:extLst>
              <a:ext uri="{FF2B5EF4-FFF2-40B4-BE49-F238E27FC236}">
                <a16:creationId xmlns:a16="http://schemas.microsoft.com/office/drawing/2014/main" id="{93D48707-84BE-8FB3-3081-855944FC9984}"/>
              </a:ext>
            </a:extLst>
          </p:cNvPr>
          <p:cNvSpPr>
            <a:spLocks noGrp="1"/>
          </p:cNvSpPr>
          <p:nvPr>
            <p:ph idx="1"/>
          </p:nvPr>
        </p:nvSpPr>
        <p:spPr/>
        <p:txBody>
          <a:bodyPr/>
          <a:lstStyle/>
          <a:p>
            <a:pPr marL="0" indent="0" algn="just">
              <a:buNone/>
            </a:pPr>
            <a:r>
              <a:rPr lang="en-US" sz="2800" dirty="0"/>
              <a:t>A Feasibility should answer three questions</a:t>
            </a:r>
          </a:p>
          <a:p>
            <a:pPr marL="457200" indent="-457200" algn="just">
              <a:buFont typeface="+mj-lt"/>
              <a:buAutoNum type="alphaLcParenR"/>
            </a:pPr>
            <a:r>
              <a:rPr lang="en-US" sz="2800" dirty="0"/>
              <a:t>Does the system contribute to the </a:t>
            </a:r>
            <a:r>
              <a:rPr lang="en-US" sz="2800" b="1" dirty="0">
                <a:solidFill>
                  <a:srgbClr val="C00000"/>
                </a:solidFill>
              </a:rPr>
              <a:t>overall</a:t>
            </a:r>
            <a:r>
              <a:rPr lang="en-US" sz="2800" dirty="0"/>
              <a:t> objectives of the organization?</a:t>
            </a:r>
          </a:p>
          <a:p>
            <a:pPr marL="457200" indent="-457200" algn="just">
              <a:buFont typeface="+mj-lt"/>
              <a:buAutoNum type="alphaLcParenR"/>
            </a:pPr>
            <a:r>
              <a:rPr lang="en-US" sz="2800" dirty="0"/>
              <a:t>Can the system be implemented within </a:t>
            </a:r>
            <a:r>
              <a:rPr lang="en-US" sz="2800" b="1" dirty="0">
                <a:solidFill>
                  <a:srgbClr val="C00000"/>
                </a:solidFill>
              </a:rPr>
              <a:t>schedule</a:t>
            </a:r>
            <a:r>
              <a:rPr lang="en-US" sz="2800" dirty="0"/>
              <a:t> and </a:t>
            </a:r>
            <a:r>
              <a:rPr lang="en-US" sz="2800" b="1" dirty="0">
                <a:solidFill>
                  <a:srgbClr val="C00000"/>
                </a:solidFill>
              </a:rPr>
              <a:t>budget</a:t>
            </a:r>
            <a:r>
              <a:rPr lang="en-US" sz="2800" dirty="0"/>
              <a:t> using current technology?</a:t>
            </a:r>
          </a:p>
          <a:p>
            <a:pPr marL="457200" indent="-457200" algn="just">
              <a:buFont typeface="+mj-lt"/>
              <a:buAutoNum type="alphaLcParenR"/>
            </a:pPr>
            <a:r>
              <a:rPr lang="en-US" sz="2800" dirty="0"/>
              <a:t>Can the system be </a:t>
            </a:r>
            <a:r>
              <a:rPr lang="en-US" sz="2800" b="1" dirty="0">
                <a:solidFill>
                  <a:srgbClr val="C00000"/>
                </a:solidFill>
              </a:rPr>
              <a:t>integrated</a:t>
            </a:r>
            <a:r>
              <a:rPr lang="en-US" sz="2800" dirty="0"/>
              <a:t> with other systems that are used?</a:t>
            </a:r>
          </a:p>
          <a:p>
            <a:pPr marL="0" indent="0" algn="just">
              <a:buNone/>
            </a:pPr>
            <a:r>
              <a:rPr lang="en-US" sz="2800" b="1" dirty="0"/>
              <a:t>If these questions are satisfied only we have to go ahead with the project.</a:t>
            </a:r>
          </a:p>
          <a:p>
            <a:pPr marL="0" indent="0">
              <a:buNone/>
            </a:pPr>
            <a:endParaRPr lang="en-IN" dirty="0"/>
          </a:p>
        </p:txBody>
      </p:sp>
    </p:spTree>
    <p:extLst>
      <p:ext uri="{BB962C8B-B14F-4D97-AF65-F5344CB8AC3E}">
        <p14:creationId xmlns:p14="http://schemas.microsoft.com/office/powerpoint/2010/main" val="2065652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9569-59C3-ACE1-DFE4-72B199FB0F4D}"/>
              </a:ext>
            </a:extLst>
          </p:cNvPr>
          <p:cNvSpPr>
            <a:spLocks noGrp="1"/>
          </p:cNvSpPr>
          <p:nvPr>
            <p:ph type="title"/>
          </p:nvPr>
        </p:nvSpPr>
        <p:spPr>
          <a:xfrm>
            <a:off x="838200" y="365125"/>
            <a:ext cx="10515600" cy="1027739"/>
          </a:xfrm>
        </p:spPr>
        <p:txBody>
          <a:bodyPr>
            <a:normAutofit/>
          </a:bodyPr>
          <a:lstStyle/>
          <a:p>
            <a:r>
              <a:rPr lang="en-IN" b="1" dirty="0"/>
              <a:t>Requirements elicitation</a:t>
            </a:r>
          </a:p>
        </p:txBody>
      </p:sp>
      <p:sp>
        <p:nvSpPr>
          <p:cNvPr id="3" name="Content Placeholder 2">
            <a:extLst>
              <a:ext uri="{FF2B5EF4-FFF2-40B4-BE49-F238E27FC236}">
                <a16:creationId xmlns:a16="http://schemas.microsoft.com/office/drawing/2014/main" id="{F8B1CE06-8078-B5E1-BB5E-FFF936173E52}"/>
              </a:ext>
            </a:extLst>
          </p:cNvPr>
          <p:cNvSpPr>
            <a:spLocks noGrp="1"/>
          </p:cNvSpPr>
          <p:nvPr>
            <p:ph idx="1"/>
          </p:nvPr>
        </p:nvSpPr>
        <p:spPr/>
        <p:txBody>
          <a:bodyPr/>
          <a:lstStyle/>
          <a:p>
            <a:r>
              <a:rPr lang="en-US" dirty="0"/>
              <a:t>Sometimes called </a:t>
            </a:r>
            <a:r>
              <a:rPr lang="en-US" b="1" dirty="0"/>
              <a:t>requirements elicitation or requirements discovery</a:t>
            </a:r>
            <a:r>
              <a:rPr lang="en-US" dirty="0"/>
              <a:t>.</a:t>
            </a:r>
          </a:p>
          <a:p>
            <a:r>
              <a:rPr lang="en-US" dirty="0"/>
              <a:t>Involves technical staff working with customers to find out about the application domain, the services that the system should provide, and the system’s operational constraints.</a:t>
            </a:r>
          </a:p>
          <a:p>
            <a:r>
              <a:rPr lang="en-US" dirty="0"/>
              <a:t>May involve end-users, managers, engineers involved in maintenance, domain experts, trade unions, etc. These are called stakeholders.</a:t>
            </a:r>
          </a:p>
          <a:p>
            <a:endParaRPr lang="en-IN" dirty="0"/>
          </a:p>
        </p:txBody>
      </p:sp>
    </p:spTree>
    <p:extLst>
      <p:ext uri="{BB962C8B-B14F-4D97-AF65-F5344CB8AC3E}">
        <p14:creationId xmlns:p14="http://schemas.microsoft.com/office/powerpoint/2010/main" val="894177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4A69D-3444-F1B2-9BA1-D3F09DF3230F}"/>
              </a:ext>
            </a:extLst>
          </p:cNvPr>
          <p:cNvSpPr>
            <a:spLocks noGrp="1"/>
          </p:cNvSpPr>
          <p:nvPr>
            <p:ph type="title"/>
          </p:nvPr>
        </p:nvSpPr>
        <p:spPr>
          <a:xfrm>
            <a:off x="838200" y="365125"/>
            <a:ext cx="10515600" cy="900149"/>
          </a:xfrm>
        </p:spPr>
        <p:txBody>
          <a:bodyPr/>
          <a:lstStyle/>
          <a:p>
            <a:r>
              <a:rPr lang="en-IN" dirty="0"/>
              <a:t>Requirements elicitation</a:t>
            </a:r>
          </a:p>
        </p:txBody>
      </p:sp>
      <p:sp>
        <p:nvSpPr>
          <p:cNvPr id="3" name="Content Placeholder 2">
            <a:extLst>
              <a:ext uri="{FF2B5EF4-FFF2-40B4-BE49-F238E27FC236}">
                <a16:creationId xmlns:a16="http://schemas.microsoft.com/office/drawing/2014/main" id="{4C7212FA-5890-720A-F2C7-36C7E9949AA4}"/>
              </a:ext>
            </a:extLst>
          </p:cNvPr>
          <p:cNvSpPr>
            <a:spLocks noGrp="1"/>
          </p:cNvSpPr>
          <p:nvPr>
            <p:ph idx="1"/>
          </p:nvPr>
        </p:nvSpPr>
        <p:spPr/>
        <p:txBody>
          <a:bodyPr/>
          <a:lstStyle/>
          <a:p>
            <a:pPr algn="just">
              <a:lnSpc>
                <a:spcPct val="100000"/>
              </a:lnSpc>
            </a:pPr>
            <a:r>
              <a:rPr lang="en-US" sz="2200" dirty="0"/>
              <a:t>Software engineers work with a range of system stakeholders to find out about the </a:t>
            </a:r>
            <a:r>
              <a:rPr lang="en-US" sz="2200" b="1" dirty="0">
                <a:solidFill>
                  <a:schemeClr val="tx1"/>
                </a:solidFill>
              </a:rPr>
              <a:t>application domain</a:t>
            </a:r>
            <a:r>
              <a:rPr lang="en-US" sz="2200" dirty="0"/>
              <a:t>, the </a:t>
            </a:r>
            <a:r>
              <a:rPr lang="en-US" sz="2200" b="1" dirty="0">
                <a:solidFill>
                  <a:schemeClr val="tx1"/>
                </a:solidFill>
              </a:rPr>
              <a:t>services that the system </a:t>
            </a:r>
            <a:r>
              <a:rPr lang="en-US" sz="2200" dirty="0"/>
              <a:t>should provide, the required </a:t>
            </a:r>
            <a:r>
              <a:rPr lang="en-US" sz="2200" b="1" dirty="0">
                <a:solidFill>
                  <a:schemeClr val="tx1"/>
                </a:solidFill>
              </a:rPr>
              <a:t>system performance</a:t>
            </a:r>
            <a:r>
              <a:rPr lang="en-US" sz="2200" dirty="0"/>
              <a:t>, </a:t>
            </a:r>
            <a:r>
              <a:rPr lang="en-US" sz="2200" b="1" dirty="0">
                <a:solidFill>
                  <a:schemeClr val="tx1"/>
                </a:solidFill>
              </a:rPr>
              <a:t>hardware constraints</a:t>
            </a:r>
            <a:r>
              <a:rPr lang="en-US" sz="2200" dirty="0"/>
              <a:t>, other systems, etc.</a:t>
            </a:r>
          </a:p>
          <a:p>
            <a:pPr algn="just">
              <a:lnSpc>
                <a:spcPct val="100000"/>
              </a:lnSpc>
            </a:pPr>
            <a:r>
              <a:rPr lang="en-US" sz="2200" dirty="0"/>
              <a:t>Stages include:</a:t>
            </a:r>
          </a:p>
          <a:p>
            <a:pPr lvl="1" algn="just">
              <a:lnSpc>
                <a:spcPct val="100000"/>
              </a:lnSpc>
            </a:pPr>
            <a:r>
              <a:rPr lang="en-US" dirty="0"/>
              <a:t>Requirements discovery,</a:t>
            </a:r>
          </a:p>
          <a:p>
            <a:pPr lvl="1" algn="just">
              <a:lnSpc>
                <a:spcPct val="100000"/>
              </a:lnSpc>
            </a:pPr>
            <a:r>
              <a:rPr lang="en-US" dirty="0"/>
              <a:t>Requirements classification and organization,</a:t>
            </a:r>
          </a:p>
          <a:p>
            <a:pPr lvl="1" algn="just">
              <a:lnSpc>
                <a:spcPct val="100000"/>
              </a:lnSpc>
            </a:pPr>
            <a:r>
              <a:rPr lang="en-US" dirty="0"/>
              <a:t>Requirements prioritization and negotiation,</a:t>
            </a:r>
          </a:p>
          <a:p>
            <a:pPr lvl="1" algn="just">
              <a:lnSpc>
                <a:spcPct val="100000"/>
              </a:lnSpc>
            </a:pPr>
            <a:r>
              <a:rPr lang="en-US" dirty="0"/>
              <a:t>Requirements specification.</a:t>
            </a:r>
          </a:p>
          <a:p>
            <a:endParaRPr lang="en-IN" dirty="0"/>
          </a:p>
        </p:txBody>
      </p:sp>
    </p:spTree>
    <p:extLst>
      <p:ext uri="{BB962C8B-B14F-4D97-AF65-F5344CB8AC3E}">
        <p14:creationId xmlns:p14="http://schemas.microsoft.com/office/powerpoint/2010/main" val="967679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4A553-5358-ECFC-428D-BA76E515024A}"/>
              </a:ext>
            </a:extLst>
          </p:cNvPr>
          <p:cNvSpPr>
            <a:spLocks noGrp="1"/>
          </p:cNvSpPr>
          <p:nvPr>
            <p:ph type="title"/>
          </p:nvPr>
        </p:nvSpPr>
        <p:spPr>
          <a:xfrm>
            <a:off x="838200" y="365125"/>
            <a:ext cx="10515600" cy="740661"/>
          </a:xfrm>
        </p:spPr>
        <p:txBody>
          <a:bodyPr/>
          <a:lstStyle/>
          <a:p>
            <a:r>
              <a:rPr lang="en-IN" dirty="0"/>
              <a:t>Problems of requirements elicitation</a:t>
            </a:r>
          </a:p>
        </p:txBody>
      </p:sp>
      <p:sp>
        <p:nvSpPr>
          <p:cNvPr id="3" name="Content Placeholder 2">
            <a:extLst>
              <a:ext uri="{FF2B5EF4-FFF2-40B4-BE49-F238E27FC236}">
                <a16:creationId xmlns:a16="http://schemas.microsoft.com/office/drawing/2014/main" id="{E2FB8643-88ED-BFB2-A927-EC88CE35FEFD}"/>
              </a:ext>
            </a:extLst>
          </p:cNvPr>
          <p:cNvSpPr>
            <a:spLocks noGrp="1"/>
          </p:cNvSpPr>
          <p:nvPr>
            <p:ph idx="1"/>
          </p:nvPr>
        </p:nvSpPr>
        <p:spPr/>
        <p:txBody>
          <a:bodyPr/>
          <a:lstStyle/>
          <a:p>
            <a:pPr algn="just"/>
            <a:r>
              <a:rPr lang="en-GB" sz="2800" dirty="0"/>
              <a:t>Stakeholders </a:t>
            </a:r>
            <a:r>
              <a:rPr lang="en-GB" sz="2800" b="1" dirty="0">
                <a:solidFill>
                  <a:srgbClr val="FF0000"/>
                </a:solidFill>
              </a:rPr>
              <a:t>don’t know </a:t>
            </a:r>
            <a:r>
              <a:rPr lang="en-GB" sz="2800" dirty="0"/>
              <a:t>what they really want.</a:t>
            </a:r>
          </a:p>
          <a:p>
            <a:pPr algn="just"/>
            <a:r>
              <a:rPr lang="en-GB" sz="2800" dirty="0"/>
              <a:t>Stakeholders express requirements in their </a:t>
            </a:r>
            <a:r>
              <a:rPr lang="en-GB" sz="2800" b="1" dirty="0">
                <a:solidFill>
                  <a:srgbClr val="002060"/>
                </a:solidFill>
              </a:rPr>
              <a:t>own words</a:t>
            </a:r>
            <a:r>
              <a:rPr lang="en-GB" sz="2800" dirty="0"/>
              <a:t>.</a:t>
            </a:r>
          </a:p>
          <a:p>
            <a:pPr algn="just"/>
            <a:r>
              <a:rPr lang="en-GB" sz="2800" b="1" dirty="0">
                <a:solidFill>
                  <a:srgbClr val="C00000"/>
                </a:solidFill>
              </a:rPr>
              <a:t>Different stakeholders</a:t>
            </a:r>
            <a:r>
              <a:rPr lang="en-GB" sz="2800" dirty="0"/>
              <a:t> may have </a:t>
            </a:r>
            <a:r>
              <a:rPr lang="en-GB" sz="2800" b="1" dirty="0">
                <a:solidFill>
                  <a:srgbClr val="C00000"/>
                </a:solidFill>
              </a:rPr>
              <a:t>conflicting requirements.</a:t>
            </a:r>
          </a:p>
          <a:p>
            <a:pPr algn="just"/>
            <a:r>
              <a:rPr lang="en-GB" sz="2800" b="1" dirty="0">
                <a:solidFill>
                  <a:srgbClr val="C00000"/>
                </a:solidFill>
              </a:rPr>
              <a:t>Organizational</a:t>
            </a:r>
            <a:r>
              <a:rPr lang="en-GB" sz="2800" dirty="0"/>
              <a:t> and </a:t>
            </a:r>
            <a:r>
              <a:rPr lang="en-GB" sz="2800" b="1" dirty="0">
                <a:solidFill>
                  <a:srgbClr val="C00000"/>
                </a:solidFill>
              </a:rPr>
              <a:t>political factors </a:t>
            </a:r>
            <a:r>
              <a:rPr lang="en-GB" sz="2800" dirty="0"/>
              <a:t>may influence the system requirements.</a:t>
            </a:r>
          </a:p>
          <a:p>
            <a:pPr algn="just"/>
            <a:r>
              <a:rPr lang="en-GB" sz="2800" dirty="0"/>
              <a:t>The requirements </a:t>
            </a:r>
            <a:r>
              <a:rPr lang="en-GB" sz="2800" b="1" dirty="0">
                <a:solidFill>
                  <a:srgbClr val="C00000"/>
                </a:solidFill>
              </a:rPr>
              <a:t>change</a:t>
            </a:r>
            <a:r>
              <a:rPr lang="en-GB" sz="2800" dirty="0"/>
              <a:t> during the analysis process. </a:t>
            </a:r>
            <a:r>
              <a:rPr lang="en-GB" sz="2800" b="1" dirty="0">
                <a:solidFill>
                  <a:srgbClr val="C00000"/>
                </a:solidFill>
              </a:rPr>
              <a:t>New stakeholders may emerge </a:t>
            </a:r>
            <a:r>
              <a:rPr lang="en-GB" sz="2800" dirty="0"/>
              <a:t>and the business environment may change.</a:t>
            </a:r>
          </a:p>
          <a:p>
            <a:endParaRPr lang="en-IN" dirty="0"/>
          </a:p>
        </p:txBody>
      </p:sp>
    </p:spTree>
    <p:extLst>
      <p:ext uri="{BB962C8B-B14F-4D97-AF65-F5344CB8AC3E}">
        <p14:creationId xmlns:p14="http://schemas.microsoft.com/office/powerpoint/2010/main" val="2389788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3B89E-E189-8656-F8A0-8E07566CC8E9}"/>
              </a:ext>
            </a:extLst>
          </p:cNvPr>
          <p:cNvSpPr>
            <a:spLocks noGrp="1"/>
          </p:cNvSpPr>
          <p:nvPr>
            <p:ph type="title"/>
          </p:nvPr>
        </p:nvSpPr>
        <p:spPr>
          <a:xfrm>
            <a:off x="239523" y="0"/>
            <a:ext cx="11114277" cy="811694"/>
          </a:xfrm>
        </p:spPr>
        <p:txBody>
          <a:bodyPr>
            <a:normAutofit fontScale="90000"/>
          </a:bodyPr>
          <a:lstStyle/>
          <a:p>
            <a:r>
              <a:rPr lang="en-US" dirty="0"/>
              <a:t>The</a:t>
            </a:r>
            <a:r>
              <a:rPr lang="en-US" b="1" dirty="0"/>
              <a:t> </a:t>
            </a:r>
            <a:r>
              <a:rPr lang="en-US" dirty="0"/>
              <a:t>requirements elicitation and analysis process</a:t>
            </a:r>
            <a:r>
              <a:rPr lang="en-GB" dirty="0"/>
              <a:t> </a:t>
            </a:r>
            <a:endParaRPr lang="en-IN" dirty="0"/>
          </a:p>
        </p:txBody>
      </p:sp>
      <p:pic>
        <p:nvPicPr>
          <p:cNvPr id="4" name="Picture 3" descr="4.13 RequirementsElicitation.eps">
            <a:extLst>
              <a:ext uri="{FF2B5EF4-FFF2-40B4-BE49-F238E27FC236}">
                <a16:creationId xmlns:a16="http://schemas.microsoft.com/office/drawing/2014/main" id="{DA15D4D4-8FD5-9AE1-01FB-4B858A54EA52}"/>
              </a:ext>
            </a:extLst>
          </p:cNvPr>
          <p:cNvPicPr>
            <a:picLocks noChangeAspect="1"/>
          </p:cNvPicPr>
          <p:nvPr/>
        </p:nvPicPr>
        <p:blipFill>
          <a:blip r:embed="rId2"/>
          <a:stretch>
            <a:fillRect/>
          </a:stretch>
        </p:blipFill>
        <p:spPr>
          <a:xfrm>
            <a:off x="239523" y="1421512"/>
            <a:ext cx="5950107" cy="4624794"/>
          </a:xfrm>
          <a:prstGeom prst="rect">
            <a:avLst/>
          </a:prstGeom>
        </p:spPr>
      </p:pic>
      <p:sp>
        <p:nvSpPr>
          <p:cNvPr id="5" name="TextBox 4">
            <a:extLst>
              <a:ext uri="{FF2B5EF4-FFF2-40B4-BE49-F238E27FC236}">
                <a16:creationId xmlns:a16="http://schemas.microsoft.com/office/drawing/2014/main" id="{C68042DB-ED83-8DCC-648A-17BC502A3EA6}"/>
              </a:ext>
            </a:extLst>
          </p:cNvPr>
          <p:cNvSpPr txBox="1"/>
          <p:nvPr/>
        </p:nvSpPr>
        <p:spPr>
          <a:xfrm>
            <a:off x="6411432" y="1137684"/>
            <a:ext cx="5411973" cy="5632311"/>
          </a:xfrm>
          <a:prstGeom prst="rect">
            <a:avLst/>
          </a:prstGeom>
          <a:noFill/>
        </p:spPr>
        <p:txBody>
          <a:bodyPr wrap="square" rtlCol="0">
            <a:spAutoFit/>
          </a:bodyPr>
          <a:lstStyle/>
          <a:p>
            <a:pPr algn="just">
              <a:lnSpc>
                <a:spcPct val="90000"/>
              </a:lnSpc>
            </a:pPr>
            <a:r>
              <a:rPr lang="en-GB" sz="2800" b="1" dirty="0"/>
              <a:t>Requirements discovery</a:t>
            </a:r>
          </a:p>
          <a:p>
            <a:pPr lvl="1" algn="just">
              <a:lnSpc>
                <a:spcPct val="90000"/>
              </a:lnSpc>
            </a:pPr>
            <a:r>
              <a:rPr lang="en-GB" sz="2400" b="1" dirty="0">
                <a:solidFill>
                  <a:srgbClr val="C00000"/>
                </a:solidFill>
              </a:rPr>
              <a:t>Interacting with stakeholders </a:t>
            </a:r>
            <a:r>
              <a:rPr lang="en-GB" sz="2400" dirty="0"/>
              <a:t>to discover their requirements. </a:t>
            </a:r>
            <a:r>
              <a:rPr lang="en-GB" sz="2400" b="1" dirty="0">
                <a:solidFill>
                  <a:srgbClr val="C00000"/>
                </a:solidFill>
              </a:rPr>
              <a:t>Domain requirements </a:t>
            </a:r>
            <a:r>
              <a:rPr lang="en-GB" sz="2400" dirty="0"/>
              <a:t>are also discovered at this stage.</a:t>
            </a:r>
          </a:p>
          <a:p>
            <a:pPr algn="just">
              <a:lnSpc>
                <a:spcPct val="90000"/>
              </a:lnSpc>
            </a:pPr>
            <a:r>
              <a:rPr lang="en-GB" sz="2800" b="1" dirty="0"/>
              <a:t>Requirements classification and organization</a:t>
            </a:r>
          </a:p>
          <a:p>
            <a:pPr lvl="1" algn="just">
              <a:lnSpc>
                <a:spcPct val="90000"/>
              </a:lnSpc>
            </a:pPr>
            <a:r>
              <a:rPr lang="en-GB" sz="2400" b="1" dirty="0">
                <a:solidFill>
                  <a:srgbClr val="C00000"/>
                </a:solidFill>
              </a:rPr>
              <a:t>Groups related requirements </a:t>
            </a:r>
            <a:r>
              <a:rPr lang="en-GB" sz="2400" dirty="0"/>
              <a:t>and organises them into </a:t>
            </a:r>
            <a:r>
              <a:rPr lang="en-GB" sz="2400" b="1" dirty="0">
                <a:solidFill>
                  <a:srgbClr val="C00000"/>
                </a:solidFill>
              </a:rPr>
              <a:t>coherent clusters.</a:t>
            </a:r>
          </a:p>
          <a:p>
            <a:pPr algn="just">
              <a:lnSpc>
                <a:spcPct val="90000"/>
              </a:lnSpc>
            </a:pPr>
            <a:r>
              <a:rPr lang="en-GB" sz="2800" b="1" dirty="0"/>
              <a:t>Prioritization and negotiation</a:t>
            </a:r>
          </a:p>
          <a:p>
            <a:pPr lvl="1" algn="just">
              <a:lnSpc>
                <a:spcPct val="90000"/>
              </a:lnSpc>
            </a:pPr>
            <a:r>
              <a:rPr lang="en-GB" sz="2400" b="1" dirty="0">
                <a:solidFill>
                  <a:srgbClr val="C00000"/>
                </a:solidFill>
              </a:rPr>
              <a:t>Prioritizing requirements </a:t>
            </a:r>
            <a:r>
              <a:rPr lang="en-GB" sz="2400" dirty="0"/>
              <a:t>and resolving requirements conflicts.</a:t>
            </a:r>
          </a:p>
          <a:p>
            <a:pPr algn="just">
              <a:lnSpc>
                <a:spcPct val="90000"/>
              </a:lnSpc>
            </a:pPr>
            <a:r>
              <a:rPr lang="en-GB" sz="2800" b="1" dirty="0"/>
              <a:t>Requirements specification</a:t>
            </a:r>
          </a:p>
          <a:p>
            <a:pPr lvl="1" algn="just">
              <a:lnSpc>
                <a:spcPct val="90000"/>
              </a:lnSpc>
            </a:pPr>
            <a:r>
              <a:rPr lang="en-GB" sz="2400" b="1" dirty="0">
                <a:solidFill>
                  <a:srgbClr val="C00000"/>
                </a:solidFill>
              </a:rPr>
              <a:t>Requirements are documented </a:t>
            </a:r>
            <a:r>
              <a:rPr lang="en-GB" sz="2400" dirty="0"/>
              <a:t>and input into the next round of the spiral.</a:t>
            </a:r>
          </a:p>
          <a:p>
            <a:endParaRPr lang="en-IN" dirty="0"/>
          </a:p>
        </p:txBody>
      </p:sp>
    </p:spTree>
    <p:extLst>
      <p:ext uri="{BB962C8B-B14F-4D97-AF65-F5344CB8AC3E}">
        <p14:creationId xmlns:p14="http://schemas.microsoft.com/office/powerpoint/2010/main" val="2605110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92CD5-7031-6DA4-1F98-9360E789DE15}"/>
              </a:ext>
            </a:extLst>
          </p:cNvPr>
          <p:cNvSpPr>
            <a:spLocks noGrp="1"/>
          </p:cNvSpPr>
          <p:nvPr>
            <p:ph type="title"/>
          </p:nvPr>
        </p:nvSpPr>
        <p:spPr>
          <a:xfrm>
            <a:off x="838200" y="0"/>
            <a:ext cx="10515600" cy="850606"/>
          </a:xfrm>
        </p:spPr>
        <p:txBody>
          <a:bodyPr>
            <a:normAutofit/>
          </a:bodyPr>
          <a:lstStyle/>
          <a:p>
            <a:r>
              <a:rPr lang="en-US" dirty="0"/>
              <a:t>Requirement Elicitation Techniques</a:t>
            </a:r>
            <a:endParaRPr lang="en-IN" dirty="0"/>
          </a:p>
        </p:txBody>
      </p:sp>
      <p:sp>
        <p:nvSpPr>
          <p:cNvPr id="3" name="Content Placeholder 2">
            <a:extLst>
              <a:ext uri="{FF2B5EF4-FFF2-40B4-BE49-F238E27FC236}">
                <a16:creationId xmlns:a16="http://schemas.microsoft.com/office/drawing/2014/main" id="{0A7C3859-8FEE-C020-23BA-82E814F49FDC}"/>
              </a:ext>
            </a:extLst>
          </p:cNvPr>
          <p:cNvSpPr>
            <a:spLocks noGrp="1"/>
          </p:cNvSpPr>
          <p:nvPr>
            <p:ph idx="1"/>
          </p:nvPr>
        </p:nvSpPr>
        <p:spPr>
          <a:xfrm>
            <a:off x="838200" y="1286540"/>
            <a:ext cx="10515600" cy="4890423"/>
          </a:xfrm>
        </p:spPr>
        <p:txBody>
          <a:bodyPr/>
          <a:lstStyle/>
          <a:p>
            <a:r>
              <a:rPr lang="en-US" sz="2800" dirty="0"/>
              <a:t>Requirements elicitation involves meeting with stakeholders of different kinds to discover information about the proposed system</a:t>
            </a:r>
            <a:endParaRPr lang="en-IN" sz="2800" dirty="0"/>
          </a:p>
          <a:p>
            <a:r>
              <a:rPr lang="en-US" dirty="0"/>
              <a:t>Interviewing</a:t>
            </a:r>
          </a:p>
          <a:p>
            <a:r>
              <a:rPr lang="en-GB" dirty="0"/>
              <a:t>Ethnography</a:t>
            </a:r>
            <a:endParaRPr lang="en-US" dirty="0"/>
          </a:p>
          <a:p>
            <a:r>
              <a:rPr lang="en-US" dirty="0"/>
              <a:t>Stories and scenarios</a:t>
            </a:r>
          </a:p>
          <a:p>
            <a:r>
              <a:rPr lang="en-US" dirty="0"/>
              <a:t>User cases</a:t>
            </a:r>
            <a:endParaRPr lang="en-IN" dirty="0"/>
          </a:p>
        </p:txBody>
      </p:sp>
    </p:spTree>
    <p:extLst>
      <p:ext uri="{BB962C8B-B14F-4D97-AF65-F5344CB8AC3E}">
        <p14:creationId xmlns:p14="http://schemas.microsoft.com/office/powerpoint/2010/main" val="3319902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78539-5247-6930-9B34-31AA98BD6883}"/>
              </a:ext>
            </a:extLst>
          </p:cNvPr>
          <p:cNvSpPr>
            <a:spLocks noGrp="1"/>
          </p:cNvSpPr>
          <p:nvPr>
            <p:ph type="title"/>
          </p:nvPr>
        </p:nvSpPr>
        <p:spPr>
          <a:xfrm>
            <a:off x="838200" y="116959"/>
            <a:ext cx="10515600" cy="723014"/>
          </a:xfrm>
        </p:spPr>
        <p:txBody>
          <a:bodyPr>
            <a:normAutofit/>
          </a:bodyPr>
          <a:lstStyle/>
          <a:p>
            <a:r>
              <a:rPr lang="en-US" dirty="0"/>
              <a:t>Interviewing</a:t>
            </a:r>
            <a:endParaRPr lang="en-IN" dirty="0"/>
          </a:p>
        </p:txBody>
      </p:sp>
      <p:sp>
        <p:nvSpPr>
          <p:cNvPr id="3" name="Content Placeholder 2">
            <a:extLst>
              <a:ext uri="{FF2B5EF4-FFF2-40B4-BE49-F238E27FC236}">
                <a16:creationId xmlns:a16="http://schemas.microsoft.com/office/drawing/2014/main" id="{2DC7A2B1-3E21-7194-4CB8-88E1819E3808}"/>
              </a:ext>
            </a:extLst>
          </p:cNvPr>
          <p:cNvSpPr>
            <a:spLocks noGrp="1"/>
          </p:cNvSpPr>
          <p:nvPr>
            <p:ph idx="1"/>
          </p:nvPr>
        </p:nvSpPr>
        <p:spPr>
          <a:xfrm>
            <a:off x="838200" y="839973"/>
            <a:ext cx="10515600" cy="5901068"/>
          </a:xfrm>
        </p:spPr>
        <p:txBody>
          <a:bodyPr>
            <a:normAutofit fontScale="92500" lnSpcReduction="20000"/>
          </a:bodyPr>
          <a:lstStyle/>
          <a:p>
            <a:pPr algn="just"/>
            <a:r>
              <a:rPr lang="en-US" sz="2800" b="1" dirty="0">
                <a:solidFill>
                  <a:srgbClr val="C00000"/>
                </a:solidFill>
              </a:rPr>
              <a:t>Formal or informal </a:t>
            </a:r>
            <a:r>
              <a:rPr lang="en-US" sz="2800" dirty="0"/>
              <a:t>interviews with stakeholders are part of most RE processes.</a:t>
            </a:r>
          </a:p>
          <a:p>
            <a:pPr algn="just"/>
            <a:r>
              <a:rPr lang="en-US" sz="2800" dirty="0"/>
              <a:t>Types of interview</a:t>
            </a:r>
          </a:p>
          <a:p>
            <a:pPr lvl="1" algn="just"/>
            <a:r>
              <a:rPr lang="en-US" sz="2400" b="1" dirty="0">
                <a:solidFill>
                  <a:srgbClr val="C00000"/>
                </a:solidFill>
              </a:rPr>
              <a:t>Closed interviews </a:t>
            </a:r>
            <a:r>
              <a:rPr lang="en-US" sz="2400" dirty="0"/>
              <a:t>based on a </a:t>
            </a:r>
            <a:r>
              <a:rPr lang="en-US" sz="2400" b="1" dirty="0">
                <a:solidFill>
                  <a:srgbClr val="C00000"/>
                </a:solidFill>
              </a:rPr>
              <a:t>pre-determined list of questions</a:t>
            </a:r>
          </a:p>
          <a:p>
            <a:pPr lvl="1" algn="just"/>
            <a:r>
              <a:rPr lang="en-US" sz="2400" b="1" dirty="0">
                <a:solidFill>
                  <a:srgbClr val="C00000"/>
                </a:solidFill>
              </a:rPr>
              <a:t>Open interviews </a:t>
            </a:r>
            <a:r>
              <a:rPr lang="en-US" sz="2400" dirty="0"/>
              <a:t>where various issues are </a:t>
            </a:r>
            <a:r>
              <a:rPr lang="en-US" sz="2400" b="1" dirty="0">
                <a:solidFill>
                  <a:srgbClr val="C00000"/>
                </a:solidFill>
              </a:rPr>
              <a:t>explored with stakeholders.</a:t>
            </a:r>
          </a:p>
          <a:p>
            <a:pPr algn="just"/>
            <a:r>
              <a:rPr lang="en-US" sz="2800" dirty="0"/>
              <a:t>Effective interviewing</a:t>
            </a:r>
          </a:p>
          <a:p>
            <a:pPr lvl="1" algn="just"/>
            <a:r>
              <a:rPr lang="en-US" sz="2400" dirty="0"/>
              <a:t>Be </a:t>
            </a:r>
            <a:r>
              <a:rPr lang="en-US" sz="2400" b="1" dirty="0">
                <a:solidFill>
                  <a:srgbClr val="C00000"/>
                </a:solidFill>
              </a:rPr>
              <a:t>open-minded</a:t>
            </a:r>
            <a:r>
              <a:rPr lang="en-US" sz="2400" dirty="0"/>
              <a:t>, </a:t>
            </a:r>
            <a:r>
              <a:rPr lang="en-US" sz="2400" b="1" dirty="0">
                <a:solidFill>
                  <a:srgbClr val="C00000"/>
                </a:solidFill>
              </a:rPr>
              <a:t>avoid pre-conceived ideas </a:t>
            </a:r>
            <a:r>
              <a:rPr lang="en-US" sz="2400" dirty="0"/>
              <a:t>about the requirements, and are willing to listen to stakeholders. </a:t>
            </a:r>
            <a:endParaRPr lang="en-GB" sz="2400" dirty="0"/>
          </a:p>
          <a:p>
            <a:pPr lvl="1" algn="just"/>
            <a:r>
              <a:rPr lang="en-US" sz="2400" dirty="0"/>
              <a:t>Prompt the interviewee to get discussions going using a </a:t>
            </a:r>
            <a:r>
              <a:rPr lang="en-US" sz="2400" b="1" dirty="0">
                <a:solidFill>
                  <a:srgbClr val="C00000"/>
                </a:solidFill>
              </a:rPr>
              <a:t>springboard question</a:t>
            </a:r>
            <a:r>
              <a:rPr lang="en-US" sz="2400" dirty="0"/>
              <a:t>, a requirements proposal, or by working together on a prototype system. </a:t>
            </a:r>
          </a:p>
          <a:p>
            <a:pPr algn="just">
              <a:lnSpc>
                <a:spcPct val="90000"/>
              </a:lnSpc>
            </a:pPr>
            <a:r>
              <a:rPr lang="en-US" sz="2400" dirty="0"/>
              <a:t>Normally a </a:t>
            </a:r>
            <a:r>
              <a:rPr lang="en-US" sz="2400" b="1" dirty="0">
                <a:solidFill>
                  <a:srgbClr val="C00000"/>
                </a:solidFill>
              </a:rPr>
              <a:t>mix</a:t>
            </a:r>
            <a:r>
              <a:rPr lang="en-US" sz="2400" dirty="0"/>
              <a:t> of closed and open-ended interviewing.</a:t>
            </a:r>
          </a:p>
          <a:p>
            <a:pPr algn="just">
              <a:lnSpc>
                <a:spcPct val="90000"/>
              </a:lnSpc>
            </a:pPr>
            <a:r>
              <a:rPr lang="en-US" sz="2400" dirty="0"/>
              <a:t>Interviews are good for getting an </a:t>
            </a:r>
            <a:r>
              <a:rPr lang="en-US" sz="2400" b="1" dirty="0">
                <a:solidFill>
                  <a:srgbClr val="C00000"/>
                </a:solidFill>
              </a:rPr>
              <a:t>overall understanding </a:t>
            </a:r>
            <a:r>
              <a:rPr lang="en-US" sz="2400" dirty="0"/>
              <a:t>of what stakeholders do and how they might interact with the system.</a:t>
            </a:r>
          </a:p>
          <a:p>
            <a:pPr algn="just">
              <a:lnSpc>
                <a:spcPct val="90000"/>
              </a:lnSpc>
            </a:pPr>
            <a:r>
              <a:rPr lang="en-US" dirty="0"/>
              <a:t>Interviewers need to be </a:t>
            </a:r>
            <a:r>
              <a:rPr lang="en-US" b="1" dirty="0">
                <a:solidFill>
                  <a:srgbClr val="C00000"/>
                </a:solidFill>
              </a:rPr>
              <a:t>open-minded</a:t>
            </a:r>
            <a:r>
              <a:rPr lang="en-US" dirty="0"/>
              <a:t> without pre-conceived ideas of what the system should do</a:t>
            </a:r>
          </a:p>
          <a:p>
            <a:pPr algn="just">
              <a:lnSpc>
                <a:spcPct val="90000"/>
              </a:lnSpc>
            </a:pPr>
            <a:r>
              <a:rPr lang="en-US" sz="2400" dirty="0"/>
              <a:t>You need to </a:t>
            </a:r>
            <a:r>
              <a:rPr lang="en-US" sz="2400" b="1" dirty="0">
                <a:solidFill>
                  <a:srgbClr val="C00000"/>
                </a:solidFill>
              </a:rPr>
              <a:t>prompt the user</a:t>
            </a:r>
            <a:r>
              <a:rPr lang="en-US" sz="2400" dirty="0"/>
              <a:t> to talk about the system by suggesting requirements rather than simply asking them what they want.</a:t>
            </a:r>
          </a:p>
          <a:p>
            <a:pPr lvl="1" algn="just"/>
            <a:endParaRPr lang="en-US" sz="2400" dirty="0"/>
          </a:p>
          <a:p>
            <a:endParaRPr lang="en-IN" dirty="0"/>
          </a:p>
        </p:txBody>
      </p:sp>
    </p:spTree>
    <p:extLst>
      <p:ext uri="{BB962C8B-B14F-4D97-AF65-F5344CB8AC3E}">
        <p14:creationId xmlns:p14="http://schemas.microsoft.com/office/powerpoint/2010/main" val="676049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8029C-357D-DAEA-E931-AD154A0B3BA7}"/>
              </a:ext>
            </a:extLst>
          </p:cNvPr>
          <p:cNvSpPr>
            <a:spLocks noGrp="1"/>
          </p:cNvSpPr>
          <p:nvPr>
            <p:ph type="title"/>
          </p:nvPr>
        </p:nvSpPr>
        <p:spPr/>
        <p:txBody>
          <a:bodyPr/>
          <a:lstStyle/>
          <a:p>
            <a:r>
              <a:rPr lang="en-US" dirty="0"/>
              <a:t>Problems with interviews</a:t>
            </a:r>
            <a:endParaRPr lang="en-IN" dirty="0"/>
          </a:p>
        </p:txBody>
      </p:sp>
      <p:sp>
        <p:nvSpPr>
          <p:cNvPr id="3" name="Content Placeholder 2">
            <a:extLst>
              <a:ext uri="{FF2B5EF4-FFF2-40B4-BE49-F238E27FC236}">
                <a16:creationId xmlns:a16="http://schemas.microsoft.com/office/drawing/2014/main" id="{BA000C11-E40D-721E-F212-96C7562A83A3}"/>
              </a:ext>
            </a:extLst>
          </p:cNvPr>
          <p:cNvSpPr>
            <a:spLocks noGrp="1"/>
          </p:cNvSpPr>
          <p:nvPr>
            <p:ph idx="1"/>
          </p:nvPr>
        </p:nvSpPr>
        <p:spPr/>
        <p:txBody>
          <a:bodyPr/>
          <a:lstStyle/>
          <a:p>
            <a:pPr algn="just">
              <a:lnSpc>
                <a:spcPct val="90000"/>
              </a:lnSpc>
            </a:pPr>
            <a:r>
              <a:rPr lang="en-US" b="1" dirty="0">
                <a:solidFill>
                  <a:srgbClr val="C00000"/>
                </a:solidFill>
              </a:rPr>
              <a:t>Application specialists </a:t>
            </a:r>
            <a:r>
              <a:rPr lang="en-US" dirty="0"/>
              <a:t>may use language to describe their work that isn’t easy for the requirements engineer to understand.</a:t>
            </a:r>
          </a:p>
          <a:p>
            <a:pPr algn="just">
              <a:lnSpc>
                <a:spcPct val="90000"/>
              </a:lnSpc>
            </a:pPr>
            <a:r>
              <a:rPr lang="en-US" dirty="0"/>
              <a:t>Interviews are not good for understanding </a:t>
            </a:r>
            <a:r>
              <a:rPr lang="en-US" b="1" dirty="0">
                <a:solidFill>
                  <a:srgbClr val="C00000"/>
                </a:solidFill>
              </a:rPr>
              <a:t>domain </a:t>
            </a:r>
            <a:r>
              <a:rPr lang="en-US" dirty="0"/>
              <a:t>requirements</a:t>
            </a:r>
          </a:p>
          <a:p>
            <a:pPr lvl="1" algn="just">
              <a:lnSpc>
                <a:spcPct val="90000"/>
              </a:lnSpc>
            </a:pPr>
            <a:r>
              <a:rPr lang="en-US" dirty="0"/>
              <a:t>Requirements engineers </a:t>
            </a:r>
            <a:r>
              <a:rPr lang="en-US" b="1" dirty="0">
                <a:solidFill>
                  <a:srgbClr val="C00000"/>
                </a:solidFill>
              </a:rPr>
              <a:t>cannot understand </a:t>
            </a:r>
            <a:r>
              <a:rPr lang="en-US" dirty="0"/>
              <a:t>specific domain terminology;</a:t>
            </a:r>
          </a:p>
          <a:p>
            <a:pPr lvl="1" algn="just">
              <a:lnSpc>
                <a:spcPct val="90000"/>
              </a:lnSpc>
            </a:pPr>
            <a:r>
              <a:rPr lang="en-US" dirty="0"/>
              <a:t>Some domain knowledge is so familiar that people find it hard to articulate or think that it isn’t worth articulating.</a:t>
            </a:r>
          </a:p>
          <a:p>
            <a:endParaRPr lang="en-IN" dirty="0"/>
          </a:p>
        </p:txBody>
      </p:sp>
    </p:spTree>
    <p:extLst>
      <p:ext uri="{BB962C8B-B14F-4D97-AF65-F5344CB8AC3E}">
        <p14:creationId xmlns:p14="http://schemas.microsoft.com/office/powerpoint/2010/main" val="1235066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B4AB4-AA51-577A-F2ED-4A7F17F63B90}"/>
              </a:ext>
            </a:extLst>
          </p:cNvPr>
          <p:cNvSpPr>
            <a:spLocks noGrp="1"/>
          </p:cNvSpPr>
          <p:nvPr>
            <p:ph type="title"/>
          </p:nvPr>
        </p:nvSpPr>
        <p:spPr>
          <a:xfrm>
            <a:off x="838200" y="170122"/>
            <a:ext cx="10515600" cy="308344"/>
          </a:xfrm>
        </p:spPr>
        <p:txBody>
          <a:bodyPr>
            <a:normAutofit fontScale="90000"/>
          </a:bodyPr>
          <a:lstStyle/>
          <a:p>
            <a:r>
              <a:rPr lang="en-GB" dirty="0"/>
              <a:t>Ethnography</a:t>
            </a:r>
            <a:endParaRPr lang="en-IN" dirty="0"/>
          </a:p>
        </p:txBody>
      </p:sp>
      <p:sp>
        <p:nvSpPr>
          <p:cNvPr id="3" name="Content Placeholder 2">
            <a:extLst>
              <a:ext uri="{FF2B5EF4-FFF2-40B4-BE49-F238E27FC236}">
                <a16:creationId xmlns:a16="http://schemas.microsoft.com/office/drawing/2014/main" id="{35134935-1E78-E856-5C47-FE2968F5B81B}"/>
              </a:ext>
            </a:extLst>
          </p:cNvPr>
          <p:cNvSpPr>
            <a:spLocks noGrp="1"/>
          </p:cNvSpPr>
          <p:nvPr>
            <p:ph idx="1"/>
          </p:nvPr>
        </p:nvSpPr>
        <p:spPr>
          <a:xfrm>
            <a:off x="838200" y="701749"/>
            <a:ext cx="10515600" cy="5475214"/>
          </a:xfrm>
        </p:spPr>
        <p:txBody>
          <a:bodyPr>
            <a:normAutofit fontScale="92500" lnSpcReduction="20000"/>
          </a:bodyPr>
          <a:lstStyle/>
          <a:p>
            <a:pPr marL="0" indent="0" algn="l">
              <a:buNone/>
            </a:pPr>
            <a:r>
              <a:rPr lang="en-US" sz="2200" b="0" u="none" strike="noStrike" baseline="0" dirty="0">
                <a:latin typeface="Times-Italic"/>
              </a:rPr>
              <a:t>Def:</a:t>
            </a:r>
            <a:r>
              <a:rPr lang="en-US" sz="2200" b="0" i="1" u="none" strike="noStrike" baseline="0" dirty="0">
                <a:latin typeface="Times-Italic"/>
              </a:rPr>
              <a:t> </a:t>
            </a:r>
            <a:r>
              <a:rPr lang="en-US" sz="2200" b="1" i="1" u="none" strike="noStrike" baseline="0" dirty="0">
                <a:latin typeface="Times-Italic"/>
              </a:rPr>
              <a:t>Ethnography</a:t>
            </a:r>
            <a:r>
              <a:rPr lang="en-US" sz="2200" b="0" i="1" u="none" strike="noStrike" baseline="0" dirty="0">
                <a:latin typeface="Times-Italic"/>
              </a:rPr>
              <a:t> </a:t>
            </a:r>
            <a:r>
              <a:rPr lang="en-US" sz="2200" b="0" i="0" u="none" strike="noStrike" baseline="0" dirty="0">
                <a:latin typeface="Times-Roman"/>
              </a:rPr>
              <a:t>is an </a:t>
            </a:r>
            <a:r>
              <a:rPr lang="en-US" sz="2200" b="0" i="0" u="none" strike="noStrike" baseline="0" dirty="0">
                <a:solidFill>
                  <a:srgbClr val="FF0000"/>
                </a:solidFill>
                <a:latin typeface="Times-Roman"/>
              </a:rPr>
              <a:t>observational technique </a:t>
            </a:r>
            <a:r>
              <a:rPr lang="en-US" sz="2200" b="0" i="0" u="none" strike="noStrike" baseline="0" dirty="0">
                <a:latin typeface="Times-Roman"/>
              </a:rPr>
              <a:t>that can be used to understand </a:t>
            </a:r>
            <a:r>
              <a:rPr lang="en-US" sz="2200" b="0" i="0" u="none" strike="noStrike" baseline="0" dirty="0">
                <a:solidFill>
                  <a:srgbClr val="FF0000"/>
                </a:solidFill>
                <a:latin typeface="Times-Roman"/>
              </a:rPr>
              <a:t>social and </a:t>
            </a:r>
            <a:r>
              <a:rPr lang="en-US" sz="2200" b="0" i="0" u="none" strike="noStrike" baseline="0" dirty="0" err="1">
                <a:solidFill>
                  <a:srgbClr val="FF0000"/>
                </a:solidFill>
                <a:latin typeface="Times-Roman"/>
              </a:rPr>
              <a:t>organisational</a:t>
            </a:r>
            <a:r>
              <a:rPr lang="en-US" sz="2200" b="0" i="0" u="none" strike="noStrike" baseline="0" dirty="0">
                <a:solidFill>
                  <a:srgbClr val="FF0000"/>
                </a:solidFill>
                <a:latin typeface="Times-Roman"/>
              </a:rPr>
              <a:t> requirements</a:t>
            </a:r>
            <a:r>
              <a:rPr lang="en-US" sz="2200" b="0" i="0" u="none" strike="noStrike" baseline="0" dirty="0">
                <a:latin typeface="Times-Roman"/>
              </a:rPr>
              <a:t>. An </a:t>
            </a:r>
            <a:r>
              <a:rPr lang="en-US" sz="2200" b="0" i="0" u="none" strike="noStrike" baseline="0" dirty="0">
                <a:solidFill>
                  <a:srgbClr val="FF0000"/>
                </a:solidFill>
                <a:latin typeface="Times-Roman"/>
              </a:rPr>
              <a:t>analys</a:t>
            </a:r>
            <a:r>
              <a:rPr lang="en-US" sz="2200" b="0" i="0" u="none" strike="noStrike" baseline="0" dirty="0">
                <a:latin typeface="Times-Roman"/>
              </a:rPr>
              <a:t>t immerses him or herself in the working environment where the system will be used. He or </a:t>
            </a:r>
            <a:r>
              <a:rPr lang="en-US" sz="2200" b="0" i="0" u="none" strike="noStrike" baseline="0" dirty="0">
                <a:solidFill>
                  <a:srgbClr val="FF0000"/>
                </a:solidFill>
                <a:latin typeface="Times-Roman"/>
              </a:rPr>
              <a:t>she observes </a:t>
            </a:r>
            <a:r>
              <a:rPr lang="en-US" sz="2200" b="0" i="0" u="none" strike="noStrike" baseline="0" dirty="0">
                <a:latin typeface="Times-Roman"/>
              </a:rPr>
              <a:t>the day-to-day work and notes made of the actual tasks in which participants are involved. The value of ethnography is that it helps analysts discover implicit system requirements that reflect the actual rather than the formal processes in which people are involved</a:t>
            </a:r>
            <a:endParaRPr lang="en-GB" sz="2200" dirty="0"/>
          </a:p>
          <a:p>
            <a:pPr algn="just"/>
            <a:endParaRPr lang="en-GB" sz="2200" dirty="0"/>
          </a:p>
          <a:p>
            <a:pPr algn="just"/>
            <a:r>
              <a:rPr lang="en-GB" sz="2200" dirty="0"/>
              <a:t>A social scientist spends considerable time </a:t>
            </a:r>
            <a:r>
              <a:rPr lang="en-GB" sz="2200" b="1" dirty="0">
                <a:solidFill>
                  <a:srgbClr val="C00000"/>
                </a:solidFill>
              </a:rPr>
              <a:t>observing</a:t>
            </a:r>
            <a:r>
              <a:rPr lang="en-GB" sz="2200" dirty="0"/>
              <a:t> and </a:t>
            </a:r>
            <a:r>
              <a:rPr lang="en-GB" sz="2200" b="1" dirty="0" err="1">
                <a:solidFill>
                  <a:srgbClr val="C00000"/>
                </a:solidFill>
              </a:rPr>
              <a:t>analyzing</a:t>
            </a:r>
            <a:r>
              <a:rPr lang="en-GB" sz="2200" dirty="0"/>
              <a:t> how people actually work.</a:t>
            </a:r>
          </a:p>
          <a:p>
            <a:pPr algn="just"/>
            <a:r>
              <a:rPr lang="en-GB" sz="2200" dirty="0"/>
              <a:t>People do not have to </a:t>
            </a:r>
            <a:r>
              <a:rPr lang="en-GB" sz="2200" b="1" dirty="0">
                <a:solidFill>
                  <a:srgbClr val="FF0000"/>
                </a:solidFill>
              </a:rPr>
              <a:t>explain or articulate </a:t>
            </a:r>
            <a:r>
              <a:rPr lang="en-GB" sz="2200" dirty="0"/>
              <a:t>their work.</a:t>
            </a:r>
          </a:p>
          <a:p>
            <a:pPr algn="just"/>
            <a:r>
              <a:rPr lang="en-GB" sz="2200" b="1" dirty="0">
                <a:solidFill>
                  <a:srgbClr val="C00000"/>
                </a:solidFill>
              </a:rPr>
              <a:t>Social and organizational factors</a:t>
            </a:r>
            <a:r>
              <a:rPr lang="en-GB" sz="2200" dirty="0"/>
              <a:t> of importance may be observed.</a:t>
            </a:r>
          </a:p>
          <a:p>
            <a:pPr algn="just"/>
            <a:r>
              <a:rPr lang="en-GB" sz="2200" dirty="0"/>
              <a:t>Ethnographic studies have shown that work is </a:t>
            </a:r>
            <a:r>
              <a:rPr lang="en-GB" sz="2200" b="1" dirty="0">
                <a:solidFill>
                  <a:srgbClr val="C00000"/>
                </a:solidFill>
              </a:rPr>
              <a:t>usually richer and more complex </a:t>
            </a:r>
            <a:r>
              <a:rPr lang="en-GB" sz="2200" dirty="0"/>
              <a:t>than suggested by simple system models.</a:t>
            </a:r>
          </a:p>
          <a:p>
            <a:pPr algn="just"/>
            <a:r>
              <a:rPr lang="en-GB" sz="2200" dirty="0"/>
              <a:t>Requirements </a:t>
            </a:r>
            <a:r>
              <a:rPr lang="en-US" sz="2200" dirty="0"/>
              <a:t>derived from the way that people </a:t>
            </a:r>
            <a:r>
              <a:rPr lang="en-US" sz="2200" b="1" dirty="0">
                <a:solidFill>
                  <a:srgbClr val="C00000"/>
                </a:solidFill>
              </a:rPr>
              <a:t>actually work </a:t>
            </a:r>
            <a:r>
              <a:rPr lang="en-US" sz="2200" dirty="0"/>
              <a:t>rather than the way we </a:t>
            </a:r>
            <a:r>
              <a:rPr lang="en-GB" sz="2200" dirty="0"/>
              <a:t>process definitions suggest that they ought to work.</a:t>
            </a:r>
          </a:p>
          <a:p>
            <a:pPr algn="just"/>
            <a:r>
              <a:rPr lang="en-GB" sz="2200" dirty="0"/>
              <a:t>Requirements that are derived from </a:t>
            </a:r>
            <a:r>
              <a:rPr lang="en-GB" sz="2200" b="1" dirty="0">
                <a:solidFill>
                  <a:srgbClr val="C00000"/>
                </a:solidFill>
              </a:rPr>
              <a:t>cooperation</a:t>
            </a:r>
            <a:r>
              <a:rPr lang="en-GB" sz="2200" dirty="0"/>
              <a:t> and </a:t>
            </a:r>
            <a:r>
              <a:rPr lang="en-GB" sz="2200" b="1" dirty="0">
                <a:solidFill>
                  <a:srgbClr val="C00000"/>
                </a:solidFill>
              </a:rPr>
              <a:t>awareness </a:t>
            </a:r>
            <a:r>
              <a:rPr lang="en-GB" sz="2200" dirty="0"/>
              <a:t>of other people’s activities.</a:t>
            </a:r>
          </a:p>
          <a:p>
            <a:pPr lvl="1" algn="just"/>
            <a:r>
              <a:rPr lang="en-GB" sz="2200" b="1" dirty="0">
                <a:solidFill>
                  <a:srgbClr val="FF0000"/>
                </a:solidFill>
              </a:rPr>
              <a:t>Awareness of what other people </a:t>
            </a:r>
            <a:r>
              <a:rPr lang="en-GB" sz="2200" dirty="0"/>
              <a:t>are doing leads to changes in how we do things.</a:t>
            </a:r>
          </a:p>
          <a:p>
            <a:pPr algn="just"/>
            <a:r>
              <a:rPr lang="en-GB" sz="2200" dirty="0"/>
              <a:t>Ethnography is </a:t>
            </a:r>
            <a:r>
              <a:rPr lang="en-GB" sz="2200" b="1" i="1" dirty="0">
                <a:solidFill>
                  <a:srgbClr val="C00000"/>
                </a:solidFill>
              </a:rPr>
              <a:t>effective</a:t>
            </a:r>
            <a:r>
              <a:rPr lang="en-GB" sz="2200" dirty="0"/>
              <a:t> for understanding </a:t>
            </a:r>
            <a:r>
              <a:rPr lang="en-GB" sz="2200" b="1" dirty="0">
                <a:solidFill>
                  <a:srgbClr val="C00000"/>
                </a:solidFill>
              </a:rPr>
              <a:t>existing processes</a:t>
            </a:r>
            <a:r>
              <a:rPr lang="en-GB" sz="2200" dirty="0"/>
              <a:t> but </a:t>
            </a:r>
            <a:r>
              <a:rPr lang="en-GB" sz="2200" b="1" dirty="0">
                <a:solidFill>
                  <a:srgbClr val="FF0000"/>
                </a:solidFill>
              </a:rPr>
              <a:t>cannot identify new features </a:t>
            </a:r>
            <a:r>
              <a:rPr lang="en-GB" sz="2200" dirty="0"/>
              <a:t>that should be added to a system.</a:t>
            </a:r>
          </a:p>
          <a:p>
            <a:endParaRPr lang="en-IN" dirty="0"/>
          </a:p>
        </p:txBody>
      </p:sp>
    </p:spTree>
    <p:extLst>
      <p:ext uri="{BB962C8B-B14F-4D97-AF65-F5344CB8AC3E}">
        <p14:creationId xmlns:p14="http://schemas.microsoft.com/office/powerpoint/2010/main" val="3562891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A45CE-5983-A5A0-E0C8-1B409DFB5E7D}"/>
              </a:ext>
            </a:extLst>
          </p:cNvPr>
          <p:cNvSpPr>
            <a:spLocks noGrp="1"/>
          </p:cNvSpPr>
          <p:nvPr>
            <p:ph type="title"/>
          </p:nvPr>
        </p:nvSpPr>
        <p:spPr>
          <a:xfrm>
            <a:off x="838200" y="365126"/>
            <a:ext cx="9868786" cy="528010"/>
          </a:xfrm>
        </p:spPr>
        <p:txBody>
          <a:bodyPr>
            <a:normAutofit fontScale="90000"/>
          </a:bodyPr>
          <a:lstStyle/>
          <a:p>
            <a:r>
              <a:rPr lang="en-US" dirty="0"/>
              <a:t>Stories and scenarios</a:t>
            </a:r>
            <a:endParaRPr lang="en-IN" dirty="0"/>
          </a:p>
        </p:txBody>
      </p:sp>
      <p:sp>
        <p:nvSpPr>
          <p:cNvPr id="3" name="Content Placeholder 2">
            <a:extLst>
              <a:ext uri="{FF2B5EF4-FFF2-40B4-BE49-F238E27FC236}">
                <a16:creationId xmlns:a16="http://schemas.microsoft.com/office/drawing/2014/main" id="{CAF44228-CF35-D803-DCBB-8DC220F2A4F6}"/>
              </a:ext>
            </a:extLst>
          </p:cNvPr>
          <p:cNvSpPr>
            <a:spLocks noGrp="1"/>
          </p:cNvSpPr>
          <p:nvPr>
            <p:ph idx="1"/>
          </p:nvPr>
        </p:nvSpPr>
        <p:spPr>
          <a:xfrm>
            <a:off x="944526" y="1297615"/>
            <a:ext cx="10515600" cy="4351338"/>
          </a:xfrm>
        </p:spPr>
        <p:txBody>
          <a:bodyPr>
            <a:normAutofit fontScale="92500" lnSpcReduction="20000"/>
          </a:bodyPr>
          <a:lstStyle/>
          <a:p>
            <a:pPr algn="just"/>
            <a:r>
              <a:rPr lang="en-US" dirty="0"/>
              <a:t>Scenarios and user stories are </a:t>
            </a:r>
            <a:r>
              <a:rPr lang="en-US" b="1" dirty="0">
                <a:solidFill>
                  <a:srgbClr val="FF0000"/>
                </a:solidFill>
              </a:rPr>
              <a:t>real-life examples </a:t>
            </a:r>
            <a:r>
              <a:rPr lang="en-US" dirty="0"/>
              <a:t>of how a system can be used.</a:t>
            </a:r>
          </a:p>
          <a:p>
            <a:pPr algn="just"/>
            <a:r>
              <a:rPr lang="en-US" dirty="0"/>
              <a:t>Stories and scenarios are a description of </a:t>
            </a:r>
            <a:r>
              <a:rPr lang="en-US" b="1" dirty="0">
                <a:solidFill>
                  <a:srgbClr val="FF0000"/>
                </a:solidFill>
              </a:rPr>
              <a:t>how a system may be used</a:t>
            </a:r>
            <a:r>
              <a:rPr lang="en-US" dirty="0"/>
              <a:t> for a particular task.</a:t>
            </a:r>
          </a:p>
          <a:p>
            <a:pPr algn="just"/>
            <a:r>
              <a:rPr lang="en-US" dirty="0"/>
              <a:t>Because they are based on a </a:t>
            </a:r>
            <a:r>
              <a:rPr lang="en-US" b="1" dirty="0">
                <a:solidFill>
                  <a:srgbClr val="FF0000"/>
                </a:solidFill>
              </a:rPr>
              <a:t>practical situation</a:t>
            </a:r>
            <a:r>
              <a:rPr lang="en-US" dirty="0"/>
              <a:t>, stakeholders can relate to them and comment on their situation regarding the story.</a:t>
            </a:r>
          </a:p>
          <a:p>
            <a:pPr algn="just"/>
            <a:r>
              <a:rPr lang="en-US" dirty="0"/>
              <a:t>A structured form of the user story</a:t>
            </a:r>
          </a:p>
          <a:p>
            <a:pPr algn="just"/>
            <a:r>
              <a:rPr lang="en-US" dirty="0"/>
              <a:t>Scenarios should include</a:t>
            </a:r>
          </a:p>
          <a:p>
            <a:pPr lvl="1" algn="just"/>
            <a:r>
              <a:rPr lang="en-US" dirty="0"/>
              <a:t>A description of the starting situation;</a:t>
            </a:r>
          </a:p>
          <a:p>
            <a:pPr lvl="1" algn="just"/>
            <a:r>
              <a:rPr lang="en-US" dirty="0"/>
              <a:t>A description of the normal flow of events;</a:t>
            </a:r>
          </a:p>
          <a:p>
            <a:pPr lvl="1" algn="just"/>
            <a:r>
              <a:rPr lang="en-US" dirty="0"/>
              <a:t>A description of what can go wrong;</a:t>
            </a:r>
          </a:p>
          <a:p>
            <a:pPr lvl="1" algn="just"/>
            <a:r>
              <a:rPr lang="en-US" dirty="0"/>
              <a:t>Information about other concurrent activities;</a:t>
            </a:r>
          </a:p>
          <a:p>
            <a:pPr lvl="1" algn="just"/>
            <a:r>
              <a:rPr lang="en-US" dirty="0"/>
              <a:t>A description of the state when the scenario finishes.</a:t>
            </a:r>
          </a:p>
          <a:p>
            <a:endParaRPr lang="en-IN" dirty="0"/>
          </a:p>
        </p:txBody>
      </p:sp>
    </p:spTree>
    <p:extLst>
      <p:ext uri="{BB962C8B-B14F-4D97-AF65-F5344CB8AC3E}">
        <p14:creationId xmlns:p14="http://schemas.microsoft.com/office/powerpoint/2010/main" val="1145607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8A9C2-B287-D31A-05F4-82872E879F1A}"/>
              </a:ext>
            </a:extLst>
          </p:cNvPr>
          <p:cNvSpPr>
            <a:spLocks noGrp="1"/>
          </p:cNvSpPr>
          <p:nvPr>
            <p:ph type="title"/>
          </p:nvPr>
        </p:nvSpPr>
        <p:spPr>
          <a:xfrm>
            <a:off x="838200" y="365125"/>
            <a:ext cx="10515600" cy="772559"/>
          </a:xfrm>
        </p:spPr>
        <p:txBody>
          <a:bodyPr>
            <a:normAutofit fontScale="90000"/>
          </a:bodyPr>
          <a:lstStyle/>
          <a:p>
            <a:r>
              <a:rPr lang="en-IN" sz="4400" b="1" i="0" u="none" strike="noStrike" baseline="0" dirty="0">
                <a:latin typeface="MetaPlusBold-Roman"/>
              </a:rPr>
              <a:t>Use-cases</a:t>
            </a:r>
            <a:br>
              <a:rPr lang="en-IN" sz="4400" b="1" i="0" u="none" strike="noStrike" baseline="0" dirty="0">
                <a:latin typeface="MetaPlusBold-Roman"/>
              </a:rPr>
            </a:br>
            <a:endParaRPr lang="en-IN" dirty="0"/>
          </a:p>
        </p:txBody>
      </p:sp>
      <p:sp>
        <p:nvSpPr>
          <p:cNvPr id="3" name="Content Placeholder 2">
            <a:extLst>
              <a:ext uri="{FF2B5EF4-FFF2-40B4-BE49-F238E27FC236}">
                <a16:creationId xmlns:a16="http://schemas.microsoft.com/office/drawing/2014/main" id="{6A9AAF71-2866-6D44-CF16-B08701682BCD}"/>
              </a:ext>
            </a:extLst>
          </p:cNvPr>
          <p:cNvSpPr>
            <a:spLocks noGrp="1"/>
          </p:cNvSpPr>
          <p:nvPr>
            <p:ph idx="1"/>
          </p:nvPr>
        </p:nvSpPr>
        <p:spPr>
          <a:xfrm>
            <a:off x="838200" y="967563"/>
            <a:ext cx="10515600" cy="5209400"/>
          </a:xfrm>
        </p:spPr>
        <p:txBody>
          <a:bodyPr>
            <a:normAutofit/>
          </a:bodyPr>
          <a:lstStyle/>
          <a:p>
            <a:pPr algn="l"/>
            <a:r>
              <a:rPr lang="en-US" sz="2400" b="0" i="0" u="none" strike="noStrike" baseline="0" dirty="0">
                <a:latin typeface="Times-Roman"/>
              </a:rPr>
              <a:t>Use-cases are a scenario-based technique for requirements elicitation which were first introduced in the </a:t>
            </a:r>
            <a:r>
              <a:rPr lang="en-US" sz="2400" b="0" i="0" u="none" strike="noStrike" baseline="0" dirty="0" err="1">
                <a:latin typeface="Times-Roman"/>
              </a:rPr>
              <a:t>Objectory</a:t>
            </a:r>
            <a:r>
              <a:rPr lang="en-US" sz="2400" b="0" i="0" u="none" strike="noStrike" baseline="0" dirty="0">
                <a:latin typeface="Times-Roman"/>
              </a:rPr>
              <a:t> method</a:t>
            </a:r>
          </a:p>
          <a:p>
            <a:pPr algn="l"/>
            <a:r>
              <a:rPr lang="en-US" sz="2400" b="0" i="0" u="none" strike="noStrike" baseline="0" dirty="0">
                <a:latin typeface="Times-Roman"/>
              </a:rPr>
              <a:t>In their simplest form, a use-case identifies the type of interaction </a:t>
            </a:r>
            <a:r>
              <a:rPr lang="en-IN" sz="2400" b="0" i="0" u="none" strike="noStrike" baseline="0" dirty="0">
                <a:latin typeface="Times-Roman"/>
              </a:rPr>
              <a:t>and the actors involved</a:t>
            </a:r>
            <a:endParaRPr lang="en-IN" sz="2400" dirty="0"/>
          </a:p>
        </p:txBody>
      </p:sp>
    </p:spTree>
    <p:extLst>
      <p:ext uri="{BB962C8B-B14F-4D97-AF65-F5344CB8AC3E}">
        <p14:creationId xmlns:p14="http://schemas.microsoft.com/office/powerpoint/2010/main" val="10580695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CA3C0-38D1-67FD-B8C7-A4E49409F4AC}"/>
              </a:ext>
            </a:extLst>
          </p:cNvPr>
          <p:cNvSpPr>
            <a:spLocks noGrp="1"/>
          </p:cNvSpPr>
          <p:nvPr>
            <p:ph type="title"/>
          </p:nvPr>
        </p:nvSpPr>
        <p:spPr>
          <a:xfrm>
            <a:off x="838200" y="365125"/>
            <a:ext cx="10515600" cy="666233"/>
          </a:xfrm>
        </p:spPr>
        <p:txBody>
          <a:bodyPr>
            <a:normAutofit fontScale="90000"/>
          </a:bodyPr>
          <a:lstStyle/>
          <a:p>
            <a:r>
              <a:rPr lang="en-IN" dirty="0"/>
              <a:t>Requirements validation</a:t>
            </a:r>
          </a:p>
        </p:txBody>
      </p:sp>
      <p:sp>
        <p:nvSpPr>
          <p:cNvPr id="3" name="Content Placeholder 2">
            <a:extLst>
              <a:ext uri="{FF2B5EF4-FFF2-40B4-BE49-F238E27FC236}">
                <a16:creationId xmlns:a16="http://schemas.microsoft.com/office/drawing/2014/main" id="{D71F47D3-0B8B-12E5-2E62-79A848C54B35}"/>
              </a:ext>
            </a:extLst>
          </p:cNvPr>
          <p:cNvSpPr>
            <a:spLocks noGrp="1"/>
          </p:cNvSpPr>
          <p:nvPr>
            <p:ph idx="1"/>
          </p:nvPr>
        </p:nvSpPr>
        <p:spPr>
          <a:xfrm>
            <a:off x="838200" y="1772462"/>
            <a:ext cx="10515600" cy="4351338"/>
          </a:xfrm>
        </p:spPr>
        <p:txBody>
          <a:bodyPr/>
          <a:lstStyle/>
          <a:p>
            <a:pPr algn="l"/>
            <a:r>
              <a:rPr lang="en-US" sz="1800" b="0" i="0" u="none" strike="noStrike" baseline="0" dirty="0">
                <a:latin typeface="Times-Roman"/>
              </a:rPr>
              <a:t>Requirements validation is concerned with showing that the requirements actually m define the system that the customer wants</a:t>
            </a:r>
          </a:p>
          <a:p>
            <a:pPr algn="l"/>
            <a:r>
              <a:rPr lang="en-IN" sz="1800" b="0" i="0" u="none" strike="noStrike" baseline="0" dirty="0">
                <a:latin typeface="Times-Roman"/>
              </a:rPr>
              <a:t>These checks include:</a:t>
            </a:r>
          </a:p>
          <a:p>
            <a:pPr algn="l"/>
            <a:r>
              <a:rPr lang="en-US" sz="1800" b="0" i="0" u="none" strike="noStrike" baseline="0" dirty="0">
                <a:latin typeface="Times-Roman"/>
              </a:rPr>
              <a:t>1. </a:t>
            </a:r>
            <a:r>
              <a:rPr lang="en-US" sz="1800" b="0" i="1" u="none" strike="noStrike" baseline="0" dirty="0">
                <a:latin typeface="Times-Italic"/>
              </a:rPr>
              <a:t>Validity checks </a:t>
            </a:r>
            <a:r>
              <a:rPr lang="en-US" sz="1800" b="0" i="0" u="none" strike="noStrike" baseline="0" dirty="0">
                <a:latin typeface="Times-Roman"/>
              </a:rPr>
              <a:t>A user may think that a system is needed to perform certain </a:t>
            </a:r>
            <a:r>
              <a:rPr lang="en-IN" sz="1800" b="0" i="0" u="none" strike="noStrike" baseline="0" dirty="0">
                <a:latin typeface="Times-Roman"/>
              </a:rPr>
              <a:t>functions.</a:t>
            </a:r>
          </a:p>
          <a:p>
            <a:pPr algn="l"/>
            <a:r>
              <a:rPr lang="en-US" sz="1800" b="0" i="1" u="none" strike="noStrike" baseline="0" dirty="0">
                <a:latin typeface="Times-Italic"/>
              </a:rPr>
              <a:t>Consistency checks </a:t>
            </a:r>
            <a:r>
              <a:rPr lang="en-US" sz="1800" b="0" i="0" u="none" strike="noStrike" baseline="0" dirty="0">
                <a:latin typeface="Times-Roman"/>
              </a:rPr>
              <a:t>Requirements in the document should not conflict</a:t>
            </a:r>
            <a:endParaRPr lang="en-IN" sz="1800" dirty="0">
              <a:latin typeface="Times-Roman"/>
            </a:endParaRPr>
          </a:p>
          <a:p>
            <a:pPr algn="l"/>
            <a:r>
              <a:rPr lang="en-US" sz="1800" b="0" i="1" u="none" strike="noStrike" baseline="0" dirty="0">
                <a:latin typeface="Times-Italic"/>
              </a:rPr>
              <a:t>Completeness checks </a:t>
            </a:r>
            <a:r>
              <a:rPr lang="en-US" sz="1800" b="0" i="0" u="none" strike="noStrike" baseline="0" dirty="0">
                <a:latin typeface="Times-Roman"/>
              </a:rPr>
              <a:t>The requirements document should include requirements, which define all functions, and constraints intended by the system users</a:t>
            </a:r>
          </a:p>
          <a:p>
            <a:pPr algn="l"/>
            <a:r>
              <a:rPr lang="en-US" sz="1800" b="0" i="1" u="none" strike="noStrike" baseline="0" dirty="0">
                <a:latin typeface="Times-Italic"/>
              </a:rPr>
              <a:t>Realism checks </a:t>
            </a:r>
            <a:r>
              <a:rPr lang="en-US" sz="1800" b="0" i="0" u="none" strike="noStrike" baseline="0" dirty="0">
                <a:latin typeface="Times-Roman"/>
              </a:rPr>
              <a:t>Using knowledge of existing technology, the requirements should be checked to ensure that they could actually be implemented</a:t>
            </a:r>
          </a:p>
          <a:p>
            <a:pPr algn="l"/>
            <a:r>
              <a:rPr lang="en-US" sz="1800" b="0" i="1" u="none" strike="noStrike" baseline="0" dirty="0">
                <a:latin typeface="Times-Italic"/>
              </a:rPr>
              <a:t>Verifiability </a:t>
            </a:r>
            <a:r>
              <a:rPr lang="en-US" sz="1800" b="0" i="0" u="none" strike="noStrike" baseline="0" dirty="0">
                <a:latin typeface="Times-Roman"/>
              </a:rPr>
              <a:t>To reduce the potential for dispute between customer and contractor, system requirements should always be written so that they are verifiable</a:t>
            </a:r>
            <a:endParaRPr lang="en-IN" dirty="0"/>
          </a:p>
        </p:txBody>
      </p:sp>
      <p:sp>
        <p:nvSpPr>
          <p:cNvPr id="5" name="TextBox 4">
            <a:extLst>
              <a:ext uri="{FF2B5EF4-FFF2-40B4-BE49-F238E27FC236}">
                <a16:creationId xmlns:a16="http://schemas.microsoft.com/office/drawing/2014/main" id="{83EDB521-D2C9-70E2-DF6F-FCDA8CBC04CE}"/>
              </a:ext>
            </a:extLst>
          </p:cNvPr>
          <p:cNvSpPr txBox="1"/>
          <p:nvPr/>
        </p:nvSpPr>
        <p:spPr>
          <a:xfrm>
            <a:off x="3048886" y="3244334"/>
            <a:ext cx="6097772" cy="369332"/>
          </a:xfrm>
          <a:prstGeom prst="rect">
            <a:avLst/>
          </a:prstGeom>
          <a:noFill/>
        </p:spPr>
        <p:txBody>
          <a:bodyPr wrap="square">
            <a:spAutoFit/>
          </a:bodyPr>
          <a:lstStyle/>
          <a:p>
            <a:r>
              <a:rPr lang="en-IN" dirty="0"/>
              <a:t>Requirements management</a:t>
            </a:r>
          </a:p>
        </p:txBody>
      </p:sp>
    </p:spTree>
    <p:extLst>
      <p:ext uri="{BB962C8B-B14F-4D97-AF65-F5344CB8AC3E}">
        <p14:creationId xmlns:p14="http://schemas.microsoft.com/office/powerpoint/2010/main" val="2189374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15FAA-E9A8-5747-00EC-22F2A6C73634}"/>
              </a:ext>
            </a:extLst>
          </p:cNvPr>
          <p:cNvSpPr>
            <a:spLocks noGrp="1"/>
          </p:cNvSpPr>
          <p:nvPr>
            <p:ph type="title"/>
          </p:nvPr>
        </p:nvSpPr>
        <p:spPr>
          <a:xfrm>
            <a:off x="838200" y="-180753"/>
            <a:ext cx="10515600" cy="1297172"/>
          </a:xfrm>
        </p:spPr>
        <p:txBody>
          <a:bodyPr>
            <a:normAutofit/>
          </a:bodyPr>
          <a:lstStyle/>
          <a:p>
            <a:r>
              <a:rPr lang="en-IN" dirty="0"/>
              <a:t>Requirements management</a:t>
            </a:r>
          </a:p>
        </p:txBody>
      </p:sp>
      <p:sp>
        <p:nvSpPr>
          <p:cNvPr id="3" name="Content Placeholder 2">
            <a:extLst>
              <a:ext uri="{FF2B5EF4-FFF2-40B4-BE49-F238E27FC236}">
                <a16:creationId xmlns:a16="http://schemas.microsoft.com/office/drawing/2014/main" id="{7EC6B442-06F8-DB15-2A81-C0826E4A05FD}"/>
              </a:ext>
            </a:extLst>
          </p:cNvPr>
          <p:cNvSpPr>
            <a:spLocks noGrp="1"/>
          </p:cNvSpPr>
          <p:nvPr>
            <p:ph idx="1"/>
          </p:nvPr>
        </p:nvSpPr>
        <p:spPr>
          <a:xfrm>
            <a:off x="838200" y="1116419"/>
            <a:ext cx="10515600" cy="5060544"/>
          </a:xfrm>
        </p:spPr>
        <p:txBody>
          <a:bodyPr/>
          <a:lstStyle/>
          <a:p>
            <a:pPr algn="l"/>
            <a:r>
              <a:rPr lang="en-US" sz="1800" b="0" i="0" u="none" strike="noStrike" baseline="0" dirty="0">
                <a:latin typeface="Times-Roman"/>
              </a:rPr>
              <a:t>Furthermore, once a system has been installed, new requirements inevitably emerge. Requirements management is the process of understanding and controlling changes to system requirements. You need to keep track of individual requirements and maintain links between dependent requirements so that you can assess the impact </a:t>
            </a:r>
            <a:r>
              <a:rPr lang="en-IN" sz="1800" b="0" i="0" u="none" strike="noStrike" baseline="0" dirty="0">
                <a:latin typeface="Times-Roman"/>
              </a:rPr>
              <a:t>of requirements changes.</a:t>
            </a:r>
            <a:endParaRPr lang="en-IN" dirty="0"/>
          </a:p>
        </p:txBody>
      </p:sp>
    </p:spTree>
    <p:extLst>
      <p:ext uri="{BB962C8B-B14F-4D97-AF65-F5344CB8AC3E}">
        <p14:creationId xmlns:p14="http://schemas.microsoft.com/office/powerpoint/2010/main" val="33104441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E7EF2-5056-4E98-FD4C-5CD454C18439}"/>
              </a:ext>
            </a:extLst>
          </p:cNvPr>
          <p:cNvSpPr>
            <a:spLocks noGrp="1"/>
          </p:cNvSpPr>
          <p:nvPr>
            <p:ph type="title"/>
          </p:nvPr>
        </p:nvSpPr>
        <p:spPr>
          <a:xfrm>
            <a:off x="838200" y="2417209"/>
            <a:ext cx="10515600" cy="1325563"/>
          </a:xfrm>
        </p:spPr>
        <p:txBody>
          <a:bodyPr/>
          <a:lstStyle/>
          <a:p>
            <a:pPr algn="ctr"/>
            <a:r>
              <a:rPr lang="en-US" dirty="0"/>
              <a:t>Requirements specification</a:t>
            </a:r>
            <a:endParaRPr lang="en-IN" dirty="0"/>
          </a:p>
        </p:txBody>
      </p:sp>
    </p:spTree>
    <p:extLst>
      <p:ext uri="{BB962C8B-B14F-4D97-AF65-F5344CB8AC3E}">
        <p14:creationId xmlns:p14="http://schemas.microsoft.com/office/powerpoint/2010/main" val="16846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2261B1-76D8-A9D1-68E7-9C791DDD0734}"/>
              </a:ext>
            </a:extLst>
          </p:cNvPr>
          <p:cNvSpPr>
            <a:spLocks noGrp="1"/>
          </p:cNvSpPr>
          <p:nvPr>
            <p:ph idx="1"/>
          </p:nvPr>
        </p:nvSpPr>
        <p:spPr>
          <a:xfrm>
            <a:off x="838200" y="903767"/>
            <a:ext cx="10515600" cy="5273196"/>
          </a:xfrm>
        </p:spPr>
        <p:txBody>
          <a:bodyPr/>
          <a:lstStyle/>
          <a:p>
            <a:pPr algn="just"/>
            <a:r>
              <a:rPr lang="en-US" dirty="0"/>
              <a:t>The process of </a:t>
            </a:r>
            <a:r>
              <a:rPr lang="en-US" b="1" dirty="0">
                <a:solidFill>
                  <a:srgbClr val="C00000"/>
                </a:solidFill>
              </a:rPr>
              <a:t>writing the user and system</a:t>
            </a:r>
            <a:r>
              <a:rPr lang="en-US" dirty="0"/>
              <a:t> </a:t>
            </a:r>
            <a:r>
              <a:rPr lang="en-US" b="1" dirty="0">
                <a:solidFill>
                  <a:srgbClr val="C00000"/>
                </a:solidFill>
              </a:rPr>
              <a:t>requirements</a:t>
            </a:r>
            <a:r>
              <a:rPr lang="en-US" dirty="0"/>
              <a:t> in a requirements document.</a:t>
            </a:r>
          </a:p>
          <a:p>
            <a:pPr algn="just"/>
            <a:r>
              <a:rPr lang="en-US" dirty="0"/>
              <a:t>User requirements have to be </a:t>
            </a:r>
            <a:r>
              <a:rPr lang="en-US" b="1" dirty="0">
                <a:solidFill>
                  <a:srgbClr val="FF0000"/>
                </a:solidFill>
              </a:rPr>
              <a:t>understandable</a:t>
            </a:r>
            <a:r>
              <a:rPr lang="en-US" dirty="0"/>
              <a:t> by end-users and </a:t>
            </a:r>
            <a:r>
              <a:rPr lang="en-US" b="1" dirty="0">
                <a:solidFill>
                  <a:srgbClr val="FF0000"/>
                </a:solidFill>
              </a:rPr>
              <a:t>customers</a:t>
            </a:r>
            <a:r>
              <a:rPr lang="en-US" dirty="0"/>
              <a:t> who do not have a technical background.</a:t>
            </a:r>
          </a:p>
          <a:p>
            <a:pPr algn="just"/>
            <a:r>
              <a:rPr lang="en-US" dirty="0"/>
              <a:t>System requirements are </a:t>
            </a:r>
            <a:r>
              <a:rPr lang="en-US" b="1" dirty="0">
                <a:solidFill>
                  <a:srgbClr val="FF0000"/>
                </a:solidFill>
              </a:rPr>
              <a:t>more detailed requirements </a:t>
            </a:r>
            <a:r>
              <a:rPr lang="en-US" dirty="0"/>
              <a:t>and may include more technical information.</a:t>
            </a:r>
          </a:p>
          <a:p>
            <a:pPr algn="just"/>
            <a:r>
              <a:rPr lang="en-US" dirty="0"/>
              <a:t>The requirements may be part of a contract for the system development</a:t>
            </a:r>
          </a:p>
          <a:p>
            <a:pPr lvl="1" algn="just"/>
            <a:r>
              <a:rPr lang="en-US" dirty="0"/>
              <a:t>It is therefore important that these are as </a:t>
            </a:r>
            <a:r>
              <a:rPr lang="en-US" b="1" dirty="0">
                <a:solidFill>
                  <a:srgbClr val="FF0000"/>
                </a:solidFill>
              </a:rPr>
              <a:t>complete as possible</a:t>
            </a:r>
            <a:r>
              <a:rPr lang="en-US" dirty="0"/>
              <a:t>.</a:t>
            </a:r>
          </a:p>
          <a:p>
            <a:endParaRPr lang="en-IN" dirty="0"/>
          </a:p>
        </p:txBody>
      </p:sp>
    </p:spTree>
    <p:extLst>
      <p:ext uri="{BB962C8B-B14F-4D97-AF65-F5344CB8AC3E}">
        <p14:creationId xmlns:p14="http://schemas.microsoft.com/office/powerpoint/2010/main" val="3663380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1140</TotalTime>
  <Words>2100</Words>
  <Application>Microsoft Office PowerPoint</Application>
  <PresentationFormat>Widescreen</PresentationFormat>
  <Paragraphs>179</Paragraphs>
  <Slides>33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Arial</vt:lpstr>
      <vt:lpstr>Calibri</vt:lpstr>
      <vt:lpstr>Calibri Light</vt:lpstr>
      <vt:lpstr>CIDFont+F2</vt:lpstr>
      <vt:lpstr>MetaPlusBold-Roman</vt:lpstr>
      <vt:lpstr>MetaPlusNormal-Caps</vt:lpstr>
      <vt:lpstr>MetaPlusNormal-Roman</vt:lpstr>
      <vt:lpstr>Times-Italic</vt:lpstr>
      <vt:lpstr>Times-Roman</vt:lpstr>
      <vt:lpstr>ZapfDingbats</vt:lpstr>
      <vt:lpstr>Office Theme</vt:lpstr>
      <vt:lpstr>Module 3: Modelling Requirements</vt:lpstr>
      <vt:lpstr>Requirements Engineering</vt:lpstr>
      <vt:lpstr>What is a requirement?</vt:lpstr>
      <vt:lpstr>Example 1</vt:lpstr>
      <vt:lpstr>Example 2</vt:lpstr>
      <vt:lpstr>System stakeholders</vt:lpstr>
      <vt:lpstr>PowerPoint Presentation</vt:lpstr>
      <vt:lpstr>Functional and non-functional requirements</vt:lpstr>
      <vt:lpstr>Example: Functional requirements</vt:lpstr>
      <vt:lpstr>Non-functional requirements</vt:lpstr>
      <vt:lpstr>PowerPoint Presentation</vt:lpstr>
      <vt:lpstr>Non-functional Requirements</vt:lpstr>
      <vt:lpstr>Metrics for specifying non-functional requirements</vt:lpstr>
      <vt:lpstr>Requirements engineering processes  Chapter 7</vt:lpstr>
      <vt:lpstr>Requirements engineering processes</vt:lpstr>
      <vt:lpstr>Requirements engineering process </vt:lpstr>
      <vt:lpstr>The requirements engineering process</vt:lpstr>
      <vt:lpstr>Spiral model of RE</vt:lpstr>
      <vt:lpstr>FEASIBILITY STUDY</vt:lpstr>
      <vt:lpstr>Requirements elicitation</vt:lpstr>
      <vt:lpstr>Requirements elicitation</vt:lpstr>
      <vt:lpstr>Problems of requirements elicitation</vt:lpstr>
      <vt:lpstr>The requirements elicitation and analysis process </vt:lpstr>
      <vt:lpstr>Requirement Elicitation Techniques</vt:lpstr>
      <vt:lpstr>Interviewing</vt:lpstr>
      <vt:lpstr>Problems with interviews</vt:lpstr>
      <vt:lpstr>Ethnography</vt:lpstr>
      <vt:lpstr>Stories and scenarios</vt:lpstr>
      <vt:lpstr>Use-cases </vt:lpstr>
      <vt:lpstr>Requirements validation</vt:lpstr>
      <vt:lpstr>Requirements management</vt:lpstr>
      <vt:lpstr>Requirements specification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Samriddhi Sarkar</dc:creator>
  <cp:lastModifiedBy>Samriddhi Sarkar</cp:lastModifiedBy>
  <cp:revision>15</cp:revision>
  <dcterms:created xsi:type="dcterms:W3CDTF">2025-01-20T04:05:14Z</dcterms:created>
  <dcterms:modified xsi:type="dcterms:W3CDTF">2025-01-21T03:37:12Z</dcterms:modified>
</cp:coreProperties>
</file>