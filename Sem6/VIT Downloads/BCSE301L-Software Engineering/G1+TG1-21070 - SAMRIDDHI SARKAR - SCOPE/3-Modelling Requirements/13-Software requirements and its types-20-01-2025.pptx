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98" r:id="rId3"/>
    <p:sldId id="257" r:id="rId4"/>
    <p:sldId id="258" r:id="rId5"/>
    <p:sldId id="259" r:id="rId6"/>
    <p:sldId id="277" r:id="rId7"/>
    <p:sldId id="260" r:id="rId8"/>
    <p:sldId id="265" r:id="rId9"/>
    <p:sldId id="261" r:id="rId10"/>
    <p:sldId id="262" r:id="rId11"/>
    <p:sldId id="263" r:id="rId12"/>
    <p:sldId id="264" r:id="rId13"/>
    <p:sldId id="268" r:id="rId14"/>
    <p:sldId id="270" r:id="rId15"/>
    <p:sldId id="271" r:id="rId16"/>
    <p:sldId id="272" r:id="rId17"/>
    <p:sldId id="273" r:id="rId18"/>
    <p:sldId id="269" r:id="rId19"/>
    <p:sldId id="299" r:id="rId20"/>
    <p:sldId id="278" r:id="rId21"/>
    <p:sldId id="279" r:id="rId22"/>
    <p:sldId id="280" r:id="rId23"/>
    <p:sldId id="281" r:id="rId24"/>
    <p:sldId id="282" r:id="rId25"/>
    <p:sldId id="286" r:id="rId26"/>
    <p:sldId id="287" r:id="rId27"/>
    <p:sldId id="288" r:id="rId28"/>
    <p:sldId id="289" r:id="rId29"/>
    <p:sldId id="285" r:id="rId30"/>
    <p:sldId id="294" r:id="rId31"/>
    <p:sldId id="295" r:id="rId32"/>
    <p:sldId id="284" r:id="rId33"/>
    <p:sldId id="290" r:id="rId34"/>
    <p:sldId id="291" r:id="rId35"/>
    <p:sldId id="293" r:id="rId36"/>
    <p:sldId id="292" r:id="rId37"/>
    <p:sldId id="283" r:id="rId38"/>
    <p:sldId id="296" r:id="rId39"/>
    <p:sldId id="297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882" autoAdjust="0"/>
    <p:restoredTop sz="94660"/>
  </p:normalViewPr>
  <p:slideViewPr>
    <p:cSldViewPr snapToGrid="0">
      <p:cViewPr>
        <p:scale>
          <a:sx n="185" d="100"/>
          <a:sy n="185" d="100"/>
        </p:scale>
        <p:origin x="-4936" y="-16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0CD98-CBF9-5E54-8CED-F0C1D12B38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0B5244-44DC-1C25-6314-1823DF04FB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28132E-A15C-610B-A1DB-CF0854D54C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68041-C4EF-4B4D-A0E2-9D1A7F97A834}" type="datetimeFigureOut">
              <a:rPr lang="en-IN" smtClean="0"/>
              <a:t>21/03/25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564F68-44DD-A968-486D-585092B4C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FD66E9-DAF8-5EE6-65A2-A024E4B19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7E173-B56C-4ADE-987A-CBFBF4AD64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56052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CBE69-9E34-ABA3-1004-CC0895CBB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DC5C73-3CA0-4529-E3EB-04FE61002F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623425-5E74-E4DD-EBCF-E5AEB4AF7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68041-C4EF-4B4D-A0E2-9D1A7F97A834}" type="datetimeFigureOut">
              <a:rPr lang="en-IN" smtClean="0"/>
              <a:t>21/03/25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8F879F-C3D0-0125-E642-A5E6F6C2A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D36D6A-572E-5B78-390F-6505044F7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7E173-B56C-4ADE-987A-CBFBF4AD64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39499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E0485-CE64-4C14-1C86-C426393C0F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35ED01-E829-7567-A58B-4F6E9A16D0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A5ECC8-551B-6FAA-0373-EEB5991456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68041-C4EF-4B4D-A0E2-9D1A7F97A834}" type="datetimeFigureOut">
              <a:rPr lang="en-IN" smtClean="0"/>
              <a:t>21/03/25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292286-4AE0-1C59-7EE2-CC70B6534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C626EF-F824-B74F-DDF7-C3C788F95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7E173-B56C-4ADE-987A-CBFBF4AD64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64620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D49B4-6C84-C604-98CF-15D0957BB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16A296-BFC2-EB32-5A65-5EC34CDBEC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20AC02-74DA-0A8C-6FDB-65C284FB49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BA3697-2CF5-D881-2A9D-D6CAFDE21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68041-C4EF-4B4D-A0E2-9D1A7F97A834}" type="datetimeFigureOut">
              <a:rPr lang="en-IN" smtClean="0"/>
              <a:t>21/03/25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27DB65-0BD4-6CDC-FFF3-257013D57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4479FE-C8FF-627E-EEA1-CBDCE5C08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7E173-B56C-4ADE-987A-CBFBF4AD64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648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689E3-F387-45A1-318F-96A646FDF1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5704F5-028F-CD30-3325-1FE21667A4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121407-1686-DE30-9A6D-0DC691FD92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EFCE53-74EF-2A3B-D311-D1D977B2F8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7B9EA5-4658-5DAA-8C28-1F46CB6B0A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8073F8-FDFD-D96D-DCA8-A718BA26A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68041-C4EF-4B4D-A0E2-9D1A7F97A834}" type="datetimeFigureOut">
              <a:rPr lang="en-IN" smtClean="0"/>
              <a:t>21/03/25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48ABE6-799F-D805-1833-B6805273C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4BCE21-049B-C418-7183-745C77F25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7E173-B56C-4ADE-987A-CBFBF4AD64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47659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EE5CD-18A1-DEC0-19F9-E99BC165D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AB1106-65D6-4104-ABE7-31E7858E0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68041-C4EF-4B4D-A0E2-9D1A7F97A834}" type="datetimeFigureOut">
              <a:rPr lang="en-IN" smtClean="0"/>
              <a:t>21/03/25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030964-BEFD-9B66-871B-9A0B4AE75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F0D83B-ECDF-ECB4-6CE8-1EB4D0294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7E173-B56C-4ADE-987A-CBFBF4AD64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09278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95B8DF-2B53-C99B-0D9B-BE7F74302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68041-C4EF-4B4D-A0E2-9D1A7F97A834}" type="datetimeFigureOut">
              <a:rPr lang="en-IN" smtClean="0"/>
              <a:t>21/03/25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44E353-EB3D-CAE6-9A35-C5E0ED7C0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513C39-0C88-3AC5-FF8E-8F8967798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7E173-B56C-4ADE-987A-CBFBF4AD64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8940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085F4-AAC1-0D73-5543-8FC1CAE77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329D20-62DF-FCBB-E929-34010AE7C3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1F6613-08E5-CC51-7BEA-4BD59996FB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08A1A8-27EB-B496-88CC-0750BE1B4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68041-C4EF-4B4D-A0E2-9D1A7F97A834}" type="datetimeFigureOut">
              <a:rPr lang="en-IN" smtClean="0"/>
              <a:t>21/03/25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08D257-F346-2DE6-3A5A-522380D7F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DD881E-5B9C-E398-3A0A-DA6927E77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7E173-B56C-4ADE-987A-CBFBF4AD64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80859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3C7B5-9B6D-5968-0692-03AA13D0E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85CB74A-8434-4DE9-FF50-2F6A2E147D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110999-8238-F9BC-34FA-89BC72112C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483E2F-1334-C2AD-53E6-A8F23C4A4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68041-C4EF-4B4D-A0E2-9D1A7F97A834}" type="datetimeFigureOut">
              <a:rPr lang="en-IN" smtClean="0"/>
              <a:t>21/03/25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350A8A-18C6-7E90-E798-418F97EB1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94DCF3-DE10-A2E0-C765-9502A269F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7E173-B56C-4ADE-987A-CBFBF4AD64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1482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B9051-C261-4747-AEBD-A6DC3564B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CDFB2E-B2A4-CF81-BEAB-803126A33A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A5E41E-57BD-E205-6A3B-54F98A97D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68041-C4EF-4B4D-A0E2-9D1A7F97A834}" type="datetimeFigureOut">
              <a:rPr lang="en-IN" smtClean="0"/>
              <a:t>21/03/25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45A5B8-E6F7-DE53-A601-2AFA64C8C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354971-D173-CF75-8DD6-F28D2579E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7E173-B56C-4ADE-987A-CBFBF4AD64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19564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969C41-3BCC-1DCC-03D9-1587C4E7FC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5142AE-5105-023E-7E39-F74CB40F6E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640FAF-A3ED-BED0-1FA2-23828C7C8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68041-C4EF-4B4D-A0E2-9D1A7F97A834}" type="datetimeFigureOut">
              <a:rPr lang="en-IN" smtClean="0"/>
              <a:t>21/03/25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9AF86C-65DD-5764-20F9-5800CD864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BDD96B-6CC1-E6E4-5DAA-604885FE3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7E173-B56C-4ADE-987A-CBFBF4AD64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9582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CC74FF-EA4D-476B-9214-65758F8E2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123475-FECE-54F1-8473-E826C6DC93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34E0D2-A6AA-0B91-0997-759992CB23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568041-C4EF-4B4D-A0E2-9D1A7F97A834}" type="datetimeFigureOut">
              <a:rPr lang="en-IN" smtClean="0"/>
              <a:t>21/03/25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A842A-AB42-9AB4-CA76-59D0F4D68D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52028A-B4D4-3E12-E630-EB4A2BEDD5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E7E173-B56C-4ADE-987A-CBFBF4AD64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43802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95FE7-1351-2E8A-B106-259D0078E83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Unified Modelling Language (UML)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BAD08D-B5D5-311A-2750-8224B69D6C0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IN" sz="1200" b="1" dirty="0" err="1"/>
              <a:t>Dr.</a:t>
            </a:r>
            <a:r>
              <a:rPr lang="en-IN" sz="1200" b="1" dirty="0"/>
              <a:t> Samriddhi Sarkar</a:t>
            </a:r>
          </a:p>
          <a:p>
            <a:r>
              <a:rPr lang="en-IN" sz="1200" b="1" dirty="0"/>
              <a:t>Assistant Professor Sr. Grade, SCOPE</a:t>
            </a:r>
          </a:p>
        </p:txBody>
      </p:sp>
    </p:spTree>
    <p:extLst>
      <p:ext uri="{BB962C8B-B14F-4D97-AF65-F5344CB8AC3E}">
        <p14:creationId xmlns:p14="http://schemas.microsoft.com/office/powerpoint/2010/main" val="42272781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8386D-C630-BD1B-9B52-DF13E534D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Unified Modelling Language (UML diagrams)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EE41F3-E08E-DE1E-60B1-3E9B9F8A61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UML diagrams are used to </a:t>
            </a:r>
            <a:r>
              <a:rPr lang="en-IN" dirty="0">
                <a:solidFill>
                  <a:srgbClr val="FF0000"/>
                </a:solidFill>
              </a:rPr>
              <a:t>represen</a:t>
            </a:r>
            <a:r>
              <a:rPr lang="en-IN" dirty="0"/>
              <a:t>t a system along with its main </a:t>
            </a:r>
            <a:r>
              <a:rPr lang="en-IN" dirty="0">
                <a:solidFill>
                  <a:srgbClr val="FF0000"/>
                </a:solidFill>
              </a:rPr>
              <a:t>actors, roles, actions, classes</a:t>
            </a:r>
            <a:r>
              <a:rPr lang="en-IN" dirty="0"/>
              <a:t>.</a:t>
            </a:r>
          </a:p>
          <a:p>
            <a:r>
              <a:rPr lang="en-IN" dirty="0"/>
              <a:t>UML diagrams are categorized into </a:t>
            </a:r>
            <a:r>
              <a:rPr lang="en-IN" dirty="0">
                <a:solidFill>
                  <a:srgbClr val="FF0000"/>
                </a:solidFill>
              </a:rPr>
              <a:t>structural</a:t>
            </a:r>
            <a:r>
              <a:rPr lang="en-IN" dirty="0"/>
              <a:t> diagrams, </a:t>
            </a:r>
            <a:r>
              <a:rPr lang="en-IN" dirty="0">
                <a:solidFill>
                  <a:srgbClr val="FF0000"/>
                </a:solidFill>
              </a:rPr>
              <a:t>behavioural</a:t>
            </a:r>
            <a:r>
              <a:rPr lang="en-IN" dirty="0"/>
              <a:t> diagrams</a:t>
            </a:r>
          </a:p>
          <a:p>
            <a:r>
              <a:rPr lang="en-IN" dirty="0">
                <a:solidFill>
                  <a:srgbClr val="FF0000"/>
                </a:solidFill>
              </a:rPr>
              <a:t>Structural diagrams </a:t>
            </a:r>
            <a:r>
              <a:rPr lang="en-IN" dirty="0"/>
              <a:t>are </a:t>
            </a:r>
            <a:r>
              <a:rPr lang="en-IN" dirty="0">
                <a:solidFill>
                  <a:srgbClr val="FF0000"/>
                </a:solidFill>
              </a:rPr>
              <a:t>static view </a:t>
            </a:r>
            <a:r>
              <a:rPr lang="en-IN" dirty="0"/>
              <a:t>or structure of a system. It is widely used in the documentation of software architecture.</a:t>
            </a:r>
          </a:p>
          <a:p>
            <a:r>
              <a:rPr lang="en-IN" dirty="0">
                <a:solidFill>
                  <a:srgbClr val="FF0000"/>
                </a:solidFill>
              </a:rPr>
              <a:t>Behavioural diagrams</a:t>
            </a:r>
            <a:r>
              <a:rPr lang="en-IN" dirty="0"/>
              <a:t> are </a:t>
            </a:r>
            <a:r>
              <a:rPr lang="en-IN" dirty="0">
                <a:solidFill>
                  <a:srgbClr val="FF0000"/>
                </a:solidFill>
              </a:rPr>
              <a:t>dynamic</a:t>
            </a:r>
            <a:r>
              <a:rPr lang="en-IN" dirty="0"/>
              <a:t> view of a system or the behaviour of a system, which describes the functioning of the system.</a:t>
            </a:r>
          </a:p>
        </p:txBody>
      </p:sp>
    </p:spTree>
    <p:extLst>
      <p:ext uri="{BB962C8B-B14F-4D97-AF65-F5344CB8AC3E}">
        <p14:creationId xmlns:p14="http://schemas.microsoft.com/office/powerpoint/2010/main" val="40914759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ABB9C-2A4D-4581-6D74-CF8DC23A9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Unified </a:t>
            </a:r>
            <a:r>
              <a:rPr lang="en-IN" dirty="0" err="1"/>
              <a:t>Modeling</a:t>
            </a:r>
            <a:r>
              <a:rPr lang="en-IN" dirty="0"/>
              <a:t> Language (UML)?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B01FE7-F11F-3217-2B04-F81B214297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standard </a:t>
            </a:r>
            <a:r>
              <a:rPr lang="en-US" dirty="0">
                <a:solidFill>
                  <a:srgbClr val="FF0000"/>
                </a:solidFill>
              </a:rPr>
              <a:t>language</a:t>
            </a:r>
            <a:r>
              <a:rPr lang="en-US" dirty="0"/>
              <a:t> for writing </a:t>
            </a:r>
            <a:r>
              <a:rPr lang="en-US" dirty="0">
                <a:solidFill>
                  <a:srgbClr val="FF0000"/>
                </a:solidFill>
              </a:rPr>
              <a:t>software blueprints, for visualization</a:t>
            </a:r>
          </a:p>
          <a:p>
            <a:r>
              <a:rPr lang="en-US" dirty="0"/>
              <a:t>UML may be used to </a:t>
            </a:r>
            <a:r>
              <a:rPr lang="en-US" dirty="0">
                <a:solidFill>
                  <a:srgbClr val="FF0000"/>
                </a:solidFill>
              </a:rPr>
              <a:t>visualize, specify, construct</a:t>
            </a:r>
            <a:r>
              <a:rPr lang="en-US" dirty="0"/>
              <a:t>, and document the artifacts of a software-intensive system</a:t>
            </a:r>
          </a:p>
          <a:p>
            <a:pPr algn="l"/>
            <a:r>
              <a:rPr lang="en-US" b="0" i="0" u="none" strike="noStrike" baseline="0" dirty="0">
                <a:latin typeface="Leawood-Book"/>
              </a:rPr>
              <a:t>software architects create UML diagrams to help software developers </a:t>
            </a:r>
            <a:r>
              <a:rPr lang="en-IN" b="0" i="0" u="none" strike="noStrike" baseline="0" dirty="0">
                <a:latin typeface="Leawood-Book"/>
              </a:rPr>
              <a:t>build the software</a:t>
            </a:r>
          </a:p>
          <a:p>
            <a:pPr algn="l"/>
            <a:r>
              <a:rPr lang="en-IN" dirty="0">
                <a:latin typeface="Leawood-Book"/>
              </a:rPr>
              <a:t>Simplifies the complex process of software design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824826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3D85E-D398-CBD4-0C17-5B5111DA6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to use UML?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5465E2-93D8-9ABA-877C-6E6ED6A948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Use </a:t>
            </a:r>
            <a:r>
              <a:rPr lang="en-IN" dirty="0">
                <a:solidFill>
                  <a:srgbClr val="FF0000"/>
                </a:solidFill>
              </a:rPr>
              <a:t>graphical notation </a:t>
            </a:r>
            <a:r>
              <a:rPr lang="en-IN" dirty="0"/>
              <a:t>to communicate more clearly that natural language and code.</a:t>
            </a:r>
          </a:p>
          <a:p>
            <a:r>
              <a:rPr lang="en-IN" dirty="0"/>
              <a:t>Quick understanding</a:t>
            </a:r>
          </a:p>
          <a:p>
            <a:r>
              <a:rPr lang="en-IN" dirty="0"/>
              <a:t>Gives an overall view of a system</a:t>
            </a:r>
          </a:p>
          <a:p>
            <a:r>
              <a:rPr lang="en-IN" dirty="0"/>
              <a:t>Lessens chances if conflicts</a:t>
            </a:r>
          </a:p>
          <a:p>
            <a:r>
              <a:rPr lang="en-IN" dirty="0"/>
              <a:t>UML is dependent on any other language or technology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122665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14253-2FAA-B262-4487-DF9CC54E0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0171"/>
          </a:xfrm>
        </p:spPr>
        <p:txBody>
          <a:bodyPr/>
          <a:lstStyle/>
          <a:p>
            <a:r>
              <a:rPr lang="en-IN" b="1" dirty="0"/>
              <a:t>Types of UML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01376C-5196-14FA-BBAB-69A612B438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5296"/>
            <a:ext cx="10515600" cy="495166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b="1" dirty="0">
                <a:solidFill>
                  <a:srgbClr val="FF0000"/>
                </a:solidFill>
              </a:rPr>
              <a:t>Behavioural diagram </a:t>
            </a:r>
            <a:r>
              <a:rPr lang="en-IN" dirty="0">
                <a:solidFill>
                  <a:srgbClr val="FF0000"/>
                </a:solidFill>
              </a:rPr>
              <a:t>(Shows the static part)</a:t>
            </a:r>
            <a:r>
              <a:rPr lang="en-IN" b="1" dirty="0">
                <a:solidFill>
                  <a:srgbClr val="FF0000"/>
                </a:solidFill>
              </a:rPr>
              <a:t> </a:t>
            </a:r>
          </a:p>
          <a:p>
            <a:r>
              <a:rPr lang="en-IN" b="1" dirty="0"/>
              <a:t>Class Diagram</a:t>
            </a:r>
          </a:p>
          <a:p>
            <a:r>
              <a:rPr lang="en-IN" dirty="0"/>
              <a:t>Component diagram</a:t>
            </a:r>
          </a:p>
          <a:p>
            <a:r>
              <a:rPr lang="en-IN" dirty="0"/>
              <a:t>Deployment Diagram</a:t>
            </a:r>
          </a:p>
          <a:p>
            <a:r>
              <a:rPr lang="en-IN" dirty="0"/>
              <a:t>Object Diagram</a:t>
            </a:r>
          </a:p>
          <a:p>
            <a:r>
              <a:rPr lang="en-IN" dirty="0"/>
              <a:t>Package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dirty="0" err="1">
                <a:solidFill>
                  <a:srgbClr val="FF0000"/>
                </a:solidFill>
              </a:rPr>
              <a:t>Behavioral</a:t>
            </a:r>
            <a:r>
              <a:rPr lang="en-IN" dirty="0">
                <a:solidFill>
                  <a:srgbClr val="FF0000"/>
                </a:solidFill>
              </a:rPr>
              <a:t> Diagram</a:t>
            </a:r>
          </a:p>
          <a:p>
            <a:r>
              <a:rPr lang="en-IN" b="1" dirty="0"/>
              <a:t>Use-case Diagram</a:t>
            </a:r>
          </a:p>
          <a:p>
            <a:r>
              <a:rPr lang="en-IN" b="1" dirty="0"/>
              <a:t>Activity Diagram</a:t>
            </a:r>
          </a:p>
          <a:p>
            <a:r>
              <a:rPr lang="en-IN" dirty="0"/>
              <a:t>State Diagram</a:t>
            </a:r>
          </a:p>
          <a:p>
            <a:r>
              <a:rPr lang="en-IN" dirty="0"/>
              <a:t>Interaction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329AC4-BB8F-E0F0-486F-CB919E37AC20}"/>
              </a:ext>
            </a:extLst>
          </p:cNvPr>
          <p:cNvSpPr txBox="1"/>
          <p:nvPr/>
        </p:nvSpPr>
        <p:spPr>
          <a:xfrm>
            <a:off x="7726680" y="2777799"/>
            <a:ext cx="362712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Interaction diagram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Sequence Diagram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Communication (Collaboration)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476547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6C17A8-6486-1FAF-18E2-A8699876F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IN" sz="4800" dirty="0"/>
          </a:p>
          <a:p>
            <a:pPr marL="0" indent="0" algn="ctr">
              <a:buNone/>
            </a:pPr>
            <a:r>
              <a:rPr lang="en-IN" sz="4800" dirty="0"/>
              <a:t>PART 1</a:t>
            </a:r>
          </a:p>
          <a:p>
            <a:pPr marL="0" indent="0" algn="ctr">
              <a:buNone/>
            </a:pPr>
            <a:r>
              <a:rPr lang="en-IN" sz="4800" dirty="0"/>
              <a:t>Class Diagram</a:t>
            </a:r>
          </a:p>
        </p:txBody>
      </p:sp>
    </p:spTree>
    <p:extLst>
      <p:ext uri="{BB962C8B-B14F-4D97-AF65-F5344CB8AC3E}">
        <p14:creationId xmlns:p14="http://schemas.microsoft.com/office/powerpoint/2010/main" val="36781768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70DC7-ED66-3F00-095A-DC2491B7B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6344"/>
            <a:ext cx="10515600" cy="640080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Class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C9C119-8E42-7126-62FA-2533BBC976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79576"/>
            <a:ext cx="10515600" cy="4997387"/>
          </a:xfrm>
        </p:spPr>
        <p:txBody>
          <a:bodyPr>
            <a:normAutofit/>
          </a:bodyPr>
          <a:lstStyle/>
          <a:p>
            <a:r>
              <a:rPr lang="en-US" sz="2000" dirty="0"/>
              <a:t>Class diagrams provide a high-level overview of a system’s design</a:t>
            </a:r>
          </a:p>
          <a:p>
            <a:r>
              <a:rPr lang="en-US" sz="2000" dirty="0"/>
              <a:t>To model classes, including their attributes, operations, and their relationships and associations with other classes,2 UML provides a class diagram</a:t>
            </a:r>
          </a:p>
          <a:p>
            <a:pPr algn="l"/>
            <a:r>
              <a:rPr lang="en-IN" sz="1800" b="0" i="0" u="none" strike="noStrike" baseline="0" dirty="0">
                <a:latin typeface="Leawood-Book"/>
              </a:rPr>
              <a:t>class diagram provides </a:t>
            </a:r>
            <a:r>
              <a:rPr lang="en-US" sz="1800" b="0" i="0" u="none" strike="noStrike" baseline="0" dirty="0">
                <a:latin typeface="Leawood-Book"/>
              </a:rPr>
              <a:t>a static or structural view of a system</a:t>
            </a:r>
          </a:p>
          <a:p>
            <a:r>
              <a:rPr lang="en-US" sz="2000" dirty="0"/>
              <a:t>Following are the purpose of class diagrams given below: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/>
              <a:t>It analyses and designs a static view of an application.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/>
              <a:t>It describes the major responsibilities of a system.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/>
              <a:t>It is a base for component and deployment diagrams.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/>
              <a:t>It incorporates forward and reverse engineering.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428721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5C02D-74FB-08DE-A468-32F9B699A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“class”?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F1A4BC-CC14-92BC-F9D4-23153CD1E2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object-oriented programming (OOP), a class is a blueprint or template for creating objects. </a:t>
            </a:r>
          </a:p>
          <a:p>
            <a:r>
              <a:rPr lang="en-US" dirty="0"/>
              <a:t>Objects are instances of classes, and each class defines a set of attributes (data members) and methods (functions or procedures) that the objects created from that class will possess. </a:t>
            </a:r>
          </a:p>
          <a:p>
            <a:r>
              <a:rPr lang="en-US" dirty="0"/>
              <a:t>The attributes represent the characteristics or properties of the object, while the methods define the behaviors or actions that the object can perform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300993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558B0-AFB2-34D2-BDD8-7D6AA0A87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94411"/>
          </a:xfrm>
        </p:spPr>
        <p:txBody>
          <a:bodyPr>
            <a:normAutofit fontScale="90000"/>
          </a:bodyPr>
          <a:lstStyle/>
          <a:p>
            <a:r>
              <a:rPr lang="en-IN" dirty="0"/>
              <a:t>Class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EB9706-51D4-5423-EF58-77E2D96BD9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24128"/>
            <a:ext cx="10515600" cy="5152835"/>
          </a:xfrm>
        </p:spPr>
        <p:txBody>
          <a:bodyPr/>
          <a:lstStyle/>
          <a:p>
            <a:r>
              <a:rPr lang="en-IN" sz="1800" b="1" i="0" u="none" strike="noStrike" baseline="0" dirty="0">
                <a:solidFill>
                  <a:srgbClr val="FF0000"/>
                </a:solidFill>
                <a:latin typeface="Arial" panose="020B0604020202020204" pitchFamily="34" charset="0"/>
              </a:rPr>
              <a:t>Vital components of a Class Diagram</a:t>
            </a:r>
            <a:r>
              <a:rPr lang="en-IN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: The class diagram is made up of three sections:</a:t>
            </a:r>
          </a:p>
          <a:p>
            <a:r>
              <a:rPr lang="en-IN" sz="1800" i="0" u="none" strike="noStrike" baseline="0" dirty="0">
                <a:latin typeface="Arial" panose="020B0604020202020204" pitchFamily="34" charset="0"/>
              </a:rPr>
              <a:t>Upper Section </a:t>
            </a:r>
            <a:r>
              <a:rPr lang="en-IN" sz="1800" i="0" u="none" strike="noStrike" baseline="0" dirty="0">
                <a:solidFill>
                  <a:srgbClr val="FF0000"/>
                </a:solidFill>
                <a:latin typeface="Arial" panose="020B0604020202020204" pitchFamily="34" charset="0"/>
              </a:rPr>
              <a:t>(class name</a:t>
            </a:r>
            <a:r>
              <a:rPr lang="en-IN" sz="1800" i="0" u="none" strike="noStrike" baseline="0" dirty="0">
                <a:latin typeface="Arial" panose="020B0604020202020204" pitchFamily="34" charset="0"/>
              </a:rPr>
              <a:t>)</a:t>
            </a:r>
          </a:p>
          <a:p>
            <a:r>
              <a:rPr lang="en-IN" sz="1800" i="0" u="none" strike="noStrike" baseline="0" dirty="0">
                <a:latin typeface="Arial" panose="020B0604020202020204" pitchFamily="34" charset="0"/>
              </a:rPr>
              <a:t>Middle Section (</a:t>
            </a:r>
            <a:r>
              <a:rPr lang="en-IN" sz="1800" i="0" u="none" strike="noStrike" baseline="0" dirty="0">
                <a:solidFill>
                  <a:srgbClr val="FF0000"/>
                </a:solidFill>
                <a:latin typeface="Arial" panose="020B0604020202020204" pitchFamily="34" charset="0"/>
              </a:rPr>
              <a:t>attributes</a:t>
            </a:r>
            <a:r>
              <a:rPr lang="en-IN" sz="1800" i="0" u="none" strike="noStrike" baseline="0" dirty="0">
                <a:latin typeface="Arial" panose="020B0604020202020204" pitchFamily="34" charset="0"/>
              </a:rPr>
              <a:t>)</a:t>
            </a:r>
          </a:p>
          <a:p>
            <a:r>
              <a:rPr lang="en-IN" sz="1800" i="0" u="none" strike="noStrike" baseline="0" dirty="0">
                <a:latin typeface="Arial" panose="020B0604020202020204" pitchFamily="34" charset="0"/>
              </a:rPr>
              <a:t>Lower Section  (</a:t>
            </a:r>
            <a:r>
              <a:rPr lang="en-IN" sz="1800" i="0" u="none" strike="noStrike" baseline="0" dirty="0">
                <a:solidFill>
                  <a:srgbClr val="FF0000"/>
                </a:solidFill>
                <a:latin typeface="Arial" panose="020B0604020202020204" pitchFamily="34" charset="0"/>
              </a:rPr>
              <a:t>Methods</a:t>
            </a:r>
            <a:r>
              <a:rPr lang="en-IN" sz="1800" i="0" u="none" strike="noStrike" baseline="0" dirty="0">
                <a:latin typeface="Arial" panose="020B0604020202020204" pitchFamily="34" charset="0"/>
              </a:rPr>
              <a:t>)</a:t>
            </a:r>
          </a:p>
          <a:p>
            <a:pPr marL="0" indent="0">
              <a:buNone/>
            </a:pPr>
            <a:r>
              <a:rPr lang="en-IN" sz="1800" b="1" i="0" u="none" strike="noStrike" baseline="0" dirty="0">
                <a:solidFill>
                  <a:srgbClr val="FF0000"/>
                </a:solidFill>
                <a:latin typeface="Arial" panose="020B0604020202020204" pitchFamily="34" charset="0"/>
              </a:rPr>
              <a:t>Upper Section</a:t>
            </a:r>
            <a:r>
              <a:rPr lang="en-IN" sz="1800" b="1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: </a:t>
            </a:r>
            <a:r>
              <a:rPr lang="en-IN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The upper section encompasses the </a:t>
            </a:r>
            <a:r>
              <a:rPr lang="en-IN" sz="1800" b="1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name of the class</a:t>
            </a:r>
            <a:r>
              <a:rPr lang="en-IN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.</a:t>
            </a:r>
          </a:p>
          <a:p>
            <a:r>
              <a:rPr lang="en-IN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A class is a representation of similar objects that shares the same relationships, attributes, operations, and semantics.</a:t>
            </a:r>
          </a:p>
          <a:p>
            <a:r>
              <a:rPr lang="en-IN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Some of the following rules that should be taken into account while representing a class are given below:</a:t>
            </a:r>
          </a:p>
          <a:p>
            <a:r>
              <a:rPr lang="en-US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Capitalize the initial letter of the class name.</a:t>
            </a:r>
          </a:p>
          <a:p>
            <a:r>
              <a:rPr lang="en-US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Place the class name in the center of the upper section.</a:t>
            </a:r>
          </a:p>
          <a:p>
            <a:r>
              <a:rPr lang="en-US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A class name must be written in bold format.</a:t>
            </a:r>
          </a:p>
          <a:p>
            <a:r>
              <a:rPr lang="en-US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The name of the abstract class should be written in italics format.</a:t>
            </a:r>
          </a:p>
          <a:p>
            <a:endParaRPr lang="en-IN" sz="1800" i="0" u="none" strike="noStrike" baseline="0" dirty="0">
              <a:latin typeface="Arial" panose="020B0604020202020204" pitchFamily="34" charset="0"/>
            </a:endParaRPr>
          </a:p>
          <a:p>
            <a:endParaRPr lang="en-IN" sz="1800" b="0" i="0" u="none" strike="noStrike" baseline="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426572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7C529-5FA6-42EA-30B1-004CF6745E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8147"/>
          </a:xfrm>
        </p:spPr>
        <p:txBody>
          <a:bodyPr>
            <a:normAutofit fontScale="90000"/>
          </a:bodyPr>
          <a:lstStyle/>
          <a:p>
            <a:r>
              <a:rPr lang="en-IN" dirty="0"/>
              <a:t>Class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03535B-7948-22CF-57CC-6C34442A16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04240"/>
            <a:ext cx="10515600" cy="52727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b="1" i="0" u="none" strike="noStrike" baseline="0" dirty="0">
                <a:solidFill>
                  <a:srgbClr val="FF0000"/>
                </a:solidFill>
                <a:latin typeface="Arial" panose="020B0604020202020204" pitchFamily="34" charset="0"/>
              </a:rPr>
              <a:t>Middle Section</a:t>
            </a:r>
            <a:r>
              <a:rPr lang="en-IN" sz="1800" b="1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: </a:t>
            </a:r>
            <a:r>
              <a:rPr lang="en-IN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The middle section constitutes the </a:t>
            </a:r>
            <a:r>
              <a:rPr lang="en-IN" sz="1800" b="1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attributes</a:t>
            </a:r>
            <a:r>
              <a:rPr lang="en-IN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, which describe the quality of the class.</a:t>
            </a:r>
          </a:p>
          <a:p>
            <a:pPr marL="0" indent="0">
              <a:buNone/>
            </a:pPr>
            <a:r>
              <a:rPr lang="en-IN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The attributes have the following characteristics:</a:t>
            </a:r>
          </a:p>
          <a:p>
            <a:r>
              <a:rPr lang="en-US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The attributes are written along with its </a:t>
            </a:r>
            <a:r>
              <a:rPr lang="en-US" sz="1800" b="0" i="0" u="none" strike="noStrike" baseline="0" dirty="0">
                <a:solidFill>
                  <a:srgbClr val="FF0000"/>
                </a:solidFill>
                <a:latin typeface="Arial" panose="020B0604020202020204" pitchFamily="34" charset="0"/>
              </a:rPr>
              <a:t>visibility factors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, which are public (+), private (-), protected (#), and package (~).</a:t>
            </a:r>
          </a:p>
          <a:p>
            <a:r>
              <a:rPr lang="en-US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The accessibility of an attribute class is illustrated by the visibility factors.</a:t>
            </a:r>
          </a:p>
          <a:p>
            <a:r>
              <a:rPr lang="en-US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A meaningful name should be assigned to the attribute, which will explain its usage inside the class.</a:t>
            </a:r>
            <a:endParaRPr lang="en-IN" sz="1800" b="0" i="0" u="none" strike="noStrike" baseline="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en-IN" sz="2000" b="1" i="0" u="none" strike="noStrike" baseline="0" dirty="0">
                <a:solidFill>
                  <a:srgbClr val="FF0000"/>
                </a:solidFill>
                <a:latin typeface="Arial" panose="020B0604020202020204" pitchFamily="34" charset="0"/>
              </a:rPr>
              <a:t>Lower Section</a:t>
            </a:r>
            <a:r>
              <a:rPr lang="en-IN" sz="2000" b="1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: </a:t>
            </a:r>
            <a:r>
              <a:rPr lang="en-IN" sz="20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The lower section contain </a:t>
            </a:r>
            <a:r>
              <a:rPr lang="en-IN" sz="2000" b="1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methods or operations</a:t>
            </a:r>
            <a:r>
              <a:rPr lang="en-IN" sz="20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.</a:t>
            </a:r>
          </a:p>
          <a:p>
            <a:r>
              <a:rPr lang="en-IN" sz="20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The methods are represented in </a:t>
            </a:r>
          </a:p>
          <a:p>
            <a:pPr marL="0" indent="0">
              <a:buNone/>
            </a:pPr>
            <a:r>
              <a:rPr lang="en-IN" sz="20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the form of a list, where each </a:t>
            </a:r>
          </a:p>
          <a:p>
            <a:pPr marL="0" indent="0">
              <a:buNone/>
            </a:pPr>
            <a:r>
              <a:rPr lang="en-IN" sz="20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method is written in a single line.</a:t>
            </a:r>
          </a:p>
          <a:p>
            <a:r>
              <a:rPr lang="en-IN" sz="20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It demonstrates how a class </a:t>
            </a:r>
          </a:p>
          <a:p>
            <a:pPr marL="0" indent="0">
              <a:buNone/>
            </a:pPr>
            <a:r>
              <a:rPr lang="en-IN" sz="20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interacts with data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32B8EA-3FDD-1310-9E04-9DA7D27B53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0320" y="3870960"/>
            <a:ext cx="5669280" cy="273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31783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082F6-956C-D0FE-F698-0C48AD8DC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8147"/>
          </a:xfrm>
        </p:spPr>
        <p:txBody>
          <a:bodyPr>
            <a:normAutofit fontScale="90000"/>
          </a:bodyPr>
          <a:lstStyle/>
          <a:p>
            <a:r>
              <a:rPr lang="en-IN" dirty="0"/>
              <a:t>Class diagram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2795E18-1C45-B73F-B204-EE10F07B38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9140" y="1327912"/>
            <a:ext cx="8356600" cy="5093208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1E47AED-A222-D5C6-369E-722A2FC122D3}"/>
              </a:ext>
            </a:extLst>
          </p:cNvPr>
          <p:cNvSpPr txBox="1"/>
          <p:nvPr/>
        </p:nvSpPr>
        <p:spPr>
          <a:xfrm>
            <a:off x="2529840" y="4389120"/>
            <a:ext cx="15436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Has- a relation</a:t>
            </a:r>
          </a:p>
        </p:txBody>
      </p:sp>
    </p:spTree>
    <p:extLst>
      <p:ext uri="{BB962C8B-B14F-4D97-AF65-F5344CB8AC3E}">
        <p14:creationId xmlns:p14="http://schemas.microsoft.com/office/powerpoint/2010/main" val="34326812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7695F-C91C-EDCE-D97A-8093615B7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Class diagram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5BCEB47-F6D4-D76F-07E5-1E437BD082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9005" y="1825625"/>
            <a:ext cx="8693990" cy="4351338"/>
          </a:xfrm>
        </p:spPr>
      </p:pic>
    </p:spTree>
    <p:extLst>
      <p:ext uri="{BB962C8B-B14F-4D97-AF65-F5344CB8AC3E}">
        <p14:creationId xmlns:p14="http://schemas.microsoft.com/office/powerpoint/2010/main" val="42848844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74779-9EA6-C11E-56EF-EA90FBB4A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How to draw Class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421CA6-2917-7A92-F7AC-9A725C5AC6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3040"/>
            <a:ext cx="10515600" cy="471392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An </a:t>
            </a:r>
            <a:r>
              <a:rPr lang="en-US" dirty="0">
                <a:solidFill>
                  <a:srgbClr val="FF0000"/>
                </a:solidFill>
              </a:rPr>
              <a:t>association</a:t>
            </a:r>
            <a:r>
              <a:rPr lang="en-US" dirty="0"/>
              <a:t> represents a bi-directional relationship between two classes.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93A9F16-865A-0A96-F5E8-A2ABC9CAA0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3704" y="2417366"/>
            <a:ext cx="7360920" cy="3635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6652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27F01-7DE3-2EE2-F463-322AC902F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2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477514-3F06-342E-3E56-B2B4C6888A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1016"/>
            <a:ext cx="10515600" cy="4905947"/>
          </a:xfrm>
        </p:spPr>
        <p:txBody>
          <a:bodyPr/>
          <a:lstStyle/>
          <a:p>
            <a:r>
              <a:rPr lang="en-US" dirty="0"/>
              <a:t>A </a:t>
            </a:r>
            <a:r>
              <a:rPr lang="en-US" b="1" dirty="0">
                <a:solidFill>
                  <a:srgbClr val="FF0000"/>
                </a:solidFill>
              </a:rPr>
              <a:t>directed association </a:t>
            </a:r>
            <a:r>
              <a:rPr lang="en-US" dirty="0"/>
              <a:t>in a UML class diagram represents a relationship between two classes where the association has a direction, indicating that one class is associated with another in a specific way.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FCBBF7-0816-F2E2-F624-CE7284F6B7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4288" y="2851897"/>
            <a:ext cx="7946136" cy="3325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38927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789432-4A74-A497-CBF0-511DD7234F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3464"/>
            <a:ext cx="10515600" cy="5893499"/>
          </a:xfrm>
        </p:spPr>
        <p:txBody>
          <a:bodyPr>
            <a:normAutofit/>
          </a:bodyPr>
          <a:lstStyle/>
          <a:p>
            <a:r>
              <a:rPr lang="en-US" sz="1800" dirty="0">
                <a:solidFill>
                  <a:srgbClr val="FF0000"/>
                </a:solidFill>
              </a:rPr>
              <a:t>Aggregation</a:t>
            </a:r>
            <a:r>
              <a:rPr lang="en-US" sz="1800" dirty="0"/>
              <a:t> is a specialized form of association that represents a “whole-part” relationship.</a:t>
            </a:r>
          </a:p>
          <a:p>
            <a:r>
              <a:rPr lang="en-US" sz="1800" dirty="0"/>
              <a:t>It denotes a stronger relationship where one class (the whole) contains or is composed of another class (the part). </a:t>
            </a:r>
          </a:p>
          <a:p>
            <a:r>
              <a:rPr lang="en-US" sz="1800" dirty="0"/>
              <a:t>Aggregation is represented by a diamond shape on the side of the whole class. </a:t>
            </a:r>
          </a:p>
          <a:p>
            <a:r>
              <a:rPr lang="en-US" sz="1800" dirty="0"/>
              <a:t>In this kind of relationship, the child class can exist independently of its parent class.</a:t>
            </a:r>
            <a:endParaRPr lang="en-IN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7A5D14-735F-1CC1-AEDD-6ECC37699E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4872" y="2439924"/>
            <a:ext cx="6830568" cy="3415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7709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2CF7B0-CA5A-BC95-95DA-E794E61339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160"/>
            <a:ext cx="10515600" cy="6039803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Composition</a:t>
            </a:r>
            <a:r>
              <a:rPr lang="en-US" sz="2000" dirty="0"/>
              <a:t> is a stronger form of aggregation, indicating a more significant ownership or dependency relationship. </a:t>
            </a:r>
          </a:p>
          <a:p>
            <a:r>
              <a:rPr lang="en-US" sz="2000" dirty="0"/>
              <a:t>In composition, the part class cannot </a:t>
            </a:r>
            <a:r>
              <a:rPr lang="en-US" sz="2000" dirty="0">
                <a:solidFill>
                  <a:srgbClr val="FF0000"/>
                </a:solidFill>
              </a:rPr>
              <a:t>exist independently of the whole class</a:t>
            </a:r>
            <a:r>
              <a:rPr lang="en-US" sz="2000" dirty="0"/>
              <a:t>. </a:t>
            </a:r>
          </a:p>
          <a:p>
            <a:r>
              <a:rPr lang="en-US" sz="2000" dirty="0"/>
              <a:t>Composition is represented by a </a:t>
            </a:r>
            <a:r>
              <a:rPr lang="en-US" sz="2000" dirty="0">
                <a:solidFill>
                  <a:srgbClr val="FF0000"/>
                </a:solidFill>
              </a:rPr>
              <a:t>filled diamond </a:t>
            </a:r>
            <a:r>
              <a:rPr lang="en-US" sz="2000" dirty="0"/>
              <a:t>shape on the side of the whole class.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9803775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F1CF54-84B5-1816-CCB1-183DA87301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20040"/>
            <a:ext cx="10515600" cy="5856923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Generalization(Inheritance)</a:t>
            </a:r>
          </a:p>
          <a:p>
            <a:pPr rtl="0"/>
            <a:r>
              <a:rPr lang="en-US" sz="1800" dirty="0"/>
              <a:t>Inheritance represents an “is-a” relationship between classes, where one class (the subclass or child) inherits the properties and behaviors of another class (the superclass or parent).</a:t>
            </a:r>
          </a:p>
          <a:p>
            <a:pPr rtl="0"/>
            <a:r>
              <a:rPr lang="en-US" sz="1800" dirty="0"/>
              <a:t> Inheritance is depicted by a solid line with a closed, hollow arrowhead pointing from the subclass to the superclass.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28D037-1126-5F4C-1A70-C3F488FF76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3815" y="2066544"/>
            <a:ext cx="4894385" cy="3589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0402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9847D2-ED1E-BAFA-15B8-B6990078ED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07337"/>
            <a:ext cx="10594848" cy="4351338"/>
          </a:xfrm>
        </p:spPr>
        <p:txBody>
          <a:bodyPr/>
          <a:lstStyle/>
          <a:p>
            <a:r>
              <a:rPr lang="en-IN" sz="2000" b="1" i="0" u="none" strike="noStrike" baseline="0" dirty="0">
                <a:solidFill>
                  <a:srgbClr val="001F5F"/>
                </a:solidFill>
                <a:latin typeface="Arial" panose="020B0604020202020204" pitchFamily="34" charset="0"/>
              </a:rPr>
              <a:t>Dependency: </a:t>
            </a:r>
            <a:r>
              <a:rPr lang="en-IN" sz="20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A dependency is a semantic relationship between two or more classes where a change in one class cause changes in another class. It forms a weaker relationship.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54530F-06BE-0740-D289-3510596E49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3950" y="2720975"/>
            <a:ext cx="4864100" cy="2198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4188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E746B5B-C3FA-2F3D-2E5E-9FC41F6903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477520"/>
            <a:ext cx="7664493" cy="5699443"/>
          </a:xfrm>
        </p:spPr>
      </p:pic>
    </p:spTree>
    <p:extLst>
      <p:ext uri="{BB962C8B-B14F-4D97-AF65-F5344CB8AC3E}">
        <p14:creationId xmlns:p14="http://schemas.microsoft.com/office/powerpoint/2010/main" val="30594387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FC2EBD-62D6-61F0-5B86-5F071B3468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IN" sz="4800" dirty="0"/>
          </a:p>
          <a:p>
            <a:pPr marL="0" indent="0" algn="ctr">
              <a:buNone/>
            </a:pPr>
            <a:r>
              <a:rPr lang="en-IN" sz="4800" dirty="0"/>
              <a:t>PART 2- Use Case </a:t>
            </a:r>
          </a:p>
          <a:p>
            <a:pPr marL="0" indent="0" algn="ctr">
              <a:buNone/>
            </a:pPr>
            <a:r>
              <a:rPr lang="en-IN" sz="4800" dirty="0"/>
              <a:t>diagrams</a:t>
            </a:r>
          </a:p>
        </p:txBody>
      </p:sp>
    </p:spTree>
    <p:extLst>
      <p:ext uri="{BB962C8B-B14F-4D97-AF65-F5344CB8AC3E}">
        <p14:creationId xmlns:p14="http://schemas.microsoft.com/office/powerpoint/2010/main" val="35488025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C2FE1-68E2-6CB9-2F38-E55DD2B0B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/>
            <a:r>
              <a:rPr lang="en-IN" sz="4400" dirty="0"/>
              <a:t>Use Case diagrams</a:t>
            </a:r>
            <a:br>
              <a:rPr lang="en-IN" sz="4400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DAC17C-2528-4EB5-C796-49AE2B258E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Use case diagrams model the </a:t>
            </a:r>
            <a:r>
              <a:rPr lang="en-IN" dirty="0">
                <a:solidFill>
                  <a:srgbClr val="FF0000"/>
                </a:solidFill>
              </a:rPr>
              <a:t>behaviour</a:t>
            </a:r>
            <a:r>
              <a:rPr lang="en-IN" dirty="0"/>
              <a:t> of a system</a:t>
            </a:r>
          </a:p>
          <a:p>
            <a:r>
              <a:rPr lang="en-IN" dirty="0"/>
              <a:t>Used to illustrate the functional requirements of the system and its </a:t>
            </a:r>
            <a:r>
              <a:rPr lang="en-IN" dirty="0">
                <a:solidFill>
                  <a:srgbClr val="FF0000"/>
                </a:solidFill>
              </a:rPr>
              <a:t>interaction</a:t>
            </a:r>
            <a:r>
              <a:rPr lang="en-IN" dirty="0"/>
              <a:t> with external agents (actors).</a:t>
            </a:r>
          </a:p>
          <a:p>
            <a:r>
              <a:rPr lang="en-IN" dirty="0"/>
              <a:t>A use case diagram gives us </a:t>
            </a:r>
            <a:r>
              <a:rPr lang="en-IN" dirty="0">
                <a:solidFill>
                  <a:srgbClr val="FF0000"/>
                </a:solidFill>
              </a:rPr>
              <a:t>a high level view </a:t>
            </a:r>
            <a:r>
              <a:rPr lang="en-IN" dirty="0"/>
              <a:t>of the system without going into the implementation details.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425793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DA06D30-45DE-7FE6-4ADB-2BEF8EDB47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67170"/>
            <a:ext cx="5844490" cy="2356761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14F96EC-4D0C-56E9-552E-053BC27475F5}"/>
              </a:ext>
            </a:extLst>
          </p:cNvPr>
          <p:cNvSpPr txBox="1"/>
          <p:nvPr/>
        </p:nvSpPr>
        <p:spPr>
          <a:xfrm>
            <a:off x="251510" y="556591"/>
            <a:ext cx="568739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Use cases </a:t>
            </a:r>
            <a:r>
              <a:rPr lang="en-US" dirty="0"/>
              <a:t>represent </a:t>
            </a:r>
            <a:r>
              <a:rPr lang="en-US" dirty="0">
                <a:solidFill>
                  <a:srgbClr val="FF0000"/>
                </a:solidFill>
              </a:rPr>
              <a:t>specific things your system can do</a:t>
            </a:r>
            <a:r>
              <a:rPr lang="en-US" dirty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the online shopping system, examples of </a:t>
            </a:r>
          </a:p>
          <a:p>
            <a:r>
              <a:rPr lang="en-US" dirty="0"/>
              <a:t>use cases could be “Place Order,” “Track Delivery,” or </a:t>
            </a:r>
          </a:p>
          <a:p>
            <a:r>
              <a:rPr lang="en-US" dirty="0"/>
              <a:t>“Update Product Information”. </a:t>
            </a:r>
          </a:p>
          <a:p>
            <a:r>
              <a:rPr lang="en-US" dirty="0"/>
              <a:t>Use cases are represented by </a:t>
            </a:r>
            <a:r>
              <a:rPr lang="en-US" dirty="0">
                <a:solidFill>
                  <a:srgbClr val="FF0000"/>
                </a:solidFill>
              </a:rPr>
              <a:t>ovals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17DC56-7446-3AEA-A1C7-431ACFBE0328}"/>
              </a:ext>
            </a:extLst>
          </p:cNvPr>
          <p:cNvSpPr txBox="1"/>
          <p:nvPr/>
        </p:nvSpPr>
        <p:spPr>
          <a:xfrm>
            <a:off x="397565" y="2798572"/>
            <a:ext cx="57567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Actors</a:t>
            </a:r>
            <a:r>
              <a:rPr lang="en-US" dirty="0"/>
              <a:t> are external entities that interact with the system.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These can include users, other systems, or hardware devices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3357C2-AA2E-B872-D71A-E943316B7194}"/>
              </a:ext>
            </a:extLst>
          </p:cNvPr>
          <p:cNvSpPr txBox="1"/>
          <p:nvPr/>
        </p:nvSpPr>
        <p:spPr>
          <a:xfrm>
            <a:off x="251510" y="4234070"/>
            <a:ext cx="100072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dirty="0">
                <a:solidFill>
                  <a:srgbClr val="FF0000"/>
                </a:solidFill>
              </a:rPr>
              <a:t>system boundary </a:t>
            </a:r>
            <a:r>
              <a:rPr lang="en-US" dirty="0"/>
              <a:t>is a visual representation of the scope or limits of the system you are modeling.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 defines what is inside the system and what is outside.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923993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3A52F-27A6-E4FB-DE42-053DC8C1A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Use-case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5CC200-CE13-1BAE-362C-E20F89C4DA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</a:t>
            </a:r>
            <a:r>
              <a:rPr lang="en-US" b="1" dirty="0"/>
              <a:t> </a:t>
            </a:r>
            <a:r>
              <a:rPr lang="en-US" dirty="0">
                <a:solidFill>
                  <a:srgbClr val="FF0000"/>
                </a:solidFill>
              </a:rPr>
              <a:t>Association Relationship </a:t>
            </a:r>
            <a:r>
              <a:rPr lang="en-US" dirty="0"/>
              <a:t>represents a communication or interaction between an actor and a use case, </a:t>
            </a:r>
          </a:p>
          <a:p>
            <a:r>
              <a:rPr lang="en-US" dirty="0"/>
              <a:t>The </a:t>
            </a:r>
            <a:r>
              <a:rPr lang="en-US" dirty="0">
                <a:solidFill>
                  <a:srgbClr val="FF0000"/>
                </a:solidFill>
              </a:rPr>
              <a:t>Include Relationship </a:t>
            </a:r>
            <a:r>
              <a:rPr lang="en-US" dirty="0"/>
              <a:t>indicates that a use case includes the functionality of another use case</a:t>
            </a:r>
          </a:p>
          <a:p>
            <a:r>
              <a:rPr lang="en-US" dirty="0"/>
              <a:t>The </a:t>
            </a:r>
            <a:r>
              <a:rPr lang="en-US" dirty="0">
                <a:solidFill>
                  <a:srgbClr val="FF0000"/>
                </a:solidFill>
              </a:rPr>
              <a:t>Extend Relationship </a:t>
            </a:r>
            <a:r>
              <a:rPr lang="en-US" dirty="0"/>
              <a:t>illustrates that a use case can be extended by another use case under specific conditions.</a:t>
            </a:r>
            <a:endParaRPr lang="en-IN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0A3C572-D2B6-B811-3A9A-B2FE7DCB8A26}"/>
              </a:ext>
            </a:extLst>
          </p:cNvPr>
          <p:cNvCxnSpPr>
            <a:cxnSpLocks/>
          </p:cNvCxnSpPr>
          <p:nvPr/>
        </p:nvCxnSpPr>
        <p:spPr>
          <a:xfrm>
            <a:off x="8062623" y="2369489"/>
            <a:ext cx="131991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39452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EBB06-2D0D-B586-6784-B1645EADC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Use-case Diagram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551CD1F-2704-F8DF-51C7-846C726D26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4140" y="2003293"/>
            <a:ext cx="4722681" cy="4173670"/>
          </a:xfrm>
        </p:spPr>
      </p:pic>
    </p:spTree>
    <p:extLst>
      <p:ext uri="{BB962C8B-B14F-4D97-AF65-F5344CB8AC3E}">
        <p14:creationId xmlns:p14="http://schemas.microsoft.com/office/powerpoint/2010/main" val="21244178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8394F-F7F9-3F07-ECB0-344F34C4EB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82955"/>
          </a:xfrm>
        </p:spPr>
        <p:txBody>
          <a:bodyPr/>
          <a:lstStyle/>
          <a:p>
            <a:r>
              <a:rPr lang="en-IN" dirty="0"/>
              <a:t>Activity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185C18-7625-64CF-A646-83E90EB065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0960"/>
            <a:ext cx="10515600" cy="4846003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rgbClr val="333333"/>
                </a:solidFill>
                <a:latin typeface="inter-regular"/>
              </a:rPr>
              <a:t>It is also termed as an </a:t>
            </a:r>
            <a:r>
              <a:rPr lang="en-US" sz="2400" b="1" dirty="0">
                <a:solidFill>
                  <a:srgbClr val="333333"/>
                </a:solidFill>
                <a:latin typeface="inter-regular"/>
              </a:rPr>
              <a:t>object-oriented flowchart</a:t>
            </a:r>
            <a:r>
              <a:rPr lang="en-US" sz="2400" dirty="0">
                <a:solidFill>
                  <a:srgbClr val="333333"/>
                </a:solidFill>
                <a:latin typeface="inter-regular"/>
              </a:rPr>
              <a:t>.</a:t>
            </a:r>
          </a:p>
          <a:p>
            <a:r>
              <a:rPr lang="en-US" sz="2400" dirty="0"/>
              <a:t>Components of an Activity Diagram :-</a:t>
            </a:r>
          </a:p>
          <a:p>
            <a:r>
              <a:rPr lang="en-US" sz="2400" dirty="0"/>
              <a:t>Activities</a:t>
            </a:r>
          </a:p>
          <a:p>
            <a:r>
              <a:rPr lang="en-US" sz="2400" dirty="0"/>
              <a:t>The categorization of behavior into one or more actions is termed as an activity. </a:t>
            </a:r>
          </a:p>
          <a:p>
            <a:r>
              <a:rPr lang="en-US" sz="2400" dirty="0"/>
              <a:t>In other words, it can be said that an activity is a network of nodes that are connected by edges. </a:t>
            </a:r>
          </a:p>
          <a:p>
            <a:r>
              <a:rPr lang="en-US" sz="2400" dirty="0"/>
              <a:t>The edges depict the flow of execution. It may contain action nodes, control nodes, or object nodes.</a:t>
            </a:r>
          </a:p>
          <a:p>
            <a:r>
              <a:rPr lang="en-US" sz="2400" dirty="0">
                <a:solidFill>
                  <a:srgbClr val="FF0000"/>
                </a:solidFill>
              </a:rPr>
              <a:t>The activities are initiated at the initial node and are terminated at the final node.</a:t>
            </a:r>
          </a:p>
          <a:p>
            <a:endParaRPr lang="en-IN" dirty="0"/>
          </a:p>
        </p:txBody>
      </p:sp>
      <p:pic>
        <p:nvPicPr>
          <p:cNvPr id="4" name="Picture 2" descr="UML Activity Diagram">
            <a:extLst>
              <a:ext uri="{FF2B5EF4-FFF2-40B4-BE49-F238E27FC236}">
                <a16:creationId xmlns:a16="http://schemas.microsoft.com/office/drawing/2014/main" id="{5FAF26B6-6A48-5D84-5427-10C590ED93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0475" y="5105400"/>
            <a:ext cx="2828925" cy="143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138900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7F395-B7EA-F10E-5403-627044D51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0715"/>
          </a:xfrm>
        </p:spPr>
        <p:txBody>
          <a:bodyPr>
            <a:normAutofit fontScale="90000"/>
          </a:bodyPr>
          <a:lstStyle/>
          <a:p>
            <a:r>
              <a:rPr lang="en-IN" dirty="0"/>
              <a:t>Activity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F0BED6-CD57-3125-9141-AD7F296164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98880"/>
            <a:ext cx="10515600" cy="4978083"/>
          </a:xfrm>
        </p:spPr>
        <p:txBody>
          <a:bodyPr>
            <a:normAutofit/>
          </a:bodyPr>
          <a:lstStyle/>
          <a:p>
            <a:pPr marL="0" indent="0" algn="just" eaLnBrk="1" hangingPunct="1">
              <a:buFont typeface="Wingdings 3" panose="05040102010807070707" pitchFamily="18" charset="2"/>
              <a:buNone/>
              <a:defRPr/>
            </a:pPr>
            <a:r>
              <a:rPr lang="en-US" sz="2000" b="1" u="sng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Activity partition /</a:t>
            </a:r>
            <a:r>
              <a:rPr lang="en-US" sz="2000" b="1" u="sng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swimlane</a:t>
            </a:r>
            <a:endParaRPr lang="en-US" sz="2000" u="sng" dirty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sz="20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000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swimlane</a:t>
            </a:r>
            <a:r>
              <a:rPr lang="en-US" sz="20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used to cluster all the related activities in one column or one row. It can be either vertical or horizontal. </a:t>
            </a:r>
          </a:p>
          <a:p>
            <a:pPr algn="just">
              <a:defRPr/>
            </a:pPr>
            <a:r>
              <a:rPr lang="en-US" sz="20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used to add modularity to the activity diagram.</a:t>
            </a:r>
          </a:p>
          <a:p>
            <a:pPr marL="0" indent="0" eaLnBrk="1" hangingPunct="1">
              <a:buFont typeface="Wingdings 3" panose="05040102010807070707" pitchFamily="18" charset="2"/>
              <a:buNone/>
              <a:defRPr/>
            </a:pPr>
            <a:r>
              <a:rPr lang="en-IN" sz="2000" b="1" u="sng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Forks</a:t>
            </a:r>
          </a:p>
          <a:p>
            <a:pPr>
              <a:defRPr/>
            </a:pPr>
            <a:r>
              <a:rPr lang="en-US" sz="20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Forks and join nodes generate the concurrent flow inside the activity. </a:t>
            </a:r>
          </a:p>
          <a:p>
            <a:pPr>
              <a:defRPr/>
            </a:pPr>
            <a:r>
              <a:rPr lang="en-US" sz="20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fork node consists of one inward edge and several outward edges.</a:t>
            </a:r>
          </a:p>
          <a:p>
            <a:pPr>
              <a:defRPr/>
            </a:pPr>
            <a:r>
              <a:rPr lang="en-US" sz="20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Whenever a data is received at an inward edge, </a:t>
            </a:r>
          </a:p>
          <a:p>
            <a:pPr>
              <a:defRPr/>
            </a:pPr>
            <a:r>
              <a:rPr lang="en-US" sz="20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gets copied and split crossways various outward edges. </a:t>
            </a:r>
          </a:p>
          <a:p>
            <a:pPr>
              <a:defRPr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 descr="UML Activity Diagram">
            <a:extLst>
              <a:ext uri="{FF2B5EF4-FFF2-40B4-BE49-F238E27FC236}">
                <a16:creationId xmlns:a16="http://schemas.microsoft.com/office/drawing/2014/main" id="{7D89B732-3EE2-459F-B75C-B3817F8CE5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3400" y="2271712"/>
            <a:ext cx="1552575" cy="2314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 descr="UML Activity Diagram">
            <a:extLst>
              <a:ext uri="{FF2B5EF4-FFF2-40B4-BE49-F238E27FC236}">
                <a16:creationId xmlns:a16="http://schemas.microsoft.com/office/drawing/2014/main" id="{4CFFF6BE-3E4B-8F6F-264A-1437E47B68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6360" y="3888423"/>
            <a:ext cx="1552575" cy="2135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713896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3553B-6099-85D9-9470-EFFA9E048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67995"/>
          </a:xfrm>
        </p:spPr>
        <p:txBody>
          <a:bodyPr>
            <a:normAutofit fontScale="90000"/>
          </a:bodyPr>
          <a:lstStyle/>
          <a:p>
            <a:r>
              <a:rPr lang="en-IN" dirty="0"/>
              <a:t>Activity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B11FED-F13B-4129-E47F-1F8859AEB8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8400"/>
            <a:ext cx="10515600" cy="5008563"/>
          </a:xfrm>
        </p:spPr>
        <p:txBody>
          <a:bodyPr/>
          <a:lstStyle/>
          <a:p>
            <a:pPr marL="0" indent="0" algn="just" eaLnBrk="1" hangingPunct="1">
              <a:buFont typeface="Wingdings 3" panose="05040102010807070707" pitchFamily="18" charset="2"/>
              <a:buNone/>
              <a:defRPr/>
            </a:pPr>
            <a:r>
              <a:rPr lang="en-US" sz="2000" b="1" u="sng" dirty="0">
                <a:solidFill>
                  <a:srgbClr val="333333"/>
                </a:solidFill>
                <a:latin typeface="inter-bold"/>
              </a:rPr>
              <a:t>Join Nodes</a:t>
            </a:r>
            <a:endParaRPr lang="en-US" sz="2000" u="sng" dirty="0">
              <a:solidFill>
                <a:srgbClr val="333333"/>
              </a:solidFill>
              <a:latin typeface="inter-regular"/>
            </a:endParaRPr>
          </a:p>
          <a:p>
            <a:pPr algn="just">
              <a:defRPr/>
            </a:pPr>
            <a:r>
              <a:rPr lang="en-US" sz="2000" dirty="0">
                <a:solidFill>
                  <a:srgbClr val="333333"/>
                </a:solidFill>
                <a:latin typeface="inter-regular"/>
              </a:rPr>
              <a:t>Join nodes are the opposite of fork nodes. </a:t>
            </a:r>
          </a:p>
          <a:p>
            <a:pPr algn="just">
              <a:defRPr/>
            </a:pPr>
            <a:r>
              <a:rPr lang="en-US" sz="2000" dirty="0">
                <a:solidFill>
                  <a:srgbClr val="333333"/>
                </a:solidFill>
                <a:latin typeface="inter-regular"/>
              </a:rPr>
              <a:t>A Logical AND operation is performed on all of the inward edges as it synchronizes the flow of input across one single output (outward) edge.</a:t>
            </a:r>
          </a:p>
          <a:p>
            <a:endParaRPr lang="en-IN" dirty="0"/>
          </a:p>
        </p:txBody>
      </p:sp>
      <p:pic>
        <p:nvPicPr>
          <p:cNvPr id="4" name="Picture 4" descr="UML Activity Diagram">
            <a:extLst>
              <a:ext uri="{FF2B5EF4-FFF2-40B4-BE49-F238E27FC236}">
                <a16:creationId xmlns:a16="http://schemas.microsoft.com/office/drawing/2014/main" id="{13ADBF28-0DDD-141D-7410-FF74DC8A2D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9440" y="2777490"/>
            <a:ext cx="2447925" cy="2447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9962627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0497B-B375-3BEE-105C-E786A6075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2"/>
          </a:xfrm>
        </p:spPr>
        <p:txBody>
          <a:bodyPr>
            <a:normAutofit fontScale="90000"/>
          </a:bodyPr>
          <a:lstStyle/>
          <a:p>
            <a:r>
              <a:rPr lang="en-IN" dirty="0"/>
              <a:t>Activity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197BA5-9868-F7F2-E801-C25721B862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8400"/>
            <a:ext cx="10515600" cy="5008563"/>
          </a:xfrm>
        </p:spPr>
        <p:txBody>
          <a:bodyPr/>
          <a:lstStyle/>
          <a:p>
            <a:pPr algn="just" eaLnBrk="1" hangingPunct="1">
              <a:defRPr/>
            </a:pPr>
            <a:r>
              <a:rPr lang="en-US" dirty="0">
                <a:solidFill>
                  <a:srgbClr val="333333"/>
                </a:solidFill>
                <a:latin typeface="inter-regular"/>
              </a:rPr>
              <a:t>Following are the rules that are to be followed for drawing an activity diagram:</a:t>
            </a:r>
          </a:p>
          <a:p>
            <a:pPr lvl="1" algn="just">
              <a:buFont typeface="+mj-lt"/>
              <a:buAutoNum type="arabicPeriod"/>
              <a:defRPr/>
            </a:pPr>
            <a:r>
              <a:rPr lang="en-US" dirty="0">
                <a:solidFill>
                  <a:srgbClr val="000000"/>
                </a:solidFill>
                <a:latin typeface="inter-regular"/>
              </a:rPr>
              <a:t>A meaningful name should be given to each and every activity.</a:t>
            </a:r>
          </a:p>
          <a:p>
            <a:pPr lvl="1" algn="just">
              <a:buFont typeface="+mj-lt"/>
              <a:buAutoNum type="arabicPeriod"/>
              <a:defRPr/>
            </a:pPr>
            <a:r>
              <a:rPr lang="en-US" dirty="0">
                <a:solidFill>
                  <a:srgbClr val="000000"/>
                </a:solidFill>
                <a:latin typeface="inter-regular"/>
              </a:rPr>
              <a:t>Identify all of the constraints.</a:t>
            </a:r>
          </a:p>
          <a:p>
            <a:pPr lvl="1" algn="just">
              <a:buFont typeface="+mj-lt"/>
              <a:buAutoNum type="arabicPeriod"/>
              <a:defRPr/>
            </a:pPr>
            <a:r>
              <a:rPr lang="en-US" dirty="0">
                <a:solidFill>
                  <a:srgbClr val="000000"/>
                </a:solidFill>
                <a:latin typeface="inter-regular"/>
              </a:rPr>
              <a:t>Acknowledge the activity associations.</a:t>
            </a:r>
          </a:p>
          <a:p>
            <a:pPr marL="457200" lvl="1" indent="0">
              <a:buNone/>
              <a:defRPr/>
            </a:pPr>
            <a:r>
              <a:rPr lang="en-IN" dirty="0"/>
              <a:t>Ex:</a:t>
            </a:r>
            <a:r>
              <a:rPr lang="en-US" dirty="0">
                <a:solidFill>
                  <a:srgbClr val="333333"/>
                </a:solidFill>
                <a:latin typeface="inter-regular"/>
              </a:rPr>
              <a:t>An example of an activity diagram showing the business flow activity of order processing is given below.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756878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29289-CFE0-5E98-C9D9-6C5BC952A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6496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Activity Diagram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ED2844C-D7D2-28C5-8776-AF107E925D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0911" y="1041622"/>
            <a:ext cx="4190177" cy="5135341"/>
          </a:xfrm>
        </p:spPr>
      </p:pic>
    </p:spTree>
    <p:extLst>
      <p:ext uri="{BB962C8B-B14F-4D97-AF65-F5344CB8AC3E}">
        <p14:creationId xmlns:p14="http://schemas.microsoft.com/office/powerpoint/2010/main" val="234175248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5245E-A3C2-38B8-E955-AB5E49E46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interaction diagram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5C6480-3E71-64AF-24D8-17AF5250F6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interaction diagram portrays the interactions between distinct entities present in the model.			(or)</a:t>
            </a:r>
          </a:p>
          <a:p>
            <a:pPr>
              <a:defRPr/>
            </a:pPr>
            <a:r>
              <a:rPr lang="en-US" sz="2800" dirty="0">
                <a:solidFill>
                  <a:srgbClr val="282C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interaction diagram used to capture the interactive behavior of a system. </a:t>
            </a:r>
          </a:p>
          <a:p>
            <a:pPr>
              <a:defRPr/>
            </a:pPr>
            <a:r>
              <a:rPr lang="en-US" sz="2800" dirty="0">
                <a:solidFill>
                  <a:srgbClr val="282C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Interaction diagrams focus on describing the flow of messages within a system, providing context for one or more lifelines within a system. </a:t>
            </a:r>
          </a:p>
          <a:p>
            <a:pPr>
              <a:defRPr/>
            </a:pPr>
            <a:r>
              <a:rPr lang="en-US" sz="2800" dirty="0">
                <a:solidFill>
                  <a:srgbClr val="282C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addition, interaction diagrams can be used to represent the ordered sequences within a system and act as a means of visualizing real-time data via UML.</a:t>
            </a:r>
            <a:endParaRPr lang="en-US" sz="2800" dirty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807911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03833-7238-0318-EFBD-45507D82B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>
                <a:solidFill>
                  <a:srgbClr val="282C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interaction diagram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63ADF5-E4A8-3330-B4F2-99013B2F90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Font typeface="Wingdings 3" panose="05040102010807070707" pitchFamily="18" charset="2"/>
              <a:buNone/>
              <a:defRPr/>
            </a:pPr>
            <a:r>
              <a:rPr lang="en-US" sz="2800" b="1" dirty="0">
                <a:solidFill>
                  <a:srgbClr val="282C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Benefits of using an interaction diagram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srgbClr val="282C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a system as a time-ordered sequence of events.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srgbClr val="282C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Reverse- or forward-engineer a system or process.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srgbClr val="282C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Organize the structure of various interactive events.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srgbClr val="282C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Simply convey the behavior of messages and lifelines within a system.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srgbClr val="282C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Identify possible connections between lifeline elements.</a:t>
            </a:r>
          </a:p>
          <a:p>
            <a:pPr marL="0" indent="0">
              <a:buFont typeface="Wingdings 3" panose="05040102010807070707" pitchFamily="18" charset="2"/>
              <a:buNone/>
              <a:defRPr/>
            </a:pPr>
            <a:r>
              <a:rPr lang="en-US" sz="2800" dirty="0">
                <a:solidFill>
                  <a:srgbClr val="282C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Interaction diagrams are divided into four main types of diagrams: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srgbClr val="282C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diagram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srgbClr val="282C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Sequence diagram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srgbClr val="282C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Timing diagram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srgbClr val="282C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Interaction overview diagram</a:t>
            </a:r>
          </a:p>
          <a:p>
            <a:pPr>
              <a:defRPr/>
            </a:pPr>
            <a:r>
              <a:rPr lang="en-US" sz="2800" dirty="0">
                <a:solidFill>
                  <a:srgbClr val="282C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Each type of diagram focuses on a different aspect of a system’s behavior or structure.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783887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99553-4F4B-11B6-E4CC-A7F68C175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Sequence diagram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4ACA0B-AB17-AF20-83A0-1301706BCE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It has two components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The objects, e.g., customer, waiter, chef in a restaurant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Interaction among them in a timely manner.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Basically shows the sequence of events.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Request in a sequence diagram is represented with a solid line and the response in represented as a dotted line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portrays the communication between any two lifelines as a time-ordered sequence of events, such that these lifelines took part at the run time.</a:t>
            </a:r>
          </a:p>
          <a:p>
            <a:pPr marL="514350" indent="-514350">
              <a:buFont typeface="+mj-lt"/>
              <a:buAutoNum type="arabicPeriod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1066958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E9ED2-08E2-6EE4-7342-B7664BEE8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Sequence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F1AF46-1E7A-2FC9-7BE5-9044184EE8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3680"/>
            <a:ext cx="10515600" cy="4673283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Font typeface="Wingdings 3" panose="05040102010807070707" pitchFamily="18" charset="2"/>
              <a:buNone/>
              <a:defRPr/>
            </a:pP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Actor</a:t>
            </a:r>
          </a:p>
          <a:p>
            <a:pPr algn="just">
              <a:defRPr/>
            </a:pPr>
            <a:r>
              <a:rPr lang="en-US" sz="28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represents the role, which involves human users and external hardware or subjects. </a:t>
            </a:r>
          </a:p>
          <a:p>
            <a:pPr algn="just">
              <a:defRPr/>
            </a:pPr>
            <a:r>
              <a:rPr lang="en-US" sz="28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actor may or may not represent a physical entity, but it purely depicts the role of an entity. Several distinct roles can be played by an actor or vice versa.</a:t>
            </a:r>
          </a:p>
          <a:p>
            <a:pPr marL="0" indent="0">
              <a:buFont typeface="Wingdings 3" panose="05040102010807070707" pitchFamily="18" charset="2"/>
              <a:buNone/>
              <a:defRPr/>
            </a:pPr>
            <a:r>
              <a:rPr lang="en-I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Activation</a:t>
            </a:r>
          </a:p>
          <a:p>
            <a:pPr>
              <a:defRPr/>
            </a:pPr>
            <a:r>
              <a:rPr lang="en-US" sz="28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is represented by a 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thin rectangle </a:t>
            </a:r>
            <a:r>
              <a:rPr lang="en-US" sz="28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 the lifeline. </a:t>
            </a:r>
          </a:p>
          <a:p>
            <a:pPr>
              <a:defRPr/>
            </a:pPr>
            <a:r>
              <a:rPr lang="en-US" sz="28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describes that time period in which an operation is performed by an </a:t>
            </a:r>
          </a:p>
          <a:p>
            <a:pPr marL="0" indent="0">
              <a:buFont typeface="Wingdings 3" panose="05040102010807070707" pitchFamily="18" charset="2"/>
              <a:buNone/>
              <a:defRPr/>
            </a:pPr>
            <a:r>
              <a:rPr lang="en-US" sz="28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element, such that the top and the bottom of the rectangle is associated </a:t>
            </a:r>
          </a:p>
          <a:p>
            <a:pPr marL="0" indent="0">
              <a:buFont typeface="Wingdings 3" panose="05040102010807070707" pitchFamily="18" charset="2"/>
              <a:buNone/>
              <a:defRPr/>
            </a:pPr>
            <a:r>
              <a:rPr lang="en-US" sz="28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 the initiation and the completion time, each respectively.</a:t>
            </a:r>
            <a:endParaRPr lang="en-I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0397749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B44BF-56E3-3CEE-FA61-2148ACE36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59435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Sequence Diagram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CC045E-023E-32A9-53FF-2D40BDA33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0000"/>
            <a:ext cx="10515600" cy="4917123"/>
          </a:xfrm>
        </p:spPr>
        <p:txBody>
          <a:bodyPr/>
          <a:lstStyle/>
          <a:p>
            <a:pPr marL="0" indent="0" algn="just">
              <a:buFont typeface="Wingdings 3" panose="05040102010807070707" pitchFamily="18" charset="2"/>
              <a:buNone/>
              <a:defRPr/>
            </a:pPr>
            <a:r>
              <a:rPr lang="en-US" sz="2000" dirty="0">
                <a:solidFill>
                  <a:srgbClr val="FF0000"/>
                </a:solidFill>
                <a:latin typeface="erdana"/>
              </a:rPr>
              <a:t>Messages</a:t>
            </a:r>
          </a:p>
          <a:p>
            <a:pPr algn="just">
              <a:defRPr/>
            </a:pPr>
            <a:r>
              <a:rPr lang="en-US" sz="2000" dirty="0">
                <a:solidFill>
                  <a:srgbClr val="333333"/>
                </a:solidFill>
                <a:latin typeface="inter-regular"/>
              </a:rPr>
              <a:t>The messages depict the interaction between the objects and are represented by arrows. </a:t>
            </a:r>
          </a:p>
          <a:p>
            <a:pPr algn="just">
              <a:defRPr/>
            </a:pPr>
            <a:r>
              <a:rPr lang="en-US" sz="2000" dirty="0">
                <a:solidFill>
                  <a:srgbClr val="333333"/>
                </a:solidFill>
                <a:latin typeface="inter-regular"/>
              </a:rPr>
              <a:t>They are in the sequential order on the lifeline. The core of the sequence diagram is formed by messages and lifelines.</a:t>
            </a:r>
          </a:p>
          <a:p>
            <a:pPr marL="0" indent="0" algn="just">
              <a:buFont typeface="Wingdings 3" panose="05040102010807070707" pitchFamily="18" charset="2"/>
              <a:buNone/>
              <a:defRPr/>
            </a:pPr>
            <a:r>
              <a:rPr lang="en-US" sz="2000" b="1" dirty="0">
                <a:solidFill>
                  <a:srgbClr val="FF0000"/>
                </a:solidFill>
                <a:latin typeface="inter-bold"/>
              </a:rPr>
              <a:t>Call Message</a:t>
            </a:r>
            <a:r>
              <a:rPr lang="en-US" sz="2000" b="1" dirty="0">
                <a:solidFill>
                  <a:srgbClr val="000000"/>
                </a:solidFill>
                <a:latin typeface="inter-bold"/>
              </a:rPr>
              <a:t>:</a:t>
            </a:r>
            <a:r>
              <a:rPr lang="en-US" sz="2000" dirty="0">
                <a:solidFill>
                  <a:srgbClr val="000000"/>
                </a:solidFill>
                <a:latin typeface="inter-regular"/>
              </a:rPr>
              <a:t> It defines a particular communication between the lifelines of an interaction, which represents that the target lifeline has invoked an operation.</a:t>
            </a:r>
            <a:endParaRPr lang="en-US" sz="2000" dirty="0">
              <a:solidFill>
                <a:srgbClr val="333333"/>
              </a:solidFill>
              <a:latin typeface="inter-regular"/>
            </a:endParaRPr>
          </a:p>
          <a:p>
            <a:pPr>
              <a:defRPr/>
            </a:pPr>
            <a:endParaRPr lang="en-IN" altLang="en-US" dirty="0"/>
          </a:p>
          <a:p>
            <a:pPr>
              <a:defRPr/>
            </a:pPr>
            <a:endParaRPr lang="en-IN" altLang="en-US" dirty="0"/>
          </a:p>
          <a:p>
            <a:pPr>
              <a:defRPr/>
            </a:pPr>
            <a:r>
              <a:rPr lang="en-IN" altLang="en-US" dirty="0"/>
              <a:t>Return message: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AD1656-51C6-2F49-19F4-D9535CC525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7199" y="3286761"/>
            <a:ext cx="1889871" cy="1426402"/>
          </a:xfrm>
          <a:prstGeom prst="rect">
            <a:avLst/>
          </a:prstGeom>
        </p:spPr>
      </p:pic>
      <p:pic>
        <p:nvPicPr>
          <p:cNvPr id="5" name="Picture 4" descr="Sequence Diagram">
            <a:extLst>
              <a:ext uri="{FF2B5EF4-FFF2-40B4-BE49-F238E27FC236}">
                <a16:creationId xmlns:a16="http://schemas.microsoft.com/office/drawing/2014/main" id="{CCA4E0C3-FB08-F144-E532-B182B8F777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5750" y="4510088"/>
            <a:ext cx="2495550" cy="1933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2761851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DFBF4-8D74-58DA-DC26-CC6479BEE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Sequence Diagram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C3231C-EEA7-9F51-A757-A805858137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90513" indent="-290513" eaLnBrk="1" fontAlgn="auto" hangingPunct="1"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Creation</a:t>
            </a:r>
          </a:p>
          <a:p>
            <a:pPr marL="741363" lvl="1" indent="-284163" eaLnBrk="1" fontAlgn="auto" hangingPunct="1"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Create message</a:t>
            </a:r>
          </a:p>
          <a:p>
            <a:pPr marL="741363" lvl="1" indent="-284163" eaLnBrk="1" fontAlgn="auto" hangingPunct="1"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Object life starts at that point</a:t>
            </a:r>
          </a:p>
          <a:p>
            <a:pPr marL="290513" indent="-290513" eaLnBrk="1" fontAlgn="auto" hangingPunct="1"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Activation</a:t>
            </a:r>
          </a:p>
          <a:p>
            <a:pPr marL="741363" lvl="1" indent="-284163" eaLnBrk="1" fontAlgn="auto" hangingPunct="1"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Symbolized by rectangular stripes</a:t>
            </a:r>
          </a:p>
          <a:p>
            <a:pPr marL="741363" lvl="1" indent="-284163" eaLnBrk="1" fontAlgn="auto" hangingPunct="1"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Place on the lifeline where object is activated.</a:t>
            </a:r>
          </a:p>
          <a:p>
            <a:pPr marL="741363" lvl="1" indent="-284163" eaLnBrk="1" fontAlgn="auto" hangingPunct="1"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Rectangle also denotes when object is deactivated.</a:t>
            </a:r>
          </a:p>
          <a:p>
            <a:pPr marL="290513" indent="-290513" eaLnBrk="1" fontAlgn="auto" hangingPunct="1"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Deletion</a:t>
            </a:r>
          </a:p>
          <a:p>
            <a:pPr marL="741363" lvl="1" indent="-284163" eaLnBrk="1" fontAlgn="auto" hangingPunct="1"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Placing an ‘X’ on lifeline</a:t>
            </a:r>
          </a:p>
          <a:p>
            <a:pPr marL="741363" lvl="1" indent="-284163" eaLnBrk="1" fontAlgn="auto" hangingPunct="1"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Object’s life ends at that point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3573235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EDCD9-3FE0-04C4-D823-ABD911222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98475"/>
          </a:xfrm>
        </p:spPr>
        <p:txBody>
          <a:bodyPr>
            <a:normAutofit fontScale="90000"/>
          </a:bodyPr>
          <a:lstStyle/>
          <a:p>
            <a:r>
              <a:rPr lang="en-IN" b="1"/>
              <a:t>Sequence Diagram</a:t>
            </a:r>
            <a:endParaRPr lang="en-IN" b="1" dirty="0"/>
          </a:p>
        </p:txBody>
      </p:sp>
      <p:pic>
        <p:nvPicPr>
          <p:cNvPr id="4" name="Picture 2" descr="Sequence Diagram">
            <a:extLst>
              <a:ext uri="{FF2B5EF4-FFF2-40B4-BE49-F238E27FC236}">
                <a16:creationId xmlns:a16="http://schemas.microsoft.com/office/drawing/2014/main" id="{08F18269-ADB2-D777-CA54-B0A11773827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8960" y="944880"/>
            <a:ext cx="8991600" cy="5232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1818715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098FA-8128-434F-D2A1-5F5D4BB31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24203"/>
          </a:xfrm>
        </p:spPr>
        <p:txBody>
          <a:bodyPr/>
          <a:lstStyle/>
          <a:p>
            <a:r>
              <a:rPr lang="en-IN" b="1" dirty="0"/>
              <a:t>Sequence diagram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0022F9D-1494-6497-6297-045E428A1F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1225" y="1454150"/>
            <a:ext cx="7829550" cy="4429125"/>
          </a:xfrm>
        </p:spPr>
      </p:pic>
    </p:spTree>
    <p:extLst>
      <p:ext uri="{BB962C8B-B14F-4D97-AF65-F5344CB8AC3E}">
        <p14:creationId xmlns:p14="http://schemas.microsoft.com/office/powerpoint/2010/main" val="362404389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76ACB-BDB2-46F1-4B3A-1E49068EA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>
                <a:solidFill>
                  <a:srgbClr val="282C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diagram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28324E-B879-23FC-605C-E7A1E63BE4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Wingdings 3" panose="05040102010807070707" pitchFamily="18" charset="2"/>
              <a:buNone/>
              <a:defRPr/>
            </a:pPr>
            <a:r>
              <a:rPr lang="en-US" sz="2800" b="1" dirty="0">
                <a:solidFill>
                  <a:srgbClr val="282C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diagram (or collaboration diagram)</a:t>
            </a:r>
          </a:p>
          <a:p>
            <a:pPr>
              <a:defRPr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diagrams </a:t>
            </a:r>
            <a:r>
              <a:rPr lang="en-US" sz="2800" dirty="0">
                <a:solidFill>
                  <a:srgbClr val="282C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depict the relationships and interactions among various software objects. </a:t>
            </a:r>
          </a:p>
          <a:p>
            <a:pPr>
              <a:defRPr/>
            </a:pPr>
            <a:r>
              <a:rPr lang="en-US" sz="2800" dirty="0">
                <a:solidFill>
                  <a:srgbClr val="282C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They emphasize the structural aspects of an interaction diagram, focusing on object architecture rather than the flow of messages.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6854657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A12AA-27D3-7E7C-4E02-C884E1CD2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2" descr="UML communication diagram">
            <a:extLst>
              <a:ext uri="{FF2B5EF4-FFF2-40B4-BE49-F238E27FC236}">
                <a16:creationId xmlns:a16="http://schemas.microsoft.com/office/drawing/2014/main" id="{61526C57-BD80-EA59-8945-CC3592BE165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0165" y="1825625"/>
            <a:ext cx="7611669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558052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1344</TotalTime>
  <Words>1936</Words>
  <Application>Microsoft Macintosh PowerPoint</Application>
  <PresentationFormat>Widescreen</PresentationFormat>
  <Paragraphs>201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9" baseType="lpstr">
      <vt:lpstr>Arial</vt:lpstr>
      <vt:lpstr>Calibri</vt:lpstr>
      <vt:lpstr>Calibri Light</vt:lpstr>
      <vt:lpstr>erdana</vt:lpstr>
      <vt:lpstr>inter-bold</vt:lpstr>
      <vt:lpstr>inter-regular</vt:lpstr>
      <vt:lpstr>Leawood-Book</vt:lpstr>
      <vt:lpstr>Times New Roman</vt:lpstr>
      <vt:lpstr>Wingdings 3</vt:lpstr>
      <vt:lpstr>Office Theme</vt:lpstr>
      <vt:lpstr>Unified Modelling Language (UML)</vt:lpstr>
      <vt:lpstr>Unified Modelling Language (UML diagrams)</vt:lpstr>
      <vt:lpstr>What is Unified Modeling Language (UML)?</vt:lpstr>
      <vt:lpstr>Why to use UML?</vt:lpstr>
      <vt:lpstr>Types of UML diagram</vt:lpstr>
      <vt:lpstr>PowerPoint Presentation</vt:lpstr>
      <vt:lpstr>Class Diagram</vt:lpstr>
      <vt:lpstr>What is “class”?</vt:lpstr>
      <vt:lpstr>Class Diagram</vt:lpstr>
      <vt:lpstr>Class diagram</vt:lpstr>
      <vt:lpstr>Class diagram</vt:lpstr>
      <vt:lpstr>Class diagram</vt:lpstr>
      <vt:lpstr>How to draw Class Diagram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Use Case diagrams </vt:lpstr>
      <vt:lpstr>PowerPoint Presentation</vt:lpstr>
      <vt:lpstr>Use-case Diagram</vt:lpstr>
      <vt:lpstr>Use-case Diagram</vt:lpstr>
      <vt:lpstr>Activity Diagram</vt:lpstr>
      <vt:lpstr>Activity Diagram</vt:lpstr>
      <vt:lpstr>Activity Diagram</vt:lpstr>
      <vt:lpstr>Activity Diagram</vt:lpstr>
      <vt:lpstr>Activity Diagram</vt:lpstr>
      <vt:lpstr>interaction diagram</vt:lpstr>
      <vt:lpstr>interaction diagram</vt:lpstr>
      <vt:lpstr>Sequence diagram</vt:lpstr>
      <vt:lpstr>Sequence Diagram</vt:lpstr>
      <vt:lpstr>Sequence Diagram</vt:lpstr>
      <vt:lpstr>Sequence Diagram</vt:lpstr>
      <vt:lpstr>Sequence Diagram</vt:lpstr>
      <vt:lpstr>Sequence diagram</vt:lpstr>
      <vt:lpstr>Communication diagram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Unified Modeling Language (UML)</dc:title>
  <dc:creator>Samriddhi Sarkar</dc:creator>
  <cp:lastModifiedBy>Apoorva Karnwal</cp:lastModifiedBy>
  <cp:revision>21</cp:revision>
  <dcterms:created xsi:type="dcterms:W3CDTF">2024-03-07T17:47:27Z</dcterms:created>
  <dcterms:modified xsi:type="dcterms:W3CDTF">2025-03-21T18:16:08Z</dcterms:modified>
</cp:coreProperties>
</file>