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AB8D0-B454-5E3A-941E-B174B7D59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2BA10-2718-CF92-912A-977C42008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B1AD5-A6D5-571E-B379-F3EBDF0A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412A6-FE63-E10F-9446-04DB9E76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B48B4-21B4-71AF-D00A-D11DE389F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838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9734-4C9F-34FE-8A7E-E96527C4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9E97C-B14C-E8C4-3874-574312ED6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1D6DB-CAEC-BFD3-6C77-B7D8AE541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D76E3-F00D-95F8-7EF1-0B561A6C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D0A78-29C9-C066-1693-AD7CDA7C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00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621B-7F2B-19B8-5107-105BE813E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0A8D9-C75F-416D-26C4-889E7A573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21196-226B-966D-4D3C-10ADECB8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B8044-F364-CC92-DDB4-2DBAB233A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D448-0074-6391-751B-5C96CCD8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27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5E7A7-8CAD-3F7B-BE41-EF534E3B9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11223-36D8-2E2B-A78C-0CB5DF09B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05133-2F28-8A71-FB48-A57BE8241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0A242-7C4B-7521-E1DB-DDB78AA2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C9056-A663-9077-5D4F-3C83D39BE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5BEC1-9F97-797E-08BB-AF83AD8B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14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EE26-6BDF-09F4-CD53-61F6C05F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39F28-999C-20E5-5208-5CB723782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33B19-970B-96E9-C3FC-A4F370FE3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C8058-9EF1-62E3-C37E-DD3292610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5F6D9-37F7-F914-C232-8755B1474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08E59-8C6E-2C43-85F8-820D33FB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DC5F8C-D651-8C0E-67E2-C7819AE2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457DF-170E-C784-F476-E12351E9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08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26BF-C6CC-6D1E-35F8-77A08D2E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03A2C-60E3-9634-1252-AA184DF2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5CC72A-2BD1-BAF8-4008-56671DB9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80155-7DDD-E064-3969-C041CFB9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975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DB16A-E0F9-B3F5-B48D-3D21D80C7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5BE3DB-63CA-5802-0AC7-0989962A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BD7A7-53AA-03E6-63B9-7AAEB6B2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43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F84CF-F235-066A-1BE5-30E726EC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AE63-01BE-2517-ACB9-74043A704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56C77-F1BB-E8B2-180D-91EF42747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86A52-67BC-93BB-1F0A-D5B0183D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ECAB2-B3F9-37E0-407B-336C24B8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0C40B-0969-FFCB-B7EF-0D097635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74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AAE1-1EDE-25F5-F4BD-D34C52A5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5C158D-44BB-D17B-F3BA-99D30631EC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E433-C57A-206E-96A9-3DB5D13B7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352DD-6D28-5516-C40D-B3A122848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0B4AA-608E-2A7F-1995-DA4985DA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44651-F0BC-4EA8-18B9-391C743F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400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0FC93-EDD6-58F8-373B-9287E9A41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44B5-3224-106C-8E82-5EA290557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62682-B523-CB16-6E07-0EFED553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A6C24-1238-DB37-583B-F97740D3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8F120-123E-A7B0-36DD-51C559A37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95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A7B29-ED96-9527-2328-77507E85F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A2478-18A7-7BAC-EF4D-3ED3B29F2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63C5F-C428-F836-F046-A89D7C132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F6C14-286A-C40B-7A11-D9FF8DF8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0DFB-6BE6-997E-C5CA-B99C73D6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01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D63791-24B3-5B8A-4F93-E28241C2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DBC1B-BD90-365F-9C42-A533BE008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780AA-172C-6714-1C91-93893314D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B835B-036C-42FF-9718-51345F05D103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3280-B9FB-FE63-969A-69D1F6421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EC11F-7BD4-D695-2D95-D539F463B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FE950-FB79-45AD-8392-74377D9A42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0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6B820-DFCE-7637-0BBF-38FF0686B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User Interface Design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EA43A-0A25-BF51-E511-860E0D91DF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Module 4</a:t>
            </a:r>
          </a:p>
          <a:p>
            <a:r>
              <a:rPr lang="en-IN" sz="1800" b="0" i="0" u="none" strike="noStrike" baseline="0" dirty="0">
                <a:latin typeface="LubalinGraph-Demi"/>
              </a:rPr>
              <a:t>CHAPTER 11 </a:t>
            </a:r>
            <a:r>
              <a:rPr lang="en-IN" sz="1800" b="0" i="0" u="none" strike="noStrike" baseline="0" dirty="0">
                <a:latin typeface="LubalinGraph-Book"/>
              </a:rPr>
              <a:t>USER INTERFACE DESIGN</a:t>
            </a:r>
          </a:p>
          <a:p>
            <a:r>
              <a:rPr lang="en-IN" sz="1800" dirty="0">
                <a:latin typeface="LubalinGraph-Book"/>
              </a:rPr>
              <a:t>Roger S Pressman</a:t>
            </a:r>
          </a:p>
          <a:p>
            <a:r>
              <a:rPr lang="en-IN" sz="1800" dirty="0">
                <a:latin typeface="LubalinGraph-Book"/>
              </a:rPr>
              <a:t>Page 313 -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48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CE04-DD30-88FB-44B0-9DECBFC1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561"/>
          </a:xfrm>
        </p:spPr>
        <p:txBody>
          <a:bodyPr/>
          <a:lstStyle/>
          <a:p>
            <a:r>
              <a:rPr lang="en-IN" dirty="0"/>
              <a:t>What is User interface?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FDF87-1682-207E-CBC6-8D18C13B1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0571"/>
            <a:ext cx="11277600" cy="4326392"/>
          </a:xfrm>
        </p:spPr>
        <p:txBody>
          <a:bodyPr>
            <a:normAutofit/>
          </a:bodyPr>
          <a:lstStyle/>
          <a:p>
            <a:r>
              <a:rPr lang="en-US" dirty="0"/>
              <a:t>The user interface is the </a:t>
            </a:r>
            <a:r>
              <a:rPr lang="en-US" b="1" dirty="0"/>
              <a:t>front-end application</a:t>
            </a:r>
            <a:r>
              <a:rPr lang="en-US" dirty="0"/>
              <a:t> view to which the </a:t>
            </a:r>
            <a:r>
              <a:rPr lang="en-US" b="1" dirty="0"/>
              <a:t>user interacts </a:t>
            </a:r>
            <a:r>
              <a:rPr lang="en-US" dirty="0"/>
              <a:t>to use the software. (</a:t>
            </a:r>
            <a:r>
              <a:rPr lang="en-US" sz="1800" b="0" i="0" u="none" strike="noStrike" baseline="0" dirty="0">
                <a:latin typeface="Leawood-Book"/>
              </a:rPr>
              <a:t>If a product is to be successful, it must exhibit good </a:t>
            </a:r>
            <a:r>
              <a:rPr lang="en-US" sz="1800" b="0" i="1" u="none" strike="noStrike" baseline="0" dirty="0">
                <a:latin typeface="Leawood-BookItalic"/>
              </a:rPr>
              <a:t>usability</a:t>
            </a:r>
            <a:r>
              <a:rPr lang="en-US" dirty="0"/>
              <a:t>)</a:t>
            </a:r>
          </a:p>
          <a:p>
            <a:pPr algn="l"/>
            <a:r>
              <a:rPr lang="en-IN" sz="1800" b="0" i="0" u="none" strike="noStrike" baseline="0" dirty="0">
                <a:latin typeface="Futura"/>
              </a:rPr>
              <a:t>User interface design creates an effective </a:t>
            </a:r>
            <a:r>
              <a:rPr lang="en-IN" sz="1800" b="0" i="0" u="none" strike="noStrike" baseline="0" dirty="0">
                <a:solidFill>
                  <a:srgbClr val="FF0000"/>
                </a:solidFill>
                <a:latin typeface="Futura"/>
              </a:rPr>
              <a:t>communication 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Futura"/>
              </a:rPr>
              <a:t>medium between a human and a computer</a:t>
            </a:r>
            <a:r>
              <a:rPr lang="en-US" sz="1800" b="0" i="0" u="none" strike="noStrike" baseline="0" dirty="0">
                <a:latin typeface="Futura"/>
              </a:rPr>
              <a:t>. Following a set of interface </a:t>
            </a:r>
            <a:r>
              <a:rPr lang="en-IN" sz="1800" b="0" i="0" u="none" strike="noStrike" baseline="0" dirty="0">
                <a:latin typeface="Futura"/>
              </a:rPr>
              <a:t>design principles, design identifies interface objects </a:t>
            </a:r>
            <a:r>
              <a:rPr lang="en-US" sz="1800" b="0" i="0" u="none" strike="noStrike" baseline="0" dirty="0">
                <a:latin typeface="Futura"/>
              </a:rPr>
              <a:t>and actions and then creates a screen layout that forms the basis for a user interface prototype.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3210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9C0D-D35A-9114-5E22-F7295D93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Types of User Interface</a:t>
            </a:r>
            <a:br>
              <a:rPr lang="en-US" sz="4400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98B2C-E6B6-BA07-67C0-B730E640F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Command Line Interface</a:t>
            </a:r>
            <a:r>
              <a:rPr lang="en-US" sz="2800" b="1" dirty="0"/>
              <a:t>:</a:t>
            </a:r>
            <a:r>
              <a:rPr lang="en-US" sz="2800" dirty="0"/>
              <a:t> The Command Line Interface provides a command prompt, where the user types the command and feeds it to the system. The user needs to remember the syntax of the command and its use.</a:t>
            </a:r>
          </a:p>
          <a:p>
            <a:pPr>
              <a:buFont typeface="+mj-lt"/>
              <a:buAutoNum type="arabicPeriod" startAt="2"/>
            </a:pPr>
            <a:r>
              <a:rPr lang="en-US" sz="2800" b="1" dirty="0">
                <a:solidFill>
                  <a:srgbClr val="FF0000"/>
                </a:solidFill>
              </a:rPr>
              <a:t>Graphical User Interface</a:t>
            </a:r>
            <a:r>
              <a:rPr lang="en-US" sz="2800" b="1" dirty="0"/>
              <a:t>:</a:t>
            </a:r>
            <a:r>
              <a:rPr lang="en-US" sz="2800" dirty="0"/>
              <a:t> Graphical User Interface provides a simple interactive interface to interact with the system. GUI can be a combination of both hardware and software. Using GUI, the user interprets the software.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896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1604-0491-B001-577E-99BEE148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Principles of user interface design: 3 golden rule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9D95B-FF10-3316-B08C-540C59ECD2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8673"/>
            <a:ext cx="10515600" cy="3045241"/>
          </a:xfrm>
        </p:spPr>
      </p:pic>
    </p:spTree>
    <p:extLst>
      <p:ext uri="{BB962C8B-B14F-4D97-AF65-F5344CB8AC3E}">
        <p14:creationId xmlns:p14="http://schemas.microsoft.com/office/powerpoint/2010/main" val="405258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EBB3-18D5-0F05-F65C-57234B4C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Place the User in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7C688-BA99-84E3-BB17-6D18384F2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interaction modes in a way that does not force a user into unnecessary </a:t>
            </a:r>
            <a:r>
              <a:rPr lang="en-IN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undesired actions.</a:t>
            </a:r>
          </a:p>
          <a:p>
            <a:pPr algn="l"/>
            <a:r>
              <a:rPr lang="en-US" b="1" i="0" u="none" strike="noStrike" baseline="0" dirty="0">
                <a:solidFill>
                  <a:srgbClr val="FF00FF"/>
                </a:solidFill>
                <a:latin typeface="Leawood-Bold"/>
              </a:rPr>
              <a:t>Provide for flexible interaction.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Leawood-Book"/>
              </a:rPr>
              <a:t>Because different users have different interaction preferences, choices should be provided.</a:t>
            </a:r>
          </a:p>
          <a:p>
            <a:pPr algn="l"/>
            <a:r>
              <a:rPr lang="en-US" b="1" i="0" u="none" strike="noStrike" baseline="0" dirty="0">
                <a:solidFill>
                  <a:srgbClr val="FF00FF"/>
                </a:solidFill>
                <a:latin typeface="Leawood-Bold"/>
              </a:rPr>
              <a:t>Allow user interaction to be interruptible and undoable</a:t>
            </a:r>
            <a:r>
              <a:rPr lang="en-US" dirty="0">
                <a:solidFill>
                  <a:srgbClr val="000000"/>
                </a:solidFill>
                <a:latin typeface="Leawood-Book"/>
              </a:rPr>
              <a:t> </a:t>
            </a:r>
            <a:r>
              <a:rPr lang="en-US" b="0" i="0" u="none" strike="noStrike" baseline="0" dirty="0">
                <a:latin typeface="Leawood-Book"/>
              </a:rPr>
              <a:t>(without losing the work that had been done).</a:t>
            </a:r>
            <a:endParaRPr lang="en-US" dirty="0">
              <a:solidFill>
                <a:srgbClr val="000000"/>
              </a:solidFill>
              <a:latin typeface="Leawood-Book"/>
            </a:endParaRPr>
          </a:p>
          <a:p>
            <a:pPr algn="l"/>
            <a:r>
              <a:rPr lang="en-US" b="1" i="0" u="none" strike="noStrike" baseline="0" dirty="0">
                <a:solidFill>
                  <a:srgbClr val="FF00FF"/>
                </a:solidFill>
                <a:latin typeface="Leawood-Bold"/>
              </a:rPr>
              <a:t>Hide technical internals from the casual user.</a:t>
            </a:r>
            <a:endParaRPr lang="en-US" b="1" i="0" u="none" strike="noStrike" baseline="0" dirty="0">
              <a:solidFill>
                <a:srgbClr val="000000"/>
              </a:solidFill>
              <a:latin typeface="Leawood-Book"/>
            </a:endParaRPr>
          </a:p>
          <a:p>
            <a:pPr algn="l"/>
            <a:r>
              <a:rPr lang="en-US" b="1" i="0" u="none" strike="noStrike" baseline="0" dirty="0">
                <a:solidFill>
                  <a:srgbClr val="FF00FF"/>
                </a:solidFill>
                <a:latin typeface="Leawood-Bold"/>
              </a:rPr>
              <a:t>Design for direct interaction with objects that appear on the screen</a:t>
            </a:r>
            <a:r>
              <a:rPr lang="en-US" b="1" dirty="0">
                <a:solidFill>
                  <a:srgbClr val="000000"/>
                </a:solidFill>
                <a:latin typeface="Leawood-Book"/>
              </a:rPr>
              <a:t>: </a:t>
            </a:r>
            <a:r>
              <a:rPr lang="en-US" b="0" i="0" u="none" strike="noStrike" baseline="0" dirty="0">
                <a:latin typeface="Leawood-Book"/>
              </a:rPr>
              <a:t>For example, an application interface that allows a user to “stretch” an object (scale it in size) is an implementation of direct manipulation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89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A449D-7D0B-8E78-2916-AB3A3CF8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5285"/>
          </a:xfrm>
        </p:spPr>
        <p:txBody>
          <a:bodyPr/>
          <a:lstStyle/>
          <a:p>
            <a:r>
              <a:rPr lang="en-US" dirty="0"/>
              <a:t>2. Reduce the User’s Memory Load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CD46D-75F1-7D79-2D56-A445B140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286"/>
            <a:ext cx="10515600" cy="5251677"/>
          </a:xfrm>
        </p:spPr>
        <p:txBody>
          <a:bodyPr>
            <a:norm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FF00FF"/>
                </a:solidFill>
                <a:latin typeface="Leawood-Bold"/>
              </a:rPr>
              <a:t>Reduce demand on short-term memory.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Leawood-Book"/>
              </a:rPr>
              <a:t>When users are involved in complex tasks, the demand on short-term memory can be significant. The interface should be designed to reduce the requirement to remember past actions, inputs, and results</a:t>
            </a:r>
          </a:p>
          <a:p>
            <a:pPr algn="l"/>
            <a:r>
              <a:rPr lang="en-US" sz="2000" b="1" i="0" u="none" strike="noStrike" baseline="0" dirty="0">
                <a:solidFill>
                  <a:srgbClr val="FF00FF"/>
                </a:solidFill>
                <a:latin typeface="Leawood-Bold"/>
              </a:rPr>
              <a:t>Establish meaningful defaults.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Leawood-Book"/>
              </a:rPr>
              <a:t>a “reset” option should be available, enabling the redefinition of original default </a:t>
            </a:r>
            <a:r>
              <a:rPr lang="en-IN" sz="2000" b="0" i="0" u="none" strike="noStrike" baseline="0" dirty="0">
                <a:solidFill>
                  <a:srgbClr val="000000"/>
                </a:solidFill>
                <a:latin typeface="Leawood-Book"/>
              </a:rPr>
              <a:t>values.</a:t>
            </a:r>
          </a:p>
          <a:p>
            <a:pPr algn="l"/>
            <a:r>
              <a:rPr lang="en-US" sz="2000" b="1" i="0" u="none" strike="noStrike" baseline="0" dirty="0">
                <a:solidFill>
                  <a:srgbClr val="FF00FF"/>
                </a:solidFill>
                <a:latin typeface="Leawood-Bold"/>
              </a:rPr>
              <a:t>Define shortcuts that are intuitive.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Leawood-Book"/>
              </a:rPr>
              <a:t>When mnemonics are used to accomplish a system function (e.g., alt-P to invoke the print function), the mnemonic should be tied to the action in a way that is easy to remember</a:t>
            </a:r>
          </a:p>
          <a:p>
            <a:pPr algn="l"/>
            <a:r>
              <a:rPr lang="en-US" sz="2000" b="1" i="0" u="none" strike="noStrike" baseline="0" dirty="0">
                <a:solidFill>
                  <a:srgbClr val="FF00FF"/>
                </a:solidFill>
                <a:latin typeface="Leawood-Bold"/>
              </a:rPr>
              <a:t>The visual layout of the interface should be based on a real-world metaphor.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Leawood-Book"/>
              </a:rPr>
              <a:t>For example, a bill payment system should use a checkbook and check register metaphor to guide the user through the bill paying process.</a:t>
            </a:r>
          </a:p>
          <a:p>
            <a:pPr algn="l"/>
            <a:r>
              <a:rPr lang="en-US" sz="2000" b="1" i="0" u="none" strike="noStrike" baseline="0" dirty="0">
                <a:solidFill>
                  <a:srgbClr val="FF00FF"/>
                </a:solidFill>
                <a:latin typeface="Leawood-Bold"/>
              </a:rPr>
              <a:t>Disclose information in a progressive fashion.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Leawood-Book"/>
              </a:rPr>
              <a:t>The interface should be organized hierarchically. That is, information about a task, an object, or some behavior should be presented first at a high level of abstraction. More detail should be presented after the user indicates interest with a mouse pick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3325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B226-B3FF-3461-3445-45E037622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1046"/>
          </a:xfrm>
        </p:spPr>
        <p:txBody>
          <a:bodyPr>
            <a:normAutofit fontScale="90000"/>
          </a:bodyPr>
          <a:lstStyle/>
          <a:p>
            <a:r>
              <a:rPr lang="en-IN" dirty="0"/>
              <a:t>3. Make the Interface Consistent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890B9-EF0B-6272-1C69-18851712F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/>
          <a:lstStyle/>
          <a:p>
            <a:r>
              <a:rPr lang="en-US" dirty="0"/>
              <a:t>The interface should present and acquire information in a consistent fashion. This implies that all visual information is organized according to design rules that are maintained throughout all screen displays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755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B002-5036-4376-C543-8448973D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1046"/>
          </a:xfrm>
        </p:spPr>
        <p:txBody>
          <a:bodyPr>
            <a:normAutofit fontScale="90000"/>
          </a:bodyPr>
          <a:lstStyle/>
          <a:p>
            <a:r>
              <a:rPr lang="en-US" dirty="0"/>
              <a:t>Interface Analysis and Design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BCC75-E60B-74E0-DE66-AC22B67F0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/>
          <a:lstStyle/>
          <a:p>
            <a:r>
              <a:rPr lang="en-US" dirty="0"/>
              <a:t>the user interface analysis and design process begins at the interior of the spiral and encompasses four distinct framework activities: (1) interface analysis and modeling, (2) interface design, (3) interface construction, and (4) interface validation.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881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C91D-18EA-98EC-BF1F-2450EDB8C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7761"/>
          </a:xfrm>
        </p:spPr>
        <p:txBody>
          <a:bodyPr>
            <a:normAutofit fontScale="90000"/>
          </a:bodyPr>
          <a:lstStyle/>
          <a:p>
            <a:r>
              <a:rPr lang="en-US" dirty="0"/>
              <a:t>The user interface design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BBAF-CE64-D9FC-BCC9-16E5E89AA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886"/>
            <a:ext cx="10515600" cy="5404077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Leawood-Book"/>
              </a:rPr>
              <a:t>The spiral shown, implies that each of these tasks will occur more than once, with each pass around the spiral representing additional elaboration of requirements and the resultant design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F6421-A6B7-157A-A523-058631474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427" y="1839685"/>
            <a:ext cx="9221487" cy="483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49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150D-39D3-3E44-D8E9-BC98BE55C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846"/>
          </a:xfrm>
        </p:spPr>
        <p:txBody>
          <a:bodyPr>
            <a:normAutofit/>
          </a:bodyPr>
          <a:lstStyle/>
          <a:p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 Principles and Guidelines of Web Apps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C48E6-D98B-F862-5DA6-E5DC09FFE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086"/>
            <a:ext cx="10515600" cy="4946877"/>
          </a:xfrm>
        </p:spPr>
        <p:txBody>
          <a:bodyPr/>
          <a:lstStyle/>
          <a:p>
            <a:pPr algn="l"/>
            <a:r>
              <a:rPr lang="en-US" sz="1800" b="1" i="0" u="none" strike="noStrike" baseline="0" dirty="0">
                <a:solidFill>
                  <a:srgbClr val="FF00FF"/>
                </a:solidFill>
                <a:latin typeface="Leawood-Bold"/>
              </a:rPr>
              <a:t>Anticipation.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Leawood-BookItalic"/>
              </a:rPr>
              <a:t>A WebApp should be designed so that it anticipates the user’s next </a:t>
            </a:r>
            <a:r>
              <a:rPr lang="en-IN" sz="1800" b="0" i="1" u="none" strike="noStrike" baseline="0" dirty="0">
                <a:solidFill>
                  <a:srgbClr val="000000"/>
                </a:solidFill>
                <a:latin typeface="Leawood-BookItalic"/>
              </a:rPr>
              <a:t>move</a:t>
            </a:r>
          </a:p>
          <a:p>
            <a:pPr algn="l"/>
            <a:r>
              <a:rPr lang="en-US" sz="1800" b="1" i="0" u="none" strike="noStrike" baseline="0" dirty="0">
                <a:solidFill>
                  <a:srgbClr val="FF00FF"/>
                </a:solidFill>
                <a:latin typeface="Leawood-Bold"/>
              </a:rPr>
              <a:t>Communication.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Leawood-BookItalic"/>
              </a:rPr>
              <a:t>The interface should communicate the status of any activity initiated </a:t>
            </a:r>
            <a:r>
              <a:rPr lang="en-IN" sz="1800" b="0" i="1" u="none" strike="noStrike" baseline="0" dirty="0">
                <a:solidFill>
                  <a:srgbClr val="000000"/>
                </a:solidFill>
                <a:latin typeface="Leawood-BookItalic"/>
              </a:rPr>
              <a:t>by the user</a:t>
            </a:r>
          </a:p>
          <a:p>
            <a:pPr algn="l"/>
            <a:r>
              <a:rPr lang="en-US" sz="1800" b="1" i="0" u="none" strike="noStrike" baseline="0" dirty="0">
                <a:solidFill>
                  <a:srgbClr val="FF00FF"/>
                </a:solidFill>
                <a:latin typeface="Leawood-Bold"/>
              </a:rPr>
              <a:t>Consistency.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Leawood-BookItalic"/>
              </a:rPr>
              <a:t>The use of navigation controls, menus, icons, and aesthetics (e.g., color, shape, layout) should be consistent throughout the WebApp</a:t>
            </a:r>
          </a:p>
          <a:p>
            <a:pPr algn="l"/>
            <a:r>
              <a:rPr lang="en-US" sz="1800" b="1" i="0" u="none" strike="noStrike" baseline="0" dirty="0">
                <a:solidFill>
                  <a:srgbClr val="FF00FF"/>
                </a:solidFill>
                <a:latin typeface="Leawood-Bold"/>
              </a:rPr>
              <a:t>Efficiency.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Leawood-BookItalic"/>
              </a:rPr>
              <a:t>The design of the WebApp and its interface should optimize the user’s work efficiency, not the efficiency of the developer who designs and builds it or the client-server</a:t>
            </a:r>
            <a:r>
              <a:rPr lang="en-US" sz="1800" i="1" dirty="0">
                <a:solidFill>
                  <a:srgbClr val="000000"/>
                </a:solidFill>
                <a:latin typeface="Leawood-BookItalic"/>
              </a:rPr>
              <a:t> </a:t>
            </a:r>
            <a:r>
              <a:rPr lang="en-IN" sz="1800" b="0" i="1" u="none" strike="noStrike" baseline="0" dirty="0">
                <a:solidFill>
                  <a:srgbClr val="000000"/>
                </a:solidFill>
                <a:latin typeface="Leawood-BookItalic"/>
              </a:rPr>
              <a:t>environment that executes it.</a:t>
            </a:r>
          </a:p>
          <a:p>
            <a:pPr algn="l"/>
            <a:r>
              <a:rPr lang="en-US" sz="1800" b="1" i="0" u="none" strike="noStrike" baseline="0" dirty="0">
                <a:solidFill>
                  <a:srgbClr val="FF00FF"/>
                </a:solidFill>
                <a:latin typeface="Leawood-Bold"/>
              </a:rPr>
              <a:t>Flexibility.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Leawood-BookItalic"/>
              </a:rPr>
              <a:t>The interface should be flexible enough to enable some users to accomplish tasks directly and others to explore the WebApp in a somewhat random fashion</a:t>
            </a:r>
          </a:p>
          <a:p>
            <a:pPr algn="l"/>
            <a:r>
              <a:rPr lang="en-US" sz="1800" b="1" i="0" u="none" strike="noStrike" baseline="0" dirty="0">
                <a:solidFill>
                  <a:srgbClr val="FF00FF"/>
                </a:solidFill>
                <a:latin typeface="Leawood-Bold"/>
              </a:rPr>
              <a:t>Focus.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Leawood-BookItalic"/>
              </a:rPr>
              <a:t>The WebApp interface (and the content it presents) should stay focused on the user task(s) at hand</a:t>
            </a:r>
          </a:p>
          <a:p>
            <a:pPr algn="l"/>
            <a:r>
              <a:rPr lang="en-IN" sz="1800" b="1" i="0" u="none" strike="noStrike" baseline="0" dirty="0">
                <a:solidFill>
                  <a:srgbClr val="FF00FF"/>
                </a:solidFill>
                <a:latin typeface="Leawood-Bold"/>
              </a:rPr>
              <a:t>Latency reduction.</a:t>
            </a:r>
            <a:endParaRPr lang="en-US" sz="1800" i="1" dirty="0">
              <a:solidFill>
                <a:srgbClr val="000000"/>
              </a:solidFill>
              <a:latin typeface="Leawood-BookItalic"/>
            </a:endParaRPr>
          </a:p>
          <a:p>
            <a:pPr algn="l"/>
            <a:r>
              <a:rPr lang="en-IN" sz="1800" b="1" i="0" u="none" strike="noStrike" baseline="0" dirty="0">
                <a:solidFill>
                  <a:srgbClr val="FF00FF"/>
                </a:solidFill>
                <a:latin typeface="Leawood-Bold"/>
              </a:rPr>
              <a:t>Learnability</a:t>
            </a:r>
            <a:endParaRPr lang="en-US" sz="1800" b="1" i="1" u="none" strike="noStrike" baseline="0" dirty="0">
              <a:solidFill>
                <a:srgbClr val="000000"/>
              </a:solidFill>
              <a:latin typeface="Leawood-BookItalic"/>
            </a:endParaRPr>
          </a:p>
          <a:p>
            <a:pPr algn="l"/>
            <a:r>
              <a:rPr lang="en-IN" sz="1800" b="1" i="0" u="none" strike="noStrike" baseline="0" dirty="0">
                <a:solidFill>
                  <a:srgbClr val="FF00FF"/>
                </a:solidFill>
                <a:latin typeface="Leawood-Bold"/>
              </a:rPr>
              <a:t>Visible navigation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403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2F06-F60D-B36E-A4FD-6E2D8C30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dirty="0"/>
              <a:t>The interface design evaluation cycle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CB702D-93A1-4700-A90F-84B728B7C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3857" y="1143000"/>
            <a:ext cx="8066314" cy="5475514"/>
          </a:xfrm>
        </p:spPr>
      </p:pic>
    </p:spTree>
    <p:extLst>
      <p:ext uri="{BB962C8B-B14F-4D97-AF65-F5344CB8AC3E}">
        <p14:creationId xmlns:p14="http://schemas.microsoft.com/office/powerpoint/2010/main" val="542797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798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Calibri Light</vt:lpstr>
      <vt:lpstr>Futura</vt:lpstr>
      <vt:lpstr>Leawood-Bold</vt:lpstr>
      <vt:lpstr>Leawood-Book</vt:lpstr>
      <vt:lpstr>Leawood-BookItalic</vt:lpstr>
      <vt:lpstr>LubalinGraph-Book</vt:lpstr>
      <vt:lpstr>LubalinGraph-Demi</vt:lpstr>
      <vt:lpstr>Times New Roman</vt:lpstr>
      <vt:lpstr>Office Theme</vt:lpstr>
      <vt:lpstr>User Interface Design </vt:lpstr>
      <vt:lpstr>What is User interface?</vt:lpstr>
      <vt:lpstr>Types of User Interface </vt:lpstr>
      <vt:lpstr>Principles of user interface design: 3 golden rule</vt:lpstr>
      <vt:lpstr>1. Place the User in Control</vt:lpstr>
      <vt:lpstr>2. Reduce the User’s Memory Load</vt:lpstr>
      <vt:lpstr>3. Make the Interface Consistent</vt:lpstr>
      <vt:lpstr>Interface Analysis and Design Models</vt:lpstr>
      <vt:lpstr>The user interface design process</vt:lpstr>
      <vt:lpstr>Interface Design Principles and Guidelines of Web Apps</vt:lpstr>
      <vt:lpstr>The interface design evaluation cycle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Samriddhi Sarkar</dc:creator>
  <cp:lastModifiedBy>Samriddhi Sarkar</cp:lastModifiedBy>
  <cp:revision>2</cp:revision>
  <dcterms:created xsi:type="dcterms:W3CDTF">2025-02-25T02:46:31Z</dcterms:created>
  <dcterms:modified xsi:type="dcterms:W3CDTF">2025-02-25T04:05:08Z</dcterms:modified>
</cp:coreProperties>
</file>