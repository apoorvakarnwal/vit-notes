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58" r:id="rId4"/>
    <p:sldId id="276" r:id="rId5"/>
    <p:sldId id="275" r:id="rId6"/>
    <p:sldId id="277" r:id="rId7"/>
    <p:sldId id="278" r:id="rId8"/>
    <p:sldId id="279" r:id="rId9"/>
    <p:sldId id="280" r:id="rId10"/>
    <p:sldId id="259" r:id="rId11"/>
    <p:sldId id="262" r:id="rId12"/>
    <p:sldId id="273" r:id="rId13"/>
    <p:sldId id="263" r:id="rId14"/>
    <p:sldId id="281" r:id="rId15"/>
    <p:sldId id="282" r:id="rId16"/>
    <p:sldId id="283" r:id="rId17"/>
    <p:sldId id="284" r:id="rId18"/>
    <p:sldId id="265" r:id="rId19"/>
    <p:sldId id="266" r:id="rId20"/>
    <p:sldId id="267" r:id="rId21"/>
    <p:sldId id="562" r:id="rId22"/>
    <p:sldId id="563" r:id="rId23"/>
    <p:sldId id="564" r:id="rId24"/>
    <p:sldId id="565" r:id="rId25"/>
    <p:sldId id="566" r:id="rId26"/>
    <p:sldId id="568" r:id="rId27"/>
    <p:sldId id="567" r:id="rId28"/>
    <p:sldId id="285" r:id="rId29"/>
    <p:sldId id="286" r:id="rId30"/>
    <p:sldId id="287" r:id="rId31"/>
    <p:sldId id="288" r:id="rId32"/>
    <p:sldId id="289" r:id="rId33"/>
    <p:sldId id="290" r:id="rId34"/>
    <p:sldId id="291" r:id="rId35"/>
    <p:sldId id="292" r:id="rId36"/>
    <p:sldId id="569" r:id="rId37"/>
    <p:sldId id="293" r:id="rId38"/>
    <p:sldId id="294" r:id="rId39"/>
    <p:sldId id="295" r:id="rId40"/>
    <p:sldId id="296" r:id="rId41"/>
    <p:sldId id="556" r:id="rId42"/>
    <p:sldId id="557" r:id="rId43"/>
    <p:sldId id="558" r:id="rId44"/>
    <p:sldId id="561" r:id="rId45"/>
    <p:sldId id="559" r:id="rId46"/>
    <p:sldId id="560" r:id="rId47"/>
    <p:sldId id="297" r:id="rId48"/>
    <p:sldId id="298" r:id="rId49"/>
    <p:sldId id="299" r:id="rId50"/>
    <p:sldId id="300" r:id="rId51"/>
    <p:sldId id="304" r:id="rId52"/>
    <p:sldId id="301" r:id="rId53"/>
    <p:sldId id="302" r:id="rId54"/>
    <p:sldId id="305" r:id="rId55"/>
    <p:sldId id="303" r:id="rId56"/>
    <p:sldId id="318" r:id="rId57"/>
    <p:sldId id="570" r:id="rId58"/>
    <p:sldId id="319" r:id="rId59"/>
    <p:sldId id="320" r:id="rId60"/>
    <p:sldId id="321" r:id="rId61"/>
    <p:sldId id="322" r:id="rId62"/>
    <p:sldId id="309" r:id="rId63"/>
    <p:sldId id="310" r:id="rId64"/>
    <p:sldId id="311" r:id="rId65"/>
    <p:sldId id="312" r:id="rId66"/>
    <p:sldId id="313" r:id="rId67"/>
    <p:sldId id="314" r:id="rId68"/>
    <p:sldId id="315" r:id="rId69"/>
    <p:sldId id="316" r:id="rId70"/>
    <p:sldId id="317" r:id="rId71"/>
    <p:sldId id="269" r:id="rId72"/>
    <p:sldId id="271" r:id="rId73"/>
    <p:sldId id="272" r:id="rId74"/>
    <p:sldId id="270" r:id="rId75"/>
    <p:sldId id="571" r:id="rId7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96" autoAdjust="0"/>
    <p:restoredTop sz="94632"/>
  </p:normalViewPr>
  <p:slideViewPr>
    <p:cSldViewPr>
      <p:cViewPr varScale="1">
        <p:scale>
          <a:sx n="59" d="100"/>
          <a:sy n="59" d="100"/>
        </p:scale>
        <p:origin x="125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08508AB-B9F0-B7C4-D8D9-4CFE36A26C5E}"/>
              </a:ext>
            </a:extLst>
          </p:cNvPr>
          <p:cNvSpPr>
            <a:spLocks noGrp="1"/>
          </p:cNvSpPr>
          <p:nvPr>
            <p:ph type="dt" sz="half" idx="10"/>
          </p:nvPr>
        </p:nvSpPr>
        <p:spPr/>
        <p:txBody>
          <a:bodyPr/>
          <a:lstStyle>
            <a:lvl1pPr>
              <a:defRPr/>
            </a:lvl1pPr>
          </a:lstStyle>
          <a:p>
            <a:pPr>
              <a:defRPr/>
            </a:pPr>
            <a:fld id="{BB1DBE92-A761-1046-83C8-C23DBF8D98D2}" type="datetimeFigureOut">
              <a:rPr lang="en-US"/>
              <a:pPr>
                <a:defRPr/>
              </a:pPr>
              <a:t>2/22/2025</a:t>
            </a:fld>
            <a:endParaRPr lang="en-US"/>
          </a:p>
        </p:txBody>
      </p:sp>
      <p:sp>
        <p:nvSpPr>
          <p:cNvPr id="5" name="Footer Placeholder 4">
            <a:extLst>
              <a:ext uri="{FF2B5EF4-FFF2-40B4-BE49-F238E27FC236}">
                <a16:creationId xmlns:a16="http://schemas.microsoft.com/office/drawing/2014/main" id="{B7507E81-5CD7-82F9-CB26-37ACD6AB3ED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BA207B-BA16-5A52-581E-3F81E9328DFC}"/>
              </a:ext>
            </a:extLst>
          </p:cNvPr>
          <p:cNvSpPr>
            <a:spLocks noGrp="1"/>
          </p:cNvSpPr>
          <p:nvPr>
            <p:ph type="sldNum" sz="quarter" idx="12"/>
          </p:nvPr>
        </p:nvSpPr>
        <p:spPr/>
        <p:txBody>
          <a:bodyPr/>
          <a:lstStyle>
            <a:lvl1pPr>
              <a:defRPr/>
            </a:lvl1pPr>
          </a:lstStyle>
          <a:p>
            <a:pPr>
              <a:defRPr/>
            </a:pPr>
            <a:fld id="{BA1E6B6F-F03B-6D4B-9641-202F2CB9A1AA}" type="slidenum">
              <a:rPr lang="en-US" altLang="en-US"/>
              <a:pPr>
                <a:defRPr/>
              </a:pPr>
              <a:t>‹#›</a:t>
            </a:fld>
            <a:endParaRPr lang="en-US" altLang="en-US"/>
          </a:p>
        </p:txBody>
      </p:sp>
    </p:spTree>
    <p:extLst>
      <p:ext uri="{BB962C8B-B14F-4D97-AF65-F5344CB8AC3E}">
        <p14:creationId xmlns:p14="http://schemas.microsoft.com/office/powerpoint/2010/main" val="4102193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5EF54C-2C16-B001-6A48-E99DBC192AB2}"/>
              </a:ext>
            </a:extLst>
          </p:cNvPr>
          <p:cNvSpPr>
            <a:spLocks noGrp="1"/>
          </p:cNvSpPr>
          <p:nvPr>
            <p:ph type="dt" sz="half" idx="10"/>
          </p:nvPr>
        </p:nvSpPr>
        <p:spPr/>
        <p:txBody>
          <a:bodyPr/>
          <a:lstStyle>
            <a:lvl1pPr>
              <a:defRPr/>
            </a:lvl1pPr>
          </a:lstStyle>
          <a:p>
            <a:pPr>
              <a:defRPr/>
            </a:pPr>
            <a:fld id="{8FE602D0-F542-E244-B83D-FB6FBB753EFD}" type="datetimeFigureOut">
              <a:rPr lang="en-US"/>
              <a:pPr>
                <a:defRPr/>
              </a:pPr>
              <a:t>2/22/2025</a:t>
            </a:fld>
            <a:endParaRPr lang="en-US"/>
          </a:p>
        </p:txBody>
      </p:sp>
      <p:sp>
        <p:nvSpPr>
          <p:cNvPr id="5" name="Footer Placeholder 4">
            <a:extLst>
              <a:ext uri="{FF2B5EF4-FFF2-40B4-BE49-F238E27FC236}">
                <a16:creationId xmlns:a16="http://schemas.microsoft.com/office/drawing/2014/main" id="{89D5F9FF-6944-1C82-18D3-16F8F4EC732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BFF0726-9E0B-B74B-C21D-728298E56747}"/>
              </a:ext>
            </a:extLst>
          </p:cNvPr>
          <p:cNvSpPr>
            <a:spLocks noGrp="1"/>
          </p:cNvSpPr>
          <p:nvPr>
            <p:ph type="sldNum" sz="quarter" idx="12"/>
          </p:nvPr>
        </p:nvSpPr>
        <p:spPr/>
        <p:txBody>
          <a:bodyPr/>
          <a:lstStyle>
            <a:lvl1pPr>
              <a:defRPr/>
            </a:lvl1pPr>
          </a:lstStyle>
          <a:p>
            <a:pPr>
              <a:defRPr/>
            </a:pPr>
            <a:fld id="{62507D88-04B1-B54A-B9B0-A9FDBC113051}" type="slidenum">
              <a:rPr lang="en-US" altLang="en-US"/>
              <a:pPr>
                <a:defRPr/>
              </a:pPr>
              <a:t>‹#›</a:t>
            </a:fld>
            <a:endParaRPr lang="en-US" altLang="en-US"/>
          </a:p>
        </p:txBody>
      </p:sp>
    </p:spTree>
    <p:extLst>
      <p:ext uri="{BB962C8B-B14F-4D97-AF65-F5344CB8AC3E}">
        <p14:creationId xmlns:p14="http://schemas.microsoft.com/office/powerpoint/2010/main" val="4094220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67D066-E5AB-1EF5-B88F-140894EF3D47}"/>
              </a:ext>
            </a:extLst>
          </p:cNvPr>
          <p:cNvSpPr>
            <a:spLocks noGrp="1"/>
          </p:cNvSpPr>
          <p:nvPr>
            <p:ph type="dt" sz="half" idx="10"/>
          </p:nvPr>
        </p:nvSpPr>
        <p:spPr/>
        <p:txBody>
          <a:bodyPr/>
          <a:lstStyle>
            <a:lvl1pPr>
              <a:defRPr/>
            </a:lvl1pPr>
          </a:lstStyle>
          <a:p>
            <a:pPr>
              <a:defRPr/>
            </a:pPr>
            <a:fld id="{ADB4B2E6-65B8-D347-8776-F380A2B2DE4E}" type="datetimeFigureOut">
              <a:rPr lang="en-US"/>
              <a:pPr>
                <a:defRPr/>
              </a:pPr>
              <a:t>2/22/2025</a:t>
            </a:fld>
            <a:endParaRPr lang="en-US"/>
          </a:p>
        </p:txBody>
      </p:sp>
      <p:sp>
        <p:nvSpPr>
          <p:cNvPr id="5" name="Footer Placeholder 4">
            <a:extLst>
              <a:ext uri="{FF2B5EF4-FFF2-40B4-BE49-F238E27FC236}">
                <a16:creationId xmlns:a16="http://schemas.microsoft.com/office/drawing/2014/main" id="{29282B18-B9DA-4AEB-14BB-0F96F0AA373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F1B9F5D-EC26-B582-8FF5-AE3BD9177E31}"/>
              </a:ext>
            </a:extLst>
          </p:cNvPr>
          <p:cNvSpPr>
            <a:spLocks noGrp="1"/>
          </p:cNvSpPr>
          <p:nvPr>
            <p:ph type="sldNum" sz="quarter" idx="12"/>
          </p:nvPr>
        </p:nvSpPr>
        <p:spPr/>
        <p:txBody>
          <a:bodyPr/>
          <a:lstStyle>
            <a:lvl1pPr>
              <a:defRPr/>
            </a:lvl1pPr>
          </a:lstStyle>
          <a:p>
            <a:pPr>
              <a:defRPr/>
            </a:pPr>
            <a:fld id="{78518948-48A2-D247-815E-7B89DE0B2B72}" type="slidenum">
              <a:rPr lang="en-US" altLang="en-US"/>
              <a:pPr>
                <a:defRPr/>
              </a:pPr>
              <a:t>‹#›</a:t>
            </a:fld>
            <a:endParaRPr lang="en-US" altLang="en-US"/>
          </a:p>
        </p:txBody>
      </p:sp>
    </p:spTree>
    <p:extLst>
      <p:ext uri="{BB962C8B-B14F-4D97-AF65-F5344CB8AC3E}">
        <p14:creationId xmlns:p14="http://schemas.microsoft.com/office/powerpoint/2010/main" val="1254258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98A4E296-2272-1CF8-4C31-0B519EB1BBD9}"/>
              </a:ext>
            </a:extLst>
          </p:cNvPr>
          <p:cNvSpPr>
            <a:spLocks noGrp="1"/>
          </p:cNvSpPr>
          <p:nvPr>
            <p:ph type="dt" sz="half" idx="10"/>
          </p:nvPr>
        </p:nvSpPr>
        <p:spPr/>
        <p:txBody>
          <a:bodyPr/>
          <a:lstStyle>
            <a:lvl1pPr>
              <a:defRPr/>
            </a:lvl1pPr>
          </a:lstStyle>
          <a:p>
            <a:pPr>
              <a:defRPr/>
            </a:pPr>
            <a:fld id="{0B51EC99-2A72-894E-B709-E99DEA1BB0B5}" type="datetimeFigureOut">
              <a:rPr lang="en-US"/>
              <a:pPr>
                <a:defRPr/>
              </a:pPr>
              <a:t>2/22/2025</a:t>
            </a:fld>
            <a:endParaRPr lang="en-US"/>
          </a:p>
        </p:txBody>
      </p:sp>
      <p:sp>
        <p:nvSpPr>
          <p:cNvPr id="6" name="Footer Placeholder 4">
            <a:extLst>
              <a:ext uri="{FF2B5EF4-FFF2-40B4-BE49-F238E27FC236}">
                <a16:creationId xmlns:a16="http://schemas.microsoft.com/office/drawing/2014/main" id="{D3DA0649-5A8F-6076-7A53-7074792C9D3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B313CEF-8AC2-FE18-0E90-5D1FF9D7A848}"/>
              </a:ext>
            </a:extLst>
          </p:cNvPr>
          <p:cNvSpPr>
            <a:spLocks noGrp="1"/>
          </p:cNvSpPr>
          <p:nvPr>
            <p:ph type="sldNum" sz="quarter" idx="12"/>
          </p:nvPr>
        </p:nvSpPr>
        <p:spPr/>
        <p:txBody>
          <a:bodyPr/>
          <a:lstStyle>
            <a:lvl1pPr>
              <a:defRPr/>
            </a:lvl1pPr>
          </a:lstStyle>
          <a:p>
            <a:pPr>
              <a:defRPr/>
            </a:pPr>
            <a:fld id="{3BBE7D68-C3AC-A94F-86CC-C9CC45ABFE7D}" type="slidenum">
              <a:rPr lang="en-US" altLang="en-US"/>
              <a:pPr>
                <a:defRPr/>
              </a:pPr>
              <a:t>‹#›</a:t>
            </a:fld>
            <a:endParaRPr lang="en-US" altLang="en-US"/>
          </a:p>
        </p:txBody>
      </p:sp>
    </p:spTree>
    <p:extLst>
      <p:ext uri="{BB962C8B-B14F-4D97-AF65-F5344CB8AC3E}">
        <p14:creationId xmlns:p14="http://schemas.microsoft.com/office/powerpoint/2010/main" val="2105974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3C16D4C-8C1C-D162-0861-FB67E93EEE35}"/>
              </a:ext>
            </a:extLst>
          </p:cNvPr>
          <p:cNvSpPr>
            <a:spLocks noGrp="1"/>
          </p:cNvSpPr>
          <p:nvPr>
            <p:ph type="dt" sz="half" idx="10"/>
          </p:nvPr>
        </p:nvSpPr>
        <p:spPr/>
        <p:txBody>
          <a:bodyPr/>
          <a:lstStyle>
            <a:lvl1pPr>
              <a:defRPr/>
            </a:lvl1pPr>
          </a:lstStyle>
          <a:p>
            <a:pPr>
              <a:defRPr/>
            </a:pPr>
            <a:fld id="{2936AA4C-9F03-4E45-A73D-78F54E28E968}" type="datetimeFigureOut">
              <a:rPr lang="en-US"/>
              <a:pPr>
                <a:defRPr/>
              </a:pPr>
              <a:t>2/22/2025</a:t>
            </a:fld>
            <a:endParaRPr lang="en-US"/>
          </a:p>
        </p:txBody>
      </p:sp>
      <p:sp>
        <p:nvSpPr>
          <p:cNvPr id="8" name="Footer Placeholder 4">
            <a:extLst>
              <a:ext uri="{FF2B5EF4-FFF2-40B4-BE49-F238E27FC236}">
                <a16:creationId xmlns:a16="http://schemas.microsoft.com/office/drawing/2014/main" id="{D39B9877-2560-E2F6-E145-F4DE358A518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765D712-E681-E020-22E9-BB71D4FB1EF5}"/>
              </a:ext>
            </a:extLst>
          </p:cNvPr>
          <p:cNvSpPr>
            <a:spLocks noGrp="1"/>
          </p:cNvSpPr>
          <p:nvPr>
            <p:ph type="sldNum" sz="quarter" idx="12"/>
          </p:nvPr>
        </p:nvSpPr>
        <p:spPr/>
        <p:txBody>
          <a:bodyPr/>
          <a:lstStyle>
            <a:lvl1pPr>
              <a:defRPr/>
            </a:lvl1pPr>
          </a:lstStyle>
          <a:p>
            <a:pPr>
              <a:defRPr/>
            </a:pPr>
            <a:fld id="{3D9C93E6-531A-1749-8138-2272A24042CB}" type="slidenum">
              <a:rPr lang="en-US" altLang="en-US"/>
              <a:pPr>
                <a:defRPr/>
              </a:pPr>
              <a:t>‹#›</a:t>
            </a:fld>
            <a:endParaRPr lang="en-US" altLang="en-US"/>
          </a:p>
        </p:txBody>
      </p:sp>
    </p:spTree>
    <p:extLst>
      <p:ext uri="{BB962C8B-B14F-4D97-AF65-F5344CB8AC3E}">
        <p14:creationId xmlns:p14="http://schemas.microsoft.com/office/powerpoint/2010/main" val="1931791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D81F893-37A4-3C4A-34E1-8585C8A301EE}"/>
              </a:ext>
            </a:extLst>
          </p:cNvPr>
          <p:cNvSpPr>
            <a:spLocks noGrp="1"/>
          </p:cNvSpPr>
          <p:nvPr>
            <p:ph type="dt" sz="half" idx="10"/>
          </p:nvPr>
        </p:nvSpPr>
        <p:spPr/>
        <p:txBody>
          <a:bodyPr/>
          <a:lstStyle>
            <a:lvl1pPr>
              <a:defRPr/>
            </a:lvl1pPr>
          </a:lstStyle>
          <a:p>
            <a:pPr>
              <a:defRPr/>
            </a:pPr>
            <a:fld id="{6BD24AEC-59D4-4D4E-BF27-62ABDACA182F}" type="datetimeFigureOut">
              <a:rPr lang="en-US"/>
              <a:pPr>
                <a:defRPr/>
              </a:pPr>
              <a:t>2/22/2025</a:t>
            </a:fld>
            <a:endParaRPr lang="en-US"/>
          </a:p>
        </p:txBody>
      </p:sp>
      <p:sp>
        <p:nvSpPr>
          <p:cNvPr id="4" name="Footer Placeholder 4">
            <a:extLst>
              <a:ext uri="{FF2B5EF4-FFF2-40B4-BE49-F238E27FC236}">
                <a16:creationId xmlns:a16="http://schemas.microsoft.com/office/drawing/2014/main" id="{CC3386AA-425A-87A3-4BC0-BD8DDA04B16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CC4C1DE-5D77-64FE-348E-14EC387818EB}"/>
              </a:ext>
            </a:extLst>
          </p:cNvPr>
          <p:cNvSpPr>
            <a:spLocks noGrp="1"/>
          </p:cNvSpPr>
          <p:nvPr>
            <p:ph type="sldNum" sz="quarter" idx="12"/>
          </p:nvPr>
        </p:nvSpPr>
        <p:spPr/>
        <p:txBody>
          <a:bodyPr/>
          <a:lstStyle>
            <a:lvl1pPr>
              <a:defRPr/>
            </a:lvl1pPr>
          </a:lstStyle>
          <a:p>
            <a:pPr>
              <a:defRPr/>
            </a:pPr>
            <a:fld id="{D0D1A8D5-D090-E248-BC03-8C6485703346}" type="slidenum">
              <a:rPr lang="en-US" altLang="en-US"/>
              <a:pPr>
                <a:defRPr/>
              </a:pPr>
              <a:t>‹#›</a:t>
            </a:fld>
            <a:endParaRPr lang="en-US" altLang="en-US"/>
          </a:p>
        </p:txBody>
      </p:sp>
    </p:spTree>
    <p:extLst>
      <p:ext uri="{BB962C8B-B14F-4D97-AF65-F5344CB8AC3E}">
        <p14:creationId xmlns:p14="http://schemas.microsoft.com/office/powerpoint/2010/main" val="905969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603ED4B-BB28-803F-591D-73A7FB7EB0FD}"/>
              </a:ext>
            </a:extLst>
          </p:cNvPr>
          <p:cNvSpPr>
            <a:spLocks noGrp="1"/>
          </p:cNvSpPr>
          <p:nvPr>
            <p:ph type="dt" sz="half" idx="10"/>
          </p:nvPr>
        </p:nvSpPr>
        <p:spPr/>
        <p:txBody>
          <a:bodyPr/>
          <a:lstStyle>
            <a:lvl1pPr>
              <a:defRPr/>
            </a:lvl1pPr>
          </a:lstStyle>
          <a:p>
            <a:pPr>
              <a:defRPr/>
            </a:pPr>
            <a:fld id="{9656E888-A8DB-2349-88A0-6CDCAEB3985D}" type="datetimeFigureOut">
              <a:rPr lang="en-US"/>
              <a:pPr>
                <a:defRPr/>
              </a:pPr>
              <a:t>2/22/2025</a:t>
            </a:fld>
            <a:endParaRPr lang="en-US"/>
          </a:p>
        </p:txBody>
      </p:sp>
      <p:sp>
        <p:nvSpPr>
          <p:cNvPr id="3" name="Footer Placeholder 4">
            <a:extLst>
              <a:ext uri="{FF2B5EF4-FFF2-40B4-BE49-F238E27FC236}">
                <a16:creationId xmlns:a16="http://schemas.microsoft.com/office/drawing/2014/main" id="{0FB89FCC-7C76-E44C-9A1F-AB2C40404F6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E0D3E48-341F-0EFA-D531-85176CF3FCC6}"/>
              </a:ext>
            </a:extLst>
          </p:cNvPr>
          <p:cNvSpPr>
            <a:spLocks noGrp="1"/>
          </p:cNvSpPr>
          <p:nvPr>
            <p:ph type="sldNum" sz="quarter" idx="12"/>
          </p:nvPr>
        </p:nvSpPr>
        <p:spPr/>
        <p:txBody>
          <a:bodyPr/>
          <a:lstStyle>
            <a:lvl1pPr>
              <a:defRPr/>
            </a:lvl1pPr>
          </a:lstStyle>
          <a:p>
            <a:pPr>
              <a:defRPr/>
            </a:pPr>
            <a:fld id="{A5248049-AE84-1A4B-AB1E-DAB54EB29489}" type="slidenum">
              <a:rPr lang="en-US" altLang="en-US"/>
              <a:pPr>
                <a:defRPr/>
              </a:pPr>
              <a:t>‹#›</a:t>
            </a:fld>
            <a:endParaRPr lang="en-US" altLang="en-US"/>
          </a:p>
        </p:txBody>
      </p:sp>
    </p:spTree>
    <p:extLst>
      <p:ext uri="{BB962C8B-B14F-4D97-AF65-F5344CB8AC3E}">
        <p14:creationId xmlns:p14="http://schemas.microsoft.com/office/powerpoint/2010/main" val="201661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73AA4F8-422F-F468-424C-7D69C4DD47F7}"/>
              </a:ext>
            </a:extLst>
          </p:cNvPr>
          <p:cNvSpPr>
            <a:spLocks noGrp="1"/>
          </p:cNvSpPr>
          <p:nvPr>
            <p:ph type="dt" sz="half" idx="10"/>
          </p:nvPr>
        </p:nvSpPr>
        <p:spPr/>
        <p:txBody>
          <a:bodyPr/>
          <a:lstStyle>
            <a:lvl1pPr>
              <a:defRPr/>
            </a:lvl1pPr>
          </a:lstStyle>
          <a:p>
            <a:pPr>
              <a:defRPr/>
            </a:pPr>
            <a:fld id="{8D872D4C-8C31-A34E-AE94-618651C1A073}" type="datetimeFigureOut">
              <a:rPr lang="en-US"/>
              <a:pPr>
                <a:defRPr/>
              </a:pPr>
              <a:t>2/22/2025</a:t>
            </a:fld>
            <a:endParaRPr lang="en-US"/>
          </a:p>
        </p:txBody>
      </p:sp>
      <p:sp>
        <p:nvSpPr>
          <p:cNvPr id="6" name="Footer Placeholder 4">
            <a:extLst>
              <a:ext uri="{FF2B5EF4-FFF2-40B4-BE49-F238E27FC236}">
                <a16:creationId xmlns:a16="http://schemas.microsoft.com/office/drawing/2014/main" id="{BF2DEB7D-7805-22D7-D8FA-717F38C196D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072B120-3CC9-6F65-2D97-8DA63DE63F34}"/>
              </a:ext>
            </a:extLst>
          </p:cNvPr>
          <p:cNvSpPr>
            <a:spLocks noGrp="1"/>
          </p:cNvSpPr>
          <p:nvPr>
            <p:ph type="sldNum" sz="quarter" idx="12"/>
          </p:nvPr>
        </p:nvSpPr>
        <p:spPr/>
        <p:txBody>
          <a:bodyPr/>
          <a:lstStyle>
            <a:lvl1pPr>
              <a:defRPr/>
            </a:lvl1pPr>
          </a:lstStyle>
          <a:p>
            <a:pPr>
              <a:defRPr/>
            </a:pPr>
            <a:fld id="{64E5F204-D7AC-3841-8F32-C795A5A90F1D}" type="slidenum">
              <a:rPr lang="en-US" altLang="en-US"/>
              <a:pPr>
                <a:defRPr/>
              </a:pPr>
              <a:t>‹#›</a:t>
            </a:fld>
            <a:endParaRPr lang="en-US" altLang="en-US"/>
          </a:p>
        </p:txBody>
      </p:sp>
    </p:spTree>
    <p:extLst>
      <p:ext uri="{BB962C8B-B14F-4D97-AF65-F5344CB8AC3E}">
        <p14:creationId xmlns:p14="http://schemas.microsoft.com/office/powerpoint/2010/main" val="2311200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DAD704A-D3BD-ADCB-5E35-716F612A2533}"/>
              </a:ext>
            </a:extLst>
          </p:cNvPr>
          <p:cNvSpPr>
            <a:spLocks noGrp="1"/>
          </p:cNvSpPr>
          <p:nvPr>
            <p:ph type="dt" sz="half" idx="10"/>
          </p:nvPr>
        </p:nvSpPr>
        <p:spPr/>
        <p:txBody>
          <a:bodyPr/>
          <a:lstStyle>
            <a:lvl1pPr>
              <a:defRPr/>
            </a:lvl1pPr>
          </a:lstStyle>
          <a:p>
            <a:pPr>
              <a:defRPr/>
            </a:pPr>
            <a:fld id="{FF65AA49-4072-B942-A077-B2CF7AF119EE}" type="datetimeFigureOut">
              <a:rPr lang="en-US"/>
              <a:pPr>
                <a:defRPr/>
              </a:pPr>
              <a:t>2/22/2025</a:t>
            </a:fld>
            <a:endParaRPr lang="en-US"/>
          </a:p>
        </p:txBody>
      </p:sp>
      <p:sp>
        <p:nvSpPr>
          <p:cNvPr id="6" name="Footer Placeholder 4">
            <a:extLst>
              <a:ext uri="{FF2B5EF4-FFF2-40B4-BE49-F238E27FC236}">
                <a16:creationId xmlns:a16="http://schemas.microsoft.com/office/drawing/2014/main" id="{74DA77CB-A14A-3F2C-F301-2A34DF82018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DCB14CD-8F32-2646-6A81-ED03D8200B1D}"/>
              </a:ext>
            </a:extLst>
          </p:cNvPr>
          <p:cNvSpPr>
            <a:spLocks noGrp="1"/>
          </p:cNvSpPr>
          <p:nvPr>
            <p:ph type="sldNum" sz="quarter" idx="12"/>
          </p:nvPr>
        </p:nvSpPr>
        <p:spPr/>
        <p:txBody>
          <a:bodyPr/>
          <a:lstStyle>
            <a:lvl1pPr>
              <a:defRPr/>
            </a:lvl1pPr>
          </a:lstStyle>
          <a:p>
            <a:pPr>
              <a:defRPr/>
            </a:pPr>
            <a:fld id="{C2886F02-4DAE-C14A-91D4-CB9CD3D2EE07}" type="slidenum">
              <a:rPr lang="en-US" altLang="en-US"/>
              <a:pPr>
                <a:defRPr/>
              </a:pPr>
              <a:t>‹#›</a:t>
            </a:fld>
            <a:endParaRPr lang="en-US" altLang="en-US"/>
          </a:p>
        </p:txBody>
      </p:sp>
    </p:spTree>
    <p:extLst>
      <p:ext uri="{BB962C8B-B14F-4D97-AF65-F5344CB8AC3E}">
        <p14:creationId xmlns:p14="http://schemas.microsoft.com/office/powerpoint/2010/main" val="1541826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D8CA3-532C-B6EB-8758-0B745E2D4CAD}"/>
              </a:ext>
            </a:extLst>
          </p:cNvPr>
          <p:cNvSpPr>
            <a:spLocks noGrp="1"/>
          </p:cNvSpPr>
          <p:nvPr>
            <p:ph type="dt" sz="half" idx="10"/>
          </p:nvPr>
        </p:nvSpPr>
        <p:spPr/>
        <p:txBody>
          <a:bodyPr/>
          <a:lstStyle>
            <a:lvl1pPr>
              <a:defRPr/>
            </a:lvl1pPr>
          </a:lstStyle>
          <a:p>
            <a:pPr>
              <a:defRPr/>
            </a:pPr>
            <a:fld id="{B4F215BD-5FD9-004A-A375-C175D2559F60}" type="datetimeFigureOut">
              <a:rPr lang="en-US"/>
              <a:pPr>
                <a:defRPr/>
              </a:pPr>
              <a:t>2/22/2025</a:t>
            </a:fld>
            <a:endParaRPr lang="en-US"/>
          </a:p>
        </p:txBody>
      </p:sp>
      <p:sp>
        <p:nvSpPr>
          <p:cNvPr id="5" name="Footer Placeholder 4">
            <a:extLst>
              <a:ext uri="{FF2B5EF4-FFF2-40B4-BE49-F238E27FC236}">
                <a16:creationId xmlns:a16="http://schemas.microsoft.com/office/drawing/2014/main" id="{B2F94014-4213-323B-49CB-CB34050DC1B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95EBB1-78FB-59BD-218C-2A0CE5AD10AC}"/>
              </a:ext>
            </a:extLst>
          </p:cNvPr>
          <p:cNvSpPr>
            <a:spLocks noGrp="1"/>
          </p:cNvSpPr>
          <p:nvPr>
            <p:ph type="sldNum" sz="quarter" idx="12"/>
          </p:nvPr>
        </p:nvSpPr>
        <p:spPr/>
        <p:txBody>
          <a:bodyPr/>
          <a:lstStyle>
            <a:lvl1pPr>
              <a:defRPr/>
            </a:lvl1pPr>
          </a:lstStyle>
          <a:p>
            <a:pPr>
              <a:defRPr/>
            </a:pPr>
            <a:fld id="{EFDEFCBE-9908-4948-A82A-6FAD9A8CC871}" type="slidenum">
              <a:rPr lang="en-US" altLang="en-US"/>
              <a:pPr>
                <a:defRPr/>
              </a:pPr>
              <a:t>‹#›</a:t>
            </a:fld>
            <a:endParaRPr lang="en-US" altLang="en-US"/>
          </a:p>
        </p:txBody>
      </p:sp>
    </p:spTree>
    <p:extLst>
      <p:ext uri="{BB962C8B-B14F-4D97-AF65-F5344CB8AC3E}">
        <p14:creationId xmlns:p14="http://schemas.microsoft.com/office/powerpoint/2010/main" val="39007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7597AB-2F5F-F5B0-238D-B23B40FACA38}"/>
              </a:ext>
            </a:extLst>
          </p:cNvPr>
          <p:cNvSpPr>
            <a:spLocks noGrp="1"/>
          </p:cNvSpPr>
          <p:nvPr>
            <p:ph type="dt" sz="half" idx="10"/>
          </p:nvPr>
        </p:nvSpPr>
        <p:spPr/>
        <p:txBody>
          <a:bodyPr/>
          <a:lstStyle>
            <a:lvl1pPr>
              <a:defRPr/>
            </a:lvl1pPr>
          </a:lstStyle>
          <a:p>
            <a:pPr>
              <a:defRPr/>
            </a:pPr>
            <a:fld id="{51176AF4-721E-3C4B-87C2-67B79433B371}" type="datetimeFigureOut">
              <a:rPr lang="en-US"/>
              <a:pPr>
                <a:defRPr/>
              </a:pPr>
              <a:t>2/22/2025</a:t>
            </a:fld>
            <a:endParaRPr lang="en-US"/>
          </a:p>
        </p:txBody>
      </p:sp>
      <p:sp>
        <p:nvSpPr>
          <p:cNvPr id="5" name="Footer Placeholder 4">
            <a:extLst>
              <a:ext uri="{FF2B5EF4-FFF2-40B4-BE49-F238E27FC236}">
                <a16:creationId xmlns:a16="http://schemas.microsoft.com/office/drawing/2014/main" id="{9D203D4E-4F18-BD12-16CF-00BA9B802DB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544EDBB-A0EF-389E-6D30-B01C02F32D19}"/>
              </a:ext>
            </a:extLst>
          </p:cNvPr>
          <p:cNvSpPr>
            <a:spLocks noGrp="1"/>
          </p:cNvSpPr>
          <p:nvPr>
            <p:ph type="sldNum" sz="quarter" idx="12"/>
          </p:nvPr>
        </p:nvSpPr>
        <p:spPr/>
        <p:txBody>
          <a:bodyPr/>
          <a:lstStyle>
            <a:lvl1pPr>
              <a:defRPr/>
            </a:lvl1pPr>
          </a:lstStyle>
          <a:p>
            <a:pPr>
              <a:defRPr/>
            </a:pPr>
            <a:fld id="{6A2BBA9E-E1A0-B541-9B59-1AD762806CBE}" type="slidenum">
              <a:rPr lang="en-US" altLang="en-US"/>
              <a:pPr>
                <a:defRPr/>
              </a:pPr>
              <a:t>‹#›</a:t>
            </a:fld>
            <a:endParaRPr lang="en-US" altLang="en-US"/>
          </a:p>
        </p:txBody>
      </p:sp>
    </p:spTree>
    <p:extLst>
      <p:ext uri="{BB962C8B-B14F-4D97-AF65-F5344CB8AC3E}">
        <p14:creationId xmlns:p14="http://schemas.microsoft.com/office/powerpoint/2010/main" val="355342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36EC597-CC27-6A5B-84FF-CB4399FD160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19388BE-C252-7822-34B3-E2207D739E0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6354A5A-9F0A-94E7-D8F1-BC7208EABC8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781E9CE1-659F-5B4F-B31F-467952A74887}" type="datetimeFigureOut">
              <a:rPr lang="en-US"/>
              <a:pPr>
                <a:defRPr/>
              </a:pPr>
              <a:t>2/22/2025</a:t>
            </a:fld>
            <a:endParaRPr lang="en-US"/>
          </a:p>
        </p:txBody>
      </p:sp>
      <p:sp>
        <p:nvSpPr>
          <p:cNvPr id="5" name="Footer Placeholder 4">
            <a:extLst>
              <a:ext uri="{FF2B5EF4-FFF2-40B4-BE49-F238E27FC236}">
                <a16:creationId xmlns:a16="http://schemas.microsoft.com/office/drawing/2014/main" id="{C8A9920A-941C-CD99-E687-D290842D60B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8F97CB3C-7F54-0B37-22AD-6DB5410C1EB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F288F941-4A9A-6845-8F7D-6B893A09CAD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a:extLst>
              <a:ext uri="{FF2B5EF4-FFF2-40B4-BE49-F238E27FC236}">
                <a16:creationId xmlns:a16="http://schemas.microsoft.com/office/drawing/2014/main" id="{6F7982D2-001C-0AA1-4FC9-F7C2C77EAADB}"/>
              </a:ext>
            </a:extLst>
          </p:cNvPr>
          <p:cNvSpPr>
            <a:spLocks noGrp="1"/>
          </p:cNvSpPr>
          <p:nvPr>
            <p:ph type="ctr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Module 4: Design Concepts</a:t>
            </a:r>
          </a:p>
        </p:txBody>
      </p:sp>
      <p:sp>
        <p:nvSpPr>
          <p:cNvPr id="3" name="Subtitle 2">
            <a:extLst>
              <a:ext uri="{FF2B5EF4-FFF2-40B4-BE49-F238E27FC236}">
                <a16:creationId xmlns:a16="http://schemas.microsoft.com/office/drawing/2014/main" id="{188B3C40-12EA-354A-983E-764C5B20F415}"/>
              </a:ext>
            </a:extLst>
          </p:cNvPr>
          <p:cNvSpPr>
            <a:spLocks noGrp="1"/>
          </p:cNvSpPr>
          <p:nvPr>
            <p:ph type="subTitle" idx="1"/>
          </p:nvPr>
        </p:nvSpPr>
        <p:spPr/>
        <p:txBody>
          <a:bodyPr rtlCol="0">
            <a:normAutofit/>
          </a:bodyPr>
          <a:lstStyle/>
          <a:p>
            <a:pPr eaLnBrk="1" fontAlgn="auto" hangingPunct="1">
              <a:spcAft>
                <a:spcPts val="0"/>
              </a:spcAft>
              <a:defRPr/>
            </a:pPr>
            <a:r>
              <a:rPr lang="en-US" dirty="0"/>
              <a:t>Roger S Pressman </a:t>
            </a:r>
          </a:p>
          <a:p>
            <a:pPr eaLnBrk="1" fontAlgn="auto" hangingPunct="1">
              <a:spcAft>
                <a:spcPts val="0"/>
              </a:spcAft>
              <a:defRPr/>
            </a:pPr>
            <a:r>
              <a:rPr lang="en-US" dirty="0"/>
              <a:t>Chapter 8 &amp; 9</a:t>
            </a:r>
          </a:p>
        </p:txBody>
      </p:sp>
      <p:sp>
        <p:nvSpPr>
          <p:cNvPr id="2" name="TextBox 1">
            <a:extLst>
              <a:ext uri="{FF2B5EF4-FFF2-40B4-BE49-F238E27FC236}">
                <a16:creationId xmlns:a16="http://schemas.microsoft.com/office/drawing/2014/main" id="{D69BE411-D2FB-8E6E-E0BD-9FF697CB911A}"/>
              </a:ext>
            </a:extLst>
          </p:cNvPr>
          <p:cNvSpPr txBox="1"/>
          <p:nvPr/>
        </p:nvSpPr>
        <p:spPr>
          <a:xfrm>
            <a:off x="3810000" y="6400800"/>
            <a:ext cx="5562600" cy="646331"/>
          </a:xfrm>
          <a:prstGeom prst="rect">
            <a:avLst/>
          </a:prstGeom>
          <a:noFill/>
        </p:spPr>
        <p:txBody>
          <a:bodyPr wrap="square" rtlCol="0">
            <a:spAutoFit/>
          </a:bodyPr>
          <a:lstStyle/>
          <a:p>
            <a:r>
              <a:rPr lang="en-US" dirty="0"/>
              <a:t>- Dr. Samriddhi Sarkar, SCOPE, VIT Vellore</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299EA-54A8-2285-0C9F-D63FB5D5D643}"/>
              </a:ext>
            </a:extLst>
          </p:cNvPr>
          <p:cNvSpPr>
            <a:spLocks noGrp="1"/>
          </p:cNvSpPr>
          <p:nvPr>
            <p:ph type="title"/>
          </p:nvPr>
        </p:nvSpPr>
        <p:spPr/>
        <p:txBody>
          <a:bodyPr/>
          <a:lstStyle/>
          <a:p>
            <a:pPr algn="l"/>
            <a:r>
              <a:rPr lang="en-IN" dirty="0"/>
              <a:t>Contents</a:t>
            </a:r>
          </a:p>
        </p:txBody>
      </p:sp>
      <p:sp>
        <p:nvSpPr>
          <p:cNvPr id="3" name="Content Placeholder 2">
            <a:extLst>
              <a:ext uri="{FF2B5EF4-FFF2-40B4-BE49-F238E27FC236}">
                <a16:creationId xmlns:a16="http://schemas.microsoft.com/office/drawing/2014/main" id="{C50CCDCE-0218-08EB-21DD-19861DD2A2B2}"/>
              </a:ext>
            </a:extLst>
          </p:cNvPr>
          <p:cNvSpPr>
            <a:spLocks noGrp="1"/>
          </p:cNvSpPr>
          <p:nvPr>
            <p:ph idx="1"/>
          </p:nvPr>
        </p:nvSpPr>
        <p:spPr/>
        <p:txBody>
          <a:bodyPr/>
          <a:lstStyle/>
          <a:p>
            <a:r>
              <a:rPr lang="en-IN" sz="1800" b="0" i="0" u="none" strike="noStrike" baseline="0" dirty="0">
                <a:latin typeface="CIDFont+F2"/>
              </a:rPr>
              <a:t>Design concepts and principles - Abstraction - Refinement - Modularity (Cohesion coupling)</a:t>
            </a:r>
          </a:p>
          <a:p>
            <a:pPr algn="l"/>
            <a:r>
              <a:rPr lang="en-US" sz="1800" b="0" i="0" u="none" strike="noStrike" baseline="0" dirty="0">
                <a:latin typeface="CIDFont+F2"/>
              </a:rPr>
              <a:t>Architectural design, </a:t>
            </a:r>
          </a:p>
          <a:p>
            <a:pPr algn="l"/>
            <a:r>
              <a:rPr lang="en-US" sz="1800" b="0" i="0" u="none" strike="noStrike" baseline="0" dirty="0">
                <a:latin typeface="CIDFont+F2"/>
              </a:rPr>
              <a:t>Detailed Design </a:t>
            </a:r>
          </a:p>
          <a:p>
            <a:pPr algn="l"/>
            <a:r>
              <a:rPr lang="en-US" sz="1800" b="0" i="0" u="none" strike="noStrike" baseline="0" dirty="0">
                <a:latin typeface="CIDFont+F2"/>
              </a:rPr>
              <a:t>Transaction Transformation, </a:t>
            </a:r>
          </a:p>
          <a:p>
            <a:pPr algn="l"/>
            <a:r>
              <a:rPr lang="en-US" sz="1800" b="0" i="0" u="none" strike="noStrike" baseline="0" dirty="0">
                <a:latin typeface="CIDFont+F2"/>
              </a:rPr>
              <a:t>Refactoring of designs,</a:t>
            </a:r>
          </a:p>
          <a:p>
            <a:pPr algn="l"/>
            <a:r>
              <a:rPr lang="en-US" sz="1800" b="0" i="0" u="none" strike="noStrike" baseline="0" dirty="0">
                <a:latin typeface="CIDFont+F2"/>
              </a:rPr>
              <a:t>Object oriented Design User-Interface Design</a:t>
            </a:r>
            <a:endParaRPr lang="en-IN" dirty="0"/>
          </a:p>
        </p:txBody>
      </p:sp>
    </p:spTree>
    <p:extLst>
      <p:ext uri="{BB962C8B-B14F-4D97-AF65-F5344CB8AC3E}">
        <p14:creationId xmlns:p14="http://schemas.microsoft.com/office/powerpoint/2010/main" val="2720212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E26B6378-3D5E-6C68-3D62-B4F2A198FFFF}"/>
              </a:ext>
            </a:extLst>
          </p:cNvPr>
          <p:cNvSpPr>
            <a:spLocks noGrp="1"/>
          </p:cNvSpPr>
          <p:nvPr>
            <p:ph type="title"/>
          </p:nvPr>
        </p:nvSpPr>
        <p:spPr>
          <a:xfrm>
            <a:off x="457200" y="228600"/>
            <a:ext cx="8229600" cy="609600"/>
          </a:xfrm>
        </p:spPr>
        <p:txBody>
          <a:bodyPr/>
          <a:lstStyle/>
          <a:p>
            <a:pPr eaLnBrk="1" hangingPunct="1"/>
            <a:r>
              <a:rPr lang="en-US" altLang="en-US" dirty="0">
                <a:latin typeface="Times New Roman" panose="02020603050405020304" pitchFamily="18" charset="0"/>
                <a:cs typeface="Times New Roman" panose="02020603050405020304" pitchFamily="18" charset="0"/>
              </a:rPr>
              <a:t>Design Principles</a:t>
            </a:r>
          </a:p>
        </p:txBody>
      </p:sp>
      <p:sp>
        <p:nvSpPr>
          <p:cNvPr id="14338" name="Content Placeholder 2">
            <a:extLst>
              <a:ext uri="{FF2B5EF4-FFF2-40B4-BE49-F238E27FC236}">
                <a16:creationId xmlns:a16="http://schemas.microsoft.com/office/drawing/2014/main" id="{4519E603-DE5A-5CF7-6ED2-B090CE5CA856}"/>
              </a:ext>
            </a:extLst>
          </p:cNvPr>
          <p:cNvSpPr>
            <a:spLocks noGrp="1"/>
          </p:cNvSpPr>
          <p:nvPr>
            <p:ph idx="1"/>
          </p:nvPr>
        </p:nvSpPr>
        <p:spPr>
          <a:xfrm>
            <a:off x="457200" y="1219200"/>
            <a:ext cx="8229600" cy="4906963"/>
          </a:xfrm>
        </p:spPr>
        <p:txBody>
          <a:bodyPr/>
          <a:lstStyle/>
          <a:p>
            <a:pPr algn="just" eaLnBrk="1" hangingPunct="1"/>
            <a:r>
              <a:rPr lang="en-US" sz="2800" dirty="0"/>
              <a:t>Software Design is the process of </a:t>
            </a:r>
            <a:r>
              <a:rPr lang="en-US" sz="2800" dirty="0">
                <a:solidFill>
                  <a:srgbClr val="FF0000"/>
                </a:solidFill>
              </a:rPr>
              <a:t>transforming</a:t>
            </a:r>
            <a:r>
              <a:rPr lang="en-US" sz="2800" dirty="0"/>
              <a:t> </a:t>
            </a:r>
            <a:r>
              <a:rPr lang="en-US" sz="2800" dirty="0">
                <a:solidFill>
                  <a:srgbClr val="FF0000"/>
                </a:solidFill>
              </a:rPr>
              <a:t>user requirements</a:t>
            </a:r>
            <a:r>
              <a:rPr lang="en-US" sz="2800" dirty="0"/>
              <a:t> into a </a:t>
            </a:r>
            <a:r>
              <a:rPr lang="en-US" sz="2800" dirty="0">
                <a:solidFill>
                  <a:srgbClr val="FF0000"/>
                </a:solidFill>
              </a:rPr>
              <a:t>suitable form</a:t>
            </a:r>
            <a:r>
              <a:rPr lang="en-US" sz="2800" dirty="0"/>
              <a:t>, which helps the programmer in software coding and implementation. </a:t>
            </a:r>
          </a:p>
          <a:p>
            <a:pPr algn="just" eaLnBrk="1" hangingPunct="1"/>
            <a:r>
              <a:rPr lang="en-US" sz="2800" dirty="0"/>
              <a:t>the design document is produced, based on the customer requirements as documented in the SRS document. Hence, </a:t>
            </a:r>
          </a:p>
          <a:p>
            <a:pPr marL="0" indent="0" algn="just" eaLnBrk="1" hangingPunct="1">
              <a:buNone/>
            </a:pPr>
            <a:r>
              <a:rPr lang="en-US" b="1" dirty="0">
                <a:solidFill>
                  <a:srgbClr val="FF0000"/>
                </a:solidFill>
              </a:rPr>
              <a:t>This phase aims to transform the SRS document into a design document.</a:t>
            </a:r>
          </a:p>
          <a:p>
            <a:pPr marL="0" indent="0" algn="just" eaLnBrk="1" hangingPunct="1">
              <a:buNone/>
            </a:pPr>
            <a:r>
              <a:rPr lang="en-US" altLang="en-US" sz="2400" dirty="0">
                <a:latin typeface="Times New Roman" panose="02020603050405020304" pitchFamily="18" charset="0"/>
                <a:cs typeface="Times New Roman" panose="02020603050405020304" pitchFamily="18" charset="0"/>
              </a:rPr>
              <a:t>software design is the </a:t>
            </a:r>
            <a:r>
              <a:rPr lang="en-US" altLang="en-US" sz="2400" dirty="0">
                <a:solidFill>
                  <a:srgbClr val="FF0000"/>
                </a:solidFill>
                <a:latin typeface="Times New Roman" panose="02020603050405020304" pitchFamily="18" charset="0"/>
                <a:cs typeface="Times New Roman" panose="02020603050405020304" pitchFamily="18" charset="0"/>
              </a:rPr>
              <a:t>last action within the modeling activity </a:t>
            </a:r>
            <a:r>
              <a:rPr lang="en-US" altLang="en-US" sz="2400" dirty="0">
                <a:latin typeface="Times New Roman" panose="02020603050405020304" pitchFamily="18" charset="0"/>
                <a:cs typeface="Times New Roman" panose="02020603050405020304" pitchFamily="18" charset="0"/>
              </a:rPr>
              <a:t>and sets the stage for construction (code generation and testing).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63E6-D0E2-C50D-2D0A-3C7D1916796B}"/>
              </a:ext>
            </a:extLst>
          </p:cNvPr>
          <p:cNvSpPr>
            <a:spLocks noGrp="1"/>
          </p:cNvSpPr>
          <p:nvPr>
            <p:ph type="title"/>
          </p:nvPr>
        </p:nvSpPr>
        <p:spPr>
          <a:xfrm>
            <a:off x="457200" y="274638"/>
            <a:ext cx="8229600" cy="639762"/>
          </a:xfrm>
        </p:spPr>
        <p:txBody>
          <a:bodyPr/>
          <a:lstStyle/>
          <a:p>
            <a:pPr algn="l"/>
            <a:r>
              <a:rPr lang="en-IN" dirty="0" err="1"/>
              <a:t>Contd</a:t>
            </a:r>
            <a:r>
              <a:rPr lang="en-IN" dirty="0"/>
              <a:t>…</a:t>
            </a:r>
          </a:p>
        </p:txBody>
      </p:sp>
      <p:sp>
        <p:nvSpPr>
          <p:cNvPr id="3" name="Content Placeholder 2">
            <a:extLst>
              <a:ext uri="{FF2B5EF4-FFF2-40B4-BE49-F238E27FC236}">
                <a16:creationId xmlns:a16="http://schemas.microsoft.com/office/drawing/2014/main" id="{3D4FFBC9-5D4F-1AA7-7776-607820268C73}"/>
              </a:ext>
            </a:extLst>
          </p:cNvPr>
          <p:cNvSpPr>
            <a:spLocks noGrp="1"/>
          </p:cNvSpPr>
          <p:nvPr>
            <p:ph idx="1"/>
          </p:nvPr>
        </p:nvSpPr>
        <p:spPr>
          <a:xfrm>
            <a:off x="266700" y="1143000"/>
            <a:ext cx="8610600" cy="4906963"/>
          </a:xfrm>
        </p:spPr>
        <p:txBody>
          <a:bodyPr/>
          <a:lstStyle/>
          <a:p>
            <a:pPr marL="0" indent="0">
              <a:buNone/>
            </a:pPr>
            <a:r>
              <a:rPr lang="en-US" dirty="0"/>
              <a:t>The following items are designed and documented during the design phase: </a:t>
            </a:r>
          </a:p>
          <a:p>
            <a:r>
              <a:rPr lang="en-US" dirty="0"/>
              <a:t>Different </a:t>
            </a:r>
            <a:r>
              <a:rPr lang="en-US" dirty="0">
                <a:solidFill>
                  <a:srgbClr val="FF0000"/>
                </a:solidFill>
              </a:rPr>
              <a:t>modules</a:t>
            </a:r>
            <a:r>
              <a:rPr lang="en-US" dirty="0"/>
              <a:t> are required.</a:t>
            </a:r>
          </a:p>
          <a:p>
            <a:r>
              <a:rPr lang="en-US" dirty="0"/>
              <a:t>Control </a:t>
            </a:r>
            <a:r>
              <a:rPr lang="en-US" dirty="0">
                <a:solidFill>
                  <a:srgbClr val="FF0000"/>
                </a:solidFill>
              </a:rPr>
              <a:t>relationships</a:t>
            </a:r>
            <a:r>
              <a:rPr lang="en-US" dirty="0"/>
              <a:t> among modules.</a:t>
            </a:r>
          </a:p>
          <a:p>
            <a:r>
              <a:rPr lang="en-US" dirty="0">
                <a:solidFill>
                  <a:srgbClr val="FF0000"/>
                </a:solidFill>
              </a:rPr>
              <a:t>Interface</a:t>
            </a:r>
            <a:r>
              <a:rPr lang="en-US" dirty="0"/>
              <a:t> among different modules.</a:t>
            </a:r>
          </a:p>
          <a:p>
            <a:r>
              <a:rPr lang="en-US" dirty="0">
                <a:solidFill>
                  <a:srgbClr val="FF0000"/>
                </a:solidFill>
              </a:rPr>
              <a:t>Data structure</a:t>
            </a:r>
            <a:r>
              <a:rPr lang="en-US" dirty="0"/>
              <a:t> among the different modules.</a:t>
            </a:r>
          </a:p>
          <a:p>
            <a:r>
              <a:rPr lang="en-US" dirty="0">
                <a:solidFill>
                  <a:srgbClr val="FF0000"/>
                </a:solidFill>
              </a:rPr>
              <a:t>Algorithms</a:t>
            </a:r>
            <a:r>
              <a:rPr lang="en-US" dirty="0"/>
              <a:t> are required to be implemented among the individual modules.</a:t>
            </a:r>
          </a:p>
          <a:p>
            <a:endParaRPr lang="en-IN" dirty="0"/>
          </a:p>
        </p:txBody>
      </p:sp>
    </p:spTree>
    <p:extLst>
      <p:ext uri="{BB962C8B-B14F-4D97-AF65-F5344CB8AC3E}">
        <p14:creationId xmlns:p14="http://schemas.microsoft.com/office/powerpoint/2010/main" val="50781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15898-F687-3989-D0EE-9A2BF7447B2B}"/>
              </a:ext>
            </a:extLst>
          </p:cNvPr>
          <p:cNvSpPr>
            <a:spLocks noGrp="1"/>
          </p:cNvSpPr>
          <p:nvPr>
            <p:ph type="title"/>
          </p:nvPr>
        </p:nvSpPr>
        <p:spPr>
          <a:xfrm>
            <a:off x="457200" y="274638"/>
            <a:ext cx="8229600" cy="868362"/>
          </a:xfrm>
        </p:spPr>
        <p:txBody>
          <a:bodyPr/>
          <a:lstStyle/>
          <a:p>
            <a:pPr algn="l"/>
            <a:r>
              <a:rPr lang="en-IN" dirty="0" err="1"/>
              <a:t>Contd</a:t>
            </a:r>
            <a:r>
              <a:rPr lang="en-IN" dirty="0"/>
              <a:t>…</a:t>
            </a:r>
          </a:p>
        </p:txBody>
      </p:sp>
      <p:sp>
        <p:nvSpPr>
          <p:cNvPr id="3" name="Content Placeholder 2">
            <a:extLst>
              <a:ext uri="{FF2B5EF4-FFF2-40B4-BE49-F238E27FC236}">
                <a16:creationId xmlns:a16="http://schemas.microsoft.com/office/drawing/2014/main" id="{41D01697-8A50-6D36-2C3E-36CE6D663D40}"/>
              </a:ext>
            </a:extLst>
          </p:cNvPr>
          <p:cNvSpPr>
            <a:spLocks noGrp="1"/>
          </p:cNvSpPr>
          <p:nvPr>
            <p:ph idx="1"/>
          </p:nvPr>
        </p:nvSpPr>
        <p:spPr>
          <a:xfrm>
            <a:off x="457200" y="1447800"/>
            <a:ext cx="8229600" cy="4678363"/>
          </a:xfrm>
        </p:spPr>
        <p:txBody>
          <a:bodyPr/>
          <a:lstStyle/>
          <a:p>
            <a:pPr marL="0" indent="0" rtl="0">
              <a:buNone/>
            </a:pPr>
            <a:r>
              <a:rPr lang="en-US" dirty="0"/>
              <a:t>The software design process can be divided into the following </a:t>
            </a:r>
            <a:r>
              <a:rPr lang="en-US" dirty="0">
                <a:solidFill>
                  <a:srgbClr val="FF0000"/>
                </a:solidFill>
              </a:rPr>
              <a:t>four-levels </a:t>
            </a:r>
            <a:r>
              <a:rPr lang="en-US" dirty="0"/>
              <a:t>or phases of design:</a:t>
            </a:r>
          </a:p>
          <a:p>
            <a:pPr>
              <a:buFont typeface="+mj-lt"/>
              <a:buAutoNum type="arabicPeriod"/>
            </a:pPr>
            <a:r>
              <a:rPr lang="en-US" dirty="0"/>
              <a:t>Interface Design</a:t>
            </a:r>
          </a:p>
          <a:p>
            <a:pPr>
              <a:buFont typeface="+mj-lt"/>
              <a:buAutoNum type="arabicPeriod" startAt="2"/>
            </a:pPr>
            <a:r>
              <a:rPr lang="en-US" dirty="0"/>
              <a:t>Architectural Design</a:t>
            </a:r>
          </a:p>
          <a:p>
            <a:pPr>
              <a:buFont typeface="+mj-lt"/>
              <a:buAutoNum type="arabicPeriod" startAt="2"/>
            </a:pPr>
            <a:r>
              <a:rPr lang="en-US" dirty="0"/>
              <a:t>Data/Class Design</a:t>
            </a:r>
          </a:p>
          <a:p>
            <a:pPr>
              <a:buFont typeface="+mj-lt"/>
              <a:buAutoNum type="arabicPeriod" startAt="2"/>
            </a:pPr>
            <a:r>
              <a:rPr lang="en-US" dirty="0"/>
              <a:t>Component-Level Design</a:t>
            </a:r>
          </a:p>
          <a:p>
            <a:endParaRPr lang="en-IN" dirty="0"/>
          </a:p>
        </p:txBody>
      </p:sp>
    </p:spTree>
    <p:extLst>
      <p:ext uri="{BB962C8B-B14F-4D97-AF65-F5344CB8AC3E}">
        <p14:creationId xmlns:p14="http://schemas.microsoft.com/office/powerpoint/2010/main" val="3030192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87DAF-8F63-B902-A389-6776DA12B596}"/>
              </a:ext>
            </a:extLst>
          </p:cNvPr>
          <p:cNvSpPr>
            <a:spLocks noGrp="1"/>
          </p:cNvSpPr>
          <p:nvPr>
            <p:ph type="title"/>
          </p:nvPr>
        </p:nvSpPr>
        <p:spPr/>
        <p:txBody>
          <a:bodyPr/>
          <a:lstStyle/>
          <a:p>
            <a:pPr algn="l"/>
            <a:r>
              <a:rPr lang="en-US" dirty="0"/>
              <a:t>Translating the requirements model into the design model</a:t>
            </a:r>
            <a:endParaRPr lang="en-IN" dirty="0"/>
          </a:p>
        </p:txBody>
      </p:sp>
      <p:pic>
        <p:nvPicPr>
          <p:cNvPr id="5" name="Content Placeholder 4">
            <a:extLst>
              <a:ext uri="{FF2B5EF4-FFF2-40B4-BE49-F238E27FC236}">
                <a16:creationId xmlns:a16="http://schemas.microsoft.com/office/drawing/2014/main" id="{5AE9AB10-1BE2-50A5-B1AF-F7C4DA3D6645}"/>
              </a:ext>
            </a:extLst>
          </p:cNvPr>
          <p:cNvPicPr>
            <a:picLocks noGrp="1" noChangeAspect="1"/>
          </p:cNvPicPr>
          <p:nvPr>
            <p:ph idx="1"/>
          </p:nvPr>
        </p:nvPicPr>
        <p:blipFill>
          <a:blip r:embed="rId2"/>
          <a:stretch>
            <a:fillRect/>
          </a:stretch>
        </p:blipFill>
        <p:spPr>
          <a:xfrm>
            <a:off x="0" y="1524000"/>
            <a:ext cx="9144000" cy="5486400"/>
          </a:xfrm>
        </p:spPr>
      </p:pic>
    </p:spTree>
    <p:extLst>
      <p:ext uri="{BB962C8B-B14F-4D97-AF65-F5344CB8AC3E}">
        <p14:creationId xmlns:p14="http://schemas.microsoft.com/office/powerpoint/2010/main" val="337995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20D9C-435A-8EDD-6263-2FD6C251F144}"/>
              </a:ext>
            </a:extLst>
          </p:cNvPr>
          <p:cNvSpPr>
            <a:spLocks noGrp="1"/>
          </p:cNvSpPr>
          <p:nvPr>
            <p:ph type="title"/>
          </p:nvPr>
        </p:nvSpPr>
        <p:spPr>
          <a:xfrm>
            <a:off x="457200" y="274638"/>
            <a:ext cx="8229600" cy="563562"/>
          </a:xfrm>
        </p:spPr>
        <p:txBody>
          <a:bodyPr/>
          <a:lstStyle/>
          <a:p>
            <a:pPr algn="l"/>
            <a:r>
              <a:rPr lang="en-IN" dirty="0"/>
              <a:t>Objectives of Software Design</a:t>
            </a:r>
          </a:p>
        </p:txBody>
      </p:sp>
      <p:sp>
        <p:nvSpPr>
          <p:cNvPr id="3" name="Content Placeholder 2">
            <a:extLst>
              <a:ext uri="{FF2B5EF4-FFF2-40B4-BE49-F238E27FC236}">
                <a16:creationId xmlns:a16="http://schemas.microsoft.com/office/drawing/2014/main" id="{4DAAB068-A183-D182-4E08-539FCE125721}"/>
              </a:ext>
            </a:extLst>
          </p:cNvPr>
          <p:cNvSpPr>
            <a:spLocks noGrp="1"/>
          </p:cNvSpPr>
          <p:nvPr>
            <p:ph idx="1"/>
          </p:nvPr>
        </p:nvSpPr>
        <p:spPr>
          <a:xfrm>
            <a:off x="457200" y="1295400"/>
            <a:ext cx="8229600" cy="4830763"/>
          </a:xfrm>
        </p:spPr>
        <p:txBody>
          <a:bodyPr/>
          <a:lstStyle/>
          <a:p>
            <a:r>
              <a:rPr lang="en-US" sz="2400" dirty="0">
                <a:solidFill>
                  <a:srgbClr val="FF0000"/>
                </a:solidFill>
              </a:rPr>
              <a:t>Correctness:</a:t>
            </a:r>
            <a:r>
              <a:rPr lang="en-US" sz="2400" dirty="0"/>
              <a:t> it should correctly implement all the functionalities of the system.</a:t>
            </a:r>
          </a:p>
          <a:p>
            <a:r>
              <a:rPr lang="en-US" sz="2400" dirty="0">
                <a:solidFill>
                  <a:srgbClr val="FF0000"/>
                </a:solidFill>
              </a:rPr>
              <a:t>Efficiency:</a:t>
            </a:r>
            <a:r>
              <a:rPr lang="en-US" sz="2400" dirty="0"/>
              <a:t> resources, time, and cost optimization issues.</a:t>
            </a:r>
          </a:p>
          <a:p>
            <a:r>
              <a:rPr lang="en-US" sz="2400" dirty="0">
                <a:solidFill>
                  <a:srgbClr val="FF0000"/>
                </a:solidFill>
              </a:rPr>
              <a:t>Flexibility:</a:t>
            </a:r>
            <a:r>
              <a:rPr lang="en-US" sz="2400" dirty="0"/>
              <a:t> ability to adapt and accommodate changes easily.</a:t>
            </a:r>
          </a:p>
          <a:p>
            <a:r>
              <a:rPr lang="en-US" sz="2400" dirty="0">
                <a:solidFill>
                  <a:srgbClr val="FF0000"/>
                </a:solidFill>
              </a:rPr>
              <a:t>Understandability:</a:t>
            </a:r>
            <a:r>
              <a:rPr lang="en-US" sz="2400" dirty="0"/>
              <a:t> easily understandable, it should be modular, and all the modules are arranged in layers.</a:t>
            </a:r>
          </a:p>
          <a:p>
            <a:r>
              <a:rPr lang="en-US" sz="2400" dirty="0">
                <a:solidFill>
                  <a:srgbClr val="FF0000"/>
                </a:solidFill>
              </a:rPr>
              <a:t>Completeness:</a:t>
            </a:r>
            <a:r>
              <a:rPr lang="en-US" sz="2400" dirty="0"/>
              <a:t> The design should have all the components like data structures, modules, external interfaces, etc.</a:t>
            </a:r>
          </a:p>
          <a:p>
            <a:r>
              <a:rPr lang="en-US" sz="2400" dirty="0">
                <a:solidFill>
                  <a:srgbClr val="FF0000"/>
                </a:solidFill>
              </a:rPr>
              <a:t>Maintainability:</a:t>
            </a:r>
            <a:r>
              <a:rPr lang="en-US" sz="2400" dirty="0"/>
              <a:t> easy to understand, modify, and maintain over time. </a:t>
            </a:r>
            <a:endParaRPr lang="en-IN" sz="2400" dirty="0"/>
          </a:p>
        </p:txBody>
      </p:sp>
    </p:spTree>
    <p:extLst>
      <p:ext uri="{BB962C8B-B14F-4D97-AF65-F5344CB8AC3E}">
        <p14:creationId xmlns:p14="http://schemas.microsoft.com/office/powerpoint/2010/main" val="160391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9FD7-666F-56F4-823E-9B683C900948}"/>
              </a:ext>
            </a:extLst>
          </p:cNvPr>
          <p:cNvSpPr>
            <a:spLocks noGrp="1"/>
          </p:cNvSpPr>
          <p:nvPr>
            <p:ph type="title"/>
          </p:nvPr>
        </p:nvSpPr>
        <p:spPr/>
        <p:txBody>
          <a:bodyPr/>
          <a:lstStyle/>
          <a:p>
            <a:pPr algn="l"/>
            <a:r>
              <a:rPr lang="en-IN" dirty="0"/>
              <a:t>THE DESIGN PROCESS</a:t>
            </a:r>
          </a:p>
        </p:txBody>
      </p:sp>
      <p:sp>
        <p:nvSpPr>
          <p:cNvPr id="3" name="Content Placeholder 2">
            <a:extLst>
              <a:ext uri="{FF2B5EF4-FFF2-40B4-BE49-F238E27FC236}">
                <a16:creationId xmlns:a16="http://schemas.microsoft.com/office/drawing/2014/main" id="{E506BF5B-B0A4-2867-C579-20E504005CED}"/>
              </a:ext>
            </a:extLst>
          </p:cNvPr>
          <p:cNvSpPr>
            <a:spLocks noGrp="1"/>
          </p:cNvSpPr>
          <p:nvPr>
            <p:ph idx="1"/>
          </p:nvPr>
        </p:nvSpPr>
        <p:spPr/>
        <p:txBody>
          <a:bodyPr/>
          <a:lstStyle/>
          <a:p>
            <a:pPr marL="0" indent="0" algn="l">
              <a:buNone/>
            </a:pPr>
            <a:r>
              <a:rPr lang="en-US" sz="1800" b="0" i="0" u="none" strike="noStrike" baseline="0" dirty="0">
                <a:latin typeface="Leawood-Book"/>
              </a:rPr>
              <a:t>Software design is an iterative process through which requirements are translated into a “blueprint” for constructing the software. </a:t>
            </a:r>
          </a:p>
          <a:p>
            <a:pPr marL="0" indent="0" algn="l">
              <a:buNone/>
            </a:pPr>
            <a:r>
              <a:rPr lang="en-US" sz="1800" b="1" dirty="0">
                <a:solidFill>
                  <a:srgbClr val="FF0000"/>
                </a:solidFill>
                <a:latin typeface="Leawood-Book"/>
              </a:rPr>
              <a:t>1.</a:t>
            </a:r>
            <a:r>
              <a:rPr lang="en-US" sz="1800" dirty="0">
                <a:solidFill>
                  <a:srgbClr val="FF0000"/>
                </a:solidFill>
                <a:latin typeface="Leawood-Book"/>
              </a:rPr>
              <a:t> Software Quality Guidelines and Attributes: </a:t>
            </a:r>
            <a:r>
              <a:rPr lang="en-US" sz="1800" b="0" i="0" u="none" strike="noStrike" baseline="0" dirty="0">
                <a:latin typeface="Leawood-Book"/>
              </a:rPr>
              <a:t>the quality of the evolving design is assessed with a series of technical reviews discussed. </a:t>
            </a:r>
          </a:p>
          <a:p>
            <a:pPr lvl="1"/>
            <a:r>
              <a:rPr lang="en-US" sz="2000" dirty="0"/>
              <a:t>The design must </a:t>
            </a:r>
            <a:r>
              <a:rPr lang="en-US" sz="2000" dirty="0">
                <a:solidFill>
                  <a:srgbClr val="FF0000"/>
                </a:solidFill>
              </a:rPr>
              <a:t>implement</a:t>
            </a:r>
            <a:r>
              <a:rPr lang="en-US" sz="2000" dirty="0"/>
              <a:t> all of the </a:t>
            </a:r>
            <a:r>
              <a:rPr lang="en-US" sz="2000" dirty="0">
                <a:solidFill>
                  <a:srgbClr val="FF0000"/>
                </a:solidFill>
              </a:rPr>
              <a:t>explicit requirements </a:t>
            </a:r>
            <a:r>
              <a:rPr lang="en-US" sz="2000" dirty="0"/>
              <a:t>contained in the requirements model, and it must accommodate all of the </a:t>
            </a:r>
            <a:r>
              <a:rPr lang="en-US" sz="2000" dirty="0">
                <a:solidFill>
                  <a:srgbClr val="FF0000"/>
                </a:solidFill>
              </a:rPr>
              <a:t>implicit requirements desired by stakeholders</a:t>
            </a:r>
            <a:r>
              <a:rPr lang="en-US" sz="2000" dirty="0"/>
              <a:t>.</a:t>
            </a:r>
          </a:p>
          <a:p>
            <a:pPr lvl="1"/>
            <a:r>
              <a:rPr lang="en-US" sz="2000" dirty="0"/>
              <a:t>a readable understandable guide for those who generate code and for those who test and subsequently support the software.</a:t>
            </a:r>
          </a:p>
          <a:p>
            <a:pPr lvl="1"/>
            <a:r>
              <a:rPr lang="en-US" sz="2000" dirty="0"/>
              <a:t>a </a:t>
            </a:r>
            <a:r>
              <a:rPr lang="en-US" sz="2000" dirty="0">
                <a:solidFill>
                  <a:srgbClr val="FF0000"/>
                </a:solidFill>
              </a:rPr>
              <a:t>complete picture of the software</a:t>
            </a:r>
            <a:r>
              <a:rPr lang="en-US" sz="2000" dirty="0"/>
              <a:t>, addressing the </a:t>
            </a:r>
            <a:r>
              <a:rPr lang="en-US" sz="2000" dirty="0">
                <a:solidFill>
                  <a:srgbClr val="FF0000"/>
                </a:solidFill>
              </a:rPr>
              <a:t>data, functional</a:t>
            </a:r>
            <a:r>
              <a:rPr lang="en-US" sz="2000" dirty="0"/>
              <a:t>, and </a:t>
            </a:r>
            <a:r>
              <a:rPr lang="en-US" sz="2000" dirty="0">
                <a:solidFill>
                  <a:srgbClr val="FF0000"/>
                </a:solidFill>
              </a:rPr>
              <a:t>behavioral</a:t>
            </a:r>
            <a:r>
              <a:rPr lang="en-US" sz="2000" dirty="0"/>
              <a:t> domains from an implementation perspective.</a:t>
            </a:r>
            <a:endParaRPr lang="en-IN" sz="2000" dirty="0"/>
          </a:p>
        </p:txBody>
      </p:sp>
    </p:spTree>
    <p:extLst>
      <p:ext uri="{BB962C8B-B14F-4D97-AF65-F5344CB8AC3E}">
        <p14:creationId xmlns:p14="http://schemas.microsoft.com/office/powerpoint/2010/main" val="2393317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6D57C5-D817-A560-F3B7-843A6C2EA9C3}"/>
              </a:ext>
            </a:extLst>
          </p:cNvPr>
          <p:cNvPicPr>
            <a:picLocks noGrp="1" noChangeAspect="1"/>
          </p:cNvPicPr>
          <p:nvPr>
            <p:ph idx="1"/>
          </p:nvPr>
        </p:nvPicPr>
        <p:blipFill>
          <a:blip r:embed="rId2"/>
          <a:stretch>
            <a:fillRect/>
          </a:stretch>
        </p:blipFill>
        <p:spPr>
          <a:xfrm>
            <a:off x="990600" y="533400"/>
            <a:ext cx="7467599" cy="5592763"/>
          </a:xfrm>
        </p:spPr>
      </p:pic>
    </p:spTree>
    <p:extLst>
      <p:ext uri="{BB962C8B-B14F-4D97-AF65-F5344CB8AC3E}">
        <p14:creationId xmlns:p14="http://schemas.microsoft.com/office/powerpoint/2010/main" val="1739258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4290AC91-0DB6-E9B6-1648-B14F5DD9629F}"/>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Cont…</a:t>
            </a:r>
          </a:p>
        </p:txBody>
      </p:sp>
      <p:pic>
        <p:nvPicPr>
          <p:cNvPr id="15362" name="Picture 2">
            <a:extLst>
              <a:ext uri="{FF2B5EF4-FFF2-40B4-BE49-F238E27FC236}">
                <a16:creationId xmlns:a16="http://schemas.microsoft.com/office/drawing/2014/main" id="{5E4A3335-DDE1-AC4D-1B10-86B311B13B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1447800"/>
            <a:ext cx="7239000" cy="4876800"/>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6DF7A-3FD3-BEB1-5555-AE58DAFC92F2}"/>
              </a:ext>
            </a:extLst>
          </p:cNvPr>
          <p:cNvSpPr>
            <a:spLocks noGrp="1"/>
          </p:cNvSpPr>
          <p:nvPr>
            <p:ph type="title"/>
          </p:nvPr>
        </p:nvSpPr>
        <p:spPr/>
        <p:txBody>
          <a:bodyPr rtlCol="0">
            <a:normAutofit fontScale="90000"/>
          </a:bodyPr>
          <a:lstStyle/>
          <a:p>
            <a:pPr algn="l" eaLnBrk="1" fontAlgn="auto" hangingPunct="1">
              <a:spcAft>
                <a:spcPts val="0"/>
              </a:spcAft>
              <a:defRPr/>
            </a:pPr>
            <a:br>
              <a:rPr lang="en-US" dirty="0"/>
            </a:br>
            <a:r>
              <a:rPr lang="en-US" dirty="0"/>
              <a:t>1. </a:t>
            </a:r>
            <a:r>
              <a:rPr lang="en-US" dirty="0">
                <a:latin typeface="Times New Roman" pitchFamily="18" charset="0"/>
                <a:cs typeface="Times New Roman" pitchFamily="18" charset="0"/>
              </a:rPr>
              <a:t>Abstraction</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18434" name="Content Placeholder 2">
            <a:extLst>
              <a:ext uri="{FF2B5EF4-FFF2-40B4-BE49-F238E27FC236}">
                <a16:creationId xmlns:a16="http://schemas.microsoft.com/office/drawing/2014/main" id="{F4537A81-56C1-E960-5005-7099DBC95970}"/>
              </a:ext>
            </a:extLst>
          </p:cNvPr>
          <p:cNvSpPr>
            <a:spLocks noGrp="1"/>
          </p:cNvSpPr>
          <p:nvPr>
            <p:ph idx="1"/>
          </p:nvPr>
        </p:nvSpPr>
        <p:spPr/>
        <p:txBody>
          <a:bodyPr/>
          <a:lstStyle/>
          <a:p>
            <a:pPr algn="just" eaLnBrk="1" hangingPunct="1"/>
            <a:r>
              <a:rPr lang="en-US" altLang="en-US" sz="2800" dirty="0">
                <a:latin typeface="Times New Roman" panose="02020603050405020304" pitchFamily="18" charset="0"/>
                <a:cs typeface="Times New Roman" panose="02020603050405020304" pitchFamily="18" charset="0"/>
              </a:rPr>
              <a:t>An abstraction is a tool that enables a designer to consider a component at an abstract level without bothering about the </a:t>
            </a:r>
            <a:r>
              <a:rPr lang="en-US" altLang="en-US" sz="2800" dirty="0">
                <a:solidFill>
                  <a:srgbClr val="FF0000"/>
                </a:solidFill>
                <a:latin typeface="Times New Roman" panose="02020603050405020304" pitchFamily="18" charset="0"/>
                <a:cs typeface="Times New Roman" panose="02020603050405020304" pitchFamily="18" charset="0"/>
              </a:rPr>
              <a:t>internal details of the implementation. </a:t>
            </a:r>
          </a:p>
          <a:p>
            <a:pPr algn="just" eaLnBrk="1" hangingPunct="1"/>
            <a:r>
              <a:rPr lang="en-US" altLang="en-US" sz="2800" dirty="0">
                <a:latin typeface="Times New Roman" panose="02020603050405020304" pitchFamily="18" charset="0"/>
                <a:cs typeface="Times New Roman" panose="02020603050405020304" pitchFamily="18" charset="0"/>
              </a:rPr>
              <a:t>Abstraction can be used for existing element as well as the component being designed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1F395668-F67B-5BDD-C67E-D2E08668072B}"/>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0FA341CD-0FDF-AB59-B58C-2C39DF78D083}"/>
              </a:ext>
            </a:extLst>
          </p:cNvPr>
          <p:cNvSpPr>
            <a:spLocks noGrp="1"/>
          </p:cNvSpPr>
          <p:nvPr>
            <p:ph idx="1"/>
          </p:nvPr>
        </p:nvSpPr>
        <p:spPr/>
        <p:txBody>
          <a:bodyPr rtlCol="0">
            <a:normAutofit fontScale="85000" lnSpcReduction="10000"/>
          </a:bodyPr>
          <a:lstStyle/>
          <a:p>
            <a:pPr algn="just" eaLnBrk="1" fontAlgn="auto" hangingPunct="1">
              <a:spcAft>
                <a:spcPts val="0"/>
              </a:spcAft>
              <a:buFont typeface="Arial" panose="020B0604020202020204" pitchFamily="34" charset="0"/>
              <a:buNone/>
              <a:defRPr/>
            </a:pPr>
            <a:r>
              <a:rPr lang="en-US" dirty="0">
                <a:latin typeface="Times New Roman" pitchFamily="18" charset="0"/>
                <a:cs typeface="Times New Roman" pitchFamily="18" charset="0"/>
              </a:rPr>
              <a:t>Functional Abstraction</a:t>
            </a:r>
          </a:p>
          <a:p>
            <a:pPr algn="just" eaLnBrk="1" fontAlgn="auto" hangingPunct="1">
              <a:spcAft>
                <a:spcPts val="0"/>
              </a:spcAft>
              <a:defRPr/>
            </a:pPr>
            <a:r>
              <a:rPr lang="en-US" dirty="0">
                <a:latin typeface="Times New Roman" pitchFamily="18" charset="0"/>
                <a:cs typeface="Times New Roman" pitchFamily="18" charset="0"/>
              </a:rPr>
              <a:t>A module is specified by the method it performs.</a:t>
            </a:r>
          </a:p>
          <a:p>
            <a:pPr algn="just" eaLnBrk="1" fontAlgn="auto" hangingPunct="1">
              <a:spcAft>
                <a:spcPts val="0"/>
              </a:spcAft>
              <a:defRPr/>
            </a:pPr>
            <a:r>
              <a:rPr lang="en-US" dirty="0">
                <a:solidFill>
                  <a:srgbClr val="FF0000"/>
                </a:solidFill>
                <a:latin typeface="Times New Roman" pitchFamily="18" charset="0"/>
                <a:cs typeface="Times New Roman" pitchFamily="18" charset="0"/>
              </a:rPr>
              <a:t>The details of the algorithm </a:t>
            </a:r>
            <a:r>
              <a:rPr lang="en-US" dirty="0">
                <a:latin typeface="Times New Roman" pitchFamily="18" charset="0"/>
                <a:cs typeface="Times New Roman" pitchFamily="18" charset="0"/>
              </a:rPr>
              <a:t>to accomplish the functions are not visible to the user of the function.</a:t>
            </a:r>
          </a:p>
          <a:p>
            <a:pPr algn="just" eaLnBrk="1" fontAlgn="auto" hangingPunct="1">
              <a:spcAft>
                <a:spcPts val="0"/>
              </a:spcAft>
              <a:defRPr/>
            </a:pPr>
            <a:r>
              <a:rPr lang="en-US" dirty="0">
                <a:latin typeface="Times New Roman" pitchFamily="18" charset="0"/>
                <a:cs typeface="Times New Roman" pitchFamily="18" charset="0"/>
              </a:rPr>
              <a:t>Functional abstraction forms the basis for </a:t>
            </a:r>
            <a:r>
              <a:rPr lang="en-US" b="1" dirty="0">
                <a:latin typeface="Times New Roman" pitchFamily="18" charset="0"/>
                <a:cs typeface="Times New Roman" pitchFamily="18" charset="0"/>
              </a:rPr>
              <a:t>Function oriented design approaches</a:t>
            </a:r>
            <a:r>
              <a:rPr lang="en-US" dirty="0">
                <a:latin typeface="Times New Roman" pitchFamily="18" charset="0"/>
                <a:cs typeface="Times New Roman" pitchFamily="18" charset="0"/>
              </a:rPr>
              <a:t>.</a:t>
            </a:r>
          </a:p>
          <a:p>
            <a:pPr algn="just" eaLnBrk="1" fontAlgn="auto" hangingPunct="1">
              <a:spcAft>
                <a:spcPts val="0"/>
              </a:spcAft>
              <a:buFont typeface="Arial" panose="020B0604020202020204" pitchFamily="34" charset="0"/>
              <a:buNone/>
              <a:defRPr/>
            </a:pPr>
            <a:r>
              <a:rPr lang="en-US" dirty="0">
                <a:latin typeface="Times New Roman" pitchFamily="18" charset="0"/>
                <a:cs typeface="Times New Roman" pitchFamily="18" charset="0"/>
              </a:rPr>
              <a:t>Data Abstraction</a:t>
            </a:r>
          </a:p>
          <a:p>
            <a:pPr algn="just" eaLnBrk="1" fontAlgn="auto" hangingPunct="1">
              <a:spcAft>
                <a:spcPts val="0"/>
              </a:spcAft>
              <a:defRPr/>
            </a:pPr>
            <a:r>
              <a:rPr lang="en-US" dirty="0">
                <a:latin typeface="Times New Roman" pitchFamily="18" charset="0"/>
                <a:cs typeface="Times New Roman" pitchFamily="18" charset="0"/>
              </a:rPr>
              <a:t>Details of the </a:t>
            </a:r>
            <a:r>
              <a:rPr lang="en-US" dirty="0">
                <a:solidFill>
                  <a:srgbClr val="FF0000"/>
                </a:solidFill>
                <a:latin typeface="Times New Roman" pitchFamily="18" charset="0"/>
                <a:cs typeface="Times New Roman" pitchFamily="18" charset="0"/>
              </a:rPr>
              <a:t>data elements </a:t>
            </a:r>
            <a:r>
              <a:rPr lang="en-US" dirty="0">
                <a:latin typeface="Times New Roman" pitchFamily="18" charset="0"/>
                <a:cs typeface="Times New Roman" pitchFamily="18" charset="0"/>
              </a:rPr>
              <a:t>are not visible to the users of data. Data Abstraction forms the basis for </a:t>
            </a:r>
            <a:r>
              <a:rPr lang="en-US" b="1" dirty="0">
                <a:latin typeface="Times New Roman" pitchFamily="18" charset="0"/>
                <a:cs typeface="Times New Roman" pitchFamily="18" charset="0"/>
              </a:rPr>
              <a:t>Object Oriented design approaches</a:t>
            </a:r>
            <a:r>
              <a:rPr lang="en-US" dirty="0">
                <a:latin typeface="Times New Roman" pitchFamily="18" charset="0"/>
                <a:cs typeface="Times New Roman" pitchFamily="18" charset="0"/>
              </a:rPr>
              <a:t>.</a:t>
            </a:r>
          </a:p>
          <a:p>
            <a:pPr eaLnBrk="1" fontAlgn="auto" hangingPunct="1">
              <a:spcAft>
                <a:spcPts val="0"/>
              </a:spcAft>
              <a:defRPr/>
            </a:pPr>
            <a:endParaRPr lang="en-US" dirty="0"/>
          </a:p>
        </p:txBody>
      </p:sp>
    </p:spTree>
    <p:extLst>
      <p:ext uri="{BB962C8B-B14F-4D97-AF65-F5344CB8AC3E}">
        <p14:creationId xmlns:p14="http://schemas.microsoft.com/office/powerpoint/2010/main" val="905188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8950D1A4-9ECF-80AF-BBFC-3EC98D15B365}"/>
              </a:ext>
            </a:extLst>
          </p:cNvPr>
          <p:cNvSpPr>
            <a:spLocks noGrp="1"/>
          </p:cNvSpPr>
          <p:nvPr>
            <p:ph type="title"/>
          </p:nvPr>
        </p:nvSpPr>
        <p:spPr/>
        <p:txBody>
          <a:bodyPr/>
          <a:lstStyle/>
          <a:p>
            <a:pPr algn="l" eaLnBrk="1" hangingPunct="1"/>
            <a:r>
              <a:rPr lang="en-US" altLang="en-US" dirty="0" err="1">
                <a:latin typeface="Times New Roman" panose="02020603050405020304" pitchFamily="18" charset="0"/>
                <a:cs typeface="Times New Roman" panose="02020603050405020304" pitchFamily="18" charset="0"/>
              </a:rPr>
              <a:t>Cont</a:t>
            </a:r>
            <a:r>
              <a:rPr lang="en-US" altLang="en-US" dirty="0">
                <a:latin typeface="Times New Roman" panose="02020603050405020304" pitchFamily="18" charset="0"/>
                <a:cs typeface="Times New Roman" panose="02020603050405020304" pitchFamily="18" charset="0"/>
              </a:rPr>
              <a:t>…</a:t>
            </a:r>
          </a:p>
        </p:txBody>
      </p:sp>
      <p:sp>
        <p:nvSpPr>
          <p:cNvPr id="19458" name="Content Placeholder 2">
            <a:extLst>
              <a:ext uri="{FF2B5EF4-FFF2-40B4-BE49-F238E27FC236}">
                <a16:creationId xmlns:a16="http://schemas.microsoft.com/office/drawing/2014/main" id="{23C9F00C-9692-F5C9-6646-2F02A1B4CA99}"/>
              </a:ext>
            </a:extLst>
          </p:cNvPr>
          <p:cNvSpPr>
            <a:spLocks noGrp="1"/>
          </p:cNvSpPr>
          <p:nvPr>
            <p:ph idx="1"/>
          </p:nvPr>
        </p:nvSpPr>
        <p:spPr/>
        <p:txBody>
          <a:bodyPr/>
          <a:lstStyle/>
          <a:p>
            <a:pPr algn="just" eaLnBrk="1" hangingPunct="1"/>
            <a:r>
              <a:rPr lang="en-US" altLang="en-US" sz="2400" dirty="0">
                <a:solidFill>
                  <a:srgbClr val="FF0000"/>
                </a:solidFill>
                <a:latin typeface="Times New Roman" panose="02020603050405020304" pitchFamily="18" charset="0"/>
                <a:cs typeface="Times New Roman" panose="02020603050405020304" pitchFamily="18" charset="0"/>
              </a:rPr>
              <a:t>Functional Abstraction</a:t>
            </a:r>
            <a:r>
              <a:rPr lang="en-US" altLang="en-US" sz="2400" dirty="0">
                <a:latin typeface="Times New Roman" panose="02020603050405020304" pitchFamily="18" charset="0"/>
                <a:cs typeface="Times New Roman" panose="02020603050405020304" pitchFamily="18" charset="0"/>
              </a:rPr>
              <a:t>: A procedural abstraction refers to a sequence of instructions that have a specific and limited function. The name of a procedural abstraction implies these functions, but specific details are suppressed</a:t>
            </a:r>
          </a:p>
          <a:p>
            <a:pPr algn="just" eaLnBrk="1" hangingPunct="1"/>
            <a:r>
              <a:rPr lang="en-US" altLang="en-US" sz="2400" dirty="0">
                <a:solidFill>
                  <a:srgbClr val="FF0000"/>
                </a:solidFill>
                <a:latin typeface="Times New Roman" panose="02020603050405020304" pitchFamily="18" charset="0"/>
                <a:cs typeface="Times New Roman" panose="02020603050405020304" pitchFamily="18" charset="0"/>
              </a:rPr>
              <a:t>Data Abstraction</a:t>
            </a:r>
            <a:r>
              <a:rPr lang="en-US" altLang="en-US" sz="2400" dirty="0">
                <a:latin typeface="Times New Roman" panose="02020603050405020304" pitchFamily="18" charset="0"/>
                <a:cs typeface="Times New Roman" panose="02020603050405020304" pitchFamily="18" charset="0"/>
              </a:rPr>
              <a:t>: </a:t>
            </a:r>
            <a:r>
              <a:rPr lang="en-US" sz="2400" b="0" i="0" u="none" strike="noStrike" baseline="0" dirty="0">
                <a:latin typeface="Leawood-Book"/>
              </a:rPr>
              <a:t>A </a:t>
            </a:r>
            <a:r>
              <a:rPr lang="en-US" sz="2400" b="0" i="1" u="none" strike="noStrike" baseline="0" dirty="0">
                <a:latin typeface="Leawood-BookItalic"/>
              </a:rPr>
              <a:t>data abstraction </a:t>
            </a:r>
            <a:r>
              <a:rPr lang="en-US" sz="2400" b="0" i="0" u="none" strike="noStrike" baseline="0" dirty="0">
                <a:latin typeface="Leawood-Book"/>
              </a:rPr>
              <a:t>is a named collection of data that describes a data object. A technique that simplifies data by removing unnecessary details and hiding complexities</a:t>
            </a:r>
            <a:endParaRPr lang="en-US" altLang="en-US" sz="2400"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a:p>
            <a:pPr eaLnBrk="1" hangingPunct="1"/>
            <a:endParaRPr lang="en-US" alt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AFD9-1184-54A6-2DE2-A26B80CAFDFC}"/>
              </a:ext>
            </a:extLst>
          </p:cNvPr>
          <p:cNvSpPr>
            <a:spLocks noGrp="1"/>
          </p:cNvSpPr>
          <p:nvPr>
            <p:ph type="title"/>
          </p:nvPr>
        </p:nvSpPr>
        <p:spPr/>
        <p:txBody>
          <a:bodyPr/>
          <a:lstStyle/>
          <a:p>
            <a:pPr algn="l"/>
            <a:r>
              <a:rPr lang="en-IN" dirty="0"/>
              <a:t>2. architecture</a:t>
            </a:r>
          </a:p>
        </p:txBody>
      </p:sp>
      <p:sp>
        <p:nvSpPr>
          <p:cNvPr id="3" name="Content Placeholder 2">
            <a:extLst>
              <a:ext uri="{FF2B5EF4-FFF2-40B4-BE49-F238E27FC236}">
                <a16:creationId xmlns:a16="http://schemas.microsoft.com/office/drawing/2014/main" id="{8C0952E4-FF66-6068-2BA9-AA2FA0D1969B}"/>
              </a:ext>
            </a:extLst>
          </p:cNvPr>
          <p:cNvSpPr>
            <a:spLocks noGrp="1"/>
          </p:cNvSpPr>
          <p:nvPr>
            <p:ph idx="1"/>
          </p:nvPr>
        </p:nvSpPr>
        <p:spPr/>
        <p:txBody>
          <a:bodyPr/>
          <a:lstStyle/>
          <a:p>
            <a:pPr algn="l"/>
            <a:r>
              <a:rPr lang="en-US" sz="1800" b="0" i="1" u="none" strike="noStrike" baseline="0" dirty="0">
                <a:latin typeface="Leawood-BookItalic"/>
              </a:rPr>
              <a:t>Software architecture </a:t>
            </a:r>
            <a:r>
              <a:rPr lang="en-US" sz="1800" b="0" i="0" u="none" strike="noStrike" baseline="0" dirty="0">
                <a:latin typeface="Leawood-Book"/>
              </a:rPr>
              <a:t>alludes to “</a:t>
            </a:r>
            <a:r>
              <a:rPr lang="en-US" sz="1800" b="0" i="0" u="none" strike="noStrike" baseline="0" dirty="0">
                <a:solidFill>
                  <a:srgbClr val="FF0000"/>
                </a:solidFill>
                <a:latin typeface="Leawood-Book"/>
              </a:rPr>
              <a:t>the overall structure of the software </a:t>
            </a:r>
            <a:r>
              <a:rPr lang="en-US" sz="1800" b="0" i="0" u="none" strike="noStrike" baseline="0" dirty="0">
                <a:latin typeface="Leawood-Book"/>
              </a:rPr>
              <a:t>and the ways in which that structure provides conceptual integrity for a system” [Sha95a]. </a:t>
            </a:r>
            <a:endParaRPr lang="en-US" sz="1800" dirty="0">
              <a:latin typeface="Leawood-Book"/>
            </a:endParaRPr>
          </a:p>
          <a:p>
            <a:pPr algn="l"/>
            <a:r>
              <a:rPr lang="en-US" sz="2000" b="0" i="0" u="none" strike="noStrike" baseline="0" dirty="0">
                <a:latin typeface="Leawood-Book"/>
              </a:rPr>
              <a:t>In its simplest form, architecture is the structure or organization of program components (modules), the manner in which these </a:t>
            </a:r>
            <a:r>
              <a:rPr lang="en-US" sz="2000" b="0" i="0" u="none" strike="noStrike" baseline="0" dirty="0">
                <a:solidFill>
                  <a:srgbClr val="FF0000"/>
                </a:solidFill>
                <a:latin typeface="Leawood-Book"/>
              </a:rPr>
              <a:t>components interact</a:t>
            </a:r>
            <a:r>
              <a:rPr lang="en-US" sz="2000" b="0" i="0" u="none" strike="noStrike" baseline="0" dirty="0">
                <a:latin typeface="Leawood-Book"/>
              </a:rPr>
              <a:t>, and the structure of </a:t>
            </a:r>
            <a:r>
              <a:rPr lang="en-US" sz="2000" b="0" i="0" u="none" strike="noStrike" baseline="0" dirty="0">
                <a:solidFill>
                  <a:srgbClr val="FF0000"/>
                </a:solidFill>
                <a:latin typeface="Leawood-Book"/>
              </a:rPr>
              <a:t>data that are used by the components</a:t>
            </a:r>
            <a:endParaRPr lang="en-IN" sz="2000" dirty="0">
              <a:solidFill>
                <a:srgbClr val="FF0000"/>
              </a:solidFill>
            </a:endParaRPr>
          </a:p>
        </p:txBody>
      </p:sp>
    </p:spTree>
    <p:extLst>
      <p:ext uri="{BB962C8B-B14F-4D97-AF65-F5344CB8AC3E}">
        <p14:creationId xmlns:p14="http://schemas.microsoft.com/office/powerpoint/2010/main" val="3597506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EE04-05BA-0524-8131-8B2BB0E663AC}"/>
              </a:ext>
            </a:extLst>
          </p:cNvPr>
          <p:cNvSpPr>
            <a:spLocks noGrp="1"/>
          </p:cNvSpPr>
          <p:nvPr>
            <p:ph type="title"/>
          </p:nvPr>
        </p:nvSpPr>
        <p:spPr/>
        <p:txBody>
          <a:bodyPr/>
          <a:lstStyle/>
          <a:p>
            <a:pPr algn="l"/>
            <a:r>
              <a:rPr lang="en-IN" dirty="0"/>
              <a:t>3. Pattern</a:t>
            </a:r>
          </a:p>
        </p:txBody>
      </p:sp>
      <p:sp>
        <p:nvSpPr>
          <p:cNvPr id="3" name="Content Placeholder 2">
            <a:extLst>
              <a:ext uri="{FF2B5EF4-FFF2-40B4-BE49-F238E27FC236}">
                <a16:creationId xmlns:a16="http://schemas.microsoft.com/office/drawing/2014/main" id="{95E22BA6-1E48-E13F-FBC6-A34B38FB16E3}"/>
              </a:ext>
            </a:extLst>
          </p:cNvPr>
          <p:cNvSpPr>
            <a:spLocks noGrp="1"/>
          </p:cNvSpPr>
          <p:nvPr>
            <p:ph idx="1"/>
          </p:nvPr>
        </p:nvSpPr>
        <p:spPr/>
        <p:txBody>
          <a:bodyPr/>
          <a:lstStyle/>
          <a:p>
            <a:pPr algn="just"/>
            <a:r>
              <a:rPr lang="en-US" sz="2800" dirty="0"/>
              <a:t>The intent of each design pattern is to provide a </a:t>
            </a:r>
            <a:r>
              <a:rPr lang="en-US" sz="2800" dirty="0">
                <a:solidFill>
                  <a:srgbClr val="FF0000"/>
                </a:solidFill>
              </a:rPr>
              <a:t>description</a:t>
            </a:r>
            <a:r>
              <a:rPr lang="en-US" sz="2800" dirty="0"/>
              <a:t> </a:t>
            </a:r>
            <a:r>
              <a:rPr lang="en-US" sz="2800" dirty="0">
                <a:solidFill>
                  <a:srgbClr val="FF0000"/>
                </a:solidFill>
              </a:rPr>
              <a:t>that enables a designer to determine </a:t>
            </a:r>
            <a:r>
              <a:rPr lang="en-US" sz="2800" dirty="0"/>
              <a:t>(1) whether the pattern is </a:t>
            </a:r>
            <a:r>
              <a:rPr lang="en-US" sz="2800" dirty="0">
                <a:solidFill>
                  <a:srgbClr val="FF0000"/>
                </a:solidFill>
              </a:rPr>
              <a:t>applicable</a:t>
            </a:r>
            <a:r>
              <a:rPr lang="en-US" sz="2800" dirty="0"/>
              <a:t> to the current work, (2) whether the pattern can be </a:t>
            </a:r>
            <a:r>
              <a:rPr lang="en-US" sz="2800" dirty="0">
                <a:solidFill>
                  <a:srgbClr val="FF0000"/>
                </a:solidFill>
              </a:rPr>
              <a:t>reused</a:t>
            </a:r>
            <a:r>
              <a:rPr lang="en-US" sz="2800" dirty="0"/>
              <a:t> (hence, saving design time), and (3) whether the pattern can serve as a </a:t>
            </a:r>
            <a:r>
              <a:rPr lang="en-US" sz="2800" dirty="0">
                <a:solidFill>
                  <a:srgbClr val="FF0000"/>
                </a:solidFill>
              </a:rPr>
              <a:t>guide</a:t>
            </a:r>
            <a:r>
              <a:rPr lang="en-US" sz="2800" dirty="0"/>
              <a:t> for developing a similar, but functionally or structurally different pattern</a:t>
            </a:r>
            <a:endParaRPr lang="en-IN" sz="2800" dirty="0"/>
          </a:p>
        </p:txBody>
      </p:sp>
    </p:spTree>
    <p:extLst>
      <p:ext uri="{BB962C8B-B14F-4D97-AF65-F5344CB8AC3E}">
        <p14:creationId xmlns:p14="http://schemas.microsoft.com/office/powerpoint/2010/main" val="390723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6E738-932E-572C-0295-FD6F81DA1DDB}"/>
              </a:ext>
            </a:extLst>
          </p:cNvPr>
          <p:cNvSpPr>
            <a:spLocks noGrp="1"/>
          </p:cNvSpPr>
          <p:nvPr>
            <p:ph type="title"/>
          </p:nvPr>
        </p:nvSpPr>
        <p:spPr/>
        <p:txBody>
          <a:bodyPr/>
          <a:lstStyle/>
          <a:p>
            <a:pPr algn="l"/>
            <a:r>
              <a:rPr lang="en-IN" dirty="0"/>
              <a:t>4. Separation of Concerns</a:t>
            </a:r>
          </a:p>
        </p:txBody>
      </p:sp>
      <p:sp>
        <p:nvSpPr>
          <p:cNvPr id="3" name="Content Placeholder 2">
            <a:extLst>
              <a:ext uri="{FF2B5EF4-FFF2-40B4-BE49-F238E27FC236}">
                <a16:creationId xmlns:a16="http://schemas.microsoft.com/office/drawing/2014/main" id="{E22E34D1-0E85-6216-59B3-202F62040BAB}"/>
              </a:ext>
            </a:extLst>
          </p:cNvPr>
          <p:cNvSpPr>
            <a:spLocks noGrp="1"/>
          </p:cNvSpPr>
          <p:nvPr>
            <p:ph idx="1"/>
          </p:nvPr>
        </p:nvSpPr>
        <p:spPr/>
        <p:txBody>
          <a:bodyPr/>
          <a:lstStyle/>
          <a:p>
            <a:r>
              <a:rPr lang="en-US" dirty="0"/>
              <a:t>Separation of concerns is a design concept that suggests that any complex problem can be more easily handled if it is subdivided into pieces that can each be solved and/or optimized independently.</a:t>
            </a:r>
            <a:endParaRPr lang="en-IN" dirty="0"/>
          </a:p>
        </p:txBody>
      </p:sp>
    </p:spTree>
    <p:extLst>
      <p:ext uri="{BB962C8B-B14F-4D97-AF65-F5344CB8AC3E}">
        <p14:creationId xmlns:p14="http://schemas.microsoft.com/office/powerpoint/2010/main" val="1755184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CDB42-3438-E04A-0FD9-E7F1C51D8586}"/>
              </a:ext>
            </a:extLst>
          </p:cNvPr>
          <p:cNvSpPr>
            <a:spLocks noGrp="1"/>
          </p:cNvSpPr>
          <p:nvPr>
            <p:ph type="title"/>
          </p:nvPr>
        </p:nvSpPr>
        <p:spPr/>
        <p:txBody>
          <a:bodyPr/>
          <a:lstStyle/>
          <a:p>
            <a:pPr algn="l"/>
            <a:r>
              <a:rPr lang="en-IN" dirty="0"/>
              <a:t>5. Modularity</a:t>
            </a:r>
          </a:p>
        </p:txBody>
      </p:sp>
      <p:sp>
        <p:nvSpPr>
          <p:cNvPr id="3" name="Content Placeholder 2">
            <a:extLst>
              <a:ext uri="{FF2B5EF4-FFF2-40B4-BE49-F238E27FC236}">
                <a16:creationId xmlns:a16="http://schemas.microsoft.com/office/drawing/2014/main" id="{94A64549-6CC2-116C-6C8B-55BFB87A77C9}"/>
              </a:ext>
            </a:extLst>
          </p:cNvPr>
          <p:cNvSpPr>
            <a:spLocks noGrp="1"/>
          </p:cNvSpPr>
          <p:nvPr>
            <p:ph idx="1"/>
          </p:nvPr>
        </p:nvSpPr>
        <p:spPr/>
        <p:txBody>
          <a:bodyPr/>
          <a:lstStyle/>
          <a:p>
            <a:r>
              <a:rPr lang="en-US" sz="2000" dirty="0"/>
              <a:t>Software is divided into separately named and addressable components, sometimes called modules, that are integrated to satisfy problem requirements.</a:t>
            </a:r>
          </a:p>
          <a:p>
            <a:pPr algn="l"/>
            <a:r>
              <a:rPr lang="en-US" sz="2000" b="0" i="0" u="none" strike="noStrike" baseline="0" dirty="0">
                <a:latin typeface="Leawood-Book"/>
              </a:rPr>
              <a:t>It has been stated that “modularity is the single attribute of software that allows a program to be intellectually manageable</a:t>
            </a:r>
            <a:endParaRPr lang="en-IN" sz="2000" dirty="0"/>
          </a:p>
        </p:txBody>
      </p:sp>
      <p:pic>
        <p:nvPicPr>
          <p:cNvPr id="5" name="Picture 4">
            <a:extLst>
              <a:ext uri="{FF2B5EF4-FFF2-40B4-BE49-F238E27FC236}">
                <a16:creationId xmlns:a16="http://schemas.microsoft.com/office/drawing/2014/main" id="{6B64A63E-2711-9AE3-4C4D-63AA9EEB153E}"/>
              </a:ext>
            </a:extLst>
          </p:cNvPr>
          <p:cNvPicPr>
            <a:picLocks noChangeAspect="1"/>
          </p:cNvPicPr>
          <p:nvPr/>
        </p:nvPicPr>
        <p:blipFill>
          <a:blip r:embed="rId2"/>
          <a:stretch>
            <a:fillRect/>
          </a:stretch>
        </p:blipFill>
        <p:spPr>
          <a:xfrm>
            <a:off x="1219200" y="3276600"/>
            <a:ext cx="5868219" cy="3238952"/>
          </a:xfrm>
          <a:prstGeom prst="rect">
            <a:avLst/>
          </a:prstGeom>
        </p:spPr>
      </p:pic>
    </p:spTree>
    <p:extLst>
      <p:ext uri="{BB962C8B-B14F-4D97-AF65-F5344CB8AC3E}">
        <p14:creationId xmlns:p14="http://schemas.microsoft.com/office/powerpoint/2010/main" val="3442750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DA20D19E-2B7A-8586-06D1-7950BCD7B3DB}"/>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Properties of modularity</a:t>
            </a:r>
          </a:p>
        </p:txBody>
      </p:sp>
      <p:sp>
        <p:nvSpPr>
          <p:cNvPr id="22530" name="Content Placeholder 2">
            <a:extLst>
              <a:ext uri="{FF2B5EF4-FFF2-40B4-BE49-F238E27FC236}">
                <a16:creationId xmlns:a16="http://schemas.microsoft.com/office/drawing/2014/main" id="{AAD15045-C588-A76F-47CB-7B23122215E3}"/>
              </a:ext>
            </a:extLst>
          </p:cNvPr>
          <p:cNvSpPr>
            <a:spLocks noGrp="1"/>
          </p:cNvSpPr>
          <p:nvPr>
            <p:ph idx="1"/>
          </p:nvPr>
        </p:nvSpPr>
        <p:spPr/>
        <p:txBody>
          <a:bodyPr/>
          <a:lstStyle/>
          <a:p>
            <a:pPr algn="just" eaLnBrk="1" hangingPunct="1"/>
            <a:r>
              <a:rPr lang="en-US" altLang="en-US" sz="2800">
                <a:latin typeface="Times New Roman" panose="02020603050405020304" pitchFamily="18" charset="0"/>
                <a:cs typeface="Times New Roman" panose="02020603050405020304" pitchFamily="18" charset="0"/>
              </a:rPr>
              <a:t>Each module is a well-defined system that can be used with other applications.</a:t>
            </a:r>
          </a:p>
          <a:p>
            <a:pPr algn="just" eaLnBrk="1" hangingPunct="1"/>
            <a:r>
              <a:rPr lang="en-US" altLang="en-US" sz="2800">
                <a:latin typeface="Times New Roman" panose="02020603050405020304" pitchFamily="18" charset="0"/>
                <a:cs typeface="Times New Roman" panose="02020603050405020304" pitchFamily="18" charset="0"/>
              </a:rPr>
              <a:t>Each module has single specified objectives.</a:t>
            </a:r>
          </a:p>
          <a:p>
            <a:pPr algn="just" eaLnBrk="1" hangingPunct="1"/>
            <a:r>
              <a:rPr lang="en-US" altLang="en-US" sz="2800">
                <a:latin typeface="Times New Roman" panose="02020603050405020304" pitchFamily="18" charset="0"/>
                <a:cs typeface="Times New Roman" panose="02020603050405020304" pitchFamily="18" charset="0"/>
              </a:rPr>
              <a:t>Modules can be separately compiled and saved in the library.</a:t>
            </a:r>
          </a:p>
          <a:p>
            <a:pPr algn="just" eaLnBrk="1" hangingPunct="1"/>
            <a:r>
              <a:rPr lang="en-US" altLang="en-US" sz="2800">
                <a:latin typeface="Times New Roman" panose="02020603050405020304" pitchFamily="18" charset="0"/>
                <a:cs typeface="Times New Roman" panose="02020603050405020304" pitchFamily="18" charset="0"/>
              </a:rPr>
              <a:t>Modules should be easier to use than to build.</a:t>
            </a:r>
          </a:p>
          <a:p>
            <a:pPr algn="just" eaLnBrk="1" hangingPunct="1"/>
            <a:r>
              <a:rPr lang="en-US" altLang="en-US" sz="2800">
                <a:latin typeface="Times New Roman" panose="02020603050405020304" pitchFamily="18" charset="0"/>
                <a:cs typeface="Times New Roman" panose="02020603050405020304" pitchFamily="18" charset="0"/>
              </a:rPr>
              <a:t>Modules are simpler from outside than inside</a:t>
            </a:r>
            <a:r>
              <a:rPr lang="en-US" altLang="en-US"/>
              <a:t>.</a:t>
            </a:r>
          </a:p>
          <a:p>
            <a:pPr eaLnBrk="1" hangingPunct="1"/>
            <a:endParaRPr lang="en-US" altLang="en-US"/>
          </a:p>
        </p:txBody>
      </p:sp>
    </p:spTree>
    <p:extLst>
      <p:ext uri="{BB962C8B-B14F-4D97-AF65-F5344CB8AC3E}">
        <p14:creationId xmlns:p14="http://schemas.microsoft.com/office/powerpoint/2010/main" val="882193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CC797AE-D822-31EF-6B2A-1AA1FA88EBA7}"/>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EA612C48-4063-CDA8-6039-5F39F1089D1B}"/>
              </a:ext>
            </a:extLst>
          </p:cNvPr>
          <p:cNvSpPr>
            <a:spLocks noGrp="1"/>
          </p:cNvSpPr>
          <p:nvPr>
            <p:ph idx="1"/>
          </p:nvPr>
        </p:nvSpPr>
        <p:spPr/>
        <p:txBody>
          <a:bodyPr rtlCol="0">
            <a:normAutofit fontScale="85000" lnSpcReduction="20000"/>
          </a:bodyPr>
          <a:lstStyle/>
          <a:p>
            <a:pPr algn="just" eaLnBrk="1" fontAlgn="auto" hangingPunct="1">
              <a:spcAft>
                <a:spcPts val="0"/>
              </a:spcAft>
              <a:defRPr/>
            </a:pPr>
            <a:r>
              <a:rPr lang="en-US" dirty="0">
                <a:latin typeface="Times New Roman" pitchFamily="18" charset="0"/>
                <a:cs typeface="Times New Roman" pitchFamily="18" charset="0"/>
              </a:rPr>
              <a:t>It allows large programs to be written by several or different people</a:t>
            </a:r>
          </a:p>
          <a:p>
            <a:pPr algn="just" eaLnBrk="1" fontAlgn="auto" hangingPunct="1">
              <a:spcAft>
                <a:spcPts val="0"/>
              </a:spcAft>
              <a:defRPr/>
            </a:pPr>
            <a:r>
              <a:rPr lang="en-US" dirty="0">
                <a:latin typeface="Times New Roman" pitchFamily="18" charset="0"/>
                <a:cs typeface="Times New Roman" pitchFamily="18" charset="0"/>
              </a:rPr>
              <a:t>It encourages the creation of commonly used routines to be placed in the library and used by other programs.</a:t>
            </a:r>
          </a:p>
          <a:p>
            <a:pPr algn="just" eaLnBrk="1" fontAlgn="auto" hangingPunct="1">
              <a:spcAft>
                <a:spcPts val="0"/>
              </a:spcAft>
              <a:defRPr/>
            </a:pPr>
            <a:r>
              <a:rPr lang="en-US" dirty="0">
                <a:latin typeface="Times New Roman" pitchFamily="18" charset="0"/>
                <a:cs typeface="Times New Roman" pitchFamily="18" charset="0"/>
              </a:rPr>
              <a:t>It simplifies the overlay procedure of loading a large program into main storage.</a:t>
            </a:r>
          </a:p>
          <a:p>
            <a:pPr algn="just" eaLnBrk="1" fontAlgn="auto" hangingPunct="1">
              <a:spcAft>
                <a:spcPts val="0"/>
              </a:spcAft>
              <a:defRPr/>
            </a:pPr>
            <a:r>
              <a:rPr lang="en-US" dirty="0">
                <a:latin typeface="Times New Roman" pitchFamily="18" charset="0"/>
                <a:cs typeface="Times New Roman" pitchFamily="18" charset="0"/>
              </a:rPr>
              <a:t>It provides more checkpoints to measure progress.</a:t>
            </a:r>
          </a:p>
          <a:p>
            <a:pPr algn="just" eaLnBrk="1" fontAlgn="auto" hangingPunct="1">
              <a:spcAft>
                <a:spcPts val="0"/>
              </a:spcAft>
              <a:defRPr/>
            </a:pPr>
            <a:r>
              <a:rPr lang="en-US" dirty="0">
                <a:latin typeface="Times New Roman" pitchFamily="18" charset="0"/>
                <a:cs typeface="Times New Roman" pitchFamily="18" charset="0"/>
              </a:rPr>
              <a:t>It provides a framework for complete testing, more accessible to test</a:t>
            </a:r>
          </a:p>
          <a:p>
            <a:pPr algn="just" eaLnBrk="1" fontAlgn="auto" hangingPunct="1">
              <a:spcAft>
                <a:spcPts val="0"/>
              </a:spcAft>
              <a:defRPr/>
            </a:pPr>
            <a:r>
              <a:rPr lang="en-US" dirty="0">
                <a:latin typeface="Times New Roman" pitchFamily="18" charset="0"/>
                <a:cs typeface="Times New Roman" pitchFamily="18" charset="0"/>
              </a:rPr>
              <a:t>It produced the well designed and more readable program.</a:t>
            </a:r>
          </a:p>
          <a:p>
            <a:pPr eaLnBrk="1" fontAlgn="auto" hangingPunct="1">
              <a:spcAft>
                <a:spcPts val="0"/>
              </a:spcAft>
              <a:defRPr/>
            </a:pPr>
            <a:endParaRPr lang="en-US" dirty="0"/>
          </a:p>
        </p:txBody>
      </p:sp>
    </p:spTree>
    <p:extLst>
      <p:ext uri="{BB962C8B-B14F-4D97-AF65-F5344CB8AC3E}">
        <p14:creationId xmlns:p14="http://schemas.microsoft.com/office/powerpoint/2010/main" val="2460774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AB2D1974-4320-0E0D-1FCD-8E47EF6D6E66}"/>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Disadvantages</a:t>
            </a:r>
          </a:p>
        </p:txBody>
      </p:sp>
      <p:sp>
        <p:nvSpPr>
          <p:cNvPr id="3" name="Content Placeholder 2">
            <a:extLst>
              <a:ext uri="{FF2B5EF4-FFF2-40B4-BE49-F238E27FC236}">
                <a16:creationId xmlns:a16="http://schemas.microsoft.com/office/drawing/2014/main" id="{E5EB9CD2-FBB2-881C-9E55-248AA76078AA}"/>
              </a:ext>
            </a:extLst>
          </p:cNvPr>
          <p:cNvSpPr>
            <a:spLocks noGrp="1"/>
          </p:cNvSpPr>
          <p:nvPr>
            <p:ph idx="1"/>
          </p:nvPr>
        </p:nvSpPr>
        <p:spPr/>
        <p:txBody>
          <a:bodyPr rtlCol="0">
            <a:normAutofit lnSpcReduction="10000"/>
          </a:bodyPr>
          <a:lstStyle/>
          <a:p>
            <a:pPr algn="just" eaLnBrk="1" fontAlgn="auto" hangingPunct="1">
              <a:spcAft>
                <a:spcPts val="0"/>
              </a:spcAft>
              <a:defRPr/>
            </a:pPr>
            <a:r>
              <a:rPr lang="en-US" sz="3000" dirty="0">
                <a:latin typeface="Times New Roman" pitchFamily="18" charset="0"/>
                <a:cs typeface="Times New Roman" pitchFamily="18" charset="0"/>
              </a:rPr>
              <a:t>Execution time maybe, but not certainly, longer</a:t>
            </a:r>
          </a:p>
          <a:p>
            <a:pPr algn="just" eaLnBrk="1" fontAlgn="auto" hangingPunct="1">
              <a:spcAft>
                <a:spcPts val="0"/>
              </a:spcAft>
              <a:defRPr/>
            </a:pPr>
            <a:r>
              <a:rPr lang="en-US" sz="3000" dirty="0">
                <a:latin typeface="Times New Roman" pitchFamily="18" charset="0"/>
                <a:cs typeface="Times New Roman" pitchFamily="18" charset="0"/>
              </a:rPr>
              <a:t>Storage size perhaps, but is not certainly, increased</a:t>
            </a:r>
          </a:p>
          <a:p>
            <a:pPr algn="just" eaLnBrk="1" fontAlgn="auto" hangingPunct="1">
              <a:spcAft>
                <a:spcPts val="0"/>
              </a:spcAft>
              <a:defRPr/>
            </a:pPr>
            <a:r>
              <a:rPr lang="en-US" sz="3000" dirty="0">
                <a:latin typeface="Times New Roman" pitchFamily="18" charset="0"/>
                <a:cs typeface="Times New Roman" pitchFamily="18" charset="0"/>
              </a:rPr>
              <a:t>Compilation and loading time may be longer</a:t>
            </a:r>
          </a:p>
          <a:p>
            <a:pPr algn="just" eaLnBrk="1" fontAlgn="auto" hangingPunct="1">
              <a:spcAft>
                <a:spcPts val="0"/>
              </a:spcAft>
              <a:defRPr/>
            </a:pPr>
            <a:r>
              <a:rPr lang="en-US" sz="3000" dirty="0">
                <a:latin typeface="Times New Roman" pitchFamily="18" charset="0"/>
                <a:cs typeface="Times New Roman" pitchFamily="18" charset="0"/>
              </a:rPr>
              <a:t>Inter-module communication problems may be increased</a:t>
            </a:r>
          </a:p>
          <a:p>
            <a:pPr algn="just" eaLnBrk="1" fontAlgn="auto" hangingPunct="1">
              <a:spcAft>
                <a:spcPts val="0"/>
              </a:spcAft>
              <a:defRPr/>
            </a:pPr>
            <a:r>
              <a:rPr lang="en-US" sz="3000" dirty="0">
                <a:latin typeface="Times New Roman" pitchFamily="18" charset="0"/>
                <a:cs typeface="Times New Roman" pitchFamily="18" charset="0"/>
              </a:rPr>
              <a:t>More linkage required, run-time may be longer, more source lines must be written, and more documentation has to be done</a:t>
            </a:r>
          </a:p>
          <a:p>
            <a:pPr eaLnBrk="1" fontAlgn="auto" hangingPunct="1">
              <a:spcAft>
                <a:spcPts val="0"/>
              </a:spcAft>
              <a:defRPr/>
            </a:pPr>
            <a:endParaRPr lang="en-US" dirty="0"/>
          </a:p>
        </p:txBody>
      </p:sp>
    </p:spTree>
    <p:extLst>
      <p:ext uri="{BB962C8B-B14F-4D97-AF65-F5344CB8AC3E}">
        <p14:creationId xmlns:p14="http://schemas.microsoft.com/office/powerpoint/2010/main" val="3127089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4483-0F47-2B95-686E-62E524A607A4}"/>
              </a:ext>
            </a:extLst>
          </p:cNvPr>
          <p:cNvSpPr>
            <a:spLocks noGrp="1"/>
          </p:cNvSpPr>
          <p:nvPr>
            <p:ph type="title"/>
          </p:nvPr>
        </p:nvSpPr>
        <p:spPr>
          <a:xfrm>
            <a:off x="457200" y="-76200"/>
            <a:ext cx="8229600" cy="1066800"/>
          </a:xfrm>
        </p:spPr>
        <p:txBody>
          <a:bodyPr/>
          <a:lstStyle/>
          <a:p>
            <a:pPr algn="l"/>
            <a:r>
              <a:rPr lang="en-IN" dirty="0"/>
              <a:t>Cohesion &amp; Coupling</a:t>
            </a:r>
          </a:p>
        </p:txBody>
      </p:sp>
      <p:sp>
        <p:nvSpPr>
          <p:cNvPr id="3" name="Content Placeholder 2">
            <a:extLst>
              <a:ext uri="{FF2B5EF4-FFF2-40B4-BE49-F238E27FC236}">
                <a16:creationId xmlns:a16="http://schemas.microsoft.com/office/drawing/2014/main" id="{53CC6058-C877-B5CF-BE16-07800577575A}"/>
              </a:ext>
            </a:extLst>
          </p:cNvPr>
          <p:cNvSpPr>
            <a:spLocks noGrp="1"/>
          </p:cNvSpPr>
          <p:nvPr>
            <p:ph idx="1"/>
          </p:nvPr>
        </p:nvSpPr>
        <p:spPr>
          <a:xfrm>
            <a:off x="457200" y="838200"/>
            <a:ext cx="8229600" cy="5287963"/>
          </a:xfrm>
        </p:spPr>
        <p:txBody>
          <a:bodyPr/>
          <a:lstStyle/>
          <a:p>
            <a:r>
              <a:rPr lang="en-US" sz="2000" dirty="0">
                <a:solidFill>
                  <a:srgbClr val="FF0000"/>
                </a:solidFill>
              </a:rPr>
              <a:t>High cohesion</a:t>
            </a:r>
            <a:r>
              <a:rPr lang="en-US" sz="2000" dirty="0"/>
              <a:t>. A cohesive design class has a small, focused set of responsibilities and single-mindedly applies attributes and methods to implement those responsibilities. For example, the class </a:t>
            </a:r>
            <a:r>
              <a:rPr lang="en-US" sz="2000" dirty="0" err="1"/>
              <a:t>VideoClip</a:t>
            </a:r>
            <a:r>
              <a:rPr lang="en-US" sz="2000" dirty="0"/>
              <a:t> might contain a set of methods for editing the video clip. As long as each method focuses solely on attributes associated with the video clip, cohesion is maintained.</a:t>
            </a:r>
          </a:p>
          <a:p>
            <a:endParaRPr lang="en-US" sz="2000" dirty="0"/>
          </a:p>
          <a:p>
            <a:r>
              <a:rPr lang="en-US" sz="2000" dirty="0">
                <a:solidFill>
                  <a:srgbClr val="FF0000"/>
                </a:solidFill>
              </a:rPr>
              <a:t>Low coupling</a:t>
            </a:r>
            <a:r>
              <a:rPr lang="en-US" sz="2000" dirty="0"/>
              <a:t>. Within the design model, it is necessary for design classes to collaborate with one another. However, collaboration should be kept to an acceptable minimum. If a design model is highly coupled (all design classes collaborate with all other design classes), the system is difficult to implement, to test, and to maintain over time.</a:t>
            </a:r>
            <a:endParaRPr lang="en-IN" sz="2000" dirty="0"/>
          </a:p>
        </p:txBody>
      </p:sp>
    </p:spTree>
    <p:extLst>
      <p:ext uri="{BB962C8B-B14F-4D97-AF65-F5344CB8AC3E}">
        <p14:creationId xmlns:p14="http://schemas.microsoft.com/office/powerpoint/2010/main" val="110738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7EF1-EC69-9956-7102-9C80290E4324}"/>
              </a:ext>
            </a:extLst>
          </p:cNvPr>
          <p:cNvSpPr>
            <a:spLocks noGrp="1"/>
          </p:cNvSpPr>
          <p:nvPr>
            <p:ph type="title"/>
          </p:nvPr>
        </p:nvSpPr>
        <p:spPr>
          <a:xfrm>
            <a:off x="457200" y="160337"/>
            <a:ext cx="8229600" cy="1143000"/>
          </a:xfrm>
        </p:spPr>
        <p:txBody>
          <a:bodyPr/>
          <a:lstStyle/>
          <a:p>
            <a:pPr algn="l"/>
            <a:r>
              <a:rPr lang="en-IN" dirty="0"/>
              <a:t>Types of coupling</a:t>
            </a:r>
          </a:p>
        </p:txBody>
      </p:sp>
      <p:pic>
        <p:nvPicPr>
          <p:cNvPr id="5" name="Content Placeholder 4">
            <a:extLst>
              <a:ext uri="{FF2B5EF4-FFF2-40B4-BE49-F238E27FC236}">
                <a16:creationId xmlns:a16="http://schemas.microsoft.com/office/drawing/2014/main" id="{65F165E5-5B9F-1CF1-A7A9-60A005DDDE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248" y="1219200"/>
            <a:ext cx="2733675" cy="3238500"/>
          </a:xfrm>
        </p:spPr>
      </p:pic>
      <p:pic>
        <p:nvPicPr>
          <p:cNvPr id="7" name="Picture 6">
            <a:extLst>
              <a:ext uri="{FF2B5EF4-FFF2-40B4-BE49-F238E27FC236}">
                <a16:creationId xmlns:a16="http://schemas.microsoft.com/office/drawing/2014/main" id="{1A389859-4521-79F7-040F-FC67E4ED3E07}"/>
              </a:ext>
            </a:extLst>
          </p:cNvPr>
          <p:cNvPicPr>
            <a:picLocks noChangeAspect="1"/>
          </p:cNvPicPr>
          <p:nvPr/>
        </p:nvPicPr>
        <p:blipFill>
          <a:blip r:embed="rId3"/>
          <a:stretch>
            <a:fillRect/>
          </a:stretch>
        </p:blipFill>
        <p:spPr>
          <a:xfrm>
            <a:off x="2971800" y="1219200"/>
            <a:ext cx="5993130" cy="3810532"/>
          </a:xfrm>
          <a:prstGeom prst="rect">
            <a:avLst/>
          </a:prstGeom>
        </p:spPr>
      </p:pic>
      <p:sp>
        <p:nvSpPr>
          <p:cNvPr id="8" name="TextBox 7">
            <a:extLst>
              <a:ext uri="{FF2B5EF4-FFF2-40B4-BE49-F238E27FC236}">
                <a16:creationId xmlns:a16="http://schemas.microsoft.com/office/drawing/2014/main" id="{B5D1B161-553E-F69D-B32A-07E67ECFB658}"/>
              </a:ext>
            </a:extLst>
          </p:cNvPr>
          <p:cNvSpPr txBox="1"/>
          <p:nvPr/>
        </p:nvSpPr>
        <p:spPr>
          <a:xfrm>
            <a:off x="1752600" y="6324600"/>
            <a:ext cx="4690708" cy="261610"/>
          </a:xfrm>
          <a:prstGeom prst="rect">
            <a:avLst/>
          </a:prstGeom>
          <a:noFill/>
        </p:spPr>
        <p:txBody>
          <a:bodyPr wrap="none" rtlCol="0">
            <a:spAutoFit/>
          </a:bodyPr>
          <a:lstStyle/>
          <a:p>
            <a:r>
              <a:rPr lang="en-IN" sz="1100" dirty="0"/>
              <a:t>https://www.tpointtech.com/software-engineering-coupling-and-cohesion</a:t>
            </a:r>
          </a:p>
        </p:txBody>
      </p:sp>
    </p:spTree>
    <p:extLst>
      <p:ext uri="{BB962C8B-B14F-4D97-AF65-F5344CB8AC3E}">
        <p14:creationId xmlns:p14="http://schemas.microsoft.com/office/powerpoint/2010/main" val="1879529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F95DC-474F-FEB9-E1AC-1D2BB8906F1B}"/>
              </a:ext>
            </a:extLst>
          </p:cNvPr>
          <p:cNvSpPr>
            <a:spLocks noGrp="1"/>
          </p:cNvSpPr>
          <p:nvPr>
            <p:ph type="title"/>
          </p:nvPr>
        </p:nvSpPr>
        <p:spPr>
          <a:xfrm>
            <a:off x="457200" y="274638"/>
            <a:ext cx="8229600" cy="411162"/>
          </a:xfrm>
        </p:spPr>
        <p:txBody>
          <a:bodyPr/>
          <a:lstStyle/>
          <a:p>
            <a:pPr algn="l"/>
            <a:r>
              <a:rPr lang="en-IN" dirty="0" err="1"/>
              <a:t>Contd</a:t>
            </a:r>
            <a:r>
              <a:rPr lang="en-IN" dirty="0"/>
              <a:t>…</a:t>
            </a:r>
          </a:p>
        </p:txBody>
      </p:sp>
      <p:sp>
        <p:nvSpPr>
          <p:cNvPr id="3" name="Content Placeholder 2">
            <a:extLst>
              <a:ext uri="{FF2B5EF4-FFF2-40B4-BE49-F238E27FC236}">
                <a16:creationId xmlns:a16="http://schemas.microsoft.com/office/drawing/2014/main" id="{2117384F-DE0C-41FF-A0FB-437F9937F50E}"/>
              </a:ext>
            </a:extLst>
          </p:cNvPr>
          <p:cNvSpPr>
            <a:spLocks noGrp="1"/>
          </p:cNvSpPr>
          <p:nvPr>
            <p:ph idx="1"/>
          </p:nvPr>
        </p:nvSpPr>
        <p:spPr>
          <a:xfrm>
            <a:off x="457200" y="838200"/>
            <a:ext cx="8229600" cy="5287963"/>
          </a:xfrm>
        </p:spPr>
        <p:txBody>
          <a:bodyPr/>
          <a:lstStyle/>
          <a:p>
            <a:pPr algn="just">
              <a:buFont typeface="+mj-lt"/>
              <a:buAutoNum type="arabicPeriod"/>
            </a:pPr>
            <a:r>
              <a:rPr lang="en-US" sz="1800" b="1" dirty="0"/>
              <a:t>Data Coupling:</a:t>
            </a:r>
            <a:r>
              <a:rPr lang="en-US" sz="1800" dirty="0"/>
              <a:t> If the dependency between the modules is based on the fact that they communicate by </a:t>
            </a:r>
            <a:r>
              <a:rPr lang="en-US" sz="1800" dirty="0">
                <a:solidFill>
                  <a:srgbClr val="FF0000"/>
                </a:solidFill>
              </a:rPr>
              <a:t>passing only data</a:t>
            </a:r>
            <a:r>
              <a:rPr lang="en-US" sz="1800" dirty="0"/>
              <a:t>, then the modules are said to be data coupled.</a:t>
            </a:r>
          </a:p>
          <a:p>
            <a:pPr algn="just">
              <a:buFont typeface="+mj-lt"/>
              <a:buAutoNum type="arabicPeriod"/>
            </a:pPr>
            <a:r>
              <a:rPr lang="en-US" sz="1800" b="1" dirty="0"/>
              <a:t>Stamp Coupling: </a:t>
            </a:r>
            <a:r>
              <a:rPr lang="en-US" sz="1800" dirty="0"/>
              <a:t>Two modules are stamp coupled if they communicate using </a:t>
            </a:r>
            <a:r>
              <a:rPr lang="en-US" sz="1800" dirty="0">
                <a:solidFill>
                  <a:srgbClr val="FF0000"/>
                </a:solidFill>
              </a:rPr>
              <a:t>composite data items such as structure, objects</a:t>
            </a:r>
            <a:r>
              <a:rPr lang="en-US" sz="1800" dirty="0"/>
              <a:t>, etc. When the module passes non-global data structure or entire structure to another module, they are said to be stamp coupled. For example, passing structure variable in C or object in C++ language to a module</a:t>
            </a:r>
          </a:p>
          <a:p>
            <a:pPr algn="just">
              <a:buFont typeface="+mj-lt"/>
              <a:buAutoNum type="arabicPeriod"/>
            </a:pPr>
            <a:r>
              <a:rPr lang="en-US" sz="1800" b="1" dirty="0"/>
              <a:t>Control Coupling</a:t>
            </a:r>
            <a:r>
              <a:rPr lang="en-US" sz="1800" dirty="0"/>
              <a:t>: One module affects the </a:t>
            </a:r>
            <a:r>
              <a:rPr lang="en-US" sz="1800" dirty="0" err="1"/>
              <a:t>behaviour</a:t>
            </a:r>
            <a:r>
              <a:rPr lang="en-US" sz="1800" dirty="0"/>
              <a:t> of another by </a:t>
            </a:r>
            <a:r>
              <a:rPr lang="en-US" sz="1800" dirty="0">
                <a:solidFill>
                  <a:srgbClr val="FF0000"/>
                </a:solidFill>
              </a:rPr>
              <a:t>passing control information</a:t>
            </a:r>
            <a:r>
              <a:rPr lang="en-US" sz="1800" dirty="0"/>
              <a:t>, often through parameters. E.g., Producer-consumer problem, if consumer does not consume then the producer will stop after some time</a:t>
            </a:r>
          </a:p>
          <a:p>
            <a:pPr algn="just">
              <a:buFont typeface="+mj-lt"/>
              <a:buAutoNum type="arabicPeriod"/>
            </a:pPr>
            <a:r>
              <a:rPr lang="en-US" sz="1800" b="1" dirty="0"/>
              <a:t>External Coupling:</a:t>
            </a:r>
            <a:r>
              <a:rPr lang="en-US" sz="1800" dirty="0"/>
              <a:t> In external coupling, the modules depend on other modules, external to the software being developed or to a particular type of hardware. </a:t>
            </a:r>
          </a:p>
          <a:p>
            <a:pPr algn="just">
              <a:buFont typeface="+mj-lt"/>
              <a:buAutoNum type="arabicPeriod"/>
            </a:pPr>
            <a:r>
              <a:rPr lang="en-US" sz="1800" b="1" dirty="0"/>
              <a:t>Common Coupling:</a:t>
            </a:r>
            <a:r>
              <a:rPr lang="en-US" sz="1800" dirty="0"/>
              <a:t> The modules have shared data such as </a:t>
            </a:r>
            <a:r>
              <a:rPr lang="en-US" sz="1800" dirty="0">
                <a:solidFill>
                  <a:srgbClr val="FF0000"/>
                </a:solidFill>
              </a:rPr>
              <a:t>global data structures</a:t>
            </a:r>
            <a:r>
              <a:rPr lang="en-US" sz="1800" dirty="0"/>
              <a:t>. The changes in global data mean tracing back to all modules which access that data to evaluate the effect of the change.</a:t>
            </a:r>
          </a:p>
          <a:p>
            <a:pPr algn="just">
              <a:buFont typeface="+mj-lt"/>
              <a:buAutoNum type="arabicPeriod"/>
            </a:pPr>
            <a:r>
              <a:rPr lang="en-US" sz="1800" b="1" dirty="0"/>
              <a:t>Content Coupling</a:t>
            </a:r>
            <a:r>
              <a:rPr lang="en-US" sz="1800" dirty="0"/>
              <a:t>: In a content coupling, one module can modify the data of another module, or control flow is passed from one module to the other module. This is the worst form of coupling and should be avoided.</a:t>
            </a:r>
            <a:endParaRPr lang="en-IN" sz="1800" dirty="0"/>
          </a:p>
        </p:txBody>
      </p:sp>
    </p:spTree>
    <p:extLst>
      <p:ext uri="{BB962C8B-B14F-4D97-AF65-F5344CB8AC3E}">
        <p14:creationId xmlns:p14="http://schemas.microsoft.com/office/powerpoint/2010/main" val="1494163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6978-7631-58C2-0CB3-B55B26EC7126}"/>
              </a:ext>
            </a:extLst>
          </p:cNvPr>
          <p:cNvSpPr>
            <a:spLocks noGrp="1"/>
          </p:cNvSpPr>
          <p:nvPr>
            <p:ph type="title"/>
          </p:nvPr>
        </p:nvSpPr>
        <p:spPr>
          <a:xfrm>
            <a:off x="457200" y="274638"/>
            <a:ext cx="8229600" cy="334962"/>
          </a:xfrm>
        </p:spPr>
        <p:txBody>
          <a:bodyPr/>
          <a:lstStyle/>
          <a:p>
            <a:pPr algn="l"/>
            <a:r>
              <a:rPr lang="en-IN" dirty="0" err="1"/>
              <a:t>Contd</a:t>
            </a:r>
            <a:r>
              <a:rPr lang="en-IN" dirty="0"/>
              <a:t>…</a:t>
            </a:r>
          </a:p>
        </p:txBody>
      </p:sp>
      <p:sp>
        <p:nvSpPr>
          <p:cNvPr id="3" name="Content Placeholder 2">
            <a:extLst>
              <a:ext uri="{FF2B5EF4-FFF2-40B4-BE49-F238E27FC236}">
                <a16:creationId xmlns:a16="http://schemas.microsoft.com/office/drawing/2014/main" id="{4D503E03-1006-7E57-E9A7-B4236E062530}"/>
              </a:ext>
            </a:extLst>
          </p:cNvPr>
          <p:cNvSpPr>
            <a:spLocks noGrp="1"/>
          </p:cNvSpPr>
          <p:nvPr>
            <p:ph idx="1"/>
          </p:nvPr>
        </p:nvSpPr>
        <p:spPr>
          <a:xfrm>
            <a:off x="457200" y="914400"/>
            <a:ext cx="8229600" cy="5211763"/>
          </a:xfrm>
        </p:spPr>
        <p:txBody>
          <a:bodyPr/>
          <a:lstStyle/>
          <a:p>
            <a:pPr algn="just"/>
            <a:r>
              <a:rPr lang="en-US" sz="2000" b="1" dirty="0"/>
              <a:t>Temporal Coupling:</a:t>
            </a:r>
            <a:r>
              <a:rPr lang="en-US" sz="2000" dirty="0"/>
              <a:t> Temporal coupling occurs when two modules depend on the timing or order of events, such as </a:t>
            </a:r>
            <a:r>
              <a:rPr lang="en-US" sz="2000" dirty="0">
                <a:solidFill>
                  <a:srgbClr val="FF0000"/>
                </a:solidFill>
              </a:rPr>
              <a:t>one module needing to execute before another</a:t>
            </a:r>
          </a:p>
          <a:p>
            <a:pPr algn="just"/>
            <a:r>
              <a:rPr lang="en-US" sz="2000" b="1" dirty="0"/>
              <a:t>Sequential Coupling: </a:t>
            </a:r>
            <a:r>
              <a:rPr lang="en-US" sz="2000" dirty="0"/>
              <a:t>Sequential coupling occurs when the </a:t>
            </a:r>
            <a:r>
              <a:rPr lang="en-US" sz="2000" dirty="0">
                <a:solidFill>
                  <a:srgbClr val="FF0000"/>
                </a:solidFill>
              </a:rPr>
              <a:t>output of one module is used as the input of another module</a:t>
            </a:r>
            <a:r>
              <a:rPr lang="en-US" sz="2000" dirty="0"/>
              <a:t>, creating a chain or sequence of dependencies.</a:t>
            </a:r>
          </a:p>
          <a:p>
            <a:pPr algn="just"/>
            <a:r>
              <a:rPr lang="en-US" sz="2000" b="1" dirty="0"/>
              <a:t>Communicational Coupling: </a:t>
            </a:r>
            <a:r>
              <a:rPr lang="en-US" sz="2000" dirty="0"/>
              <a:t>Communicational coupling occurs when two or more modules share a </a:t>
            </a:r>
            <a:r>
              <a:rPr lang="en-US" sz="2000" dirty="0">
                <a:solidFill>
                  <a:srgbClr val="FF0000"/>
                </a:solidFill>
              </a:rPr>
              <a:t>common communication mechanism</a:t>
            </a:r>
            <a:r>
              <a:rPr lang="en-US" sz="2000" dirty="0"/>
              <a:t>, such as a shared message queue or database. </a:t>
            </a:r>
          </a:p>
          <a:p>
            <a:pPr algn="just"/>
            <a:r>
              <a:rPr lang="en-US" sz="2000" b="1" dirty="0"/>
              <a:t>Functional Coupling:</a:t>
            </a:r>
            <a:r>
              <a:rPr lang="en-US" sz="2000" dirty="0"/>
              <a:t> Functional coupling occurs when two modules depend on each other’s functionality, such as </a:t>
            </a:r>
            <a:r>
              <a:rPr lang="en-US" sz="2000" dirty="0">
                <a:solidFill>
                  <a:srgbClr val="FF0000"/>
                </a:solidFill>
              </a:rPr>
              <a:t>one module calling a function from another module. </a:t>
            </a:r>
          </a:p>
          <a:p>
            <a:pPr algn="just"/>
            <a:r>
              <a:rPr lang="en-US" sz="2000" b="1" dirty="0"/>
              <a:t>Interaction Coupling:</a:t>
            </a:r>
            <a:r>
              <a:rPr lang="en-US" sz="2000" dirty="0"/>
              <a:t> Interaction coupling occurs due to the methods of a class invoking methods of other classes</a:t>
            </a:r>
          </a:p>
          <a:p>
            <a:pPr algn="just"/>
            <a:r>
              <a:rPr lang="en-US" sz="2000" b="1" dirty="0"/>
              <a:t>Component Coupling: </a:t>
            </a:r>
            <a:r>
              <a:rPr lang="en-US" sz="2000" dirty="0"/>
              <a:t>Component coupling refers to the interaction between two classes where a class has variables of the other class.</a:t>
            </a:r>
            <a:endParaRPr lang="en-IN" sz="2000" dirty="0"/>
          </a:p>
        </p:txBody>
      </p:sp>
    </p:spTree>
    <p:extLst>
      <p:ext uri="{BB962C8B-B14F-4D97-AF65-F5344CB8AC3E}">
        <p14:creationId xmlns:p14="http://schemas.microsoft.com/office/powerpoint/2010/main" val="3118603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D30E1-CF44-FFB7-A5B9-1CD9CBAD03A3}"/>
              </a:ext>
            </a:extLst>
          </p:cNvPr>
          <p:cNvSpPr>
            <a:spLocks noGrp="1"/>
          </p:cNvSpPr>
          <p:nvPr>
            <p:ph type="title"/>
          </p:nvPr>
        </p:nvSpPr>
        <p:spPr/>
        <p:txBody>
          <a:bodyPr/>
          <a:lstStyle/>
          <a:p>
            <a:pPr algn="l"/>
            <a:r>
              <a:rPr lang="en-IN" dirty="0"/>
              <a:t>Types of Cohesion</a:t>
            </a:r>
          </a:p>
        </p:txBody>
      </p:sp>
      <p:pic>
        <p:nvPicPr>
          <p:cNvPr id="5" name="Content Placeholder 4">
            <a:extLst>
              <a:ext uri="{FF2B5EF4-FFF2-40B4-BE49-F238E27FC236}">
                <a16:creationId xmlns:a16="http://schemas.microsoft.com/office/drawing/2014/main" id="{A1B84169-0148-22AC-252C-81C40775B2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1" y="1143000"/>
            <a:ext cx="2590800" cy="3581400"/>
          </a:xfrm>
        </p:spPr>
      </p:pic>
      <p:pic>
        <p:nvPicPr>
          <p:cNvPr id="7" name="Picture 6">
            <a:extLst>
              <a:ext uri="{FF2B5EF4-FFF2-40B4-BE49-F238E27FC236}">
                <a16:creationId xmlns:a16="http://schemas.microsoft.com/office/drawing/2014/main" id="{CF9ECEB8-1E42-3CA8-5A10-65D06B7201C5}"/>
              </a:ext>
            </a:extLst>
          </p:cNvPr>
          <p:cNvPicPr>
            <a:picLocks noChangeAspect="1"/>
          </p:cNvPicPr>
          <p:nvPr/>
        </p:nvPicPr>
        <p:blipFill>
          <a:blip r:embed="rId3"/>
          <a:stretch>
            <a:fillRect/>
          </a:stretch>
        </p:blipFill>
        <p:spPr>
          <a:xfrm>
            <a:off x="3209426" y="1143000"/>
            <a:ext cx="5934574" cy="3798127"/>
          </a:xfrm>
          <a:prstGeom prst="rect">
            <a:avLst/>
          </a:prstGeom>
        </p:spPr>
      </p:pic>
    </p:spTree>
    <p:extLst>
      <p:ext uri="{BB962C8B-B14F-4D97-AF65-F5344CB8AC3E}">
        <p14:creationId xmlns:p14="http://schemas.microsoft.com/office/powerpoint/2010/main" val="4682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4A99-8F1A-89CD-F1F2-5E0F9881EA1A}"/>
              </a:ext>
            </a:extLst>
          </p:cNvPr>
          <p:cNvSpPr>
            <a:spLocks noGrp="1"/>
          </p:cNvSpPr>
          <p:nvPr>
            <p:ph type="title"/>
          </p:nvPr>
        </p:nvSpPr>
        <p:spPr>
          <a:xfrm>
            <a:off x="457200" y="274638"/>
            <a:ext cx="8229600" cy="411162"/>
          </a:xfrm>
        </p:spPr>
        <p:txBody>
          <a:bodyPr/>
          <a:lstStyle/>
          <a:p>
            <a:pPr algn="l"/>
            <a:r>
              <a:rPr lang="en-IN" dirty="0" err="1"/>
              <a:t>Contd</a:t>
            </a:r>
            <a:r>
              <a:rPr lang="en-IN" dirty="0"/>
              <a:t>…</a:t>
            </a:r>
          </a:p>
        </p:txBody>
      </p:sp>
      <p:sp>
        <p:nvSpPr>
          <p:cNvPr id="3" name="Content Placeholder 2">
            <a:extLst>
              <a:ext uri="{FF2B5EF4-FFF2-40B4-BE49-F238E27FC236}">
                <a16:creationId xmlns:a16="http://schemas.microsoft.com/office/drawing/2014/main" id="{4962F925-4286-3473-12DD-E8B6DD1E1DC5}"/>
              </a:ext>
            </a:extLst>
          </p:cNvPr>
          <p:cNvSpPr>
            <a:spLocks noGrp="1"/>
          </p:cNvSpPr>
          <p:nvPr>
            <p:ph idx="1"/>
          </p:nvPr>
        </p:nvSpPr>
        <p:spPr>
          <a:xfrm>
            <a:off x="457200" y="914400"/>
            <a:ext cx="8229600" cy="5211763"/>
          </a:xfrm>
        </p:spPr>
        <p:txBody>
          <a:bodyPr/>
          <a:lstStyle/>
          <a:p>
            <a:pPr algn="just">
              <a:buFont typeface="+mj-lt"/>
              <a:buAutoNum type="arabicPeriod"/>
            </a:pPr>
            <a:r>
              <a:rPr lang="en-US" sz="1700" b="1" dirty="0"/>
              <a:t>Functional Cohesion:</a:t>
            </a:r>
            <a:r>
              <a:rPr lang="en-US" sz="1700" dirty="0"/>
              <a:t> Functional Cohesion is said to exist if the different elements of a module, cooperate </a:t>
            </a:r>
            <a:r>
              <a:rPr lang="en-US" sz="1700" dirty="0">
                <a:solidFill>
                  <a:srgbClr val="FF0000"/>
                </a:solidFill>
              </a:rPr>
              <a:t>to achieve a single function</a:t>
            </a:r>
            <a:r>
              <a:rPr lang="en-US" sz="1700" dirty="0"/>
              <a:t>.</a:t>
            </a:r>
          </a:p>
          <a:p>
            <a:pPr algn="just">
              <a:buFont typeface="+mj-lt"/>
              <a:buAutoNum type="arabicPeriod"/>
            </a:pPr>
            <a:r>
              <a:rPr lang="en-US" sz="1700" b="1" dirty="0"/>
              <a:t>Sequential Cohesion:</a:t>
            </a:r>
            <a:r>
              <a:rPr lang="en-US" sz="1700" dirty="0"/>
              <a:t> A module is said to possess sequential cohesion if the element of a module form the components of the sequence, where the </a:t>
            </a:r>
            <a:r>
              <a:rPr lang="en-US" sz="1700" dirty="0">
                <a:solidFill>
                  <a:srgbClr val="FF0000"/>
                </a:solidFill>
              </a:rPr>
              <a:t>output from one component of the sequence is inpu</a:t>
            </a:r>
            <a:r>
              <a:rPr lang="en-US" sz="1700" dirty="0"/>
              <a:t>t to the next.</a:t>
            </a:r>
          </a:p>
          <a:p>
            <a:pPr algn="just">
              <a:buFont typeface="+mj-lt"/>
              <a:buAutoNum type="arabicPeriod"/>
            </a:pPr>
            <a:r>
              <a:rPr lang="en-US" sz="1700" b="1" dirty="0"/>
              <a:t>Communicational Cohesion:</a:t>
            </a:r>
            <a:r>
              <a:rPr lang="en-US" sz="1700" dirty="0"/>
              <a:t> A module is said to have communicational cohesion, if all tasks of the module refer to or </a:t>
            </a:r>
            <a:r>
              <a:rPr lang="en-US" sz="1700" dirty="0">
                <a:solidFill>
                  <a:srgbClr val="FF0000"/>
                </a:solidFill>
              </a:rPr>
              <a:t>update the same data structure</a:t>
            </a:r>
            <a:r>
              <a:rPr lang="en-US" sz="1700" dirty="0"/>
              <a:t>, e.g., the set of functions defined on an array or a stack.</a:t>
            </a:r>
          </a:p>
          <a:p>
            <a:pPr algn="just">
              <a:buFont typeface="+mj-lt"/>
              <a:buAutoNum type="arabicPeriod"/>
            </a:pPr>
            <a:r>
              <a:rPr lang="en-US" sz="1700" b="1" dirty="0"/>
              <a:t>Procedural Cohesion:</a:t>
            </a:r>
            <a:r>
              <a:rPr lang="en-US" sz="1700" dirty="0"/>
              <a:t> Here functions are </a:t>
            </a:r>
            <a:r>
              <a:rPr lang="en-US" sz="1700" dirty="0">
                <a:solidFill>
                  <a:srgbClr val="FF0000"/>
                </a:solidFill>
              </a:rPr>
              <a:t>related to each other through a flow control</a:t>
            </a:r>
            <a:r>
              <a:rPr lang="en-US" sz="1700" dirty="0"/>
              <a:t>, i.e., </a:t>
            </a:r>
            <a:r>
              <a:rPr lang="en-US" sz="1700" dirty="0">
                <a:solidFill>
                  <a:srgbClr val="FF0000"/>
                </a:solidFill>
              </a:rPr>
              <a:t>they are part of an algorithm or procedure</a:t>
            </a:r>
            <a:r>
              <a:rPr lang="en-US" sz="1700" dirty="0"/>
              <a:t>. e.g., the algorithm for decoding a message. </a:t>
            </a:r>
            <a:r>
              <a:rPr lang="en-US" sz="1700" dirty="0" err="1"/>
              <a:t>Eg.</a:t>
            </a:r>
            <a:r>
              <a:rPr lang="en-US" sz="1700" dirty="0"/>
              <a:t> Merge sort has partition and merge modules inside merge sort</a:t>
            </a:r>
          </a:p>
          <a:p>
            <a:pPr algn="just">
              <a:buFont typeface="+mj-lt"/>
              <a:buAutoNum type="arabicPeriod"/>
            </a:pPr>
            <a:r>
              <a:rPr lang="en-US" sz="1700" b="1" dirty="0"/>
              <a:t>Temporal Cohesion:</a:t>
            </a:r>
            <a:r>
              <a:rPr lang="en-US" sz="1700" dirty="0"/>
              <a:t> When a module includes functions that are associated by the fact that all the methods must be </a:t>
            </a:r>
            <a:r>
              <a:rPr lang="en-US" sz="1700" dirty="0">
                <a:solidFill>
                  <a:srgbClr val="FF0000"/>
                </a:solidFill>
              </a:rPr>
              <a:t>executed in the same time</a:t>
            </a:r>
            <a:r>
              <a:rPr lang="en-US" sz="1700" dirty="0"/>
              <a:t>, the module is said to exhibit temporal cohesion.</a:t>
            </a:r>
          </a:p>
          <a:p>
            <a:pPr algn="just">
              <a:buFont typeface="+mj-lt"/>
              <a:buAutoNum type="arabicPeriod"/>
            </a:pPr>
            <a:r>
              <a:rPr lang="en-US" sz="1700" b="1" dirty="0"/>
              <a:t>Logical Cohesion:</a:t>
            </a:r>
            <a:r>
              <a:rPr lang="en-US" sz="1700" dirty="0"/>
              <a:t> A module is said to be logically cohesive if all the elements of the module </a:t>
            </a:r>
            <a:r>
              <a:rPr lang="en-US" sz="1700" dirty="0">
                <a:solidFill>
                  <a:srgbClr val="FF0000"/>
                </a:solidFill>
              </a:rPr>
              <a:t>perform a similar operation</a:t>
            </a:r>
            <a:r>
              <a:rPr lang="en-US" sz="1700" dirty="0"/>
              <a:t>. For example Error handling, data input and data output, etc.</a:t>
            </a:r>
          </a:p>
          <a:p>
            <a:pPr algn="just">
              <a:buFont typeface="+mj-lt"/>
              <a:buAutoNum type="arabicPeriod"/>
            </a:pPr>
            <a:r>
              <a:rPr lang="en-US" sz="1700" b="1" dirty="0"/>
              <a:t>Coincidental Cohesion:</a:t>
            </a:r>
            <a:r>
              <a:rPr lang="en-US" sz="1700" dirty="0"/>
              <a:t> A module is said to have coincidental cohesion if it performs a set of tasks that are associated with each other very loosely, if at all.</a:t>
            </a:r>
          </a:p>
          <a:p>
            <a:pPr algn="just"/>
            <a:endParaRPr lang="en-IN" sz="1600" dirty="0"/>
          </a:p>
        </p:txBody>
      </p:sp>
    </p:spTree>
    <p:extLst>
      <p:ext uri="{BB962C8B-B14F-4D97-AF65-F5344CB8AC3E}">
        <p14:creationId xmlns:p14="http://schemas.microsoft.com/office/powerpoint/2010/main" val="3798063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F9C9F-FE95-867A-2B25-EB8574203B12}"/>
              </a:ext>
            </a:extLst>
          </p:cNvPr>
          <p:cNvSpPr>
            <a:spLocks noGrp="1"/>
          </p:cNvSpPr>
          <p:nvPr>
            <p:ph type="title"/>
          </p:nvPr>
        </p:nvSpPr>
        <p:spPr>
          <a:xfrm>
            <a:off x="457200" y="274638"/>
            <a:ext cx="8229600" cy="457199"/>
          </a:xfrm>
        </p:spPr>
        <p:txBody>
          <a:bodyPr/>
          <a:lstStyle/>
          <a:p>
            <a:pPr algn="l"/>
            <a:r>
              <a:rPr lang="en-IN" dirty="0" err="1"/>
              <a:t>Contd</a:t>
            </a:r>
            <a:r>
              <a:rPr lang="en-IN" dirty="0"/>
              <a:t>…</a:t>
            </a:r>
            <a:br>
              <a:rPr lang="en-IN" dirty="0"/>
            </a:br>
            <a:endParaRPr lang="en-IN" dirty="0"/>
          </a:p>
        </p:txBody>
      </p:sp>
      <p:sp>
        <p:nvSpPr>
          <p:cNvPr id="3" name="Content Placeholder 2">
            <a:extLst>
              <a:ext uri="{FF2B5EF4-FFF2-40B4-BE49-F238E27FC236}">
                <a16:creationId xmlns:a16="http://schemas.microsoft.com/office/drawing/2014/main" id="{AE2F6600-4291-A046-5E25-85B9651738F1}"/>
              </a:ext>
            </a:extLst>
          </p:cNvPr>
          <p:cNvSpPr>
            <a:spLocks noGrp="1"/>
          </p:cNvSpPr>
          <p:nvPr>
            <p:ph idx="1"/>
          </p:nvPr>
        </p:nvSpPr>
        <p:spPr>
          <a:xfrm>
            <a:off x="457200" y="838200"/>
            <a:ext cx="8229600" cy="5287963"/>
          </a:xfrm>
        </p:spPr>
        <p:txBody>
          <a:bodyPr/>
          <a:lstStyle/>
          <a:p>
            <a:r>
              <a:rPr lang="en-US" sz="1400" dirty="0">
                <a:solidFill>
                  <a:srgbClr val="FF0000"/>
                </a:solidFill>
              </a:rPr>
              <a:t>Functional Cohesion</a:t>
            </a:r>
            <a:r>
              <a:rPr lang="en-US" sz="1400" dirty="0"/>
              <a:t>: Every essential element for a single computation is contained in the component. A functional cohesion performs the task and functions. It is an ideal situation.</a:t>
            </a:r>
          </a:p>
          <a:p>
            <a:r>
              <a:rPr lang="en-US" sz="1400" dirty="0">
                <a:solidFill>
                  <a:srgbClr val="FF0000"/>
                </a:solidFill>
              </a:rPr>
              <a:t>Sequential Cohesion</a:t>
            </a:r>
            <a:r>
              <a:rPr lang="en-US" sz="1400" dirty="0"/>
              <a:t>: An element outputs some data that becomes the input for other element, i.e., data flow between the parts. It occurs naturally in functional programming languages.</a:t>
            </a:r>
          </a:p>
          <a:p>
            <a:r>
              <a:rPr lang="en-US" sz="1400" dirty="0">
                <a:solidFill>
                  <a:srgbClr val="FF0000"/>
                </a:solidFill>
              </a:rPr>
              <a:t>Communicational Cohesion</a:t>
            </a:r>
            <a:r>
              <a:rPr lang="en-US" sz="1400" dirty="0"/>
              <a:t>: Two elements operate on the same input data or contribute towards the same output data. Example- update record in the database and send it to the printer.</a:t>
            </a:r>
          </a:p>
          <a:p>
            <a:r>
              <a:rPr lang="en-US" sz="1400" b="1" dirty="0"/>
              <a:t>Temporal Cohesion:</a:t>
            </a:r>
            <a:r>
              <a:rPr lang="en-US" sz="1400" dirty="0"/>
              <a:t> The elements are related by their timing involved. A module connected with temporal cohesion all the tasks must be executed in the same time span. </a:t>
            </a:r>
          </a:p>
          <a:p>
            <a:r>
              <a:rPr lang="en-US" sz="1400" dirty="0">
                <a:solidFill>
                  <a:srgbClr val="FF0000"/>
                </a:solidFill>
              </a:rPr>
              <a:t>Logical Cohesion</a:t>
            </a:r>
            <a:r>
              <a:rPr lang="en-US" sz="1400" dirty="0"/>
              <a:t>: The elements are logically related and not functionally. Ex- A component reads inputs from tape, disk, and network. All the code for these functions is in the same component. Operations are related, but the functions are significantly different.</a:t>
            </a:r>
          </a:p>
          <a:p>
            <a:r>
              <a:rPr lang="en-US" sz="1400" dirty="0">
                <a:solidFill>
                  <a:srgbClr val="FF0000"/>
                </a:solidFill>
              </a:rPr>
              <a:t>Coincidental Cohesion</a:t>
            </a:r>
            <a:r>
              <a:rPr lang="en-US" sz="1400" dirty="0"/>
              <a:t>: The elements are not related(unrelated). The elements have no conceptual relationship other than location in source code. It is accidental and the worst form of cohesion. Ex- print next line and reverse the characters of a string in a single component.</a:t>
            </a:r>
          </a:p>
          <a:p>
            <a:r>
              <a:rPr lang="en-US" sz="1400" dirty="0">
                <a:solidFill>
                  <a:srgbClr val="FF0000"/>
                </a:solidFill>
              </a:rPr>
              <a:t>Procedural Cohesion:</a:t>
            </a:r>
            <a:r>
              <a:rPr lang="en-US" sz="1400" dirty="0"/>
              <a:t> This type of cohesion occurs when elements or tasks are grouped together in a module based on their sequence of execution, such as a module that performs a set of related procedures in a specific order. Procedural cohesion can be found in structured programming languages.</a:t>
            </a:r>
          </a:p>
          <a:p>
            <a:r>
              <a:rPr lang="en-US" sz="1400" dirty="0">
                <a:solidFill>
                  <a:srgbClr val="FF0000"/>
                </a:solidFill>
              </a:rPr>
              <a:t>Communicational Cohesion</a:t>
            </a:r>
            <a:r>
              <a:rPr lang="en-US" sz="1400" dirty="0"/>
              <a:t>: Communicational cohesion occurs when elements or tasks are grouped together in a module based on their interactions with each other, such as a module that handles all interactions with a specific external system or module. </a:t>
            </a:r>
          </a:p>
          <a:p>
            <a:r>
              <a:rPr lang="en-US" sz="1400" dirty="0">
                <a:solidFill>
                  <a:srgbClr val="FF0000"/>
                </a:solidFill>
              </a:rPr>
              <a:t>Informational Cohesion</a:t>
            </a:r>
            <a:r>
              <a:rPr lang="en-US" sz="1400" dirty="0"/>
              <a:t>: Informational cohesion occurs when elements or tasks are grouped together in a module based on their relationship to a specific data structure or object, such as a module that operates on a specific data type or object. Informational cohesion is commonly used in object-oriented programming.</a:t>
            </a:r>
          </a:p>
          <a:p>
            <a:endParaRPr lang="en-IN" sz="1400" dirty="0"/>
          </a:p>
        </p:txBody>
      </p:sp>
    </p:spTree>
    <p:extLst>
      <p:ext uri="{BB962C8B-B14F-4D97-AF65-F5344CB8AC3E}">
        <p14:creationId xmlns:p14="http://schemas.microsoft.com/office/powerpoint/2010/main" val="2092607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02BA-4676-B02E-20D9-F811879F4CE2}"/>
              </a:ext>
            </a:extLst>
          </p:cNvPr>
          <p:cNvSpPr>
            <a:spLocks noGrp="1"/>
          </p:cNvSpPr>
          <p:nvPr>
            <p:ph type="title"/>
          </p:nvPr>
        </p:nvSpPr>
        <p:spPr/>
        <p:txBody>
          <a:bodyPr/>
          <a:lstStyle/>
          <a:p>
            <a:pPr algn="l"/>
            <a:r>
              <a:rPr lang="en-IN" dirty="0"/>
              <a:t>6. Information Hiding</a:t>
            </a:r>
          </a:p>
        </p:txBody>
      </p:sp>
      <p:sp>
        <p:nvSpPr>
          <p:cNvPr id="3" name="Content Placeholder 2">
            <a:extLst>
              <a:ext uri="{FF2B5EF4-FFF2-40B4-BE49-F238E27FC236}">
                <a16:creationId xmlns:a16="http://schemas.microsoft.com/office/drawing/2014/main" id="{66B67E03-5264-8191-2518-BE04242F8A66}"/>
              </a:ext>
            </a:extLst>
          </p:cNvPr>
          <p:cNvSpPr>
            <a:spLocks noGrp="1"/>
          </p:cNvSpPr>
          <p:nvPr>
            <p:ph idx="1"/>
          </p:nvPr>
        </p:nvSpPr>
        <p:spPr/>
        <p:txBody>
          <a:bodyPr/>
          <a:lstStyle/>
          <a:p>
            <a:r>
              <a:rPr lang="en-US" dirty="0"/>
              <a:t>modules should be specified and designed so that information (algorithms and data) contained within a module is </a:t>
            </a:r>
            <a:r>
              <a:rPr lang="en-US" dirty="0">
                <a:solidFill>
                  <a:srgbClr val="FF0000"/>
                </a:solidFill>
              </a:rPr>
              <a:t>inaccessible to other modules</a:t>
            </a:r>
            <a:r>
              <a:rPr lang="en-US" dirty="0"/>
              <a:t> that have no need for such information</a:t>
            </a:r>
            <a:endParaRPr lang="en-IN" dirty="0"/>
          </a:p>
        </p:txBody>
      </p:sp>
    </p:spTree>
    <p:extLst>
      <p:ext uri="{BB962C8B-B14F-4D97-AF65-F5344CB8AC3E}">
        <p14:creationId xmlns:p14="http://schemas.microsoft.com/office/powerpoint/2010/main" val="4129774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0A590-99A4-1740-F6E2-8D8B57359F80}"/>
              </a:ext>
            </a:extLst>
          </p:cNvPr>
          <p:cNvSpPr>
            <a:spLocks noGrp="1"/>
          </p:cNvSpPr>
          <p:nvPr>
            <p:ph type="title"/>
          </p:nvPr>
        </p:nvSpPr>
        <p:spPr/>
        <p:txBody>
          <a:bodyPr/>
          <a:lstStyle/>
          <a:p>
            <a:pPr algn="l"/>
            <a:r>
              <a:rPr lang="en-IN" dirty="0"/>
              <a:t>7. Functional Independence</a:t>
            </a:r>
          </a:p>
        </p:txBody>
      </p:sp>
      <p:sp>
        <p:nvSpPr>
          <p:cNvPr id="3" name="Content Placeholder 2">
            <a:extLst>
              <a:ext uri="{FF2B5EF4-FFF2-40B4-BE49-F238E27FC236}">
                <a16:creationId xmlns:a16="http://schemas.microsoft.com/office/drawing/2014/main" id="{49764442-4459-3B00-9760-64B02C189DE2}"/>
              </a:ext>
            </a:extLst>
          </p:cNvPr>
          <p:cNvSpPr>
            <a:spLocks noGrp="1"/>
          </p:cNvSpPr>
          <p:nvPr>
            <p:ph idx="1"/>
          </p:nvPr>
        </p:nvSpPr>
        <p:spPr/>
        <p:txBody>
          <a:bodyPr/>
          <a:lstStyle/>
          <a:p>
            <a:r>
              <a:rPr lang="en-US" dirty="0"/>
              <a:t>Functional independence is achieved by developing modules with “</a:t>
            </a:r>
            <a:r>
              <a:rPr lang="en-US" dirty="0" err="1"/>
              <a:t>singleminded</a:t>
            </a:r>
            <a:r>
              <a:rPr lang="en-US" dirty="0"/>
              <a:t>” function and an “aversion” to excessive interaction with other modules.</a:t>
            </a:r>
            <a:endParaRPr lang="en-IN" dirty="0"/>
          </a:p>
        </p:txBody>
      </p:sp>
    </p:spTree>
    <p:extLst>
      <p:ext uri="{BB962C8B-B14F-4D97-AF65-F5344CB8AC3E}">
        <p14:creationId xmlns:p14="http://schemas.microsoft.com/office/powerpoint/2010/main" val="4180176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78BF-114A-41C0-682D-5F371B5B0545}"/>
              </a:ext>
            </a:extLst>
          </p:cNvPr>
          <p:cNvSpPr>
            <a:spLocks noGrp="1"/>
          </p:cNvSpPr>
          <p:nvPr>
            <p:ph type="title"/>
          </p:nvPr>
        </p:nvSpPr>
        <p:spPr/>
        <p:txBody>
          <a:bodyPr/>
          <a:lstStyle/>
          <a:p>
            <a:pPr algn="l"/>
            <a:r>
              <a:rPr lang="en-IN" dirty="0"/>
              <a:t>8. Refinement</a:t>
            </a:r>
          </a:p>
        </p:txBody>
      </p:sp>
      <p:sp>
        <p:nvSpPr>
          <p:cNvPr id="3" name="Content Placeholder 2">
            <a:extLst>
              <a:ext uri="{FF2B5EF4-FFF2-40B4-BE49-F238E27FC236}">
                <a16:creationId xmlns:a16="http://schemas.microsoft.com/office/drawing/2014/main" id="{30C3044A-9723-79C1-A494-4B3B265F3340}"/>
              </a:ext>
            </a:extLst>
          </p:cNvPr>
          <p:cNvSpPr>
            <a:spLocks noGrp="1"/>
          </p:cNvSpPr>
          <p:nvPr>
            <p:ph idx="1"/>
          </p:nvPr>
        </p:nvSpPr>
        <p:spPr/>
        <p:txBody>
          <a:bodyPr/>
          <a:lstStyle/>
          <a:p>
            <a:pPr algn="just"/>
            <a:r>
              <a:rPr lang="en-US" sz="2800" dirty="0">
                <a:solidFill>
                  <a:srgbClr val="FF0000"/>
                </a:solidFill>
              </a:rPr>
              <a:t>Refinement is actually a process of elaboration</a:t>
            </a:r>
            <a:r>
              <a:rPr lang="en-US" sz="2800" dirty="0"/>
              <a:t>. You begin with a statement of function (or description of information) that is defined at a high level of abstraction.</a:t>
            </a:r>
          </a:p>
          <a:p>
            <a:pPr algn="just"/>
            <a:r>
              <a:rPr lang="en-US" sz="2800" dirty="0"/>
              <a:t>The statement describes function or information conceptually but provides no information about the internal workings of the function or the internal structure of the information. You then </a:t>
            </a:r>
            <a:r>
              <a:rPr lang="en-US" sz="2800" dirty="0">
                <a:solidFill>
                  <a:srgbClr val="FF0000"/>
                </a:solidFill>
              </a:rPr>
              <a:t>elaborate on the original statement, providing more and more detail</a:t>
            </a:r>
            <a:r>
              <a:rPr lang="en-US" sz="2800" dirty="0"/>
              <a:t> as each </a:t>
            </a:r>
            <a:r>
              <a:rPr lang="en-US" sz="2800" dirty="0">
                <a:solidFill>
                  <a:srgbClr val="FF0000"/>
                </a:solidFill>
              </a:rPr>
              <a:t>successive refinement </a:t>
            </a:r>
            <a:r>
              <a:rPr lang="en-US" sz="2800" dirty="0"/>
              <a:t>(elaboration) occurs.</a:t>
            </a:r>
            <a:endParaRPr lang="en-IN" sz="2800" dirty="0"/>
          </a:p>
        </p:txBody>
      </p:sp>
    </p:spTree>
    <p:extLst>
      <p:ext uri="{BB962C8B-B14F-4D97-AF65-F5344CB8AC3E}">
        <p14:creationId xmlns:p14="http://schemas.microsoft.com/office/powerpoint/2010/main" val="2178896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A7C4-BB4E-60FD-9097-D9D164DBC896}"/>
              </a:ext>
            </a:extLst>
          </p:cNvPr>
          <p:cNvSpPr>
            <a:spLocks noGrp="1"/>
          </p:cNvSpPr>
          <p:nvPr>
            <p:ph type="title"/>
          </p:nvPr>
        </p:nvSpPr>
        <p:spPr/>
        <p:txBody>
          <a:bodyPr/>
          <a:lstStyle/>
          <a:p>
            <a:pPr algn="l"/>
            <a:r>
              <a:rPr lang="en-IN" dirty="0"/>
              <a:t>9. Aspects</a:t>
            </a:r>
          </a:p>
        </p:txBody>
      </p:sp>
      <p:sp>
        <p:nvSpPr>
          <p:cNvPr id="3" name="Content Placeholder 2">
            <a:extLst>
              <a:ext uri="{FF2B5EF4-FFF2-40B4-BE49-F238E27FC236}">
                <a16:creationId xmlns:a16="http://schemas.microsoft.com/office/drawing/2014/main" id="{B0A47E16-4966-43E6-B7E7-C993F255FFC7}"/>
              </a:ext>
            </a:extLst>
          </p:cNvPr>
          <p:cNvSpPr>
            <a:spLocks noGrp="1"/>
          </p:cNvSpPr>
          <p:nvPr>
            <p:ph idx="1"/>
          </p:nvPr>
        </p:nvSpPr>
        <p:spPr/>
        <p:txBody>
          <a:bodyPr/>
          <a:lstStyle/>
          <a:p>
            <a:pPr marL="0" indent="0">
              <a:buNone/>
            </a:pPr>
            <a:r>
              <a:rPr lang="en-US" dirty="0"/>
              <a:t>a mechanism for understanding how global requirements affect design!</a:t>
            </a:r>
          </a:p>
          <a:p>
            <a:endParaRPr lang="en-US" dirty="0"/>
          </a:p>
          <a:p>
            <a:pPr marL="0" indent="0">
              <a:buNone/>
            </a:pPr>
            <a:r>
              <a:rPr lang="en-US" sz="4000" dirty="0"/>
              <a:t>10. Refactoring</a:t>
            </a:r>
          </a:p>
          <a:p>
            <a:pPr marL="0" indent="0" algn="just">
              <a:buNone/>
            </a:pPr>
            <a:r>
              <a:rPr lang="en-US" dirty="0"/>
              <a:t>Refactoring is the process of changing a software system in such a way that it </a:t>
            </a:r>
            <a:r>
              <a:rPr lang="en-US" dirty="0">
                <a:solidFill>
                  <a:srgbClr val="FF0000"/>
                </a:solidFill>
              </a:rPr>
              <a:t>does not alter the external behavior of the code </a:t>
            </a:r>
            <a:r>
              <a:rPr lang="en-US" dirty="0"/>
              <a:t>[design]</a:t>
            </a:r>
          </a:p>
          <a:p>
            <a:pPr marL="0" indent="0" algn="just">
              <a:buNone/>
            </a:pPr>
            <a:r>
              <a:rPr lang="en-US" dirty="0"/>
              <a:t>yet </a:t>
            </a:r>
            <a:r>
              <a:rPr lang="en-US" dirty="0">
                <a:solidFill>
                  <a:srgbClr val="FF0000"/>
                </a:solidFill>
              </a:rPr>
              <a:t>improves its internal structure</a:t>
            </a:r>
            <a:r>
              <a:rPr lang="en-US" dirty="0"/>
              <a:t>.”</a:t>
            </a:r>
            <a:endParaRPr lang="en-IN" dirty="0"/>
          </a:p>
        </p:txBody>
      </p:sp>
    </p:spTree>
    <p:extLst>
      <p:ext uri="{BB962C8B-B14F-4D97-AF65-F5344CB8AC3E}">
        <p14:creationId xmlns:p14="http://schemas.microsoft.com/office/powerpoint/2010/main" val="1962696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88BE-F37E-33E0-BF21-1AB918ADFAF4}"/>
              </a:ext>
            </a:extLst>
          </p:cNvPr>
          <p:cNvSpPr>
            <a:spLocks noGrp="1"/>
          </p:cNvSpPr>
          <p:nvPr>
            <p:ph type="title"/>
          </p:nvPr>
        </p:nvSpPr>
        <p:spPr/>
        <p:txBody>
          <a:bodyPr/>
          <a:lstStyle/>
          <a:p>
            <a:pPr algn="l"/>
            <a:r>
              <a:rPr lang="en-IN" dirty="0"/>
              <a:t>11. Object-Oriented Design Concepts</a:t>
            </a:r>
          </a:p>
        </p:txBody>
      </p:sp>
      <p:sp>
        <p:nvSpPr>
          <p:cNvPr id="3" name="Content Placeholder 2">
            <a:extLst>
              <a:ext uri="{FF2B5EF4-FFF2-40B4-BE49-F238E27FC236}">
                <a16:creationId xmlns:a16="http://schemas.microsoft.com/office/drawing/2014/main" id="{9E94DA85-3E0B-1642-7E96-FDE41F3BDAF9}"/>
              </a:ext>
            </a:extLst>
          </p:cNvPr>
          <p:cNvSpPr>
            <a:spLocks noGrp="1"/>
          </p:cNvSpPr>
          <p:nvPr>
            <p:ph idx="1"/>
          </p:nvPr>
        </p:nvSpPr>
        <p:spPr/>
        <p:txBody>
          <a:bodyPr/>
          <a:lstStyle/>
          <a:p>
            <a:r>
              <a:rPr lang="en-US" dirty="0"/>
              <a:t>The object-oriented (OO) paradigm is widely used in modern software engineering</a:t>
            </a:r>
            <a:endParaRPr lang="en-IN" dirty="0"/>
          </a:p>
          <a:p>
            <a:pPr marL="0" indent="0">
              <a:buNone/>
            </a:pPr>
            <a:r>
              <a:rPr lang="en-IN" sz="4000" dirty="0"/>
              <a:t>12. Design Classes</a:t>
            </a:r>
          </a:p>
          <a:p>
            <a:pPr algn="l"/>
            <a:r>
              <a:rPr lang="en-US" sz="1800" b="0" i="0" u="none" strike="noStrike" baseline="0" dirty="0">
                <a:latin typeface="Leawood-Book"/>
              </a:rPr>
              <a:t>The requirements model defines a set of analysis classes (Chapter 6). Each describes some element of the problem domain, focusing on aspects of the problem that are user visible. The level of abstraction of an analysis class is relatively high.</a:t>
            </a:r>
          </a:p>
          <a:p>
            <a:pPr algn="l"/>
            <a:r>
              <a:rPr lang="en-US" sz="1800" b="0" i="0" u="none" strike="noStrike" baseline="0" dirty="0">
                <a:latin typeface="Leawood-Book"/>
              </a:rPr>
              <a:t>As the design model evolves, </a:t>
            </a:r>
            <a:r>
              <a:rPr lang="en-US" sz="1800" b="0" i="0" u="none" strike="noStrike" baseline="0" dirty="0">
                <a:solidFill>
                  <a:srgbClr val="FF0000"/>
                </a:solidFill>
                <a:latin typeface="Leawood-Book"/>
              </a:rPr>
              <a:t>you will define a set of </a:t>
            </a:r>
            <a:r>
              <a:rPr lang="en-US" sz="1800" b="0" i="1" u="none" strike="noStrike" baseline="0" dirty="0">
                <a:solidFill>
                  <a:srgbClr val="FF0000"/>
                </a:solidFill>
                <a:latin typeface="Leawood-BookItalic"/>
              </a:rPr>
              <a:t>design classes </a:t>
            </a:r>
            <a:r>
              <a:rPr lang="en-US" sz="1800" b="0" i="0" u="none" strike="noStrike" baseline="0" dirty="0">
                <a:solidFill>
                  <a:srgbClr val="FF0000"/>
                </a:solidFill>
                <a:latin typeface="Leawood-Book"/>
              </a:rPr>
              <a:t>that refine the analysis classes</a:t>
            </a:r>
            <a:r>
              <a:rPr lang="en-US" sz="1800" b="0" i="0" u="none" strike="noStrike" baseline="0" dirty="0">
                <a:latin typeface="Leawood-Book"/>
              </a:rPr>
              <a:t> by providing </a:t>
            </a:r>
            <a:r>
              <a:rPr lang="en-US" sz="1800" b="0" i="0" u="none" strike="noStrike" baseline="0" dirty="0">
                <a:solidFill>
                  <a:srgbClr val="FF0000"/>
                </a:solidFill>
                <a:latin typeface="Leawood-Book"/>
              </a:rPr>
              <a:t>design detail </a:t>
            </a:r>
            <a:r>
              <a:rPr lang="en-US" sz="1800" b="0" i="0" u="none" strike="noStrike" baseline="0" dirty="0">
                <a:latin typeface="Leawood-Book"/>
              </a:rPr>
              <a:t>that will enable the classes to be implemented, and implement a software infrastructure that supports the business solution</a:t>
            </a:r>
            <a:endParaRPr lang="en-US" sz="4000" dirty="0"/>
          </a:p>
        </p:txBody>
      </p:sp>
    </p:spTree>
    <p:extLst>
      <p:ext uri="{BB962C8B-B14F-4D97-AF65-F5344CB8AC3E}">
        <p14:creationId xmlns:p14="http://schemas.microsoft.com/office/powerpoint/2010/main" val="1702127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E61A-ACC7-8A71-87B1-4A996BF0F4B5}"/>
              </a:ext>
            </a:extLst>
          </p:cNvPr>
          <p:cNvSpPr>
            <a:spLocks noGrp="1"/>
          </p:cNvSpPr>
          <p:nvPr>
            <p:ph type="title"/>
          </p:nvPr>
        </p:nvSpPr>
        <p:spPr>
          <a:xfrm>
            <a:off x="457200" y="76200"/>
            <a:ext cx="8229600" cy="762000"/>
          </a:xfrm>
        </p:spPr>
        <p:txBody>
          <a:bodyPr/>
          <a:lstStyle/>
          <a:p>
            <a:pPr algn="l"/>
            <a:r>
              <a:rPr lang="en-GB" sz="4400" b="1" dirty="0">
                <a:solidFill>
                  <a:srgbClr val="FF0000"/>
                </a:solidFill>
              </a:rPr>
              <a:t>Types of Design Classes</a:t>
            </a:r>
            <a:br>
              <a:rPr lang="en-IN" sz="4400" dirty="0">
                <a:solidFill>
                  <a:srgbClr val="FF0000"/>
                </a:solidFill>
              </a:rPr>
            </a:br>
            <a:endParaRPr lang="en-IN" dirty="0"/>
          </a:p>
        </p:txBody>
      </p:sp>
      <p:sp>
        <p:nvSpPr>
          <p:cNvPr id="3" name="Content Placeholder 2">
            <a:extLst>
              <a:ext uri="{FF2B5EF4-FFF2-40B4-BE49-F238E27FC236}">
                <a16:creationId xmlns:a16="http://schemas.microsoft.com/office/drawing/2014/main" id="{65955795-6DBD-60F9-2708-FCB48DF72390}"/>
              </a:ext>
            </a:extLst>
          </p:cNvPr>
          <p:cNvSpPr>
            <a:spLocks noGrp="1"/>
          </p:cNvSpPr>
          <p:nvPr>
            <p:ph idx="1"/>
          </p:nvPr>
        </p:nvSpPr>
        <p:spPr>
          <a:xfrm>
            <a:off x="457200" y="685800"/>
            <a:ext cx="8229600" cy="5440363"/>
          </a:xfrm>
        </p:spPr>
        <p:txBody>
          <a:bodyPr/>
          <a:lstStyle/>
          <a:p>
            <a:pPr lvl="0" algn="just">
              <a:lnSpc>
                <a:spcPct val="150000"/>
              </a:lnSpc>
            </a:pPr>
            <a:r>
              <a:rPr lang="en-GB" sz="1800" b="1" dirty="0">
                <a:solidFill>
                  <a:srgbClr val="FF0000"/>
                </a:solidFill>
              </a:rPr>
              <a:t>User interface classes</a:t>
            </a:r>
            <a:r>
              <a:rPr lang="en-GB" sz="1800" dirty="0">
                <a:solidFill>
                  <a:srgbClr val="FF0000"/>
                </a:solidFill>
              </a:rPr>
              <a:t> </a:t>
            </a:r>
            <a:r>
              <a:rPr lang="en-GB" sz="1800" dirty="0"/>
              <a:t>– define all abstractions necessary for </a:t>
            </a:r>
            <a:r>
              <a:rPr lang="en-GB" sz="1800" dirty="0">
                <a:solidFill>
                  <a:srgbClr val="FF0000"/>
                </a:solidFill>
              </a:rPr>
              <a:t>human-computer interaction</a:t>
            </a:r>
            <a:endParaRPr lang="en-IN" sz="1800" dirty="0">
              <a:solidFill>
                <a:srgbClr val="FF0000"/>
              </a:solidFill>
            </a:endParaRPr>
          </a:p>
          <a:p>
            <a:pPr lvl="0" algn="just">
              <a:lnSpc>
                <a:spcPct val="150000"/>
              </a:lnSpc>
            </a:pPr>
            <a:r>
              <a:rPr lang="en-GB" sz="1800" b="1" dirty="0">
                <a:solidFill>
                  <a:srgbClr val="FF0000"/>
                </a:solidFill>
              </a:rPr>
              <a:t>Business domain classes</a:t>
            </a:r>
            <a:r>
              <a:rPr lang="en-GB" sz="1800" dirty="0">
                <a:solidFill>
                  <a:srgbClr val="FF0000"/>
                </a:solidFill>
              </a:rPr>
              <a:t> </a:t>
            </a:r>
            <a:r>
              <a:rPr lang="en-GB" sz="1800" dirty="0"/>
              <a:t>– refined from analysis classes; identify </a:t>
            </a:r>
            <a:r>
              <a:rPr lang="en-GB" sz="1800" dirty="0">
                <a:solidFill>
                  <a:srgbClr val="FF0000"/>
                </a:solidFill>
              </a:rPr>
              <a:t>attributes and methods </a:t>
            </a:r>
            <a:r>
              <a:rPr lang="en-GB" sz="1800" dirty="0"/>
              <a:t>that are required to  implement some element of the business domain</a:t>
            </a:r>
            <a:endParaRPr lang="en-IN" sz="1800" dirty="0"/>
          </a:p>
          <a:p>
            <a:pPr lvl="0" algn="just">
              <a:lnSpc>
                <a:spcPct val="150000"/>
              </a:lnSpc>
            </a:pPr>
            <a:r>
              <a:rPr lang="en-GB" sz="1800" b="1" dirty="0">
                <a:solidFill>
                  <a:srgbClr val="FF0000"/>
                </a:solidFill>
              </a:rPr>
              <a:t>Process classes</a:t>
            </a:r>
            <a:r>
              <a:rPr lang="en-GB" sz="1800" dirty="0">
                <a:solidFill>
                  <a:srgbClr val="FF0000"/>
                </a:solidFill>
              </a:rPr>
              <a:t> </a:t>
            </a:r>
            <a:r>
              <a:rPr lang="en-GB" sz="1800" dirty="0"/>
              <a:t>– implement business abstractions required to </a:t>
            </a:r>
            <a:r>
              <a:rPr lang="en-GB" sz="1800" dirty="0">
                <a:solidFill>
                  <a:srgbClr val="FF0000"/>
                </a:solidFill>
              </a:rPr>
              <a:t>fully manage the business </a:t>
            </a:r>
            <a:r>
              <a:rPr lang="en-GB" sz="1800" dirty="0"/>
              <a:t>domain classes</a:t>
            </a:r>
            <a:endParaRPr lang="en-IN" sz="1800" dirty="0"/>
          </a:p>
          <a:p>
            <a:pPr lvl="0" algn="just">
              <a:lnSpc>
                <a:spcPct val="150000"/>
              </a:lnSpc>
            </a:pPr>
            <a:r>
              <a:rPr lang="en-GB" sz="1800" b="1" dirty="0">
                <a:solidFill>
                  <a:srgbClr val="FF0000"/>
                </a:solidFill>
              </a:rPr>
              <a:t>Persistent classes</a:t>
            </a:r>
            <a:r>
              <a:rPr lang="en-GB" sz="1800" dirty="0">
                <a:solidFill>
                  <a:srgbClr val="FF0000"/>
                </a:solidFill>
              </a:rPr>
              <a:t> </a:t>
            </a:r>
            <a:r>
              <a:rPr lang="en-GB" sz="1800" dirty="0"/>
              <a:t>– represent data stores (e.g., </a:t>
            </a:r>
            <a:r>
              <a:rPr lang="en-GB" sz="1800" dirty="0">
                <a:solidFill>
                  <a:srgbClr val="FF0000"/>
                </a:solidFill>
              </a:rPr>
              <a:t>a database</a:t>
            </a:r>
            <a:r>
              <a:rPr lang="en-GB" sz="1800" dirty="0"/>
              <a:t>) that will persist beyond the execution of the software</a:t>
            </a:r>
            <a:endParaRPr lang="en-IN" sz="1800" dirty="0"/>
          </a:p>
          <a:p>
            <a:pPr lvl="0" algn="just">
              <a:lnSpc>
                <a:spcPct val="150000"/>
              </a:lnSpc>
            </a:pPr>
            <a:r>
              <a:rPr lang="en-GB" sz="1800" b="1" dirty="0">
                <a:solidFill>
                  <a:srgbClr val="FF0000"/>
                </a:solidFill>
              </a:rPr>
              <a:t>System classes</a:t>
            </a:r>
            <a:r>
              <a:rPr lang="en-GB" sz="1800" dirty="0">
                <a:solidFill>
                  <a:srgbClr val="FF0000"/>
                </a:solidFill>
              </a:rPr>
              <a:t> </a:t>
            </a:r>
            <a:r>
              <a:rPr lang="en-GB" sz="1800" dirty="0"/>
              <a:t>– implement software management and control functions that enable the system to operate and communicate within its computing environment and the outside world  </a:t>
            </a:r>
            <a:endParaRPr lang="en-IN" sz="1800" dirty="0"/>
          </a:p>
          <a:p>
            <a:endParaRPr lang="en-IN" sz="2000" dirty="0"/>
          </a:p>
        </p:txBody>
      </p:sp>
    </p:spTree>
    <p:extLst>
      <p:ext uri="{BB962C8B-B14F-4D97-AF65-F5344CB8AC3E}">
        <p14:creationId xmlns:p14="http://schemas.microsoft.com/office/powerpoint/2010/main" val="21778285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A0A74FE-5BC9-C88D-2357-378615E48EBE}"/>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63483" y="-304800"/>
            <a:ext cx="8017034"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69B34CCD-D1B0-D14A-0102-8AC8F9C335D9}"/>
              </a:ext>
            </a:extLst>
          </p:cNvPr>
          <p:cNvSpPr txBox="1"/>
          <p:nvPr/>
        </p:nvSpPr>
        <p:spPr>
          <a:xfrm>
            <a:off x="1600200" y="6019800"/>
            <a:ext cx="4831194" cy="369332"/>
          </a:xfrm>
          <a:prstGeom prst="rect">
            <a:avLst/>
          </a:prstGeom>
          <a:noFill/>
        </p:spPr>
        <p:txBody>
          <a:bodyPr wrap="none" rtlCol="0">
            <a:spAutoFit/>
          </a:bodyPr>
          <a:lstStyle/>
          <a:p>
            <a:r>
              <a:rPr lang="en-US" sz="1800" b="1" i="0" u="none" strike="noStrike" baseline="0" dirty="0">
                <a:solidFill>
                  <a:srgbClr val="FF0000"/>
                </a:solidFill>
                <a:latin typeface="Leawood-Book"/>
              </a:rPr>
              <a:t>are not always developed in a sequential fashion</a:t>
            </a:r>
            <a:endParaRPr lang="en-IN" b="1" dirty="0">
              <a:solidFill>
                <a:srgbClr val="FF0000"/>
              </a:solidFill>
            </a:endParaRPr>
          </a:p>
        </p:txBody>
      </p:sp>
      <p:sp>
        <p:nvSpPr>
          <p:cNvPr id="6" name="TextBox 5">
            <a:extLst>
              <a:ext uri="{FF2B5EF4-FFF2-40B4-BE49-F238E27FC236}">
                <a16:creationId xmlns:a16="http://schemas.microsoft.com/office/drawing/2014/main" id="{040A0B18-8912-F06A-2EF4-3AB14CE225B6}"/>
              </a:ext>
            </a:extLst>
          </p:cNvPr>
          <p:cNvSpPr txBox="1"/>
          <p:nvPr/>
        </p:nvSpPr>
        <p:spPr>
          <a:xfrm>
            <a:off x="2819400" y="3657600"/>
            <a:ext cx="3782639" cy="646331"/>
          </a:xfrm>
          <a:prstGeom prst="rect">
            <a:avLst/>
          </a:prstGeom>
          <a:noFill/>
        </p:spPr>
        <p:txBody>
          <a:bodyPr wrap="none" rtlCol="0">
            <a:spAutoFit/>
          </a:bodyPr>
          <a:lstStyle/>
          <a:p>
            <a:pPr algn="l"/>
            <a:r>
              <a:rPr lang="en-IN" sz="1800" b="1" i="0" u="none" strike="noStrike" baseline="0" dirty="0">
                <a:solidFill>
                  <a:srgbClr val="FF0000"/>
                </a:solidFill>
                <a:latin typeface="Leawood-Book"/>
              </a:rPr>
              <a:t>interface design and component-level</a:t>
            </a:r>
          </a:p>
          <a:p>
            <a:pPr algn="l"/>
            <a:r>
              <a:rPr lang="en-US" sz="1800" b="1" i="0" u="none" strike="noStrike" baseline="0" dirty="0">
                <a:solidFill>
                  <a:srgbClr val="FF0000"/>
                </a:solidFill>
                <a:latin typeface="Leawood-Book"/>
              </a:rPr>
              <a:t>design, which often occur in </a:t>
            </a:r>
            <a:r>
              <a:rPr lang="en-US" sz="1800" b="1" i="0" u="none" strike="noStrike" baseline="0" dirty="0" err="1">
                <a:solidFill>
                  <a:srgbClr val="FF0000"/>
                </a:solidFill>
                <a:latin typeface="Leawood-Book"/>
              </a:rPr>
              <a:t>paralle</a:t>
            </a:r>
            <a:endParaRPr lang="en-IN" b="1" dirty="0">
              <a:solidFill>
                <a:srgbClr val="FF0000"/>
              </a:solidFill>
            </a:endParaRPr>
          </a:p>
        </p:txBody>
      </p:sp>
    </p:spTree>
    <p:extLst>
      <p:ext uri="{BB962C8B-B14F-4D97-AF65-F5344CB8AC3E}">
        <p14:creationId xmlns:p14="http://schemas.microsoft.com/office/powerpoint/2010/main" val="2479391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1110462"/>
            <a:ext cx="5391150" cy="471283"/>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tabLst>
                <a:tab pos="1301115" algn="l"/>
                <a:tab pos="2445068" algn="l"/>
              </a:tabLst>
            </a:pPr>
            <a:r>
              <a:rPr sz="3000" dirty="0">
                <a:solidFill>
                  <a:srgbClr val="FF0000"/>
                </a:solidFill>
              </a:rPr>
              <a:t>Design	Model	</a:t>
            </a:r>
            <a:r>
              <a:rPr sz="3000" spc="-4" dirty="0">
                <a:solidFill>
                  <a:srgbClr val="FF0000"/>
                </a:solidFill>
              </a:rPr>
              <a:t>Elements</a:t>
            </a:r>
            <a:endParaRPr sz="3000" dirty="0">
              <a:solidFill>
                <a:srgbClr val="FF0000"/>
              </a:solidFill>
            </a:endParaRPr>
          </a:p>
        </p:txBody>
      </p:sp>
      <p:sp>
        <p:nvSpPr>
          <p:cNvPr id="3" name="object 3"/>
          <p:cNvSpPr txBox="1"/>
          <p:nvPr/>
        </p:nvSpPr>
        <p:spPr>
          <a:xfrm>
            <a:off x="633046" y="1777029"/>
            <a:ext cx="7367953" cy="3258969"/>
          </a:xfrm>
          <a:prstGeom prst="rect">
            <a:avLst/>
          </a:prstGeom>
        </p:spPr>
        <p:txBody>
          <a:bodyPr vert="horz" wrap="square" lIns="0" tIns="24765" rIns="0" bIns="0" rtlCol="0">
            <a:spAutoFit/>
          </a:bodyPr>
          <a:lstStyle/>
          <a:p>
            <a:pPr marL="266700" indent="-257175">
              <a:lnSpc>
                <a:spcPct val="200000"/>
              </a:lnSpc>
              <a:spcBef>
                <a:spcPts val="195"/>
              </a:spcBef>
              <a:buSzPct val="75000"/>
              <a:buFont typeface="Wingdings"/>
              <a:buChar char=""/>
              <a:tabLst>
                <a:tab pos="266224" algn="l"/>
                <a:tab pos="266700" algn="l"/>
              </a:tabLst>
            </a:pPr>
            <a:r>
              <a:rPr sz="2100" spc="-4" dirty="0">
                <a:latin typeface="Arial"/>
                <a:cs typeface="Arial"/>
              </a:rPr>
              <a:t>Data</a:t>
            </a:r>
            <a:r>
              <a:rPr sz="2100" spc="-19" dirty="0">
                <a:latin typeface="Arial"/>
                <a:cs typeface="Arial"/>
              </a:rPr>
              <a:t> </a:t>
            </a:r>
            <a:r>
              <a:rPr lang="en-US" sz="2100" spc="-19" dirty="0">
                <a:latin typeface="Arial"/>
                <a:cs typeface="Arial"/>
              </a:rPr>
              <a:t>Design </a:t>
            </a:r>
            <a:r>
              <a:rPr sz="2100" spc="-4" dirty="0">
                <a:latin typeface="Arial"/>
                <a:cs typeface="Arial"/>
              </a:rPr>
              <a:t>elements</a:t>
            </a:r>
            <a:endParaRPr sz="2100" dirty="0">
              <a:latin typeface="Arial"/>
              <a:cs typeface="Arial"/>
            </a:endParaRPr>
          </a:p>
          <a:p>
            <a:pPr marL="266700" indent="-257175">
              <a:lnSpc>
                <a:spcPct val="200000"/>
              </a:lnSpc>
              <a:spcBef>
                <a:spcPts val="157"/>
              </a:spcBef>
              <a:buSzPct val="75000"/>
              <a:buFont typeface="Wingdings"/>
              <a:buChar char=""/>
              <a:tabLst>
                <a:tab pos="266224" algn="l"/>
                <a:tab pos="266700" algn="l"/>
              </a:tabLst>
            </a:pPr>
            <a:r>
              <a:rPr sz="2100" spc="-4" dirty="0">
                <a:latin typeface="Arial"/>
                <a:cs typeface="Arial"/>
              </a:rPr>
              <a:t>Architectural </a:t>
            </a:r>
            <a:r>
              <a:rPr lang="en-IN" sz="2100" spc="-19" dirty="0">
                <a:latin typeface="Arial"/>
                <a:cs typeface="Arial"/>
              </a:rPr>
              <a:t> Design </a:t>
            </a:r>
            <a:r>
              <a:rPr sz="2100" spc="-4" dirty="0">
                <a:latin typeface="Arial"/>
                <a:cs typeface="Arial"/>
              </a:rPr>
              <a:t>elements</a:t>
            </a:r>
            <a:endParaRPr sz="2100" dirty="0">
              <a:latin typeface="Arial"/>
              <a:cs typeface="Arial"/>
            </a:endParaRPr>
          </a:p>
          <a:p>
            <a:pPr marL="266700" indent="-257175">
              <a:lnSpc>
                <a:spcPct val="200000"/>
              </a:lnSpc>
              <a:spcBef>
                <a:spcPts val="232"/>
              </a:spcBef>
              <a:buSzPct val="75000"/>
              <a:buFont typeface="Wingdings"/>
              <a:buChar char=""/>
              <a:tabLst>
                <a:tab pos="266224" algn="l"/>
                <a:tab pos="266700" algn="l"/>
              </a:tabLst>
            </a:pPr>
            <a:r>
              <a:rPr sz="2100" spc="-4" dirty="0">
                <a:latin typeface="Arial"/>
                <a:cs typeface="Arial"/>
              </a:rPr>
              <a:t>Interface</a:t>
            </a:r>
            <a:r>
              <a:rPr sz="2100" spc="-15" dirty="0">
                <a:latin typeface="Arial"/>
                <a:cs typeface="Arial"/>
              </a:rPr>
              <a:t> </a:t>
            </a:r>
            <a:r>
              <a:rPr lang="en-IN" sz="2100" spc="-19" dirty="0">
                <a:latin typeface="Arial"/>
                <a:cs typeface="Arial"/>
              </a:rPr>
              <a:t> Design </a:t>
            </a:r>
            <a:r>
              <a:rPr sz="2100" spc="-4" dirty="0">
                <a:latin typeface="Arial"/>
                <a:cs typeface="Arial"/>
              </a:rPr>
              <a:t>elements</a:t>
            </a:r>
            <a:endParaRPr sz="2100" dirty="0">
              <a:latin typeface="Arial"/>
              <a:cs typeface="Arial"/>
            </a:endParaRPr>
          </a:p>
          <a:p>
            <a:pPr marL="266700" indent="-257175">
              <a:lnSpc>
                <a:spcPct val="200000"/>
              </a:lnSpc>
              <a:spcBef>
                <a:spcPts val="157"/>
              </a:spcBef>
              <a:buSzPct val="75000"/>
              <a:buFont typeface="Wingdings"/>
              <a:buChar char=""/>
              <a:tabLst>
                <a:tab pos="266224" algn="l"/>
                <a:tab pos="266700" algn="l"/>
              </a:tabLst>
            </a:pPr>
            <a:r>
              <a:rPr sz="2100" dirty="0">
                <a:latin typeface="Arial"/>
                <a:cs typeface="Arial"/>
              </a:rPr>
              <a:t>Component</a:t>
            </a:r>
            <a:r>
              <a:rPr sz="2100" spc="-26" dirty="0">
                <a:latin typeface="Arial"/>
                <a:cs typeface="Arial"/>
              </a:rPr>
              <a:t> </a:t>
            </a:r>
            <a:r>
              <a:rPr lang="en-IN" sz="2100" spc="-19" dirty="0">
                <a:latin typeface="Arial"/>
                <a:cs typeface="Arial"/>
              </a:rPr>
              <a:t> Design </a:t>
            </a:r>
            <a:r>
              <a:rPr sz="2100" spc="-4" dirty="0">
                <a:latin typeface="Arial"/>
                <a:cs typeface="Arial"/>
              </a:rPr>
              <a:t>elements</a:t>
            </a:r>
            <a:endParaRPr sz="2100" dirty="0">
              <a:latin typeface="Arial"/>
              <a:cs typeface="Arial"/>
            </a:endParaRPr>
          </a:p>
          <a:p>
            <a:pPr marL="266700" indent="-257175">
              <a:lnSpc>
                <a:spcPct val="200000"/>
              </a:lnSpc>
              <a:spcBef>
                <a:spcPts val="180"/>
              </a:spcBef>
              <a:buSzPct val="75000"/>
              <a:buFont typeface="Wingdings"/>
              <a:buChar char=""/>
              <a:tabLst>
                <a:tab pos="266224" algn="l"/>
                <a:tab pos="266700" algn="l"/>
              </a:tabLst>
            </a:pPr>
            <a:r>
              <a:rPr sz="2100" dirty="0">
                <a:latin typeface="Arial"/>
                <a:cs typeface="Arial"/>
              </a:rPr>
              <a:t>Deployment</a:t>
            </a:r>
            <a:r>
              <a:rPr sz="2100" spc="-26" dirty="0">
                <a:latin typeface="Arial"/>
                <a:cs typeface="Arial"/>
              </a:rPr>
              <a:t> </a:t>
            </a:r>
            <a:r>
              <a:rPr lang="en-IN" sz="2100" spc="-19" dirty="0">
                <a:latin typeface="Arial"/>
                <a:cs typeface="Arial"/>
              </a:rPr>
              <a:t> Design </a:t>
            </a:r>
            <a:r>
              <a:rPr sz="2100" spc="-4" dirty="0">
                <a:latin typeface="Arial"/>
                <a:cs typeface="Arial"/>
              </a:rPr>
              <a:t>elements</a:t>
            </a:r>
            <a:endParaRPr sz="2100" dirty="0">
              <a:latin typeface="Arial"/>
              <a:cs typeface="Arial"/>
            </a:endParaRPr>
          </a:p>
        </p:txBody>
      </p:sp>
    </p:spTree>
    <p:extLst>
      <p:ext uri="{BB962C8B-B14F-4D97-AF65-F5344CB8AC3E}">
        <p14:creationId xmlns:p14="http://schemas.microsoft.com/office/powerpoint/2010/main" val="4109202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EE233-8E48-15BE-48EB-0A48C25CF269}"/>
              </a:ext>
            </a:extLst>
          </p:cNvPr>
          <p:cNvSpPr>
            <a:spLocks noGrp="1"/>
          </p:cNvSpPr>
          <p:nvPr>
            <p:ph type="title"/>
          </p:nvPr>
        </p:nvSpPr>
        <p:spPr/>
        <p:txBody>
          <a:bodyPr/>
          <a:lstStyle/>
          <a:p>
            <a:r>
              <a:rPr lang="en-IN" dirty="0"/>
              <a:t>Software Design Components</a:t>
            </a:r>
          </a:p>
        </p:txBody>
      </p:sp>
      <p:pic>
        <p:nvPicPr>
          <p:cNvPr id="5" name="Content Placeholder 4">
            <a:extLst>
              <a:ext uri="{FF2B5EF4-FFF2-40B4-BE49-F238E27FC236}">
                <a16:creationId xmlns:a16="http://schemas.microsoft.com/office/drawing/2014/main" id="{E5615A43-1221-8ED1-AC42-B674FB590D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4412" y="1417638"/>
            <a:ext cx="7115175" cy="3840162"/>
          </a:xfrm>
        </p:spPr>
      </p:pic>
    </p:spTree>
    <p:extLst>
      <p:ext uri="{BB962C8B-B14F-4D97-AF65-F5344CB8AC3E}">
        <p14:creationId xmlns:p14="http://schemas.microsoft.com/office/powerpoint/2010/main" val="1009414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lstStyle/>
          <a:p>
            <a:pPr algn="ctr"/>
            <a:r>
              <a:rPr lang="en-GB" b="1" dirty="0">
                <a:solidFill>
                  <a:srgbClr val="FF0000"/>
                </a:solidFill>
              </a:rPr>
              <a:t>Data/Class Design Elements</a:t>
            </a:r>
            <a:endParaRPr lang="en-IN" dirty="0">
              <a:solidFill>
                <a:srgbClr val="FF0000"/>
              </a:solidFill>
            </a:endParaRPr>
          </a:p>
        </p:txBody>
      </p:sp>
      <p:sp>
        <p:nvSpPr>
          <p:cNvPr id="3" name="Content Placeholder 2"/>
          <p:cNvSpPr>
            <a:spLocks noGrp="1"/>
          </p:cNvSpPr>
          <p:nvPr>
            <p:ph idx="1"/>
          </p:nvPr>
        </p:nvSpPr>
        <p:spPr>
          <a:xfrm>
            <a:off x="628650" y="762000"/>
            <a:ext cx="7886700" cy="5562600"/>
          </a:xfrm>
        </p:spPr>
        <p:txBody>
          <a:bodyPr>
            <a:normAutofit fontScale="25000" lnSpcReduction="20000"/>
          </a:bodyPr>
          <a:lstStyle/>
          <a:p>
            <a:pPr lvl="0">
              <a:lnSpc>
                <a:spcPct val="170000"/>
              </a:lnSpc>
            </a:pPr>
            <a:r>
              <a:rPr lang="en-GB" sz="7200" dirty="0"/>
              <a:t>Data design creates a model of data and objects that is represented at a high level of abstraction</a:t>
            </a:r>
            <a:endParaRPr lang="en-IN" sz="7200" dirty="0"/>
          </a:p>
          <a:p>
            <a:pPr lvl="0">
              <a:lnSpc>
                <a:spcPct val="170000"/>
              </a:lnSpc>
            </a:pPr>
            <a:r>
              <a:rPr lang="en-US" sz="7200" dirty="0"/>
              <a:t>This data model is then </a:t>
            </a:r>
            <a:r>
              <a:rPr lang="en-US" sz="7200" dirty="0">
                <a:solidFill>
                  <a:srgbClr val="FF0000"/>
                </a:solidFill>
              </a:rPr>
              <a:t>refined into progressively </a:t>
            </a:r>
            <a:r>
              <a:rPr lang="en-US" sz="7200" dirty="0" err="1">
                <a:solidFill>
                  <a:srgbClr val="FF0000"/>
                </a:solidFill>
              </a:rPr>
              <a:t>progressively</a:t>
            </a:r>
            <a:r>
              <a:rPr lang="en-US" sz="7200" dirty="0">
                <a:solidFill>
                  <a:srgbClr val="FF0000"/>
                </a:solidFill>
              </a:rPr>
              <a:t> more implementation-specific representations </a:t>
            </a:r>
            <a:r>
              <a:rPr lang="en-US" sz="7200" dirty="0"/>
              <a:t>that can be processed by the computer-based system</a:t>
            </a:r>
            <a:endParaRPr lang="en-IN" sz="7200" dirty="0"/>
          </a:p>
          <a:p>
            <a:pPr lvl="0">
              <a:lnSpc>
                <a:spcPct val="170000"/>
              </a:lnSpc>
            </a:pPr>
            <a:r>
              <a:rPr lang="en-US" sz="7200" dirty="0"/>
              <a:t>At the </a:t>
            </a:r>
            <a:r>
              <a:rPr lang="en-US" sz="7200" dirty="0">
                <a:solidFill>
                  <a:srgbClr val="FF0000"/>
                </a:solidFill>
              </a:rPr>
              <a:t>program component level</a:t>
            </a:r>
            <a:r>
              <a:rPr lang="en-US" sz="7200" dirty="0"/>
              <a:t>, the </a:t>
            </a:r>
            <a:r>
              <a:rPr lang="en-US" sz="7200" u="sng" dirty="0"/>
              <a:t>design of data structures and the associated algorithms</a:t>
            </a:r>
            <a:r>
              <a:rPr lang="en-US" sz="7200" dirty="0"/>
              <a:t> are used for the creating the high-quality applications.</a:t>
            </a:r>
            <a:endParaRPr lang="en-IN" sz="7200" dirty="0"/>
          </a:p>
          <a:p>
            <a:pPr lvl="0">
              <a:lnSpc>
                <a:spcPct val="170000"/>
              </a:lnSpc>
            </a:pPr>
            <a:r>
              <a:rPr lang="en-US" sz="7200" dirty="0"/>
              <a:t>At the </a:t>
            </a:r>
            <a:r>
              <a:rPr lang="en-US" sz="7200" dirty="0">
                <a:solidFill>
                  <a:srgbClr val="FF0000"/>
                </a:solidFill>
              </a:rPr>
              <a:t>application level</a:t>
            </a:r>
            <a:r>
              <a:rPr lang="en-US" sz="7200" dirty="0"/>
              <a:t>, the </a:t>
            </a:r>
            <a:r>
              <a:rPr lang="en-US" sz="7200" u="sng" dirty="0"/>
              <a:t>translation of a data model into a database</a:t>
            </a:r>
            <a:r>
              <a:rPr lang="en-US" sz="7200" dirty="0"/>
              <a:t> is essential to achieve the business objectives of a system.</a:t>
            </a:r>
            <a:endParaRPr lang="en-IN" sz="7200" dirty="0"/>
          </a:p>
          <a:p>
            <a:pPr lvl="0">
              <a:lnSpc>
                <a:spcPct val="170000"/>
              </a:lnSpc>
            </a:pPr>
            <a:r>
              <a:rPr lang="en-US" sz="7200" dirty="0"/>
              <a:t>At the </a:t>
            </a:r>
            <a:r>
              <a:rPr lang="en-US" sz="7200" dirty="0">
                <a:solidFill>
                  <a:srgbClr val="FF0000"/>
                </a:solidFill>
              </a:rPr>
              <a:t>business level</a:t>
            </a:r>
            <a:r>
              <a:rPr lang="en-US" sz="7200" dirty="0"/>
              <a:t>, the collection of information stored in different databases and reorganized into a </a:t>
            </a:r>
            <a:r>
              <a:rPr lang="en-US" sz="7200" u="sng" dirty="0"/>
              <a:t>data warehouse enables data mining</a:t>
            </a:r>
            <a:r>
              <a:rPr lang="en-US" sz="7200" dirty="0"/>
              <a:t> or knowledge discovery.</a:t>
            </a:r>
            <a:endParaRPr lang="en-IN" sz="7200" dirty="0"/>
          </a:p>
          <a:p>
            <a:endParaRPr lang="en-IN" dirty="0"/>
          </a:p>
        </p:txBody>
      </p:sp>
    </p:spTree>
    <p:extLst>
      <p:ext uri="{BB962C8B-B14F-4D97-AF65-F5344CB8AC3E}">
        <p14:creationId xmlns:p14="http://schemas.microsoft.com/office/powerpoint/2010/main" val="39543285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56809"/>
            <a:ext cx="5107940" cy="471283"/>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tabLst>
                <a:tab pos="2232660" algn="l"/>
              </a:tabLst>
            </a:pPr>
            <a:r>
              <a:rPr sz="3000" spc="-4" dirty="0">
                <a:solidFill>
                  <a:srgbClr val="FF0000"/>
                </a:solidFill>
              </a:rPr>
              <a:t>Architectural	Elements</a:t>
            </a:r>
            <a:endParaRPr sz="3000" dirty="0">
              <a:solidFill>
                <a:srgbClr val="FF0000"/>
              </a:solidFill>
            </a:endParaRPr>
          </a:p>
        </p:txBody>
      </p:sp>
      <p:sp>
        <p:nvSpPr>
          <p:cNvPr id="3" name="object 3"/>
          <p:cNvSpPr txBox="1"/>
          <p:nvPr/>
        </p:nvSpPr>
        <p:spPr>
          <a:xfrm>
            <a:off x="685800" y="990600"/>
            <a:ext cx="8115300" cy="3998402"/>
          </a:xfrm>
          <a:prstGeom prst="rect">
            <a:avLst/>
          </a:prstGeom>
        </p:spPr>
        <p:txBody>
          <a:bodyPr vert="horz" wrap="square" lIns="0" tIns="24765" rIns="0" bIns="0" rtlCol="0">
            <a:spAutoFit/>
          </a:bodyPr>
          <a:lstStyle/>
          <a:p>
            <a:pPr marL="257175" indent="-257175">
              <a:lnSpc>
                <a:spcPct val="200000"/>
              </a:lnSpc>
              <a:buFont typeface="Wingdings" pitchFamily="2" charset="2"/>
              <a:buChar char="Ø"/>
            </a:pPr>
            <a:r>
              <a:rPr lang="en-GB" sz="1500" dirty="0"/>
              <a:t>Architectural design depicts the </a:t>
            </a:r>
            <a:r>
              <a:rPr lang="en-GB" sz="1500" dirty="0">
                <a:solidFill>
                  <a:srgbClr val="FF0000"/>
                </a:solidFill>
              </a:rPr>
              <a:t>overall layout </a:t>
            </a:r>
            <a:r>
              <a:rPr lang="en-GB" sz="1500" dirty="0"/>
              <a:t>of the software</a:t>
            </a:r>
          </a:p>
          <a:p>
            <a:pPr marL="257175" indent="-257175">
              <a:lnSpc>
                <a:spcPct val="200000"/>
              </a:lnSpc>
              <a:buFont typeface="Wingdings" pitchFamily="2" charset="2"/>
              <a:buChar char="Ø"/>
            </a:pPr>
            <a:r>
              <a:rPr lang="en-US" sz="1500" dirty="0"/>
              <a:t>The architectural model is derived from three sources:</a:t>
            </a:r>
            <a:endParaRPr lang="en-IN" sz="1500" dirty="0"/>
          </a:p>
          <a:p>
            <a:pPr lvl="1">
              <a:lnSpc>
                <a:spcPct val="200000"/>
              </a:lnSpc>
            </a:pPr>
            <a:r>
              <a:rPr lang="en-US" sz="1500" dirty="0">
                <a:solidFill>
                  <a:srgbClr val="FF0000"/>
                </a:solidFill>
              </a:rPr>
              <a:t>(1) Information about the application domain </a:t>
            </a:r>
            <a:endParaRPr lang="en-IN" sz="1500" dirty="0">
              <a:solidFill>
                <a:srgbClr val="FF0000"/>
              </a:solidFill>
            </a:endParaRPr>
          </a:p>
          <a:p>
            <a:pPr lvl="1">
              <a:lnSpc>
                <a:spcPct val="200000"/>
              </a:lnSpc>
            </a:pPr>
            <a:r>
              <a:rPr lang="en-US" sz="1500" dirty="0">
                <a:solidFill>
                  <a:srgbClr val="FF0000"/>
                </a:solidFill>
              </a:rPr>
              <a:t>(2) Specific requirements model elements such as data flow diagrams and their relationships </a:t>
            </a:r>
            <a:endParaRPr lang="en-IN" sz="1500" dirty="0">
              <a:solidFill>
                <a:srgbClr val="FF0000"/>
              </a:solidFill>
            </a:endParaRPr>
          </a:p>
          <a:p>
            <a:pPr lvl="1">
              <a:lnSpc>
                <a:spcPct val="200000"/>
              </a:lnSpc>
            </a:pPr>
            <a:r>
              <a:rPr lang="en-US" sz="1500" dirty="0">
                <a:solidFill>
                  <a:srgbClr val="FF0000"/>
                </a:solidFill>
              </a:rPr>
              <a:t>(3) The availability of architectural styles and patterns.</a:t>
            </a:r>
            <a:endParaRPr lang="en-IN" sz="1500" dirty="0">
              <a:solidFill>
                <a:srgbClr val="FF0000"/>
              </a:solidFill>
            </a:endParaRPr>
          </a:p>
          <a:p>
            <a:pPr marL="257175" indent="-257175">
              <a:lnSpc>
                <a:spcPct val="200000"/>
              </a:lnSpc>
              <a:buFont typeface="Wingdings" pitchFamily="2" charset="2"/>
              <a:buChar char="Ø"/>
            </a:pPr>
            <a:r>
              <a:rPr lang="en-US" sz="1500" dirty="0"/>
              <a:t>The architectural design element is usually represented as a set of interconnected subsystems, each have its own architecture</a:t>
            </a:r>
            <a:endParaRPr lang="en-IN" sz="1500" dirty="0"/>
          </a:p>
          <a:p>
            <a:pPr marL="266224" marR="440531" indent="-257175">
              <a:lnSpc>
                <a:spcPts val="2100"/>
              </a:lnSpc>
              <a:spcBef>
                <a:spcPts val="195"/>
              </a:spcBef>
              <a:buClr>
                <a:srgbClr val="9A0000"/>
              </a:buClr>
              <a:buSzPct val="75000"/>
              <a:buFont typeface="Wingdings"/>
              <a:buChar char=""/>
              <a:tabLst>
                <a:tab pos="266224" algn="l"/>
                <a:tab pos="266700" algn="l"/>
              </a:tabLst>
            </a:pPr>
            <a:endParaRPr sz="1500" dirty="0">
              <a:latin typeface="Book Antiqua"/>
              <a:cs typeface="Book Antiqua"/>
            </a:endParaRPr>
          </a:p>
        </p:txBody>
      </p:sp>
    </p:spTree>
    <p:extLst>
      <p:ext uri="{BB962C8B-B14F-4D97-AF65-F5344CB8AC3E}">
        <p14:creationId xmlns:p14="http://schemas.microsoft.com/office/powerpoint/2010/main" val="1847279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pPr algn="ctr"/>
            <a:r>
              <a:rPr lang="en-GB" b="1" dirty="0">
                <a:solidFill>
                  <a:srgbClr val="FF0000"/>
                </a:solidFill>
              </a:rPr>
              <a:t>Interface design elements</a:t>
            </a:r>
            <a:br>
              <a:rPr lang="en-IN" dirty="0"/>
            </a:br>
            <a:endParaRPr lang="en-IN" dirty="0"/>
          </a:p>
        </p:txBody>
      </p:sp>
      <p:sp>
        <p:nvSpPr>
          <p:cNvPr id="3" name="Content Placeholder 2"/>
          <p:cNvSpPr>
            <a:spLocks noGrp="1"/>
          </p:cNvSpPr>
          <p:nvPr>
            <p:ph idx="1"/>
          </p:nvPr>
        </p:nvSpPr>
        <p:spPr>
          <a:xfrm>
            <a:off x="354330" y="685800"/>
            <a:ext cx="7886700" cy="5638799"/>
          </a:xfrm>
        </p:spPr>
        <p:txBody>
          <a:bodyPr>
            <a:normAutofit/>
          </a:bodyPr>
          <a:lstStyle/>
          <a:p>
            <a:pPr lvl="0">
              <a:lnSpc>
                <a:spcPct val="200000"/>
              </a:lnSpc>
            </a:pPr>
            <a:r>
              <a:rPr lang="en-GB" sz="1800" dirty="0"/>
              <a:t>Interface design tells how </a:t>
            </a:r>
            <a:r>
              <a:rPr lang="en-GB" sz="1800" dirty="0">
                <a:solidFill>
                  <a:srgbClr val="FF0000"/>
                </a:solidFill>
              </a:rPr>
              <a:t>information flows</a:t>
            </a:r>
            <a:r>
              <a:rPr lang="en-GB" sz="1800" dirty="0"/>
              <a:t> into and out of the system and how it is communicated among the various components of the architecture</a:t>
            </a:r>
            <a:endParaRPr lang="en-IN" sz="1800" dirty="0"/>
          </a:p>
          <a:p>
            <a:pPr lvl="0">
              <a:lnSpc>
                <a:spcPct val="200000"/>
              </a:lnSpc>
            </a:pPr>
            <a:r>
              <a:rPr lang="en-GB" sz="1900" dirty="0">
                <a:solidFill>
                  <a:srgbClr val="FF0000"/>
                </a:solidFill>
              </a:rPr>
              <a:t>Elements of interface design:  </a:t>
            </a:r>
            <a:endParaRPr lang="en-IN" sz="1900" dirty="0">
              <a:solidFill>
                <a:srgbClr val="FF0000"/>
              </a:solidFill>
            </a:endParaRPr>
          </a:p>
          <a:p>
            <a:pPr lvl="1">
              <a:lnSpc>
                <a:spcPct val="200000"/>
              </a:lnSpc>
            </a:pPr>
            <a:r>
              <a:rPr lang="en-GB" sz="1900" dirty="0">
                <a:solidFill>
                  <a:srgbClr val="FF0000"/>
                </a:solidFill>
              </a:rPr>
              <a:t>user interface</a:t>
            </a:r>
            <a:endParaRPr lang="en-IN" sz="1900" dirty="0">
              <a:solidFill>
                <a:srgbClr val="FF0000"/>
              </a:solidFill>
            </a:endParaRPr>
          </a:p>
          <a:p>
            <a:pPr lvl="1">
              <a:lnSpc>
                <a:spcPct val="200000"/>
              </a:lnSpc>
            </a:pPr>
            <a:r>
              <a:rPr lang="en-GB" sz="1900" dirty="0">
                <a:solidFill>
                  <a:srgbClr val="FF0000"/>
                </a:solidFill>
              </a:rPr>
              <a:t>external interfaces</a:t>
            </a:r>
            <a:endParaRPr lang="en-IN" sz="1900" dirty="0">
              <a:solidFill>
                <a:srgbClr val="FF0000"/>
              </a:solidFill>
            </a:endParaRPr>
          </a:p>
          <a:p>
            <a:pPr lvl="1">
              <a:lnSpc>
                <a:spcPct val="200000"/>
              </a:lnSpc>
            </a:pPr>
            <a:r>
              <a:rPr lang="en-GB" sz="1900" dirty="0">
                <a:solidFill>
                  <a:srgbClr val="FF0000"/>
                </a:solidFill>
              </a:rPr>
              <a:t>internal interfaces</a:t>
            </a:r>
            <a:endParaRPr lang="en-IN" sz="1900" dirty="0">
              <a:solidFill>
                <a:srgbClr val="FF0000"/>
              </a:solidFill>
            </a:endParaRPr>
          </a:p>
          <a:p>
            <a:endParaRPr lang="en-IN" dirty="0"/>
          </a:p>
        </p:txBody>
      </p:sp>
      <p:pic>
        <p:nvPicPr>
          <p:cNvPr id="8" name="Picture 7">
            <a:extLst>
              <a:ext uri="{FF2B5EF4-FFF2-40B4-BE49-F238E27FC236}">
                <a16:creationId xmlns:a16="http://schemas.microsoft.com/office/drawing/2014/main" id="{F7B4E514-570D-3EE4-1638-81B9F82D9CCF}"/>
              </a:ext>
            </a:extLst>
          </p:cNvPr>
          <p:cNvPicPr>
            <a:picLocks noChangeAspect="1"/>
          </p:cNvPicPr>
          <p:nvPr/>
        </p:nvPicPr>
        <p:blipFill>
          <a:blip r:embed="rId2"/>
          <a:stretch>
            <a:fillRect/>
          </a:stretch>
        </p:blipFill>
        <p:spPr>
          <a:xfrm>
            <a:off x="4419600" y="3124200"/>
            <a:ext cx="3897630" cy="2869406"/>
          </a:xfrm>
          <a:prstGeom prst="rect">
            <a:avLst/>
          </a:prstGeom>
        </p:spPr>
      </p:pic>
    </p:spTree>
    <p:extLst>
      <p:ext uri="{BB962C8B-B14F-4D97-AF65-F5344CB8AC3E}">
        <p14:creationId xmlns:p14="http://schemas.microsoft.com/office/powerpoint/2010/main" val="399344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160" y="279954"/>
            <a:ext cx="4911090" cy="471283"/>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sz="3000" dirty="0">
                <a:solidFill>
                  <a:srgbClr val="FF0000"/>
                </a:solidFill>
              </a:rPr>
              <a:t>Component</a:t>
            </a:r>
            <a:r>
              <a:rPr lang="en-US" sz="3000" dirty="0">
                <a:solidFill>
                  <a:srgbClr val="FF0000"/>
                </a:solidFill>
              </a:rPr>
              <a:t> Design</a:t>
            </a:r>
            <a:r>
              <a:rPr sz="3000" spc="-49" dirty="0">
                <a:solidFill>
                  <a:srgbClr val="FF0000"/>
                </a:solidFill>
              </a:rPr>
              <a:t> </a:t>
            </a:r>
            <a:r>
              <a:rPr sz="3000" spc="-4" dirty="0">
                <a:solidFill>
                  <a:srgbClr val="FF0000"/>
                </a:solidFill>
              </a:rPr>
              <a:t>Elements</a:t>
            </a:r>
            <a:endParaRPr sz="3000" dirty="0">
              <a:solidFill>
                <a:srgbClr val="FF0000"/>
              </a:solidFill>
            </a:endParaRPr>
          </a:p>
        </p:txBody>
      </p:sp>
      <p:sp>
        <p:nvSpPr>
          <p:cNvPr id="3" name="object 3"/>
          <p:cNvSpPr txBox="1">
            <a:spLocks noGrp="1"/>
          </p:cNvSpPr>
          <p:nvPr>
            <p:ph type="body" idx="1"/>
          </p:nvPr>
        </p:nvSpPr>
        <p:spPr>
          <a:xfrm>
            <a:off x="42985" y="1107508"/>
            <a:ext cx="8423030" cy="3791423"/>
          </a:xfrm>
          <a:prstGeom prst="rect">
            <a:avLst/>
          </a:prstGeom>
        </p:spPr>
        <p:txBody>
          <a:bodyPr vert="horz" wrap="square" lIns="0" tIns="55245" rIns="0" bIns="0" numCol="1" rtlCol="0" anchor="t" anchorCtr="0" compatLnSpc="1">
            <a:prstTxWarp prst="textNoShape">
              <a:avLst/>
            </a:prstTxWarp>
            <a:spAutoFit/>
          </a:bodyPr>
          <a:lstStyle/>
          <a:p>
            <a:pPr lvl="0">
              <a:lnSpc>
                <a:spcPct val="150000"/>
              </a:lnSpc>
            </a:pPr>
            <a:r>
              <a:rPr lang="en-GB" sz="1800" dirty="0"/>
              <a:t>Component level design describes the </a:t>
            </a:r>
            <a:r>
              <a:rPr lang="en-GB" sz="1800" dirty="0">
                <a:solidFill>
                  <a:srgbClr val="FF0000"/>
                </a:solidFill>
              </a:rPr>
              <a:t>internal detail </a:t>
            </a:r>
            <a:r>
              <a:rPr lang="en-GB" sz="1800" dirty="0"/>
              <a:t>of each software component like </a:t>
            </a:r>
            <a:r>
              <a:rPr lang="en-GB" sz="1800" dirty="0">
                <a:solidFill>
                  <a:srgbClr val="FF0000"/>
                </a:solidFill>
              </a:rPr>
              <a:t>data structure definitions, algorithms, and interface specifications</a:t>
            </a:r>
            <a:r>
              <a:rPr lang="en-GB" sz="1800" dirty="0"/>
              <a:t>.</a:t>
            </a:r>
            <a:endParaRPr lang="en-IN" sz="1800" dirty="0"/>
          </a:p>
          <a:p>
            <a:pPr lvl="0">
              <a:lnSpc>
                <a:spcPct val="150000"/>
              </a:lnSpc>
            </a:pPr>
            <a:r>
              <a:rPr lang="en-US" sz="1800" dirty="0"/>
              <a:t>A UML activity diagram can be used to represent </a:t>
            </a:r>
            <a:r>
              <a:rPr lang="en-US" sz="1800" dirty="0">
                <a:solidFill>
                  <a:srgbClr val="FF0000"/>
                </a:solidFill>
              </a:rPr>
              <a:t>processing logic.</a:t>
            </a:r>
            <a:endParaRPr lang="en-IN" sz="1800" dirty="0">
              <a:solidFill>
                <a:srgbClr val="FF0000"/>
              </a:solidFill>
            </a:endParaRPr>
          </a:p>
          <a:p>
            <a:pPr lvl="0">
              <a:lnSpc>
                <a:spcPct val="150000"/>
              </a:lnSpc>
            </a:pPr>
            <a:r>
              <a:rPr lang="en-US" sz="1800" dirty="0">
                <a:solidFill>
                  <a:srgbClr val="FF0000"/>
                </a:solidFill>
              </a:rPr>
              <a:t>Pseudocode</a:t>
            </a:r>
            <a:r>
              <a:rPr lang="en-US" sz="1800" dirty="0"/>
              <a:t> or some other </a:t>
            </a:r>
            <a:r>
              <a:rPr lang="en-US" sz="1800" dirty="0">
                <a:solidFill>
                  <a:srgbClr val="FF0000"/>
                </a:solidFill>
              </a:rPr>
              <a:t>diagrammatic form </a:t>
            </a:r>
            <a:r>
              <a:rPr lang="en-US" sz="1800" dirty="0"/>
              <a:t>(e.g., flowchart or box diagram) is used to represent the detailed procedural flow between the component. </a:t>
            </a:r>
            <a:endParaRPr lang="en-IN" sz="1800" dirty="0"/>
          </a:p>
          <a:p>
            <a:pPr lvl="0">
              <a:lnSpc>
                <a:spcPct val="150000"/>
              </a:lnSpc>
            </a:pPr>
            <a:r>
              <a:rPr lang="en-US" sz="1800" dirty="0">
                <a:solidFill>
                  <a:srgbClr val="FF0000"/>
                </a:solidFill>
              </a:rPr>
              <a:t>Algorithmic structure </a:t>
            </a:r>
            <a:r>
              <a:rPr lang="en-US" sz="1800" dirty="0"/>
              <a:t>follows the rules established for structured programming </a:t>
            </a:r>
            <a:endParaRPr lang="en-IN" sz="1800" dirty="0"/>
          </a:p>
          <a:p>
            <a:pPr marL="1028700" indent="-257175">
              <a:spcBef>
                <a:spcPts val="435"/>
              </a:spcBef>
              <a:buClr>
                <a:srgbClr val="9A0000"/>
              </a:buClr>
              <a:buSzPct val="75000"/>
              <a:buFont typeface="Wingdings"/>
              <a:buChar char=""/>
              <a:tabLst>
                <a:tab pos="1028700" algn="l"/>
                <a:tab pos="1029176" algn="l"/>
              </a:tabLst>
            </a:pPr>
            <a:endParaRPr spc="-4" dirty="0"/>
          </a:p>
          <a:p>
            <a:pPr marL="771525" marR="191453" indent="0">
              <a:lnSpc>
                <a:spcPct val="101499"/>
              </a:lnSpc>
              <a:spcBef>
                <a:spcPts val="398"/>
              </a:spcBef>
              <a:buClr>
                <a:srgbClr val="9A0000"/>
              </a:buClr>
              <a:buSzPct val="75000"/>
              <a:buNone/>
              <a:tabLst>
                <a:tab pos="1028700" algn="l"/>
                <a:tab pos="1029176" algn="l"/>
              </a:tabLst>
            </a:pPr>
            <a:endParaRPr dirty="0"/>
          </a:p>
        </p:txBody>
      </p:sp>
      <p:grpSp>
        <p:nvGrpSpPr>
          <p:cNvPr id="5" name="object 5"/>
          <p:cNvGrpSpPr/>
          <p:nvPr/>
        </p:nvGrpSpPr>
        <p:grpSpPr>
          <a:xfrm>
            <a:off x="1327478" y="4602639"/>
            <a:ext cx="2884805" cy="1264920"/>
            <a:chOff x="2100897" y="4264659"/>
            <a:chExt cx="2884805" cy="1686560"/>
          </a:xfrm>
        </p:grpSpPr>
        <p:sp>
          <p:nvSpPr>
            <p:cNvPr id="6" name="object 6"/>
            <p:cNvSpPr/>
            <p:nvPr/>
          </p:nvSpPr>
          <p:spPr>
            <a:xfrm>
              <a:off x="2425699" y="4271962"/>
              <a:ext cx="2540000" cy="1657350"/>
            </a:xfrm>
            <a:custGeom>
              <a:avLst/>
              <a:gdLst/>
              <a:ahLst/>
              <a:cxnLst/>
              <a:rect l="l" t="t" r="r" b="b"/>
              <a:pathLst>
                <a:path w="2540000" h="1657350">
                  <a:moveTo>
                    <a:pt x="2540000" y="0"/>
                  </a:moveTo>
                  <a:lnTo>
                    <a:pt x="0" y="0"/>
                  </a:lnTo>
                  <a:lnTo>
                    <a:pt x="0" y="1657349"/>
                  </a:lnTo>
                  <a:lnTo>
                    <a:pt x="2540000" y="1657349"/>
                  </a:lnTo>
                  <a:lnTo>
                    <a:pt x="2540000" y="0"/>
                  </a:lnTo>
                  <a:close/>
                </a:path>
              </a:pathLst>
            </a:custGeom>
            <a:solidFill>
              <a:srgbClr val="FFFFFF"/>
            </a:solidFill>
          </p:spPr>
          <p:txBody>
            <a:bodyPr wrap="square" lIns="0" tIns="0" rIns="0" bIns="0" rtlCol="0"/>
            <a:lstStyle/>
            <a:p>
              <a:endParaRPr/>
            </a:p>
          </p:txBody>
        </p:sp>
        <p:sp>
          <p:nvSpPr>
            <p:cNvPr id="7" name="object 7"/>
            <p:cNvSpPr/>
            <p:nvPr/>
          </p:nvSpPr>
          <p:spPr>
            <a:xfrm>
              <a:off x="2425700" y="4279106"/>
              <a:ext cx="2552700" cy="0"/>
            </a:xfrm>
            <a:custGeom>
              <a:avLst/>
              <a:gdLst/>
              <a:ahLst/>
              <a:cxnLst/>
              <a:rect l="l" t="t" r="r" b="b"/>
              <a:pathLst>
                <a:path w="2552700">
                  <a:moveTo>
                    <a:pt x="0" y="0"/>
                  </a:moveTo>
                  <a:lnTo>
                    <a:pt x="2552699" y="0"/>
                  </a:lnTo>
                </a:path>
              </a:pathLst>
            </a:custGeom>
            <a:ln w="14287">
              <a:solidFill>
                <a:srgbClr val="000000"/>
              </a:solidFill>
            </a:ln>
          </p:spPr>
          <p:txBody>
            <a:bodyPr wrap="square" lIns="0" tIns="0" rIns="0" bIns="0" rtlCol="0"/>
            <a:lstStyle/>
            <a:p>
              <a:endParaRPr/>
            </a:p>
          </p:txBody>
        </p:sp>
        <p:sp>
          <p:nvSpPr>
            <p:cNvPr id="8" name="object 8"/>
            <p:cNvSpPr/>
            <p:nvPr/>
          </p:nvSpPr>
          <p:spPr>
            <a:xfrm>
              <a:off x="4972050" y="4271962"/>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9" name="object 9"/>
            <p:cNvSpPr/>
            <p:nvPr/>
          </p:nvSpPr>
          <p:spPr>
            <a:xfrm>
              <a:off x="4972050" y="4271962"/>
              <a:ext cx="0" cy="1671955"/>
            </a:xfrm>
            <a:custGeom>
              <a:avLst/>
              <a:gdLst/>
              <a:ahLst/>
              <a:cxnLst/>
              <a:rect l="l" t="t" r="r" b="b"/>
              <a:pathLst>
                <a:path h="1671954">
                  <a:moveTo>
                    <a:pt x="0" y="0"/>
                  </a:moveTo>
                  <a:lnTo>
                    <a:pt x="0" y="1671637"/>
                  </a:lnTo>
                </a:path>
              </a:pathLst>
            </a:custGeom>
            <a:ln w="12700">
              <a:solidFill>
                <a:srgbClr val="000000"/>
              </a:solidFill>
            </a:ln>
          </p:spPr>
          <p:txBody>
            <a:bodyPr wrap="square" lIns="0" tIns="0" rIns="0" bIns="0" rtlCol="0"/>
            <a:lstStyle/>
            <a:p>
              <a:endParaRPr/>
            </a:p>
          </p:txBody>
        </p:sp>
        <p:sp>
          <p:nvSpPr>
            <p:cNvPr id="10" name="object 10"/>
            <p:cNvSpPr/>
            <p:nvPr/>
          </p:nvSpPr>
          <p:spPr>
            <a:xfrm>
              <a:off x="4972050" y="5929312"/>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11" name="object 11"/>
            <p:cNvSpPr/>
            <p:nvPr/>
          </p:nvSpPr>
          <p:spPr>
            <a:xfrm>
              <a:off x="2425700" y="5936456"/>
              <a:ext cx="2552700" cy="0"/>
            </a:xfrm>
            <a:custGeom>
              <a:avLst/>
              <a:gdLst/>
              <a:ahLst/>
              <a:cxnLst/>
              <a:rect l="l" t="t" r="r" b="b"/>
              <a:pathLst>
                <a:path w="2552700">
                  <a:moveTo>
                    <a:pt x="0" y="0"/>
                  </a:moveTo>
                  <a:lnTo>
                    <a:pt x="2552699" y="0"/>
                  </a:lnTo>
                </a:path>
              </a:pathLst>
            </a:custGeom>
            <a:ln w="14287">
              <a:solidFill>
                <a:srgbClr val="000000"/>
              </a:solidFill>
            </a:ln>
          </p:spPr>
          <p:txBody>
            <a:bodyPr wrap="square" lIns="0" tIns="0" rIns="0" bIns="0" rtlCol="0"/>
            <a:lstStyle/>
            <a:p>
              <a:endParaRPr/>
            </a:p>
          </p:txBody>
        </p:sp>
        <p:sp>
          <p:nvSpPr>
            <p:cNvPr id="12" name="object 12"/>
            <p:cNvSpPr/>
            <p:nvPr/>
          </p:nvSpPr>
          <p:spPr>
            <a:xfrm>
              <a:off x="2432050" y="5929312"/>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13" name="object 13"/>
            <p:cNvSpPr/>
            <p:nvPr/>
          </p:nvSpPr>
          <p:spPr>
            <a:xfrm>
              <a:off x="2432050" y="4271962"/>
              <a:ext cx="0" cy="1671955"/>
            </a:xfrm>
            <a:custGeom>
              <a:avLst/>
              <a:gdLst/>
              <a:ahLst/>
              <a:cxnLst/>
              <a:rect l="l" t="t" r="r" b="b"/>
              <a:pathLst>
                <a:path h="1671954">
                  <a:moveTo>
                    <a:pt x="0" y="1243012"/>
                  </a:moveTo>
                  <a:lnTo>
                    <a:pt x="0" y="1671637"/>
                  </a:lnTo>
                </a:path>
                <a:path h="1671954">
                  <a:moveTo>
                    <a:pt x="0" y="671512"/>
                  </a:moveTo>
                  <a:lnTo>
                    <a:pt x="0" y="885825"/>
                  </a:lnTo>
                </a:path>
                <a:path h="1671954">
                  <a:moveTo>
                    <a:pt x="0" y="0"/>
                  </a:moveTo>
                  <a:lnTo>
                    <a:pt x="0" y="314325"/>
                  </a:lnTo>
                </a:path>
              </a:pathLst>
            </a:custGeom>
            <a:ln w="12700">
              <a:solidFill>
                <a:srgbClr val="000000"/>
              </a:solidFill>
            </a:ln>
          </p:spPr>
          <p:txBody>
            <a:bodyPr wrap="square" lIns="0" tIns="0" rIns="0" bIns="0" rtlCol="0"/>
            <a:lstStyle/>
            <a:p>
              <a:endParaRPr/>
            </a:p>
          </p:txBody>
        </p:sp>
        <p:sp>
          <p:nvSpPr>
            <p:cNvPr id="14" name="object 14"/>
            <p:cNvSpPr/>
            <p:nvPr/>
          </p:nvSpPr>
          <p:spPr>
            <a:xfrm>
              <a:off x="2432050" y="4271962"/>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15" name="object 15"/>
            <p:cNvSpPr/>
            <p:nvPr/>
          </p:nvSpPr>
          <p:spPr>
            <a:xfrm>
              <a:off x="2108199" y="4586287"/>
              <a:ext cx="596900" cy="357505"/>
            </a:xfrm>
            <a:custGeom>
              <a:avLst/>
              <a:gdLst/>
              <a:ahLst/>
              <a:cxnLst/>
              <a:rect l="l" t="t" r="r" b="b"/>
              <a:pathLst>
                <a:path w="596900" h="357504">
                  <a:moveTo>
                    <a:pt x="596900" y="0"/>
                  </a:moveTo>
                  <a:lnTo>
                    <a:pt x="0" y="0"/>
                  </a:lnTo>
                  <a:lnTo>
                    <a:pt x="0" y="357187"/>
                  </a:lnTo>
                  <a:lnTo>
                    <a:pt x="596900" y="357187"/>
                  </a:lnTo>
                  <a:lnTo>
                    <a:pt x="596900" y="0"/>
                  </a:lnTo>
                  <a:close/>
                </a:path>
              </a:pathLst>
            </a:custGeom>
            <a:solidFill>
              <a:srgbClr val="FFFFFF"/>
            </a:solidFill>
          </p:spPr>
          <p:txBody>
            <a:bodyPr wrap="square" lIns="0" tIns="0" rIns="0" bIns="0" rtlCol="0"/>
            <a:lstStyle/>
            <a:p>
              <a:endParaRPr/>
            </a:p>
          </p:txBody>
        </p:sp>
        <p:sp>
          <p:nvSpPr>
            <p:cNvPr id="16" name="object 16"/>
            <p:cNvSpPr/>
            <p:nvPr/>
          </p:nvSpPr>
          <p:spPr>
            <a:xfrm>
              <a:off x="2108200" y="4593431"/>
              <a:ext cx="609600" cy="0"/>
            </a:xfrm>
            <a:custGeom>
              <a:avLst/>
              <a:gdLst/>
              <a:ahLst/>
              <a:cxnLst/>
              <a:rect l="l" t="t" r="r" b="b"/>
              <a:pathLst>
                <a:path w="609600">
                  <a:moveTo>
                    <a:pt x="0" y="0"/>
                  </a:moveTo>
                  <a:lnTo>
                    <a:pt x="609600" y="0"/>
                  </a:lnTo>
                </a:path>
              </a:pathLst>
            </a:custGeom>
            <a:ln w="14287">
              <a:solidFill>
                <a:srgbClr val="000000"/>
              </a:solidFill>
            </a:ln>
          </p:spPr>
          <p:txBody>
            <a:bodyPr wrap="square" lIns="0" tIns="0" rIns="0" bIns="0" rtlCol="0"/>
            <a:lstStyle/>
            <a:p>
              <a:endParaRPr/>
            </a:p>
          </p:txBody>
        </p:sp>
        <p:sp>
          <p:nvSpPr>
            <p:cNvPr id="17" name="object 17"/>
            <p:cNvSpPr/>
            <p:nvPr/>
          </p:nvSpPr>
          <p:spPr>
            <a:xfrm>
              <a:off x="2711450" y="45862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18" name="object 18"/>
            <p:cNvSpPr/>
            <p:nvPr/>
          </p:nvSpPr>
          <p:spPr>
            <a:xfrm>
              <a:off x="2711450" y="4586287"/>
              <a:ext cx="0" cy="371475"/>
            </a:xfrm>
            <a:custGeom>
              <a:avLst/>
              <a:gdLst/>
              <a:ahLst/>
              <a:cxnLst/>
              <a:rect l="l" t="t" r="r" b="b"/>
              <a:pathLst>
                <a:path h="371475">
                  <a:moveTo>
                    <a:pt x="0" y="0"/>
                  </a:moveTo>
                  <a:lnTo>
                    <a:pt x="0" y="371475"/>
                  </a:lnTo>
                </a:path>
              </a:pathLst>
            </a:custGeom>
            <a:ln w="12700">
              <a:solidFill>
                <a:srgbClr val="000000"/>
              </a:solidFill>
            </a:ln>
          </p:spPr>
          <p:txBody>
            <a:bodyPr wrap="square" lIns="0" tIns="0" rIns="0" bIns="0" rtlCol="0"/>
            <a:lstStyle/>
            <a:p>
              <a:endParaRPr/>
            </a:p>
          </p:txBody>
        </p:sp>
        <p:sp>
          <p:nvSpPr>
            <p:cNvPr id="19" name="object 19"/>
            <p:cNvSpPr/>
            <p:nvPr/>
          </p:nvSpPr>
          <p:spPr>
            <a:xfrm>
              <a:off x="2711450" y="4943474"/>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20" name="object 20"/>
            <p:cNvSpPr/>
            <p:nvPr/>
          </p:nvSpPr>
          <p:spPr>
            <a:xfrm>
              <a:off x="2108200" y="4950618"/>
              <a:ext cx="609600" cy="0"/>
            </a:xfrm>
            <a:custGeom>
              <a:avLst/>
              <a:gdLst/>
              <a:ahLst/>
              <a:cxnLst/>
              <a:rect l="l" t="t" r="r" b="b"/>
              <a:pathLst>
                <a:path w="609600">
                  <a:moveTo>
                    <a:pt x="0" y="0"/>
                  </a:moveTo>
                  <a:lnTo>
                    <a:pt x="609600" y="0"/>
                  </a:lnTo>
                </a:path>
              </a:pathLst>
            </a:custGeom>
            <a:ln w="14287">
              <a:solidFill>
                <a:srgbClr val="000000"/>
              </a:solidFill>
            </a:ln>
          </p:spPr>
          <p:txBody>
            <a:bodyPr wrap="square" lIns="0" tIns="0" rIns="0" bIns="0" rtlCol="0"/>
            <a:lstStyle/>
            <a:p>
              <a:endParaRPr/>
            </a:p>
          </p:txBody>
        </p:sp>
        <p:sp>
          <p:nvSpPr>
            <p:cNvPr id="21" name="object 21"/>
            <p:cNvSpPr/>
            <p:nvPr/>
          </p:nvSpPr>
          <p:spPr>
            <a:xfrm>
              <a:off x="2114550" y="4943474"/>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22" name="object 22"/>
            <p:cNvSpPr/>
            <p:nvPr/>
          </p:nvSpPr>
          <p:spPr>
            <a:xfrm>
              <a:off x="2114550" y="4586287"/>
              <a:ext cx="0" cy="371475"/>
            </a:xfrm>
            <a:custGeom>
              <a:avLst/>
              <a:gdLst/>
              <a:ahLst/>
              <a:cxnLst/>
              <a:rect l="l" t="t" r="r" b="b"/>
              <a:pathLst>
                <a:path h="371475">
                  <a:moveTo>
                    <a:pt x="0" y="0"/>
                  </a:moveTo>
                  <a:lnTo>
                    <a:pt x="0" y="371475"/>
                  </a:lnTo>
                </a:path>
              </a:pathLst>
            </a:custGeom>
            <a:ln w="12700">
              <a:solidFill>
                <a:srgbClr val="000000"/>
              </a:solidFill>
            </a:ln>
          </p:spPr>
          <p:txBody>
            <a:bodyPr wrap="square" lIns="0" tIns="0" rIns="0" bIns="0" rtlCol="0"/>
            <a:lstStyle/>
            <a:p>
              <a:endParaRPr/>
            </a:p>
          </p:txBody>
        </p:sp>
        <p:sp>
          <p:nvSpPr>
            <p:cNvPr id="23" name="object 23"/>
            <p:cNvSpPr/>
            <p:nvPr/>
          </p:nvSpPr>
          <p:spPr>
            <a:xfrm>
              <a:off x="2114550" y="45862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24" name="object 24"/>
            <p:cNvSpPr/>
            <p:nvPr/>
          </p:nvSpPr>
          <p:spPr>
            <a:xfrm>
              <a:off x="2108199" y="5157787"/>
              <a:ext cx="596900" cy="357505"/>
            </a:xfrm>
            <a:custGeom>
              <a:avLst/>
              <a:gdLst/>
              <a:ahLst/>
              <a:cxnLst/>
              <a:rect l="l" t="t" r="r" b="b"/>
              <a:pathLst>
                <a:path w="596900" h="357504">
                  <a:moveTo>
                    <a:pt x="596900" y="0"/>
                  </a:moveTo>
                  <a:lnTo>
                    <a:pt x="0" y="0"/>
                  </a:lnTo>
                  <a:lnTo>
                    <a:pt x="0" y="357187"/>
                  </a:lnTo>
                  <a:lnTo>
                    <a:pt x="596900" y="357187"/>
                  </a:lnTo>
                  <a:lnTo>
                    <a:pt x="596900" y="0"/>
                  </a:lnTo>
                  <a:close/>
                </a:path>
              </a:pathLst>
            </a:custGeom>
            <a:solidFill>
              <a:srgbClr val="FFFFFF"/>
            </a:solidFill>
          </p:spPr>
          <p:txBody>
            <a:bodyPr wrap="square" lIns="0" tIns="0" rIns="0" bIns="0" rtlCol="0"/>
            <a:lstStyle/>
            <a:p>
              <a:endParaRPr/>
            </a:p>
          </p:txBody>
        </p:sp>
        <p:sp>
          <p:nvSpPr>
            <p:cNvPr id="25" name="object 25"/>
            <p:cNvSpPr/>
            <p:nvPr/>
          </p:nvSpPr>
          <p:spPr>
            <a:xfrm>
              <a:off x="2108200" y="5164931"/>
              <a:ext cx="609600" cy="0"/>
            </a:xfrm>
            <a:custGeom>
              <a:avLst/>
              <a:gdLst/>
              <a:ahLst/>
              <a:cxnLst/>
              <a:rect l="l" t="t" r="r" b="b"/>
              <a:pathLst>
                <a:path w="609600">
                  <a:moveTo>
                    <a:pt x="0" y="0"/>
                  </a:moveTo>
                  <a:lnTo>
                    <a:pt x="609600" y="0"/>
                  </a:lnTo>
                </a:path>
              </a:pathLst>
            </a:custGeom>
            <a:ln w="14287">
              <a:solidFill>
                <a:srgbClr val="000000"/>
              </a:solidFill>
            </a:ln>
          </p:spPr>
          <p:txBody>
            <a:bodyPr wrap="square" lIns="0" tIns="0" rIns="0" bIns="0" rtlCol="0"/>
            <a:lstStyle/>
            <a:p>
              <a:endParaRPr/>
            </a:p>
          </p:txBody>
        </p:sp>
        <p:sp>
          <p:nvSpPr>
            <p:cNvPr id="26" name="object 26"/>
            <p:cNvSpPr/>
            <p:nvPr/>
          </p:nvSpPr>
          <p:spPr>
            <a:xfrm>
              <a:off x="2711450" y="51577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27" name="object 27"/>
            <p:cNvSpPr/>
            <p:nvPr/>
          </p:nvSpPr>
          <p:spPr>
            <a:xfrm>
              <a:off x="2711450" y="5157787"/>
              <a:ext cx="0" cy="371475"/>
            </a:xfrm>
            <a:custGeom>
              <a:avLst/>
              <a:gdLst/>
              <a:ahLst/>
              <a:cxnLst/>
              <a:rect l="l" t="t" r="r" b="b"/>
              <a:pathLst>
                <a:path h="371475">
                  <a:moveTo>
                    <a:pt x="0" y="0"/>
                  </a:moveTo>
                  <a:lnTo>
                    <a:pt x="0" y="371475"/>
                  </a:lnTo>
                </a:path>
              </a:pathLst>
            </a:custGeom>
            <a:ln w="12700">
              <a:solidFill>
                <a:srgbClr val="000000"/>
              </a:solidFill>
            </a:ln>
          </p:spPr>
          <p:txBody>
            <a:bodyPr wrap="square" lIns="0" tIns="0" rIns="0" bIns="0" rtlCol="0"/>
            <a:lstStyle/>
            <a:p>
              <a:endParaRPr/>
            </a:p>
          </p:txBody>
        </p:sp>
        <p:sp>
          <p:nvSpPr>
            <p:cNvPr id="28" name="object 28"/>
            <p:cNvSpPr/>
            <p:nvPr/>
          </p:nvSpPr>
          <p:spPr>
            <a:xfrm>
              <a:off x="2711450" y="5514974"/>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29" name="object 29"/>
            <p:cNvSpPr/>
            <p:nvPr/>
          </p:nvSpPr>
          <p:spPr>
            <a:xfrm>
              <a:off x="2108200" y="5522118"/>
              <a:ext cx="609600" cy="0"/>
            </a:xfrm>
            <a:custGeom>
              <a:avLst/>
              <a:gdLst/>
              <a:ahLst/>
              <a:cxnLst/>
              <a:rect l="l" t="t" r="r" b="b"/>
              <a:pathLst>
                <a:path w="609600">
                  <a:moveTo>
                    <a:pt x="0" y="0"/>
                  </a:moveTo>
                  <a:lnTo>
                    <a:pt x="609600" y="0"/>
                  </a:lnTo>
                </a:path>
              </a:pathLst>
            </a:custGeom>
            <a:ln w="14287">
              <a:solidFill>
                <a:srgbClr val="000000"/>
              </a:solidFill>
            </a:ln>
          </p:spPr>
          <p:txBody>
            <a:bodyPr wrap="square" lIns="0" tIns="0" rIns="0" bIns="0" rtlCol="0"/>
            <a:lstStyle/>
            <a:p>
              <a:endParaRPr/>
            </a:p>
          </p:txBody>
        </p:sp>
        <p:sp>
          <p:nvSpPr>
            <p:cNvPr id="30" name="object 30"/>
            <p:cNvSpPr/>
            <p:nvPr/>
          </p:nvSpPr>
          <p:spPr>
            <a:xfrm>
              <a:off x="2114550" y="5514974"/>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31" name="object 31"/>
            <p:cNvSpPr/>
            <p:nvPr/>
          </p:nvSpPr>
          <p:spPr>
            <a:xfrm>
              <a:off x="2114550" y="5157787"/>
              <a:ext cx="0" cy="371475"/>
            </a:xfrm>
            <a:custGeom>
              <a:avLst/>
              <a:gdLst/>
              <a:ahLst/>
              <a:cxnLst/>
              <a:rect l="l" t="t" r="r" b="b"/>
              <a:pathLst>
                <a:path h="371475">
                  <a:moveTo>
                    <a:pt x="0" y="0"/>
                  </a:moveTo>
                  <a:lnTo>
                    <a:pt x="0" y="371475"/>
                  </a:lnTo>
                </a:path>
              </a:pathLst>
            </a:custGeom>
            <a:ln w="12700">
              <a:solidFill>
                <a:srgbClr val="000000"/>
              </a:solidFill>
            </a:ln>
          </p:spPr>
          <p:txBody>
            <a:bodyPr wrap="square" lIns="0" tIns="0" rIns="0" bIns="0" rtlCol="0"/>
            <a:lstStyle/>
            <a:p>
              <a:endParaRPr/>
            </a:p>
          </p:txBody>
        </p:sp>
        <p:sp>
          <p:nvSpPr>
            <p:cNvPr id="32" name="object 32"/>
            <p:cNvSpPr/>
            <p:nvPr/>
          </p:nvSpPr>
          <p:spPr>
            <a:xfrm>
              <a:off x="2114550" y="51577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grpSp>
      <p:sp>
        <p:nvSpPr>
          <p:cNvPr id="33" name="object 33"/>
          <p:cNvSpPr txBox="1"/>
          <p:nvPr/>
        </p:nvSpPr>
        <p:spPr>
          <a:xfrm>
            <a:off x="2517666" y="5087971"/>
            <a:ext cx="1462405" cy="165495"/>
          </a:xfrm>
          <a:prstGeom prst="rect">
            <a:avLst/>
          </a:prstGeom>
        </p:spPr>
        <p:txBody>
          <a:bodyPr vert="horz" wrap="square" lIns="0" tIns="9525" rIns="0" bIns="0" rtlCol="0">
            <a:spAutoFit/>
          </a:bodyPr>
          <a:lstStyle/>
          <a:p>
            <a:pPr marL="9525">
              <a:spcBef>
                <a:spcPts val="75"/>
              </a:spcBef>
            </a:pPr>
            <a:r>
              <a:rPr sz="1013" spc="-23" dirty="0">
                <a:latin typeface="Tahoma"/>
                <a:cs typeface="Tahoma"/>
              </a:rPr>
              <a:t>SensorManagement</a:t>
            </a:r>
            <a:endParaRPr sz="1013" dirty="0">
              <a:latin typeface="Tahoma"/>
              <a:cs typeface="Tahoma"/>
            </a:endParaRPr>
          </a:p>
        </p:txBody>
      </p:sp>
      <p:grpSp>
        <p:nvGrpSpPr>
          <p:cNvPr id="34" name="object 34"/>
          <p:cNvGrpSpPr/>
          <p:nvPr/>
        </p:nvGrpSpPr>
        <p:grpSpPr>
          <a:xfrm>
            <a:off x="4254500" y="4779566"/>
            <a:ext cx="2438400" cy="782479"/>
            <a:chOff x="4953000" y="4586287"/>
            <a:chExt cx="2438400" cy="1043305"/>
          </a:xfrm>
        </p:grpSpPr>
        <p:sp>
          <p:nvSpPr>
            <p:cNvPr id="35" name="object 35"/>
            <p:cNvSpPr/>
            <p:nvPr/>
          </p:nvSpPr>
          <p:spPr>
            <a:xfrm>
              <a:off x="4953000" y="5107781"/>
              <a:ext cx="889000" cy="0"/>
            </a:xfrm>
            <a:custGeom>
              <a:avLst/>
              <a:gdLst/>
              <a:ahLst/>
              <a:cxnLst/>
              <a:rect l="l" t="t" r="r" b="b"/>
              <a:pathLst>
                <a:path w="889000">
                  <a:moveTo>
                    <a:pt x="0" y="0"/>
                  </a:moveTo>
                  <a:lnTo>
                    <a:pt x="76200" y="0"/>
                  </a:lnTo>
                </a:path>
                <a:path w="889000">
                  <a:moveTo>
                    <a:pt x="101600" y="0"/>
                  </a:moveTo>
                  <a:lnTo>
                    <a:pt x="177800" y="0"/>
                  </a:lnTo>
                </a:path>
                <a:path w="889000">
                  <a:moveTo>
                    <a:pt x="203200" y="0"/>
                  </a:moveTo>
                  <a:lnTo>
                    <a:pt x="279400" y="0"/>
                  </a:lnTo>
                </a:path>
                <a:path w="889000">
                  <a:moveTo>
                    <a:pt x="304800" y="0"/>
                  </a:moveTo>
                  <a:lnTo>
                    <a:pt x="381000" y="0"/>
                  </a:lnTo>
                </a:path>
                <a:path w="889000">
                  <a:moveTo>
                    <a:pt x="406400" y="0"/>
                  </a:moveTo>
                  <a:lnTo>
                    <a:pt x="482600" y="0"/>
                  </a:lnTo>
                </a:path>
                <a:path w="889000">
                  <a:moveTo>
                    <a:pt x="508000" y="0"/>
                  </a:moveTo>
                  <a:lnTo>
                    <a:pt x="584200" y="0"/>
                  </a:lnTo>
                </a:path>
                <a:path w="889000">
                  <a:moveTo>
                    <a:pt x="609600" y="0"/>
                  </a:moveTo>
                  <a:lnTo>
                    <a:pt x="685800" y="0"/>
                  </a:lnTo>
                </a:path>
                <a:path w="889000">
                  <a:moveTo>
                    <a:pt x="711200" y="0"/>
                  </a:moveTo>
                  <a:lnTo>
                    <a:pt x="787400" y="0"/>
                  </a:lnTo>
                </a:path>
                <a:path w="889000">
                  <a:moveTo>
                    <a:pt x="812800" y="0"/>
                  </a:moveTo>
                  <a:lnTo>
                    <a:pt x="889000" y="0"/>
                  </a:lnTo>
                </a:path>
              </a:pathLst>
            </a:custGeom>
            <a:ln w="13493">
              <a:solidFill>
                <a:srgbClr val="000000"/>
              </a:solidFill>
            </a:ln>
          </p:spPr>
          <p:txBody>
            <a:bodyPr wrap="square" lIns="0" tIns="0" rIns="0" bIns="0" rtlCol="0"/>
            <a:lstStyle/>
            <a:p>
              <a:endParaRPr/>
            </a:p>
          </p:txBody>
        </p:sp>
        <p:pic>
          <p:nvPicPr>
            <p:cNvPr id="36" name="object 36"/>
            <p:cNvPicPr/>
            <p:nvPr/>
          </p:nvPicPr>
          <p:blipFill>
            <a:blip r:embed="rId2" cstate="print"/>
            <a:stretch>
              <a:fillRect/>
            </a:stretch>
          </p:blipFill>
          <p:spPr>
            <a:xfrm>
              <a:off x="5765800" y="5029200"/>
              <a:ext cx="215900" cy="157162"/>
            </a:xfrm>
            <a:prstGeom prst="rect">
              <a:avLst/>
            </a:prstGeom>
          </p:spPr>
        </p:pic>
        <p:sp>
          <p:nvSpPr>
            <p:cNvPr id="37" name="object 37"/>
            <p:cNvSpPr/>
            <p:nvPr/>
          </p:nvSpPr>
          <p:spPr>
            <a:xfrm>
              <a:off x="5994400" y="4586287"/>
              <a:ext cx="1384300" cy="1028700"/>
            </a:xfrm>
            <a:custGeom>
              <a:avLst/>
              <a:gdLst/>
              <a:ahLst/>
              <a:cxnLst/>
              <a:rect l="l" t="t" r="r" b="b"/>
              <a:pathLst>
                <a:path w="1384300" h="1028700">
                  <a:moveTo>
                    <a:pt x="1384298" y="0"/>
                  </a:moveTo>
                  <a:lnTo>
                    <a:pt x="0" y="0"/>
                  </a:lnTo>
                  <a:lnTo>
                    <a:pt x="0" y="1028699"/>
                  </a:lnTo>
                  <a:lnTo>
                    <a:pt x="1384298" y="1028699"/>
                  </a:lnTo>
                  <a:lnTo>
                    <a:pt x="1384298" y="0"/>
                  </a:lnTo>
                  <a:close/>
                </a:path>
              </a:pathLst>
            </a:custGeom>
            <a:solidFill>
              <a:srgbClr val="FFFFFF"/>
            </a:solidFill>
          </p:spPr>
          <p:txBody>
            <a:bodyPr wrap="square" lIns="0" tIns="0" rIns="0" bIns="0" rtlCol="0"/>
            <a:lstStyle/>
            <a:p>
              <a:endParaRPr/>
            </a:p>
          </p:txBody>
        </p:sp>
        <p:sp>
          <p:nvSpPr>
            <p:cNvPr id="38" name="object 38"/>
            <p:cNvSpPr/>
            <p:nvPr/>
          </p:nvSpPr>
          <p:spPr>
            <a:xfrm>
              <a:off x="5994400" y="4593431"/>
              <a:ext cx="1397000" cy="0"/>
            </a:xfrm>
            <a:custGeom>
              <a:avLst/>
              <a:gdLst/>
              <a:ahLst/>
              <a:cxnLst/>
              <a:rect l="l" t="t" r="r" b="b"/>
              <a:pathLst>
                <a:path w="1397000">
                  <a:moveTo>
                    <a:pt x="0" y="0"/>
                  </a:moveTo>
                  <a:lnTo>
                    <a:pt x="1397000" y="0"/>
                  </a:lnTo>
                </a:path>
              </a:pathLst>
            </a:custGeom>
            <a:ln w="14287">
              <a:solidFill>
                <a:srgbClr val="000000"/>
              </a:solidFill>
            </a:ln>
          </p:spPr>
          <p:txBody>
            <a:bodyPr wrap="square" lIns="0" tIns="0" rIns="0" bIns="0" rtlCol="0"/>
            <a:lstStyle/>
            <a:p>
              <a:endParaRPr/>
            </a:p>
          </p:txBody>
        </p:sp>
        <p:sp>
          <p:nvSpPr>
            <p:cNvPr id="39" name="object 39"/>
            <p:cNvSpPr/>
            <p:nvPr/>
          </p:nvSpPr>
          <p:spPr>
            <a:xfrm>
              <a:off x="7385050" y="45862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40" name="object 40"/>
            <p:cNvSpPr/>
            <p:nvPr/>
          </p:nvSpPr>
          <p:spPr>
            <a:xfrm>
              <a:off x="7385050" y="4586287"/>
              <a:ext cx="0" cy="1043305"/>
            </a:xfrm>
            <a:custGeom>
              <a:avLst/>
              <a:gdLst/>
              <a:ahLst/>
              <a:cxnLst/>
              <a:rect l="l" t="t" r="r" b="b"/>
              <a:pathLst>
                <a:path h="1043304">
                  <a:moveTo>
                    <a:pt x="0" y="0"/>
                  </a:moveTo>
                  <a:lnTo>
                    <a:pt x="0" y="1042987"/>
                  </a:lnTo>
                </a:path>
              </a:pathLst>
            </a:custGeom>
            <a:ln w="12700">
              <a:solidFill>
                <a:srgbClr val="000000"/>
              </a:solidFill>
            </a:ln>
          </p:spPr>
          <p:txBody>
            <a:bodyPr wrap="square" lIns="0" tIns="0" rIns="0" bIns="0" rtlCol="0"/>
            <a:lstStyle/>
            <a:p>
              <a:endParaRPr/>
            </a:p>
          </p:txBody>
        </p:sp>
        <p:sp>
          <p:nvSpPr>
            <p:cNvPr id="41" name="object 41"/>
            <p:cNvSpPr/>
            <p:nvPr/>
          </p:nvSpPr>
          <p:spPr>
            <a:xfrm>
              <a:off x="7385050" y="56149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42" name="object 42"/>
            <p:cNvSpPr/>
            <p:nvPr/>
          </p:nvSpPr>
          <p:spPr>
            <a:xfrm>
              <a:off x="5994400" y="5622131"/>
              <a:ext cx="1397000" cy="0"/>
            </a:xfrm>
            <a:custGeom>
              <a:avLst/>
              <a:gdLst/>
              <a:ahLst/>
              <a:cxnLst/>
              <a:rect l="l" t="t" r="r" b="b"/>
              <a:pathLst>
                <a:path w="1397000">
                  <a:moveTo>
                    <a:pt x="0" y="0"/>
                  </a:moveTo>
                  <a:lnTo>
                    <a:pt x="1397000" y="0"/>
                  </a:lnTo>
                </a:path>
              </a:pathLst>
            </a:custGeom>
            <a:ln w="14287">
              <a:solidFill>
                <a:srgbClr val="000000"/>
              </a:solidFill>
            </a:ln>
          </p:spPr>
          <p:txBody>
            <a:bodyPr wrap="square" lIns="0" tIns="0" rIns="0" bIns="0" rtlCol="0"/>
            <a:lstStyle/>
            <a:p>
              <a:endParaRPr/>
            </a:p>
          </p:txBody>
        </p:sp>
        <p:sp>
          <p:nvSpPr>
            <p:cNvPr id="43" name="object 43"/>
            <p:cNvSpPr/>
            <p:nvPr/>
          </p:nvSpPr>
          <p:spPr>
            <a:xfrm>
              <a:off x="6000750" y="56149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sp>
          <p:nvSpPr>
            <p:cNvPr id="44" name="object 44"/>
            <p:cNvSpPr/>
            <p:nvPr/>
          </p:nvSpPr>
          <p:spPr>
            <a:xfrm>
              <a:off x="6000750" y="4586287"/>
              <a:ext cx="0" cy="1043305"/>
            </a:xfrm>
            <a:custGeom>
              <a:avLst/>
              <a:gdLst/>
              <a:ahLst/>
              <a:cxnLst/>
              <a:rect l="l" t="t" r="r" b="b"/>
              <a:pathLst>
                <a:path h="1043304">
                  <a:moveTo>
                    <a:pt x="0" y="0"/>
                  </a:moveTo>
                  <a:lnTo>
                    <a:pt x="0" y="1042987"/>
                  </a:lnTo>
                </a:path>
              </a:pathLst>
            </a:custGeom>
            <a:ln w="12700">
              <a:solidFill>
                <a:srgbClr val="000000"/>
              </a:solidFill>
            </a:ln>
          </p:spPr>
          <p:txBody>
            <a:bodyPr wrap="square" lIns="0" tIns="0" rIns="0" bIns="0" rtlCol="0"/>
            <a:lstStyle/>
            <a:p>
              <a:endParaRPr/>
            </a:p>
          </p:txBody>
        </p:sp>
        <p:sp>
          <p:nvSpPr>
            <p:cNvPr id="45" name="object 45"/>
            <p:cNvSpPr/>
            <p:nvPr/>
          </p:nvSpPr>
          <p:spPr>
            <a:xfrm>
              <a:off x="6000750" y="4586287"/>
              <a:ext cx="0" cy="14604"/>
            </a:xfrm>
            <a:custGeom>
              <a:avLst/>
              <a:gdLst/>
              <a:ahLst/>
              <a:cxnLst/>
              <a:rect l="l" t="t" r="r" b="b"/>
              <a:pathLst>
                <a:path h="14604">
                  <a:moveTo>
                    <a:pt x="-6350" y="7143"/>
                  </a:moveTo>
                  <a:lnTo>
                    <a:pt x="6350" y="7143"/>
                  </a:lnTo>
                </a:path>
              </a:pathLst>
            </a:custGeom>
            <a:ln w="14287">
              <a:solidFill>
                <a:srgbClr val="000000"/>
              </a:solidFill>
            </a:ln>
          </p:spPr>
          <p:txBody>
            <a:bodyPr wrap="square" lIns="0" tIns="0" rIns="0" bIns="0" rtlCol="0"/>
            <a:lstStyle/>
            <a:p>
              <a:endParaRPr/>
            </a:p>
          </p:txBody>
        </p:sp>
      </p:grpSp>
      <p:sp>
        <p:nvSpPr>
          <p:cNvPr id="46" name="object 46"/>
          <p:cNvSpPr txBox="1"/>
          <p:nvPr/>
        </p:nvSpPr>
        <p:spPr>
          <a:xfrm>
            <a:off x="5726429" y="5082613"/>
            <a:ext cx="523240" cy="165495"/>
          </a:xfrm>
          <a:prstGeom prst="rect">
            <a:avLst/>
          </a:prstGeom>
        </p:spPr>
        <p:txBody>
          <a:bodyPr vert="horz" wrap="square" lIns="0" tIns="9525" rIns="0" bIns="0" rtlCol="0">
            <a:spAutoFit/>
          </a:bodyPr>
          <a:lstStyle/>
          <a:p>
            <a:pPr marL="9525">
              <a:spcBef>
                <a:spcPts val="75"/>
              </a:spcBef>
            </a:pPr>
            <a:r>
              <a:rPr sz="1013" spc="-19" dirty="0">
                <a:latin typeface="Tahoma"/>
                <a:cs typeface="Tahoma"/>
              </a:rPr>
              <a:t>S</a:t>
            </a:r>
            <a:r>
              <a:rPr sz="1013" spc="-23" dirty="0">
                <a:latin typeface="Tahoma"/>
                <a:cs typeface="Tahoma"/>
              </a:rPr>
              <a:t>e</a:t>
            </a:r>
            <a:r>
              <a:rPr sz="1013" spc="-41" dirty="0">
                <a:latin typeface="Tahoma"/>
                <a:cs typeface="Tahoma"/>
              </a:rPr>
              <a:t>n</a:t>
            </a:r>
            <a:r>
              <a:rPr sz="1013" spc="4" dirty="0">
                <a:latin typeface="Tahoma"/>
                <a:cs typeface="Tahoma"/>
              </a:rPr>
              <a:t>s</a:t>
            </a:r>
            <a:r>
              <a:rPr sz="1013" spc="-11" dirty="0">
                <a:latin typeface="Tahoma"/>
                <a:cs typeface="Tahoma"/>
              </a:rPr>
              <a:t>or</a:t>
            </a:r>
            <a:endParaRPr sz="1013" dirty="0">
              <a:latin typeface="Tahoma"/>
              <a:cs typeface="Tahoma"/>
            </a:endParaRPr>
          </a:p>
        </p:txBody>
      </p:sp>
    </p:spTree>
    <p:extLst>
      <p:ext uri="{BB962C8B-B14F-4D97-AF65-F5344CB8AC3E}">
        <p14:creationId xmlns:p14="http://schemas.microsoft.com/office/powerpoint/2010/main" val="3330468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5119" y="1200150"/>
            <a:ext cx="6172200" cy="400050"/>
          </a:xfrm>
        </p:spPr>
        <p:txBody>
          <a:bodyPr>
            <a:normAutofit fontScale="90000"/>
          </a:bodyPr>
          <a:lstStyle/>
          <a:p>
            <a:pPr algn="l"/>
            <a:r>
              <a:rPr lang="en-US" sz="2700" dirty="0"/>
              <a:t>Component Level Design Elements - </a:t>
            </a:r>
            <a:r>
              <a:rPr lang="en-US" sz="3000" dirty="0"/>
              <a:t>Example</a:t>
            </a:r>
            <a:br>
              <a:rPr lang="en-US" dirty="0">
                <a:solidFill>
                  <a:srgbClr val="FF0000"/>
                </a:solidFill>
              </a:rPr>
            </a:br>
            <a:endParaRPr lang="en-US" dirty="0"/>
          </a:p>
        </p:txBody>
      </p:sp>
      <p:sp>
        <p:nvSpPr>
          <p:cNvPr id="4" name="Content Placeholder 3"/>
          <p:cNvSpPr>
            <a:spLocks noGrp="1"/>
          </p:cNvSpPr>
          <p:nvPr>
            <p:ph idx="1"/>
          </p:nvPr>
        </p:nvSpPr>
        <p:spPr>
          <a:xfrm>
            <a:off x="1485900" y="1657351"/>
            <a:ext cx="6172200" cy="3794522"/>
          </a:xfrm>
        </p:spPr>
        <p:txBody>
          <a:bodyPr>
            <a:normAutofit/>
          </a:bodyPr>
          <a:lstStyle/>
          <a:p>
            <a:pPr algn="just"/>
            <a:r>
              <a:rPr lang="en-US" sz="1800" dirty="0"/>
              <a:t>A component named </a:t>
            </a:r>
            <a:r>
              <a:rPr lang="en-US" sz="1800" b="1" dirty="0" err="1"/>
              <a:t>SensorManagement</a:t>
            </a:r>
            <a:r>
              <a:rPr lang="en-US" sz="1800" b="1" dirty="0"/>
              <a:t> </a:t>
            </a:r>
            <a:r>
              <a:rPr lang="en-US" sz="1800" dirty="0"/>
              <a:t>(part of the </a:t>
            </a:r>
            <a:r>
              <a:rPr lang="en-US" sz="1800" i="1" dirty="0" err="1"/>
              <a:t>SafeHome</a:t>
            </a:r>
            <a:r>
              <a:rPr lang="en-US" sz="1800" i="1" dirty="0"/>
              <a:t> </a:t>
            </a:r>
            <a:r>
              <a:rPr lang="en-US" sz="1800" dirty="0"/>
              <a:t>security function) is represented. A dashed arrow connects the component to a class named </a:t>
            </a:r>
            <a:r>
              <a:rPr lang="en-US" sz="1800" b="1" dirty="0"/>
              <a:t>Sensor </a:t>
            </a:r>
            <a:r>
              <a:rPr lang="en-US" sz="1800" dirty="0"/>
              <a:t>that is assigned to it. The </a:t>
            </a:r>
            <a:r>
              <a:rPr lang="en-US" sz="1800" b="1" dirty="0" err="1"/>
              <a:t>SensorManagement</a:t>
            </a:r>
            <a:r>
              <a:rPr lang="en-US" sz="1800" b="1" dirty="0"/>
              <a:t> </a:t>
            </a:r>
            <a:r>
              <a:rPr lang="en-US" sz="1800" dirty="0"/>
              <a:t>component performs all functions associated with </a:t>
            </a:r>
            <a:r>
              <a:rPr lang="en-US" sz="1800" i="1" dirty="0" err="1"/>
              <a:t>SafeHome</a:t>
            </a:r>
            <a:r>
              <a:rPr lang="en-US" sz="1800" i="1" dirty="0"/>
              <a:t> </a:t>
            </a:r>
            <a:r>
              <a:rPr lang="en-US" sz="1800" dirty="0"/>
              <a:t>sensors including  monitoring and configuring them</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5901" y="3886200"/>
            <a:ext cx="5543550" cy="150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764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143000"/>
            <a:ext cx="6172200" cy="536972"/>
          </a:xfrm>
        </p:spPr>
        <p:txBody>
          <a:bodyPr>
            <a:normAutofit fontScale="90000"/>
          </a:bodyPr>
          <a:lstStyle/>
          <a:p>
            <a:pPr algn="l"/>
            <a:r>
              <a:rPr lang="en-US" dirty="0"/>
              <a:t>Deployment Level Design Elements</a:t>
            </a:r>
            <a:br>
              <a:rPr lang="en-US" dirty="0"/>
            </a:br>
            <a:endParaRPr lang="en-US" dirty="0"/>
          </a:p>
        </p:txBody>
      </p:sp>
      <p:sp>
        <p:nvSpPr>
          <p:cNvPr id="4" name="Content Placeholder 3"/>
          <p:cNvSpPr>
            <a:spLocks noGrp="1"/>
          </p:cNvSpPr>
          <p:nvPr>
            <p:ph idx="1"/>
          </p:nvPr>
        </p:nvSpPr>
        <p:spPr>
          <a:xfrm>
            <a:off x="708660" y="1679971"/>
            <a:ext cx="7856220" cy="4035029"/>
          </a:xfrm>
        </p:spPr>
        <p:txBody>
          <a:bodyPr>
            <a:normAutofit/>
          </a:bodyPr>
          <a:lstStyle/>
          <a:p>
            <a:pPr algn="just">
              <a:lnSpc>
                <a:spcPct val="150000"/>
              </a:lnSpc>
            </a:pPr>
            <a:r>
              <a:rPr lang="en-US" sz="1800" dirty="0"/>
              <a:t>Deployment-level design elements indicate </a:t>
            </a:r>
            <a:r>
              <a:rPr lang="en-US" sz="1800" dirty="0">
                <a:solidFill>
                  <a:srgbClr val="FF0000"/>
                </a:solidFill>
              </a:rPr>
              <a:t>how software functionality and subsystems will be allocated</a:t>
            </a:r>
            <a:r>
              <a:rPr lang="en-US" sz="1800" dirty="0"/>
              <a:t> within the </a:t>
            </a:r>
            <a:r>
              <a:rPr lang="en-US" sz="1800" dirty="0">
                <a:solidFill>
                  <a:srgbClr val="FF0000"/>
                </a:solidFill>
              </a:rPr>
              <a:t>physical computing environment </a:t>
            </a:r>
            <a:r>
              <a:rPr lang="en-US" sz="1800" dirty="0"/>
              <a:t>that will support the software</a:t>
            </a:r>
          </a:p>
          <a:p>
            <a:pPr algn="just">
              <a:lnSpc>
                <a:spcPct val="150000"/>
              </a:lnSpc>
            </a:pPr>
            <a:r>
              <a:rPr lang="en-US" sz="1800" dirty="0"/>
              <a:t>The deployment diagram shows the computing environment but does not </a:t>
            </a:r>
            <a:r>
              <a:rPr lang="en-US" sz="1800" dirty="0">
                <a:solidFill>
                  <a:srgbClr val="FF0000"/>
                </a:solidFill>
              </a:rPr>
              <a:t>explicitly indicate configuration </a:t>
            </a:r>
            <a:r>
              <a:rPr lang="en-US" sz="1800" dirty="0"/>
              <a:t>details. For example, the “personal computer” is not further identified. It could be a Mac or a Windows-based PC, a Sun workstation, or a Linux-box.</a:t>
            </a:r>
          </a:p>
          <a:p>
            <a:pPr algn="just">
              <a:lnSpc>
                <a:spcPct val="150000"/>
              </a:lnSpc>
            </a:pPr>
            <a:r>
              <a:rPr lang="en-US" sz="1800" dirty="0"/>
              <a:t>These details are provided when the deployment diagram is revisited in </a:t>
            </a:r>
            <a:r>
              <a:rPr lang="en-US" sz="1800" i="1" dirty="0"/>
              <a:t>instance form </a:t>
            </a:r>
            <a:r>
              <a:rPr lang="en-US" sz="1800" dirty="0"/>
              <a:t>during the latter stages of design or as construction begins</a:t>
            </a:r>
          </a:p>
        </p:txBody>
      </p:sp>
    </p:spTree>
    <p:extLst>
      <p:ext uri="{BB962C8B-B14F-4D97-AF65-F5344CB8AC3E}">
        <p14:creationId xmlns:p14="http://schemas.microsoft.com/office/powerpoint/2010/main" val="15182143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73786"/>
            <a:ext cx="7886700" cy="740614"/>
          </a:xfrm>
        </p:spPr>
        <p:txBody>
          <a:bodyPr>
            <a:normAutofit fontScale="90000"/>
          </a:bodyPr>
          <a:lstStyle/>
          <a:p>
            <a:pPr algn="ctr"/>
            <a:r>
              <a:rPr lang="en-GB" b="1" dirty="0">
                <a:solidFill>
                  <a:srgbClr val="FF0000"/>
                </a:solidFill>
              </a:rPr>
              <a:t>Deployment-level design elements</a:t>
            </a:r>
            <a:br>
              <a:rPr lang="en-IN" dirty="0"/>
            </a:br>
            <a:endParaRPr lang="en-IN" dirty="0"/>
          </a:p>
        </p:txBody>
      </p:sp>
      <p:sp>
        <p:nvSpPr>
          <p:cNvPr id="3" name="Content Placeholder 2"/>
          <p:cNvSpPr>
            <a:spLocks noGrp="1"/>
          </p:cNvSpPr>
          <p:nvPr>
            <p:ph idx="1"/>
          </p:nvPr>
        </p:nvSpPr>
        <p:spPr>
          <a:xfrm>
            <a:off x="628650" y="762000"/>
            <a:ext cx="7886700" cy="4727973"/>
          </a:xfrm>
        </p:spPr>
        <p:txBody>
          <a:bodyPr/>
          <a:lstStyle/>
          <a:p>
            <a:pPr lvl="0"/>
            <a:r>
              <a:rPr lang="en-GB" dirty="0"/>
              <a:t>This design indicates how </a:t>
            </a:r>
            <a:r>
              <a:rPr lang="en-GB" dirty="0">
                <a:solidFill>
                  <a:srgbClr val="FF0000"/>
                </a:solidFill>
              </a:rPr>
              <a:t>software functionality  and subsystems </a:t>
            </a:r>
            <a:r>
              <a:rPr lang="en-GB" dirty="0"/>
              <a:t>will be allocated within the physical computing environment that will support the software</a:t>
            </a:r>
            <a:endParaRPr lang="en-IN" dirty="0"/>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097611"/>
            <a:ext cx="7886699" cy="298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0823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7349-D5F0-8B9D-A278-B153A78136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41015B-81CE-8183-330A-47A80AEC16F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56509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248" y="1524421"/>
            <a:ext cx="7886700" cy="994172"/>
          </a:xfrm>
        </p:spPr>
        <p:txBody>
          <a:bodyPr>
            <a:normAutofit/>
          </a:bodyPr>
          <a:lstStyle/>
          <a:p>
            <a:pPr algn="ctr"/>
            <a:r>
              <a:rPr lang="en-US" dirty="0">
                <a:solidFill>
                  <a:srgbClr val="FF0000"/>
                </a:solidFill>
              </a:rPr>
              <a:t>Software Architecture Design</a:t>
            </a:r>
            <a:endParaRPr lang="en-IN" dirty="0">
              <a:solidFill>
                <a:schemeClr val="tx1">
                  <a:lumMod val="95000"/>
                  <a:lumOff val="5000"/>
                </a:schemeClr>
              </a:solidFill>
            </a:endParaRPr>
          </a:p>
        </p:txBody>
      </p:sp>
      <p:sp>
        <p:nvSpPr>
          <p:cNvPr id="4" name="Rectangle 3"/>
          <p:cNvSpPr/>
          <p:nvPr/>
        </p:nvSpPr>
        <p:spPr>
          <a:xfrm>
            <a:off x="877420" y="2716331"/>
            <a:ext cx="7422776" cy="1723100"/>
          </a:xfrm>
          <a:prstGeom prst="rect">
            <a:avLst/>
          </a:prstGeom>
        </p:spPr>
        <p:txBody>
          <a:bodyPr wrap="square">
            <a:spAutoFit/>
          </a:bodyPr>
          <a:lstStyle/>
          <a:p>
            <a:pPr marL="214313" indent="-214313" algn="ctr">
              <a:lnSpc>
                <a:spcPct val="250000"/>
              </a:lnSpc>
              <a:buFont typeface="Wingdings" pitchFamily="2" charset="2"/>
              <a:buChar char="Ø"/>
            </a:pPr>
            <a:r>
              <a:rPr lang="en-US" sz="1500" b="1" dirty="0">
                <a:solidFill>
                  <a:srgbClr val="FF0000"/>
                </a:solidFill>
              </a:rPr>
              <a:t>Architectural Styles</a:t>
            </a:r>
          </a:p>
          <a:p>
            <a:pPr marL="214313" indent="-214313" algn="ctr">
              <a:lnSpc>
                <a:spcPct val="250000"/>
              </a:lnSpc>
              <a:buFont typeface="Wingdings" pitchFamily="2" charset="2"/>
              <a:buChar char="Ø"/>
            </a:pPr>
            <a:r>
              <a:rPr lang="en-US" sz="1500" b="1" dirty="0">
                <a:solidFill>
                  <a:srgbClr val="FF0000"/>
                </a:solidFill>
              </a:rPr>
              <a:t>Architectural Design</a:t>
            </a:r>
          </a:p>
          <a:p>
            <a:pPr marL="214313" indent="-214313" algn="ctr">
              <a:lnSpc>
                <a:spcPct val="250000"/>
              </a:lnSpc>
              <a:buFont typeface="Wingdings" pitchFamily="2" charset="2"/>
              <a:buChar char="Ø"/>
            </a:pPr>
            <a:r>
              <a:rPr lang="en-US" sz="1500" b="1" dirty="0">
                <a:solidFill>
                  <a:srgbClr val="FF0000"/>
                </a:solidFill>
              </a:rPr>
              <a:t>Architectural Mapping</a:t>
            </a:r>
            <a:endParaRPr lang="en-IN" sz="1500" b="1" dirty="0">
              <a:solidFill>
                <a:srgbClr val="FF0000"/>
              </a:solidFill>
            </a:endParaRPr>
          </a:p>
        </p:txBody>
      </p:sp>
    </p:spTree>
    <p:extLst>
      <p:ext uri="{BB962C8B-B14F-4D97-AF65-F5344CB8AC3E}">
        <p14:creationId xmlns:p14="http://schemas.microsoft.com/office/powerpoint/2010/main" val="13784606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2574" y="622826"/>
            <a:ext cx="4175760" cy="1363835"/>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spc="-4" dirty="0">
                <a:solidFill>
                  <a:srgbClr val="FF0000"/>
                </a:solidFill>
              </a:rPr>
              <a:t>Why</a:t>
            </a:r>
            <a:r>
              <a:rPr spc="-30" dirty="0">
                <a:solidFill>
                  <a:srgbClr val="FF0000"/>
                </a:solidFill>
              </a:rPr>
              <a:t> </a:t>
            </a:r>
            <a:r>
              <a:rPr spc="-4" dirty="0">
                <a:solidFill>
                  <a:srgbClr val="FF0000"/>
                </a:solidFill>
              </a:rPr>
              <a:t>Architecture?</a:t>
            </a:r>
          </a:p>
        </p:txBody>
      </p:sp>
      <p:grpSp>
        <p:nvGrpSpPr>
          <p:cNvPr id="3" name="object 3"/>
          <p:cNvGrpSpPr/>
          <p:nvPr/>
        </p:nvGrpSpPr>
        <p:grpSpPr>
          <a:xfrm>
            <a:off x="1350817" y="2294313"/>
            <a:ext cx="6883400" cy="1016318"/>
            <a:chOff x="1350817" y="1916084"/>
            <a:chExt cx="6883400" cy="1355090"/>
          </a:xfrm>
        </p:grpSpPr>
        <p:pic>
          <p:nvPicPr>
            <p:cNvPr id="4" name="object 4"/>
            <p:cNvPicPr/>
            <p:nvPr/>
          </p:nvPicPr>
          <p:blipFill>
            <a:blip r:embed="rId2" cstate="print"/>
            <a:stretch>
              <a:fillRect/>
            </a:stretch>
          </p:blipFill>
          <p:spPr>
            <a:xfrm>
              <a:off x="1350817" y="1916084"/>
              <a:ext cx="6679275" cy="390698"/>
            </a:xfrm>
            <a:prstGeom prst="rect">
              <a:avLst/>
            </a:prstGeom>
          </p:spPr>
        </p:pic>
        <p:pic>
          <p:nvPicPr>
            <p:cNvPr id="5" name="object 5"/>
            <p:cNvPicPr/>
            <p:nvPr/>
          </p:nvPicPr>
          <p:blipFill>
            <a:blip r:embed="rId3" cstate="print"/>
            <a:stretch>
              <a:fillRect/>
            </a:stretch>
          </p:blipFill>
          <p:spPr>
            <a:xfrm>
              <a:off x="1695796" y="2182090"/>
              <a:ext cx="2435628" cy="390698"/>
            </a:xfrm>
            <a:prstGeom prst="rect">
              <a:avLst/>
            </a:prstGeom>
          </p:spPr>
        </p:pic>
        <p:pic>
          <p:nvPicPr>
            <p:cNvPr id="6" name="object 6"/>
            <p:cNvPicPr/>
            <p:nvPr/>
          </p:nvPicPr>
          <p:blipFill>
            <a:blip r:embed="rId4" cstate="print"/>
            <a:stretch>
              <a:fillRect/>
            </a:stretch>
          </p:blipFill>
          <p:spPr>
            <a:xfrm>
              <a:off x="1350817" y="2460567"/>
              <a:ext cx="6882937" cy="544483"/>
            </a:xfrm>
            <a:prstGeom prst="rect">
              <a:avLst/>
            </a:prstGeom>
          </p:spPr>
        </p:pic>
        <p:pic>
          <p:nvPicPr>
            <p:cNvPr id="7" name="object 7"/>
            <p:cNvPicPr/>
            <p:nvPr/>
          </p:nvPicPr>
          <p:blipFill>
            <a:blip r:embed="rId5" cstate="print"/>
            <a:stretch>
              <a:fillRect/>
            </a:stretch>
          </p:blipFill>
          <p:spPr>
            <a:xfrm>
              <a:off x="1695796" y="2880359"/>
              <a:ext cx="6296889" cy="390698"/>
            </a:xfrm>
            <a:prstGeom prst="rect">
              <a:avLst/>
            </a:prstGeom>
          </p:spPr>
        </p:pic>
      </p:grpSp>
      <p:grpSp>
        <p:nvGrpSpPr>
          <p:cNvPr id="8" name="object 8"/>
          <p:cNvGrpSpPr/>
          <p:nvPr/>
        </p:nvGrpSpPr>
        <p:grpSpPr>
          <a:xfrm>
            <a:off x="1350818" y="3550573"/>
            <a:ext cx="7007859" cy="1667828"/>
            <a:chOff x="1350817" y="3591098"/>
            <a:chExt cx="7007859" cy="2223770"/>
          </a:xfrm>
        </p:grpSpPr>
        <p:pic>
          <p:nvPicPr>
            <p:cNvPr id="9" name="object 9"/>
            <p:cNvPicPr/>
            <p:nvPr/>
          </p:nvPicPr>
          <p:blipFill>
            <a:blip r:embed="rId6" cstate="print"/>
            <a:stretch>
              <a:fillRect/>
            </a:stretch>
          </p:blipFill>
          <p:spPr>
            <a:xfrm>
              <a:off x="1350817" y="3591098"/>
              <a:ext cx="6413268" cy="544483"/>
            </a:xfrm>
            <a:prstGeom prst="rect">
              <a:avLst/>
            </a:prstGeom>
          </p:spPr>
        </p:pic>
        <p:pic>
          <p:nvPicPr>
            <p:cNvPr id="10" name="object 10"/>
            <p:cNvPicPr/>
            <p:nvPr/>
          </p:nvPicPr>
          <p:blipFill>
            <a:blip r:embed="rId7" cstate="print"/>
            <a:stretch>
              <a:fillRect/>
            </a:stretch>
          </p:blipFill>
          <p:spPr>
            <a:xfrm>
              <a:off x="1350817" y="4010890"/>
              <a:ext cx="2410691" cy="390698"/>
            </a:xfrm>
            <a:prstGeom prst="rect">
              <a:avLst/>
            </a:prstGeom>
          </p:spPr>
        </p:pic>
        <p:pic>
          <p:nvPicPr>
            <p:cNvPr id="11" name="object 11"/>
            <p:cNvPicPr/>
            <p:nvPr/>
          </p:nvPicPr>
          <p:blipFill>
            <a:blip r:embed="rId8" cstate="print"/>
            <a:stretch>
              <a:fillRect/>
            </a:stretch>
          </p:blipFill>
          <p:spPr>
            <a:xfrm>
              <a:off x="1350817" y="4289367"/>
              <a:ext cx="7007628" cy="544483"/>
            </a:xfrm>
            <a:prstGeom prst="rect">
              <a:avLst/>
            </a:prstGeom>
          </p:spPr>
        </p:pic>
        <p:pic>
          <p:nvPicPr>
            <p:cNvPr id="12" name="object 12"/>
            <p:cNvPicPr/>
            <p:nvPr/>
          </p:nvPicPr>
          <p:blipFill>
            <a:blip r:embed="rId9" cstate="print"/>
            <a:stretch>
              <a:fillRect/>
            </a:stretch>
          </p:blipFill>
          <p:spPr>
            <a:xfrm>
              <a:off x="1350817" y="4709159"/>
              <a:ext cx="4788131" cy="390698"/>
            </a:xfrm>
            <a:prstGeom prst="rect">
              <a:avLst/>
            </a:prstGeom>
          </p:spPr>
        </p:pic>
        <p:pic>
          <p:nvPicPr>
            <p:cNvPr id="13" name="object 13"/>
            <p:cNvPicPr/>
            <p:nvPr/>
          </p:nvPicPr>
          <p:blipFill>
            <a:blip r:embed="rId10" cstate="print"/>
            <a:stretch>
              <a:fillRect/>
            </a:stretch>
          </p:blipFill>
          <p:spPr>
            <a:xfrm>
              <a:off x="1350817" y="4987636"/>
              <a:ext cx="6641868" cy="544483"/>
            </a:xfrm>
            <a:prstGeom prst="rect">
              <a:avLst/>
            </a:prstGeom>
          </p:spPr>
        </p:pic>
        <p:pic>
          <p:nvPicPr>
            <p:cNvPr id="14" name="object 14"/>
            <p:cNvPicPr/>
            <p:nvPr/>
          </p:nvPicPr>
          <p:blipFill>
            <a:blip r:embed="rId11" cstate="print"/>
            <a:stretch>
              <a:fillRect/>
            </a:stretch>
          </p:blipFill>
          <p:spPr>
            <a:xfrm>
              <a:off x="1350817" y="5419897"/>
              <a:ext cx="1130530" cy="394854"/>
            </a:xfrm>
            <a:prstGeom prst="rect">
              <a:avLst/>
            </a:prstGeom>
          </p:spPr>
        </p:pic>
      </p:grpSp>
      <p:sp>
        <p:nvSpPr>
          <p:cNvPr id="15" name="object 15"/>
          <p:cNvSpPr txBox="1"/>
          <p:nvPr/>
        </p:nvSpPr>
        <p:spPr>
          <a:xfrm>
            <a:off x="605268" y="1615018"/>
            <a:ext cx="7904368" cy="3110660"/>
          </a:xfrm>
          <a:prstGeom prst="rect">
            <a:avLst/>
          </a:prstGeom>
        </p:spPr>
        <p:txBody>
          <a:bodyPr vert="horz" wrap="square" lIns="0" tIns="40005" rIns="0" bIns="0" rtlCol="0">
            <a:spAutoFit/>
          </a:bodyPr>
          <a:lstStyle/>
          <a:p>
            <a:pPr marL="266224" marR="243840" indent="-257175">
              <a:lnSpc>
                <a:spcPct val="200000"/>
              </a:lnSpc>
              <a:spcBef>
                <a:spcPts val="315"/>
              </a:spcBef>
              <a:buFont typeface="Wingdings"/>
              <a:buChar char=""/>
              <a:tabLst>
                <a:tab pos="266700" algn="l"/>
              </a:tabLst>
            </a:pPr>
            <a:r>
              <a:rPr sz="1500" spc="-4" dirty="0">
                <a:latin typeface="Arial MT"/>
                <a:cs typeface="Arial MT"/>
              </a:rPr>
              <a:t>Architecture</a:t>
            </a:r>
            <a:r>
              <a:rPr sz="1500" dirty="0">
                <a:latin typeface="Arial MT"/>
                <a:cs typeface="Arial MT"/>
              </a:rPr>
              <a:t> of a</a:t>
            </a:r>
            <a:r>
              <a:rPr sz="1500" spc="4" dirty="0">
                <a:latin typeface="Arial MT"/>
                <a:cs typeface="Arial MT"/>
              </a:rPr>
              <a:t> </a:t>
            </a:r>
            <a:r>
              <a:rPr sz="1500" spc="-4" dirty="0">
                <a:latin typeface="Arial MT"/>
                <a:cs typeface="Arial MT"/>
              </a:rPr>
              <a:t>system</a:t>
            </a:r>
            <a:r>
              <a:rPr sz="1500" dirty="0">
                <a:latin typeface="Arial MT"/>
                <a:cs typeface="Arial MT"/>
              </a:rPr>
              <a:t> describes </a:t>
            </a:r>
            <a:r>
              <a:rPr sz="1500" spc="-4" dirty="0">
                <a:latin typeface="Arial MT"/>
                <a:cs typeface="Arial MT"/>
              </a:rPr>
              <a:t>the</a:t>
            </a:r>
            <a:r>
              <a:rPr sz="1500" spc="4" dirty="0">
                <a:latin typeface="Arial MT"/>
                <a:cs typeface="Arial MT"/>
              </a:rPr>
              <a:t> </a:t>
            </a:r>
            <a:r>
              <a:rPr sz="1500" spc="-4" dirty="0">
                <a:latin typeface="Arial MT"/>
                <a:cs typeface="Arial MT"/>
              </a:rPr>
              <a:t>components </a:t>
            </a:r>
            <a:r>
              <a:rPr sz="1500" dirty="0">
                <a:latin typeface="Arial MT"/>
                <a:cs typeface="Arial MT"/>
              </a:rPr>
              <a:t>and </a:t>
            </a:r>
            <a:r>
              <a:rPr sz="1500" spc="-405" dirty="0">
                <a:latin typeface="Arial MT"/>
                <a:cs typeface="Arial MT"/>
              </a:rPr>
              <a:t> </a:t>
            </a:r>
            <a:r>
              <a:rPr sz="1500" dirty="0">
                <a:latin typeface="Arial MT"/>
                <a:cs typeface="Arial MT"/>
              </a:rPr>
              <a:t>how</a:t>
            </a:r>
            <a:r>
              <a:rPr sz="1500" spc="-4" dirty="0">
                <a:latin typeface="Arial MT"/>
                <a:cs typeface="Arial MT"/>
              </a:rPr>
              <a:t> they fit </a:t>
            </a:r>
            <a:r>
              <a:rPr sz="1500" spc="-11" dirty="0">
                <a:latin typeface="Arial MT"/>
                <a:cs typeface="Arial MT"/>
              </a:rPr>
              <a:t>together.</a:t>
            </a:r>
            <a:endParaRPr sz="1500" dirty="0">
              <a:latin typeface="Arial MT"/>
              <a:cs typeface="Arial MT"/>
            </a:endParaRPr>
          </a:p>
          <a:p>
            <a:pPr marL="266224" marR="95726" indent="-257175">
              <a:lnSpc>
                <a:spcPct val="200000"/>
              </a:lnSpc>
              <a:spcBef>
                <a:spcPts val="975"/>
              </a:spcBef>
              <a:buFont typeface="Wingdings"/>
              <a:buChar char=""/>
              <a:tabLst>
                <a:tab pos="266700" algn="l"/>
              </a:tabLst>
            </a:pPr>
            <a:r>
              <a:rPr lang="en-US" sz="1500" dirty="0">
                <a:latin typeface="Arial MT"/>
                <a:cs typeface="Arial MT"/>
              </a:rPr>
              <a:t>Architecture </a:t>
            </a:r>
            <a:r>
              <a:rPr sz="1500" dirty="0">
                <a:latin typeface="Arial MT"/>
                <a:cs typeface="Arial MT"/>
              </a:rPr>
              <a:t>enables</a:t>
            </a:r>
            <a:r>
              <a:rPr sz="1500" spc="-4" dirty="0">
                <a:latin typeface="Arial MT"/>
                <a:cs typeface="Arial MT"/>
              </a:rPr>
              <a:t> </a:t>
            </a:r>
            <a:r>
              <a:rPr sz="1500" dirty="0">
                <a:latin typeface="Arial MT"/>
                <a:cs typeface="Arial MT"/>
              </a:rPr>
              <a:t>a </a:t>
            </a:r>
            <a:r>
              <a:rPr sz="1500" spc="-4" dirty="0">
                <a:latin typeface="Arial MT"/>
                <a:cs typeface="Arial MT"/>
              </a:rPr>
              <a:t>software</a:t>
            </a:r>
            <a:r>
              <a:rPr sz="1500" dirty="0">
                <a:latin typeface="Arial MT"/>
                <a:cs typeface="Arial MT"/>
              </a:rPr>
              <a:t> engineer </a:t>
            </a:r>
            <a:r>
              <a:rPr sz="1500" spc="-4" dirty="0">
                <a:latin typeface="Arial MT"/>
                <a:cs typeface="Arial MT"/>
              </a:rPr>
              <a:t>to:</a:t>
            </a:r>
            <a:endParaRPr sz="1388" dirty="0">
              <a:latin typeface="Arial MT"/>
              <a:cs typeface="Arial MT"/>
            </a:endParaRPr>
          </a:p>
          <a:p>
            <a:pPr marL="9525" marR="451485">
              <a:lnSpc>
                <a:spcPct val="200000"/>
              </a:lnSpc>
              <a:buClr>
                <a:srgbClr val="000000"/>
              </a:buClr>
              <a:buAutoNum type="arabicParenBoth"/>
              <a:tabLst>
                <a:tab pos="295275" algn="l"/>
              </a:tabLst>
            </a:pPr>
            <a:r>
              <a:rPr sz="1500" dirty="0">
                <a:solidFill>
                  <a:srgbClr val="9A0000"/>
                </a:solidFill>
                <a:latin typeface="Arial MT"/>
                <a:cs typeface="Arial MT"/>
              </a:rPr>
              <a:t>analyze </a:t>
            </a:r>
            <a:r>
              <a:rPr sz="1500" spc="-4" dirty="0">
                <a:solidFill>
                  <a:srgbClr val="9A0000"/>
                </a:solidFill>
                <a:latin typeface="Arial MT"/>
                <a:cs typeface="Arial MT"/>
              </a:rPr>
              <a:t>the effectiveness </a:t>
            </a:r>
            <a:r>
              <a:rPr sz="1500" dirty="0">
                <a:solidFill>
                  <a:srgbClr val="9A0000"/>
                </a:solidFill>
                <a:latin typeface="Arial MT"/>
                <a:cs typeface="Arial MT"/>
              </a:rPr>
              <a:t>of </a:t>
            </a:r>
            <a:r>
              <a:rPr sz="1500" spc="-4" dirty="0">
                <a:solidFill>
                  <a:srgbClr val="9A0000"/>
                </a:solidFill>
                <a:latin typeface="Arial MT"/>
                <a:cs typeface="Arial MT"/>
              </a:rPr>
              <a:t>the </a:t>
            </a:r>
            <a:r>
              <a:rPr sz="1500" dirty="0">
                <a:solidFill>
                  <a:srgbClr val="9A0000"/>
                </a:solidFill>
                <a:latin typeface="Arial MT"/>
                <a:cs typeface="Arial MT"/>
              </a:rPr>
              <a:t>design </a:t>
            </a:r>
            <a:r>
              <a:rPr sz="1500" dirty="0">
                <a:latin typeface="Arial MT"/>
                <a:cs typeface="Arial MT"/>
              </a:rPr>
              <a:t>in </a:t>
            </a:r>
            <a:r>
              <a:rPr sz="1500" spc="-4" dirty="0">
                <a:latin typeface="Arial MT"/>
                <a:cs typeface="Arial MT"/>
              </a:rPr>
              <a:t>meeting its </a:t>
            </a:r>
            <a:r>
              <a:rPr sz="1500" spc="-409" dirty="0">
                <a:latin typeface="Arial MT"/>
                <a:cs typeface="Arial MT"/>
              </a:rPr>
              <a:t> </a:t>
            </a:r>
            <a:r>
              <a:rPr sz="1500" spc="-4" dirty="0">
                <a:latin typeface="Arial MT"/>
                <a:cs typeface="Arial MT"/>
              </a:rPr>
              <a:t>stated requirements,</a:t>
            </a:r>
            <a:endParaRPr sz="1500" dirty="0">
              <a:latin typeface="Arial MT"/>
              <a:cs typeface="Arial MT"/>
            </a:endParaRPr>
          </a:p>
          <a:p>
            <a:pPr marL="9525" marR="3810">
              <a:lnSpc>
                <a:spcPct val="200000"/>
              </a:lnSpc>
              <a:spcBef>
                <a:spcPts val="975"/>
              </a:spcBef>
              <a:buClr>
                <a:srgbClr val="000000"/>
              </a:buClr>
              <a:buAutoNum type="arabicParenBoth"/>
              <a:tabLst>
                <a:tab pos="295275" algn="l"/>
              </a:tabLst>
            </a:pPr>
            <a:r>
              <a:rPr sz="1500" dirty="0">
                <a:solidFill>
                  <a:srgbClr val="9A0000"/>
                </a:solidFill>
                <a:latin typeface="Arial MT"/>
                <a:cs typeface="Arial MT"/>
              </a:rPr>
              <a:t>consider</a:t>
            </a:r>
            <a:r>
              <a:rPr sz="1500" spc="-4" dirty="0">
                <a:solidFill>
                  <a:srgbClr val="9A0000"/>
                </a:solidFill>
                <a:latin typeface="Arial MT"/>
                <a:cs typeface="Arial MT"/>
              </a:rPr>
              <a:t> architectural</a:t>
            </a:r>
            <a:r>
              <a:rPr sz="1500" spc="4" dirty="0">
                <a:solidFill>
                  <a:srgbClr val="9A0000"/>
                </a:solidFill>
                <a:latin typeface="Arial MT"/>
                <a:cs typeface="Arial MT"/>
              </a:rPr>
              <a:t> </a:t>
            </a:r>
            <a:r>
              <a:rPr sz="1500" spc="-4" dirty="0">
                <a:solidFill>
                  <a:srgbClr val="9A0000"/>
                </a:solidFill>
                <a:latin typeface="Arial MT"/>
                <a:cs typeface="Arial MT"/>
              </a:rPr>
              <a:t>alternatives</a:t>
            </a:r>
            <a:r>
              <a:rPr sz="1500" dirty="0">
                <a:solidFill>
                  <a:srgbClr val="9A0000"/>
                </a:solidFill>
                <a:latin typeface="Arial MT"/>
                <a:cs typeface="Arial MT"/>
              </a:rPr>
              <a:t> </a:t>
            </a:r>
            <a:r>
              <a:rPr sz="1500" dirty="0">
                <a:latin typeface="Arial MT"/>
                <a:cs typeface="Arial MT"/>
              </a:rPr>
              <a:t>at</a:t>
            </a:r>
            <a:r>
              <a:rPr sz="1500" spc="-4" dirty="0">
                <a:latin typeface="Arial MT"/>
                <a:cs typeface="Arial MT"/>
              </a:rPr>
              <a:t> </a:t>
            </a:r>
            <a:r>
              <a:rPr sz="1500" dirty="0">
                <a:latin typeface="Arial MT"/>
                <a:cs typeface="Arial MT"/>
              </a:rPr>
              <a:t>a</a:t>
            </a:r>
            <a:r>
              <a:rPr sz="1500" spc="4" dirty="0">
                <a:latin typeface="Arial MT"/>
                <a:cs typeface="Arial MT"/>
              </a:rPr>
              <a:t> </a:t>
            </a:r>
            <a:r>
              <a:rPr sz="1500" spc="-4" dirty="0">
                <a:latin typeface="Arial MT"/>
                <a:cs typeface="Arial MT"/>
              </a:rPr>
              <a:t>stage</a:t>
            </a:r>
            <a:r>
              <a:rPr sz="1500" spc="4" dirty="0">
                <a:latin typeface="Arial MT"/>
                <a:cs typeface="Arial MT"/>
              </a:rPr>
              <a:t> </a:t>
            </a:r>
            <a:r>
              <a:rPr sz="1500" dirty="0">
                <a:latin typeface="Arial MT"/>
                <a:cs typeface="Arial MT"/>
              </a:rPr>
              <a:t>when making </a:t>
            </a:r>
            <a:r>
              <a:rPr sz="1500" spc="-405" dirty="0">
                <a:latin typeface="Arial MT"/>
                <a:cs typeface="Arial MT"/>
              </a:rPr>
              <a:t> </a:t>
            </a:r>
            <a:r>
              <a:rPr sz="1500" dirty="0">
                <a:latin typeface="Arial MT"/>
                <a:cs typeface="Arial MT"/>
              </a:rPr>
              <a:t>design</a:t>
            </a:r>
            <a:r>
              <a:rPr sz="1500" spc="-4" dirty="0">
                <a:latin typeface="Arial MT"/>
                <a:cs typeface="Arial MT"/>
              </a:rPr>
              <a:t> </a:t>
            </a:r>
            <a:r>
              <a:rPr sz="1500" dirty="0">
                <a:latin typeface="Arial MT"/>
                <a:cs typeface="Arial MT"/>
              </a:rPr>
              <a:t>changes</a:t>
            </a:r>
            <a:r>
              <a:rPr sz="1500" spc="-4" dirty="0">
                <a:latin typeface="Arial MT"/>
                <a:cs typeface="Arial MT"/>
              </a:rPr>
              <a:t> </a:t>
            </a:r>
            <a:r>
              <a:rPr sz="1500" dirty="0">
                <a:latin typeface="Arial MT"/>
                <a:cs typeface="Arial MT"/>
              </a:rPr>
              <a:t>is</a:t>
            </a:r>
            <a:r>
              <a:rPr sz="1500" spc="-4" dirty="0">
                <a:latin typeface="Arial MT"/>
                <a:cs typeface="Arial MT"/>
              </a:rPr>
              <a:t> still</a:t>
            </a:r>
            <a:r>
              <a:rPr sz="1500" dirty="0">
                <a:latin typeface="Arial MT"/>
                <a:cs typeface="Arial MT"/>
              </a:rPr>
              <a:t> </a:t>
            </a:r>
            <a:r>
              <a:rPr sz="1500" spc="-4" dirty="0">
                <a:latin typeface="Arial MT"/>
                <a:cs typeface="Arial MT"/>
              </a:rPr>
              <a:t>relatively </a:t>
            </a:r>
            <a:r>
              <a:rPr sz="1500" spc="-23" dirty="0">
                <a:latin typeface="Arial MT"/>
                <a:cs typeface="Arial MT"/>
              </a:rPr>
              <a:t>easy,</a:t>
            </a:r>
            <a:r>
              <a:rPr sz="1500" spc="-8" dirty="0">
                <a:latin typeface="Arial MT"/>
                <a:cs typeface="Arial MT"/>
              </a:rPr>
              <a:t> </a:t>
            </a:r>
            <a:r>
              <a:rPr sz="1500" dirty="0">
                <a:latin typeface="Arial MT"/>
                <a:cs typeface="Arial MT"/>
              </a:rPr>
              <a:t>and</a:t>
            </a:r>
          </a:p>
          <a:p>
            <a:pPr marL="9525" marR="279083">
              <a:lnSpc>
                <a:spcPct val="200000"/>
              </a:lnSpc>
              <a:spcBef>
                <a:spcPts val="915"/>
              </a:spcBef>
              <a:buClr>
                <a:srgbClr val="000000"/>
              </a:buClr>
              <a:buAutoNum type="arabicParenBoth"/>
              <a:tabLst>
                <a:tab pos="295275" algn="l"/>
              </a:tabLst>
            </a:pPr>
            <a:r>
              <a:rPr sz="1500" dirty="0">
                <a:solidFill>
                  <a:srgbClr val="9A0000"/>
                </a:solidFill>
                <a:latin typeface="Arial MT"/>
                <a:cs typeface="Arial MT"/>
              </a:rPr>
              <a:t>reduce </a:t>
            </a:r>
            <a:r>
              <a:rPr sz="1500" spc="-4" dirty="0">
                <a:solidFill>
                  <a:srgbClr val="9A0000"/>
                </a:solidFill>
                <a:latin typeface="Arial MT"/>
                <a:cs typeface="Arial MT"/>
              </a:rPr>
              <a:t>the</a:t>
            </a:r>
            <a:r>
              <a:rPr sz="1500" spc="4" dirty="0">
                <a:solidFill>
                  <a:srgbClr val="9A0000"/>
                </a:solidFill>
                <a:latin typeface="Arial MT"/>
                <a:cs typeface="Arial MT"/>
              </a:rPr>
              <a:t> </a:t>
            </a:r>
            <a:r>
              <a:rPr sz="1500" dirty="0">
                <a:solidFill>
                  <a:srgbClr val="9A0000"/>
                </a:solidFill>
                <a:latin typeface="Arial MT"/>
                <a:cs typeface="Arial MT"/>
              </a:rPr>
              <a:t>risks </a:t>
            </a:r>
            <a:r>
              <a:rPr sz="1500" spc="-4" dirty="0">
                <a:latin typeface="Arial MT"/>
                <a:cs typeface="Arial MT"/>
              </a:rPr>
              <a:t>associated</a:t>
            </a:r>
            <a:r>
              <a:rPr sz="1500" spc="4" dirty="0">
                <a:latin typeface="Arial MT"/>
                <a:cs typeface="Arial MT"/>
              </a:rPr>
              <a:t> </a:t>
            </a:r>
            <a:r>
              <a:rPr sz="1500" spc="-4" dirty="0">
                <a:latin typeface="Arial MT"/>
                <a:cs typeface="Arial MT"/>
              </a:rPr>
              <a:t>with</a:t>
            </a:r>
            <a:r>
              <a:rPr sz="1500" spc="4" dirty="0">
                <a:latin typeface="Arial MT"/>
                <a:cs typeface="Arial MT"/>
              </a:rPr>
              <a:t> </a:t>
            </a:r>
            <a:r>
              <a:rPr sz="1500" spc="-4" dirty="0">
                <a:latin typeface="Arial MT"/>
                <a:cs typeface="Arial MT"/>
              </a:rPr>
              <a:t>the</a:t>
            </a:r>
            <a:r>
              <a:rPr sz="1500" spc="4" dirty="0">
                <a:latin typeface="Arial MT"/>
                <a:cs typeface="Arial MT"/>
              </a:rPr>
              <a:t> </a:t>
            </a:r>
            <a:r>
              <a:rPr sz="1500" spc="-4" dirty="0">
                <a:latin typeface="Arial MT"/>
                <a:cs typeface="Arial MT"/>
              </a:rPr>
              <a:t>construction</a:t>
            </a:r>
            <a:r>
              <a:rPr sz="1500" spc="4" dirty="0">
                <a:latin typeface="Arial MT"/>
                <a:cs typeface="Arial MT"/>
              </a:rPr>
              <a:t> </a:t>
            </a:r>
            <a:r>
              <a:rPr sz="1500" dirty="0">
                <a:latin typeface="Arial MT"/>
                <a:cs typeface="Arial MT"/>
              </a:rPr>
              <a:t>of </a:t>
            </a:r>
            <a:r>
              <a:rPr sz="1500" spc="-4" dirty="0">
                <a:latin typeface="Arial MT"/>
                <a:cs typeface="Arial MT"/>
              </a:rPr>
              <a:t>the </a:t>
            </a:r>
            <a:r>
              <a:rPr sz="1500" spc="-405" dirty="0">
                <a:latin typeface="Arial MT"/>
                <a:cs typeface="Arial MT"/>
              </a:rPr>
              <a:t> </a:t>
            </a:r>
            <a:r>
              <a:rPr sz="1500" spc="-4" dirty="0">
                <a:latin typeface="Arial MT"/>
                <a:cs typeface="Arial MT"/>
              </a:rPr>
              <a:t>software.</a:t>
            </a:r>
            <a:endParaRPr sz="1500" dirty="0">
              <a:latin typeface="Arial MT"/>
              <a:cs typeface="Arial MT"/>
            </a:endParaRPr>
          </a:p>
        </p:txBody>
      </p:sp>
    </p:spTree>
    <p:extLst>
      <p:ext uri="{BB962C8B-B14F-4D97-AF65-F5344CB8AC3E}">
        <p14:creationId xmlns:p14="http://schemas.microsoft.com/office/powerpoint/2010/main" val="5017186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28700"/>
            <a:ext cx="7886700" cy="413498"/>
          </a:xfrm>
        </p:spPr>
        <p:txBody>
          <a:bodyPr>
            <a:normAutofit fontScale="90000"/>
          </a:bodyPr>
          <a:lstStyle/>
          <a:p>
            <a:pPr algn="ctr"/>
            <a:r>
              <a:rPr lang="en-US" b="1" dirty="0">
                <a:solidFill>
                  <a:srgbClr val="FF0000"/>
                </a:solidFill>
              </a:rPr>
              <a:t>Horizontal &amp; Vertical  Partitioning</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628650" y="1401856"/>
            <a:ext cx="8327091" cy="4088117"/>
          </a:xfrm>
        </p:spPr>
        <p:txBody>
          <a:bodyPr>
            <a:normAutofit fontScale="77500" lnSpcReduction="20000"/>
          </a:bodyPr>
          <a:lstStyle/>
          <a:p>
            <a:pPr lvl="0"/>
            <a:r>
              <a:rPr lang="en-US" dirty="0">
                <a:solidFill>
                  <a:srgbClr val="FF0000"/>
                </a:solidFill>
              </a:rPr>
              <a:t>Horizontal Partitioning </a:t>
            </a:r>
            <a:r>
              <a:rPr lang="en-US" dirty="0"/>
              <a:t>define separate branches of the module hierarchy for each major function</a:t>
            </a:r>
            <a:endParaRPr lang="en-IN" dirty="0"/>
          </a:p>
          <a:p>
            <a:pPr lvl="0"/>
            <a:r>
              <a:rPr lang="en-US" dirty="0"/>
              <a:t>This use control modules to coordinate communication between functions</a:t>
            </a:r>
          </a:p>
          <a:p>
            <a:pPr lvl="0"/>
            <a:endParaRPr lang="en-US" dirty="0"/>
          </a:p>
          <a:p>
            <a:pPr lvl="0"/>
            <a:endParaRPr lang="en-IN" dirty="0"/>
          </a:p>
          <a:p>
            <a:pPr marL="0" indent="0">
              <a:buNone/>
            </a:pPr>
            <a:r>
              <a:rPr lang="en-US" b="1" dirty="0">
                <a:solidFill>
                  <a:srgbClr val="FF0000"/>
                </a:solidFill>
              </a:rPr>
              <a:t>Vertical Partitioning: Factoring</a:t>
            </a:r>
            <a:endParaRPr lang="en-IN" dirty="0">
              <a:solidFill>
                <a:srgbClr val="FF0000"/>
              </a:solidFill>
            </a:endParaRPr>
          </a:p>
          <a:p>
            <a:pPr lvl="0"/>
            <a:r>
              <a:rPr lang="en-US" dirty="0"/>
              <a:t>Vertical partitioning suggests the control and work should be distributed top-down in the program structure.</a:t>
            </a:r>
            <a:endParaRPr lang="en-IN" dirty="0"/>
          </a:p>
          <a:p>
            <a:pPr lvl="0"/>
            <a:r>
              <a:rPr lang="en-US" dirty="0"/>
              <a:t>The decision making modules should reside at the top of the architecture</a:t>
            </a:r>
            <a:endParaRPr lang="en-IN" dirty="0"/>
          </a:p>
          <a:p>
            <a:pPr marL="0" indent="0">
              <a:buNone/>
            </a:pP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0792" y="4887585"/>
            <a:ext cx="3570194" cy="1126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333" y="2473418"/>
            <a:ext cx="351388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3453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670" y="304191"/>
            <a:ext cx="6852555" cy="68672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tabLst>
                <a:tab pos="2232660" algn="l"/>
              </a:tabLst>
            </a:pPr>
            <a:r>
              <a:rPr dirty="0">
                <a:solidFill>
                  <a:srgbClr val="FF0000"/>
                </a:solidFill>
              </a:rPr>
              <a:t>Archi</a:t>
            </a:r>
            <a:r>
              <a:rPr spc="-4" dirty="0">
                <a:solidFill>
                  <a:srgbClr val="FF0000"/>
                </a:solidFill>
              </a:rPr>
              <a:t>t</a:t>
            </a:r>
            <a:r>
              <a:rPr dirty="0">
                <a:solidFill>
                  <a:srgbClr val="FF0000"/>
                </a:solidFill>
              </a:rPr>
              <a:t>ec</a:t>
            </a:r>
            <a:r>
              <a:rPr spc="-4" dirty="0">
                <a:solidFill>
                  <a:srgbClr val="FF0000"/>
                </a:solidFill>
              </a:rPr>
              <a:t>t</a:t>
            </a:r>
            <a:r>
              <a:rPr dirty="0">
                <a:solidFill>
                  <a:srgbClr val="FF0000"/>
                </a:solidFill>
              </a:rPr>
              <a:t>ural	S</a:t>
            </a:r>
            <a:r>
              <a:rPr spc="-4" dirty="0">
                <a:solidFill>
                  <a:srgbClr val="FF0000"/>
                </a:solidFill>
              </a:rPr>
              <a:t>t</a:t>
            </a:r>
            <a:r>
              <a:rPr dirty="0">
                <a:solidFill>
                  <a:srgbClr val="FF0000"/>
                </a:solidFill>
              </a:rPr>
              <a:t>yles</a:t>
            </a:r>
          </a:p>
        </p:txBody>
      </p:sp>
      <p:grpSp>
        <p:nvGrpSpPr>
          <p:cNvPr id="3" name="object 3"/>
          <p:cNvGrpSpPr/>
          <p:nvPr/>
        </p:nvGrpSpPr>
        <p:grpSpPr>
          <a:xfrm>
            <a:off x="1654232" y="2235084"/>
            <a:ext cx="7074534" cy="3210878"/>
            <a:chOff x="1654232" y="1837112"/>
            <a:chExt cx="7074534" cy="4281170"/>
          </a:xfrm>
        </p:grpSpPr>
        <p:pic>
          <p:nvPicPr>
            <p:cNvPr id="4" name="object 4"/>
            <p:cNvPicPr/>
            <p:nvPr/>
          </p:nvPicPr>
          <p:blipFill>
            <a:blip r:embed="rId2" cstate="print"/>
            <a:stretch>
              <a:fillRect/>
            </a:stretch>
          </p:blipFill>
          <p:spPr>
            <a:xfrm>
              <a:off x="1654232" y="1837112"/>
              <a:ext cx="6907875" cy="369916"/>
            </a:xfrm>
            <a:prstGeom prst="rect">
              <a:avLst/>
            </a:prstGeom>
          </p:spPr>
        </p:pic>
        <p:pic>
          <p:nvPicPr>
            <p:cNvPr id="5" name="object 5"/>
            <p:cNvPicPr/>
            <p:nvPr/>
          </p:nvPicPr>
          <p:blipFill>
            <a:blip r:embed="rId3" cstate="print"/>
            <a:stretch>
              <a:fillRect/>
            </a:stretch>
          </p:blipFill>
          <p:spPr>
            <a:xfrm>
              <a:off x="2111432" y="2078181"/>
              <a:ext cx="4243646" cy="507076"/>
            </a:xfrm>
            <a:prstGeom prst="rect">
              <a:avLst/>
            </a:prstGeom>
          </p:spPr>
        </p:pic>
        <p:pic>
          <p:nvPicPr>
            <p:cNvPr id="6" name="object 6"/>
            <p:cNvPicPr/>
            <p:nvPr/>
          </p:nvPicPr>
          <p:blipFill>
            <a:blip r:embed="rId4" cstate="print"/>
            <a:stretch>
              <a:fillRect/>
            </a:stretch>
          </p:blipFill>
          <p:spPr>
            <a:xfrm>
              <a:off x="1654232" y="2460566"/>
              <a:ext cx="3798916" cy="507076"/>
            </a:xfrm>
            <a:prstGeom prst="rect">
              <a:avLst/>
            </a:prstGeom>
          </p:spPr>
        </p:pic>
        <p:pic>
          <p:nvPicPr>
            <p:cNvPr id="7" name="object 7"/>
            <p:cNvPicPr/>
            <p:nvPr/>
          </p:nvPicPr>
          <p:blipFill>
            <a:blip r:embed="rId5" cstate="print"/>
            <a:stretch>
              <a:fillRect/>
            </a:stretch>
          </p:blipFill>
          <p:spPr>
            <a:xfrm>
              <a:off x="1654232" y="2842952"/>
              <a:ext cx="6134792" cy="507076"/>
            </a:xfrm>
            <a:prstGeom prst="rect">
              <a:avLst/>
            </a:prstGeom>
          </p:spPr>
        </p:pic>
        <p:pic>
          <p:nvPicPr>
            <p:cNvPr id="8" name="object 8"/>
            <p:cNvPicPr/>
            <p:nvPr/>
          </p:nvPicPr>
          <p:blipFill>
            <a:blip r:embed="rId6" cstate="print"/>
            <a:stretch>
              <a:fillRect/>
            </a:stretch>
          </p:blipFill>
          <p:spPr>
            <a:xfrm>
              <a:off x="1654232" y="3233650"/>
              <a:ext cx="7011785" cy="507076"/>
            </a:xfrm>
            <a:prstGeom prst="rect">
              <a:avLst/>
            </a:prstGeom>
          </p:spPr>
        </p:pic>
        <p:pic>
          <p:nvPicPr>
            <p:cNvPr id="9" name="object 9"/>
            <p:cNvPicPr/>
            <p:nvPr/>
          </p:nvPicPr>
          <p:blipFill>
            <a:blip r:embed="rId7" cstate="print"/>
            <a:stretch>
              <a:fillRect/>
            </a:stretch>
          </p:blipFill>
          <p:spPr>
            <a:xfrm>
              <a:off x="1999211" y="3616036"/>
              <a:ext cx="4227021" cy="365760"/>
            </a:xfrm>
            <a:prstGeom prst="rect">
              <a:avLst/>
            </a:prstGeom>
          </p:spPr>
        </p:pic>
        <p:pic>
          <p:nvPicPr>
            <p:cNvPr id="10" name="object 10"/>
            <p:cNvPicPr/>
            <p:nvPr/>
          </p:nvPicPr>
          <p:blipFill>
            <a:blip r:embed="rId8" cstate="print"/>
            <a:stretch>
              <a:fillRect/>
            </a:stretch>
          </p:blipFill>
          <p:spPr>
            <a:xfrm>
              <a:off x="1654232" y="3857105"/>
              <a:ext cx="6907875" cy="507076"/>
            </a:xfrm>
            <a:prstGeom prst="rect">
              <a:avLst/>
            </a:prstGeom>
          </p:spPr>
        </p:pic>
        <p:pic>
          <p:nvPicPr>
            <p:cNvPr id="11" name="object 11"/>
            <p:cNvPicPr/>
            <p:nvPr/>
          </p:nvPicPr>
          <p:blipFill>
            <a:blip r:embed="rId9" cstate="print"/>
            <a:stretch>
              <a:fillRect/>
            </a:stretch>
          </p:blipFill>
          <p:spPr>
            <a:xfrm>
              <a:off x="1999211" y="4251960"/>
              <a:ext cx="3516283" cy="365760"/>
            </a:xfrm>
            <a:prstGeom prst="rect">
              <a:avLst/>
            </a:prstGeom>
          </p:spPr>
        </p:pic>
        <p:pic>
          <p:nvPicPr>
            <p:cNvPr id="12" name="object 12"/>
            <p:cNvPicPr/>
            <p:nvPr/>
          </p:nvPicPr>
          <p:blipFill>
            <a:blip r:embed="rId10" cstate="print"/>
            <a:stretch>
              <a:fillRect/>
            </a:stretch>
          </p:blipFill>
          <p:spPr>
            <a:xfrm>
              <a:off x="1654232" y="4493029"/>
              <a:ext cx="7074129" cy="507076"/>
            </a:xfrm>
            <a:prstGeom prst="rect">
              <a:avLst/>
            </a:prstGeom>
          </p:spPr>
        </p:pic>
        <p:pic>
          <p:nvPicPr>
            <p:cNvPr id="13" name="object 13"/>
            <p:cNvPicPr/>
            <p:nvPr/>
          </p:nvPicPr>
          <p:blipFill>
            <a:blip r:embed="rId11" cstate="print"/>
            <a:stretch>
              <a:fillRect/>
            </a:stretch>
          </p:blipFill>
          <p:spPr>
            <a:xfrm>
              <a:off x="1999211" y="4871258"/>
              <a:ext cx="1675014" cy="369916"/>
            </a:xfrm>
            <a:prstGeom prst="rect">
              <a:avLst/>
            </a:prstGeom>
          </p:spPr>
        </p:pic>
        <p:pic>
          <p:nvPicPr>
            <p:cNvPr id="14" name="object 14"/>
            <p:cNvPicPr/>
            <p:nvPr/>
          </p:nvPicPr>
          <p:blipFill>
            <a:blip r:embed="rId12" cstate="print"/>
            <a:stretch>
              <a:fillRect/>
            </a:stretch>
          </p:blipFill>
          <p:spPr>
            <a:xfrm>
              <a:off x="1654232" y="5128952"/>
              <a:ext cx="7024254" cy="507076"/>
            </a:xfrm>
            <a:prstGeom prst="rect">
              <a:avLst/>
            </a:prstGeom>
          </p:spPr>
        </p:pic>
        <p:pic>
          <p:nvPicPr>
            <p:cNvPr id="15" name="object 15"/>
            <p:cNvPicPr/>
            <p:nvPr/>
          </p:nvPicPr>
          <p:blipFill>
            <a:blip r:embed="rId13" cstate="print"/>
            <a:stretch>
              <a:fillRect/>
            </a:stretch>
          </p:blipFill>
          <p:spPr>
            <a:xfrm>
              <a:off x="1999211" y="5507181"/>
              <a:ext cx="6463145" cy="369916"/>
            </a:xfrm>
            <a:prstGeom prst="rect">
              <a:avLst/>
            </a:prstGeom>
          </p:spPr>
        </p:pic>
        <p:pic>
          <p:nvPicPr>
            <p:cNvPr id="16" name="object 16"/>
            <p:cNvPicPr/>
            <p:nvPr/>
          </p:nvPicPr>
          <p:blipFill>
            <a:blip r:embed="rId14" cstate="print"/>
            <a:stretch>
              <a:fillRect/>
            </a:stretch>
          </p:blipFill>
          <p:spPr>
            <a:xfrm>
              <a:off x="1999211" y="5748250"/>
              <a:ext cx="1853737" cy="369916"/>
            </a:xfrm>
            <a:prstGeom prst="rect">
              <a:avLst/>
            </a:prstGeom>
          </p:spPr>
        </p:pic>
      </p:grpSp>
      <p:sp>
        <p:nvSpPr>
          <p:cNvPr id="17" name="object 17"/>
          <p:cNvSpPr txBox="1"/>
          <p:nvPr/>
        </p:nvSpPr>
        <p:spPr>
          <a:xfrm>
            <a:off x="411386" y="1660606"/>
            <a:ext cx="8267101" cy="4140813"/>
          </a:xfrm>
          <a:prstGeom prst="rect">
            <a:avLst/>
          </a:prstGeom>
        </p:spPr>
        <p:txBody>
          <a:bodyPr vert="horz" wrap="square" lIns="0" tIns="87629" rIns="0" bIns="0" rtlCol="0">
            <a:spAutoFit/>
          </a:bodyPr>
          <a:lstStyle/>
          <a:p>
            <a:pPr marR="66199">
              <a:lnSpc>
                <a:spcPct val="200000"/>
              </a:lnSpc>
              <a:spcBef>
                <a:spcPts val="904"/>
              </a:spcBef>
              <a:tabLst>
                <a:tab pos="242888" algn="l"/>
              </a:tabLst>
            </a:pPr>
            <a:r>
              <a:rPr lang="en-US" sz="1500" dirty="0"/>
              <a:t>The architectural styles is used to describes a system  which has :</a:t>
            </a:r>
            <a:endParaRPr lang="en-IN" sz="1500" dirty="0"/>
          </a:p>
          <a:p>
            <a:pPr marL="242888" marR="66199" indent="-242888">
              <a:lnSpc>
                <a:spcPct val="200000"/>
              </a:lnSpc>
              <a:spcBef>
                <a:spcPts val="904"/>
              </a:spcBef>
              <a:buAutoNum type="arabicParenBoth"/>
              <a:tabLst>
                <a:tab pos="242888" algn="l"/>
              </a:tabLst>
            </a:pPr>
            <a:r>
              <a:rPr sz="1500" b="1" spc="-4" dirty="0">
                <a:solidFill>
                  <a:srgbClr val="9A0000"/>
                </a:solidFill>
                <a:latin typeface="Palatino Linotype"/>
                <a:cs typeface="Palatino Linotype"/>
              </a:rPr>
              <a:t>set</a:t>
            </a:r>
            <a:r>
              <a:rPr sz="1500" b="1" spc="4" dirty="0">
                <a:solidFill>
                  <a:srgbClr val="9A0000"/>
                </a:solidFill>
                <a:latin typeface="Palatino Linotype"/>
                <a:cs typeface="Palatino Linotype"/>
              </a:rPr>
              <a:t> </a:t>
            </a:r>
            <a:r>
              <a:rPr sz="1500" b="1" dirty="0">
                <a:solidFill>
                  <a:srgbClr val="9A0000"/>
                </a:solidFill>
                <a:latin typeface="Palatino Linotype"/>
                <a:cs typeface="Palatino Linotype"/>
              </a:rPr>
              <a:t>of</a:t>
            </a:r>
            <a:r>
              <a:rPr sz="1500" b="1" spc="4" dirty="0">
                <a:solidFill>
                  <a:srgbClr val="9A0000"/>
                </a:solidFill>
                <a:latin typeface="Palatino Linotype"/>
                <a:cs typeface="Palatino Linotype"/>
              </a:rPr>
              <a:t> </a:t>
            </a:r>
            <a:r>
              <a:rPr sz="1500" b="1" spc="-4" dirty="0">
                <a:solidFill>
                  <a:srgbClr val="9A0000"/>
                </a:solidFill>
                <a:latin typeface="Palatino Linotype"/>
                <a:cs typeface="Palatino Linotype"/>
              </a:rPr>
              <a:t>components</a:t>
            </a:r>
            <a:r>
              <a:rPr sz="1500" b="1" spc="8" dirty="0">
                <a:solidFill>
                  <a:srgbClr val="9A0000"/>
                </a:solidFill>
                <a:latin typeface="Palatino Linotype"/>
                <a:cs typeface="Palatino Linotype"/>
              </a:rPr>
              <a:t> </a:t>
            </a:r>
            <a:r>
              <a:rPr sz="1500" dirty="0">
                <a:latin typeface="Palatino Linotype"/>
                <a:cs typeface="Palatino Linotype"/>
              </a:rPr>
              <a:t>(e.g.,</a:t>
            </a:r>
            <a:r>
              <a:rPr sz="1500" spc="4" dirty="0">
                <a:latin typeface="Palatino Linotype"/>
                <a:cs typeface="Palatino Linotype"/>
              </a:rPr>
              <a:t> </a:t>
            </a:r>
            <a:r>
              <a:rPr sz="1500" dirty="0">
                <a:latin typeface="Palatino Linotype"/>
                <a:cs typeface="Palatino Linotype"/>
              </a:rPr>
              <a:t>a</a:t>
            </a:r>
            <a:r>
              <a:rPr sz="1500" spc="4" dirty="0">
                <a:latin typeface="Palatino Linotype"/>
                <a:cs typeface="Palatino Linotype"/>
              </a:rPr>
              <a:t> </a:t>
            </a:r>
            <a:r>
              <a:rPr sz="1500" spc="-4" dirty="0">
                <a:latin typeface="Palatino Linotype"/>
                <a:cs typeface="Palatino Linotype"/>
              </a:rPr>
              <a:t>database,</a:t>
            </a:r>
            <a:r>
              <a:rPr sz="1500" spc="8" dirty="0">
                <a:latin typeface="Palatino Linotype"/>
                <a:cs typeface="Palatino Linotype"/>
              </a:rPr>
              <a:t> </a:t>
            </a:r>
            <a:r>
              <a:rPr sz="1500" spc="-4" dirty="0">
                <a:latin typeface="Palatino Linotype"/>
                <a:cs typeface="Palatino Linotype"/>
              </a:rPr>
              <a:t>computational</a:t>
            </a:r>
            <a:r>
              <a:rPr sz="1500" dirty="0">
                <a:latin typeface="Palatino Linotype"/>
                <a:cs typeface="Palatino Linotype"/>
              </a:rPr>
              <a:t> </a:t>
            </a:r>
            <a:r>
              <a:rPr sz="1500" spc="-4" dirty="0">
                <a:latin typeface="Palatino Linotype"/>
                <a:cs typeface="Palatino Linotype"/>
              </a:rPr>
              <a:t>modules)</a:t>
            </a:r>
            <a:r>
              <a:rPr sz="1500" spc="4" dirty="0">
                <a:latin typeface="Palatino Linotype"/>
                <a:cs typeface="Palatino Linotype"/>
              </a:rPr>
              <a:t> </a:t>
            </a:r>
            <a:r>
              <a:rPr sz="1500" spc="-4" dirty="0">
                <a:latin typeface="Palatino Linotype"/>
                <a:cs typeface="Palatino Linotype"/>
              </a:rPr>
              <a:t>that </a:t>
            </a:r>
            <a:r>
              <a:rPr sz="1500" spc="-326" dirty="0">
                <a:latin typeface="Palatino Linotype"/>
                <a:cs typeface="Palatino Linotype"/>
              </a:rPr>
              <a:t> </a:t>
            </a:r>
            <a:r>
              <a:rPr sz="1500" spc="-4" dirty="0">
                <a:latin typeface="Palatino Linotype"/>
                <a:cs typeface="Palatino Linotype"/>
              </a:rPr>
              <a:t>perform</a:t>
            </a:r>
            <a:r>
              <a:rPr sz="1500" spc="-8" dirty="0">
                <a:latin typeface="Palatino Linotype"/>
                <a:cs typeface="Palatino Linotype"/>
              </a:rPr>
              <a:t> </a:t>
            </a:r>
            <a:r>
              <a:rPr sz="1500" dirty="0">
                <a:latin typeface="Palatino Linotype"/>
                <a:cs typeface="Palatino Linotype"/>
              </a:rPr>
              <a:t>a </a:t>
            </a:r>
            <a:r>
              <a:rPr sz="1500" spc="-4" dirty="0">
                <a:latin typeface="Palatino Linotype"/>
                <a:cs typeface="Palatino Linotype"/>
              </a:rPr>
              <a:t>function </a:t>
            </a:r>
            <a:r>
              <a:rPr sz="1500" spc="-8" dirty="0">
                <a:latin typeface="Palatino Linotype"/>
                <a:cs typeface="Palatino Linotype"/>
              </a:rPr>
              <a:t>required</a:t>
            </a:r>
            <a:r>
              <a:rPr sz="1500" spc="-4" dirty="0">
                <a:latin typeface="Palatino Linotype"/>
                <a:cs typeface="Palatino Linotype"/>
              </a:rPr>
              <a:t> </a:t>
            </a:r>
            <a:r>
              <a:rPr sz="1500" dirty="0">
                <a:latin typeface="Palatino Linotype"/>
                <a:cs typeface="Palatino Linotype"/>
              </a:rPr>
              <a:t>by a </a:t>
            </a:r>
            <a:r>
              <a:rPr sz="1500" spc="-4" dirty="0">
                <a:latin typeface="Palatino Linotype"/>
                <a:cs typeface="Palatino Linotype"/>
              </a:rPr>
              <a:t>system,</a:t>
            </a:r>
            <a:endParaRPr sz="1500" dirty="0">
              <a:latin typeface="Palatino Linotype"/>
              <a:cs typeface="Palatino Linotype"/>
            </a:endParaRPr>
          </a:p>
          <a:p>
            <a:pPr marL="242888" marR="134303" indent="-242888">
              <a:lnSpc>
                <a:spcPct val="200000"/>
              </a:lnSpc>
              <a:spcBef>
                <a:spcPts val="735"/>
              </a:spcBef>
              <a:buAutoNum type="arabicParenBoth"/>
              <a:tabLst>
                <a:tab pos="242888" algn="l"/>
              </a:tabLst>
            </a:pPr>
            <a:r>
              <a:rPr sz="1500" b="1" spc="-4" dirty="0">
                <a:solidFill>
                  <a:srgbClr val="9A0000"/>
                </a:solidFill>
                <a:latin typeface="Palatino Linotype"/>
                <a:cs typeface="Palatino Linotype"/>
              </a:rPr>
              <a:t>set</a:t>
            </a:r>
            <a:r>
              <a:rPr sz="1500" b="1" spc="4" dirty="0">
                <a:solidFill>
                  <a:srgbClr val="9A0000"/>
                </a:solidFill>
                <a:latin typeface="Palatino Linotype"/>
                <a:cs typeface="Palatino Linotype"/>
              </a:rPr>
              <a:t> </a:t>
            </a:r>
            <a:r>
              <a:rPr sz="1500" b="1" dirty="0">
                <a:solidFill>
                  <a:srgbClr val="9A0000"/>
                </a:solidFill>
                <a:latin typeface="Palatino Linotype"/>
                <a:cs typeface="Palatino Linotype"/>
              </a:rPr>
              <a:t>of</a:t>
            </a:r>
            <a:r>
              <a:rPr sz="1500" b="1" spc="4" dirty="0">
                <a:solidFill>
                  <a:srgbClr val="9A0000"/>
                </a:solidFill>
                <a:latin typeface="Palatino Linotype"/>
                <a:cs typeface="Palatino Linotype"/>
              </a:rPr>
              <a:t> </a:t>
            </a:r>
            <a:r>
              <a:rPr sz="1500" b="1" spc="-4" dirty="0">
                <a:solidFill>
                  <a:srgbClr val="9A0000"/>
                </a:solidFill>
                <a:latin typeface="Palatino Linotype"/>
                <a:cs typeface="Palatino Linotype"/>
              </a:rPr>
              <a:t>connectors</a:t>
            </a:r>
            <a:r>
              <a:rPr sz="1500" b="1" spc="4" dirty="0">
                <a:solidFill>
                  <a:srgbClr val="9A0000"/>
                </a:solidFill>
                <a:latin typeface="Palatino Linotype"/>
                <a:cs typeface="Palatino Linotype"/>
              </a:rPr>
              <a:t> </a:t>
            </a:r>
            <a:r>
              <a:rPr sz="1500" spc="-4" dirty="0">
                <a:latin typeface="Palatino Linotype"/>
                <a:cs typeface="Palatino Linotype"/>
              </a:rPr>
              <a:t>that</a:t>
            </a:r>
            <a:r>
              <a:rPr sz="1500" spc="4" dirty="0">
                <a:latin typeface="Palatino Linotype"/>
                <a:cs typeface="Palatino Linotype"/>
              </a:rPr>
              <a:t> </a:t>
            </a:r>
            <a:r>
              <a:rPr sz="1500" spc="-4" dirty="0">
                <a:latin typeface="Palatino Linotype"/>
                <a:cs typeface="Palatino Linotype"/>
              </a:rPr>
              <a:t>enable</a:t>
            </a:r>
            <a:r>
              <a:rPr sz="1500" dirty="0">
                <a:latin typeface="Palatino Linotype"/>
                <a:cs typeface="Palatino Linotype"/>
              </a:rPr>
              <a:t> </a:t>
            </a:r>
            <a:r>
              <a:rPr sz="1500" spc="-4" dirty="0">
                <a:latin typeface="MS PGothic"/>
                <a:cs typeface="MS PGothic"/>
              </a:rPr>
              <a:t>“</a:t>
            </a:r>
            <a:r>
              <a:rPr sz="1500" spc="-4" dirty="0">
                <a:latin typeface="Palatino Linotype"/>
                <a:cs typeface="Palatino Linotype"/>
              </a:rPr>
              <a:t>communication,</a:t>
            </a:r>
            <a:r>
              <a:rPr sz="1500" dirty="0">
                <a:latin typeface="Palatino Linotype"/>
                <a:cs typeface="Palatino Linotype"/>
              </a:rPr>
              <a:t> </a:t>
            </a:r>
            <a:r>
              <a:rPr sz="1500" spc="-4" dirty="0">
                <a:latin typeface="Palatino Linotype"/>
                <a:cs typeface="Palatino Linotype"/>
              </a:rPr>
              <a:t>coordination</a:t>
            </a:r>
            <a:r>
              <a:rPr sz="1500" dirty="0">
                <a:latin typeface="Palatino Linotype"/>
                <a:cs typeface="Palatino Linotype"/>
              </a:rPr>
              <a:t> and </a:t>
            </a:r>
            <a:r>
              <a:rPr sz="1500" spc="-326" dirty="0">
                <a:latin typeface="Palatino Linotype"/>
                <a:cs typeface="Palatino Linotype"/>
              </a:rPr>
              <a:t> </a:t>
            </a:r>
            <a:r>
              <a:rPr sz="1500" spc="-4" dirty="0">
                <a:latin typeface="Palatino Linotype"/>
                <a:cs typeface="Palatino Linotype"/>
              </a:rPr>
              <a:t>cooperation</a:t>
            </a:r>
            <a:r>
              <a:rPr sz="1500" spc="-4" dirty="0">
                <a:latin typeface="MS PGothic"/>
                <a:cs typeface="MS PGothic"/>
              </a:rPr>
              <a:t>”</a:t>
            </a:r>
            <a:r>
              <a:rPr sz="1500" spc="-79" dirty="0">
                <a:latin typeface="MS PGothic"/>
                <a:cs typeface="MS PGothic"/>
              </a:rPr>
              <a:t> </a:t>
            </a:r>
            <a:r>
              <a:rPr sz="1500" spc="-4" dirty="0">
                <a:latin typeface="Palatino Linotype"/>
                <a:cs typeface="Palatino Linotype"/>
              </a:rPr>
              <a:t>among</a:t>
            </a:r>
            <a:r>
              <a:rPr sz="1500" dirty="0">
                <a:latin typeface="Palatino Linotype"/>
                <a:cs typeface="Palatino Linotype"/>
              </a:rPr>
              <a:t> </a:t>
            </a:r>
            <a:r>
              <a:rPr sz="1500" spc="-4" dirty="0">
                <a:latin typeface="Palatino Linotype"/>
                <a:cs typeface="Palatino Linotype"/>
              </a:rPr>
              <a:t>components,</a:t>
            </a:r>
            <a:endParaRPr sz="1500" dirty="0">
              <a:latin typeface="Palatino Linotype"/>
              <a:cs typeface="Palatino Linotype"/>
            </a:endParaRPr>
          </a:p>
          <a:p>
            <a:pPr marL="242888" marR="3810" indent="-242888">
              <a:lnSpc>
                <a:spcPct val="200000"/>
              </a:lnSpc>
              <a:spcBef>
                <a:spcPts val="780"/>
              </a:spcBef>
              <a:buAutoNum type="arabicParenBoth"/>
              <a:tabLst>
                <a:tab pos="242888" algn="l"/>
              </a:tabLst>
            </a:pPr>
            <a:r>
              <a:rPr sz="1500" b="1" spc="-4" dirty="0">
                <a:solidFill>
                  <a:srgbClr val="9A0000"/>
                </a:solidFill>
                <a:latin typeface="Palatino Linotype"/>
                <a:cs typeface="Palatino Linotype"/>
              </a:rPr>
              <a:t>constraints</a:t>
            </a:r>
            <a:r>
              <a:rPr sz="1500" b="1" dirty="0">
                <a:solidFill>
                  <a:srgbClr val="9A0000"/>
                </a:solidFill>
                <a:latin typeface="Palatino Linotype"/>
                <a:cs typeface="Palatino Linotype"/>
              </a:rPr>
              <a:t> </a:t>
            </a:r>
            <a:r>
              <a:rPr sz="1500" spc="-4" dirty="0">
                <a:latin typeface="Palatino Linotype"/>
                <a:cs typeface="Palatino Linotype"/>
              </a:rPr>
              <a:t>that</a:t>
            </a:r>
            <a:r>
              <a:rPr sz="1500" spc="4" dirty="0">
                <a:latin typeface="Palatino Linotype"/>
                <a:cs typeface="Palatino Linotype"/>
              </a:rPr>
              <a:t> </a:t>
            </a:r>
            <a:r>
              <a:rPr sz="1500" spc="-8" dirty="0">
                <a:latin typeface="Palatino Linotype"/>
                <a:cs typeface="Palatino Linotype"/>
              </a:rPr>
              <a:t>define</a:t>
            </a:r>
            <a:r>
              <a:rPr sz="1500" dirty="0">
                <a:latin typeface="Palatino Linotype"/>
                <a:cs typeface="Palatino Linotype"/>
              </a:rPr>
              <a:t> </a:t>
            </a:r>
            <a:r>
              <a:rPr sz="1500" spc="-4" dirty="0">
                <a:latin typeface="Palatino Linotype"/>
                <a:cs typeface="Palatino Linotype"/>
              </a:rPr>
              <a:t>how</a:t>
            </a:r>
            <a:r>
              <a:rPr sz="1500" spc="4" dirty="0">
                <a:latin typeface="Palatino Linotype"/>
                <a:cs typeface="Palatino Linotype"/>
              </a:rPr>
              <a:t> </a:t>
            </a:r>
            <a:r>
              <a:rPr sz="1500" spc="-4" dirty="0">
                <a:latin typeface="Palatino Linotype"/>
                <a:cs typeface="Palatino Linotype"/>
              </a:rPr>
              <a:t>components can</a:t>
            </a:r>
            <a:r>
              <a:rPr sz="1500" spc="4" dirty="0">
                <a:latin typeface="Palatino Linotype"/>
                <a:cs typeface="Palatino Linotype"/>
              </a:rPr>
              <a:t> </a:t>
            </a:r>
            <a:r>
              <a:rPr sz="1500" dirty="0">
                <a:latin typeface="Palatino Linotype"/>
                <a:cs typeface="Palatino Linotype"/>
              </a:rPr>
              <a:t>be integrated to</a:t>
            </a:r>
            <a:r>
              <a:rPr sz="1500" spc="4" dirty="0">
                <a:latin typeface="Palatino Linotype"/>
                <a:cs typeface="Palatino Linotype"/>
              </a:rPr>
              <a:t> </a:t>
            </a:r>
            <a:r>
              <a:rPr sz="1500" spc="-4" dirty="0">
                <a:latin typeface="Palatino Linotype"/>
                <a:cs typeface="Palatino Linotype"/>
              </a:rPr>
              <a:t>form </a:t>
            </a:r>
            <a:r>
              <a:rPr sz="1500" spc="-326" dirty="0">
                <a:latin typeface="Palatino Linotype"/>
                <a:cs typeface="Palatino Linotype"/>
              </a:rPr>
              <a:t> </a:t>
            </a:r>
            <a:r>
              <a:rPr sz="1500" spc="-4" dirty="0">
                <a:latin typeface="Palatino Linotype"/>
                <a:cs typeface="Palatino Linotype"/>
              </a:rPr>
              <a:t>the</a:t>
            </a:r>
            <a:r>
              <a:rPr sz="1500" spc="-8" dirty="0">
                <a:latin typeface="Palatino Linotype"/>
                <a:cs typeface="Palatino Linotype"/>
              </a:rPr>
              <a:t> </a:t>
            </a:r>
            <a:r>
              <a:rPr sz="1500" spc="-4" dirty="0">
                <a:latin typeface="Palatino Linotype"/>
                <a:cs typeface="Palatino Linotype"/>
              </a:rPr>
              <a:t>system,</a:t>
            </a:r>
            <a:r>
              <a:rPr sz="1500" dirty="0">
                <a:latin typeface="Palatino Linotype"/>
                <a:cs typeface="Palatino Linotype"/>
              </a:rPr>
              <a:t> and</a:t>
            </a:r>
          </a:p>
          <a:p>
            <a:pPr marL="242888" marR="43814" indent="-242888">
              <a:lnSpc>
                <a:spcPct val="200000"/>
              </a:lnSpc>
              <a:spcBef>
                <a:spcPts val="859"/>
              </a:spcBef>
              <a:buAutoNum type="arabicParenBoth"/>
              <a:tabLst>
                <a:tab pos="242888" algn="l"/>
              </a:tabLst>
            </a:pPr>
            <a:r>
              <a:rPr sz="1500" b="1" spc="-4" dirty="0">
                <a:solidFill>
                  <a:srgbClr val="9A0000"/>
                </a:solidFill>
                <a:latin typeface="Palatino Linotype"/>
                <a:cs typeface="Palatino Linotype"/>
              </a:rPr>
              <a:t>semantic</a:t>
            </a:r>
            <a:r>
              <a:rPr sz="1500" b="1" dirty="0">
                <a:solidFill>
                  <a:srgbClr val="9A0000"/>
                </a:solidFill>
                <a:latin typeface="Palatino Linotype"/>
                <a:cs typeface="Palatino Linotype"/>
              </a:rPr>
              <a:t> </a:t>
            </a:r>
            <a:r>
              <a:rPr sz="1500" b="1" spc="-4" dirty="0">
                <a:solidFill>
                  <a:srgbClr val="9A0000"/>
                </a:solidFill>
                <a:latin typeface="Palatino Linotype"/>
                <a:cs typeface="Palatino Linotype"/>
              </a:rPr>
              <a:t>models</a:t>
            </a:r>
            <a:r>
              <a:rPr sz="1500" b="1" spc="8" dirty="0">
                <a:solidFill>
                  <a:srgbClr val="9A0000"/>
                </a:solidFill>
                <a:latin typeface="Palatino Linotype"/>
                <a:cs typeface="Palatino Linotype"/>
              </a:rPr>
              <a:t> </a:t>
            </a:r>
            <a:r>
              <a:rPr sz="1500" spc="-4" dirty="0">
                <a:latin typeface="Palatino Linotype"/>
                <a:cs typeface="Palatino Linotype"/>
              </a:rPr>
              <a:t>that</a:t>
            </a:r>
            <a:r>
              <a:rPr sz="1500" spc="8" dirty="0">
                <a:latin typeface="Palatino Linotype"/>
                <a:cs typeface="Palatino Linotype"/>
              </a:rPr>
              <a:t> </a:t>
            </a:r>
            <a:r>
              <a:rPr sz="1500" spc="-4" dirty="0">
                <a:latin typeface="Palatino Linotype"/>
                <a:cs typeface="Palatino Linotype"/>
              </a:rPr>
              <a:t>enable</a:t>
            </a:r>
            <a:r>
              <a:rPr sz="1500" spc="4" dirty="0">
                <a:latin typeface="Palatino Linotype"/>
                <a:cs typeface="Palatino Linotype"/>
              </a:rPr>
              <a:t> </a:t>
            </a:r>
            <a:r>
              <a:rPr sz="1500" dirty="0">
                <a:latin typeface="Palatino Linotype"/>
                <a:cs typeface="Palatino Linotype"/>
              </a:rPr>
              <a:t>a</a:t>
            </a:r>
            <a:r>
              <a:rPr sz="1500" spc="8" dirty="0">
                <a:latin typeface="Palatino Linotype"/>
                <a:cs typeface="Palatino Linotype"/>
              </a:rPr>
              <a:t> </a:t>
            </a:r>
            <a:r>
              <a:rPr sz="1500" spc="-4" dirty="0">
                <a:latin typeface="Palatino Linotype"/>
                <a:cs typeface="Palatino Linotype"/>
              </a:rPr>
              <a:t>designer</a:t>
            </a:r>
            <a:r>
              <a:rPr sz="1500" spc="4" dirty="0">
                <a:latin typeface="Palatino Linotype"/>
                <a:cs typeface="Palatino Linotype"/>
              </a:rPr>
              <a:t> </a:t>
            </a:r>
            <a:r>
              <a:rPr sz="1500" dirty="0">
                <a:latin typeface="Palatino Linotype"/>
                <a:cs typeface="Palatino Linotype"/>
              </a:rPr>
              <a:t>to</a:t>
            </a:r>
            <a:r>
              <a:rPr sz="1500" spc="8" dirty="0">
                <a:latin typeface="Palatino Linotype"/>
                <a:cs typeface="Palatino Linotype"/>
              </a:rPr>
              <a:t> </a:t>
            </a:r>
            <a:r>
              <a:rPr sz="1500" spc="-4" dirty="0">
                <a:latin typeface="Palatino Linotype"/>
                <a:cs typeface="Palatino Linotype"/>
              </a:rPr>
              <a:t>understand</a:t>
            </a:r>
            <a:r>
              <a:rPr sz="1500" spc="4" dirty="0">
                <a:latin typeface="Palatino Linotype"/>
                <a:cs typeface="Palatino Linotype"/>
              </a:rPr>
              <a:t> </a:t>
            </a:r>
            <a:r>
              <a:rPr sz="1500" spc="-4" dirty="0">
                <a:latin typeface="Palatino Linotype"/>
                <a:cs typeface="Palatino Linotype"/>
              </a:rPr>
              <a:t>the</a:t>
            </a:r>
            <a:r>
              <a:rPr sz="1500" spc="4" dirty="0">
                <a:latin typeface="Palatino Linotype"/>
                <a:cs typeface="Palatino Linotype"/>
              </a:rPr>
              <a:t> </a:t>
            </a:r>
            <a:r>
              <a:rPr sz="1500" spc="-4" dirty="0">
                <a:latin typeface="Palatino Linotype"/>
                <a:cs typeface="Palatino Linotype"/>
              </a:rPr>
              <a:t>overall </a:t>
            </a:r>
            <a:r>
              <a:rPr sz="1500" spc="-326" dirty="0">
                <a:latin typeface="Palatino Linotype"/>
                <a:cs typeface="Palatino Linotype"/>
              </a:rPr>
              <a:t> </a:t>
            </a:r>
            <a:r>
              <a:rPr sz="1500" spc="-4" dirty="0">
                <a:latin typeface="Palatino Linotype"/>
                <a:cs typeface="Palatino Linotype"/>
              </a:rPr>
              <a:t>properties </a:t>
            </a:r>
            <a:r>
              <a:rPr sz="1500" dirty="0">
                <a:latin typeface="Palatino Linotype"/>
                <a:cs typeface="Palatino Linotype"/>
              </a:rPr>
              <a:t>of a </a:t>
            </a:r>
            <a:r>
              <a:rPr sz="1500" spc="-4" dirty="0">
                <a:latin typeface="Palatino Linotype"/>
                <a:cs typeface="Palatino Linotype"/>
              </a:rPr>
              <a:t>system </a:t>
            </a:r>
            <a:r>
              <a:rPr sz="1500" dirty="0">
                <a:latin typeface="Palatino Linotype"/>
                <a:cs typeface="Palatino Linotype"/>
              </a:rPr>
              <a:t>by analyzing </a:t>
            </a:r>
            <a:r>
              <a:rPr sz="1500" spc="-4" dirty="0">
                <a:latin typeface="Palatino Linotype"/>
                <a:cs typeface="Palatino Linotype"/>
              </a:rPr>
              <a:t>the known properties </a:t>
            </a:r>
            <a:r>
              <a:rPr sz="1500" dirty="0">
                <a:latin typeface="Palatino Linotype"/>
                <a:cs typeface="Palatino Linotype"/>
              </a:rPr>
              <a:t>of its </a:t>
            </a:r>
            <a:r>
              <a:rPr sz="1500" spc="4" dirty="0">
                <a:latin typeface="Palatino Linotype"/>
                <a:cs typeface="Palatino Linotype"/>
              </a:rPr>
              <a:t> </a:t>
            </a:r>
            <a:r>
              <a:rPr sz="1500" spc="-4" dirty="0">
                <a:latin typeface="Palatino Linotype"/>
                <a:cs typeface="Palatino Linotype"/>
              </a:rPr>
              <a:t>constituent parts.</a:t>
            </a:r>
            <a:endParaRPr sz="1500" dirty="0">
              <a:latin typeface="Palatino Linotype"/>
              <a:cs typeface="Palatino Linotype"/>
            </a:endParaRPr>
          </a:p>
        </p:txBody>
      </p:sp>
    </p:spTree>
    <p:extLst>
      <p:ext uri="{BB962C8B-B14F-4D97-AF65-F5344CB8AC3E}">
        <p14:creationId xmlns:p14="http://schemas.microsoft.com/office/powerpoint/2010/main" val="20120049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457200"/>
            <a:ext cx="8467089" cy="68672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tabLst>
                <a:tab pos="3863340" algn="l"/>
              </a:tabLst>
            </a:pPr>
            <a:r>
              <a:rPr spc="-4" dirty="0">
                <a:solidFill>
                  <a:srgbClr val="FF0000"/>
                </a:solidFill>
              </a:rPr>
              <a:t>Taxonomy</a:t>
            </a:r>
            <a:r>
              <a:rPr spc="4" dirty="0">
                <a:solidFill>
                  <a:srgbClr val="FF0000"/>
                </a:solidFill>
              </a:rPr>
              <a:t> </a:t>
            </a:r>
            <a:r>
              <a:rPr dirty="0">
                <a:solidFill>
                  <a:srgbClr val="FF0000"/>
                </a:solidFill>
              </a:rPr>
              <a:t>of</a:t>
            </a:r>
            <a:r>
              <a:rPr spc="8" dirty="0">
                <a:solidFill>
                  <a:srgbClr val="FF0000"/>
                </a:solidFill>
              </a:rPr>
              <a:t> </a:t>
            </a:r>
            <a:r>
              <a:rPr spc="-4" dirty="0">
                <a:solidFill>
                  <a:srgbClr val="FF0000"/>
                </a:solidFill>
              </a:rPr>
              <a:t>Styles</a:t>
            </a:r>
            <a:r>
              <a:rPr spc="8" dirty="0">
                <a:solidFill>
                  <a:srgbClr val="FF0000"/>
                </a:solidFill>
              </a:rPr>
              <a:t> </a:t>
            </a:r>
            <a:r>
              <a:rPr dirty="0">
                <a:solidFill>
                  <a:srgbClr val="FF0000"/>
                </a:solidFill>
              </a:rPr>
              <a:t>in</a:t>
            </a:r>
            <a:r>
              <a:rPr lang="en-IN" dirty="0">
                <a:solidFill>
                  <a:srgbClr val="FF0000"/>
                </a:solidFill>
              </a:rPr>
              <a:t> </a:t>
            </a:r>
            <a:r>
              <a:rPr spc="-4" dirty="0">
                <a:solidFill>
                  <a:srgbClr val="FF0000"/>
                </a:solidFill>
              </a:rPr>
              <a:t>Software</a:t>
            </a:r>
          </a:p>
        </p:txBody>
      </p:sp>
      <p:sp>
        <p:nvSpPr>
          <p:cNvPr id="3" name="object 3"/>
          <p:cNvSpPr txBox="1"/>
          <p:nvPr/>
        </p:nvSpPr>
        <p:spPr>
          <a:xfrm>
            <a:off x="655545" y="2265045"/>
            <a:ext cx="7781065" cy="3033266"/>
          </a:xfrm>
          <a:prstGeom prst="rect">
            <a:avLst/>
          </a:prstGeom>
        </p:spPr>
        <p:txBody>
          <a:bodyPr vert="horz" wrap="square" lIns="0" tIns="55245" rIns="0" bIns="0" rtlCol="0">
            <a:spAutoFit/>
          </a:bodyPr>
          <a:lstStyle/>
          <a:p>
            <a:pPr marL="266700" indent="-257175">
              <a:spcBef>
                <a:spcPts val="435"/>
              </a:spcBef>
              <a:buSzPct val="75000"/>
              <a:buFont typeface="Wingdings"/>
              <a:buChar char=""/>
              <a:tabLst>
                <a:tab pos="266224" algn="l"/>
                <a:tab pos="266700" algn="l"/>
              </a:tabLst>
            </a:pPr>
            <a:r>
              <a:rPr spc="-4" dirty="0">
                <a:solidFill>
                  <a:srgbClr val="FF0000"/>
                </a:solidFill>
                <a:latin typeface="Arial MT"/>
                <a:cs typeface="Arial MT"/>
              </a:rPr>
              <a:t>Data-centered</a:t>
            </a:r>
            <a:r>
              <a:rPr dirty="0">
                <a:solidFill>
                  <a:srgbClr val="FF0000"/>
                </a:solidFill>
                <a:latin typeface="Arial MT"/>
                <a:cs typeface="Arial MT"/>
              </a:rPr>
              <a:t> </a:t>
            </a:r>
            <a:r>
              <a:rPr spc="-4" dirty="0">
                <a:solidFill>
                  <a:srgbClr val="FF0000"/>
                </a:solidFill>
                <a:latin typeface="Arial MT"/>
                <a:cs typeface="Arial MT"/>
              </a:rPr>
              <a:t>architectures</a:t>
            </a:r>
            <a:endParaRPr dirty="0">
              <a:solidFill>
                <a:srgbClr val="FF0000"/>
              </a:solidFill>
              <a:latin typeface="Arial MT"/>
              <a:cs typeface="Arial MT"/>
            </a:endParaRPr>
          </a:p>
          <a:p>
            <a:pPr marL="352425" marR="3810" lvl="1">
              <a:lnSpc>
                <a:spcPct val="100800"/>
              </a:lnSpc>
              <a:spcBef>
                <a:spcPts val="285"/>
              </a:spcBef>
              <a:buClr>
                <a:srgbClr val="9A0000"/>
              </a:buClr>
              <a:buSzPct val="70000"/>
              <a:tabLst>
                <a:tab pos="566261" algn="l"/>
                <a:tab pos="566738" algn="l"/>
              </a:tabLst>
            </a:pPr>
            <a:r>
              <a:rPr lang="en-US" sz="1500" spc="-4" dirty="0">
                <a:latin typeface="Arial MT"/>
                <a:cs typeface="Arial MT"/>
              </a:rPr>
              <a:t>			</a:t>
            </a:r>
            <a:r>
              <a:rPr sz="1500" spc="-4" dirty="0">
                <a:latin typeface="Arial MT"/>
                <a:cs typeface="Arial MT"/>
              </a:rPr>
              <a:t>There </a:t>
            </a:r>
            <a:r>
              <a:rPr sz="1500" dirty="0">
                <a:latin typeface="Arial MT"/>
                <a:cs typeface="Arial MT"/>
              </a:rPr>
              <a:t>is a </a:t>
            </a:r>
            <a:r>
              <a:rPr sz="1500" spc="-4" dirty="0">
                <a:latin typeface="Arial MT"/>
                <a:cs typeface="Arial MT"/>
              </a:rPr>
              <a:t>central data </a:t>
            </a:r>
            <a:r>
              <a:rPr sz="1500" dirty="0">
                <a:latin typeface="Arial MT"/>
                <a:cs typeface="Arial MT"/>
              </a:rPr>
              <a:t>server which is accessed by </a:t>
            </a:r>
            <a:r>
              <a:rPr sz="1500" spc="-413" dirty="0">
                <a:latin typeface="Arial MT"/>
                <a:cs typeface="Arial MT"/>
              </a:rPr>
              <a:t> </a:t>
            </a:r>
            <a:r>
              <a:rPr sz="1500" spc="-4" dirty="0">
                <a:latin typeface="Arial MT"/>
                <a:cs typeface="Arial MT"/>
              </a:rPr>
              <a:t>clients</a:t>
            </a:r>
            <a:endParaRPr sz="1500" dirty="0">
              <a:latin typeface="Arial MT"/>
              <a:cs typeface="Arial MT"/>
            </a:endParaRPr>
          </a:p>
          <a:p>
            <a:pPr marL="266700" indent="-257175">
              <a:spcBef>
                <a:spcPts val="431"/>
              </a:spcBef>
              <a:buSzPct val="75000"/>
              <a:buFont typeface="Wingdings"/>
              <a:buChar char=""/>
              <a:tabLst>
                <a:tab pos="266224" algn="l"/>
                <a:tab pos="266700" algn="l"/>
              </a:tabLst>
            </a:pPr>
            <a:r>
              <a:rPr spc="-4" dirty="0">
                <a:solidFill>
                  <a:srgbClr val="FF0000"/>
                </a:solidFill>
                <a:latin typeface="Arial MT"/>
                <a:cs typeface="Arial MT"/>
              </a:rPr>
              <a:t>Data</a:t>
            </a:r>
            <a:r>
              <a:rPr spc="-8" dirty="0">
                <a:solidFill>
                  <a:srgbClr val="FF0000"/>
                </a:solidFill>
                <a:latin typeface="Arial MT"/>
                <a:cs typeface="Arial MT"/>
              </a:rPr>
              <a:t> </a:t>
            </a:r>
            <a:r>
              <a:rPr dirty="0">
                <a:solidFill>
                  <a:srgbClr val="FF0000"/>
                </a:solidFill>
                <a:latin typeface="Arial MT"/>
                <a:cs typeface="Arial MT"/>
              </a:rPr>
              <a:t>flow</a:t>
            </a:r>
            <a:r>
              <a:rPr spc="-8" dirty="0">
                <a:solidFill>
                  <a:srgbClr val="FF0000"/>
                </a:solidFill>
                <a:latin typeface="Arial MT"/>
                <a:cs typeface="Arial MT"/>
              </a:rPr>
              <a:t> </a:t>
            </a:r>
            <a:r>
              <a:rPr spc="-4" dirty="0">
                <a:solidFill>
                  <a:srgbClr val="FF0000"/>
                </a:solidFill>
                <a:latin typeface="Arial MT"/>
                <a:cs typeface="Arial MT"/>
              </a:rPr>
              <a:t>architectures</a:t>
            </a:r>
            <a:endParaRPr dirty="0">
              <a:solidFill>
                <a:srgbClr val="FF0000"/>
              </a:solidFill>
              <a:latin typeface="Arial MT"/>
              <a:cs typeface="Arial MT"/>
            </a:endParaRPr>
          </a:p>
          <a:p>
            <a:pPr marL="352425" lvl="1">
              <a:spcBef>
                <a:spcPts val="394"/>
              </a:spcBef>
              <a:buClr>
                <a:srgbClr val="9A0000"/>
              </a:buClr>
              <a:buSzPct val="70000"/>
              <a:tabLst>
                <a:tab pos="566261" algn="l"/>
                <a:tab pos="566738" algn="l"/>
              </a:tabLst>
            </a:pPr>
            <a:r>
              <a:rPr lang="en-US" sz="1500" spc="-4" dirty="0">
                <a:latin typeface="Arial MT"/>
                <a:cs typeface="Arial MT"/>
              </a:rPr>
              <a:t>			</a:t>
            </a:r>
            <a:r>
              <a:rPr sz="1500" spc="-4" dirty="0">
                <a:latin typeface="Arial MT"/>
                <a:cs typeface="Arial MT"/>
              </a:rPr>
              <a:t>Data</a:t>
            </a:r>
            <a:r>
              <a:rPr sz="1500" dirty="0">
                <a:latin typeface="Arial MT"/>
                <a:cs typeface="Arial MT"/>
              </a:rPr>
              <a:t> </a:t>
            </a:r>
            <a:r>
              <a:rPr sz="1500" spc="-4" dirty="0">
                <a:latin typeface="Arial MT"/>
                <a:cs typeface="Arial MT"/>
              </a:rPr>
              <a:t>travels</a:t>
            </a:r>
            <a:r>
              <a:rPr sz="1500" dirty="0">
                <a:latin typeface="Arial MT"/>
                <a:cs typeface="Arial MT"/>
              </a:rPr>
              <a:t> </a:t>
            </a:r>
            <a:r>
              <a:rPr sz="1500" spc="-4" dirty="0">
                <a:latin typeface="Arial MT"/>
                <a:cs typeface="Arial MT"/>
              </a:rPr>
              <a:t>through</a:t>
            </a:r>
            <a:r>
              <a:rPr sz="1500" dirty="0">
                <a:latin typeface="Arial MT"/>
                <a:cs typeface="Arial MT"/>
              </a:rPr>
              <a:t> a</a:t>
            </a:r>
            <a:r>
              <a:rPr sz="1500" spc="4" dirty="0">
                <a:latin typeface="Arial MT"/>
                <a:cs typeface="Arial MT"/>
              </a:rPr>
              <a:t> </a:t>
            </a:r>
            <a:r>
              <a:rPr sz="1500" dirty="0">
                <a:latin typeface="Arial MT"/>
                <a:cs typeface="Arial MT"/>
              </a:rPr>
              <a:t>series</a:t>
            </a:r>
            <a:r>
              <a:rPr sz="1500" spc="-4" dirty="0">
                <a:latin typeface="Arial MT"/>
                <a:cs typeface="Arial MT"/>
              </a:rPr>
              <a:t> </a:t>
            </a:r>
            <a:r>
              <a:rPr sz="1500" dirty="0">
                <a:latin typeface="Arial MT"/>
                <a:cs typeface="Arial MT"/>
              </a:rPr>
              <a:t>of </a:t>
            </a:r>
            <a:r>
              <a:rPr sz="1500" spc="-4" dirty="0">
                <a:latin typeface="Arial MT"/>
                <a:cs typeface="Arial MT"/>
              </a:rPr>
              <a:t>components</a:t>
            </a:r>
            <a:endParaRPr sz="1500" dirty="0">
              <a:latin typeface="Arial MT"/>
              <a:cs typeface="Arial MT"/>
            </a:endParaRPr>
          </a:p>
          <a:p>
            <a:pPr marL="266700" indent="-257175">
              <a:spcBef>
                <a:spcPts val="371"/>
              </a:spcBef>
              <a:buSzPct val="75000"/>
              <a:buFont typeface="Wingdings"/>
              <a:buChar char=""/>
              <a:tabLst>
                <a:tab pos="266224" algn="l"/>
                <a:tab pos="266700" algn="l"/>
              </a:tabLst>
            </a:pPr>
            <a:r>
              <a:rPr dirty="0">
                <a:solidFill>
                  <a:srgbClr val="FF0000"/>
                </a:solidFill>
                <a:latin typeface="Arial MT"/>
                <a:cs typeface="Arial MT"/>
              </a:rPr>
              <a:t>Call</a:t>
            </a:r>
            <a:r>
              <a:rPr spc="-4" dirty="0">
                <a:solidFill>
                  <a:srgbClr val="FF0000"/>
                </a:solidFill>
                <a:latin typeface="Arial MT"/>
                <a:cs typeface="Arial MT"/>
              </a:rPr>
              <a:t> </a:t>
            </a:r>
            <a:r>
              <a:rPr dirty="0">
                <a:solidFill>
                  <a:srgbClr val="FF0000"/>
                </a:solidFill>
                <a:latin typeface="Arial MT"/>
                <a:cs typeface="Arial MT"/>
              </a:rPr>
              <a:t>and</a:t>
            </a:r>
            <a:r>
              <a:rPr spc="-4" dirty="0">
                <a:solidFill>
                  <a:srgbClr val="FF0000"/>
                </a:solidFill>
                <a:latin typeface="Arial MT"/>
                <a:cs typeface="Arial MT"/>
              </a:rPr>
              <a:t> return architectures</a:t>
            </a:r>
            <a:endParaRPr dirty="0">
              <a:solidFill>
                <a:srgbClr val="FF0000"/>
              </a:solidFill>
              <a:latin typeface="Arial MT"/>
              <a:cs typeface="Arial MT"/>
            </a:endParaRPr>
          </a:p>
          <a:p>
            <a:pPr marL="352425" lvl="1">
              <a:spcBef>
                <a:spcPts val="394"/>
              </a:spcBef>
              <a:buClr>
                <a:srgbClr val="9A0000"/>
              </a:buClr>
              <a:buSzPct val="70000"/>
              <a:tabLst>
                <a:tab pos="566261" algn="l"/>
                <a:tab pos="566738" algn="l"/>
              </a:tabLst>
            </a:pPr>
            <a:r>
              <a:rPr lang="en-US" sz="1500" dirty="0">
                <a:latin typeface="Arial MT"/>
                <a:cs typeface="Arial MT"/>
              </a:rPr>
              <a:t>			</a:t>
            </a:r>
            <a:r>
              <a:rPr sz="1500" dirty="0">
                <a:latin typeface="Arial MT"/>
                <a:cs typeface="Arial MT"/>
              </a:rPr>
              <a:t>Classical</a:t>
            </a:r>
          </a:p>
          <a:p>
            <a:pPr marL="266700" indent="-257175">
              <a:spcBef>
                <a:spcPts val="446"/>
              </a:spcBef>
              <a:buSzPct val="75000"/>
              <a:buFont typeface="Wingdings"/>
              <a:buChar char=""/>
              <a:tabLst>
                <a:tab pos="266224" algn="l"/>
                <a:tab pos="266700" algn="l"/>
              </a:tabLst>
            </a:pPr>
            <a:r>
              <a:rPr spc="-4" dirty="0">
                <a:solidFill>
                  <a:srgbClr val="FF0000"/>
                </a:solidFill>
                <a:latin typeface="Arial MT"/>
                <a:cs typeface="Arial MT"/>
              </a:rPr>
              <a:t>Object-oriented</a:t>
            </a:r>
            <a:r>
              <a:rPr spc="4" dirty="0">
                <a:solidFill>
                  <a:srgbClr val="FF0000"/>
                </a:solidFill>
                <a:latin typeface="Arial MT"/>
                <a:cs typeface="Arial MT"/>
              </a:rPr>
              <a:t> </a:t>
            </a:r>
            <a:r>
              <a:rPr spc="-4" dirty="0">
                <a:solidFill>
                  <a:srgbClr val="FF0000"/>
                </a:solidFill>
                <a:latin typeface="Arial MT"/>
                <a:cs typeface="Arial MT"/>
              </a:rPr>
              <a:t>architectures</a:t>
            </a:r>
            <a:endParaRPr dirty="0">
              <a:solidFill>
                <a:srgbClr val="FF0000"/>
              </a:solidFill>
              <a:latin typeface="Arial MT"/>
              <a:cs typeface="Arial MT"/>
            </a:endParaRPr>
          </a:p>
          <a:p>
            <a:pPr marL="352425" lvl="1">
              <a:spcBef>
                <a:spcPts val="319"/>
              </a:spcBef>
              <a:buClr>
                <a:srgbClr val="9A0000"/>
              </a:buClr>
              <a:buSzPct val="70000"/>
              <a:tabLst>
                <a:tab pos="566261" algn="l"/>
                <a:tab pos="566738" algn="l"/>
              </a:tabLst>
            </a:pPr>
            <a:r>
              <a:rPr lang="en-US" sz="1500" dirty="0">
                <a:latin typeface="Arial MT"/>
                <a:cs typeface="Arial MT"/>
              </a:rPr>
              <a:t>			</a:t>
            </a:r>
            <a:r>
              <a:rPr sz="1500" dirty="0">
                <a:latin typeface="Arial MT"/>
                <a:cs typeface="Arial MT"/>
              </a:rPr>
              <a:t>Modern</a:t>
            </a:r>
            <a:r>
              <a:rPr sz="1500" spc="-8" dirty="0">
                <a:latin typeface="Arial MT"/>
                <a:cs typeface="Arial MT"/>
              </a:rPr>
              <a:t> </a:t>
            </a:r>
            <a:r>
              <a:rPr sz="1500" spc="-4" dirty="0">
                <a:latin typeface="Arial MT"/>
                <a:cs typeface="Arial MT"/>
              </a:rPr>
              <a:t>style.</a:t>
            </a:r>
            <a:r>
              <a:rPr sz="1500" spc="-8" dirty="0">
                <a:latin typeface="Arial MT"/>
                <a:cs typeface="Arial MT"/>
              </a:rPr>
              <a:t> </a:t>
            </a:r>
            <a:r>
              <a:rPr sz="1500" spc="-4" dirty="0">
                <a:latin typeface="Arial MT"/>
                <a:cs typeface="Arial MT"/>
              </a:rPr>
              <a:t>Components</a:t>
            </a:r>
            <a:r>
              <a:rPr sz="1500" spc="-8" dirty="0">
                <a:latin typeface="Arial MT"/>
                <a:cs typeface="Arial MT"/>
              </a:rPr>
              <a:t> </a:t>
            </a:r>
            <a:r>
              <a:rPr sz="1500" dirty="0">
                <a:latin typeface="Arial MT"/>
                <a:cs typeface="Arial MT"/>
              </a:rPr>
              <a:t>pass</a:t>
            </a:r>
            <a:r>
              <a:rPr sz="1500" spc="-8" dirty="0">
                <a:latin typeface="Arial MT"/>
                <a:cs typeface="Arial MT"/>
              </a:rPr>
              <a:t> </a:t>
            </a:r>
            <a:r>
              <a:rPr sz="1500" dirty="0">
                <a:latin typeface="Arial MT"/>
                <a:cs typeface="Arial MT"/>
              </a:rPr>
              <a:t>messages</a:t>
            </a:r>
          </a:p>
          <a:p>
            <a:pPr marL="266700" indent="-257175">
              <a:spcBef>
                <a:spcPts val="446"/>
              </a:spcBef>
              <a:buSzPct val="75000"/>
              <a:buFont typeface="Wingdings"/>
              <a:buChar char=""/>
              <a:tabLst>
                <a:tab pos="266224" algn="l"/>
                <a:tab pos="266700" algn="l"/>
              </a:tabLst>
            </a:pPr>
            <a:r>
              <a:rPr dirty="0">
                <a:solidFill>
                  <a:srgbClr val="FF0000"/>
                </a:solidFill>
                <a:latin typeface="Arial MT"/>
                <a:cs typeface="Arial MT"/>
              </a:rPr>
              <a:t>Layered</a:t>
            </a:r>
            <a:r>
              <a:rPr spc="-19" dirty="0">
                <a:solidFill>
                  <a:srgbClr val="FF0000"/>
                </a:solidFill>
                <a:latin typeface="Arial MT"/>
                <a:cs typeface="Arial MT"/>
              </a:rPr>
              <a:t> </a:t>
            </a:r>
            <a:r>
              <a:rPr spc="-4" dirty="0">
                <a:solidFill>
                  <a:srgbClr val="FF0000"/>
                </a:solidFill>
                <a:latin typeface="Arial MT"/>
                <a:cs typeface="Arial MT"/>
              </a:rPr>
              <a:t>architectures</a:t>
            </a:r>
            <a:endParaRPr dirty="0">
              <a:solidFill>
                <a:srgbClr val="FF0000"/>
              </a:solidFill>
              <a:latin typeface="Arial MT"/>
              <a:cs typeface="Arial MT"/>
            </a:endParaRPr>
          </a:p>
          <a:p>
            <a:pPr marL="352425" lvl="1">
              <a:spcBef>
                <a:spcPts val="394"/>
              </a:spcBef>
              <a:buClr>
                <a:srgbClr val="9A0000"/>
              </a:buClr>
              <a:buSzPct val="70000"/>
              <a:tabLst>
                <a:tab pos="566261" algn="l"/>
                <a:tab pos="566738" algn="l"/>
              </a:tabLst>
            </a:pPr>
            <a:r>
              <a:rPr lang="en-US" sz="1500" dirty="0">
                <a:latin typeface="Arial MT"/>
                <a:cs typeface="Arial MT"/>
              </a:rPr>
              <a:t>			</a:t>
            </a:r>
            <a:r>
              <a:rPr sz="1500" dirty="0">
                <a:latin typeface="Arial MT"/>
                <a:cs typeface="Arial MT"/>
              </a:rPr>
              <a:t>High-level</a:t>
            </a:r>
            <a:r>
              <a:rPr sz="1500" spc="-19" dirty="0">
                <a:latin typeface="Arial MT"/>
                <a:cs typeface="Arial MT"/>
              </a:rPr>
              <a:t> </a:t>
            </a:r>
            <a:r>
              <a:rPr sz="1500" spc="-4" dirty="0">
                <a:latin typeface="Arial MT"/>
                <a:cs typeface="Arial MT"/>
              </a:rPr>
              <a:t>to</a:t>
            </a:r>
            <a:r>
              <a:rPr sz="1500" spc="-19" dirty="0">
                <a:latin typeface="Arial MT"/>
                <a:cs typeface="Arial MT"/>
              </a:rPr>
              <a:t> </a:t>
            </a:r>
            <a:r>
              <a:rPr sz="1500" dirty="0">
                <a:latin typeface="Arial MT"/>
                <a:cs typeface="Arial MT"/>
              </a:rPr>
              <a:t>machine</a:t>
            </a:r>
            <a:r>
              <a:rPr sz="1500" spc="-15" dirty="0">
                <a:latin typeface="Arial MT"/>
                <a:cs typeface="Arial MT"/>
              </a:rPr>
              <a:t> </a:t>
            </a:r>
            <a:r>
              <a:rPr sz="1500" dirty="0">
                <a:latin typeface="Arial MT"/>
                <a:cs typeface="Arial MT"/>
              </a:rPr>
              <a:t>level</a:t>
            </a:r>
          </a:p>
        </p:txBody>
      </p:sp>
    </p:spTree>
    <p:extLst>
      <p:ext uri="{BB962C8B-B14F-4D97-AF65-F5344CB8AC3E}">
        <p14:creationId xmlns:p14="http://schemas.microsoft.com/office/powerpoint/2010/main" val="3944377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1234317"/>
            <a:ext cx="5591175" cy="4251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sz="2700" spc="-4" dirty="0">
                <a:solidFill>
                  <a:srgbClr val="FF0000"/>
                </a:solidFill>
              </a:rPr>
              <a:t>Data-Centered</a:t>
            </a:r>
            <a:r>
              <a:rPr sz="2700" dirty="0">
                <a:solidFill>
                  <a:srgbClr val="FF0000"/>
                </a:solidFill>
              </a:rPr>
              <a:t> </a:t>
            </a:r>
            <a:r>
              <a:rPr sz="2700" spc="-4" dirty="0">
                <a:solidFill>
                  <a:srgbClr val="FF0000"/>
                </a:solidFill>
              </a:rPr>
              <a:t>Architecture</a:t>
            </a:r>
            <a:endParaRPr sz="2700" dirty="0">
              <a:solidFill>
                <a:srgbClr val="FF0000"/>
              </a:solidFill>
            </a:endParaRPr>
          </a:p>
        </p:txBody>
      </p:sp>
      <p:pic>
        <p:nvPicPr>
          <p:cNvPr id="1026" name="Picture 2">
            <a:extLst>
              <a:ext uri="{FF2B5EF4-FFF2-40B4-BE49-F238E27FC236}">
                <a16:creationId xmlns:a16="http://schemas.microsoft.com/office/drawing/2014/main" id="{2E42FF77-E407-AA24-C8F0-CD5C03802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4955" y="1896342"/>
            <a:ext cx="606829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8512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288" y="931070"/>
            <a:ext cx="7886700" cy="785112"/>
          </a:xfrm>
        </p:spPr>
        <p:txBody>
          <a:bodyPr/>
          <a:lstStyle/>
          <a:p>
            <a:r>
              <a:rPr lang="en-IN" spc="-4" dirty="0">
                <a:solidFill>
                  <a:srgbClr val="FF0000"/>
                </a:solidFill>
              </a:rPr>
              <a:t>Data-</a:t>
            </a:r>
            <a:r>
              <a:rPr lang="en-IN" spc="-4" dirty="0" err="1">
                <a:solidFill>
                  <a:srgbClr val="FF0000"/>
                </a:solidFill>
              </a:rPr>
              <a:t>Centered</a:t>
            </a:r>
            <a:r>
              <a:rPr lang="en-IN" dirty="0">
                <a:solidFill>
                  <a:srgbClr val="FF0000"/>
                </a:solidFill>
              </a:rPr>
              <a:t> </a:t>
            </a:r>
            <a:r>
              <a:rPr lang="en-IN" spc="-4" dirty="0">
                <a:solidFill>
                  <a:srgbClr val="FF0000"/>
                </a:solidFill>
              </a:rPr>
              <a:t>Architecture</a:t>
            </a:r>
            <a:endParaRPr lang="en-IN" dirty="0"/>
          </a:p>
        </p:txBody>
      </p:sp>
      <p:sp>
        <p:nvSpPr>
          <p:cNvPr id="3" name="Rectangle 2"/>
          <p:cNvSpPr/>
          <p:nvPr/>
        </p:nvSpPr>
        <p:spPr>
          <a:xfrm>
            <a:off x="625288" y="2030899"/>
            <a:ext cx="8017809" cy="4175695"/>
          </a:xfrm>
          <a:prstGeom prst="rect">
            <a:avLst/>
          </a:prstGeom>
        </p:spPr>
        <p:txBody>
          <a:bodyPr wrap="square">
            <a:spAutoFit/>
          </a:bodyPr>
          <a:lstStyle/>
          <a:p>
            <a:pPr marL="214313" indent="-214313">
              <a:lnSpc>
                <a:spcPct val="200000"/>
              </a:lnSpc>
              <a:buFont typeface="Wingdings" pitchFamily="2" charset="2"/>
              <a:buChar char="Ø"/>
            </a:pPr>
            <a:r>
              <a:rPr lang="en-US" sz="1500" dirty="0"/>
              <a:t>A data store (e.g., a file or database) resides at the </a:t>
            </a:r>
            <a:r>
              <a:rPr lang="en-US" sz="1500" dirty="0">
                <a:solidFill>
                  <a:srgbClr val="FF0000"/>
                </a:solidFill>
              </a:rPr>
              <a:t>center of this architecture </a:t>
            </a:r>
            <a:r>
              <a:rPr lang="en-US" sz="1500" dirty="0"/>
              <a:t>and is accessed frequently by other components that update, add, delete, or  modify data within the store.</a:t>
            </a:r>
            <a:endParaRPr lang="en-IN" sz="1500" dirty="0"/>
          </a:p>
          <a:p>
            <a:pPr marL="214313" indent="-214313">
              <a:lnSpc>
                <a:spcPct val="200000"/>
              </a:lnSpc>
              <a:buFont typeface="Wingdings" pitchFamily="2" charset="2"/>
              <a:buChar char="Ø"/>
            </a:pPr>
            <a:r>
              <a:rPr lang="en-US" sz="1500" dirty="0"/>
              <a:t>The main goal is to </a:t>
            </a:r>
            <a:r>
              <a:rPr lang="en-US" sz="1500" dirty="0">
                <a:solidFill>
                  <a:srgbClr val="FF0000"/>
                </a:solidFill>
              </a:rPr>
              <a:t>integrate the data</a:t>
            </a:r>
            <a:endParaRPr lang="en-IN" sz="1500" dirty="0">
              <a:solidFill>
                <a:srgbClr val="FF0000"/>
              </a:solidFill>
            </a:endParaRPr>
          </a:p>
          <a:p>
            <a:pPr marL="214313" indent="-214313">
              <a:lnSpc>
                <a:spcPct val="200000"/>
              </a:lnSpc>
              <a:buFont typeface="Wingdings" pitchFamily="2" charset="2"/>
              <a:buChar char="Ø"/>
            </a:pPr>
            <a:r>
              <a:rPr lang="en-US" sz="1500" dirty="0"/>
              <a:t>The shared data may be a </a:t>
            </a:r>
            <a:r>
              <a:rPr lang="en-US" sz="1500" dirty="0">
                <a:solidFill>
                  <a:srgbClr val="FF0000"/>
                </a:solidFill>
              </a:rPr>
              <a:t>passive repository or an active blackboard</a:t>
            </a:r>
            <a:endParaRPr lang="en-IN" sz="1500" dirty="0">
              <a:solidFill>
                <a:srgbClr val="FF0000"/>
              </a:solidFill>
            </a:endParaRPr>
          </a:p>
          <a:p>
            <a:pPr marL="214313" indent="-214313">
              <a:lnSpc>
                <a:spcPct val="200000"/>
              </a:lnSpc>
              <a:buFont typeface="Wingdings" pitchFamily="2" charset="2"/>
              <a:buChar char="Ø"/>
            </a:pPr>
            <a:r>
              <a:rPr lang="en-US" sz="1500" dirty="0"/>
              <a:t>Passive repository means the client software accesses the data independent of any changes to the data or the actions of other client software.</a:t>
            </a:r>
            <a:endParaRPr lang="en-IN" sz="1500" dirty="0"/>
          </a:p>
          <a:p>
            <a:pPr marL="214313" indent="-214313">
              <a:lnSpc>
                <a:spcPct val="200000"/>
              </a:lnSpc>
              <a:buFont typeface="Wingdings" pitchFamily="2" charset="2"/>
              <a:buChar char="Ø"/>
            </a:pPr>
            <a:r>
              <a:rPr lang="en-US" sz="1500" dirty="0"/>
              <a:t>A variation on this approach transforms the repository into a “</a:t>
            </a:r>
            <a:r>
              <a:rPr lang="en-US" sz="1500" dirty="0">
                <a:solidFill>
                  <a:srgbClr val="FF0000"/>
                </a:solidFill>
              </a:rPr>
              <a:t>blackboard</a:t>
            </a:r>
            <a:r>
              <a:rPr lang="en-US" sz="1500" dirty="0"/>
              <a:t>”</a:t>
            </a:r>
            <a:endParaRPr lang="en-IN" sz="1500" dirty="0"/>
          </a:p>
          <a:p>
            <a:pPr marL="557213" lvl="1" indent="-214313">
              <a:lnSpc>
                <a:spcPct val="200000"/>
              </a:lnSpc>
              <a:buFont typeface="Wingdings" pitchFamily="2" charset="2"/>
              <a:buChar char="Ø"/>
            </a:pPr>
            <a:r>
              <a:rPr lang="en-US" sz="1500" dirty="0"/>
              <a:t>A blackboard notifies subscriber clients when changes occur in data of interest</a:t>
            </a:r>
            <a:endParaRPr lang="en-IN" sz="1500" dirty="0"/>
          </a:p>
        </p:txBody>
      </p:sp>
    </p:spTree>
    <p:extLst>
      <p:ext uri="{BB962C8B-B14F-4D97-AF65-F5344CB8AC3E}">
        <p14:creationId xmlns:p14="http://schemas.microsoft.com/office/powerpoint/2010/main" val="2205143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3951" y="304800"/>
            <a:ext cx="4650105" cy="4251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sz="2700" spc="-4" dirty="0">
                <a:solidFill>
                  <a:srgbClr val="FF0000"/>
                </a:solidFill>
              </a:rPr>
              <a:t>Data</a:t>
            </a:r>
            <a:r>
              <a:rPr sz="2700" spc="-8" dirty="0">
                <a:solidFill>
                  <a:srgbClr val="FF0000"/>
                </a:solidFill>
              </a:rPr>
              <a:t> </a:t>
            </a:r>
            <a:r>
              <a:rPr sz="2700" spc="-4" dirty="0">
                <a:solidFill>
                  <a:srgbClr val="FF0000"/>
                </a:solidFill>
              </a:rPr>
              <a:t>Flow</a:t>
            </a:r>
            <a:r>
              <a:rPr sz="2700" spc="-8" dirty="0">
                <a:solidFill>
                  <a:srgbClr val="FF0000"/>
                </a:solidFill>
              </a:rPr>
              <a:t> </a:t>
            </a:r>
            <a:r>
              <a:rPr sz="2700" spc="-4" dirty="0">
                <a:solidFill>
                  <a:srgbClr val="FF0000"/>
                </a:solidFill>
              </a:rPr>
              <a:t>Architecture</a:t>
            </a:r>
            <a:endParaRPr sz="2700" dirty="0">
              <a:solidFill>
                <a:srgbClr val="FF0000"/>
              </a:solidFill>
            </a:endParaRPr>
          </a:p>
        </p:txBody>
      </p:sp>
      <p:pic>
        <p:nvPicPr>
          <p:cNvPr id="3" name="object 3"/>
          <p:cNvPicPr/>
          <p:nvPr/>
        </p:nvPicPr>
        <p:blipFill>
          <a:blip r:embed="rId2" cstate="print"/>
          <a:stretch>
            <a:fillRect/>
          </a:stretch>
        </p:blipFill>
        <p:spPr>
          <a:xfrm>
            <a:off x="4800600" y="2337548"/>
            <a:ext cx="3785957" cy="4215652"/>
          </a:xfrm>
          <a:prstGeom prst="rect">
            <a:avLst/>
          </a:prstGeom>
        </p:spPr>
      </p:pic>
      <p:sp>
        <p:nvSpPr>
          <p:cNvPr id="5" name="Rectangle 4"/>
          <p:cNvSpPr/>
          <p:nvPr/>
        </p:nvSpPr>
        <p:spPr>
          <a:xfrm>
            <a:off x="88368" y="1107462"/>
            <a:ext cx="5303031" cy="7381508"/>
          </a:xfrm>
          <a:prstGeom prst="rect">
            <a:avLst/>
          </a:prstGeom>
        </p:spPr>
        <p:txBody>
          <a:bodyPr wrap="square">
            <a:spAutoFit/>
          </a:bodyPr>
          <a:lstStyle/>
          <a:p>
            <a:pPr marL="214313" indent="-214313">
              <a:lnSpc>
                <a:spcPct val="150000"/>
              </a:lnSpc>
              <a:buFont typeface="Wingdings" pitchFamily="2" charset="2"/>
              <a:buChar char="Ø"/>
            </a:pPr>
            <a:r>
              <a:rPr lang="en-US" dirty="0"/>
              <a:t>This architecture is used when input has to be </a:t>
            </a:r>
            <a:r>
              <a:rPr lang="en-US" dirty="0">
                <a:solidFill>
                  <a:srgbClr val="FF0000"/>
                </a:solidFill>
              </a:rPr>
              <a:t>transformed into output  </a:t>
            </a:r>
            <a:r>
              <a:rPr lang="en-US" dirty="0"/>
              <a:t>through a series of computational components. </a:t>
            </a:r>
            <a:endParaRPr lang="en-IN" sz="1200" dirty="0"/>
          </a:p>
          <a:p>
            <a:pPr marL="214313" indent="-214313">
              <a:lnSpc>
                <a:spcPct val="150000"/>
              </a:lnSpc>
              <a:buFont typeface="Wingdings" pitchFamily="2" charset="2"/>
              <a:buChar char="Ø"/>
            </a:pPr>
            <a:r>
              <a:rPr lang="en-US" dirty="0"/>
              <a:t>The main goal is </a:t>
            </a:r>
            <a:r>
              <a:rPr lang="en-US" dirty="0">
                <a:solidFill>
                  <a:srgbClr val="FF0000"/>
                </a:solidFill>
              </a:rPr>
              <a:t>modifiability</a:t>
            </a:r>
            <a:endParaRPr lang="en-IN" sz="1200" dirty="0">
              <a:solidFill>
                <a:srgbClr val="FF0000"/>
              </a:solidFill>
            </a:endParaRPr>
          </a:p>
          <a:p>
            <a:pPr lvl="0">
              <a:lnSpc>
                <a:spcPct val="150000"/>
              </a:lnSpc>
            </a:pPr>
            <a:r>
              <a:rPr lang="en-US" b="1" dirty="0">
                <a:solidFill>
                  <a:srgbClr val="FF0000"/>
                </a:solidFill>
              </a:rPr>
              <a:t>Pipe-and-filter style</a:t>
            </a:r>
            <a:endParaRPr lang="en-IN" sz="1200" dirty="0">
              <a:solidFill>
                <a:srgbClr val="FF0000"/>
              </a:solidFill>
            </a:endParaRPr>
          </a:p>
          <a:p>
            <a:pPr marL="557213" lvl="1" indent="-214313">
              <a:lnSpc>
                <a:spcPct val="150000"/>
              </a:lnSpc>
              <a:buFont typeface="Wingdings" pitchFamily="2" charset="2"/>
              <a:buChar char="Ø"/>
            </a:pPr>
            <a:r>
              <a:rPr lang="en-US" dirty="0"/>
              <a:t>A pipe-and-filter pattern has a set of components, called </a:t>
            </a:r>
            <a:r>
              <a:rPr lang="en-US" i="1" dirty="0">
                <a:solidFill>
                  <a:srgbClr val="FF0000"/>
                </a:solidFill>
              </a:rPr>
              <a:t>filters</a:t>
            </a:r>
            <a:r>
              <a:rPr lang="en-US" dirty="0"/>
              <a:t>, connected by </a:t>
            </a:r>
            <a:r>
              <a:rPr lang="en-US" i="1" dirty="0">
                <a:solidFill>
                  <a:srgbClr val="FF0000"/>
                </a:solidFill>
              </a:rPr>
              <a:t>pipes</a:t>
            </a:r>
            <a:r>
              <a:rPr lang="en-US" i="1" dirty="0"/>
              <a:t> </a:t>
            </a:r>
            <a:r>
              <a:rPr lang="en-US" dirty="0"/>
              <a:t>that transmit data from one component to the next. </a:t>
            </a:r>
            <a:endParaRPr lang="en-IN" sz="1200" dirty="0"/>
          </a:p>
          <a:p>
            <a:pPr marL="557213" lvl="1" indent="-214313">
              <a:lnSpc>
                <a:spcPct val="150000"/>
              </a:lnSpc>
              <a:buFont typeface="Wingdings" pitchFamily="2" charset="2"/>
              <a:buChar char="Ø"/>
            </a:pPr>
            <a:r>
              <a:rPr lang="en-US" dirty="0"/>
              <a:t>The filters incrementally transform the data</a:t>
            </a:r>
            <a:endParaRPr lang="en-IN" sz="1200" dirty="0"/>
          </a:p>
          <a:p>
            <a:pPr marL="557213" lvl="1" indent="-214313">
              <a:lnSpc>
                <a:spcPct val="150000"/>
              </a:lnSpc>
              <a:buFont typeface="Wingdings" pitchFamily="2" charset="2"/>
              <a:buChar char="Ø"/>
            </a:pPr>
            <a:r>
              <a:rPr lang="en-US" dirty="0"/>
              <a:t>The filter does not require knowledge of the workings of its neighboring filters.</a:t>
            </a:r>
          </a:p>
          <a:p>
            <a:pPr lvl="0"/>
            <a:r>
              <a:rPr lang="en-US" b="1" dirty="0">
                <a:solidFill>
                  <a:srgbClr val="FF0000"/>
                </a:solidFill>
              </a:rPr>
              <a:t>Batch sequential style</a:t>
            </a:r>
            <a:endParaRPr lang="en-IN" sz="1200" dirty="0">
              <a:solidFill>
                <a:srgbClr val="FF0000"/>
              </a:solidFill>
            </a:endParaRPr>
          </a:p>
          <a:p>
            <a:pPr marL="557213" lvl="1" indent="-214313">
              <a:lnSpc>
                <a:spcPct val="150000"/>
              </a:lnSpc>
              <a:buFont typeface="Wingdings" pitchFamily="2" charset="2"/>
              <a:buChar char="Ø"/>
            </a:pPr>
            <a:r>
              <a:rPr lang="en-US" dirty="0"/>
              <a:t>If the data flow degenerates into a single line of transforms, it is termed batch sequential.</a:t>
            </a:r>
            <a:endParaRPr lang="en-IN" sz="1200" dirty="0"/>
          </a:p>
          <a:p>
            <a:pPr marL="557213" lvl="1" indent="-214313">
              <a:lnSpc>
                <a:spcPct val="150000"/>
              </a:lnSpc>
              <a:buFont typeface="Wingdings" pitchFamily="2" charset="2"/>
              <a:buChar char="Ø"/>
            </a:pPr>
            <a:r>
              <a:rPr lang="en-US" dirty="0"/>
              <a:t>This structure accepts a batch of data and then applies a series of </a:t>
            </a:r>
            <a:r>
              <a:rPr lang="en-US" dirty="0">
                <a:solidFill>
                  <a:srgbClr val="FF0000"/>
                </a:solidFill>
              </a:rPr>
              <a:t>sequential components (filters) </a:t>
            </a:r>
            <a:r>
              <a:rPr lang="en-US" dirty="0"/>
              <a:t>to transform it.</a:t>
            </a:r>
            <a:endParaRPr lang="en-IN" sz="1200" dirty="0"/>
          </a:p>
        </p:txBody>
      </p:sp>
    </p:spTree>
    <p:extLst>
      <p:ext uri="{BB962C8B-B14F-4D97-AF65-F5344CB8AC3E}">
        <p14:creationId xmlns:p14="http://schemas.microsoft.com/office/powerpoint/2010/main" val="16114360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517" y="218797"/>
            <a:ext cx="8086724" cy="68672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tabLst>
                <a:tab pos="771525" algn="l"/>
                <a:tab pos="1513046" algn="l"/>
              </a:tabLst>
            </a:pPr>
            <a:r>
              <a:rPr dirty="0">
                <a:solidFill>
                  <a:srgbClr val="FF0000"/>
                </a:solidFill>
              </a:rPr>
              <a:t>Call</a:t>
            </a:r>
            <a:r>
              <a:rPr lang="en-IN" dirty="0">
                <a:solidFill>
                  <a:srgbClr val="FF0000"/>
                </a:solidFill>
              </a:rPr>
              <a:t> </a:t>
            </a:r>
            <a:r>
              <a:rPr dirty="0">
                <a:solidFill>
                  <a:srgbClr val="FF0000"/>
                </a:solidFill>
              </a:rPr>
              <a:t>and	</a:t>
            </a:r>
            <a:r>
              <a:rPr spc="-4" dirty="0">
                <a:solidFill>
                  <a:srgbClr val="FF0000"/>
                </a:solidFill>
              </a:rPr>
              <a:t>Return</a:t>
            </a:r>
            <a:r>
              <a:rPr spc="-19" dirty="0">
                <a:solidFill>
                  <a:srgbClr val="FF0000"/>
                </a:solidFill>
              </a:rPr>
              <a:t> </a:t>
            </a:r>
            <a:r>
              <a:rPr spc="-4" dirty="0">
                <a:solidFill>
                  <a:srgbClr val="FF0000"/>
                </a:solidFill>
              </a:rPr>
              <a:t>Architecture</a:t>
            </a:r>
          </a:p>
        </p:txBody>
      </p:sp>
      <p:sp>
        <p:nvSpPr>
          <p:cNvPr id="5" name="Rectangle 4"/>
          <p:cNvSpPr/>
          <p:nvPr/>
        </p:nvSpPr>
        <p:spPr>
          <a:xfrm>
            <a:off x="457200" y="942099"/>
            <a:ext cx="7910233" cy="646331"/>
          </a:xfrm>
          <a:prstGeom prst="rect">
            <a:avLst/>
          </a:prstGeom>
        </p:spPr>
        <p:txBody>
          <a:bodyPr wrap="square">
            <a:spAutoFit/>
          </a:bodyPr>
          <a:lstStyle/>
          <a:p>
            <a:pPr marL="214313" indent="-214313">
              <a:buFont typeface="Wingdings" pitchFamily="2" charset="2"/>
              <a:buChar char="Ø"/>
            </a:pPr>
            <a:r>
              <a:rPr lang="en-US" dirty="0"/>
              <a:t>This architectural style enables to achieve a program structure that is relatively </a:t>
            </a:r>
            <a:r>
              <a:rPr lang="en-US" dirty="0">
                <a:solidFill>
                  <a:srgbClr val="FF0000"/>
                </a:solidFill>
              </a:rPr>
              <a:t>easy to modify and scale</a:t>
            </a:r>
            <a:r>
              <a:rPr lang="en-US" u="sng" dirty="0"/>
              <a:t>.</a:t>
            </a:r>
            <a:endParaRPr lang="en-IN" dirty="0"/>
          </a:p>
        </p:txBody>
      </p:sp>
      <p:sp>
        <p:nvSpPr>
          <p:cNvPr id="6" name="Rectangle 5"/>
          <p:cNvSpPr/>
          <p:nvPr/>
        </p:nvSpPr>
        <p:spPr>
          <a:xfrm>
            <a:off x="489362" y="1366404"/>
            <a:ext cx="4561609" cy="6654386"/>
          </a:xfrm>
          <a:prstGeom prst="rect">
            <a:avLst/>
          </a:prstGeom>
        </p:spPr>
        <p:txBody>
          <a:bodyPr wrap="square">
            <a:spAutoFit/>
          </a:bodyPr>
          <a:lstStyle/>
          <a:p>
            <a:pPr lvl="0">
              <a:lnSpc>
                <a:spcPct val="200000"/>
              </a:lnSpc>
            </a:pPr>
            <a:r>
              <a:rPr lang="en-US" dirty="0">
                <a:solidFill>
                  <a:srgbClr val="FF0000"/>
                </a:solidFill>
              </a:rPr>
              <a:t>Substyles of call and return architecture:</a:t>
            </a:r>
            <a:endParaRPr lang="en-IN" dirty="0">
              <a:solidFill>
                <a:srgbClr val="FF0000"/>
              </a:solidFill>
            </a:endParaRPr>
          </a:p>
          <a:p>
            <a:pPr lvl="0">
              <a:lnSpc>
                <a:spcPct val="200000"/>
              </a:lnSpc>
            </a:pPr>
            <a:r>
              <a:rPr lang="en-US" i="1" dirty="0">
                <a:solidFill>
                  <a:srgbClr val="FF0000"/>
                </a:solidFill>
              </a:rPr>
              <a:t>Main program/subprogram architectures</a:t>
            </a:r>
            <a:endParaRPr lang="en-IN" dirty="0">
              <a:solidFill>
                <a:srgbClr val="FF0000"/>
              </a:solidFill>
            </a:endParaRPr>
          </a:p>
          <a:p>
            <a:pPr>
              <a:lnSpc>
                <a:spcPct val="200000"/>
              </a:lnSpc>
            </a:pPr>
            <a:r>
              <a:rPr lang="en-US" dirty="0"/>
              <a:t>This style decomposes the function into a </a:t>
            </a:r>
            <a:r>
              <a:rPr lang="en-US" dirty="0">
                <a:solidFill>
                  <a:srgbClr val="FF0000"/>
                </a:solidFill>
              </a:rPr>
              <a:t>control hierarchy </a:t>
            </a:r>
            <a:r>
              <a:rPr lang="en-US" dirty="0"/>
              <a:t>where a main  program invokes a number of program components which  in turn may invoke  other components. </a:t>
            </a:r>
            <a:endParaRPr lang="en-IN" dirty="0"/>
          </a:p>
          <a:p>
            <a:pPr lvl="0">
              <a:lnSpc>
                <a:spcPct val="200000"/>
              </a:lnSpc>
            </a:pPr>
            <a:r>
              <a:rPr lang="en-US" i="1" dirty="0">
                <a:solidFill>
                  <a:srgbClr val="FF0000"/>
                </a:solidFill>
              </a:rPr>
              <a:t>Remote procedure call architectures</a:t>
            </a:r>
            <a:endParaRPr lang="en-IN" dirty="0">
              <a:solidFill>
                <a:srgbClr val="FF0000"/>
              </a:solidFill>
            </a:endParaRPr>
          </a:p>
          <a:p>
            <a:pPr>
              <a:lnSpc>
                <a:spcPct val="200000"/>
              </a:lnSpc>
            </a:pPr>
            <a:r>
              <a:rPr lang="en-US" dirty="0"/>
              <a:t>The components of a main program/subprogram architecture are distributed across multiple computers on a network.</a:t>
            </a:r>
            <a:endParaRPr lang="en-IN" dirty="0"/>
          </a:p>
        </p:txBody>
      </p:sp>
      <p:pic>
        <p:nvPicPr>
          <p:cNvPr id="3074" name="Picture 2">
            <a:extLst>
              <a:ext uri="{FF2B5EF4-FFF2-40B4-BE49-F238E27FC236}">
                <a16:creationId xmlns:a16="http://schemas.microsoft.com/office/drawing/2014/main" id="{90894555-1193-EE4C-88F4-1C6867DC0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2606278"/>
            <a:ext cx="3938155" cy="2885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7341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Object-oriented architectures</a:t>
            </a:r>
            <a:endParaRPr lang="en-IN" dirty="0">
              <a:solidFill>
                <a:srgbClr val="FF0000"/>
              </a:solidFill>
            </a:endParaRPr>
          </a:p>
        </p:txBody>
      </p:sp>
      <p:sp>
        <p:nvSpPr>
          <p:cNvPr id="3" name="Rectangle 2"/>
          <p:cNvSpPr/>
          <p:nvPr/>
        </p:nvSpPr>
        <p:spPr>
          <a:xfrm>
            <a:off x="383241" y="2189202"/>
            <a:ext cx="8249771" cy="2499402"/>
          </a:xfrm>
          <a:prstGeom prst="rect">
            <a:avLst/>
          </a:prstGeom>
        </p:spPr>
        <p:txBody>
          <a:bodyPr wrap="square">
            <a:spAutoFit/>
          </a:bodyPr>
          <a:lstStyle/>
          <a:p>
            <a:r>
              <a:rPr lang="en-US" b="1" dirty="0"/>
              <a:t> </a:t>
            </a:r>
            <a:endParaRPr lang="en-IN" dirty="0"/>
          </a:p>
          <a:p>
            <a:pPr marL="214313" indent="-214313">
              <a:lnSpc>
                <a:spcPct val="200000"/>
              </a:lnSpc>
              <a:buFont typeface="Wingdings" pitchFamily="2" charset="2"/>
              <a:buChar char="Ø"/>
            </a:pPr>
            <a:r>
              <a:rPr lang="en-US" dirty="0"/>
              <a:t>The components of a system encapsulate data and the operations that are applied to manipulate the data.</a:t>
            </a:r>
            <a:endParaRPr lang="en-IN" dirty="0"/>
          </a:p>
          <a:p>
            <a:pPr marL="214313" indent="-214313">
              <a:lnSpc>
                <a:spcPct val="200000"/>
              </a:lnSpc>
              <a:buFont typeface="Wingdings" pitchFamily="2" charset="2"/>
              <a:buChar char="Ø"/>
            </a:pPr>
            <a:r>
              <a:rPr lang="en-US" dirty="0"/>
              <a:t>Communication between components are accomplished through message passing.</a:t>
            </a:r>
            <a:endParaRPr lang="en-IN" dirty="0"/>
          </a:p>
        </p:txBody>
      </p:sp>
    </p:spTree>
    <p:extLst>
      <p:ext uri="{BB962C8B-B14F-4D97-AF65-F5344CB8AC3E}">
        <p14:creationId xmlns:p14="http://schemas.microsoft.com/office/powerpoint/2010/main" val="1329476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4713605" cy="68672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tabLst>
                <a:tab pos="1492091" algn="l"/>
              </a:tabLst>
            </a:pPr>
            <a:r>
              <a:rPr dirty="0">
                <a:solidFill>
                  <a:srgbClr val="FF0000"/>
                </a:solidFill>
              </a:rPr>
              <a:t>Layered	</a:t>
            </a:r>
            <a:r>
              <a:rPr spc="-4" dirty="0">
                <a:solidFill>
                  <a:srgbClr val="FF0000"/>
                </a:solidFill>
              </a:rPr>
              <a:t>Architecture</a:t>
            </a:r>
          </a:p>
        </p:txBody>
      </p:sp>
      <p:sp>
        <p:nvSpPr>
          <p:cNvPr id="5" name="Rectangle 4"/>
          <p:cNvSpPr/>
          <p:nvPr/>
        </p:nvSpPr>
        <p:spPr>
          <a:xfrm>
            <a:off x="470648" y="1835524"/>
            <a:ext cx="3779235" cy="4334328"/>
          </a:xfrm>
          <a:prstGeom prst="rect">
            <a:avLst/>
          </a:prstGeom>
        </p:spPr>
        <p:txBody>
          <a:bodyPr wrap="square">
            <a:spAutoFit/>
          </a:bodyPr>
          <a:lstStyle/>
          <a:p>
            <a:pPr marL="214313" indent="-214313">
              <a:lnSpc>
                <a:spcPct val="200000"/>
              </a:lnSpc>
              <a:buFont typeface="Wingdings" pitchFamily="2" charset="2"/>
              <a:buChar char="Ø"/>
            </a:pPr>
            <a:r>
              <a:rPr lang="en-US" sz="1400" dirty="0"/>
              <a:t>A number of different layers are defined, each accomplishing operations that progressively become closer to the machine instruction set. </a:t>
            </a:r>
            <a:endParaRPr lang="en-IN" sz="1400" dirty="0"/>
          </a:p>
          <a:p>
            <a:pPr marL="214313" indent="-214313">
              <a:lnSpc>
                <a:spcPct val="200000"/>
              </a:lnSpc>
              <a:buFont typeface="Wingdings" pitchFamily="2" charset="2"/>
              <a:buChar char="Ø"/>
            </a:pPr>
            <a:r>
              <a:rPr lang="en-US" sz="1400" dirty="0"/>
              <a:t>At the </a:t>
            </a:r>
            <a:r>
              <a:rPr lang="en-US" sz="1400" dirty="0">
                <a:solidFill>
                  <a:srgbClr val="FF0000"/>
                </a:solidFill>
              </a:rPr>
              <a:t>outer layer</a:t>
            </a:r>
            <a:r>
              <a:rPr lang="en-US" sz="1400" dirty="0"/>
              <a:t>, components service user interface operations. </a:t>
            </a:r>
            <a:endParaRPr lang="en-IN" sz="1400" dirty="0"/>
          </a:p>
          <a:p>
            <a:pPr marL="214313" indent="-214313">
              <a:lnSpc>
                <a:spcPct val="200000"/>
              </a:lnSpc>
              <a:buFont typeface="Wingdings" pitchFamily="2" charset="2"/>
              <a:buChar char="Ø"/>
            </a:pPr>
            <a:r>
              <a:rPr lang="en-US" sz="1400" dirty="0"/>
              <a:t>At the </a:t>
            </a:r>
            <a:r>
              <a:rPr lang="en-US" sz="1400" dirty="0">
                <a:solidFill>
                  <a:srgbClr val="FF0000"/>
                </a:solidFill>
              </a:rPr>
              <a:t>inner layer</a:t>
            </a:r>
            <a:r>
              <a:rPr lang="en-US" sz="1400" dirty="0"/>
              <a:t>, components perform operating system interfacing. </a:t>
            </a:r>
            <a:endParaRPr lang="en-IN" sz="1400" dirty="0"/>
          </a:p>
          <a:p>
            <a:pPr marL="214313" indent="-214313">
              <a:lnSpc>
                <a:spcPct val="200000"/>
              </a:lnSpc>
              <a:buFont typeface="Wingdings" pitchFamily="2" charset="2"/>
              <a:buChar char="Ø"/>
            </a:pPr>
            <a:r>
              <a:rPr lang="en-US" sz="1400" dirty="0">
                <a:solidFill>
                  <a:srgbClr val="FF0000"/>
                </a:solidFill>
              </a:rPr>
              <a:t>Intermediate layers </a:t>
            </a:r>
            <a:r>
              <a:rPr lang="en-US" sz="1400" dirty="0"/>
              <a:t>provide utility services and application software functions.</a:t>
            </a:r>
            <a:endParaRPr lang="en-IN" sz="1400" dirty="0"/>
          </a:p>
        </p:txBody>
      </p:sp>
      <p:pic>
        <p:nvPicPr>
          <p:cNvPr id="4098" name="Picture 2">
            <a:extLst>
              <a:ext uri="{FF2B5EF4-FFF2-40B4-BE49-F238E27FC236}">
                <a16:creationId xmlns:a16="http://schemas.microsoft.com/office/drawing/2014/main" id="{F3B46BCF-7AF5-0BDD-C1F4-1F867862B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1673" y="1750869"/>
            <a:ext cx="4861105" cy="38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4761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776DB-E1D8-F07C-23F8-8ADE43CF40F2}"/>
              </a:ext>
            </a:extLst>
          </p:cNvPr>
          <p:cNvSpPr>
            <a:spLocks noGrp="1"/>
          </p:cNvSpPr>
          <p:nvPr>
            <p:ph type="title"/>
          </p:nvPr>
        </p:nvSpPr>
        <p:spPr/>
        <p:txBody>
          <a:bodyPr>
            <a:normAutofit/>
          </a:bodyPr>
          <a:lstStyle/>
          <a:p>
            <a:pPr algn="ctr"/>
            <a:r>
              <a:rPr lang="en-US" sz="1800" b="1" dirty="0">
                <a:solidFill>
                  <a:srgbClr val="FF0000"/>
                </a:solidFill>
                <a:latin typeface="Times New Roman" panose="02020603050405020304" pitchFamily="18" charset="0"/>
                <a:ea typeface="Calibri" panose="020F0502020204030204" pitchFamily="34" charset="0"/>
              </a:rPr>
              <a:t>ARCHITECTURAL DESIGN PROCESS</a:t>
            </a:r>
            <a:endParaRPr lang="en-IN" sz="1800" dirty="0">
              <a:solidFill>
                <a:srgbClr val="FF0000"/>
              </a:solidFill>
            </a:endParaRPr>
          </a:p>
        </p:txBody>
      </p:sp>
      <p:sp>
        <p:nvSpPr>
          <p:cNvPr id="4" name="TextBox 3">
            <a:extLst>
              <a:ext uri="{FF2B5EF4-FFF2-40B4-BE49-F238E27FC236}">
                <a16:creationId xmlns:a16="http://schemas.microsoft.com/office/drawing/2014/main" id="{8CE70FB1-875C-D0AB-19D3-535D21D01E38}"/>
              </a:ext>
            </a:extLst>
          </p:cNvPr>
          <p:cNvSpPr txBox="1"/>
          <p:nvPr/>
        </p:nvSpPr>
        <p:spPr>
          <a:xfrm>
            <a:off x="990600" y="1143000"/>
            <a:ext cx="6868391" cy="2874633"/>
          </a:xfrm>
          <a:prstGeom prst="rect">
            <a:avLst/>
          </a:prstGeom>
          <a:noFill/>
        </p:spPr>
        <p:txBody>
          <a:bodyPr wrap="square">
            <a:spAutoFit/>
          </a:bodyPr>
          <a:lstStyle/>
          <a:p>
            <a:pPr>
              <a:lnSpc>
                <a:spcPct val="150000"/>
              </a:lnSpc>
              <a:spcAft>
                <a:spcPts val="750"/>
              </a:spcAft>
            </a:pPr>
            <a:r>
              <a:rPr lang="en-US" sz="2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Architectural Design Steps</a:t>
            </a:r>
            <a:endParaRPr lang="en-IN" sz="2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mj-lt"/>
              <a:buAutoNum type="arabicParenR"/>
              <a:tabLst>
                <a:tab pos="342900" algn="l"/>
              </a:tabLst>
            </a:pPr>
            <a:r>
              <a:rPr lang="en-US" sz="2100" dirty="0">
                <a:latin typeface="Times New Roman" panose="02020603050405020304" pitchFamily="18" charset="0"/>
                <a:ea typeface="Calibri" panose="020F0502020204030204" pitchFamily="34" charset="0"/>
                <a:cs typeface="Times New Roman" panose="02020603050405020304" pitchFamily="18" charset="0"/>
              </a:rPr>
              <a:t>Represent the system in context</a:t>
            </a:r>
            <a:endParaRPr lang="en-IN" sz="2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mj-lt"/>
              <a:buAutoNum type="arabicParenR"/>
              <a:tabLst>
                <a:tab pos="342900" algn="l"/>
              </a:tabLst>
            </a:pPr>
            <a:r>
              <a:rPr lang="en-US" sz="2100" dirty="0">
                <a:latin typeface="Times New Roman" panose="02020603050405020304" pitchFamily="18" charset="0"/>
                <a:ea typeface="Calibri" panose="020F0502020204030204" pitchFamily="34" charset="0"/>
                <a:cs typeface="Times New Roman" panose="02020603050405020304" pitchFamily="18" charset="0"/>
              </a:rPr>
              <a:t>Define archetypes</a:t>
            </a:r>
            <a:endParaRPr lang="en-IN" sz="2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mj-lt"/>
              <a:buAutoNum type="arabicParenR"/>
              <a:tabLst>
                <a:tab pos="342900" algn="l"/>
              </a:tabLst>
            </a:pPr>
            <a:r>
              <a:rPr lang="en-US" sz="2100" dirty="0">
                <a:latin typeface="Times New Roman" panose="02020603050405020304" pitchFamily="18" charset="0"/>
                <a:ea typeface="Calibri" panose="020F0502020204030204" pitchFamily="34" charset="0"/>
                <a:cs typeface="Times New Roman" panose="02020603050405020304" pitchFamily="18" charset="0"/>
              </a:rPr>
              <a:t>Refine the architecture into components</a:t>
            </a:r>
            <a:endParaRPr lang="en-IN" sz="2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mj-lt"/>
              <a:buAutoNum type="arabicParenR"/>
              <a:tabLst>
                <a:tab pos="342900" algn="l"/>
              </a:tabLst>
            </a:pPr>
            <a:r>
              <a:rPr lang="en-US" sz="2100" dirty="0">
                <a:latin typeface="Times New Roman" panose="02020603050405020304" pitchFamily="18" charset="0"/>
                <a:ea typeface="Calibri" panose="020F0502020204030204" pitchFamily="34" charset="0"/>
                <a:cs typeface="Times New Roman" panose="02020603050405020304" pitchFamily="18" charset="0"/>
              </a:rPr>
              <a:t>Describe instantiations of the system</a:t>
            </a:r>
            <a:endParaRPr lang="en-IN" sz="2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12097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818AF-6C39-BC33-FD11-1B79429E21A6}"/>
              </a:ext>
            </a:extLst>
          </p:cNvPr>
          <p:cNvSpPr>
            <a:spLocks noGrp="1"/>
          </p:cNvSpPr>
          <p:nvPr>
            <p:ph type="title"/>
          </p:nvPr>
        </p:nvSpPr>
        <p:spPr>
          <a:xfrm>
            <a:off x="457200" y="457200"/>
            <a:ext cx="8229600" cy="563562"/>
          </a:xfrm>
        </p:spPr>
        <p:txBody>
          <a:bodyPr/>
          <a:lstStyle/>
          <a:p>
            <a:pPr algn="l"/>
            <a:r>
              <a:rPr lang="en-IN" sz="3200" dirty="0"/>
              <a:t>Step 1: </a:t>
            </a:r>
            <a:r>
              <a:rPr lang="en-US" sz="3200" dirty="0">
                <a:latin typeface="Times New Roman" panose="02020603050405020304" pitchFamily="18" charset="0"/>
                <a:ea typeface="Calibri" panose="020F0502020204030204" pitchFamily="34" charset="0"/>
                <a:cs typeface="Times New Roman" panose="02020603050405020304" pitchFamily="18" charset="0"/>
              </a:rPr>
              <a:t>Represent the system in context</a:t>
            </a:r>
            <a:br>
              <a:rPr lang="en-IN" sz="44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1ADC88C4-217D-EC09-DAD9-2BD57F3623EA}"/>
              </a:ext>
            </a:extLst>
          </p:cNvPr>
          <p:cNvPicPr>
            <a:picLocks noChangeAspect="1"/>
          </p:cNvPicPr>
          <p:nvPr/>
        </p:nvPicPr>
        <p:blipFill>
          <a:blip r:embed="rId2"/>
          <a:stretch>
            <a:fillRect/>
          </a:stretch>
        </p:blipFill>
        <p:spPr>
          <a:xfrm>
            <a:off x="304800" y="1020762"/>
            <a:ext cx="8153400" cy="3885970"/>
          </a:xfrm>
          <a:prstGeom prst="rect">
            <a:avLst/>
          </a:prstGeom>
        </p:spPr>
      </p:pic>
    </p:spTree>
    <p:extLst>
      <p:ext uri="{BB962C8B-B14F-4D97-AF65-F5344CB8AC3E}">
        <p14:creationId xmlns:p14="http://schemas.microsoft.com/office/powerpoint/2010/main" val="29624831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9E890-E721-13DE-6B98-BBF4DC465E34}"/>
              </a:ext>
            </a:extLst>
          </p:cNvPr>
          <p:cNvSpPr>
            <a:spLocks noGrp="1"/>
          </p:cNvSpPr>
          <p:nvPr>
            <p:ph type="title"/>
          </p:nvPr>
        </p:nvSpPr>
        <p:spPr/>
        <p:txBody>
          <a:bodyPr>
            <a:normAutofit/>
          </a:bodyPr>
          <a:lstStyle/>
          <a:p>
            <a:pPr algn="l"/>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1. Represent the System in Context</a:t>
            </a:r>
            <a:br>
              <a:rPr lang="en-IN"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400" dirty="0">
              <a:solidFill>
                <a:srgbClr val="FF0000"/>
              </a:solidFill>
            </a:endParaRPr>
          </a:p>
        </p:txBody>
      </p:sp>
      <p:pic>
        <p:nvPicPr>
          <p:cNvPr id="5122" name="Picture 2">
            <a:extLst>
              <a:ext uri="{FF2B5EF4-FFF2-40B4-BE49-F238E27FC236}">
                <a16:creationId xmlns:a16="http://schemas.microsoft.com/office/drawing/2014/main" id="{79399069-0CBC-6082-EBDA-FE4DF4DC10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1" y="1295400"/>
            <a:ext cx="3674918"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51C05FDE-73D2-9AAA-E00C-8C2470BB0C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143000"/>
            <a:ext cx="4985742"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Object 1">
            <a:extLst>
              <a:ext uri="{FF2B5EF4-FFF2-40B4-BE49-F238E27FC236}">
                <a16:creationId xmlns:a16="http://schemas.microsoft.com/office/drawing/2014/main" id="{9C543F98-4A09-1FB4-7959-8FFE321BCB79}"/>
              </a:ext>
            </a:extLst>
          </p:cNvPr>
          <p:cNvPicPr>
            <a:picLocks noChangeArrowheads="1"/>
          </p:cNvPicPr>
          <p:nvPr/>
        </p:nvPicPr>
        <p:blipFill>
          <a:blip r:embed="rId4">
            <a:extLst>
              <a:ext uri="{28A0092B-C50C-407E-A947-70E740481C1C}">
                <a14:useLocalDpi xmlns:a14="http://schemas.microsoft.com/office/drawing/2010/main" val="0"/>
              </a:ext>
            </a:extLst>
          </a:blip>
          <a:srcRect l="-13583" t="-57661" r="-12544" b="-12955"/>
          <a:stretch>
            <a:fillRect/>
          </a:stretch>
        </p:blipFill>
        <p:spPr bwMode="auto">
          <a:xfrm>
            <a:off x="5957563" y="5214938"/>
            <a:ext cx="170021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34276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AE1A-AB22-E638-4127-FC458875B291}"/>
              </a:ext>
            </a:extLst>
          </p:cNvPr>
          <p:cNvSpPr>
            <a:spLocks noGrp="1"/>
          </p:cNvSpPr>
          <p:nvPr>
            <p:ph type="title"/>
          </p:nvPr>
        </p:nvSpPr>
        <p:spPr>
          <a:xfrm>
            <a:off x="457200" y="274638"/>
            <a:ext cx="8229600" cy="411162"/>
          </a:xfrm>
        </p:spPr>
        <p:txBody>
          <a:bodyPr>
            <a:normAutofit fontScale="90000"/>
          </a:bodyPr>
          <a:lstStyle/>
          <a:p>
            <a:pPr algn="l"/>
            <a:r>
              <a:rPr lang="en-US" sz="27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 Define Archetypes</a:t>
            </a:r>
            <a:br>
              <a:rPr lang="en-IN" sz="27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700" dirty="0">
              <a:solidFill>
                <a:srgbClr val="FF0000"/>
              </a:solidFill>
            </a:endParaRPr>
          </a:p>
        </p:txBody>
      </p:sp>
      <p:pic>
        <p:nvPicPr>
          <p:cNvPr id="6146" name="Picture 2">
            <a:extLst>
              <a:ext uri="{FF2B5EF4-FFF2-40B4-BE49-F238E27FC236}">
                <a16:creationId xmlns:a16="http://schemas.microsoft.com/office/drawing/2014/main" id="{97772D91-4260-31E0-F1C6-4864845801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609" y="1979469"/>
            <a:ext cx="6338455" cy="322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078E0B4-E8E3-91CA-D01D-891A6B22805C}"/>
              </a:ext>
            </a:extLst>
          </p:cNvPr>
          <p:cNvSpPr txBox="1"/>
          <p:nvPr/>
        </p:nvSpPr>
        <p:spPr>
          <a:xfrm>
            <a:off x="228600" y="501555"/>
            <a:ext cx="8153400" cy="1200329"/>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latin typeface="Leawood-Book"/>
              </a:rPr>
              <a:t>An </a:t>
            </a:r>
            <a:r>
              <a:rPr lang="en-US" sz="1800" b="0" i="1" u="none" strike="noStrike" baseline="0" dirty="0">
                <a:latin typeface="Leawood-BookItalic"/>
              </a:rPr>
              <a:t>archetype </a:t>
            </a:r>
            <a:r>
              <a:rPr lang="en-US" sz="1800" b="0" i="0" u="none" strike="noStrike" baseline="0" dirty="0">
                <a:latin typeface="Leawood-Book"/>
              </a:rPr>
              <a:t>is a class or pattern that represents a core abstraction of the target system.</a:t>
            </a:r>
          </a:p>
          <a:p>
            <a:pPr marL="285750" indent="-285750" algn="l">
              <a:buFont typeface="Arial" panose="020B0604020202020204" pitchFamily="34" charset="0"/>
              <a:buChar char="•"/>
            </a:pPr>
            <a:r>
              <a:rPr lang="en-US" sz="1800" b="0" i="0" u="none" strike="noStrike" baseline="0" dirty="0">
                <a:latin typeface="Leawood-Book"/>
              </a:rPr>
              <a:t>In general, a relatively small set of archetypes is required to design even relatively complex systems</a:t>
            </a:r>
            <a:endParaRPr lang="en-IN" dirty="0"/>
          </a:p>
        </p:txBody>
      </p:sp>
      <p:sp>
        <p:nvSpPr>
          <p:cNvPr id="4" name="TextBox 3">
            <a:extLst>
              <a:ext uri="{FF2B5EF4-FFF2-40B4-BE49-F238E27FC236}">
                <a16:creationId xmlns:a16="http://schemas.microsoft.com/office/drawing/2014/main" id="{65FF91E6-EFE4-4F05-E402-1E8EC310CCEB}"/>
              </a:ext>
            </a:extLst>
          </p:cNvPr>
          <p:cNvSpPr txBox="1"/>
          <p:nvPr/>
        </p:nvSpPr>
        <p:spPr>
          <a:xfrm>
            <a:off x="76200" y="1956402"/>
            <a:ext cx="2760692" cy="938719"/>
          </a:xfrm>
          <a:prstGeom prst="rect">
            <a:avLst/>
          </a:prstGeom>
          <a:noFill/>
        </p:spPr>
        <p:txBody>
          <a:bodyPr wrap="none" rtlCol="0">
            <a:spAutoFit/>
          </a:bodyPr>
          <a:lstStyle/>
          <a:p>
            <a:r>
              <a:rPr lang="en-US" sz="1100" dirty="0"/>
              <a:t>An </a:t>
            </a:r>
            <a:r>
              <a:rPr lang="en-US" sz="1100" b="1" i="1" dirty="0"/>
              <a:t>archetype</a:t>
            </a:r>
            <a:r>
              <a:rPr lang="en-US" sz="1100" dirty="0"/>
              <a:t> is something that serves </a:t>
            </a:r>
          </a:p>
          <a:p>
            <a:r>
              <a:rPr lang="en-US" sz="1100" dirty="0"/>
              <a:t>as a model or a basis for something. </a:t>
            </a:r>
          </a:p>
          <a:p>
            <a:r>
              <a:rPr lang="en-US" sz="1100" dirty="0"/>
              <a:t>This is because it is believed to have all </a:t>
            </a:r>
          </a:p>
          <a:p>
            <a:r>
              <a:rPr lang="en-US" sz="1100" dirty="0"/>
              <a:t>the essential characteristics of becoming </a:t>
            </a:r>
          </a:p>
          <a:p>
            <a:r>
              <a:rPr lang="en-US" sz="1100" dirty="0"/>
              <a:t>something or someone. </a:t>
            </a:r>
            <a:endParaRPr lang="en-IN" sz="1100" dirty="0"/>
          </a:p>
        </p:txBody>
      </p:sp>
    </p:spTree>
    <p:extLst>
      <p:ext uri="{BB962C8B-B14F-4D97-AF65-F5344CB8AC3E}">
        <p14:creationId xmlns:p14="http://schemas.microsoft.com/office/powerpoint/2010/main" val="27688376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F58D4-25BD-18B5-ABEF-9206A5100AEE}"/>
              </a:ext>
            </a:extLst>
          </p:cNvPr>
          <p:cNvSpPr>
            <a:spLocks noGrp="1"/>
          </p:cNvSpPr>
          <p:nvPr>
            <p:ph type="title"/>
          </p:nvPr>
        </p:nvSpPr>
        <p:spPr>
          <a:xfrm>
            <a:off x="685800" y="132556"/>
            <a:ext cx="8229600" cy="1143000"/>
          </a:xfrm>
        </p:spPr>
        <p:txBody>
          <a:bodyPr>
            <a:normAutofit/>
          </a:bodyPr>
          <a:lstStyle/>
          <a:p>
            <a:pPr algn="l"/>
            <a:r>
              <a:rPr lang="en-US" sz="2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3. Refine the Architecture into Components (</a:t>
            </a:r>
            <a:r>
              <a:rPr lang="en-IN" sz="1800" b="0" i="0" u="none" strike="noStrike" baseline="0" dirty="0">
                <a:latin typeface="Leawood-Book"/>
              </a:rPr>
              <a:t>major software components are identified.</a:t>
            </a:r>
            <a:r>
              <a:rPr lang="en-US" sz="2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br>
              <a:rPr lang="en-IN" sz="21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100" dirty="0">
              <a:solidFill>
                <a:srgbClr val="FF0000"/>
              </a:solidFill>
            </a:endParaRPr>
          </a:p>
        </p:txBody>
      </p:sp>
      <p:pic>
        <p:nvPicPr>
          <p:cNvPr id="7170" name="Picture 2">
            <a:extLst>
              <a:ext uri="{FF2B5EF4-FFF2-40B4-BE49-F238E27FC236}">
                <a16:creationId xmlns:a16="http://schemas.microsoft.com/office/drawing/2014/main" id="{1D15508F-73F6-D6E7-E687-2DBE2E236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13" y="867474"/>
            <a:ext cx="6477001" cy="4736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061F13A7-0FE8-F474-41DD-DFE3820F7255}"/>
              </a:ext>
            </a:extLst>
          </p:cNvPr>
          <p:cNvPicPr>
            <a:picLocks noChangeAspect="1"/>
          </p:cNvPicPr>
          <p:nvPr/>
        </p:nvPicPr>
        <p:blipFill>
          <a:blip r:embed="rId3"/>
          <a:stretch>
            <a:fillRect/>
          </a:stretch>
        </p:blipFill>
        <p:spPr>
          <a:xfrm>
            <a:off x="4953000" y="846138"/>
            <a:ext cx="5181601" cy="2057400"/>
          </a:xfrm>
          <a:prstGeom prst="rect">
            <a:avLst/>
          </a:prstGeom>
        </p:spPr>
      </p:pic>
    </p:spTree>
    <p:extLst>
      <p:ext uri="{BB962C8B-B14F-4D97-AF65-F5344CB8AC3E}">
        <p14:creationId xmlns:p14="http://schemas.microsoft.com/office/powerpoint/2010/main" val="22346708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4E8C1-F976-8404-B003-857DE2E8FEEC}"/>
              </a:ext>
            </a:extLst>
          </p:cNvPr>
          <p:cNvSpPr>
            <a:spLocks noGrp="1"/>
          </p:cNvSpPr>
          <p:nvPr>
            <p:ph type="title"/>
          </p:nvPr>
        </p:nvSpPr>
        <p:spPr/>
        <p:txBody>
          <a:bodyPr>
            <a:normAutofit/>
          </a:bodyPr>
          <a:lstStyle/>
          <a:p>
            <a:pPr algn="ctr"/>
            <a:r>
              <a:rPr lang="en-US" sz="2400" b="1" dirty="0">
                <a:solidFill>
                  <a:srgbClr val="FF0000"/>
                </a:solidFill>
                <a:latin typeface="Times New Roman" panose="02020603050405020304" pitchFamily="18" charset="0"/>
                <a:ea typeface="Calibri" panose="020F0502020204030204" pitchFamily="34" charset="0"/>
              </a:rPr>
              <a:t>4. Describe Instantiations of the System</a:t>
            </a:r>
            <a:endParaRPr lang="en-IN" sz="2400" dirty="0">
              <a:solidFill>
                <a:srgbClr val="FF0000"/>
              </a:solidFill>
            </a:endParaRPr>
          </a:p>
        </p:txBody>
      </p:sp>
      <p:pic>
        <p:nvPicPr>
          <p:cNvPr id="8194" name="Picture 2">
            <a:extLst>
              <a:ext uri="{FF2B5EF4-FFF2-40B4-BE49-F238E27FC236}">
                <a16:creationId xmlns:a16="http://schemas.microsoft.com/office/drawing/2014/main" id="{873C7A26-7036-7038-6ACB-0E0E9097E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073" y="1979469"/>
            <a:ext cx="7990609" cy="363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4033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776" y="-380999"/>
            <a:ext cx="7886700" cy="1371600"/>
          </a:xfrm>
        </p:spPr>
        <p:txBody>
          <a:bodyPr>
            <a:normAutofit/>
          </a:bodyPr>
          <a:lstStyle/>
          <a:p>
            <a:pPr algn="ctr"/>
            <a:r>
              <a:rPr lang="en-US" b="1" dirty="0">
                <a:solidFill>
                  <a:srgbClr val="FF0000"/>
                </a:solidFill>
              </a:rPr>
              <a:t>Architectural Mapping</a:t>
            </a:r>
            <a:endParaRPr lang="en-IN" dirty="0">
              <a:solidFill>
                <a:srgbClr val="FF0000"/>
              </a:solidFill>
            </a:endParaRPr>
          </a:p>
        </p:txBody>
      </p:sp>
      <p:sp>
        <p:nvSpPr>
          <p:cNvPr id="3" name="Rectangle 2"/>
          <p:cNvSpPr/>
          <p:nvPr/>
        </p:nvSpPr>
        <p:spPr>
          <a:xfrm>
            <a:off x="383241" y="2189202"/>
            <a:ext cx="8249771" cy="837409"/>
          </a:xfrm>
          <a:prstGeom prst="rect">
            <a:avLst/>
          </a:prstGeom>
        </p:spPr>
        <p:txBody>
          <a:bodyPr wrap="square">
            <a:spAutoFit/>
          </a:bodyPr>
          <a:lstStyle/>
          <a:p>
            <a:r>
              <a:rPr lang="en-US" b="1" dirty="0"/>
              <a:t> </a:t>
            </a:r>
            <a:endParaRPr lang="en-IN" dirty="0"/>
          </a:p>
          <a:p>
            <a:pPr lvl="0">
              <a:lnSpc>
                <a:spcPct val="200000"/>
              </a:lnSpc>
            </a:pPr>
            <a:endParaRPr lang="en-IN" dirty="0"/>
          </a:p>
        </p:txBody>
      </p:sp>
      <p:sp>
        <p:nvSpPr>
          <p:cNvPr id="5" name="TextBox 4">
            <a:extLst>
              <a:ext uri="{FF2B5EF4-FFF2-40B4-BE49-F238E27FC236}">
                <a16:creationId xmlns:a16="http://schemas.microsoft.com/office/drawing/2014/main" id="{81670DEE-E591-407D-BF41-A3B0B4062D5E}"/>
              </a:ext>
            </a:extLst>
          </p:cNvPr>
          <p:cNvSpPr txBox="1"/>
          <p:nvPr/>
        </p:nvSpPr>
        <p:spPr>
          <a:xfrm>
            <a:off x="367292" y="762000"/>
            <a:ext cx="8377518" cy="6250044"/>
          </a:xfrm>
          <a:prstGeom prst="rect">
            <a:avLst/>
          </a:prstGeom>
          <a:noFill/>
        </p:spPr>
        <p:txBody>
          <a:bodyPr wrap="square">
            <a:spAutoFit/>
          </a:bodyPr>
          <a:lstStyle/>
          <a:p>
            <a:pPr marL="257175" indent="-257175" algn="just">
              <a:lnSpc>
                <a:spcPct val="150000"/>
              </a:lnSpc>
              <a:spcAft>
                <a:spcPts val="75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design steps that allows a </a:t>
            </a:r>
            <a:r>
              <a:rPr 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DFD with transform flow </a:t>
            </a:r>
            <a:r>
              <a:rPr lang="en-US" dirty="0">
                <a:effectLst/>
                <a:latin typeface="Times New Roman" panose="02020603050405020304" pitchFamily="18" charset="0"/>
                <a:ea typeface="Calibri" panose="020F0502020204030204" pitchFamily="34" charset="0"/>
                <a:cs typeface="Times New Roman" panose="02020603050405020304" pitchFamily="18" charset="0"/>
              </a:rPr>
              <a:t>characteristics to be mapped into a </a:t>
            </a:r>
            <a:r>
              <a:rPr 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specific architectural style</a:t>
            </a:r>
          </a:p>
          <a:p>
            <a:pPr marL="257175" indent="-257175" algn="just">
              <a:lnSpc>
                <a:spcPct val="150000"/>
              </a:lnSpc>
              <a:spcAft>
                <a:spcPts val="750"/>
              </a:spcAft>
              <a:buFont typeface="Wingdings" panose="05000000000000000000" pitchFamily="2" charset="2"/>
              <a:buChar char=""/>
            </a:pPr>
            <a:r>
              <a:rPr lang="en-US"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Types of  information flow </a:t>
            </a:r>
            <a:endParaRPr lang="en-IN"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75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2 different types of information flows: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57175" indent="-257175" algn="just">
              <a:lnSpc>
                <a:spcPct val="150000"/>
              </a:lnSpc>
              <a:spcAft>
                <a:spcPts val="750"/>
              </a:spcAft>
              <a:buFont typeface="+mj-lt"/>
              <a:buAutoNum type="arabicPeriod"/>
            </a:pPr>
            <a:r>
              <a:rPr lang="en-US"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Transaction flow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single data item triggers information flow along one of many paths</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57175" indent="-257175" algn="just">
              <a:lnSpc>
                <a:spcPct val="150000"/>
              </a:lnSpc>
              <a:spcAft>
                <a:spcPts val="750"/>
              </a:spcAft>
              <a:buFont typeface="+mj-lt"/>
              <a:buAutoNum type="arabicPeriod"/>
            </a:pPr>
            <a:r>
              <a:rPr lang="en-US"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Transform flow </a:t>
            </a:r>
            <a:r>
              <a:rPr 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257175" indent="-257175" algn="just">
              <a:lnSpc>
                <a:spcPct val="150000"/>
              </a:lnSpc>
              <a:spcAft>
                <a:spcPts val="750"/>
              </a:spcAft>
              <a:buFont typeface="Courier New" panose="02070309020205020404" pitchFamily="49" charset="0"/>
              <a:buChar char="o"/>
            </a:pPr>
            <a:r>
              <a:rPr lang="en-US" dirty="0">
                <a:effectLst/>
                <a:latin typeface="Times New Roman" panose="02020603050405020304" pitchFamily="18" charset="0"/>
                <a:ea typeface="Calibri" panose="020F0502020204030204" pitchFamily="34" charset="0"/>
                <a:cs typeface="Times New Roman" panose="02020603050405020304" pitchFamily="18" charset="0"/>
              </a:rPr>
              <a:t>overall data flow is sequential and flows along a small number of straight-line paths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557213" lvl="1" indent="-214313" algn="just">
              <a:lnSpc>
                <a:spcPct val="150000"/>
              </a:lnSpc>
              <a:spcAft>
                <a:spcPts val="750"/>
              </a:spcAft>
              <a:buFont typeface="Courier New" panose="02070309020205020404" pitchFamily="49" charset="0"/>
              <a:buChar char="o"/>
            </a:pPr>
            <a:r>
              <a:rPr lang="en-US" b="1"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Incoming Flow: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paths that transform the external data into an internal form</a:t>
            </a:r>
            <a:r>
              <a:rPr lang="en-US" b="1"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557213" lvl="1" indent="-214313" algn="just">
              <a:lnSpc>
                <a:spcPct val="150000"/>
              </a:lnSpc>
              <a:spcAft>
                <a:spcPts val="750"/>
              </a:spcAft>
              <a:buFont typeface="Courier New" panose="02070309020205020404" pitchFamily="49" charset="0"/>
              <a:buChar char="o"/>
            </a:pPr>
            <a:r>
              <a:rPr lang="en-US" b="1"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Transform Center: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incoming data are passed through a </a:t>
            </a:r>
            <a:r>
              <a:rPr 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transform center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and begin to move along paths that lead it out of the software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557213" lvl="1" indent="-214313" algn="just">
              <a:lnSpc>
                <a:spcPct val="150000"/>
              </a:lnSpc>
              <a:spcAft>
                <a:spcPts val="750"/>
              </a:spcAft>
              <a:buFont typeface="Courier New" panose="02070309020205020404" pitchFamily="49" charset="0"/>
              <a:buChar char="o"/>
            </a:pPr>
            <a:r>
              <a:rPr lang="en-US" b="1"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Outgoing Flow: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paths that move the data out of the software</a:t>
            </a:r>
            <a:r>
              <a:rPr lang="en-US" b="1"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57175" indent="-257175" algn="just">
              <a:lnSpc>
                <a:spcPct val="150000"/>
              </a:lnSpc>
              <a:spcAft>
                <a:spcPts val="750"/>
              </a:spcAft>
              <a:buFont typeface="Wingdings" panose="05000000000000000000" pitchFamily="2" charset="2"/>
              <a:buChar char=""/>
            </a:pP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A5E4422-5E9A-4A66-FA2C-6AEAA73489F9}"/>
              </a:ext>
            </a:extLst>
          </p:cNvPr>
          <p:cNvSpPr>
            <a:spLocks noGrp="1"/>
          </p:cNvSpPr>
          <p:nvPr>
            <p:ph type="sldNum" sz="quarter" idx="12"/>
          </p:nvPr>
        </p:nvSpPr>
        <p:spPr/>
        <p:txBody>
          <a:bodyPr/>
          <a:lstStyle/>
          <a:p>
            <a:fld id="{513C4EBD-C1FC-48FF-B023-569B80C71262}" type="slidenum">
              <a:rPr lang="en-IN" smtClean="0"/>
              <a:t>62</a:t>
            </a:fld>
            <a:endParaRPr lang="en-IN"/>
          </a:p>
        </p:txBody>
      </p:sp>
    </p:spTree>
    <p:extLst>
      <p:ext uri="{BB962C8B-B14F-4D97-AF65-F5344CB8AC3E}">
        <p14:creationId xmlns:p14="http://schemas.microsoft.com/office/powerpoint/2010/main" val="24648645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8A22-CDD4-4938-885D-754B115CA63F}"/>
              </a:ext>
            </a:extLst>
          </p:cNvPr>
          <p:cNvSpPr>
            <a:spLocks noGrp="1"/>
          </p:cNvSpPr>
          <p:nvPr>
            <p:ph type="title"/>
          </p:nvPr>
        </p:nvSpPr>
        <p:spPr>
          <a:xfrm>
            <a:off x="304800" y="136525"/>
            <a:ext cx="7886700" cy="603852"/>
          </a:xfrm>
        </p:spPr>
        <p:txBody>
          <a:bodyPr>
            <a:normAutofit fontScale="90000"/>
          </a:bodyPr>
          <a:lstStyle/>
          <a:p>
            <a:pPr algn="ctr"/>
            <a:r>
              <a:rPr lang="en-IN" sz="3600" dirty="0">
                <a:solidFill>
                  <a:srgbClr val="FF0000"/>
                </a:solidFill>
              </a:rPr>
              <a:t>Steps Involved</a:t>
            </a:r>
          </a:p>
        </p:txBody>
      </p:sp>
      <p:sp>
        <p:nvSpPr>
          <p:cNvPr id="4" name="TextBox 3">
            <a:extLst>
              <a:ext uri="{FF2B5EF4-FFF2-40B4-BE49-F238E27FC236}">
                <a16:creationId xmlns:a16="http://schemas.microsoft.com/office/drawing/2014/main" id="{96633101-D912-49F3-8F49-21D662463F83}"/>
              </a:ext>
            </a:extLst>
          </p:cNvPr>
          <p:cNvSpPr txBox="1"/>
          <p:nvPr/>
        </p:nvSpPr>
        <p:spPr>
          <a:xfrm>
            <a:off x="432197" y="910782"/>
            <a:ext cx="8279606" cy="5275162"/>
          </a:xfrm>
          <a:prstGeom prst="rect">
            <a:avLst/>
          </a:prstGeom>
          <a:noFill/>
        </p:spPr>
        <p:txBody>
          <a:bodyPr wrap="square">
            <a:spAutoFit/>
          </a:bodyPr>
          <a:lstStyle/>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1. </a:t>
            </a:r>
            <a:r>
              <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Review the fundamental system model.</a:t>
            </a:r>
          </a:p>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rPr>
              <a:t>Step 2.</a:t>
            </a:r>
            <a:r>
              <a:rPr lang="en-US" sz="2000" b="1" dirty="0">
                <a:solidFill>
                  <a:srgbClr val="0070C0"/>
                </a:solidFill>
                <a:latin typeface="Times New Roman" panose="02020603050405020304" pitchFamily="18" charset="0"/>
                <a:ea typeface="Calibri" panose="020F0502020204030204" pitchFamily="34" charset="0"/>
              </a:rPr>
              <a:t> Review and refine data flow diagrams for the software.</a:t>
            </a:r>
            <a:endPar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rPr>
              <a:t>Step 3.</a:t>
            </a:r>
            <a:r>
              <a:rPr lang="en-US" sz="2000" b="1" dirty="0">
                <a:solidFill>
                  <a:srgbClr val="0070C0"/>
                </a:solidFill>
                <a:latin typeface="Times New Roman" panose="02020603050405020304" pitchFamily="18" charset="0"/>
                <a:ea typeface="Calibri" panose="020F0502020204030204" pitchFamily="34" charset="0"/>
              </a:rPr>
              <a:t> Determine whether DFD has transform or transaction flow characteristics</a:t>
            </a:r>
            <a:endPar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4. </a:t>
            </a:r>
            <a:r>
              <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Isolate the transform center by specifying incoming and outgoing flow boundaries</a:t>
            </a:r>
            <a:endParaRPr lang="en-IN"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5.</a:t>
            </a:r>
            <a:r>
              <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Perform “first-level factoring”</a:t>
            </a:r>
            <a:endParaRPr lang="en-IN"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6.</a:t>
            </a:r>
            <a:r>
              <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Perform “second-level factoring”</a:t>
            </a:r>
            <a:endParaRPr lang="en-IN"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50000"/>
              </a:lnSpc>
              <a:spcAft>
                <a:spcPts val="750"/>
              </a:spcAft>
              <a:buFont typeface="Wingdings" panose="05000000000000000000" pitchFamily="2" charset="2"/>
              <a:buChar char=""/>
            </a:pPr>
            <a:r>
              <a:rPr lang="en-US" sz="2000" b="1" dirty="0">
                <a:solidFill>
                  <a:srgbClr val="FF0000"/>
                </a:solidFill>
                <a:latin typeface="Times New Roman" panose="02020603050405020304" pitchFamily="18" charset="0"/>
                <a:ea typeface="Calibri" panose="020F0502020204030204" pitchFamily="34" charset="0"/>
              </a:rPr>
              <a:t>Step 7.</a:t>
            </a:r>
            <a:r>
              <a:rPr lang="en-US" sz="2000" b="1" dirty="0">
                <a:solidFill>
                  <a:srgbClr val="0070C0"/>
                </a:solidFill>
                <a:latin typeface="Times New Roman" panose="02020603050405020304" pitchFamily="18" charset="0"/>
                <a:ea typeface="Calibri" panose="020F0502020204030204" pitchFamily="34" charset="0"/>
              </a:rPr>
              <a:t> Refine the first iteration program structure using design heuristic</a:t>
            </a:r>
            <a:endParaRPr lang="en-IN"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CF416C41-A4A7-9A40-DC3C-EB4A47973D65}"/>
              </a:ext>
            </a:extLst>
          </p:cNvPr>
          <p:cNvSpPr>
            <a:spLocks noGrp="1"/>
          </p:cNvSpPr>
          <p:nvPr>
            <p:ph type="sldNum" sz="quarter" idx="12"/>
          </p:nvPr>
        </p:nvSpPr>
        <p:spPr/>
        <p:txBody>
          <a:bodyPr/>
          <a:lstStyle/>
          <a:p>
            <a:fld id="{513C4EBD-C1FC-48FF-B023-569B80C71262}" type="slidenum">
              <a:rPr lang="en-IN" smtClean="0"/>
              <a:t>63</a:t>
            </a:fld>
            <a:endParaRPr lang="en-IN"/>
          </a:p>
        </p:txBody>
      </p:sp>
    </p:spTree>
    <p:extLst>
      <p:ext uri="{BB962C8B-B14F-4D97-AF65-F5344CB8AC3E}">
        <p14:creationId xmlns:p14="http://schemas.microsoft.com/office/powerpoint/2010/main" val="3380562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AB65E-5240-4AC8-AA85-F3C198509046}"/>
              </a:ext>
            </a:extLst>
          </p:cNvPr>
          <p:cNvSpPr>
            <a:spLocks noGrp="1"/>
          </p:cNvSpPr>
          <p:nvPr>
            <p:ph type="title"/>
          </p:nvPr>
        </p:nvSpPr>
        <p:spPr/>
        <p:txBody>
          <a:bodyPr>
            <a:normAutofit fontScale="90000"/>
          </a:bodyPr>
          <a:lstStyle/>
          <a:p>
            <a:r>
              <a:rPr lang="en-US" sz="33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1. Review the fundamental system model.</a:t>
            </a:r>
            <a:br>
              <a:rPr lang="en-US" sz="33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br>
            <a:endParaRPr lang="en-IN" dirty="0">
              <a:solidFill>
                <a:srgbClr val="FF0000"/>
              </a:solidFill>
            </a:endParaRPr>
          </a:p>
        </p:txBody>
      </p:sp>
      <p:pic>
        <p:nvPicPr>
          <p:cNvPr id="1026" name="Picture 2">
            <a:extLst>
              <a:ext uri="{FF2B5EF4-FFF2-40B4-BE49-F238E27FC236}">
                <a16:creationId xmlns:a16="http://schemas.microsoft.com/office/drawing/2014/main" id="{863E2842-2B73-4961-8F7E-3576D31DE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1" y="1417638"/>
            <a:ext cx="7173516"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18C38840-C0AE-EE47-B322-5BA71270F263}"/>
              </a:ext>
            </a:extLst>
          </p:cNvPr>
          <p:cNvSpPr txBox="1"/>
          <p:nvPr/>
        </p:nvSpPr>
        <p:spPr>
          <a:xfrm>
            <a:off x="3352800" y="5867400"/>
            <a:ext cx="1943100" cy="300082"/>
          </a:xfrm>
          <a:prstGeom prst="rect">
            <a:avLst/>
          </a:prstGeom>
          <a:noFill/>
        </p:spPr>
        <p:txBody>
          <a:bodyPr wrap="square">
            <a:spAutoFit/>
          </a:bodyPr>
          <a:lstStyle/>
          <a:p>
            <a:r>
              <a:rPr lang="en-US" sz="1350" dirty="0">
                <a:solidFill>
                  <a:srgbClr val="FF0000"/>
                </a:solidFill>
                <a:latin typeface="Times New Roman" panose="02020603050405020304" pitchFamily="18" charset="0"/>
                <a:ea typeface="Calibri" panose="020F0502020204030204" pitchFamily="34" charset="0"/>
              </a:rPr>
              <a:t>SAFE HOME PROJECT</a:t>
            </a:r>
            <a:endParaRPr lang="en-IN" dirty="0">
              <a:solidFill>
                <a:srgbClr val="FF0000"/>
              </a:solidFill>
            </a:endParaRPr>
          </a:p>
        </p:txBody>
      </p:sp>
      <p:sp>
        <p:nvSpPr>
          <p:cNvPr id="6" name="Slide Number Placeholder 5">
            <a:extLst>
              <a:ext uri="{FF2B5EF4-FFF2-40B4-BE49-F238E27FC236}">
                <a16:creationId xmlns:a16="http://schemas.microsoft.com/office/drawing/2014/main" id="{2304CDC6-7620-56BC-06AB-496B140F7DE0}"/>
              </a:ext>
            </a:extLst>
          </p:cNvPr>
          <p:cNvSpPr>
            <a:spLocks noGrp="1"/>
          </p:cNvSpPr>
          <p:nvPr>
            <p:ph type="sldNum" sz="quarter" idx="12"/>
          </p:nvPr>
        </p:nvSpPr>
        <p:spPr/>
        <p:txBody>
          <a:bodyPr/>
          <a:lstStyle/>
          <a:p>
            <a:fld id="{513C4EBD-C1FC-48FF-B023-569B80C71262}" type="slidenum">
              <a:rPr lang="en-IN" smtClean="0"/>
              <a:t>64</a:t>
            </a:fld>
            <a:endParaRPr lang="en-IN"/>
          </a:p>
        </p:txBody>
      </p:sp>
    </p:spTree>
    <p:extLst>
      <p:ext uri="{BB962C8B-B14F-4D97-AF65-F5344CB8AC3E}">
        <p14:creationId xmlns:p14="http://schemas.microsoft.com/office/powerpoint/2010/main" val="34908309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2C140-D984-4C64-BE63-626938E4D9B4}"/>
              </a:ext>
            </a:extLst>
          </p:cNvPr>
          <p:cNvSpPr>
            <a:spLocks noGrp="1"/>
          </p:cNvSpPr>
          <p:nvPr>
            <p:ph type="title"/>
          </p:nvPr>
        </p:nvSpPr>
        <p:spPr/>
        <p:txBody>
          <a:bodyPr>
            <a:normAutofit/>
          </a:bodyPr>
          <a:lstStyle/>
          <a:p>
            <a:r>
              <a:rPr lang="en-US" sz="2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2. Review and refine data flow diagrams for the software.</a:t>
            </a:r>
            <a:br>
              <a:rPr lang="en-IN" sz="21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100" dirty="0">
              <a:solidFill>
                <a:srgbClr val="FF0000"/>
              </a:solidFill>
            </a:endParaRPr>
          </a:p>
        </p:txBody>
      </p:sp>
      <p:pic>
        <p:nvPicPr>
          <p:cNvPr id="1026" name="Picture 2">
            <a:extLst>
              <a:ext uri="{FF2B5EF4-FFF2-40B4-BE49-F238E27FC236}">
                <a16:creationId xmlns:a16="http://schemas.microsoft.com/office/drawing/2014/main" id="{34F8853A-C89A-04AF-0CC0-8E2FCA415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464" y="2125266"/>
            <a:ext cx="6525491" cy="337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7F94474D-0DEC-AF61-F4D9-54450275D66C}"/>
              </a:ext>
            </a:extLst>
          </p:cNvPr>
          <p:cNvSpPr>
            <a:spLocks noGrp="1"/>
          </p:cNvSpPr>
          <p:nvPr>
            <p:ph type="sldNum" sz="quarter" idx="12"/>
          </p:nvPr>
        </p:nvSpPr>
        <p:spPr/>
        <p:txBody>
          <a:bodyPr/>
          <a:lstStyle/>
          <a:p>
            <a:fld id="{513C4EBD-C1FC-48FF-B023-569B80C71262}" type="slidenum">
              <a:rPr lang="en-IN" smtClean="0"/>
              <a:t>65</a:t>
            </a:fld>
            <a:endParaRPr lang="en-IN"/>
          </a:p>
        </p:txBody>
      </p:sp>
    </p:spTree>
    <p:extLst>
      <p:ext uri="{BB962C8B-B14F-4D97-AF65-F5344CB8AC3E}">
        <p14:creationId xmlns:p14="http://schemas.microsoft.com/office/powerpoint/2010/main" val="1515970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629F-8CCE-485B-B418-85FCAE3BEF7A}"/>
              </a:ext>
            </a:extLst>
          </p:cNvPr>
          <p:cNvSpPr>
            <a:spLocks noGrp="1"/>
          </p:cNvSpPr>
          <p:nvPr>
            <p:ph type="title"/>
          </p:nvPr>
        </p:nvSpPr>
        <p:spPr>
          <a:xfrm>
            <a:off x="114300" y="1131094"/>
            <a:ext cx="8925791" cy="1627693"/>
          </a:xfrm>
        </p:spPr>
        <p:txBody>
          <a:bodyPr>
            <a:normAutofit/>
          </a:bodyPr>
          <a:lstStyle/>
          <a:p>
            <a:r>
              <a:rPr lang="en-US" sz="2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3. Determine whether DFD has transform or transaction flow characteristics. </a:t>
            </a:r>
            <a:br>
              <a:rPr lang="en-IN" sz="21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100" dirty="0">
              <a:solidFill>
                <a:srgbClr val="FF0000"/>
              </a:solidFill>
            </a:endParaRPr>
          </a:p>
        </p:txBody>
      </p:sp>
      <p:sp>
        <p:nvSpPr>
          <p:cNvPr id="4" name="TextBox 3">
            <a:extLst>
              <a:ext uri="{FF2B5EF4-FFF2-40B4-BE49-F238E27FC236}">
                <a16:creationId xmlns:a16="http://schemas.microsoft.com/office/drawing/2014/main" id="{5F4C1280-82D5-4E9A-BF22-341118A54DF4}"/>
              </a:ext>
            </a:extLst>
          </p:cNvPr>
          <p:cNvSpPr txBox="1"/>
          <p:nvPr/>
        </p:nvSpPr>
        <p:spPr>
          <a:xfrm>
            <a:off x="849457" y="2758786"/>
            <a:ext cx="7193756" cy="1243738"/>
          </a:xfrm>
          <a:prstGeom prst="rect">
            <a:avLst/>
          </a:prstGeom>
          <a:noFill/>
        </p:spPr>
        <p:txBody>
          <a:bodyPr wrap="square">
            <a:spAutoFit/>
          </a:bodyPr>
          <a:lstStyle/>
          <a:p>
            <a:pPr marL="857250" lvl="2" indent="-171450">
              <a:lnSpc>
                <a:spcPct val="150000"/>
              </a:lnSpc>
              <a:spcAft>
                <a:spcPts val="750"/>
              </a:spcAft>
              <a:buFont typeface="Wingdings" panose="05000000000000000000" pitchFamily="2" charset="2"/>
              <a:buChar char=""/>
            </a:pPr>
            <a:r>
              <a:rPr lang="en-US" sz="2400" b="1" dirty="0">
                <a:latin typeface="Times New Roman" panose="02020603050405020304" pitchFamily="18" charset="0"/>
                <a:ea typeface="Calibri" panose="020F0502020204030204" pitchFamily="34" charset="0"/>
                <a:cs typeface="Times New Roman" panose="02020603050405020304" pitchFamily="18" charset="0"/>
              </a:rPr>
              <a:t>in general---transform flow</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857250" lvl="2" indent="-171450">
              <a:lnSpc>
                <a:spcPct val="150000"/>
              </a:lnSpc>
              <a:spcAft>
                <a:spcPts val="750"/>
              </a:spcAft>
              <a:buFont typeface="Wingdings" panose="05000000000000000000" pitchFamily="2" charset="2"/>
              <a:buChar char=""/>
            </a:pPr>
            <a:r>
              <a:rPr lang="en-US" sz="2400" b="1" dirty="0">
                <a:latin typeface="Times New Roman" panose="02020603050405020304" pitchFamily="18" charset="0"/>
                <a:ea typeface="Calibri" panose="020F0502020204030204" pitchFamily="34" charset="0"/>
                <a:cs typeface="Times New Roman" panose="02020603050405020304" pitchFamily="18" charset="0"/>
              </a:rPr>
              <a:t>special case---transaction flow</a:t>
            </a:r>
            <a:endParaRPr lang="en-IN"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21084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C3DBC-0DA9-4A22-ABBF-0E64F4935FCD}"/>
              </a:ext>
            </a:extLst>
          </p:cNvPr>
          <p:cNvSpPr>
            <a:spLocks noGrp="1"/>
          </p:cNvSpPr>
          <p:nvPr>
            <p:ph type="title"/>
          </p:nvPr>
        </p:nvSpPr>
        <p:spPr/>
        <p:txBody>
          <a:bodyPr>
            <a:normAutofit/>
          </a:bodyPr>
          <a:lstStyle/>
          <a:p>
            <a:r>
              <a:rPr lang="en-US" sz="15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4. Isolate the transform center by specifying incoming and outgoing flow boundaries</a:t>
            </a:r>
            <a:br>
              <a:rPr lang="en-IN" sz="15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1500" dirty="0">
              <a:solidFill>
                <a:srgbClr val="FF0000"/>
              </a:solidFill>
            </a:endParaRPr>
          </a:p>
        </p:txBody>
      </p:sp>
      <p:pic>
        <p:nvPicPr>
          <p:cNvPr id="3074" name="Picture 2">
            <a:extLst>
              <a:ext uri="{FF2B5EF4-FFF2-40B4-BE49-F238E27FC236}">
                <a16:creationId xmlns:a16="http://schemas.microsoft.com/office/drawing/2014/main" id="{D9637256-2BA5-4A1E-A532-4885A1A3D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19" y="1143000"/>
            <a:ext cx="7508081"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DC86FA34-09BC-257D-818B-CC70AE52F325}"/>
              </a:ext>
            </a:extLst>
          </p:cNvPr>
          <p:cNvSpPr txBox="1"/>
          <p:nvPr/>
        </p:nvSpPr>
        <p:spPr>
          <a:xfrm>
            <a:off x="457200" y="3810000"/>
            <a:ext cx="2285999" cy="2554545"/>
          </a:xfrm>
          <a:prstGeom prst="rect">
            <a:avLst/>
          </a:prstGeom>
          <a:noFill/>
        </p:spPr>
        <p:txBody>
          <a:bodyPr wrap="square" rtlCol="0">
            <a:spAutoFit/>
          </a:bodyPr>
          <a:lstStyle/>
          <a:p>
            <a:pPr algn="just"/>
            <a:r>
              <a:rPr lang="en-US" sz="1600" b="0" i="0" u="none" strike="noStrike" baseline="0" dirty="0">
                <a:latin typeface="Leawood-Book"/>
              </a:rPr>
              <a:t>we see data entering the software</a:t>
            </a:r>
          </a:p>
          <a:p>
            <a:pPr algn="just"/>
            <a:r>
              <a:rPr lang="en-US" sz="1600" b="0" i="0" u="none" strike="noStrike" baseline="0" dirty="0">
                <a:latin typeface="Leawood-Book"/>
              </a:rPr>
              <a:t>along one incoming path and exiting along three outgoing paths. Therefore, an</a:t>
            </a:r>
          </a:p>
          <a:p>
            <a:pPr algn="just"/>
            <a:r>
              <a:rPr lang="en-US" sz="1600" b="0" i="0" u="none" strike="noStrike" baseline="0" dirty="0">
                <a:latin typeface="Leawood-Book"/>
              </a:rPr>
              <a:t>overall transform characteristic will be assumed for information flow.</a:t>
            </a:r>
            <a:endParaRPr lang="en-IN" sz="1600" dirty="0"/>
          </a:p>
        </p:txBody>
      </p:sp>
    </p:spTree>
    <p:extLst>
      <p:ext uri="{BB962C8B-B14F-4D97-AF65-F5344CB8AC3E}">
        <p14:creationId xmlns:p14="http://schemas.microsoft.com/office/powerpoint/2010/main" val="2146719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0A0BF-8AC9-4D49-8827-5699C45D2AC9}"/>
              </a:ext>
            </a:extLst>
          </p:cNvPr>
          <p:cNvSpPr>
            <a:spLocks noGrp="1"/>
          </p:cNvSpPr>
          <p:nvPr>
            <p:ph type="title"/>
          </p:nvPr>
        </p:nvSpPr>
        <p:spPr/>
        <p:txBody>
          <a:bodyPr>
            <a:normAutofit/>
          </a:bodyPr>
          <a:lstStyle/>
          <a:p>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5. Perform “first-level factoring”</a:t>
            </a:r>
            <a:br>
              <a:rPr lang="en-IN"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400" dirty="0">
              <a:solidFill>
                <a:srgbClr val="FF0000"/>
              </a:solidFill>
            </a:endParaRPr>
          </a:p>
        </p:txBody>
      </p:sp>
      <p:pic>
        <p:nvPicPr>
          <p:cNvPr id="4098" name="Picture 2">
            <a:extLst>
              <a:ext uri="{FF2B5EF4-FFF2-40B4-BE49-F238E27FC236}">
                <a16:creationId xmlns:a16="http://schemas.microsoft.com/office/drawing/2014/main" id="{1F5DD16C-3A09-4A06-817B-F095B6707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519" y="1978819"/>
            <a:ext cx="8117681" cy="449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5402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42CE-708B-41CC-926B-A0D0A3D4B6D7}"/>
              </a:ext>
            </a:extLst>
          </p:cNvPr>
          <p:cNvSpPr>
            <a:spLocks noGrp="1"/>
          </p:cNvSpPr>
          <p:nvPr>
            <p:ph type="title"/>
          </p:nvPr>
        </p:nvSpPr>
        <p:spPr/>
        <p:txBody>
          <a:bodyPr>
            <a:normAutofit/>
          </a:bodyPr>
          <a:lstStyle/>
          <a:p>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Step 6. Perform “second-level factoring”</a:t>
            </a:r>
            <a:br>
              <a:rPr lang="en-IN"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br>
            <a:endParaRPr lang="en-IN" sz="2400" dirty="0">
              <a:solidFill>
                <a:srgbClr val="FF0000"/>
              </a:solidFill>
            </a:endParaRPr>
          </a:p>
        </p:txBody>
      </p:sp>
      <p:pic>
        <p:nvPicPr>
          <p:cNvPr id="5122" name="Picture 2">
            <a:extLst>
              <a:ext uri="{FF2B5EF4-FFF2-40B4-BE49-F238E27FC236}">
                <a16:creationId xmlns:a16="http://schemas.microsoft.com/office/drawing/2014/main" id="{683E343A-96C8-4630-ABA3-5DBF6F99F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276" y="1814512"/>
            <a:ext cx="7629524"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A7A1A10-3B6B-B642-9F9C-373E91AAAFB3}"/>
              </a:ext>
            </a:extLst>
          </p:cNvPr>
          <p:cNvSpPr txBox="1"/>
          <p:nvPr/>
        </p:nvSpPr>
        <p:spPr>
          <a:xfrm>
            <a:off x="333376" y="1295400"/>
            <a:ext cx="1447800" cy="3539430"/>
          </a:xfrm>
          <a:prstGeom prst="rect">
            <a:avLst/>
          </a:prstGeom>
          <a:noFill/>
        </p:spPr>
        <p:txBody>
          <a:bodyPr wrap="square" rtlCol="0">
            <a:spAutoFit/>
          </a:bodyPr>
          <a:lstStyle/>
          <a:p>
            <a:pPr algn="l"/>
            <a:r>
              <a:rPr lang="en-US" sz="1600" b="0" i="0" u="none" strike="noStrike" baseline="0" dirty="0">
                <a:latin typeface="Leawood-Book"/>
              </a:rPr>
              <a:t>Incoming and outgoing flow boundaries are open to interpretation.</a:t>
            </a:r>
          </a:p>
          <a:p>
            <a:pPr algn="l"/>
            <a:r>
              <a:rPr lang="en-US" sz="1600" b="0" i="0" u="none" strike="noStrike" baseline="0" dirty="0">
                <a:latin typeface="Leawood-Book"/>
              </a:rPr>
              <a:t>That is, different designers may select slightly different points in the flow as boundary</a:t>
            </a:r>
          </a:p>
          <a:p>
            <a:pPr algn="l"/>
            <a:r>
              <a:rPr lang="en-IN" sz="1600" b="0" i="0" u="none" strike="noStrike" baseline="0" dirty="0">
                <a:latin typeface="Leawood-Book"/>
              </a:rPr>
              <a:t>locations.</a:t>
            </a:r>
            <a:endParaRPr lang="en-IN" sz="1600" dirty="0"/>
          </a:p>
        </p:txBody>
      </p:sp>
    </p:spTree>
    <p:extLst>
      <p:ext uri="{BB962C8B-B14F-4D97-AF65-F5344CB8AC3E}">
        <p14:creationId xmlns:p14="http://schemas.microsoft.com/office/powerpoint/2010/main" val="38402873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E32D-F657-4AC6-BA4F-269C2DB20296}"/>
              </a:ext>
            </a:extLst>
          </p:cNvPr>
          <p:cNvSpPr>
            <a:spLocks noGrp="1"/>
          </p:cNvSpPr>
          <p:nvPr>
            <p:ph type="title"/>
          </p:nvPr>
        </p:nvSpPr>
        <p:spPr/>
        <p:txBody>
          <a:bodyPr>
            <a:normAutofit/>
          </a:bodyPr>
          <a:lstStyle/>
          <a:p>
            <a:r>
              <a:rPr lang="en-US" sz="1800" b="1" dirty="0">
                <a:solidFill>
                  <a:srgbClr val="FF0000"/>
                </a:solidFill>
                <a:latin typeface="Times New Roman" panose="02020603050405020304" pitchFamily="18" charset="0"/>
                <a:ea typeface="Calibri" panose="020F0502020204030204" pitchFamily="34" charset="0"/>
              </a:rPr>
              <a:t>Step 7: Refine the first iteration program structure using design heuristics</a:t>
            </a:r>
            <a:r>
              <a:rPr lang="en-US" sz="1800" dirty="0">
                <a:solidFill>
                  <a:srgbClr val="FF0000"/>
                </a:solidFill>
                <a:latin typeface="Times New Roman" panose="02020603050405020304" pitchFamily="18" charset="0"/>
                <a:ea typeface="Calibri" panose="020F0502020204030204" pitchFamily="34" charset="0"/>
              </a:rPr>
              <a:t> </a:t>
            </a:r>
            <a:endParaRPr lang="en-IN" sz="1800" dirty="0">
              <a:solidFill>
                <a:srgbClr val="FF0000"/>
              </a:solidFill>
            </a:endParaRPr>
          </a:p>
        </p:txBody>
      </p:sp>
      <p:pic>
        <p:nvPicPr>
          <p:cNvPr id="6146" name="Picture 2">
            <a:extLst>
              <a:ext uri="{FF2B5EF4-FFF2-40B4-BE49-F238E27FC236}">
                <a16:creationId xmlns:a16="http://schemas.microsoft.com/office/drawing/2014/main" id="{D3DA2962-E235-4E46-8460-4D0667AD1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169" y="2271712"/>
            <a:ext cx="7093744"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52023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E4EDF03C-AF42-6BEB-10C0-669D28C0EBAF}"/>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Types</a:t>
            </a:r>
          </a:p>
        </p:txBody>
      </p:sp>
      <p:sp>
        <p:nvSpPr>
          <p:cNvPr id="26626" name="Content Placeholder 2">
            <a:extLst>
              <a:ext uri="{FF2B5EF4-FFF2-40B4-BE49-F238E27FC236}">
                <a16:creationId xmlns:a16="http://schemas.microsoft.com/office/drawing/2014/main" id="{E609819B-7C14-04C7-11BE-A7AE18E7C044}"/>
              </a:ext>
            </a:extLst>
          </p:cNvPr>
          <p:cNvSpPr>
            <a:spLocks noGrp="1"/>
          </p:cNvSpPr>
          <p:nvPr>
            <p:ph idx="1"/>
          </p:nvPr>
        </p:nvSpPr>
        <p:spPr/>
        <p:txBody>
          <a:bodyPr/>
          <a:lstStyle/>
          <a:p>
            <a:pPr eaLnBrk="1" hangingPunct="1"/>
            <a:r>
              <a:rPr lang="en-US" altLang="en-US" sz="2800">
                <a:latin typeface="Times New Roman" panose="02020603050405020304" pitchFamily="18" charset="0"/>
                <a:cs typeface="Times New Roman" panose="02020603050405020304" pitchFamily="18" charset="0"/>
              </a:rPr>
              <a:t>Top-down Approach</a:t>
            </a:r>
          </a:p>
          <a:p>
            <a:pPr eaLnBrk="1" hangingPunct="1"/>
            <a:r>
              <a:rPr lang="en-US" altLang="en-US" sz="2800">
                <a:latin typeface="Times New Roman" panose="02020603050405020304" pitchFamily="18" charset="0"/>
                <a:cs typeface="Times New Roman" panose="02020603050405020304" pitchFamily="18" charset="0"/>
              </a:rPr>
              <a:t>Bottom-up Approach</a:t>
            </a:r>
          </a:p>
          <a:p>
            <a:pPr eaLnBrk="1" hangingPunct="1"/>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CB49CEF7-ECF6-9A3B-A150-78216BD28C86}"/>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Top-Down</a:t>
            </a:r>
          </a:p>
        </p:txBody>
      </p:sp>
      <p:pic>
        <p:nvPicPr>
          <p:cNvPr id="27650" name="Picture 2">
            <a:extLst>
              <a:ext uri="{FF2B5EF4-FFF2-40B4-BE49-F238E27FC236}">
                <a16:creationId xmlns:a16="http://schemas.microsoft.com/office/drawing/2014/main" id="{FDF3F125-4C72-5F29-7B6A-D4FDF80DD4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1905000"/>
            <a:ext cx="6324600" cy="4343400"/>
          </a:xfr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1FEA2B4E-EB2D-A45C-C402-33E3ABC90517}"/>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Bottom-Up</a:t>
            </a:r>
          </a:p>
        </p:txBody>
      </p:sp>
      <p:pic>
        <p:nvPicPr>
          <p:cNvPr id="28674" name="Picture 2">
            <a:extLst>
              <a:ext uri="{FF2B5EF4-FFF2-40B4-BE49-F238E27FC236}">
                <a16:creationId xmlns:a16="http://schemas.microsoft.com/office/drawing/2014/main" id="{0B89E25D-9ABE-3D7F-4E4A-FA2813589E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905000"/>
            <a:ext cx="7086600" cy="4191000"/>
          </a:xfr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9FAF4ED2-B916-36CF-6187-5607BA3703E7}"/>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Cont…</a:t>
            </a:r>
          </a:p>
        </p:txBody>
      </p:sp>
      <p:sp>
        <p:nvSpPr>
          <p:cNvPr id="29698" name="Content Placeholder 2">
            <a:extLst>
              <a:ext uri="{FF2B5EF4-FFF2-40B4-BE49-F238E27FC236}">
                <a16:creationId xmlns:a16="http://schemas.microsoft.com/office/drawing/2014/main" id="{CEF6813F-0CDA-698D-9B96-76FEEC4037AB}"/>
              </a:ext>
            </a:extLst>
          </p:cNvPr>
          <p:cNvSpPr>
            <a:spLocks noGrp="1"/>
          </p:cNvSpPr>
          <p:nvPr>
            <p:ph idx="1"/>
          </p:nvPr>
        </p:nvSpPr>
        <p:spPr/>
        <p:txBody>
          <a:bodyPr/>
          <a:lstStyle/>
          <a:p>
            <a:pPr algn="just" eaLnBrk="1" hangingPunct="1"/>
            <a:r>
              <a:rPr lang="en-US" altLang="en-US" sz="2800" b="1">
                <a:latin typeface="Times New Roman" panose="02020603050405020304" pitchFamily="18" charset="0"/>
                <a:cs typeface="Times New Roman" panose="02020603050405020304" pitchFamily="18" charset="0"/>
              </a:rPr>
              <a:t>Top-down Approach: </a:t>
            </a:r>
            <a:r>
              <a:rPr lang="en-US" altLang="en-US" sz="2800">
                <a:latin typeface="Times New Roman" panose="02020603050405020304" pitchFamily="18" charset="0"/>
                <a:cs typeface="Times New Roman" panose="02020603050405020304" pitchFamily="18" charset="0"/>
              </a:rPr>
              <a:t>This approach starts with the identification of the main components and then decomposing them into their more detailed sub-components.</a:t>
            </a:r>
          </a:p>
          <a:p>
            <a:pPr algn="just" eaLnBrk="1" hangingPunct="1"/>
            <a:endParaRPr lang="en-US" altLang="en-US" sz="2800">
              <a:latin typeface="Times New Roman" panose="02020603050405020304" pitchFamily="18" charset="0"/>
              <a:cs typeface="Times New Roman" panose="02020603050405020304" pitchFamily="18" charset="0"/>
            </a:endParaRPr>
          </a:p>
          <a:p>
            <a:pPr algn="just" eaLnBrk="1" hangingPunct="1"/>
            <a:r>
              <a:rPr lang="en-US" altLang="en-US" sz="2800" b="1">
                <a:latin typeface="Times New Roman" panose="02020603050405020304" pitchFamily="18" charset="0"/>
                <a:cs typeface="Times New Roman" panose="02020603050405020304" pitchFamily="18" charset="0"/>
              </a:rPr>
              <a:t>Bottom-up Approach:</a:t>
            </a:r>
            <a:r>
              <a:rPr lang="en-US" altLang="en-US" sz="2800">
                <a:latin typeface="Times New Roman" panose="02020603050405020304" pitchFamily="18" charset="0"/>
                <a:cs typeface="Times New Roman" panose="02020603050405020304" pitchFamily="18" charset="0"/>
              </a:rPr>
              <a:t> A bottom-up approach begins with the lower details and moves towards up the hierarchy, as shown in fig. This approach is suitable in case of an existing system.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19C24-1F4A-8903-A7E7-04BD144DF3FA}"/>
              </a:ext>
            </a:extLst>
          </p:cNvPr>
          <p:cNvSpPr>
            <a:spLocks noGrp="1"/>
          </p:cNvSpPr>
          <p:nvPr>
            <p:ph type="title"/>
          </p:nvPr>
        </p:nvSpPr>
        <p:spPr>
          <a:xfrm>
            <a:off x="457200" y="76200"/>
            <a:ext cx="8229600" cy="533400"/>
          </a:xfrm>
        </p:spPr>
        <p:txBody>
          <a:bodyPr/>
          <a:lstStyle/>
          <a:p>
            <a:pPr algn="l"/>
            <a:r>
              <a:rPr lang="en-IN" dirty="0"/>
              <a:t>Appendix: </a:t>
            </a:r>
            <a:r>
              <a:rPr lang="en-IN" i="1" dirty="0" err="1"/>
              <a:t>SafeHome</a:t>
            </a:r>
            <a:r>
              <a:rPr lang="en-IN" dirty="0"/>
              <a:t> Project</a:t>
            </a:r>
          </a:p>
        </p:txBody>
      </p:sp>
      <p:sp>
        <p:nvSpPr>
          <p:cNvPr id="3" name="Content Placeholder 2">
            <a:extLst>
              <a:ext uri="{FF2B5EF4-FFF2-40B4-BE49-F238E27FC236}">
                <a16:creationId xmlns:a16="http://schemas.microsoft.com/office/drawing/2014/main" id="{AF296A42-5CCB-A8E5-F099-AB8C7DF63D5A}"/>
              </a:ext>
            </a:extLst>
          </p:cNvPr>
          <p:cNvSpPr>
            <a:spLocks noGrp="1"/>
          </p:cNvSpPr>
          <p:nvPr>
            <p:ph idx="1"/>
          </p:nvPr>
        </p:nvSpPr>
        <p:spPr>
          <a:xfrm>
            <a:off x="457200" y="914400"/>
            <a:ext cx="8229600" cy="5211763"/>
          </a:xfrm>
        </p:spPr>
        <p:txBody>
          <a:bodyPr/>
          <a:lstStyle/>
          <a:p>
            <a:r>
              <a:rPr lang="en-IN" dirty="0"/>
              <a:t>It’s an Alarm system for Home.</a:t>
            </a:r>
          </a:p>
          <a:p>
            <a:pPr algn="l"/>
            <a:r>
              <a:rPr lang="en-US" sz="1800" b="0" i="0" u="none" strike="noStrike" baseline="0" dirty="0">
                <a:latin typeface="Leawood-Book"/>
              </a:rPr>
              <a:t>The home security function would protect against and/or recognize a variety of undesirable “situations” such as illegal entry, fire, flooding, carbon monoxide levels, and others. It’ll use our wireless sensors to detect each situation. It can be programmed by the homeowner, and will automatically telephone a monitoring agency when a situation is </a:t>
            </a:r>
            <a:r>
              <a:rPr lang="en-IN" sz="1800" b="0" i="0" u="none" strike="noStrike" baseline="0" dirty="0">
                <a:latin typeface="Leawood-Book"/>
              </a:rPr>
              <a:t>detected.</a:t>
            </a:r>
            <a:endParaRPr lang="en-IN" dirty="0"/>
          </a:p>
        </p:txBody>
      </p:sp>
    </p:spTree>
    <p:extLst>
      <p:ext uri="{BB962C8B-B14F-4D97-AF65-F5344CB8AC3E}">
        <p14:creationId xmlns:p14="http://schemas.microsoft.com/office/powerpoint/2010/main" val="777426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6664</TotalTime>
  <Words>4432</Words>
  <Application>Microsoft Office PowerPoint</Application>
  <PresentationFormat>On-screen Show (4:3)</PresentationFormat>
  <Paragraphs>331</Paragraphs>
  <Slides>75</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75</vt:i4>
      </vt:variant>
    </vt:vector>
  </HeadingPairs>
  <TitlesOfParts>
    <vt:vector size="89" baseType="lpstr">
      <vt:lpstr>MS PGothic</vt:lpstr>
      <vt:lpstr>Arial</vt:lpstr>
      <vt:lpstr>Arial MT</vt:lpstr>
      <vt:lpstr>Book Antiqua</vt:lpstr>
      <vt:lpstr>Calibri</vt:lpstr>
      <vt:lpstr>CIDFont+F2</vt:lpstr>
      <vt:lpstr>Courier New</vt:lpstr>
      <vt:lpstr>Leawood-Book</vt:lpstr>
      <vt:lpstr>Leawood-BookItalic</vt:lpstr>
      <vt:lpstr>Palatino Linotype</vt:lpstr>
      <vt:lpstr>Tahoma</vt:lpstr>
      <vt:lpstr>Times New Roman</vt:lpstr>
      <vt:lpstr>Wingdings</vt:lpstr>
      <vt:lpstr>Office Theme</vt:lpstr>
      <vt:lpstr>Module 4: Design Concepts</vt:lpstr>
      <vt:lpstr>Contents</vt:lpstr>
      <vt:lpstr>Design Principles</vt:lpstr>
      <vt:lpstr>Contd…</vt:lpstr>
      <vt:lpstr>Contd…</vt:lpstr>
      <vt:lpstr>Translating the requirements model into the design model</vt:lpstr>
      <vt:lpstr>Objectives of Software Design</vt:lpstr>
      <vt:lpstr>THE DESIGN PROCESS</vt:lpstr>
      <vt:lpstr>PowerPoint Presentation</vt:lpstr>
      <vt:lpstr>Cont…</vt:lpstr>
      <vt:lpstr> 1. Abstraction </vt:lpstr>
      <vt:lpstr>Cont…</vt:lpstr>
      <vt:lpstr>Cont…</vt:lpstr>
      <vt:lpstr>2. architecture</vt:lpstr>
      <vt:lpstr>3. Pattern</vt:lpstr>
      <vt:lpstr>4. Separation of Concerns</vt:lpstr>
      <vt:lpstr>5. Modularity</vt:lpstr>
      <vt:lpstr>Properties of modularity</vt:lpstr>
      <vt:lpstr>Advantages</vt:lpstr>
      <vt:lpstr>Disadvantages</vt:lpstr>
      <vt:lpstr>Cohesion &amp; Coupling</vt:lpstr>
      <vt:lpstr>Types of coupling</vt:lpstr>
      <vt:lpstr>Contd…</vt:lpstr>
      <vt:lpstr>Contd…</vt:lpstr>
      <vt:lpstr>Types of Cohesion</vt:lpstr>
      <vt:lpstr>Contd…</vt:lpstr>
      <vt:lpstr>Contd… </vt:lpstr>
      <vt:lpstr>6. Information Hiding</vt:lpstr>
      <vt:lpstr>7. Functional Independence</vt:lpstr>
      <vt:lpstr>8. Refinement</vt:lpstr>
      <vt:lpstr>9. Aspects</vt:lpstr>
      <vt:lpstr>11. Object-Oriented Design Concepts</vt:lpstr>
      <vt:lpstr>Types of Design Classes </vt:lpstr>
      <vt:lpstr>PowerPoint Presentation</vt:lpstr>
      <vt:lpstr>Design Model Elements</vt:lpstr>
      <vt:lpstr>Software Design Components</vt:lpstr>
      <vt:lpstr>Data/Class Design Elements</vt:lpstr>
      <vt:lpstr>Architectural Elements</vt:lpstr>
      <vt:lpstr>Interface design elements </vt:lpstr>
      <vt:lpstr>Component Design Elements</vt:lpstr>
      <vt:lpstr>Component Level Design Elements - Example </vt:lpstr>
      <vt:lpstr>Deployment Level Design Elements </vt:lpstr>
      <vt:lpstr>Deployment-level design elements </vt:lpstr>
      <vt:lpstr>PowerPoint Presentation</vt:lpstr>
      <vt:lpstr>Software Architecture Design</vt:lpstr>
      <vt:lpstr>Why Architecture?</vt:lpstr>
      <vt:lpstr>Horizontal &amp; Vertical  Partitioning </vt:lpstr>
      <vt:lpstr>Architectural Styles</vt:lpstr>
      <vt:lpstr>Taxonomy of Styles in Software</vt:lpstr>
      <vt:lpstr>Data-Centered Architecture</vt:lpstr>
      <vt:lpstr>Data-Centered Architecture</vt:lpstr>
      <vt:lpstr>Data Flow Architecture</vt:lpstr>
      <vt:lpstr>Call and Return Architecture</vt:lpstr>
      <vt:lpstr>Object-oriented architectures</vt:lpstr>
      <vt:lpstr>Layered Architecture</vt:lpstr>
      <vt:lpstr>ARCHITECTURAL DESIGN PROCESS</vt:lpstr>
      <vt:lpstr>Step 1: Represent the system in context </vt:lpstr>
      <vt:lpstr>1. Represent the System in Context </vt:lpstr>
      <vt:lpstr>2. Define Archetypes </vt:lpstr>
      <vt:lpstr>3. Refine the Architecture into Components (major software components are identified.) </vt:lpstr>
      <vt:lpstr>4. Describe Instantiations of the System</vt:lpstr>
      <vt:lpstr>Architectural Mapping</vt:lpstr>
      <vt:lpstr>Steps Involved</vt:lpstr>
      <vt:lpstr>Step 1. Review the fundamental system model. </vt:lpstr>
      <vt:lpstr>Step 2. Review and refine data flow diagrams for the software. </vt:lpstr>
      <vt:lpstr>Step 3. Determine whether DFD has transform or transaction flow characteristics.  </vt:lpstr>
      <vt:lpstr>Step 4. Isolate the transform center by specifying incoming and outgoing flow boundaries </vt:lpstr>
      <vt:lpstr>Step 5. Perform “first-level factoring” </vt:lpstr>
      <vt:lpstr>Step 6. Perform “second-level factoring” </vt:lpstr>
      <vt:lpstr>Step 7: Refine the first iteration program structure using design heuristics </vt:lpstr>
      <vt:lpstr>Types</vt:lpstr>
      <vt:lpstr>Top-Down</vt:lpstr>
      <vt:lpstr>Bottom-Up</vt:lpstr>
      <vt:lpstr>Cont…</vt:lpstr>
      <vt:lpstr>Appendix: SafeHome 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Concepts</dc:title>
  <dc:creator>Windows User</dc:creator>
  <cp:lastModifiedBy>Samriddhi Sarkar</cp:lastModifiedBy>
  <cp:revision>30</cp:revision>
  <dcterms:created xsi:type="dcterms:W3CDTF">2021-03-22T04:22:22Z</dcterms:created>
  <dcterms:modified xsi:type="dcterms:W3CDTF">2025-02-24T09:29:44Z</dcterms:modified>
</cp:coreProperties>
</file>