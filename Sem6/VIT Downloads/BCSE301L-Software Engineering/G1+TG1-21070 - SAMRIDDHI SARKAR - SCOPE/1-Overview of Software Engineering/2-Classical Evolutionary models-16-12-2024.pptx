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62" r:id="rId4"/>
    <p:sldId id="257" r:id="rId5"/>
    <p:sldId id="259" r:id="rId6"/>
    <p:sldId id="260" r:id="rId7"/>
    <p:sldId id="263" r:id="rId8"/>
    <p:sldId id="266" r:id="rId9"/>
    <p:sldId id="267" r:id="rId10"/>
    <p:sldId id="264" r:id="rId11"/>
    <p:sldId id="268" r:id="rId12"/>
    <p:sldId id="269" r:id="rId13"/>
    <p:sldId id="270" r:id="rId14"/>
    <p:sldId id="271" r:id="rId15"/>
    <p:sldId id="272" r:id="rId16"/>
    <p:sldId id="273" r:id="rId17"/>
    <p:sldId id="275" r:id="rId18"/>
    <p:sldId id="276" r:id="rId19"/>
    <p:sldId id="265" r:id="rId20"/>
    <p:sldId id="27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737" autoAdjust="0"/>
    <p:restoredTop sz="94660"/>
  </p:normalViewPr>
  <p:slideViewPr>
    <p:cSldViewPr snapToGrid="0">
      <p:cViewPr varScale="1">
        <p:scale>
          <a:sx n="59" d="100"/>
          <a:sy n="59" d="100"/>
        </p:scale>
        <p:origin x="66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0CDCA-471A-73BB-E931-0AF4109881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62BACE2-BC73-E3D2-7259-18A4631A8C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706578D-19B8-83DD-B4B1-7D5D2F93056D}"/>
              </a:ext>
            </a:extLst>
          </p:cNvPr>
          <p:cNvSpPr>
            <a:spLocks noGrp="1"/>
          </p:cNvSpPr>
          <p:nvPr>
            <p:ph type="dt" sz="half" idx="10"/>
          </p:nvPr>
        </p:nvSpPr>
        <p:spPr/>
        <p:txBody>
          <a:bodyPr/>
          <a:lstStyle/>
          <a:p>
            <a:fld id="{49B06E8C-D94D-4717-A5A6-0A841E3F4D8B}" type="datetimeFigureOut">
              <a:rPr lang="en-IN" smtClean="0"/>
              <a:t>18-12-2024</a:t>
            </a:fld>
            <a:endParaRPr lang="en-IN"/>
          </a:p>
        </p:txBody>
      </p:sp>
      <p:sp>
        <p:nvSpPr>
          <p:cNvPr id="5" name="Footer Placeholder 4">
            <a:extLst>
              <a:ext uri="{FF2B5EF4-FFF2-40B4-BE49-F238E27FC236}">
                <a16:creationId xmlns:a16="http://schemas.microsoft.com/office/drawing/2014/main" id="{D8DD2F77-F04C-3E5B-D92D-23D1B5557E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32944A-DCA3-23F6-22A9-A2FE04CEC0DB}"/>
              </a:ext>
            </a:extLst>
          </p:cNvPr>
          <p:cNvSpPr>
            <a:spLocks noGrp="1"/>
          </p:cNvSpPr>
          <p:nvPr>
            <p:ph type="sldNum" sz="quarter" idx="12"/>
          </p:nvPr>
        </p:nvSpPr>
        <p:spPr/>
        <p:txBody>
          <a:bodyPr/>
          <a:lstStyle/>
          <a:p>
            <a:fld id="{800382B9-3682-43B8-B75A-12E2AC3885AE}" type="slidenum">
              <a:rPr lang="en-IN" smtClean="0"/>
              <a:t>‹#›</a:t>
            </a:fld>
            <a:endParaRPr lang="en-IN"/>
          </a:p>
        </p:txBody>
      </p:sp>
    </p:spTree>
    <p:extLst>
      <p:ext uri="{BB962C8B-B14F-4D97-AF65-F5344CB8AC3E}">
        <p14:creationId xmlns:p14="http://schemas.microsoft.com/office/powerpoint/2010/main" val="3891249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42C0F-053F-208C-2AAF-E6341C11760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F4DBE2A-0470-D8C4-CFDD-5DAE09FB38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818CE2-BA11-35EC-CA65-FCA495D6534C}"/>
              </a:ext>
            </a:extLst>
          </p:cNvPr>
          <p:cNvSpPr>
            <a:spLocks noGrp="1"/>
          </p:cNvSpPr>
          <p:nvPr>
            <p:ph type="dt" sz="half" idx="10"/>
          </p:nvPr>
        </p:nvSpPr>
        <p:spPr/>
        <p:txBody>
          <a:bodyPr/>
          <a:lstStyle/>
          <a:p>
            <a:fld id="{49B06E8C-D94D-4717-A5A6-0A841E3F4D8B}" type="datetimeFigureOut">
              <a:rPr lang="en-IN" smtClean="0"/>
              <a:t>18-12-2024</a:t>
            </a:fld>
            <a:endParaRPr lang="en-IN"/>
          </a:p>
        </p:txBody>
      </p:sp>
      <p:sp>
        <p:nvSpPr>
          <p:cNvPr id="5" name="Footer Placeholder 4">
            <a:extLst>
              <a:ext uri="{FF2B5EF4-FFF2-40B4-BE49-F238E27FC236}">
                <a16:creationId xmlns:a16="http://schemas.microsoft.com/office/drawing/2014/main" id="{AE2A9999-595E-F66E-67F6-8A1CD003FE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E56F70-8A4F-4249-93F0-A82FA75CA563}"/>
              </a:ext>
            </a:extLst>
          </p:cNvPr>
          <p:cNvSpPr>
            <a:spLocks noGrp="1"/>
          </p:cNvSpPr>
          <p:nvPr>
            <p:ph type="sldNum" sz="quarter" idx="12"/>
          </p:nvPr>
        </p:nvSpPr>
        <p:spPr/>
        <p:txBody>
          <a:bodyPr/>
          <a:lstStyle/>
          <a:p>
            <a:fld id="{800382B9-3682-43B8-B75A-12E2AC3885AE}" type="slidenum">
              <a:rPr lang="en-IN" smtClean="0"/>
              <a:t>‹#›</a:t>
            </a:fld>
            <a:endParaRPr lang="en-IN"/>
          </a:p>
        </p:txBody>
      </p:sp>
    </p:spTree>
    <p:extLst>
      <p:ext uri="{BB962C8B-B14F-4D97-AF65-F5344CB8AC3E}">
        <p14:creationId xmlns:p14="http://schemas.microsoft.com/office/powerpoint/2010/main" val="2611713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42DD5-CFC8-EEC4-9154-6D41FC0AA6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0ECC570-0CC5-9D53-748F-1E7EFCC1FB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9D8790-D6A5-9D17-C838-6CE7FB171A4D}"/>
              </a:ext>
            </a:extLst>
          </p:cNvPr>
          <p:cNvSpPr>
            <a:spLocks noGrp="1"/>
          </p:cNvSpPr>
          <p:nvPr>
            <p:ph type="dt" sz="half" idx="10"/>
          </p:nvPr>
        </p:nvSpPr>
        <p:spPr/>
        <p:txBody>
          <a:bodyPr/>
          <a:lstStyle/>
          <a:p>
            <a:fld id="{49B06E8C-D94D-4717-A5A6-0A841E3F4D8B}" type="datetimeFigureOut">
              <a:rPr lang="en-IN" smtClean="0"/>
              <a:t>18-12-2024</a:t>
            </a:fld>
            <a:endParaRPr lang="en-IN"/>
          </a:p>
        </p:txBody>
      </p:sp>
      <p:sp>
        <p:nvSpPr>
          <p:cNvPr id="5" name="Footer Placeholder 4">
            <a:extLst>
              <a:ext uri="{FF2B5EF4-FFF2-40B4-BE49-F238E27FC236}">
                <a16:creationId xmlns:a16="http://schemas.microsoft.com/office/drawing/2014/main" id="{4BBE28AE-35B6-5593-7187-B0DF974198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452AE1-B73E-19CB-9F77-820E1B335EB0}"/>
              </a:ext>
            </a:extLst>
          </p:cNvPr>
          <p:cNvSpPr>
            <a:spLocks noGrp="1"/>
          </p:cNvSpPr>
          <p:nvPr>
            <p:ph type="sldNum" sz="quarter" idx="12"/>
          </p:nvPr>
        </p:nvSpPr>
        <p:spPr/>
        <p:txBody>
          <a:bodyPr/>
          <a:lstStyle/>
          <a:p>
            <a:fld id="{800382B9-3682-43B8-B75A-12E2AC3885AE}" type="slidenum">
              <a:rPr lang="en-IN" smtClean="0"/>
              <a:t>‹#›</a:t>
            </a:fld>
            <a:endParaRPr lang="en-IN"/>
          </a:p>
        </p:txBody>
      </p:sp>
    </p:spTree>
    <p:extLst>
      <p:ext uri="{BB962C8B-B14F-4D97-AF65-F5344CB8AC3E}">
        <p14:creationId xmlns:p14="http://schemas.microsoft.com/office/powerpoint/2010/main" val="1058468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81D3B-4E9A-9468-F3C3-DB465EA392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10E5C2-B7DF-78EB-DEA9-A6A55F8A74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EEBEAC6-4578-2A0B-E9AA-C9A90BBCC5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CFCFA27-6B55-CE6B-88D7-23DA892BD1BC}"/>
              </a:ext>
            </a:extLst>
          </p:cNvPr>
          <p:cNvSpPr>
            <a:spLocks noGrp="1"/>
          </p:cNvSpPr>
          <p:nvPr>
            <p:ph type="dt" sz="half" idx="10"/>
          </p:nvPr>
        </p:nvSpPr>
        <p:spPr/>
        <p:txBody>
          <a:bodyPr/>
          <a:lstStyle/>
          <a:p>
            <a:fld id="{49B06E8C-D94D-4717-A5A6-0A841E3F4D8B}" type="datetimeFigureOut">
              <a:rPr lang="en-IN" smtClean="0"/>
              <a:t>18-12-2024</a:t>
            </a:fld>
            <a:endParaRPr lang="en-IN"/>
          </a:p>
        </p:txBody>
      </p:sp>
      <p:sp>
        <p:nvSpPr>
          <p:cNvPr id="6" name="Footer Placeholder 5">
            <a:extLst>
              <a:ext uri="{FF2B5EF4-FFF2-40B4-BE49-F238E27FC236}">
                <a16:creationId xmlns:a16="http://schemas.microsoft.com/office/drawing/2014/main" id="{6999D3C5-E981-CDE6-0FD0-2BBD20ED4F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EA6788-BCD1-A8D6-C07C-A4B2A22DF197}"/>
              </a:ext>
            </a:extLst>
          </p:cNvPr>
          <p:cNvSpPr>
            <a:spLocks noGrp="1"/>
          </p:cNvSpPr>
          <p:nvPr>
            <p:ph type="sldNum" sz="quarter" idx="12"/>
          </p:nvPr>
        </p:nvSpPr>
        <p:spPr/>
        <p:txBody>
          <a:bodyPr/>
          <a:lstStyle/>
          <a:p>
            <a:fld id="{800382B9-3682-43B8-B75A-12E2AC3885AE}" type="slidenum">
              <a:rPr lang="en-IN" smtClean="0"/>
              <a:t>‹#›</a:t>
            </a:fld>
            <a:endParaRPr lang="en-IN"/>
          </a:p>
        </p:txBody>
      </p:sp>
    </p:spTree>
    <p:extLst>
      <p:ext uri="{BB962C8B-B14F-4D97-AF65-F5344CB8AC3E}">
        <p14:creationId xmlns:p14="http://schemas.microsoft.com/office/powerpoint/2010/main" val="4072165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E85C5-7C9C-5F50-2C0C-9031057EDF6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7DE57A6-20B2-07D0-E449-676CBBB60A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DCB6E9-B06A-E9C4-3FE3-6D56CE74E5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60ADBAA-1B05-ED2A-588E-614F047316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2C036F-366B-2266-EE9A-BFB2072F24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61956AA-4B2B-3E43-8E89-DC5728E8502C}"/>
              </a:ext>
            </a:extLst>
          </p:cNvPr>
          <p:cNvSpPr>
            <a:spLocks noGrp="1"/>
          </p:cNvSpPr>
          <p:nvPr>
            <p:ph type="dt" sz="half" idx="10"/>
          </p:nvPr>
        </p:nvSpPr>
        <p:spPr/>
        <p:txBody>
          <a:bodyPr/>
          <a:lstStyle/>
          <a:p>
            <a:fld id="{49B06E8C-D94D-4717-A5A6-0A841E3F4D8B}" type="datetimeFigureOut">
              <a:rPr lang="en-IN" smtClean="0"/>
              <a:t>18-12-2024</a:t>
            </a:fld>
            <a:endParaRPr lang="en-IN"/>
          </a:p>
        </p:txBody>
      </p:sp>
      <p:sp>
        <p:nvSpPr>
          <p:cNvPr id="8" name="Footer Placeholder 7">
            <a:extLst>
              <a:ext uri="{FF2B5EF4-FFF2-40B4-BE49-F238E27FC236}">
                <a16:creationId xmlns:a16="http://schemas.microsoft.com/office/drawing/2014/main" id="{FB6D93EF-E3FD-AD2A-B9FD-4D3C5692722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10D0103-D6A7-DE4C-E876-BE13594150E4}"/>
              </a:ext>
            </a:extLst>
          </p:cNvPr>
          <p:cNvSpPr>
            <a:spLocks noGrp="1"/>
          </p:cNvSpPr>
          <p:nvPr>
            <p:ph type="sldNum" sz="quarter" idx="12"/>
          </p:nvPr>
        </p:nvSpPr>
        <p:spPr/>
        <p:txBody>
          <a:bodyPr/>
          <a:lstStyle/>
          <a:p>
            <a:fld id="{800382B9-3682-43B8-B75A-12E2AC3885AE}" type="slidenum">
              <a:rPr lang="en-IN" smtClean="0"/>
              <a:t>‹#›</a:t>
            </a:fld>
            <a:endParaRPr lang="en-IN"/>
          </a:p>
        </p:txBody>
      </p:sp>
    </p:spTree>
    <p:extLst>
      <p:ext uri="{BB962C8B-B14F-4D97-AF65-F5344CB8AC3E}">
        <p14:creationId xmlns:p14="http://schemas.microsoft.com/office/powerpoint/2010/main" val="2790417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C1C5D-CADF-579F-03CD-687DA74986C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B04C5E1-BA01-766F-7A66-1AFC0566253B}"/>
              </a:ext>
            </a:extLst>
          </p:cNvPr>
          <p:cNvSpPr>
            <a:spLocks noGrp="1"/>
          </p:cNvSpPr>
          <p:nvPr>
            <p:ph type="dt" sz="half" idx="10"/>
          </p:nvPr>
        </p:nvSpPr>
        <p:spPr/>
        <p:txBody>
          <a:bodyPr/>
          <a:lstStyle/>
          <a:p>
            <a:fld id="{49B06E8C-D94D-4717-A5A6-0A841E3F4D8B}" type="datetimeFigureOut">
              <a:rPr lang="en-IN" smtClean="0"/>
              <a:t>18-12-2024</a:t>
            </a:fld>
            <a:endParaRPr lang="en-IN"/>
          </a:p>
        </p:txBody>
      </p:sp>
      <p:sp>
        <p:nvSpPr>
          <p:cNvPr id="4" name="Footer Placeholder 3">
            <a:extLst>
              <a:ext uri="{FF2B5EF4-FFF2-40B4-BE49-F238E27FC236}">
                <a16:creationId xmlns:a16="http://schemas.microsoft.com/office/drawing/2014/main" id="{60E4BFDE-5F0D-3E69-427C-844DD97D1A3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87AADBF-1640-E1B9-DD88-929F19F91CC7}"/>
              </a:ext>
            </a:extLst>
          </p:cNvPr>
          <p:cNvSpPr>
            <a:spLocks noGrp="1"/>
          </p:cNvSpPr>
          <p:nvPr>
            <p:ph type="sldNum" sz="quarter" idx="12"/>
          </p:nvPr>
        </p:nvSpPr>
        <p:spPr/>
        <p:txBody>
          <a:bodyPr/>
          <a:lstStyle/>
          <a:p>
            <a:fld id="{800382B9-3682-43B8-B75A-12E2AC3885AE}" type="slidenum">
              <a:rPr lang="en-IN" smtClean="0"/>
              <a:t>‹#›</a:t>
            </a:fld>
            <a:endParaRPr lang="en-IN"/>
          </a:p>
        </p:txBody>
      </p:sp>
    </p:spTree>
    <p:extLst>
      <p:ext uri="{BB962C8B-B14F-4D97-AF65-F5344CB8AC3E}">
        <p14:creationId xmlns:p14="http://schemas.microsoft.com/office/powerpoint/2010/main" val="1135523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6662A4-A400-B1DA-4551-1769B7C4FD08}"/>
              </a:ext>
            </a:extLst>
          </p:cNvPr>
          <p:cNvSpPr>
            <a:spLocks noGrp="1"/>
          </p:cNvSpPr>
          <p:nvPr>
            <p:ph type="dt" sz="half" idx="10"/>
          </p:nvPr>
        </p:nvSpPr>
        <p:spPr/>
        <p:txBody>
          <a:bodyPr/>
          <a:lstStyle/>
          <a:p>
            <a:fld id="{49B06E8C-D94D-4717-A5A6-0A841E3F4D8B}" type="datetimeFigureOut">
              <a:rPr lang="en-IN" smtClean="0"/>
              <a:t>18-12-2024</a:t>
            </a:fld>
            <a:endParaRPr lang="en-IN"/>
          </a:p>
        </p:txBody>
      </p:sp>
      <p:sp>
        <p:nvSpPr>
          <p:cNvPr id="3" name="Footer Placeholder 2">
            <a:extLst>
              <a:ext uri="{FF2B5EF4-FFF2-40B4-BE49-F238E27FC236}">
                <a16:creationId xmlns:a16="http://schemas.microsoft.com/office/drawing/2014/main" id="{4FBF31F7-4F7C-912B-0982-94E112B5251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4F39E9E-B3CA-5275-D6B0-81479E7E1C02}"/>
              </a:ext>
            </a:extLst>
          </p:cNvPr>
          <p:cNvSpPr>
            <a:spLocks noGrp="1"/>
          </p:cNvSpPr>
          <p:nvPr>
            <p:ph type="sldNum" sz="quarter" idx="12"/>
          </p:nvPr>
        </p:nvSpPr>
        <p:spPr/>
        <p:txBody>
          <a:bodyPr/>
          <a:lstStyle/>
          <a:p>
            <a:fld id="{800382B9-3682-43B8-B75A-12E2AC3885AE}" type="slidenum">
              <a:rPr lang="en-IN" smtClean="0"/>
              <a:t>‹#›</a:t>
            </a:fld>
            <a:endParaRPr lang="en-IN"/>
          </a:p>
        </p:txBody>
      </p:sp>
    </p:spTree>
    <p:extLst>
      <p:ext uri="{BB962C8B-B14F-4D97-AF65-F5344CB8AC3E}">
        <p14:creationId xmlns:p14="http://schemas.microsoft.com/office/powerpoint/2010/main" val="3682826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30C1C-FF77-A1D0-1E9E-AD2486AA67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2C1BC17-8676-0B9F-C9B0-4488348081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B6B5104-B510-D1AC-79CF-6197C7D01C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432927-6C69-CAAE-9B3D-23C75D362003}"/>
              </a:ext>
            </a:extLst>
          </p:cNvPr>
          <p:cNvSpPr>
            <a:spLocks noGrp="1"/>
          </p:cNvSpPr>
          <p:nvPr>
            <p:ph type="dt" sz="half" idx="10"/>
          </p:nvPr>
        </p:nvSpPr>
        <p:spPr/>
        <p:txBody>
          <a:bodyPr/>
          <a:lstStyle/>
          <a:p>
            <a:fld id="{49B06E8C-D94D-4717-A5A6-0A841E3F4D8B}" type="datetimeFigureOut">
              <a:rPr lang="en-IN" smtClean="0"/>
              <a:t>18-12-2024</a:t>
            </a:fld>
            <a:endParaRPr lang="en-IN"/>
          </a:p>
        </p:txBody>
      </p:sp>
      <p:sp>
        <p:nvSpPr>
          <p:cNvPr id="6" name="Footer Placeholder 5">
            <a:extLst>
              <a:ext uri="{FF2B5EF4-FFF2-40B4-BE49-F238E27FC236}">
                <a16:creationId xmlns:a16="http://schemas.microsoft.com/office/drawing/2014/main" id="{4E40C031-B401-EE71-D25D-6A5AC4951B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13C03A-5541-2C1E-AE71-F583B055EF38}"/>
              </a:ext>
            </a:extLst>
          </p:cNvPr>
          <p:cNvSpPr>
            <a:spLocks noGrp="1"/>
          </p:cNvSpPr>
          <p:nvPr>
            <p:ph type="sldNum" sz="quarter" idx="12"/>
          </p:nvPr>
        </p:nvSpPr>
        <p:spPr/>
        <p:txBody>
          <a:bodyPr/>
          <a:lstStyle/>
          <a:p>
            <a:fld id="{800382B9-3682-43B8-B75A-12E2AC3885AE}" type="slidenum">
              <a:rPr lang="en-IN" smtClean="0"/>
              <a:t>‹#›</a:t>
            </a:fld>
            <a:endParaRPr lang="en-IN"/>
          </a:p>
        </p:txBody>
      </p:sp>
    </p:spTree>
    <p:extLst>
      <p:ext uri="{BB962C8B-B14F-4D97-AF65-F5344CB8AC3E}">
        <p14:creationId xmlns:p14="http://schemas.microsoft.com/office/powerpoint/2010/main" val="3869202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7A1BF-3013-DEC0-F8F8-E99A3EF6E3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BC7D26D-DDC2-CA49-60AC-767B3BEEDC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33BCB3C-4574-2BD1-E083-59609434B9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AAB910-286A-ECC2-48FB-DAA72371D8C9}"/>
              </a:ext>
            </a:extLst>
          </p:cNvPr>
          <p:cNvSpPr>
            <a:spLocks noGrp="1"/>
          </p:cNvSpPr>
          <p:nvPr>
            <p:ph type="dt" sz="half" idx="10"/>
          </p:nvPr>
        </p:nvSpPr>
        <p:spPr/>
        <p:txBody>
          <a:bodyPr/>
          <a:lstStyle/>
          <a:p>
            <a:fld id="{49B06E8C-D94D-4717-A5A6-0A841E3F4D8B}" type="datetimeFigureOut">
              <a:rPr lang="en-IN" smtClean="0"/>
              <a:t>18-12-2024</a:t>
            </a:fld>
            <a:endParaRPr lang="en-IN"/>
          </a:p>
        </p:txBody>
      </p:sp>
      <p:sp>
        <p:nvSpPr>
          <p:cNvPr id="6" name="Footer Placeholder 5">
            <a:extLst>
              <a:ext uri="{FF2B5EF4-FFF2-40B4-BE49-F238E27FC236}">
                <a16:creationId xmlns:a16="http://schemas.microsoft.com/office/drawing/2014/main" id="{B494C161-9B6B-38B0-589F-8F3754DBEA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83A6DB-754B-7767-EFC1-1E51048960CF}"/>
              </a:ext>
            </a:extLst>
          </p:cNvPr>
          <p:cNvSpPr>
            <a:spLocks noGrp="1"/>
          </p:cNvSpPr>
          <p:nvPr>
            <p:ph type="sldNum" sz="quarter" idx="12"/>
          </p:nvPr>
        </p:nvSpPr>
        <p:spPr/>
        <p:txBody>
          <a:bodyPr/>
          <a:lstStyle/>
          <a:p>
            <a:fld id="{800382B9-3682-43B8-B75A-12E2AC3885AE}" type="slidenum">
              <a:rPr lang="en-IN" smtClean="0"/>
              <a:t>‹#›</a:t>
            </a:fld>
            <a:endParaRPr lang="en-IN"/>
          </a:p>
        </p:txBody>
      </p:sp>
    </p:spTree>
    <p:extLst>
      <p:ext uri="{BB962C8B-B14F-4D97-AF65-F5344CB8AC3E}">
        <p14:creationId xmlns:p14="http://schemas.microsoft.com/office/powerpoint/2010/main" val="4475459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B7897-B28F-EEED-B6EA-A84C29642F9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E2B9D54-E733-0394-C865-423BFF0313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B897D2-F0A9-DA1D-9F31-A082B3A8D005}"/>
              </a:ext>
            </a:extLst>
          </p:cNvPr>
          <p:cNvSpPr>
            <a:spLocks noGrp="1"/>
          </p:cNvSpPr>
          <p:nvPr>
            <p:ph type="dt" sz="half" idx="10"/>
          </p:nvPr>
        </p:nvSpPr>
        <p:spPr/>
        <p:txBody>
          <a:bodyPr/>
          <a:lstStyle/>
          <a:p>
            <a:fld id="{49B06E8C-D94D-4717-A5A6-0A841E3F4D8B}" type="datetimeFigureOut">
              <a:rPr lang="en-IN" smtClean="0"/>
              <a:t>18-12-2024</a:t>
            </a:fld>
            <a:endParaRPr lang="en-IN"/>
          </a:p>
        </p:txBody>
      </p:sp>
      <p:sp>
        <p:nvSpPr>
          <p:cNvPr id="5" name="Footer Placeholder 4">
            <a:extLst>
              <a:ext uri="{FF2B5EF4-FFF2-40B4-BE49-F238E27FC236}">
                <a16:creationId xmlns:a16="http://schemas.microsoft.com/office/drawing/2014/main" id="{AFB24254-0A66-9CC6-A1DF-9590BC3756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14A262-95F6-3DAC-C4BD-9286E42635EC}"/>
              </a:ext>
            </a:extLst>
          </p:cNvPr>
          <p:cNvSpPr>
            <a:spLocks noGrp="1"/>
          </p:cNvSpPr>
          <p:nvPr>
            <p:ph type="sldNum" sz="quarter" idx="12"/>
          </p:nvPr>
        </p:nvSpPr>
        <p:spPr/>
        <p:txBody>
          <a:bodyPr/>
          <a:lstStyle/>
          <a:p>
            <a:fld id="{800382B9-3682-43B8-B75A-12E2AC3885AE}" type="slidenum">
              <a:rPr lang="en-IN" smtClean="0"/>
              <a:t>‹#›</a:t>
            </a:fld>
            <a:endParaRPr lang="en-IN"/>
          </a:p>
        </p:txBody>
      </p:sp>
    </p:spTree>
    <p:extLst>
      <p:ext uri="{BB962C8B-B14F-4D97-AF65-F5344CB8AC3E}">
        <p14:creationId xmlns:p14="http://schemas.microsoft.com/office/powerpoint/2010/main" val="3851916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CEAFF6-1964-4E30-4DF9-2E59572ACD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E20D8C4-8276-BB91-2D2E-D8E6E73FC7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AC274C-8426-0B1F-FB99-F2971BFC2A35}"/>
              </a:ext>
            </a:extLst>
          </p:cNvPr>
          <p:cNvSpPr>
            <a:spLocks noGrp="1"/>
          </p:cNvSpPr>
          <p:nvPr>
            <p:ph type="dt" sz="half" idx="10"/>
          </p:nvPr>
        </p:nvSpPr>
        <p:spPr/>
        <p:txBody>
          <a:bodyPr/>
          <a:lstStyle/>
          <a:p>
            <a:fld id="{49B06E8C-D94D-4717-A5A6-0A841E3F4D8B}" type="datetimeFigureOut">
              <a:rPr lang="en-IN" smtClean="0"/>
              <a:t>18-12-2024</a:t>
            </a:fld>
            <a:endParaRPr lang="en-IN"/>
          </a:p>
        </p:txBody>
      </p:sp>
      <p:sp>
        <p:nvSpPr>
          <p:cNvPr id="5" name="Footer Placeholder 4">
            <a:extLst>
              <a:ext uri="{FF2B5EF4-FFF2-40B4-BE49-F238E27FC236}">
                <a16:creationId xmlns:a16="http://schemas.microsoft.com/office/drawing/2014/main" id="{5ACC0977-4D8F-E31C-E57F-4331CFFCD9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9248D5-9EFE-0C02-B63E-9EDAAE7A6B0A}"/>
              </a:ext>
            </a:extLst>
          </p:cNvPr>
          <p:cNvSpPr>
            <a:spLocks noGrp="1"/>
          </p:cNvSpPr>
          <p:nvPr>
            <p:ph type="sldNum" sz="quarter" idx="12"/>
          </p:nvPr>
        </p:nvSpPr>
        <p:spPr/>
        <p:txBody>
          <a:bodyPr/>
          <a:lstStyle/>
          <a:p>
            <a:fld id="{800382B9-3682-43B8-B75A-12E2AC3885AE}" type="slidenum">
              <a:rPr lang="en-IN" smtClean="0"/>
              <a:t>‹#›</a:t>
            </a:fld>
            <a:endParaRPr lang="en-IN"/>
          </a:p>
        </p:txBody>
      </p:sp>
    </p:spTree>
    <p:extLst>
      <p:ext uri="{BB962C8B-B14F-4D97-AF65-F5344CB8AC3E}">
        <p14:creationId xmlns:p14="http://schemas.microsoft.com/office/powerpoint/2010/main" val="4255332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A936C1-48B2-9469-4BAF-EC65B20596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BB2B5D3-4F5B-E01F-4D6E-AAFE8285EB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839FF3-8597-EB06-7D56-193BAB614B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B06E8C-D94D-4717-A5A6-0A841E3F4D8B}" type="datetimeFigureOut">
              <a:rPr lang="en-IN" smtClean="0"/>
              <a:t>18-12-2024</a:t>
            </a:fld>
            <a:endParaRPr lang="en-IN"/>
          </a:p>
        </p:txBody>
      </p:sp>
      <p:sp>
        <p:nvSpPr>
          <p:cNvPr id="5" name="Footer Placeholder 4">
            <a:extLst>
              <a:ext uri="{FF2B5EF4-FFF2-40B4-BE49-F238E27FC236}">
                <a16:creationId xmlns:a16="http://schemas.microsoft.com/office/drawing/2014/main" id="{787144B4-FE92-7BC7-15B4-07EE0947D9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D39D70D-D909-07C8-41B3-8A9286CF3C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0382B9-3682-43B8-B75A-12E2AC3885AE}" type="slidenum">
              <a:rPr lang="en-IN" smtClean="0"/>
              <a:t>‹#›</a:t>
            </a:fld>
            <a:endParaRPr lang="en-IN"/>
          </a:p>
        </p:txBody>
      </p:sp>
    </p:spTree>
    <p:extLst>
      <p:ext uri="{BB962C8B-B14F-4D97-AF65-F5344CB8AC3E}">
        <p14:creationId xmlns:p14="http://schemas.microsoft.com/office/powerpoint/2010/main" val="14633486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6BE12-BD29-6921-D002-2577EB621389}"/>
              </a:ext>
            </a:extLst>
          </p:cNvPr>
          <p:cNvSpPr>
            <a:spLocks noGrp="1"/>
          </p:cNvSpPr>
          <p:nvPr>
            <p:ph type="ctrTitle"/>
          </p:nvPr>
        </p:nvSpPr>
        <p:spPr/>
        <p:txBody>
          <a:bodyPr/>
          <a:lstStyle/>
          <a:p>
            <a:r>
              <a:rPr lang="en-IN" dirty="0"/>
              <a:t>Module 1</a:t>
            </a:r>
            <a:br>
              <a:rPr lang="en-IN" dirty="0"/>
            </a:br>
            <a:r>
              <a:rPr lang="en-IN" dirty="0"/>
              <a:t>Process Model</a:t>
            </a:r>
          </a:p>
        </p:txBody>
      </p:sp>
      <p:sp>
        <p:nvSpPr>
          <p:cNvPr id="3" name="Subtitle 2">
            <a:extLst>
              <a:ext uri="{FF2B5EF4-FFF2-40B4-BE49-F238E27FC236}">
                <a16:creationId xmlns:a16="http://schemas.microsoft.com/office/drawing/2014/main" id="{61F72FC9-8FD3-557A-01A5-118BEAA769CC}"/>
              </a:ext>
            </a:extLst>
          </p:cNvPr>
          <p:cNvSpPr>
            <a:spLocks noGrp="1"/>
          </p:cNvSpPr>
          <p:nvPr>
            <p:ph type="subTitle" idx="1"/>
          </p:nvPr>
        </p:nvSpPr>
        <p:spPr/>
        <p:txBody>
          <a:bodyPr/>
          <a:lstStyle/>
          <a:p>
            <a:r>
              <a:rPr lang="en-IN" sz="1800" b="1" i="0" u="none" strike="noStrike" baseline="0" dirty="0">
                <a:latin typeface="Futura-Bold" pitchFamily="2" charset="0"/>
              </a:rPr>
              <a:t>Roger S. Pressman</a:t>
            </a:r>
          </a:p>
          <a:p>
            <a:r>
              <a:rPr lang="en-IN" dirty="0"/>
              <a:t>Chapter 2</a:t>
            </a:r>
          </a:p>
        </p:txBody>
      </p:sp>
    </p:spTree>
    <p:extLst>
      <p:ext uri="{BB962C8B-B14F-4D97-AF65-F5344CB8AC3E}">
        <p14:creationId xmlns:p14="http://schemas.microsoft.com/office/powerpoint/2010/main" val="745080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BD228-DDCE-4951-611F-5CA7B2E1849F}"/>
              </a:ext>
            </a:extLst>
          </p:cNvPr>
          <p:cNvSpPr>
            <a:spLocks noGrp="1"/>
          </p:cNvSpPr>
          <p:nvPr>
            <p:ph type="title"/>
          </p:nvPr>
        </p:nvSpPr>
        <p:spPr>
          <a:xfrm>
            <a:off x="838200" y="365125"/>
            <a:ext cx="10515600" cy="864961"/>
          </a:xfrm>
        </p:spPr>
        <p:txBody>
          <a:bodyPr/>
          <a:lstStyle/>
          <a:p>
            <a:r>
              <a:rPr lang="en-IN" dirty="0"/>
              <a:t>Process Model</a:t>
            </a:r>
          </a:p>
        </p:txBody>
      </p:sp>
      <p:sp>
        <p:nvSpPr>
          <p:cNvPr id="3" name="Content Placeholder 2">
            <a:extLst>
              <a:ext uri="{FF2B5EF4-FFF2-40B4-BE49-F238E27FC236}">
                <a16:creationId xmlns:a16="http://schemas.microsoft.com/office/drawing/2014/main" id="{250DFDB1-8E07-DA60-E1C8-0DC916F01BA8}"/>
              </a:ext>
            </a:extLst>
          </p:cNvPr>
          <p:cNvSpPr>
            <a:spLocks noGrp="1"/>
          </p:cNvSpPr>
          <p:nvPr>
            <p:ph idx="1"/>
          </p:nvPr>
        </p:nvSpPr>
        <p:spPr>
          <a:xfrm>
            <a:off x="838200" y="1230086"/>
            <a:ext cx="10515600" cy="4946877"/>
          </a:xfrm>
        </p:spPr>
        <p:txBody>
          <a:bodyPr>
            <a:normAutofit lnSpcReduction="10000"/>
          </a:bodyPr>
          <a:lstStyle/>
          <a:p>
            <a:pPr algn="l"/>
            <a:r>
              <a:rPr lang="en-US" sz="1800" b="0" i="0" u="none" strike="noStrike" baseline="0" dirty="0">
                <a:latin typeface="Leawood-Book"/>
              </a:rPr>
              <a:t>a process was defined as a collection of work activities, actions, and tasks that are performed when some work product is to be created. </a:t>
            </a:r>
          </a:p>
          <a:p>
            <a:pPr algn="l"/>
            <a:r>
              <a:rPr lang="en-US" sz="1800" b="0" i="0" u="none" strike="noStrike" baseline="0" dirty="0">
                <a:latin typeface="Leawood-Book"/>
              </a:rPr>
              <a:t>Each of these activities, actions, and tasks reside within a framework or model that defines their</a:t>
            </a:r>
            <a:r>
              <a:rPr lang="en-US" sz="1800" dirty="0">
                <a:latin typeface="Leawood-Book"/>
              </a:rPr>
              <a:t> </a:t>
            </a:r>
            <a:r>
              <a:rPr lang="en-US" sz="1800" b="0" i="0" u="none" strike="noStrike" baseline="0" dirty="0">
                <a:latin typeface="Leawood-Book"/>
              </a:rPr>
              <a:t>relationship with the process and with one another</a:t>
            </a:r>
          </a:p>
          <a:p>
            <a:pPr algn="l"/>
            <a:r>
              <a:rPr lang="en-US" sz="1800" b="0" i="0" u="none" strike="noStrike" baseline="0" dirty="0">
                <a:latin typeface="Leawood-Book"/>
              </a:rPr>
              <a:t>generic process framework for software engineering defines five framework activities—</a:t>
            </a:r>
            <a:r>
              <a:rPr lang="en-US" sz="1800" b="1" i="0" u="none" strike="noStrike" baseline="0" dirty="0">
                <a:solidFill>
                  <a:srgbClr val="FF0000"/>
                </a:solidFill>
                <a:latin typeface="Leawood-Bold"/>
              </a:rPr>
              <a:t>communication, planning, modeling, construction, </a:t>
            </a:r>
            <a:r>
              <a:rPr lang="en-US" sz="1800" b="0" i="0" u="none" strike="noStrike" baseline="0" dirty="0">
                <a:solidFill>
                  <a:srgbClr val="FF0000"/>
                </a:solidFill>
                <a:latin typeface="Leawood-Book"/>
              </a:rPr>
              <a:t>and </a:t>
            </a:r>
            <a:r>
              <a:rPr lang="en-US" sz="1800" b="1" i="0" u="none" strike="noStrike" baseline="0" dirty="0">
                <a:solidFill>
                  <a:srgbClr val="FF0000"/>
                </a:solidFill>
                <a:latin typeface="Leawood-Bold"/>
              </a:rPr>
              <a:t>deployment</a:t>
            </a:r>
            <a:r>
              <a:rPr lang="en-US" sz="1800" b="1" i="0" u="none" strike="noStrike" baseline="0" dirty="0">
                <a:latin typeface="Leawood-Bold"/>
              </a:rPr>
              <a:t>. </a:t>
            </a:r>
            <a:r>
              <a:rPr lang="en-US" sz="1800" b="0" i="0" u="none" strike="noStrike" baseline="0" dirty="0">
                <a:latin typeface="Leawood-Book"/>
              </a:rPr>
              <a:t>In addition, a set of umbrella activities—</a:t>
            </a:r>
            <a:r>
              <a:rPr lang="en-US" sz="1800" b="1" i="0" u="none" strike="noStrike" baseline="0" dirty="0">
                <a:solidFill>
                  <a:srgbClr val="FF0000"/>
                </a:solidFill>
                <a:latin typeface="Leawood-Book"/>
              </a:rPr>
              <a:t>project tracking and control, risk management, quality assurance, configuration management, </a:t>
            </a:r>
            <a:r>
              <a:rPr lang="en-IN" sz="1800" b="1" i="0" u="none" strike="noStrike" baseline="0" dirty="0">
                <a:solidFill>
                  <a:srgbClr val="FF0000"/>
                </a:solidFill>
                <a:latin typeface="Leawood-Book"/>
              </a:rPr>
              <a:t>technical reviews</a:t>
            </a:r>
            <a:r>
              <a:rPr lang="en-IN" sz="1800" b="0" i="0" u="none" strike="noStrike" baseline="0" dirty="0">
                <a:latin typeface="Leawood-Book"/>
              </a:rPr>
              <a:t>, and others</a:t>
            </a:r>
          </a:p>
          <a:p>
            <a:pPr algn="l"/>
            <a:r>
              <a:rPr lang="en-IN" sz="1800" dirty="0">
                <a:latin typeface="Leawood-Book"/>
              </a:rPr>
              <a:t>Types:</a:t>
            </a:r>
          </a:p>
          <a:p>
            <a:pPr marL="342900" indent="-342900" algn="l">
              <a:buFont typeface="+mj-lt"/>
              <a:buAutoNum type="arabicPeriod"/>
            </a:pPr>
            <a:r>
              <a:rPr lang="en-US" sz="1800" b="0" i="0" u="none" strike="noStrike" baseline="0" dirty="0">
                <a:latin typeface="Leawood-Book"/>
              </a:rPr>
              <a:t>A </a:t>
            </a:r>
            <a:r>
              <a:rPr lang="en-US" sz="1800" b="0" i="1" u="none" strike="noStrike" baseline="0" dirty="0">
                <a:solidFill>
                  <a:srgbClr val="FF0000"/>
                </a:solidFill>
                <a:latin typeface="Leawood-BookItalic"/>
              </a:rPr>
              <a:t>linear process flow </a:t>
            </a:r>
            <a:r>
              <a:rPr lang="en-US" sz="1800" b="0" i="0" u="none" strike="noStrike" baseline="0" dirty="0">
                <a:latin typeface="Leawood-Book"/>
              </a:rPr>
              <a:t>executes each of the five framework activities in sequence, beginning with communication and culminating with deployment (Figure 2.2a). </a:t>
            </a:r>
          </a:p>
          <a:p>
            <a:pPr marL="342900" indent="-342900" algn="l">
              <a:buFont typeface="+mj-lt"/>
              <a:buAutoNum type="arabicPeriod"/>
            </a:pPr>
            <a:r>
              <a:rPr lang="en-US" sz="1800" b="0" i="0" u="none" strike="noStrike" baseline="0" dirty="0">
                <a:latin typeface="Leawood-Book"/>
              </a:rPr>
              <a:t>An</a:t>
            </a:r>
            <a:r>
              <a:rPr lang="en-US" sz="1800" dirty="0">
                <a:latin typeface="Leawood-Book"/>
              </a:rPr>
              <a:t> </a:t>
            </a:r>
            <a:r>
              <a:rPr lang="en-US" sz="1800" b="0" i="1" u="none" strike="noStrike" baseline="0" dirty="0">
                <a:solidFill>
                  <a:srgbClr val="FF0000"/>
                </a:solidFill>
                <a:latin typeface="Leawood-BookItalic"/>
              </a:rPr>
              <a:t>iterative process flow </a:t>
            </a:r>
            <a:r>
              <a:rPr lang="en-US" sz="1800" b="0" i="0" u="none" strike="noStrike" baseline="0" dirty="0">
                <a:latin typeface="Leawood-Book"/>
              </a:rPr>
              <a:t>repeats one or more of the activities before proceeding to the next (Figure 2.2b). </a:t>
            </a:r>
          </a:p>
          <a:p>
            <a:pPr marL="342900" indent="-342900" algn="l">
              <a:buFont typeface="+mj-lt"/>
              <a:buAutoNum type="arabicPeriod"/>
            </a:pPr>
            <a:r>
              <a:rPr lang="en-US" sz="1800" b="0" i="0" u="none" strike="noStrike" baseline="0" dirty="0">
                <a:latin typeface="Leawood-Book"/>
              </a:rPr>
              <a:t>An </a:t>
            </a:r>
            <a:r>
              <a:rPr lang="en-US" sz="1800" b="0" i="1" u="none" strike="noStrike" baseline="0" dirty="0">
                <a:solidFill>
                  <a:srgbClr val="FF0000"/>
                </a:solidFill>
                <a:latin typeface="Leawood-BookItalic"/>
              </a:rPr>
              <a:t>evolutionary process flow </a:t>
            </a:r>
            <a:r>
              <a:rPr lang="en-US" sz="1800" b="0" i="0" u="none" strike="noStrike" baseline="0" dirty="0">
                <a:latin typeface="Leawood-Book"/>
              </a:rPr>
              <a:t>executes the activities in a </a:t>
            </a:r>
            <a:r>
              <a:rPr lang="en-US" sz="1800" b="0" i="0" u="none" strike="noStrike" baseline="0" dirty="0">
                <a:solidFill>
                  <a:srgbClr val="FF0000"/>
                </a:solidFill>
                <a:latin typeface="Leawood-Book"/>
              </a:rPr>
              <a:t>“circular</a:t>
            </a:r>
            <a:r>
              <a:rPr lang="en-US" sz="1800" b="0" i="0" u="none" strike="noStrike" baseline="0" dirty="0">
                <a:latin typeface="Leawood-Book"/>
              </a:rPr>
              <a:t>” manner. Each circuit through the five activities leads to a more complete version of the software (Figure 2.2c). </a:t>
            </a:r>
          </a:p>
          <a:p>
            <a:pPr marL="342900" indent="-342900" algn="l">
              <a:buFont typeface="+mj-lt"/>
              <a:buAutoNum type="arabicPeriod"/>
            </a:pPr>
            <a:r>
              <a:rPr lang="en-US" sz="1800" b="0" i="0" u="none" strike="noStrike" baseline="0" dirty="0">
                <a:latin typeface="Leawood-Book"/>
              </a:rPr>
              <a:t>A </a:t>
            </a:r>
            <a:r>
              <a:rPr lang="en-US" sz="1800" b="0" i="1" u="none" strike="noStrike" baseline="0" dirty="0">
                <a:solidFill>
                  <a:srgbClr val="FF0000"/>
                </a:solidFill>
                <a:latin typeface="Leawood-BookItalic"/>
              </a:rPr>
              <a:t>parallel process flow </a:t>
            </a:r>
            <a:r>
              <a:rPr lang="en-US" sz="1800" b="0" i="0" u="none" strike="noStrike" baseline="0" dirty="0">
                <a:latin typeface="Leawood-Book"/>
              </a:rPr>
              <a:t>(Figure 2.2d) executes one or more activities in parallel with other activities (e.g., modeling for one aspect of the software might be executed in parallel with construction of another aspect of the </a:t>
            </a:r>
            <a:r>
              <a:rPr lang="en-IN" sz="1800" b="0" i="0" u="none" strike="noStrike" baseline="0" dirty="0">
                <a:latin typeface="Leawood-Book"/>
              </a:rPr>
              <a:t>software).</a:t>
            </a:r>
            <a:endParaRPr lang="en-IN" dirty="0"/>
          </a:p>
        </p:txBody>
      </p:sp>
    </p:spTree>
    <p:extLst>
      <p:ext uri="{BB962C8B-B14F-4D97-AF65-F5344CB8AC3E}">
        <p14:creationId xmlns:p14="http://schemas.microsoft.com/office/powerpoint/2010/main" val="2041929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CF5AD4F-DA8E-B4C8-2B71-464E61767407}"/>
              </a:ext>
            </a:extLst>
          </p:cNvPr>
          <p:cNvPicPr>
            <a:picLocks noGrp="1" noChangeAspect="1"/>
          </p:cNvPicPr>
          <p:nvPr>
            <p:ph idx="1"/>
          </p:nvPr>
        </p:nvPicPr>
        <p:blipFill>
          <a:blip r:embed="rId2"/>
          <a:stretch>
            <a:fillRect/>
          </a:stretch>
        </p:blipFill>
        <p:spPr>
          <a:xfrm>
            <a:off x="772885" y="195943"/>
            <a:ext cx="11157857" cy="6553200"/>
          </a:xfrm>
        </p:spPr>
      </p:pic>
    </p:spTree>
    <p:extLst>
      <p:ext uri="{BB962C8B-B14F-4D97-AF65-F5344CB8AC3E}">
        <p14:creationId xmlns:p14="http://schemas.microsoft.com/office/powerpoint/2010/main" val="2214983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89159-799B-ACAF-DB84-EB86FBD6DA9B}"/>
              </a:ext>
            </a:extLst>
          </p:cNvPr>
          <p:cNvSpPr>
            <a:spLocks noGrp="1"/>
          </p:cNvSpPr>
          <p:nvPr>
            <p:ph type="title"/>
          </p:nvPr>
        </p:nvSpPr>
        <p:spPr/>
        <p:txBody>
          <a:bodyPr/>
          <a:lstStyle/>
          <a:p>
            <a:r>
              <a:rPr lang="en-IN" b="1" dirty="0"/>
              <a:t>1. Waterfall model</a:t>
            </a:r>
          </a:p>
        </p:txBody>
      </p:sp>
      <p:sp>
        <p:nvSpPr>
          <p:cNvPr id="3" name="Content Placeholder 2">
            <a:extLst>
              <a:ext uri="{FF2B5EF4-FFF2-40B4-BE49-F238E27FC236}">
                <a16:creationId xmlns:a16="http://schemas.microsoft.com/office/drawing/2014/main" id="{A9E2702F-E98B-4A32-F441-AA0ECF158C8B}"/>
              </a:ext>
            </a:extLst>
          </p:cNvPr>
          <p:cNvSpPr>
            <a:spLocks noGrp="1"/>
          </p:cNvSpPr>
          <p:nvPr>
            <p:ph idx="1"/>
          </p:nvPr>
        </p:nvSpPr>
        <p:spPr>
          <a:xfrm>
            <a:off x="838200" y="1524000"/>
            <a:ext cx="10515600" cy="4652963"/>
          </a:xfrm>
        </p:spPr>
        <p:txBody>
          <a:bodyPr>
            <a:normAutofit/>
          </a:bodyPr>
          <a:lstStyle/>
          <a:p>
            <a:pPr algn="l"/>
            <a:r>
              <a:rPr lang="en-US" sz="1800" b="0" i="0" u="none" strike="noStrike" baseline="0" dirty="0">
                <a:latin typeface="Calibri" panose="020F0502020204030204" pitchFamily="34" charset="0"/>
              </a:rPr>
              <a:t>Developed in the 1970s by Winston W. Royce.</a:t>
            </a:r>
          </a:p>
          <a:p>
            <a:pPr algn="l"/>
            <a:r>
              <a:rPr lang="en-US" sz="1800" dirty="0">
                <a:latin typeface="ArialMT"/>
              </a:rPr>
              <a:t>I</a:t>
            </a:r>
            <a:r>
              <a:rPr lang="en-US" sz="1800" b="0" i="0" u="none" strike="noStrike" baseline="0" dirty="0">
                <a:latin typeface="Calibri" panose="020F0502020204030204" pitchFamily="34" charset="0"/>
              </a:rPr>
              <a:t>nspired by manufacturing and construction processes, where each step relies on the completion of the previous one.</a:t>
            </a:r>
          </a:p>
          <a:p>
            <a:pPr algn="l"/>
            <a:r>
              <a:rPr lang="en-US" sz="1800" b="0" i="0" u="none" strike="noStrike" baseline="0" dirty="0">
                <a:latin typeface="Calibri" panose="020F0502020204030204" pitchFamily="34" charset="0"/>
              </a:rPr>
              <a:t>It is a simplest SDLC in which phases are </a:t>
            </a:r>
            <a:r>
              <a:rPr lang="en-US" sz="1800" b="0" i="0" u="none" strike="noStrike" baseline="0" dirty="0" err="1">
                <a:latin typeface="Calibri" panose="020F0502020204030204" pitchFamily="34" charset="0"/>
              </a:rPr>
              <a:t>organised</a:t>
            </a:r>
            <a:r>
              <a:rPr lang="en-US" sz="1800" b="0" i="0" u="none" strike="noStrike" baseline="0" dirty="0">
                <a:latin typeface="Calibri" panose="020F0502020204030204" pitchFamily="34" charset="0"/>
              </a:rPr>
              <a:t> in a linear and sequential order.</a:t>
            </a:r>
          </a:p>
          <a:p>
            <a:pPr algn="l"/>
            <a:r>
              <a:rPr lang="en-US" sz="1800" b="0" i="0" u="none" strike="noStrike" baseline="0" dirty="0">
                <a:latin typeface="Calibri" panose="020F0502020204030204" pitchFamily="34" charset="0"/>
              </a:rPr>
              <a:t>It is called waterfall model as its </a:t>
            </a:r>
            <a:r>
              <a:rPr lang="en-IN" sz="1800" b="0" i="0" u="none" strike="noStrike" baseline="0" dirty="0">
                <a:latin typeface="Calibri" panose="020F0502020204030204" pitchFamily="34" charset="0"/>
              </a:rPr>
              <a:t>diagrammatic representation resembles as </a:t>
            </a:r>
            <a:r>
              <a:rPr lang="en-US" sz="1800" b="0" i="0" u="none" strike="noStrike" baseline="0" dirty="0">
                <a:latin typeface="Calibri" panose="020F0502020204030204" pitchFamily="34" charset="0"/>
              </a:rPr>
              <a:t>like a waterfall, also known as classical life </a:t>
            </a:r>
            <a:r>
              <a:rPr lang="en-IN" sz="1800" b="0" i="0" u="none" strike="noStrike" baseline="0" dirty="0">
                <a:latin typeface="Calibri" panose="020F0502020204030204" pitchFamily="34" charset="0"/>
              </a:rPr>
              <a:t>cycle model.</a:t>
            </a:r>
          </a:p>
          <a:p>
            <a:pPr algn="l"/>
            <a:r>
              <a:rPr lang="en-US" sz="1800" b="0" i="0" u="none" strike="noStrike" baseline="0" dirty="0">
                <a:latin typeface="Calibri" panose="020F0502020204030204" pitchFamily="34" charset="0"/>
              </a:rPr>
              <a:t>This type of model is basically used for the Small to medium-sized projects with clear, </a:t>
            </a:r>
            <a:r>
              <a:rPr lang="en-IN" sz="1800" b="0" i="0" u="none" strike="noStrike" baseline="0" dirty="0">
                <a:latin typeface="Calibri" panose="020F0502020204030204" pitchFamily="34" charset="0"/>
              </a:rPr>
              <a:t>well-defined requirements. When the </a:t>
            </a:r>
            <a:r>
              <a:rPr lang="en-US" sz="1800" b="0" i="0" u="none" strike="noStrike" baseline="0" dirty="0">
                <a:latin typeface="Calibri" panose="020F0502020204030204" pitchFamily="34" charset="0"/>
              </a:rPr>
              <a:t>technology and tools to be used are </a:t>
            </a:r>
            <a:r>
              <a:rPr lang="en-US" sz="1800" b="0" i="0" u="none" strike="noStrike" baseline="0" dirty="0" err="1">
                <a:latin typeface="Calibri" panose="020F0502020204030204" pitchFamily="34" charset="0"/>
              </a:rPr>
              <a:t>wellknown</a:t>
            </a:r>
            <a:r>
              <a:rPr lang="en-US" sz="1800" dirty="0">
                <a:latin typeface="Calibri" panose="020F0502020204030204" pitchFamily="34" charset="0"/>
              </a:rPr>
              <a:t> </a:t>
            </a:r>
            <a:r>
              <a:rPr lang="en-IN" sz="1800" b="0" i="0" u="none" strike="noStrike" baseline="0" dirty="0">
                <a:latin typeface="Calibri" panose="020F0502020204030204" pitchFamily="34" charset="0"/>
              </a:rPr>
              <a:t>and stable.</a:t>
            </a:r>
          </a:p>
          <a:p>
            <a:pPr marL="0" indent="0" algn="l">
              <a:buNone/>
            </a:pPr>
            <a:endParaRPr lang="en-IN" dirty="0"/>
          </a:p>
        </p:txBody>
      </p:sp>
    </p:spTree>
    <p:extLst>
      <p:ext uri="{BB962C8B-B14F-4D97-AF65-F5344CB8AC3E}">
        <p14:creationId xmlns:p14="http://schemas.microsoft.com/office/powerpoint/2010/main" val="3440970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E2614C-24E5-D2B2-59B5-42146774F3D7}"/>
              </a:ext>
            </a:extLst>
          </p:cNvPr>
          <p:cNvSpPr>
            <a:spLocks noGrp="1"/>
          </p:cNvSpPr>
          <p:nvPr>
            <p:ph idx="1"/>
          </p:nvPr>
        </p:nvSpPr>
        <p:spPr>
          <a:xfrm>
            <a:off x="838200" y="370114"/>
            <a:ext cx="10515600" cy="5806849"/>
          </a:xfrm>
        </p:spPr>
        <p:txBody>
          <a:bodyPr>
            <a:normAutofit fontScale="92500" lnSpcReduction="20000"/>
          </a:bodyPr>
          <a:lstStyle/>
          <a:p>
            <a:pPr marL="0" indent="0" algn="l">
              <a:buNone/>
            </a:pPr>
            <a:r>
              <a:rPr lang="en-IN" sz="2800" b="1" i="0" u="sng" strike="noStrike" baseline="0" dirty="0">
                <a:latin typeface="Calibri" panose="020F0502020204030204" pitchFamily="34" charset="0"/>
              </a:rPr>
              <a:t>Advantage</a:t>
            </a:r>
          </a:p>
          <a:p>
            <a:pPr algn="l"/>
            <a:r>
              <a:rPr lang="en-IN" sz="2800" b="0" i="0" u="none" strike="noStrike" baseline="0" dirty="0">
                <a:solidFill>
                  <a:srgbClr val="FF0000"/>
                </a:solidFill>
                <a:latin typeface="Calibri" panose="020F0502020204030204" pitchFamily="34" charset="0"/>
              </a:rPr>
              <a:t>Easy</a:t>
            </a:r>
            <a:r>
              <a:rPr lang="en-IN" sz="2800" b="0" i="0" u="none" strike="noStrike" baseline="0" dirty="0">
                <a:latin typeface="Calibri" panose="020F0502020204030204" pitchFamily="34" charset="0"/>
              </a:rPr>
              <a:t> to understand</a:t>
            </a:r>
          </a:p>
          <a:p>
            <a:pPr algn="l"/>
            <a:r>
              <a:rPr lang="en-US" sz="2800" b="0" i="0" u="none" strike="noStrike" baseline="0" dirty="0">
                <a:latin typeface="Calibri" panose="020F0502020204030204" pitchFamily="34" charset="0"/>
              </a:rPr>
              <a:t>Each phase has well defined input and output, </a:t>
            </a:r>
            <a:r>
              <a:rPr lang="en-US" sz="2800" b="0" i="0" u="none" strike="noStrike" baseline="0" dirty="0">
                <a:solidFill>
                  <a:srgbClr val="FF0000"/>
                </a:solidFill>
                <a:latin typeface="Calibri" panose="020F0502020204030204" pitchFamily="34" charset="0"/>
              </a:rPr>
              <a:t>phases</a:t>
            </a:r>
            <a:r>
              <a:rPr lang="en-US" sz="2800" b="0" i="0" u="none" strike="noStrike" baseline="0" dirty="0">
                <a:latin typeface="Calibri" panose="020F0502020204030204" pitchFamily="34" charset="0"/>
              </a:rPr>
              <a:t> are </a:t>
            </a:r>
            <a:r>
              <a:rPr lang="en-US" sz="2800" b="0" i="0" u="none" strike="noStrike" baseline="0" dirty="0">
                <a:solidFill>
                  <a:srgbClr val="FF0000"/>
                </a:solidFill>
                <a:latin typeface="Calibri" panose="020F0502020204030204" pitchFamily="34" charset="0"/>
              </a:rPr>
              <a:t>processed</a:t>
            </a:r>
            <a:r>
              <a:rPr lang="en-US" sz="2800" b="0" i="0" u="none" strike="noStrike" baseline="0" dirty="0">
                <a:latin typeface="Calibri" panose="020F0502020204030204" pitchFamily="34" charset="0"/>
              </a:rPr>
              <a:t> and </a:t>
            </a:r>
            <a:r>
              <a:rPr lang="en-US" sz="2800" b="0" i="0" u="none" strike="noStrike" baseline="0" dirty="0">
                <a:solidFill>
                  <a:srgbClr val="FF0000"/>
                </a:solidFill>
                <a:latin typeface="Calibri" panose="020F0502020204030204" pitchFamily="34" charset="0"/>
              </a:rPr>
              <a:t>completed one at a time</a:t>
            </a:r>
            <a:r>
              <a:rPr lang="en-US" sz="2800" b="0" i="0" u="none" strike="noStrike" baseline="0" dirty="0">
                <a:latin typeface="Calibri" panose="020F0502020204030204" pitchFamily="34" charset="0"/>
              </a:rPr>
              <a:t>. Phases do not </a:t>
            </a:r>
            <a:r>
              <a:rPr lang="en-IN" sz="2800" b="0" i="0" u="none" strike="noStrike" baseline="0" dirty="0">
                <a:solidFill>
                  <a:srgbClr val="FF0000"/>
                </a:solidFill>
                <a:latin typeface="Calibri" panose="020F0502020204030204" pitchFamily="34" charset="0"/>
              </a:rPr>
              <a:t>overlap</a:t>
            </a:r>
            <a:r>
              <a:rPr lang="en-IN" sz="2800" b="0" i="0" u="none" strike="noStrike" baseline="0" dirty="0">
                <a:latin typeface="Calibri" panose="020F0502020204030204" pitchFamily="34" charset="0"/>
              </a:rPr>
              <a:t>.</a:t>
            </a:r>
            <a:endParaRPr lang="en-IN" sz="2800" dirty="0">
              <a:latin typeface="Calibri" panose="020F0502020204030204" pitchFamily="34" charset="0"/>
            </a:endParaRPr>
          </a:p>
          <a:p>
            <a:pPr algn="l"/>
            <a:r>
              <a:rPr lang="en-US" sz="2800" b="0" i="0" u="none" strike="noStrike" baseline="0" dirty="0">
                <a:solidFill>
                  <a:srgbClr val="FF0000"/>
                </a:solidFill>
                <a:latin typeface="Calibri" panose="020F0502020204030204" pitchFamily="34" charset="0"/>
              </a:rPr>
              <a:t>Low cost</a:t>
            </a:r>
            <a:r>
              <a:rPr lang="en-US" sz="2800" b="0" i="0" u="none" strike="noStrike" baseline="0" dirty="0">
                <a:latin typeface="Calibri" panose="020F0502020204030204" pitchFamily="34" charset="0"/>
              </a:rPr>
              <a:t> and </a:t>
            </a:r>
            <a:r>
              <a:rPr lang="en-US" sz="2800" b="0" i="0" u="none" strike="noStrike" baseline="0" dirty="0">
                <a:solidFill>
                  <a:srgbClr val="FF0000"/>
                </a:solidFill>
                <a:latin typeface="Calibri" panose="020F0502020204030204" pitchFamily="34" charset="0"/>
              </a:rPr>
              <a:t>easy to schedule</a:t>
            </a:r>
            <a:r>
              <a:rPr lang="en-US" sz="2800" b="0" i="0" u="none" strike="noStrike" baseline="0" dirty="0">
                <a:latin typeface="Calibri" panose="020F0502020204030204" pitchFamily="34" charset="0"/>
              </a:rPr>
              <a:t>, as all staff do not work concurrently on the same project, so can work on different projects.</a:t>
            </a:r>
          </a:p>
          <a:p>
            <a:pPr algn="l"/>
            <a:r>
              <a:rPr lang="en-US" sz="1800" b="0" i="0" u="none" strike="noStrike" baseline="0" dirty="0">
                <a:latin typeface="Leawood-Book"/>
              </a:rPr>
              <a:t>The waterfall model is the oldest paradigm for software engineering</a:t>
            </a:r>
            <a:endParaRPr lang="en-US" sz="2800" b="0" i="0" u="none" strike="noStrike" baseline="0" dirty="0">
              <a:latin typeface="Calibri" panose="020F0502020204030204" pitchFamily="34" charset="0"/>
            </a:endParaRPr>
          </a:p>
          <a:p>
            <a:pPr marL="0" indent="0" algn="l">
              <a:buNone/>
            </a:pPr>
            <a:r>
              <a:rPr lang="en-US" b="1" u="sng" dirty="0">
                <a:latin typeface="Calibri" panose="020F0502020204030204" pitchFamily="34" charset="0"/>
              </a:rPr>
              <a:t>Disadvantage</a:t>
            </a:r>
            <a:endParaRPr lang="en-IN" sz="2800" b="1" i="0" u="sng" strike="noStrike" baseline="0" dirty="0">
              <a:latin typeface="Calibri" panose="020F0502020204030204" pitchFamily="34" charset="0"/>
            </a:endParaRPr>
          </a:p>
          <a:p>
            <a:pPr algn="l"/>
            <a:r>
              <a:rPr lang="en-US" b="0" i="0" u="none" strike="noStrike" baseline="0" dirty="0">
                <a:solidFill>
                  <a:srgbClr val="FF0000"/>
                </a:solidFill>
                <a:latin typeface="Calibri" panose="020F0502020204030204" pitchFamily="34" charset="0"/>
              </a:rPr>
              <a:t>Not suitable </a:t>
            </a:r>
            <a:r>
              <a:rPr lang="en-US" b="0" i="0" u="none" strike="noStrike" baseline="0" dirty="0">
                <a:latin typeface="Calibri" panose="020F0502020204030204" pitchFamily="34" charset="0"/>
              </a:rPr>
              <a:t>to accommodate </a:t>
            </a:r>
            <a:r>
              <a:rPr lang="en-US" b="0" i="0" u="none" strike="noStrike" baseline="0" dirty="0">
                <a:solidFill>
                  <a:srgbClr val="FF0000"/>
                </a:solidFill>
                <a:latin typeface="Calibri" panose="020F0502020204030204" pitchFamily="34" charset="0"/>
              </a:rPr>
              <a:t>any change </a:t>
            </a:r>
            <a:r>
              <a:rPr lang="en-US" b="0" i="0" u="none" strike="noStrike" baseline="0" dirty="0">
                <a:latin typeface="Calibri" panose="020F0502020204030204" pitchFamily="34" charset="0"/>
              </a:rPr>
              <a:t>or iteration once development has begun. It is always difficult to acquire of the </a:t>
            </a:r>
            <a:r>
              <a:rPr lang="en-IN" b="0" i="0" u="none" strike="noStrike" baseline="0" dirty="0">
                <a:latin typeface="Calibri" panose="020F0502020204030204" pitchFamily="34" charset="0"/>
              </a:rPr>
              <a:t>requirement in the starting.</a:t>
            </a:r>
          </a:p>
          <a:p>
            <a:pPr algn="l"/>
            <a:r>
              <a:rPr lang="en-US" b="0" i="0" u="none" strike="noStrike" baseline="0" dirty="0">
                <a:latin typeface="Calibri" panose="020F0502020204030204" pitchFamily="34" charset="0"/>
              </a:rPr>
              <a:t>Working version is produced in the last level, so </a:t>
            </a:r>
            <a:r>
              <a:rPr lang="en-US" b="0" i="0" u="none" strike="noStrike" baseline="0" dirty="0">
                <a:solidFill>
                  <a:srgbClr val="FF0000"/>
                </a:solidFill>
                <a:latin typeface="Calibri" panose="020F0502020204030204" pitchFamily="34" charset="0"/>
              </a:rPr>
              <a:t>not good </a:t>
            </a:r>
            <a:r>
              <a:rPr lang="en-US" b="0" i="0" u="none" strike="noStrike" baseline="0" dirty="0">
                <a:latin typeface="Calibri" panose="020F0502020204030204" pitchFamily="34" charset="0"/>
              </a:rPr>
              <a:t>for </a:t>
            </a:r>
            <a:r>
              <a:rPr lang="en-US" b="0" i="0" u="none" strike="noStrike" baseline="0" dirty="0">
                <a:solidFill>
                  <a:srgbClr val="FF0000"/>
                </a:solidFill>
                <a:latin typeface="Calibri" panose="020F0502020204030204" pitchFamily="34" charset="0"/>
              </a:rPr>
              <a:t>large size </a:t>
            </a:r>
            <a:r>
              <a:rPr lang="en-IN" b="0" i="0" u="none" strike="noStrike" baseline="0" dirty="0">
                <a:solidFill>
                  <a:srgbClr val="FF0000"/>
                </a:solidFill>
                <a:latin typeface="Calibri" panose="020F0502020204030204" pitchFamily="34" charset="0"/>
              </a:rPr>
              <a:t>sophisticated projects</a:t>
            </a:r>
            <a:r>
              <a:rPr lang="en-IN" b="0" i="0" u="none" strike="noStrike" baseline="0" dirty="0">
                <a:latin typeface="Calibri" panose="020F0502020204030204" pitchFamily="34" charset="0"/>
              </a:rPr>
              <a:t>.</a:t>
            </a:r>
          </a:p>
          <a:p>
            <a:pPr algn="l"/>
            <a:r>
              <a:rPr lang="en-US" b="0" i="0" u="none" strike="noStrike" baseline="0" dirty="0">
                <a:latin typeface="Calibri" panose="020F0502020204030204" pitchFamily="34" charset="0"/>
              </a:rPr>
              <a:t>High amounts of </a:t>
            </a:r>
            <a:r>
              <a:rPr lang="en-US" b="0" i="0" u="none" strike="noStrike" baseline="0" dirty="0">
                <a:solidFill>
                  <a:srgbClr val="FF0000"/>
                </a:solidFill>
                <a:latin typeface="Calibri" panose="020F0502020204030204" pitchFamily="34" charset="0"/>
              </a:rPr>
              <a:t>risk</a:t>
            </a:r>
            <a:r>
              <a:rPr lang="en-US" b="0" i="0" u="none" strike="noStrike" baseline="0" dirty="0">
                <a:latin typeface="Calibri" panose="020F0502020204030204" pitchFamily="34" charset="0"/>
              </a:rPr>
              <a:t> and </a:t>
            </a:r>
            <a:r>
              <a:rPr lang="en-US" b="0" i="0" u="none" strike="noStrike" baseline="0" dirty="0">
                <a:solidFill>
                  <a:srgbClr val="FF0000"/>
                </a:solidFill>
                <a:latin typeface="Calibri" panose="020F0502020204030204" pitchFamily="34" charset="0"/>
              </a:rPr>
              <a:t>uncertainty</a:t>
            </a:r>
            <a:r>
              <a:rPr lang="en-US" b="0" i="0" u="none" strike="noStrike" baseline="0" dirty="0">
                <a:latin typeface="Calibri" panose="020F0502020204030204" pitchFamily="34" charset="0"/>
              </a:rPr>
              <a:t>.</a:t>
            </a:r>
          </a:p>
          <a:p>
            <a:pPr algn="l"/>
            <a:r>
              <a:rPr lang="en-US" sz="1800" b="0" i="0" u="none" strike="noStrike" baseline="0" dirty="0">
                <a:latin typeface="Leawood-Book"/>
              </a:rPr>
              <a:t>Real projects rarely follow the sequential flow that the model proposes</a:t>
            </a:r>
          </a:p>
          <a:p>
            <a:pPr algn="l"/>
            <a:r>
              <a:rPr lang="en-US" sz="1800" dirty="0">
                <a:latin typeface="Leawood-Book"/>
              </a:rPr>
              <a:t>No feedback, no experiment, no parallelism, Rigid</a:t>
            </a:r>
            <a:endParaRPr lang="en-IN" dirty="0"/>
          </a:p>
        </p:txBody>
      </p:sp>
    </p:spTree>
    <p:extLst>
      <p:ext uri="{BB962C8B-B14F-4D97-AF65-F5344CB8AC3E}">
        <p14:creationId xmlns:p14="http://schemas.microsoft.com/office/powerpoint/2010/main" val="12598956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CA814-3566-8AC8-6BF4-87A8321C5558}"/>
              </a:ext>
            </a:extLst>
          </p:cNvPr>
          <p:cNvSpPr>
            <a:spLocks noGrp="1"/>
          </p:cNvSpPr>
          <p:nvPr>
            <p:ph type="title"/>
          </p:nvPr>
        </p:nvSpPr>
        <p:spPr>
          <a:xfrm>
            <a:off x="838200" y="365126"/>
            <a:ext cx="10515600" cy="810532"/>
          </a:xfrm>
        </p:spPr>
        <p:txBody>
          <a:bodyPr/>
          <a:lstStyle/>
          <a:p>
            <a:r>
              <a:rPr lang="en-IN" dirty="0"/>
              <a:t>Waterfall Model</a:t>
            </a:r>
          </a:p>
        </p:txBody>
      </p:sp>
      <p:pic>
        <p:nvPicPr>
          <p:cNvPr id="5" name="Content Placeholder 4">
            <a:extLst>
              <a:ext uri="{FF2B5EF4-FFF2-40B4-BE49-F238E27FC236}">
                <a16:creationId xmlns:a16="http://schemas.microsoft.com/office/drawing/2014/main" id="{AC04B91F-5915-4D50-5750-B3CB5A018DBC}"/>
              </a:ext>
            </a:extLst>
          </p:cNvPr>
          <p:cNvPicPr>
            <a:picLocks noGrp="1" noChangeAspect="1"/>
          </p:cNvPicPr>
          <p:nvPr>
            <p:ph idx="1"/>
          </p:nvPr>
        </p:nvPicPr>
        <p:blipFill>
          <a:blip r:embed="rId2"/>
          <a:stretch>
            <a:fillRect/>
          </a:stretch>
        </p:blipFill>
        <p:spPr>
          <a:xfrm>
            <a:off x="2446531" y="1394052"/>
            <a:ext cx="7298938" cy="5000625"/>
          </a:xfrm>
        </p:spPr>
      </p:pic>
    </p:spTree>
    <p:extLst>
      <p:ext uri="{BB962C8B-B14F-4D97-AF65-F5344CB8AC3E}">
        <p14:creationId xmlns:p14="http://schemas.microsoft.com/office/powerpoint/2010/main" val="2261684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9D883-25C3-A45C-39E9-9EDB26AB6640}"/>
              </a:ext>
            </a:extLst>
          </p:cNvPr>
          <p:cNvSpPr>
            <a:spLocks noGrp="1"/>
          </p:cNvSpPr>
          <p:nvPr>
            <p:ph type="title"/>
          </p:nvPr>
        </p:nvSpPr>
        <p:spPr>
          <a:xfrm>
            <a:off x="391885" y="194128"/>
            <a:ext cx="10167257" cy="973818"/>
          </a:xfrm>
        </p:spPr>
        <p:txBody>
          <a:bodyPr/>
          <a:lstStyle/>
          <a:p>
            <a:r>
              <a:rPr lang="en-IN" b="1" dirty="0"/>
              <a:t>2. V-shaped model</a:t>
            </a:r>
          </a:p>
        </p:txBody>
      </p:sp>
      <p:sp>
        <p:nvSpPr>
          <p:cNvPr id="3" name="Content Placeholder 2">
            <a:extLst>
              <a:ext uri="{FF2B5EF4-FFF2-40B4-BE49-F238E27FC236}">
                <a16:creationId xmlns:a16="http://schemas.microsoft.com/office/drawing/2014/main" id="{59B781D6-D3A7-B624-44A5-061916C6BFBE}"/>
              </a:ext>
            </a:extLst>
          </p:cNvPr>
          <p:cNvSpPr>
            <a:spLocks noGrp="1"/>
          </p:cNvSpPr>
          <p:nvPr>
            <p:ph idx="1"/>
          </p:nvPr>
        </p:nvSpPr>
        <p:spPr>
          <a:xfrm>
            <a:off x="838200" y="1825625"/>
            <a:ext cx="4898571" cy="4351338"/>
          </a:xfrm>
        </p:spPr>
        <p:txBody>
          <a:bodyPr/>
          <a:lstStyle/>
          <a:p>
            <a:r>
              <a:rPr lang="en-US" sz="1800" b="0" i="0" u="none" strike="noStrike" baseline="0" dirty="0">
                <a:latin typeface="Leawood-Book"/>
              </a:rPr>
              <a:t>A variation in the representation of the waterfall model is called the </a:t>
            </a:r>
            <a:r>
              <a:rPr lang="en-US" sz="1800" b="0" i="1" u="none" strike="noStrike" baseline="0" dirty="0">
                <a:latin typeface="Leawood-BookItalic"/>
              </a:rPr>
              <a:t>V-model</a:t>
            </a:r>
          </a:p>
          <a:p>
            <a:pPr algn="l"/>
            <a:r>
              <a:rPr lang="en-US" sz="1800" b="0" i="0" u="none" strike="noStrike" baseline="0" dirty="0">
                <a:solidFill>
                  <a:srgbClr val="FF0000"/>
                </a:solidFill>
                <a:latin typeface="Leawood-Book"/>
              </a:rPr>
              <a:t>left side of the V</a:t>
            </a:r>
            <a:r>
              <a:rPr lang="en-US" sz="1800" b="0" i="0" u="none" strike="noStrike" baseline="0" dirty="0">
                <a:latin typeface="Leawood-Book"/>
              </a:rPr>
              <a:t>, basic problem requirements are refined into progressively more detailed and technical representations of the problem and its solution.</a:t>
            </a:r>
          </a:p>
          <a:p>
            <a:pPr algn="l"/>
            <a:r>
              <a:rPr lang="en-US" sz="1800" b="0" i="0" u="none" strike="noStrike" baseline="0" dirty="0">
                <a:solidFill>
                  <a:srgbClr val="FF0000"/>
                </a:solidFill>
                <a:latin typeface="Leawood-Book"/>
              </a:rPr>
              <a:t>Once code has been generated</a:t>
            </a:r>
            <a:r>
              <a:rPr lang="en-US" sz="1800" b="0" i="0" u="none" strike="noStrike" baseline="0" dirty="0">
                <a:latin typeface="Leawood-Book"/>
              </a:rPr>
              <a:t>, the team </a:t>
            </a:r>
            <a:r>
              <a:rPr lang="en-US" sz="1800" b="0" i="0" u="none" strike="noStrike" baseline="0" dirty="0">
                <a:solidFill>
                  <a:srgbClr val="FF0000"/>
                </a:solidFill>
                <a:latin typeface="Leawood-Book"/>
              </a:rPr>
              <a:t>move</a:t>
            </a:r>
            <a:r>
              <a:rPr lang="en-US" sz="1800" b="0" i="0" u="none" strike="noStrike" baseline="0" dirty="0">
                <a:latin typeface="Leawood-Book"/>
              </a:rPr>
              <a:t>s up the </a:t>
            </a:r>
            <a:r>
              <a:rPr lang="en-US" sz="1800" b="0" i="0" u="none" strike="noStrike" baseline="0" dirty="0">
                <a:solidFill>
                  <a:srgbClr val="FF0000"/>
                </a:solidFill>
                <a:latin typeface="Leawood-Book"/>
              </a:rPr>
              <a:t>right side </a:t>
            </a:r>
            <a:r>
              <a:rPr lang="en-US" sz="1800" b="0" i="0" u="none" strike="noStrike" baseline="0" dirty="0">
                <a:latin typeface="Leawood-Book"/>
              </a:rPr>
              <a:t>of the V,</a:t>
            </a:r>
          </a:p>
          <a:p>
            <a:pPr algn="l"/>
            <a:r>
              <a:rPr lang="en-US" sz="1800" b="0" i="0" u="none" strike="noStrike" baseline="0" dirty="0">
                <a:latin typeface="Leawood-Book"/>
              </a:rPr>
              <a:t>In </a:t>
            </a:r>
            <a:r>
              <a:rPr lang="en-US" sz="1800" b="0" i="0" u="none" strike="noStrike" baseline="0" dirty="0">
                <a:solidFill>
                  <a:srgbClr val="FF0000"/>
                </a:solidFill>
                <a:latin typeface="Leawood-Book"/>
              </a:rPr>
              <a:t>reality</a:t>
            </a:r>
            <a:r>
              <a:rPr lang="en-US" sz="1800" b="0" i="0" u="none" strike="noStrike" baseline="0" dirty="0">
                <a:latin typeface="Leawood-Book"/>
              </a:rPr>
              <a:t>, there is </a:t>
            </a:r>
            <a:r>
              <a:rPr lang="en-US" sz="1800" b="0" i="0" u="none" strike="noStrike" baseline="0" dirty="0">
                <a:solidFill>
                  <a:srgbClr val="FF0000"/>
                </a:solidFill>
                <a:latin typeface="Leawood-Book"/>
              </a:rPr>
              <a:t>no fundamental difference </a:t>
            </a:r>
            <a:r>
              <a:rPr lang="en-US" sz="1800" b="0" i="0" u="none" strike="noStrike" baseline="0" dirty="0">
                <a:latin typeface="Leawood-Book"/>
              </a:rPr>
              <a:t>between the classic life cycle and the V-model. </a:t>
            </a:r>
            <a:r>
              <a:rPr lang="en-US" sz="1800" b="0" i="0" u="none" strike="noStrike" baseline="0" dirty="0">
                <a:solidFill>
                  <a:srgbClr val="FF0000"/>
                </a:solidFill>
                <a:latin typeface="Leawood-Book"/>
              </a:rPr>
              <a:t>The V-model provides </a:t>
            </a:r>
            <a:r>
              <a:rPr lang="en-US" sz="1800" b="0" i="0" u="none" strike="noStrike" baseline="0" dirty="0">
                <a:latin typeface="Leawood-Book"/>
              </a:rPr>
              <a:t>a way of </a:t>
            </a:r>
            <a:r>
              <a:rPr lang="en-US" sz="1800" b="0" i="0" u="none" strike="noStrike" baseline="0" dirty="0">
                <a:solidFill>
                  <a:srgbClr val="FF0000"/>
                </a:solidFill>
                <a:latin typeface="Leawood-Book"/>
              </a:rPr>
              <a:t>visualizin</a:t>
            </a:r>
            <a:r>
              <a:rPr lang="en-US" sz="1800" b="0" i="0" u="none" strike="noStrike" baseline="0" dirty="0">
                <a:latin typeface="Leawood-Book"/>
              </a:rPr>
              <a:t>g how verification and validation actions are applied to earlier engineering work</a:t>
            </a:r>
            <a:endParaRPr lang="en-IN" dirty="0"/>
          </a:p>
        </p:txBody>
      </p:sp>
      <p:pic>
        <p:nvPicPr>
          <p:cNvPr id="5" name="Picture 4">
            <a:extLst>
              <a:ext uri="{FF2B5EF4-FFF2-40B4-BE49-F238E27FC236}">
                <a16:creationId xmlns:a16="http://schemas.microsoft.com/office/drawing/2014/main" id="{A6BDF1E1-42AD-934E-6352-9717D8DB23D1}"/>
              </a:ext>
            </a:extLst>
          </p:cNvPr>
          <p:cNvPicPr>
            <a:picLocks noChangeAspect="1"/>
          </p:cNvPicPr>
          <p:nvPr/>
        </p:nvPicPr>
        <p:blipFill>
          <a:blip r:embed="rId2"/>
          <a:stretch>
            <a:fillRect/>
          </a:stretch>
        </p:blipFill>
        <p:spPr>
          <a:xfrm>
            <a:off x="5895096" y="0"/>
            <a:ext cx="6296904" cy="6300135"/>
          </a:xfrm>
          <a:prstGeom prst="rect">
            <a:avLst/>
          </a:prstGeom>
        </p:spPr>
      </p:pic>
    </p:spTree>
    <p:extLst>
      <p:ext uri="{BB962C8B-B14F-4D97-AF65-F5344CB8AC3E}">
        <p14:creationId xmlns:p14="http://schemas.microsoft.com/office/powerpoint/2010/main" val="1066328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5E53B-8F37-CC03-41D4-F6EB657A3D08}"/>
              </a:ext>
            </a:extLst>
          </p:cNvPr>
          <p:cNvSpPr>
            <a:spLocks noGrp="1"/>
          </p:cNvSpPr>
          <p:nvPr>
            <p:ph type="title"/>
          </p:nvPr>
        </p:nvSpPr>
        <p:spPr>
          <a:xfrm>
            <a:off x="838200" y="365125"/>
            <a:ext cx="10515600" cy="752475"/>
          </a:xfrm>
        </p:spPr>
        <p:txBody>
          <a:bodyPr/>
          <a:lstStyle/>
          <a:p>
            <a:r>
              <a:rPr lang="en-IN" dirty="0"/>
              <a:t>V-shaped model</a:t>
            </a:r>
          </a:p>
        </p:txBody>
      </p:sp>
      <p:sp>
        <p:nvSpPr>
          <p:cNvPr id="3" name="Content Placeholder 2">
            <a:extLst>
              <a:ext uri="{FF2B5EF4-FFF2-40B4-BE49-F238E27FC236}">
                <a16:creationId xmlns:a16="http://schemas.microsoft.com/office/drawing/2014/main" id="{46FF0AFB-0713-FE93-C596-4A0C1197D88A}"/>
              </a:ext>
            </a:extLst>
          </p:cNvPr>
          <p:cNvSpPr>
            <a:spLocks noGrp="1"/>
          </p:cNvSpPr>
          <p:nvPr>
            <p:ph idx="1"/>
          </p:nvPr>
        </p:nvSpPr>
        <p:spPr>
          <a:xfrm>
            <a:off x="838200" y="1117600"/>
            <a:ext cx="10515600" cy="5059363"/>
          </a:xfrm>
        </p:spPr>
        <p:txBody>
          <a:bodyPr/>
          <a:lstStyle/>
          <a:p>
            <a:r>
              <a:rPr lang="en-IN" dirty="0"/>
              <a:t>Also known as verification &amp; validation model</a:t>
            </a:r>
          </a:p>
          <a:p>
            <a:r>
              <a:rPr lang="en-IN" dirty="0"/>
              <a:t>Testing is associated with every phase of lifecycle.</a:t>
            </a:r>
          </a:p>
          <a:p>
            <a:r>
              <a:rPr lang="en-IN" dirty="0"/>
              <a:t>Verification phase (requirement analysis, system design, architecture design , module design)</a:t>
            </a:r>
          </a:p>
          <a:p>
            <a:r>
              <a:rPr lang="en-IN" dirty="0"/>
              <a:t>Validation phase (various testing)</a:t>
            </a:r>
          </a:p>
          <a:p>
            <a:r>
              <a:rPr lang="en-IN" dirty="0"/>
              <a:t>Basically, testing is done parallelly </a:t>
            </a:r>
          </a:p>
          <a:p>
            <a:r>
              <a:rPr lang="en-IN" dirty="0">
                <a:solidFill>
                  <a:srgbClr val="FF0000"/>
                </a:solidFill>
              </a:rPr>
              <a:t>Testing is the main thing in V-shaped model </a:t>
            </a:r>
          </a:p>
          <a:p>
            <a:endParaRPr lang="en-IN" dirty="0"/>
          </a:p>
        </p:txBody>
      </p:sp>
    </p:spTree>
    <p:extLst>
      <p:ext uri="{BB962C8B-B14F-4D97-AF65-F5344CB8AC3E}">
        <p14:creationId xmlns:p14="http://schemas.microsoft.com/office/powerpoint/2010/main" val="3362011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76ED4-A273-561A-9D58-BF35453ECB57}"/>
              </a:ext>
            </a:extLst>
          </p:cNvPr>
          <p:cNvSpPr>
            <a:spLocks noGrp="1"/>
          </p:cNvSpPr>
          <p:nvPr>
            <p:ph type="title"/>
          </p:nvPr>
        </p:nvSpPr>
        <p:spPr>
          <a:xfrm>
            <a:off x="838200" y="365126"/>
            <a:ext cx="10515600" cy="315912"/>
          </a:xfrm>
        </p:spPr>
        <p:txBody>
          <a:bodyPr>
            <a:normAutofit fontScale="90000"/>
          </a:bodyPr>
          <a:lstStyle/>
          <a:p>
            <a:r>
              <a:rPr lang="en-IN" b="1" dirty="0"/>
              <a:t>V-shaped model</a:t>
            </a:r>
          </a:p>
        </p:txBody>
      </p:sp>
      <p:sp>
        <p:nvSpPr>
          <p:cNvPr id="3" name="Content Placeholder 2">
            <a:extLst>
              <a:ext uri="{FF2B5EF4-FFF2-40B4-BE49-F238E27FC236}">
                <a16:creationId xmlns:a16="http://schemas.microsoft.com/office/drawing/2014/main" id="{60A9F9AA-3D9E-02B7-E01D-149E53C7C6C3}"/>
              </a:ext>
            </a:extLst>
          </p:cNvPr>
          <p:cNvSpPr>
            <a:spLocks noGrp="1"/>
          </p:cNvSpPr>
          <p:nvPr>
            <p:ph idx="1"/>
          </p:nvPr>
        </p:nvSpPr>
        <p:spPr>
          <a:xfrm>
            <a:off x="838200" y="863600"/>
            <a:ext cx="10515600" cy="5313363"/>
          </a:xfrm>
        </p:spPr>
        <p:txBody>
          <a:bodyPr/>
          <a:lstStyle/>
          <a:p>
            <a:pPr marL="0" indent="0">
              <a:buNone/>
            </a:pPr>
            <a:r>
              <a:rPr lang="en-IN" dirty="0"/>
              <a:t>Advantage</a:t>
            </a:r>
          </a:p>
          <a:p>
            <a:r>
              <a:rPr lang="en-IN" dirty="0"/>
              <a:t>Time saving (because of the parallelism)</a:t>
            </a:r>
          </a:p>
          <a:p>
            <a:r>
              <a:rPr lang="en-IN" dirty="0"/>
              <a:t>Every component is tested</a:t>
            </a:r>
          </a:p>
          <a:p>
            <a:r>
              <a:rPr lang="en-IN" dirty="0"/>
              <a:t>Progress can be tracked easily</a:t>
            </a:r>
          </a:p>
          <a:p>
            <a:r>
              <a:rPr lang="en-IN" dirty="0"/>
              <a:t>Proactive defect tracking</a:t>
            </a:r>
          </a:p>
          <a:p>
            <a:pPr marL="0" indent="0">
              <a:buNone/>
            </a:pPr>
            <a:r>
              <a:rPr lang="en-IN" dirty="0"/>
              <a:t>Disadvantage</a:t>
            </a:r>
          </a:p>
          <a:p>
            <a:r>
              <a:rPr lang="en-IN" dirty="0"/>
              <a:t>No feedback</a:t>
            </a:r>
          </a:p>
          <a:p>
            <a:r>
              <a:rPr lang="en-IN" dirty="0"/>
              <a:t>Risk analysis is not done </a:t>
            </a:r>
          </a:p>
          <a:p>
            <a:r>
              <a:rPr lang="en-IN" dirty="0"/>
              <a:t>Not practical for big project.</a:t>
            </a:r>
          </a:p>
        </p:txBody>
      </p:sp>
    </p:spTree>
    <p:extLst>
      <p:ext uri="{BB962C8B-B14F-4D97-AF65-F5344CB8AC3E}">
        <p14:creationId xmlns:p14="http://schemas.microsoft.com/office/powerpoint/2010/main" val="1534580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A3025-1938-234A-91E5-BF74793BAA7C}"/>
              </a:ext>
            </a:extLst>
          </p:cNvPr>
          <p:cNvSpPr>
            <a:spLocks noGrp="1"/>
          </p:cNvSpPr>
          <p:nvPr>
            <p:ph type="title"/>
          </p:nvPr>
        </p:nvSpPr>
        <p:spPr>
          <a:xfrm>
            <a:off x="729343" y="0"/>
            <a:ext cx="10515600" cy="933903"/>
          </a:xfrm>
        </p:spPr>
        <p:txBody>
          <a:bodyPr>
            <a:normAutofit/>
          </a:bodyPr>
          <a:lstStyle/>
          <a:p>
            <a:r>
              <a:rPr lang="en-IN" sz="3600" b="1" i="0" u="none" strike="noStrike" baseline="0" dirty="0">
                <a:latin typeface="LubalinGraph-Demi"/>
              </a:rPr>
              <a:t>3. Incremental Process Models</a:t>
            </a:r>
            <a:endParaRPr lang="en-IN" sz="3600" b="1" dirty="0"/>
          </a:p>
        </p:txBody>
      </p:sp>
      <p:sp>
        <p:nvSpPr>
          <p:cNvPr id="3" name="Content Placeholder 2">
            <a:extLst>
              <a:ext uri="{FF2B5EF4-FFF2-40B4-BE49-F238E27FC236}">
                <a16:creationId xmlns:a16="http://schemas.microsoft.com/office/drawing/2014/main" id="{BCBF4C86-4A7E-A8F6-CD0D-7D550AED0E52}"/>
              </a:ext>
            </a:extLst>
          </p:cNvPr>
          <p:cNvSpPr>
            <a:spLocks noGrp="1"/>
          </p:cNvSpPr>
          <p:nvPr>
            <p:ph idx="1"/>
          </p:nvPr>
        </p:nvSpPr>
        <p:spPr>
          <a:xfrm>
            <a:off x="838200" y="1186543"/>
            <a:ext cx="10515600" cy="4990420"/>
          </a:xfrm>
        </p:spPr>
        <p:txBody>
          <a:bodyPr>
            <a:normAutofit/>
          </a:bodyPr>
          <a:lstStyle/>
          <a:p>
            <a:pPr algn="l"/>
            <a:r>
              <a:rPr lang="en-US" sz="2400" b="0" i="0" u="none" strike="noStrike" baseline="0" dirty="0">
                <a:latin typeface="Leawood-Book"/>
              </a:rPr>
              <a:t>There are many situations in which initial software requirements are reasonably well defined, but the overall scope of the development effort precludes a purely linear </a:t>
            </a:r>
            <a:r>
              <a:rPr lang="en-IN" sz="2400" b="0" i="0" u="none" strike="noStrike" baseline="0" dirty="0">
                <a:latin typeface="Leawood-Book"/>
              </a:rPr>
              <a:t>process</a:t>
            </a:r>
            <a:endParaRPr lang="en-US" sz="2400" b="0" i="0" u="none" strike="noStrike" baseline="0" dirty="0">
              <a:latin typeface="Leawood-Book"/>
            </a:endParaRPr>
          </a:p>
          <a:p>
            <a:r>
              <a:rPr lang="en-US" sz="2400" b="0" i="0" u="none" strike="noStrike" baseline="0" dirty="0">
                <a:latin typeface="Leawood-Book"/>
              </a:rPr>
              <a:t>The </a:t>
            </a:r>
            <a:r>
              <a:rPr lang="en-US" sz="2400" b="0" i="1" u="none" strike="noStrike" baseline="0" dirty="0">
                <a:latin typeface="Leawood-BookItalic"/>
              </a:rPr>
              <a:t>incremental </a:t>
            </a:r>
            <a:r>
              <a:rPr lang="en-US" sz="2400" b="0" i="0" u="none" strike="noStrike" baseline="0" dirty="0">
                <a:latin typeface="Leawood-Book"/>
              </a:rPr>
              <a:t>model </a:t>
            </a:r>
            <a:r>
              <a:rPr lang="en-US" sz="2400" b="0" i="0" u="none" strike="noStrike" baseline="0" dirty="0">
                <a:solidFill>
                  <a:srgbClr val="FF0000"/>
                </a:solidFill>
                <a:latin typeface="Leawood-Book"/>
              </a:rPr>
              <a:t>combines</a:t>
            </a:r>
            <a:r>
              <a:rPr lang="en-US" sz="2400" b="0" i="0" u="none" strike="noStrike" baseline="0" dirty="0">
                <a:latin typeface="Leawood-Book"/>
              </a:rPr>
              <a:t> elements of </a:t>
            </a:r>
            <a:r>
              <a:rPr lang="en-US" sz="2400" b="0" i="0" u="none" strike="noStrike" baseline="0" dirty="0">
                <a:solidFill>
                  <a:srgbClr val="FF0000"/>
                </a:solidFill>
                <a:latin typeface="Leawood-Book"/>
              </a:rPr>
              <a:t>linear and parallel </a:t>
            </a:r>
            <a:r>
              <a:rPr lang="en-US" sz="2400" b="0" i="0" u="none" strike="noStrike" baseline="0" dirty="0">
                <a:latin typeface="Leawood-Book"/>
              </a:rPr>
              <a:t>process flows</a:t>
            </a:r>
            <a:endParaRPr lang="en-IN" sz="2400" dirty="0"/>
          </a:p>
        </p:txBody>
      </p:sp>
      <p:pic>
        <p:nvPicPr>
          <p:cNvPr id="5" name="Picture 4">
            <a:extLst>
              <a:ext uri="{FF2B5EF4-FFF2-40B4-BE49-F238E27FC236}">
                <a16:creationId xmlns:a16="http://schemas.microsoft.com/office/drawing/2014/main" id="{DD54345A-AB26-843E-74D2-47219C718D4B}"/>
              </a:ext>
            </a:extLst>
          </p:cNvPr>
          <p:cNvPicPr>
            <a:picLocks noChangeAspect="1"/>
          </p:cNvPicPr>
          <p:nvPr/>
        </p:nvPicPr>
        <p:blipFill>
          <a:blip r:embed="rId2"/>
          <a:stretch>
            <a:fillRect/>
          </a:stretch>
        </p:blipFill>
        <p:spPr>
          <a:xfrm>
            <a:off x="1113892" y="2862943"/>
            <a:ext cx="7640116" cy="3995057"/>
          </a:xfrm>
          <a:prstGeom prst="rect">
            <a:avLst/>
          </a:prstGeom>
        </p:spPr>
      </p:pic>
    </p:spTree>
    <p:extLst>
      <p:ext uri="{BB962C8B-B14F-4D97-AF65-F5344CB8AC3E}">
        <p14:creationId xmlns:p14="http://schemas.microsoft.com/office/powerpoint/2010/main" val="3573408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2C388-4D9A-261F-CCC1-F7ACB1FA975C}"/>
              </a:ext>
            </a:extLst>
          </p:cNvPr>
          <p:cNvSpPr>
            <a:spLocks noGrp="1"/>
          </p:cNvSpPr>
          <p:nvPr>
            <p:ph type="title"/>
          </p:nvPr>
        </p:nvSpPr>
        <p:spPr>
          <a:xfrm>
            <a:off x="838200" y="365126"/>
            <a:ext cx="10515600" cy="516618"/>
          </a:xfrm>
        </p:spPr>
        <p:txBody>
          <a:bodyPr>
            <a:normAutofit fontScale="90000"/>
          </a:bodyPr>
          <a:lstStyle/>
          <a:p>
            <a:r>
              <a:rPr lang="en-IN" sz="4400" b="1" i="0" u="none" strike="noStrike" baseline="0" dirty="0">
                <a:latin typeface="LubalinGraph-Demi"/>
              </a:rPr>
              <a:t>Incremental Process Models</a:t>
            </a:r>
            <a:endParaRPr lang="en-IN" dirty="0"/>
          </a:p>
        </p:txBody>
      </p:sp>
      <p:sp>
        <p:nvSpPr>
          <p:cNvPr id="3" name="Content Placeholder 2">
            <a:extLst>
              <a:ext uri="{FF2B5EF4-FFF2-40B4-BE49-F238E27FC236}">
                <a16:creationId xmlns:a16="http://schemas.microsoft.com/office/drawing/2014/main" id="{85A48DE4-E44D-3358-34E6-2E1E3E4FDBAF}"/>
              </a:ext>
            </a:extLst>
          </p:cNvPr>
          <p:cNvSpPr>
            <a:spLocks noGrp="1"/>
          </p:cNvSpPr>
          <p:nvPr>
            <p:ph idx="1"/>
          </p:nvPr>
        </p:nvSpPr>
        <p:spPr>
          <a:xfrm>
            <a:off x="838200" y="1121229"/>
            <a:ext cx="10515600" cy="5055734"/>
          </a:xfrm>
        </p:spPr>
        <p:txBody>
          <a:bodyPr>
            <a:normAutofit lnSpcReduction="10000"/>
          </a:bodyPr>
          <a:lstStyle/>
          <a:p>
            <a:r>
              <a:rPr lang="en-IN" dirty="0"/>
              <a:t>Which part is build first?</a:t>
            </a:r>
          </a:p>
          <a:p>
            <a:pPr marL="0" indent="0">
              <a:buNone/>
            </a:pPr>
            <a:r>
              <a:rPr lang="en-IN" dirty="0"/>
              <a:t>	The high-risk or major functions are built first</a:t>
            </a:r>
          </a:p>
          <a:p>
            <a:r>
              <a:rPr lang="en-IN" dirty="0"/>
              <a:t>What does each release deliver?</a:t>
            </a:r>
          </a:p>
          <a:p>
            <a:pPr lvl="1"/>
            <a:r>
              <a:rPr lang="en-IN" dirty="0"/>
              <a:t>An operation product</a:t>
            </a:r>
          </a:p>
          <a:p>
            <a:r>
              <a:rPr lang="en-IN" dirty="0"/>
              <a:t>Can customer use the released product?</a:t>
            </a:r>
          </a:p>
          <a:p>
            <a:pPr lvl="1"/>
            <a:r>
              <a:rPr lang="en-IN" dirty="0"/>
              <a:t>Yes, they can. It has maximum customer interaction.</a:t>
            </a:r>
          </a:p>
          <a:p>
            <a:r>
              <a:rPr lang="en-IN" dirty="0"/>
              <a:t>Is the cost very high for this model?</a:t>
            </a:r>
          </a:p>
          <a:p>
            <a:pPr lvl="1"/>
            <a:r>
              <a:rPr lang="en-IN" dirty="0"/>
              <a:t>Yes, because of multiple releases.</a:t>
            </a:r>
          </a:p>
          <a:p>
            <a:r>
              <a:rPr lang="en-IN" dirty="0"/>
              <a:t>When staff are not available for a complete implementation </a:t>
            </a:r>
          </a:p>
          <a:p>
            <a:r>
              <a:rPr lang="en-IN" dirty="0"/>
              <a:t>Most of the requirements are expected to evolve over time</a:t>
            </a:r>
          </a:p>
          <a:p>
            <a:r>
              <a:rPr lang="en-IN" dirty="0"/>
              <a:t>Projects which have lengthy development schedules</a:t>
            </a:r>
          </a:p>
        </p:txBody>
      </p:sp>
    </p:spTree>
    <p:extLst>
      <p:ext uri="{BB962C8B-B14F-4D97-AF65-F5344CB8AC3E}">
        <p14:creationId xmlns:p14="http://schemas.microsoft.com/office/powerpoint/2010/main" val="2099734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679E8-B154-AF36-C307-E7022E44CD49}"/>
              </a:ext>
            </a:extLst>
          </p:cNvPr>
          <p:cNvSpPr>
            <a:spLocks noGrp="1"/>
          </p:cNvSpPr>
          <p:nvPr>
            <p:ph type="title"/>
          </p:nvPr>
        </p:nvSpPr>
        <p:spPr>
          <a:xfrm>
            <a:off x="838200" y="365125"/>
            <a:ext cx="10515600" cy="483961"/>
          </a:xfrm>
        </p:spPr>
        <p:txBody>
          <a:bodyPr>
            <a:normAutofit fontScale="90000"/>
          </a:bodyPr>
          <a:lstStyle/>
          <a:p>
            <a:r>
              <a:rPr lang="en-IN" sz="4000" b="1" i="0" u="none" strike="noStrike" baseline="0" dirty="0">
                <a:latin typeface="LubalinGraph-Demi"/>
              </a:rPr>
              <a:t>4. Evolutionary Process Models</a:t>
            </a:r>
            <a:endParaRPr lang="en-IN" sz="4000" b="1" dirty="0"/>
          </a:p>
        </p:txBody>
      </p:sp>
      <p:sp>
        <p:nvSpPr>
          <p:cNvPr id="3" name="Content Placeholder 2">
            <a:extLst>
              <a:ext uri="{FF2B5EF4-FFF2-40B4-BE49-F238E27FC236}">
                <a16:creationId xmlns:a16="http://schemas.microsoft.com/office/drawing/2014/main" id="{075653F9-F4F3-2A19-3E63-D052C896DCD4}"/>
              </a:ext>
            </a:extLst>
          </p:cNvPr>
          <p:cNvSpPr>
            <a:spLocks noGrp="1"/>
          </p:cNvSpPr>
          <p:nvPr>
            <p:ph idx="1"/>
          </p:nvPr>
        </p:nvSpPr>
        <p:spPr>
          <a:xfrm>
            <a:off x="838200" y="849086"/>
            <a:ext cx="10515600" cy="5327877"/>
          </a:xfrm>
        </p:spPr>
        <p:txBody>
          <a:bodyPr>
            <a:noAutofit/>
          </a:bodyPr>
          <a:lstStyle/>
          <a:p>
            <a:pPr algn="l"/>
            <a:r>
              <a:rPr lang="en-US" sz="2400" b="1" i="0" u="none" strike="noStrike" baseline="0" dirty="0">
                <a:latin typeface="Leawood-Book"/>
              </a:rPr>
              <a:t>Context:</a:t>
            </a:r>
            <a:r>
              <a:rPr lang="en-US" sz="2400" b="0" i="0" u="none" strike="noStrike" baseline="0" dirty="0">
                <a:latin typeface="Leawood-Book"/>
              </a:rPr>
              <a:t> Software, </a:t>
            </a:r>
            <a:r>
              <a:rPr lang="en-US" sz="2400" b="0" i="0" u="none" strike="noStrike" baseline="0" dirty="0">
                <a:solidFill>
                  <a:srgbClr val="FF0000"/>
                </a:solidFill>
                <a:latin typeface="Leawood-Book"/>
              </a:rPr>
              <a:t>like all complex systems, evolves </a:t>
            </a:r>
            <a:r>
              <a:rPr lang="en-US" sz="2400" b="0" i="0" u="none" strike="noStrike" baseline="0" dirty="0">
                <a:latin typeface="Leawood-Book"/>
              </a:rPr>
              <a:t>over a period of time, </a:t>
            </a:r>
            <a:r>
              <a:rPr lang="en-IN" sz="2400" b="0" i="0" u="none" strike="noStrike" baseline="0" dirty="0">
                <a:latin typeface="Leawood-Book"/>
              </a:rPr>
              <a:t>Business and product </a:t>
            </a:r>
            <a:r>
              <a:rPr lang="en-US" sz="2400" b="0" i="0" u="none" strike="noStrike" baseline="0" dirty="0">
                <a:latin typeface="Leawood-Book"/>
              </a:rPr>
              <a:t>requirements often change as development proceeds, making a straight line path to an end product unrealistic</a:t>
            </a:r>
          </a:p>
          <a:p>
            <a:pPr algn="l"/>
            <a:r>
              <a:rPr lang="en-US" sz="2400" b="0" i="0" u="none" strike="noStrike" baseline="0" dirty="0">
                <a:solidFill>
                  <a:srgbClr val="FF0000"/>
                </a:solidFill>
                <a:latin typeface="Leawood-Book"/>
              </a:rPr>
              <a:t>Evolutionary models are iterative</a:t>
            </a:r>
            <a:r>
              <a:rPr lang="en-US" sz="2400" b="0" i="0" u="none" strike="noStrike" baseline="0" dirty="0">
                <a:latin typeface="Leawood-Book"/>
              </a:rPr>
              <a:t>. They are characterized in a manner that enables you to develop increasingly more complete versions of the software</a:t>
            </a:r>
          </a:p>
          <a:p>
            <a:pPr algn="l"/>
            <a:r>
              <a:rPr lang="en-US" sz="2400" dirty="0">
                <a:latin typeface="Leawood-Book"/>
              </a:rPr>
              <a:t>Combination of </a:t>
            </a:r>
            <a:r>
              <a:rPr lang="en-US" sz="2400" dirty="0">
                <a:solidFill>
                  <a:srgbClr val="FF0000"/>
                </a:solidFill>
                <a:latin typeface="Leawood-Book"/>
              </a:rPr>
              <a:t>Iterative + incremental model</a:t>
            </a:r>
          </a:p>
          <a:p>
            <a:pPr algn="l"/>
            <a:r>
              <a:rPr lang="en-US" sz="2400" dirty="0">
                <a:latin typeface="Leawood-Book"/>
              </a:rPr>
              <a:t> Here</a:t>
            </a:r>
            <a:r>
              <a:rPr lang="en-US" sz="2400" dirty="0">
                <a:solidFill>
                  <a:srgbClr val="FF0000"/>
                </a:solidFill>
                <a:latin typeface="Leawood-Book"/>
              </a:rPr>
              <a:t>, customer can change their requirement</a:t>
            </a:r>
            <a:r>
              <a:rPr lang="en-US" sz="2400" dirty="0">
                <a:latin typeface="Leawood-Book"/>
              </a:rPr>
              <a:t>, unlike incremental model.</a:t>
            </a:r>
          </a:p>
          <a:p>
            <a:pPr algn="l"/>
            <a:r>
              <a:rPr lang="en-US" sz="2400" dirty="0">
                <a:latin typeface="Leawood-Book"/>
              </a:rPr>
              <a:t>Incremental model first implement a few basic features and deliver to the customer. Then build the next part and deliver it again and repeat this step until the desired system is fully realizes.</a:t>
            </a:r>
          </a:p>
          <a:p>
            <a:pPr algn="l"/>
            <a:r>
              <a:rPr lang="en-US" sz="2400" dirty="0">
                <a:latin typeface="Leawood-Book"/>
              </a:rPr>
              <a:t>Here, along with Incremental model, feedbacks are also collected from the customer and added. </a:t>
            </a:r>
          </a:p>
          <a:p>
            <a:pPr algn="l"/>
            <a:r>
              <a:rPr lang="en-US" sz="2400" dirty="0">
                <a:solidFill>
                  <a:srgbClr val="FF0000"/>
                </a:solidFill>
                <a:latin typeface="Leawood-Book"/>
              </a:rPr>
              <a:t>NOT suitable for small project</a:t>
            </a:r>
            <a:r>
              <a:rPr lang="en-US" sz="2400" dirty="0">
                <a:latin typeface="Leawood-Book"/>
              </a:rPr>
              <a:t>.  </a:t>
            </a:r>
            <a:endParaRPr lang="en-IN" sz="2400" dirty="0"/>
          </a:p>
        </p:txBody>
      </p:sp>
    </p:spTree>
    <p:extLst>
      <p:ext uri="{BB962C8B-B14F-4D97-AF65-F5344CB8AC3E}">
        <p14:creationId xmlns:p14="http://schemas.microsoft.com/office/powerpoint/2010/main" val="1312266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FCA24C5-181D-A8CA-E7EF-588E31BF8DD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25287" y="555171"/>
            <a:ext cx="10472056" cy="5621792"/>
          </a:xfrm>
        </p:spPr>
      </p:pic>
    </p:spTree>
    <p:extLst>
      <p:ext uri="{BB962C8B-B14F-4D97-AF65-F5344CB8AC3E}">
        <p14:creationId xmlns:p14="http://schemas.microsoft.com/office/powerpoint/2010/main" val="21718712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E5F91-6109-867A-B1EB-8B9FE579FC4C}"/>
              </a:ext>
            </a:extLst>
          </p:cNvPr>
          <p:cNvSpPr>
            <a:spLocks noGrp="1"/>
          </p:cNvSpPr>
          <p:nvPr>
            <p:ph type="title"/>
          </p:nvPr>
        </p:nvSpPr>
        <p:spPr>
          <a:xfrm>
            <a:off x="838200" y="365126"/>
            <a:ext cx="10515600" cy="315912"/>
          </a:xfrm>
        </p:spPr>
        <p:txBody>
          <a:bodyPr>
            <a:normAutofit fontScale="90000"/>
          </a:bodyPr>
          <a:lstStyle/>
          <a:p>
            <a:r>
              <a:rPr lang="en-IN" b="1" dirty="0"/>
              <a:t>5. Spiral Model</a:t>
            </a:r>
          </a:p>
        </p:txBody>
      </p:sp>
      <p:pic>
        <p:nvPicPr>
          <p:cNvPr id="5" name="Content Placeholder 4">
            <a:extLst>
              <a:ext uri="{FF2B5EF4-FFF2-40B4-BE49-F238E27FC236}">
                <a16:creationId xmlns:a16="http://schemas.microsoft.com/office/drawing/2014/main" id="{E16C12F4-EE43-4FD6-5B40-BB55F05B58AF}"/>
              </a:ext>
            </a:extLst>
          </p:cNvPr>
          <p:cNvPicPr>
            <a:picLocks noGrp="1" noChangeAspect="1"/>
          </p:cNvPicPr>
          <p:nvPr>
            <p:ph idx="1"/>
          </p:nvPr>
        </p:nvPicPr>
        <p:blipFill>
          <a:blip r:embed="rId2"/>
          <a:stretch>
            <a:fillRect/>
          </a:stretch>
        </p:blipFill>
        <p:spPr>
          <a:xfrm>
            <a:off x="2814179" y="1331608"/>
            <a:ext cx="6563641" cy="4363059"/>
          </a:xfrm>
        </p:spPr>
      </p:pic>
      <p:sp>
        <p:nvSpPr>
          <p:cNvPr id="6" name="TextBox 5">
            <a:extLst>
              <a:ext uri="{FF2B5EF4-FFF2-40B4-BE49-F238E27FC236}">
                <a16:creationId xmlns:a16="http://schemas.microsoft.com/office/drawing/2014/main" id="{675BDF6B-1FDE-18E5-F315-A054148C2C71}"/>
              </a:ext>
            </a:extLst>
          </p:cNvPr>
          <p:cNvSpPr txBox="1"/>
          <p:nvPr/>
        </p:nvSpPr>
        <p:spPr>
          <a:xfrm>
            <a:off x="7837715" y="1828799"/>
            <a:ext cx="2210700" cy="369332"/>
          </a:xfrm>
          <a:prstGeom prst="rect">
            <a:avLst/>
          </a:prstGeom>
          <a:noFill/>
        </p:spPr>
        <p:txBody>
          <a:bodyPr wrap="square" rtlCol="0">
            <a:spAutoFit/>
          </a:bodyPr>
          <a:lstStyle/>
          <a:p>
            <a:r>
              <a:rPr lang="en-IN" b="1" dirty="0">
                <a:solidFill>
                  <a:srgbClr val="FF0000"/>
                </a:solidFill>
              </a:rPr>
              <a:t>RISK ANALYSIS</a:t>
            </a:r>
          </a:p>
        </p:txBody>
      </p:sp>
    </p:spTree>
    <p:extLst>
      <p:ext uri="{BB962C8B-B14F-4D97-AF65-F5344CB8AC3E}">
        <p14:creationId xmlns:p14="http://schemas.microsoft.com/office/powerpoint/2010/main" val="30589866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48FBC-1BA7-CEAD-DB4F-287F8E50A30B}"/>
              </a:ext>
            </a:extLst>
          </p:cNvPr>
          <p:cNvSpPr>
            <a:spLocks noGrp="1"/>
          </p:cNvSpPr>
          <p:nvPr>
            <p:ph type="title"/>
          </p:nvPr>
        </p:nvSpPr>
        <p:spPr>
          <a:xfrm>
            <a:off x="838200" y="365125"/>
            <a:ext cx="10515600" cy="560161"/>
          </a:xfrm>
        </p:spPr>
        <p:txBody>
          <a:bodyPr>
            <a:normAutofit fontScale="90000"/>
          </a:bodyPr>
          <a:lstStyle/>
          <a:p>
            <a:r>
              <a:rPr lang="en-IN" b="1" dirty="0"/>
              <a:t>Spiral Model</a:t>
            </a:r>
            <a:endParaRPr lang="en-IN" dirty="0"/>
          </a:p>
        </p:txBody>
      </p:sp>
      <p:sp>
        <p:nvSpPr>
          <p:cNvPr id="5" name="TextBox 4">
            <a:extLst>
              <a:ext uri="{FF2B5EF4-FFF2-40B4-BE49-F238E27FC236}">
                <a16:creationId xmlns:a16="http://schemas.microsoft.com/office/drawing/2014/main" id="{DF16EB0D-A747-F164-B32D-DCDF664FA18A}"/>
              </a:ext>
            </a:extLst>
          </p:cNvPr>
          <p:cNvSpPr txBox="1"/>
          <p:nvPr/>
        </p:nvSpPr>
        <p:spPr>
          <a:xfrm>
            <a:off x="838200" y="1684564"/>
            <a:ext cx="3821880" cy="2554545"/>
          </a:xfrm>
          <a:prstGeom prst="rect">
            <a:avLst/>
          </a:prstGeom>
          <a:noFill/>
        </p:spPr>
        <p:txBody>
          <a:bodyPr wrap="none" rtlCol="0">
            <a:spAutoFit/>
          </a:bodyPr>
          <a:lstStyle/>
          <a:p>
            <a:r>
              <a:rPr lang="en-IN" sz="3200" b="1" dirty="0"/>
              <a:t>Terminologies:</a:t>
            </a:r>
          </a:p>
          <a:p>
            <a:pPr marL="457200" indent="-457200">
              <a:buFont typeface="Arial" panose="020B0604020202020204" pitchFamily="34" charset="0"/>
              <a:buChar char="•"/>
            </a:pPr>
            <a:r>
              <a:rPr lang="en-IN" sz="3200" dirty="0"/>
              <a:t>Risk handling</a:t>
            </a:r>
          </a:p>
          <a:p>
            <a:pPr marL="457200" indent="-457200">
              <a:buFont typeface="Arial" panose="020B0604020202020204" pitchFamily="34" charset="0"/>
              <a:buChar char="•"/>
            </a:pPr>
            <a:r>
              <a:rPr lang="en-IN" sz="3200" dirty="0"/>
              <a:t>Radius of spiral</a:t>
            </a:r>
          </a:p>
          <a:p>
            <a:pPr marL="457200" indent="-457200">
              <a:buFont typeface="Arial" panose="020B0604020202020204" pitchFamily="34" charset="0"/>
              <a:buChar char="•"/>
            </a:pPr>
            <a:r>
              <a:rPr lang="en-IN" sz="3200" dirty="0"/>
              <a:t>Angular Dimension</a:t>
            </a:r>
          </a:p>
          <a:p>
            <a:pPr marL="457200" indent="-457200">
              <a:buFont typeface="Arial" panose="020B0604020202020204" pitchFamily="34" charset="0"/>
              <a:buChar char="•"/>
            </a:pPr>
            <a:r>
              <a:rPr lang="en-IN" sz="3200" dirty="0"/>
              <a:t>Meta model</a:t>
            </a:r>
          </a:p>
        </p:txBody>
      </p:sp>
      <p:sp>
        <p:nvSpPr>
          <p:cNvPr id="6" name="TextBox 5">
            <a:extLst>
              <a:ext uri="{FF2B5EF4-FFF2-40B4-BE49-F238E27FC236}">
                <a16:creationId xmlns:a16="http://schemas.microsoft.com/office/drawing/2014/main" id="{485577B9-2B15-1A05-B47E-2B82993956BF}"/>
              </a:ext>
            </a:extLst>
          </p:cNvPr>
          <p:cNvSpPr txBox="1"/>
          <p:nvPr/>
        </p:nvSpPr>
        <p:spPr>
          <a:xfrm>
            <a:off x="5755822" y="925286"/>
            <a:ext cx="5445080" cy="4832092"/>
          </a:xfrm>
          <a:prstGeom prst="rect">
            <a:avLst/>
          </a:prstGeom>
          <a:noFill/>
        </p:spPr>
        <p:txBody>
          <a:bodyPr wrap="none" rtlCol="0">
            <a:spAutoFit/>
          </a:bodyPr>
          <a:lstStyle/>
          <a:p>
            <a:r>
              <a:rPr lang="en-IN" sz="2800" b="1" dirty="0"/>
              <a:t>Advantage:</a:t>
            </a:r>
          </a:p>
          <a:p>
            <a:pPr marL="457200" indent="-457200">
              <a:buFont typeface="Arial" panose="020B0604020202020204" pitchFamily="34" charset="0"/>
              <a:buChar char="•"/>
            </a:pPr>
            <a:r>
              <a:rPr lang="en-IN" sz="2800" dirty="0"/>
              <a:t>Risk analysis</a:t>
            </a:r>
          </a:p>
          <a:p>
            <a:pPr marL="457200" indent="-457200">
              <a:buFont typeface="Arial" panose="020B0604020202020204" pitchFamily="34" charset="0"/>
              <a:buChar char="•"/>
            </a:pPr>
            <a:r>
              <a:rPr lang="en-IN" sz="2800" dirty="0"/>
              <a:t>For large project</a:t>
            </a:r>
          </a:p>
          <a:p>
            <a:pPr marL="457200" indent="-457200">
              <a:buFont typeface="Arial" panose="020B0604020202020204" pitchFamily="34" charset="0"/>
              <a:buChar char="•"/>
            </a:pPr>
            <a:r>
              <a:rPr lang="en-IN" sz="2800" dirty="0"/>
              <a:t>Flexible</a:t>
            </a:r>
          </a:p>
          <a:p>
            <a:pPr marL="457200" indent="-457200">
              <a:buFont typeface="Arial" panose="020B0604020202020204" pitchFamily="34" charset="0"/>
              <a:buChar char="•"/>
            </a:pPr>
            <a:r>
              <a:rPr lang="en-IN" sz="2800" dirty="0"/>
              <a:t>Customer Satisfaction</a:t>
            </a:r>
          </a:p>
          <a:p>
            <a:endParaRPr lang="en-IN" sz="2800" dirty="0"/>
          </a:p>
          <a:p>
            <a:r>
              <a:rPr lang="en-IN" sz="2800" b="1" dirty="0"/>
              <a:t>Disadvantage:</a:t>
            </a:r>
          </a:p>
          <a:p>
            <a:pPr marL="457200" indent="-457200">
              <a:buFont typeface="Arial" panose="020B0604020202020204" pitchFamily="34" charset="0"/>
              <a:buChar char="•"/>
            </a:pPr>
            <a:r>
              <a:rPr lang="en-IN" sz="2800" dirty="0"/>
              <a:t>Suitable for very complex project</a:t>
            </a:r>
          </a:p>
          <a:p>
            <a:pPr marL="457200" indent="-457200">
              <a:buFont typeface="Arial" panose="020B0604020202020204" pitchFamily="34" charset="0"/>
              <a:buChar char="•"/>
            </a:pPr>
            <a:r>
              <a:rPr lang="en-IN" sz="2800" dirty="0"/>
              <a:t>Expensive</a:t>
            </a:r>
          </a:p>
          <a:p>
            <a:pPr marL="457200" indent="-457200">
              <a:buFont typeface="Arial" panose="020B0604020202020204" pitchFamily="34" charset="0"/>
              <a:buChar char="•"/>
            </a:pPr>
            <a:r>
              <a:rPr lang="en-IN" sz="2800" dirty="0"/>
              <a:t>Too much risk analysis</a:t>
            </a:r>
          </a:p>
          <a:p>
            <a:pPr marL="457200" indent="-457200">
              <a:buFont typeface="Arial" panose="020B0604020202020204" pitchFamily="34" charset="0"/>
              <a:buChar char="•"/>
            </a:pPr>
            <a:r>
              <a:rPr lang="en-IN" sz="2800" dirty="0"/>
              <a:t>Time taking</a:t>
            </a:r>
          </a:p>
        </p:txBody>
      </p:sp>
    </p:spTree>
    <p:extLst>
      <p:ext uri="{BB962C8B-B14F-4D97-AF65-F5344CB8AC3E}">
        <p14:creationId xmlns:p14="http://schemas.microsoft.com/office/powerpoint/2010/main" val="27541616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63233-FCEA-09A1-6B64-3263C545BB33}"/>
              </a:ext>
            </a:extLst>
          </p:cNvPr>
          <p:cNvSpPr>
            <a:spLocks noGrp="1"/>
          </p:cNvSpPr>
          <p:nvPr>
            <p:ph type="title"/>
          </p:nvPr>
        </p:nvSpPr>
        <p:spPr>
          <a:xfrm>
            <a:off x="838200" y="365125"/>
            <a:ext cx="10515600" cy="549275"/>
          </a:xfrm>
        </p:spPr>
        <p:txBody>
          <a:bodyPr>
            <a:normAutofit fontScale="90000"/>
          </a:bodyPr>
          <a:lstStyle/>
          <a:p>
            <a:r>
              <a:rPr lang="en-IN" b="1" dirty="0"/>
              <a:t>Prototyping Model</a:t>
            </a:r>
            <a:br>
              <a:rPr lang="en-IN" b="1" dirty="0"/>
            </a:br>
            <a:endParaRPr lang="en-IN" dirty="0"/>
          </a:p>
        </p:txBody>
      </p:sp>
      <p:pic>
        <p:nvPicPr>
          <p:cNvPr id="5" name="Content Placeholder 4">
            <a:extLst>
              <a:ext uri="{FF2B5EF4-FFF2-40B4-BE49-F238E27FC236}">
                <a16:creationId xmlns:a16="http://schemas.microsoft.com/office/drawing/2014/main" id="{A13A741F-71C2-9D42-0B8D-D5E7EDCA454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5981" y="1154566"/>
            <a:ext cx="5600020" cy="5257120"/>
          </a:xfrm>
        </p:spPr>
      </p:pic>
      <p:pic>
        <p:nvPicPr>
          <p:cNvPr id="7" name="Picture 6">
            <a:extLst>
              <a:ext uri="{FF2B5EF4-FFF2-40B4-BE49-F238E27FC236}">
                <a16:creationId xmlns:a16="http://schemas.microsoft.com/office/drawing/2014/main" id="{6F401380-BCAD-AE32-5CC1-6A62B0404C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47114" y="914401"/>
            <a:ext cx="5236029" cy="5334000"/>
          </a:xfrm>
          <a:prstGeom prst="rect">
            <a:avLst/>
          </a:prstGeom>
        </p:spPr>
      </p:pic>
    </p:spTree>
    <p:extLst>
      <p:ext uri="{BB962C8B-B14F-4D97-AF65-F5344CB8AC3E}">
        <p14:creationId xmlns:p14="http://schemas.microsoft.com/office/powerpoint/2010/main" val="8664905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788C-A653-40CF-4D83-8E944ED09C74}"/>
              </a:ext>
            </a:extLst>
          </p:cNvPr>
          <p:cNvSpPr>
            <a:spLocks noGrp="1"/>
          </p:cNvSpPr>
          <p:nvPr>
            <p:ph type="title"/>
          </p:nvPr>
        </p:nvSpPr>
        <p:spPr>
          <a:xfrm>
            <a:off x="457200" y="97971"/>
            <a:ext cx="10515600" cy="615724"/>
          </a:xfrm>
        </p:spPr>
        <p:txBody>
          <a:bodyPr>
            <a:normAutofit/>
          </a:bodyPr>
          <a:lstStyle/>
          <a:p>
            <a:r>
              <a:rPr lang="en-IN" sz="3200" b="1" i="0" u="none" strike="noStrike" baseline="0" dirty="0">
                <a:latin typeface="LubalinGraph-Demi"/>
              </a:rPr>
              <a:t>Component-Based Development</a:t>
            </a:r>
            <a:endParaRPr lang="en-IN" sz="3200" b="1" dirty="0"/>
          </a:p>
        </p:txBody>
      </p:sp>
      <p:sp>
        <p:nvSpPr>
          <p:cNvPr id="3" name="Content Placeholder 2">
            <a:extLst>
              <a:ext uri="{FF2B5EF4-FFF2-40B4-BE49-F238E27FC236}">
                <a16:creationId xmlns:a16="http://schemas.microsoft.com/office/drawing/2014/main" id="{55B1A2CA-2F98-B0BE-381E-794F98E841BC}"/>
              </a:ext>
            </a:extLst>
          </p:cNvPr>
          <p:cNvSpPr>
            <a:spLocks noGrp="1"/>
          </p:cNvSpPr>
          <p:nvPr>
            <p:ph idx="1"/>
          </p:nvPr>
        </p:nvSpPr>
        <p:spPr>
          <a:xfrm>
            <a:off x="130628" y="1034142"/>
            <a:ext cx="3450772" cy="5164592"/>
          </a:xfrm>
        </p:spPr>
        <p:txBody>
          <a:bodyPr/>
          <a:lstStyle/>
          <a:p>
            <a:r>
              <a:rPr lang="en-IN" dirty="0">
                <a:solidFill>
                  <a:srgbClr val="FF0000"/>
                </a:solidFill>
              </a:rPr>
              <a:t>Template</a:t>
            </a:r>
            <a:r>
              <a:rPr lang="en-IN" dirty="0"/>
              <a:t> or Description</a:t>
            </a:r>
          </a:p>
          <a:p>
            <a:r>
              <a:rPr lang="en-IN" dirty="0">
                <a:solidFill>
                  <a:srgbClr val="FF0000"/>
                </a:solidFill>
              </a:rPr>
              <a:t>Reuses</a:t>
            </a:r>
            <a:r>
              <a:rPr lang="en-IN" dirty="0"/>
              <a:t> the components, that already exists</a:t>
            </a:r>
          </a:p>
          <a:p>
            <a:r>
              <a:rPr lang="en-IN" dirty="0"/>
              <a:t>Increases reusability of individual SW components which are already tested and verified.</a:t>
            </a:r>
          </a:p>
        </p:txBody>
      </p:sp>
      <p:pic>
        <p:nvPicPr>
          <p:cNvPr id="5" name="Picture 4">
            <a:extLst>
              <a:ext uri="{FF2B5EF4-FFF2-40B4-BE49-F238E27FC236}">
                <a16:creationId xmlns:a16="http://schemas.microsoft.com/office/drawing/2014/main" id="{AC65704A-132D-FDE7-C64C-1E009A8D2E53}"/>
              </a:ext>
            </a:extLst>
          </p:cNvPr>
          <p:cNvPicPr>
            <a:picLocks noChangeAspect="1"/>
          </p:cNvPicPr>
          <p:nvPr/>
        </p:nvPicPr>
        <p:blipFill>
          <a:blip r:embed="rId2"/>
          <a:stretch>
            <a:fillRect/>
          </a:stretch>
        </p:blipFill>
        <p:spPr>
          <a:xfrm>
            <a:off x="4234544" y="979713"/>
            <a:ext cx="7826828" cy="5164592"/>
          </a:xfrm>
          <a:prstGeom prst="rect">
            <a:avLst/>
          </a:prstGeom>
        </p:spPr>
      </p:pic>
    </p:spTree>
    <p:extLst>
      <p:ext uri="{BB962C8B-B14F-4D97-AF65-F5344CB8AC3E}">
        <p14:creationId xmlns:p14="http://schemas.microsoft.com/office/powerpoint/2010/main" val="4299458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BB13B-422A-4A6E-43CF-9A4B129C7CEE}"/>
              </a:ext>
            </a:extLst>
          </p:cNvPr>
          <p:cNvSpPr>
            <a:spLocks noGrp="1"/>
          </p:cNvSpPr>
          <p:nvPr>
            <p:ph type="title"/>
          </p:nvPr>
        </p:nvSpPr>
        <p:spPr>
          <a:xfrm>
            <a:off x="838200" y="365126"/>
            <a:ext cx="10515600" cy="571046"/>
          </a:xfrm>
        </p:spPr>
        <p:txBody>
          <a:bodyPr>
            <a:normAutofit fontScale="90000"/>
          </a:bodyPr>
          <a:lstStyle/>
          <a:p>
            <a:r>
              <a:rPr lang="en-IN" sz="4400" b="1" i="0" u="none" strike="noStrike" baseline="0" dirty="0">
                <a:latin typeface="LubalinGraph-Demi"/>
              </a:rPr>
              <a:t>Component-Based Development</a:t>
            </a:r>
            <a:endParaRPr lang="en-IN" dirty="0"/>
          </a:p>
        </p:txBody>
      </p:sp>
      <p:sp>
        <p:nvSpPr>
          <p:cNvPr id="3" name="Content Placeholder 2">
            <a:extLst>
              <a:ext uri="{FF2B5EF4-FFF2-40B4-BE49-F238E27FC236}">
                <a16:creationId xmlns:a16="http://schemas.microsoft.com/office/drawing/2014/main" id="{DA6F11EE-B512-6F4B-1955-B8CEA44194E0}"/>
              </a:ext>
            </a:extLst>
          </p:cNvPr>
          <p:cNvSpPr>
            <a:spLocks noGrp="1"/>
          </p:cNvSpPr>
          <p:nvPr>
            <p:ph idx="1"/>
          </p:nvPr>
        </p:nvSpPr>
        <p:spPr>
          <a:xfrm>
            <a:off x="838200" y="1295400"/>
            <a:ext cx="10515600" cy="4881563"/>
          </a:xfrm>
        </p:spPr>
        <p:txBody>
          <a:bodyPr>
            <a:normAutofit lnSpcReduction="10000"/>
          </a:bodyPr>
          <a:lstStyle/>
          <a:p>
            <a:pPr marL="0" indent="0">
              <a:buNone/>
            </a:pPr>
            <a:r>
              <a:rPr lang="en-IN" b="1" dirty="0"/>
              <a:t>Key points</a:t>
            </a:r>
          </a:p>
          <a:p>
            <a:pPr algn="l"/>
            <a:r>
              <a:rPr lang="en-IN" sz="2800" b="0" i="0" u="none" strike="noStrike" baseline="0" dirty="0">
                <a:latin typeface="Leawood-Book"/>
              </a:rPr>
              <a:t>The </a:t>
            </a:r>
            <a:r>
              <a:rPr lang="en-US" sz="2800" b="0" i="1" u="none" strike="noStrike" baseline="0" dirty="0">
                <a:latin typeface="Leawood-BookItalic"/>
              </a:rPr>
              <a:t>component-based development model </a:t>
            </a:r>
            <a:r>
              <a:rPr lang="en-US" sz="2800" b="0" i="0" u="none" strike="noStrike" baseline="0" dirty="0">
                <a:latin typeface="Leawood-Book"/>
              </a:rPr>
              <a:t>incorporates many of the </a:t>
            </a:r>
            <a:r>
              <a:rPr lang="en-US" sz="2800" b="0" i="0" u="none" strike="noStrike" baseline="0" dirty="0">
                <a:solidFill>
                  <a:srgbClr val="FF0000"/>
                </a:solidFill>
                <a:latin typeface="Leawood-Book"/>
              </a:rPr>
              <a:t>characteristics</a:t>
            </a:r>
            <a:r>
              <a:rPr lang="en-US" sz="2800" b="0" i="0" u="none" strike="noStrike" baseline="0" dirty="0">
                <a:latin typeface="Leawood-Book"/>
              </a:rPr>
              <a:t> of the </a:t>
            </a:r>
            <a:r>
              <a:rPr lang="en-US" sz="2800" b="0" i="0" u="none" strike="noStrike" baseline="0" dirty="0">
                <a:solidFill>
                  <a:srgbClr val="FF0000"/>
                </a:solidFill>
                <a:latin typeface="Leawood-Book"/>
              </a:rPr>
              <a:t>spiral</a:t>
            </a:r>
            <a:r>
              <a:rPr lang="en-US" sz="2800" b="0" i="0" u="none" strike="noStrike" baseline="0" dirty="0">
                <a:latin typeface="Leawood-Book"/>
              </a:rPr>
              <a:t> model; It is </a:t>
            </a:r>
            <a:r>
              <a:rPr lang="en-US" sz="2800" b="0" i="0" u="none" strike="noStrike" baseline="0" dirty="0">
                <a:solidFill>
                  <a:srgbClr val="FF0000"/>
                </a:solidFill>
                <a:latin typeface="Leawood-Book"/>
              </a:rPr>
              <a:t>evolutionary</a:t>
            </a:r>
            <a:r>
              <a:rPr lang="en-US" sz="2800" b="0" i="0" u="none" strike="noStrike" baseline="0" dirty="0">
                <a:latin typeface="Leawood-Book"/>
              </a:rPr>
              <a:t> in </a:t>
            </a:r>
            <a:r>
              <a:rPr lang="en-US" sz="2800" b="0" i="0" u="none" strike="noStrike" baseline="0" dirty="0">
                <a:solidFill>
                  <a:srgbClr val="FF0000"/>
                </a:solidFill>
                <a:latin typeface="Leawood-Book"/>
              </a:rPr>
              <a:t>nature</a:t>
            </a:r>
            <a:r>
              <a:rPr lang="en-US" sz="2800" b="0" i="0" u="none" strike="noStrike" baseline="0" dirty="0">
                <a:latin typeface="Leawood-Book"/>
              </a:rPr>
              <a:t> [Nie92], demanding an </a:t>
            </a:r>
            <a:r>
              <a:rPr lang="en-US" sz="2800" b="0" i="0" u="none" strike="noStrike" baseline="0" dirty="0">
                <a:solidFill>
                  <a:srgbClr val="FF0000"/>
                </a:solidFill>
                <a:latin typeface="Leawood-Book"/>
              </a:rPr>
              <a:t>iterative approach </a:t>
            </a:r>
            <a:r>
              <a:rPr lang="en-US" sz="2800" b="0" i="0" u="none" strike="noStrike" baseline="0" dirty="0">
                <a:latin typeface="Leawood-Book"/>
              </a:rPr>
              <a:t>to the creation of software. However, the component-based development model </a:t>
            </a:r>
            <a:r>
              <a:rPr lang="en-US" sz="2800" b="0" i="0" u="none" strike="noStrike" baseline="0" dirty="0">
                <a:solidFill>
                  <a:srgbClr val="FF0000"/>
                </a:solidFill>
                <a:latin typeface="Leawood-Book"/>
              </a:rPr>
              <a:t>constructs applications </a:t>
            </a:r>
            <a:r>
              <a:rPr lang="en-US" sz="2800" b="0" i="0" u="none" strike="noStrike" baseline="0" dirty="0">
                <a:latin typeface="Leawood-Book"/>
              </a:rPr>
              <a:t>from </a:t>
            </a:r>
            <a:r>
              <a:rPr lang="en-US" sz="2800" b="0" i="0" u="none" strike="noStrike" baseline="0" dirty="0">
                <a:solidFill>
                  <a:srgbClr val="FF0000"/>
                </a:solidFill>
                <a:latin typeface="Leawood-Book"/>
              </a:rPr>
              <a:t>prepackage</a:t>
            </a:r>
            <a:r>
              <a:rPr lang="en-US" sz="2800" b="0" i="0" u="none" strike="noStrike" baseline="0" dirty="0">
                <a:latin typeface="Leawood-Book"/>
              </a:rPr>
              <a:t>d software components</a:t>
            </a:r>
            <a:endParaRPr lang="en-US" b="0" i="0" u="none" strike="noStrike" baseline="0" dirty="0">
              <a:latin typeface="Leawood-Book"/>
            </a:endParaRPr>
          </a:p>
          <a:p>
            <a:pPr algn="l"/>
            <a:r>
              <a:rPr lang="en-US" b="0" i="0" u="none" strike="noStrike" baseline="0">
                <a:latin typeface="Leawood-Book"/>
              </a:rPr>
              <a:t>The </a:t>
            </a:r>
            <a:r>
              <a:rPr lang="en-US" b="0" i="0" u="none" strike="noStrike" baseline="0" dirty="0">
                <a:latin typeface="Leawood-Book"/>
              </a:rPr>
              <a:t>component-based development model leads to software reuse, and reusability</a:t>
            </a:r>
          </a:p>
          <a:p>
            <a:pPr algn="l"/>
            <a:r>
              <a:rPr lang="en-US" b="0" i="0" u="none" strike="noStrike" baseline="0" dirty="0">
                <a:latin typeface="Leawood-Book"/>
              </a:rPr>
              <a:t>software engineering team can achieve a reduction in development cycle time, </a:t>
            </a:r>
          </a:p>
          <a:p>
            <a:pPr algn="l"/>
            <a:r>
              <a:rPr lang="en-US" b="0" i="0" u="none" strike="noStrike" baseline="0" dirty="0">
                <a:latin typeface="Leawood-Book"/>
              </a:rPr>
              <a:t>reduction in project cost if component reuse becomes part of your culture</a:t>
            </a:r>
          </a:p>
          <a:p>
            <a:pPr marL="0" indent="0" algn="l">
              <a:buNone/>
            </a:pPr>
            <a:endParaRPr lang="en-IN" dirty="0"/>
          </a:p>
        </p:txBody>
      </p:sp>
    </p:spTree>
    <p:extLst>
      <p:ext uri="{BB962C8B-B14F-4D97-AF65-F5344CB8AC3E}">
        <p14:creationId xmlns:p14="http://schemas.microsoft.com/office/powerpoint/2010/main" val="3304763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F004A-DEAB-417E-0E0A-4A1876E356A5}"/>
              </a:ext>
            </a:extLst>
          </p:cNvPr>
          <p:cNvSpPr>
            <a:spLocks noGrp="1"/>
          </p:cNvSpPr>
          <p:nvPr>
            <p:ph type="title"/>
          </p:nvPr>
        </p:nvSpPr>
        <p:spPr>
          <a:xfrm>
            <a:off x="838200" y="365126"/>
            <a:ext cx="10515600" cy="592818"/>
          </a:xfrm>
        </p:spPr>
        <p:txBody>
          <a:bodyPr>
            <a:normAutofit fontScale="90000"/>
          </a:bodyPr>
          <a:lstStyle/>
          <a:p>
            <a:r>
              <a:rPr lang="en-IN" b="1" dirty="0"/>
              <a:t>Previous Year Question</a:t>
            </a:r>
          </a:p>
        </p:txBody>
      </p:sp>
      <p:sp>
        <p:nvSpPr>
          <p:cNvPr id="3" name="Content Placeholder 2">
            <a:extLst>
              <a:ext uri="{FF2B5EF4-FFF2-40B4-BE49-F238E27FC236}">
                <a16:creationId xmlns:a16="http://schemas.microsoft.com/office/drawing/2014/main" id="{875D7966-B54F-55C8-2E7B-AF293C102A68}"/>
              </a:ext>
            </a:extLst>
          </p:cNvPr>
          <p:cNvSpPr>
            <a:spLocks noGrp="1"/>
          </p:cNvSpPr>
          <p:nvPr>
            <p:ph idx="1"/>
          </p:nvPr>
        </p:nvSpPr>
        <p:spPr>
          <a:xfrm>
            <a:off x="838200" y="1284514"/>
            <a:ext cx="10515600" cy="4892449"/>
          </a:xfrm>
        </p:spPr>
        <p:txBody>
          <a:bodyPr>
            <a:normAutofit/>
          </a:bodyPr>
          <a:lstStyle/>
          <a:p>
            <a:pPr algn="just">
              <a:lnSpc>
                <a:spcPct val="115000"/>
              </a:lnSpc>
              <a:spcAft>
                <a:spcPts val="800"/>
              </a:spcAft>
            </a:pPr>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You are interacting with the MIS department of a very large oil company with multiple departments. They have a </a:t>
            </a:r>
            <a:r>
              <a:rPr lang="en-IN" sz="24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complex regency system</a:t>
            </a:r>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4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Migrating the data </a:t>
            </a:r>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from this legacy system is </a:t>
            </a:r>
            <a:r>
              <a:rPr lang="en-IN" sz="24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not an easy task </a:t>
            </a:r>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and would </a:t>
            </a:r>
            <a:r>
              <a:rPr lang="en-IN" sz="24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take</a:t>
            </a:r>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 </a:t>
            </a:r>
            <a:r>
              <a:rPr lang="en-IN" sz="24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considerable time</a:t>
            </a:r>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The oil company is very particular about processes, acceptance criteria and legal contracts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lvl="1" algn="just">
              <a:lnSpc>
                <a:spcPct val="115000"/>
              </a:lnSpc>
              <a:spcAft>
                <a:spcPts val="800"/>
              </a:spcAft>
            </a:pPr>
            <a:r>
              <a:rPr lang="en-IN"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Answer the following questions. (2 marks)</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lvl="1"/>
            <a:r>
              <a:rPr lang="en-IN" dirty="0">
                <a:solidFill>
                  <a:srgbClr val="000000"/>
                </a:solidFill>
                <a:effectLst/>
                <a:latin typeface="Times New Roman" panose="02020603050405020304" pitchFamily="18" charset="0"/>
                <a:ea typeface="Calibri" panose="020F0502020204030204" pitchFamily="34" charset="0"/>
              </a:rPr>
              <a:t>Which model is best suited and, justify? (8 marks)</a:t>
            </a:r>
          </a:p>
          <a:p>
            <a:pPr lvl="1"/>
            <a:endParaRPr lang="en-IN" dirty="0">
              <a:solidFill>
                <a:srgbClr val="000000"/>
              </a:solidFill>
              <a:latin typeface="Times New Roman" panose="02020603050405020304" pitchFamily="18" charset="0"/>
              <a:ea typeface="Calibri" panose="020F0502020204030204" pitchFamily="34" charset="0"/>
            </a:endParaRPr>
          </a:p>
          <a:p>
            <a:pPr lvl="1"/>
            <a:endParaRPr lang="en-IN" dirty="0">
              <a:solidFill>
                <a:srgbClr val="000000"/>
              </a:solidFill>
              <a:latin typeface="Times New Roman" panose="02020603050405020304" pitchFamily="18" charset="0"/>
              <a:ea typeface="Calibri" panose="020F0502020204030204" pitchFamily="34" charset="0"/>
            </a:endParaRPr>
          </a:p>
          <a:p>
            <a:pPr lvl="1"/>
            <a:endParaRPr lang="en-IN" dirty="0">
              <a:solidFill>
                <a:srgbClr val="000000"/>
              </a:solidFill>
              <a:latin typeface="Times New Roman" panose="02020603050405020304" pitchFamily="18" charset="0"/>
              <a:ea typeface="Calibri" panose="020F0502020204030204" pitchFamily="34" charset="0"/>
            </a:endParaRPr>
          </a:p>
          <a:p>
            <a:pPr marL="457200" lvl="1" indent="0">
              <a:buNone/>
            </a:pPr>
            <a:r>
              <a:rPr lang="en-IN" dirty="0">
                <a:solidFill>
                  <a:srgbClr val="FF0000"/>
                </a:solidFill>
                <a:latin typeface="Times New Roman" panose="02020603050405020304" pitchFamily="18" charset="0"/>
                <a:ea typeface="Calibri" panose="020F0502020204030204" pitchFamily="34" charset="0"/>
              </a:rPr>
              <a:t>Regency: </a:t>
            </a:r>
            <a:r>
              <a:rPr lang="en-US" i="1" dirty="0">
                <a:solidFill>
                  <a:srgbClr val="FF0000"/>
                </a:solidFill>
              </a:rPr>
              <a:t>jurisdiction, or government of a regent or body of regents</a:t>
            </a:r>
            <a:r>
              <a:rPr lang="en-US" dirty="0">
                <a:solidFill>
                  <a:srgbClr val="FF0000"/>
                </a:solidFill>
              </a:rPr>
              <a:t>.</a:t>
            </a:r>
            <a:endParaRPr lang="en-IN" dirty="0">
              <a:solidFill>
                <a:srgbClr val="FF0000"/>
              </a:solidFill>
            </a:endParaRPr>
          </a:p>
        </p:txBody>
      </p:sp>
    </p:spTree>
    <p:extLst>
      <p:ext uri="{BB962C8B-B14F-4D97-AF65-F5344CB8AC3E}">
        <p14:creationId xmlns:p14="http://schemas.microsoft.com/office/powerpoint/2010/main" val="25441975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DFC91D3-C75E-5B64-EBFD-69FB762C9501}"/>
              </a:ext>
            </a:extLst>
          </p:cNvPr>
          <p:cNvPicPr>
            <a:picLocks noGrp="1" noChangeAspect="1"/>
          </p:cNvPicPr>
          <p:nvPr>
            <p:ph idx="1"/>
          </p:nvPr>
        </p:nvPicPr>
        <p:blipFill>
          <a:blip r:embed="rId2"/>
          <a:stretch>
            <a:fillRect/>
          </a:stretch>
        </p:blipFill>
        <p:spPr>
          <a:xfrm>
            <a:off x="849086" y="664029"/>
            <a:ext cx="9781447" cy="5042478"/>
          </a:xfrm>
        </p:spPr>
      </p:pic>
    </p:spTree>
    <p:extLst>
      <p:ext uri="{BB962C8B-B14F-4D97-AF65-F5344CB8AC3E}">
        <p14:creationId xmlns:p14="http://schemas.microsoft.com/office/powerpoint/2010/main" val="12524964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905</TotalTime>
  <Words>1189</Words>
  <Application>Microsoft Office PowerPoint</Application>
  <PresentationFormat>Widescreen</PresentationFormat>
  <Paragraphs>113</Paragraphs>
  <Slides>20</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20</vt:i4>
      </vt:variant>
    </vt:vector>
  </HeadingPairs>
  <TitlesOfParts>
    <vt:vector size="31" baseType="lpstr">
      <vt:lpstr>Arial</vt:lpstr>
      <vt:lpstr>ArialMT</vt:lpstr>
      <vt:lpstr>Calibri</vt:lpstr>
      <vt:lpstr>Calibri Light</vt:lpstr>
      <vt:lpstr>Futura-Bold</vt:lpstr>
      <vt:lpstr>Leawood-Bold</vt:lpstr>
      <vt:lpstr>Leawood-Book</vt:lpstr>
      <vt:lpstr>Leawood-BookItalic</vt:lpstr>
      <vt:lpstr>LubalinGraph-Demi</vt:lpstr>
      <vt:lpstr>Times New Roman</vt:lpstr>
      <vt:lpstr>Office Theme</vt:lpstr>
      <vt:lpstr>Module 1 Process Model</vt:lpstr>
      <vt:lpstr>Process Model</vt:lpstr>
      <vt:lpstr>PowerPoint Presentation</vt:lpstr>
      <vt:lpstr>1. Waterfall model</vt:lpstr>
      <vt:lpstr>PowerPoint Presentation</vt:lpstr>
      <vt:lpstr>Waterfall Model</vt:lpstr>
      <vt:lpstr>2. V-shaped model</vt:lpstr>
      <vt:lpstr>V-shaped model</vt:lpstr>
      <vt:lpstr>V-shaped model</vt:lpstr>
      <vt:lpstr>3. Incremental Process Models</vt:lpstr>
      <vt:lpstr>Incremental Process Models</vt:lpstr>
      <vt:lpstr>4. Evolutionary Process Models</vt:lpstr>
      <vt:lpstr>PowerPoint Presentation</vt:lpstr>
      <vt:lpstr>5. Spiral Model</vt:lpstr>
      <vt:lpstr>Spiral Model</vt:lpstr>
      <vt:lpstr>Prototyping Model </vt:lpstr>
      <vt:lpstr>Component-Based Development</vt:lpstr>
      <vt:lpstr>Component-Based Development</vt:lpstr>
      <vt:lpstr>Previous Year Question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Samriddhi Sarkar</dc:creator>
  <cp:lastModifiedBy>Samriddhi Sarkar</cp:lastModifiedBy>
  <cp:revision>13</cp:revision>
  <dcterms:created xsi:type="dcterms:W3CDTF">2024-12-15T17:48:08Z</dcterms:created>
  <dcterms:modified xsi:type="dcterms:W3CDTF">2024-12-18T17:26:44Z</dcterms:modified>
</cp:coreProperties>
</file>