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61" r:id="rId5"/>
    <p:sldId id="260" r:id="rId6"/>
    <p:sldId id="271" r:id="rId7"/>
    <p:sldId id="262" r:id="rId8"/>
    <p:sldId id="259" r:id="rId9"/>
    <p:sldId id="263" r:id="rId10"/>
    <p:sldId id="264" r:id="rId11"/>
    <p:sldId id="265" r:id="rId12"/>
    <p:sldId id="272" r:id="rId13"/>
    <p:sldId id="266" r:id="rId14"/>
    <p:sldId id="267" r:id="rId15"/>
    <p:sldId id="268"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0" d="100"/>
          <a:sy n="70" d="100"/>
        </p:scale>
        <p:origin x="536" y="-1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966F5-8A4C-46F2-B8ED-1861EE5DD155}" type="datetimeFigureOut">
              <a:rPr lang="en-IN" smtClean="0"/>
              <a:t>16-12-2024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C892B4-D97C-4EB0-B07A-78F0FB7637A6}" type="slidenum">
              <a:rPr lang="en-IN" smtClean="0"/>
              <a:t>‹#›</a:t>
            </a:fld>
            <a:endParaRPr lang="en-IN"/>
          </a:p>
        </p:txBody>
      </p:sp>
    </p:spTree>
    <p:extLst>
      <p:ext uri="{BB962C8B-B14F-4D97-AF65-F5344CB8AC3E}">
        <p14:creationId xmlns:p14="http://schemas.microsoft.com/office/powerpoint/2010/main" val="2585619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C892B4-D97C-4EB0-B07A-78F0FB7637A6}" type="slidenum">
              <a:rPr lang="en-IN" smtClean="0"/>
              <a:t>7</a:t>
            </a:fld>
            <a:endParaRPr lang="en-IN"/>
          </a:p>
        </p:txBody>
      </p:sp>
    </p:spTree>
    <p:extLst>
      <p:ext uri="{BB962C8B-B14F-4D97-AF65-F5344CB8AC3E}">
        <p14:creationId xmlns:p14="http://schemas.microsoft.com/office/powerpoint/2010/main" val="2115468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FC70D-52EF-E55F-2D69-B44967207F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7036168-486F-B401-BA32-6A93901FFF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737A35-4D76-E0F6-04D8-F4C803024D9A}"/>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5" name="Footer Placeholder 4">
            <a:extLst>
              <a:ext uri="{FF2B5EF4-FFF2-40B4-BE49-F238E27FC236}">
                <a16:creationId xmlns:a16="http://schemas.microsoft.com/office/drawing/2014/main" id="{14DA50FA-D35B-39B2-15A6-BED3F0FB5E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147153-442C-3B3B-DDBF-8182640FFC60}"/>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1911923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C51FB-4944-3768-39CC-5C7E9BE044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4E3FBF-F811-1C59-D2D1-19B313A0D2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4C1ED2-B1C7-EFE0-5104-E485525F28CC}"/>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5" name="Footer Placeholder 4">
            <a:extLst>
              <a:ext uri="{FF2B5EF4-FFF2-40B4-BE49-F238E27FC236}">
                <a16:creationId xmlns:a16="http://schemas.microsoft.com/office/drawing/2014/main" id="{B737EC18-CE35-CADD-AFAE-F3F9AB1858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655A01-130E-A8D9-08D4-CEFD3D780281}"/>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243918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76AB0-B8E2-94DB-1CDD-D8B4F81749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B5F982-93F5-7052-B443-5B2914F9E6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FA3E87-C62D-1742-FD97-4680C2E45C85}"/>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5" name="Footer Placeholder 4">
            <a:extLst>
              <a:ext uri="{FF2B5EF4-FFF2-40B4-BE49-F238E27FC236}">
                <a16:creationId xmlns:a16="http://schemas.microsoft.com/office/drawing/2014/main" id="{E5A0D7B8-2C39-9BE7-88C2-8B1ECCD3CB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5B4BC2-995C-DB55-8B6D-F4A4FB716991}"/>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311885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DC79A-0CEA-AC43-DD96-9BF48E894D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71D883-C13C-2236-03F8-873B9B0D09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94DF16-71DA-6868-92F4-90C6A350FD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6057BB-4712-3681-6EBD-0D2C71695AA1}"/>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6" name="Footer Placeholder 5">
            <a:extLst>
              <a:ext uri="{FF2B5EF4-FFF2-40B4-BE49-F238E27FC236}">
                <a16:creationId xmlns:a16="http://schemas.microsoft.com/office/drawing/2014/main" id="{67085EF9-3846-1CF9-0C84-7DA0BA5427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9DC663-6A63-80A6-B4FC-9B436EBF45B3}"/>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645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16941-29D6-26E7-3320-E6BB5C0011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CF5D88-5DFB-7ED4-FB45-19ABFB2D43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1B62C7-2908-0A3D-2B3B-41A59695F1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F04F5E-71C3-3689-C8BB-BEAF5CF764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DBE2CE-7C27-7CBB-B274-7E3C6180EB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0F08BD-EB02-20A8-4525-92B4FDBA1294}"/>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8" name="Footer Placeholder 7">
            <a:extLst>
              <a:ext uri="{FF2B5EF4-FFF2-40B4-BE49-F238E27FC236}">
                <a16:creationId xmlns:a16="http://schemas.microsoft.com/office/drawing/2014/main" id="{261BA899-5C90-8A10-8885-91712CF774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45509D1-871F-F0B8-5253-BCBE9320AEAF}"/>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173608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49E90-273C-7444-FF7E-B330815083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2981D7-55AB-895B-8318-A9C59FF7A267}"/>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4" name="Footer Placeholder 3">
            <a:extLst>
              <a:ext uri="{FF2B5EF4-FFF2-40B4-BE49-F238E27FC236}">
                <a16:creationId xmlns:a16="http://schemas.microsoft.com/office/drawing/2014/main" id="{EAA11E81-B16A-DD60-6F1A-2F45D605F6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C31805-8688-49D6-B423-FC8EBD8BA933}"/>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536021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B27BA0-8EBE-8D1E-3C33-3F0D3FC983BD}"/>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3" name="Footer Placeholder 2">
            <a:extLst>
              <a:ext uri="{FF2B5EF4-FFF2-40B4-BE49-F238E27FC236}">
                <a16:creationId xmlns:a16="http://schemas.microsoft.com/office/drawing/2014/main" id="{16101D65-5657-17A8-FE75-1F0CBEFC8E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DFF601-DD8C-8A33-5829-E5FEA7DC86D4}"/>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213594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ECAC0-2CBF-926D-3AAF-E07EB04051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860F79-00E6-C158-562F-AC5D76EA23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373C12C-FA41-B56A-4025-9B8E1CBF2C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D2112D-CBCC-DCEA-7E02-574EA5760A4E}"/>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6" name="Footer Placeholder 5">
            <a:extLst>
              <a:ext uri="{FF2B5EF4-FFF2-40B4-BE49-F238E27FC236}">
                <a16:creationId xmlns:a16="http://schemas.microsoft.com/office/drawing/2014/main" id="{70CE3161-E863-4B85-9358-5A8FA2C82E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9650CD-4176-FE83-2194-4499CC65DEF8}"/>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1069821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A2BE6-D3F3-EB53-AFFB-2C5A6F2A0F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2F3393-307F-19BF-5A57-8628E35C72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521EC6-D584-53F3-4AF0-4C06C3561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55375E-F867-8F9C-8191-08449BB370F0}"/>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6" name="Footer Placeholder 5">
            <a:extLst>
              <a:ext uri="{FF2B5EF4-FFF2-40B4-BE49-F238E27FC236}">
                <a16:creationId xmlns:a16="http://schemas.microsoft.com/office/drawing/2014/main" id="{AFF40FCF-9CA0-623D-8D5C-D2D9290709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9C5FEA-E150-1F53-FEAC-F38B9C585583}"/>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2574995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62E82-C538-3777-C34E-7F6F00E4F3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5C52AE-1B69-67E1-ADE1-1331C471E6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925675-921D-D667-B180-9CB3F84A2E82}"/>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5" name="Footer Placeholder 4">
            <a:extLst>
              <a:ext uri="{FF2B5EF4-FFF2-40B4-BE49-F238E27FC236}">
                <a16:creationId xmlns:a16="http://schemas.microsoft.com/office/drawing/2014/main" id="{716D99B3-AA70-0DAB-CB57-D3F4D04F67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A737FC-75BC-5B02-BC1D-2664CC70A2D9}"/>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65626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540207-E020-2907-F83B-0030F63F9C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89C9DC-DC99-AA86-CBC7-A8C1EEA7C5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1FBBED-2C91-B0AC-85B0-527810A31C7C}"/>
              </a:ext>
            </a:extLst>
          </p:cNvPr>
          <p:cNvSpPr>
            <a:spLocks noGrp="1"/>
          </p:cNvSpPr>
          <p:nvPr>
            <p:ph type="dt" sz="half" idx="10"/>
          </p:nvPr>
        </p:nvSpPr>
        <p:spPr/>
        <p:txBody>
          <a:bodyPr/>
          <a:lstStyle/>
          <a:p>
            <a:fld id="{D645E8B9-ADCA-47BD-A220-FF3AA623F692}" type="datetimeFigureOut">
              <a:rPr lang="en-IN" smtClean="0"/>
              <a:t>16-12-2024</a:t>
            </a:fld>
            <a:endParaRPr lang="en-IN"/>
          </a:p>
        </p:txBody>
      </p:sp>
      <p:sp>
        <p:nvSpPr>
          <p:cNvPr id="5" name="Footer Placeholder 4">
            <a:extLst>
              <a:ext uri="{FF2B5EF4-FFF2-40B4-BE49-F238E27FC236}">
                <a16:creationId xmlns:a16="http://schemas.microsoft.com/office/drawing/2014/main" id="{4BFD9B36-C6B5-FDDC-B794-DB3E980472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0A3DC4-3EE6-7BB0-D6F8-F6F939DA341C}"/>
              </a:ext>
            </a:extLst>
          </p:cNvPr>
          <p:cNvSpPr>
            <a:spLocks noGrp="1"/>
          </p:cNvSpPr>
          <p:nvPr>
            <p:ph type="sldNum" sz="quarter" idx="12"/>
          </p:nvPr>
        </p:nvSpPr>
        <p:spPr/>
        <p:txBody>
          <a:bodyPr/>
          <a:lstStyle/>
          <a:p>
            <a:fld id="{4480C616-1DF4-4B20-B260-31EBDC20829E}" type="slidenum">
              <a:rPr lang="en-IN" smtClean="0"/>
              <a:t>‹#›</a:t>
            </a:fld>
            <a:endParaRPr lang="en-IN"/>
          </a:p>
        </p:txBody>
      </p:sp>
    </p:spTree>
    <p:extLst>
      <p:ext uri="{BB962C8B-B14F-4D97-AF65-F5344CB8AC3E}">
        <p14:creationId xmlns:p14="http://schemas.microsoft.com/office/powerpoint/2010/main" val="4021185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5CA5B3-8B85-6DA6-D850-A9AD42A47F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2F26D2-0495-759C-205E-4058818F5C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984DE3-7E8D-B93A-D108-C558A63BEB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5E8B9-ADCA-47BD-A220-FF3AA623F692}" type="datetimeFigureOut">
              <a:rPr lang="en-IN" smtClean="0"/>
              <a:t>16-12-2024</a:t>
            </a:fld>
            <a:endParaRPr lang="en-IN"/>
          </a:p>
        </p:txBody>
      </p:sp>
      <p:sp>
        <p:nvSpPr>
          <p:cNvPr id="5" name="Footer Placeholder 4">
            <a:extLst>
              <a:ext uri="{FF2B5EF4-FFF2-40B4-BE49-F238E27FC236}">
                <a16:creationId xmlns:a16="http://schemas.microsoft.com/office/drawing/2014/main" id="{AC9F3813-D547-CEAE-DE1B-57A20E062F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0568A61-8368-5FC5-4619-CBC07168A9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80C616-1DF4-4B20-B260-31EBDC20829E}" type="slidenum">
              <a:rPr lang="en-IN" smtClean="0"/>
              <a:t>‹#›</a:t>
            </a:fld>
            <a:endParaRPr lang="en-IN"/>
          </a:p>
        </p:txBody>
      </p:sp>
    </p:spTree>
    <p:extLst>
      <p:ext uri="{BB962C8B-B14F-4D97-AF65-F5344CB8AC3E}">
        <p14:creationId xmlns:p14="http://schemas.microsoft.com/office/powerpoint/2010/main" val="59886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basics-of-computer-and-its-operation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BEBED-80E6-9723-78A5-15E047CBBF3C}"/>
              </a:ext>
            </a:extLst>
          </p:cNvPr>
          <p:cNvSpPr>
            <a:spLocks noGrp="1"/>
          </p:cNvSpPr>
          <p:nvPr>
            <p:ph type="ctrTitle"/>
          </p:nvPr>
        </p:nvSpPr>
        <p:spPr/>
        <p:txBody>
          <a:bodyPr>
            <a:normAutofit/>
          </a:bodyPr>
          <a:lstStyle/>
          <a:p>
            <a:r>
              <a:rPr lang="en-US" sz="4000" b="0" i="0" u="none" strike="noStrike" baseline="0" dirty="0">
                <a:latin typeface="CIDFont+F1"/>
              </a:rPr>
              <a:t>Module:1 Overview Of Software Engineering</a:t>
            </a:r>
            <a:endParaRPr lang="en-IN" sz="4000" dirty="0"/>
          </a:p>
        </p:txBody>
      </p:sp>
      <p:sp>
        <p:nvSpPr>
          <p:cNvPr id="3" name="Subtitle 2">
            <a:extLst>
              <a:ext uri="{FF2B5EF4-FFF2-40B4-BE49-F238E27FC236}">
                <a16:creationId xmlns:a16="http://schemas.microsoft.com/office/drawing/2014/main" id="{539398ED-A461-C633-4AF9-5490C4FC37E6}"/>
              </a:ext>
            </a:extLst>
          </p:cNvPr>
          <p:cNvSpPr>
            <a:spLocks noGrp="1"/>
          </p:cNvSpPr>
          <p:nvPr>
            <p:ph type="subTitle" idx="1"/>
          </p:nvPr>
        </p:nvSpPr>
        <p:spPr/>
        <p:txBody>
          <a:bodyPr>
            <a:normAutofit/>
          </a:bodyPr>
          <a:lstStyle/>
          <a:p>
            <a:r>
              <a:rPr lang="en-IN" b="1" i="0" u="none" strike="noStrike" baseline="0" dirty="0">
                <a:latin typeface="Formata-Regular"/>
              </a:rPr>
              <a:t>BOOK: Ian Sommerville</a:t>
            </a:r>
          </a:p>
          <a:p>
            <a:r>
              <a:rPr lang="en-IN" b="1" dirty="0">
                <a:latin typeface="Formata-Regular"/>
              </a:rPr>
              <a:t>Chapter 1</a:t>
            </a:r>
            <a:endParaRPr lang="en-IN" b="1" dirty="0"/>
          </a:p>
        </p:txBody>
      </p:sp>
    </p:spTree>
    <p:extLst>
      <p:ext uri="{BB962C8B-B14F-4D97-AF65-F5344CB8AC3E}">
        <p14:creationId xmlns:p14="http://schemas.microsoft.com/office/powerpoint/2010/main" val="194715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1ED5F-9DDE-94CE-5538-3BE2D1146CC6}"/>
              </a:ext>
            </a:extLst>
          </p:cNvPr>
          <p:cNvSpPr>
            <a:spLocks noGrp="1"/>
          </p:cNvSpPr>
          <p:nvPr>
            <p:ph type="title"/>
          </p:nvPr>
        </p:nvSpPr>
        <p:spPr/>
        <p:txBody>
          <a:bodyPr/>
          <a:lstStyle/>
          <a:p>
            <a:r>
              <a:rPr lang="en-IN" dirty="0"/>
              <a:t>Contents</a:t>
            </a:r>
          </a:p>
        </p:txBody>
      </p:sp>
      <p:sp>
        <p:nvSpPr>
          <p:cNvPr id="3" name="Content Placeholder 2">
            <a:extLst>
              <a:ext uri="{FF2B5EF4-FFF2-40B4-BE49-F238E27FC236}">
                <a16:creationId xmlns:a16="http://schemas.microsoft.com/office/drawing/2014/main" id="{4939C5CD-5AE6-F716-54ED-EE235EBF9F73}"/>
              </a:ext>
            </a:extLst>
          </p:cNvPr>
          <p:cNvSpPr>
            <a:spLocks noGrp="1"/>
          </p:cNvSpPr>
          <p:nvPr>
            <p:ph idx="1"/>
          </p:nvPr>
        </p:nvSpPr>
        <p:spPr>
          <a:xfrm>
            <a:off x="838200" y="1306286"/>
            <a:ext cx="10515600" cy="4870677"/>
          </a:xfrm>
        </p:spPr>
        <p:txBody>
          <a:bodyPr>
            <a:normAutofit/>
          </a:bodyPr>
          <a:lstStyle/>
          <a:p>
            <a:pPr algn="l"/>
            <a:r>
              <a:rPr lang="en-US" sz="2400" b="0" i="0" u="none" strike="noStrike" baseline="0" dirty="0">
                <a:solidFill>
                  <a:srgbClr val="FF0000"/>
                </a:solidFill>
                <a:latin typeface="CIDFont+F2"/>
              </a:rPr>
              <a:t>Nature of Software, </a:t>
            </a:r>
          </a:p>
          <a:p>
            <a:pPr algn="l"/>
            <a:r>
              <a:rPr lang="en-US" sz="2400" b="0" i="0" u="none" strike="noStrike" baseline="0" dirty="0">
                <a:solidFill>
                  <a:srgbClr val="FF0000"/>
                </a:solidFill>
                <a:latin typeface="CIDFont+F2"/>
              </a:rPr>
              <a:t>Software Engineering, </a:t>
            </a:r>
          </a:p>
          <a:p>
            <a:pPr algn="l"/>
            <a:r>
              <a:rPr lang="en-US" sz="2400" b="0" i="0" u="none" strike="noStrike" baseline="0" dirty="0">
                <a:solidFill>
                  <a:srgbClr val="FF0000"/>
                </a:solidFill>
                <a:latin typeface="CIDFont+F2"/>
              </a:rPr>
              <a:t>Software process, </a:t>
            </a:r>
          </a:p>
          <a:p>
            <a:pPr algn="l"/>
            <a:r>
              <a:rPr lang="en-US" sz="2400" b="0" i="0" u="none" strike="noStrike" baseline="0" dirty="0">
                <a:solidFill>
                  <a:srgbClr val="FF0000"/>
                </a:solidFill>
                <a:latin typeface="CIDFont+F2"/>
              </a:rPr>
              <a:t>project, product, Process</a:t>
            </a:r>
          </a:p>
          <a:p>
            <a:pPr algn="l"/>
            <a:r>
              <a:rPr lang="en-IN" sz="2400" b="0" i="0" u="none" strike="noStrike" baseline="0" dirty="0">
                <a:latin typeface="CIDFont+F2"/>
              </a:rPr>
              <a:t>Models</a:t>
            </a:r>
          </a:p>
          <a:p>
            <a:pPr lvl="1"/>
            <a:r>
              <a:rPr lang="en-US" b="0" i="0" u="none" strike="noStrike" baseline="0" dirty="0">
                <a:latin typeface="CIDFont+F2"/>
              </a:rPr>
              <a:t>Classical Evolutionary models, </a:t>
            </a:r>
          </a:p>
          <a:p>
            <a:pPr lvl="1"/>
            <a:r>
              <a:rPr lang="en-US" b="0" i="0" u="none" strike="noStrike" baseline="0" dirty="0">
                <a:latin typeface="CIDFont+F2"/>
              </a:rPr>
              <a:t>Introduction to Agility - Agile Process-</a:t>
            </a:r>
          </a:p>
          <a:p>
            <a:pPr lvl="1"/>
            <a:r>
              <a:rPr lang="en-US" b="0" i="0" u="none" strike="noStrike" baseline="0" dirty="0">
                <a:latin typeface="CIDFont+F2"/>
              </a:rPr>
              <a:t>Extreme programming</a:t>
            </a:r>
          </a:p>
          <a:p>
            <a:pPr lvl="1"/>
            <a:r>
              <a:rPr lang="en-US" b="0" i="0" u="none" strike="noStrike" baseline="0" dirty="0">
                <a:latin typeface="CIDFont+F2"/>
              </a:rPr>
              <a:t>- XP Process – </a:t>
            </a:r>
          </a:p>
          <a:p>
            <a:pPr algn="l"/>
            <a:r>
              <a:rPr lang="en-US" sz="2400" b="0" i="0" u="none" strike="noStrike" baseline="0" dirty="0">
                <a:latin typeface="CIDFont+F2"/>
              </a:rPr>
              <a:t>Principles of Agile Software Development framework – </a:t>
            </a:r>
          </a:p>
          <a:p>
            <a:pPr algn="l"/>
            <a:r>
              <a:rPr lang="en-US" sz="2400" b="0" i="0" u="none" strike="noStrike" baseline="0" dirty="0">
                <a:latin typeface="CIDFont+F2"/>
              </a:rPr>
              <a:t>Overview of System </a:t>
            </a:r>
            <a:r>
              <a:rPr lang="en-IN" sz="2400" b="0" i="0" u="none" strike="noStrike" baseline="0" dirty="0">
                <a:latin typeface="CIDFont+F2"/>
              </a:rPr>
              <a:t>Engineering</a:t>
            </a:r>
            <a:endParaRPr lang="en-IN" sz="2400" dirty="0"/>
          </a:p>
        </p:txBody>
      </p:sp>
    </p:spTree>
    <p:extLst>
      <p:ext uri="{BB962C8B-B14F-4D97-AF65-F5344CB8AC3E}">
        <p14:creationId xmlns:p14="http://schemas.microsoft.com/office/powerpoint/2010/main" val="1111891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88052-81E2-7A3D-DF15-4306E7ECE438}"/>
              </a:ext>
            </a:extLst>
          </p:cNvPr>
          <p:cNvSpPr>
            <a:spLocks noGrp="1"/>
          </p:cNvSpPr>
          <p:nvPr>
            <p:ph type="title"/>
          </p:nvPr>
        </p:nvSpPr>
        <p:spPr>
          <a:xfrm>
            <a:off x="838200" y="365125"/>
            <a:ext cx="10515600" cy="854075"/>
          </a:xfrm>
        </p:spPr>
        <p:txBody>
          <a:bodyPr/>
          <a:lstStyle/>
          <a:p>
            <a:r>
              <a:rPr lang="en-IN" dirty="0"/>
              <a:t>What is a Software?</a:t>
            </a:r>
          </a:p>
        </p:txBody>
      </p:sp>
      <p:sp>
        <p:nvSpPr>
          <p:cNvPr id="3" name="Content Placeholder 2">
            <a:extLst>
              <a:ext uri="{FF2B5EF4-FFF2-40B4-BE49-F238E27FC236}">
                <a16:creationId xmlns:a16="http://schemas.microsoft.com/office/drawing/2014/main" id="{F4DA6C8F-3671-B4AD-EE25-6F3D5FD852DF}"/>
              </a:ext>
            </a:extLst>
          </p:cNvPr>
          <p:cNvSpPr>
            <a:spLocks noGrp="1"/>
          </p:cNvSpPr>
          <p:nvPr>
            <p:ph idx="1"/>
          </p:nvPr>
        </p:nvSpPr>
        <p:spPr>
          <a:xfrm>
            <a:off x="838200" y="1110343"/>
            <a:ext cx="10515600" cy="5066620"/>
          </a:xfrm>
        </p:spPr>
        <p:txBody>
          <a:bodyPr>
            <a:normAutofit/>
          </a:bodyPr>
          <a:lstStyle/>
          <a:p>
            <a:r>
              <a:rPr lang="en-US" dirty="0"/>
              <a:t>In a </a:t>
            </a:r>
            <a:r>
              <a:rPr lang="en-US" dirty="0">
                <a:hlinkClick r:id="rId2"/>
              </a:rPr>
              <a:t>computer system</a:t>
            </a:r>
            <a:r>
              <a:rPr lang="en-US" dirty="0"/>
              <a:t>, the software is basically a </a:t>
            </a:r>
            <a:r>
              <a:rPr lang="en-US" dirty="0">
                <a:solidFill>
                  <a:srgbClr val="FF0000"/>
                </a:solidFill>
              </a:rPr>
              <a:t>set of instructions </a:t>
            </a:r>
            <a:r>
              <a:rPr lang="en-US" dirty="0"/>
              <a:t>or </a:t>
            </a:r>
            <a:r>
              <a:rPr lang="en-US" dirty="0">
                <a:solidFill>
                  <a:srgbClr val="FF0000"/>
                </a:solidFill>
              </a:rPr>
              <a:t>commands</a:t>
            </a:r>
            <a:r>
              <a:rPr lang="en-US" dirty="0"/>
              <a:t> that tell a computer what to do. In other words, the software is a computer program that provides a set of instructions to execute a user’s commands and tell the computer what to do.</a:t>
            </a:r>
          </a:p>
          <a:p>
            <a:r>
              <a:rPr lang="en-US" dirty="0"/>
              <a:t>What is program?</a:t>
            </a:r>
          </a:p>
          <a:p>
            <a:pPr marL="0" indent="0">
              <a:buNone/>
            </a:pPr>
            <a:r>
              <a:rPr lang="en-US" dirty="0"/>
              <a:t> A step by step instructions, to perform a specific task, on a computer in a prog language.</a:t>
            </a:r>
          </a:p>
          <a:p>
            <a:pPr algn="l"/>
            <a:r>
              <a:rPr lang="en-US" sz="1800" b="0" i="0" u="none" strike="noStrike" baseline="0" dirty="0">
                <a:latin typeface="Times-Roman"/>
              </a:rPr>
              <a:t>software system usually consists of a number of separate programs, configuration files, which are used to set up these programs, system documentation, which describes the structure of the system, and user documentation, which explains how to use the system and web sites for users to download recent product information</a:t>
            </a:r>
          </a:p>
          <a:p>
            <a:pPr algn="l"/>
            <a:r>
              <a:rPr lang="en-US" dirty="0">
                <a:solidFill>
                  <a:srgbClr val="FF0000"/>
                </a:solidFill>
              </a:rPr>
              <a:t>Software is for commercial purpose.</a:t>
            </a:r>
            <a:endParaRPr lang="en-IN" dirty="0">
              <a:solidFill>
                <a:srgbClr val="FF0000"/>
              </a:solidFill>
            </a:endParaRPr>
          </a:p>
        </p:txBody>
      </p:sp>
    </p:spTree>
    <p:extLst>
      <p:ext uri="{BB962C8B-B14F-4D97-AF65-F5344CB8AC3E}">
        <p14:creationId xmlns:p14="http://schemas.microsoft.com/office/powerpoint/2010/main" val="2980500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8F9A4-EE52-69AA-60A0-13C55073139E}"/>
              </a:ext>
            </a:extLst>
          </p:cNvPr>
          <p:cNvSpPr>
            <a:spLocks noGrp="1"/>
          </p:cNvSpPr>
          <p:nvPr>
            <p:ph type="title"/>
          </p:nvPr>
        </p:nvSpPr>
        <p:spPr>
          <a:xfrm>
            <a:off x="838200" y="365125"/>
            <a:ext cx="10515600" cy="462189"/>
          </a:xfrm>
        </p:spPr>
        <p:txBody>
          <a:bodyPr>
            <a:noAutofit/>
          </a:bodyPr>
          <a:lstStyle/>
          <a:p>
            <a:r>
              <a:rPr lang="en-IN" sz="3200" b="1" i="0" u="none" strike="noStrike" baseline="0" dirty="0">
                <a:latin typeface="Calibri-Bold"/>
              </a:rPr>
              <a:t>Software Components</a:t>
            </a:r>
            <a:endParaRPr lang="en-IN" sz="3200" dirty="0"/>
          </a:p>
        </p:txBody>
      </p:sp>
      <p:sp>
        <p:nvSpPr>
          <p:cNvPr id="3" name="Content Placeholder 2">
            <a:extLst>
              <a:ext uri="{FF2B5EF4-FFF2-40B4-BE49-F238E27FC236}">
                <a16:creationId xmlns:a16="http://schemas.microsoft.com/office/drawing/2014/main" id="{B9CC2BD5-28A7-8B74-30BC-ED26B921F31F}"/>
              </a:ext>
            </a:extLst>
          </p:cNvPr>
          <p:cNvSpPr>
            <a:spLocks noGrp="1"/>
          </p:cNvSpPr>
          <p:nvPr>
            <p:ph idx="1"/>
          </p:nvPr>
        </p:nvSpPr>
        <p:spPr>
          <a:xfrm>
            <a:off x="838200" y="1665513"/>
            <a:ext cx="10515600" cy="4511449"/>
          </a:xfrm>
        </p:spPr>
        <p:txBody>
          <a:bodyPr>
            <a:normAutofit/>
          </a:bodyPr>
          <a:lstStyle/>
          <a:p>
            <a:pPr algn="l"/>
            <a:r>
              <a:rPr lang="en-US" sz="2400" b="0" i="0" u="none" strike="noStrike" baseline="0" dirty="0">
                <a:latin typeface="Calibri" panose="020F0502020204030204" pitchFamily="34" charset="0"/>
              </a:rPr>
              <a:t>A </a:t>
            </a:r>
            <a:r>
              <a:rPr lang="en-US" sz="2400" b="0" i="0" u="none" strike="noStrike" baseline="0" dirty="0">
                <a:solidFill>
                  <a:schemeClr val="accent2"/>
                </a:solidFill>
                <a:latin typeface="Calibri" panose="020F0502020204030204" pitchFamily="34" charset="0"/>
              </a:rPr>
              <a:t>program is a subset of software </a:t>
            </a:r>
            <a:r>
              <a:rPr lang="en-US" sz="2400" b="0" i="0" u="none" strike="noStrike" baseline="0" dirty="0">
                <a:latin typeface="Calibri" panose="020F0502020204030204" pitchFamily="34" charset="0"/>
              </a:rPr>
              <a:t>and it becomes software only if documentation and an operating procedure </a:t>
            </a:r>
            <a:r>
              <a:rPr lang="en-IN" sz="2400" b="0" i="0" u="none" strike="noStrike" baseline="0" dirty="0">
                <a:latin typeface="Calibri" panose="020F0502020204030204" pitchFamily="34" charset="0"/>
              </a:rPr>
              <a:t>manual are prepared.</a:t>
            </a:r>
          </a:p>
          <a:p>
            <a:pPr lvl="1"/>
            <a:r>
              <a:rPr lang="en-IN" b="1" i="0" u="none" strike="noStrike" baseline="0" dirty="0">
                <a:latin typeface="Calibri-Bold"/>
              </a:rPr>
              <a:t>Program</a:t>
            </a:r>
          </a:p>
          <a:p>
            <a:pPr lvl="1"/>
            <a:r>
              <a:rPr lang="en-IN" b="1" i="0" u="none" strike="noStrike" baseline="0" dirty="0">
                <a:latin typeface="Calibri-Bold"/>
              </a:rPr>
              <a:t>Documents</a:t>
            </a:r>
          </a:p>
          <a:p>
            <a:pPr algn="l"/>
            <a:r>
              <a:rPr lang="en-US" sz="2400" b="0" i="0" u="none" strike="noStrike" baseline="0" dirty="0">
                <a:latin typeface="Calibri" panose="020F0502020204030204" pitchFamily="34" charset="0"/>
              </a:rPr>
              <a:t>Software documentation consist all the description, programs, graphics and instructions pertaining to design, coding, testing and preparation of software.</a:t>
            </a:r>
          </a:p>
          <a:p>
            <a:pPr algn="l"/>
            <a:r>
              <a:rPr lang="en-US" sz="2400" b="1" i="0" u="none" strike="noStrike" baseline="0" dirty="0">
                <a:latin typeface="Calibri-Bold"/>
              </a:rPr>
              <a:t>Operating Procedure(User Manual &amp; Operational Manual)</a:t>
            </a:r>
          </a:p>
          <a:p>
            <a:pPr algn="l"/>
            <a:r>
              <a:rPr lang="en-US" sz="2400" b="0" i="0" u="none" strike="noStrike" baseline="0" dirty="0">
                <a:latin typeface="Calibri" panose="020F0502020204030204" pitchFamily="34" charset="0"/>
              </a:rPr>
              <a:t>Provides information about what software is how to work with it how to install it on your system and how to control all the activities of the software.</a:t>
            </a:r>
            <a:endParaRPr lang="en-IN" sz="2400" dirty="0"/>
          </a:p>
        </p:txBody>
      </p:sp>
    </p:spTree>
    <p:extLst>
      <p:ext uri="{BB962C8B-B14F-4D97-AF65-F5344CB8AC3E}">
        <p14:creationId xmlns:p14="http://schemas.microsoft.com/office/powerpoint/2010/main" val="1113081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62C4D-DA0F-B8E6-2BEB-9EA021BEABA1}"/>
              </a:ext>
            </a:extLst>
          </p:cNvPr>
          <p:cNvSpPr>
            <a:spLocks noGrp="1"/>
          </p:cNvSpPr>
          <p:nvPr>
            <p:ph type="title"/>
          </p:nvPr>
        </p:nvSpPr>
        <p:spPr>
          <a:xfrm>
            <a:off x="838200" y="365125"/>
            <a:ext cx="10515600" cy="473075"/>
          </a:xfrm>
        </p:spPr>
        <p:txBody>
          <a:bodyPr>
            <a:normAutofit fontScale="90000"/>
          </a:bodyPr>
          <a:lstStyle/>
          <a:p>
            <a:r>
              <a:rPr lang="en-IN" b="1" dirty="0"/>
              <a:t>Nature of Software</a:t>
            </a:r>
          </a:p>
        </p:txBody>
      </p:sp>
      <p:sp>
        <p:nvSpPr>
          <p:cNvPr id="3" name="Content Placeholder 2">
            <a:extLst>
              <a:ext uri="{FF2B5EF4-FFF2-40B4-BE49-F238E27FC236}">
                <a16:creationId xmlns:a16="http://schemas.microsoft.com/office/drawing/2014/main" id="{A34246A1-9AF2-0B88-BF56-4DF04A0861C4}"/>
              </a:ext>
            </a:extLst>
          </p:cNvPr>
          <p:cNvSpPr>
            <a:spLocks noGrp="1"/>
          </p:cNvSpPr>
          <p:nvPr>
            <p:ph idx="1"/>
          </p:nvPr>
        </p:nvSpPr>
        <p:spPr>
          <a:xfrm>
            <a:off x="838200" y="968829"/>
            <a:ext cx="10515600" cy="5208134"/>
          </a:xfrm>
        </p:spPr>
        <p:txBody>
          <a:bodyPr>
            <a:normAutofit/>
          </a:bodyPr>
          <a:lstStyle/>
          <a:p>
            <a:pPr algn="l"/>
            <a:r>
              <a:rPr lang="en-US" sz="2400" b="1" i="1" u="none" strike="noStrike" baseline="0" dirty="0">
                <a:latin typeface="Times-Italic"/>
              </a:rPr>
              <a:t>Generic products </a:t>
            </a:r>
            <a:r>
              <a:rPr lang="en-US" sz="2400" b="0" i="1" u="none" strike="noStrike" baseline="0" dirty="0">
                <a:latin typeface="Times-Italic"/>
              </a:rPr>
              <a:t>: </a:t>
            </a:r>
            <a:r>
              <a:rPr lang="en-US" sz="2400" b="0" i="0" u="none" strike="noStrike" baseline="0" dirty="0">
                <a:latin typeface="Times-Roman"/>
              </a:rPr>
              <a:t>These are stand-alone systems that are </a:t>
            </a:r>
            <a:r>
              <a:rPr lang="en-US" sz="2400" b="0" i="0" u="none" strike="noStrike" baseline="0" dirty="0">
                <a:solidFill>
                  <a:schemeClr val="accent2"/>
                </a:solidFill>
                <a:latin typeface="Times-Roman"/>
              </a:rPr>
              <a:t>produced</a:t>
            </a:r>
            <a:r>
              <a:rPr lang="en-US" sz="2400" b="0" i="0" u="none" strike="noStrike" baseline="0" dirty="0">
                <a:latin typeface="Times-Roman"/>
              </a:rPr>
              <a:t> by a </a:t>
            </a:r>
            <a:r>
              <a:rPr lang="en-US" sz="2400" b="0" i="0" u="none" strike="noStrike" baseline="0" dirty="0">
                <a:solidFill>
                  <a:schemeClr val="accent2"/>
                </a:solidFill>
                <a:latin typeface="Times-Roman"/>
              </a:rPr>
              <a:t>development </a:t>
            </a:r>
            <a:r>
              <a:rPr lang="en-US" sz="2400" b="0" i="0" u="none" strike="noStrike" baseline="0" dirty="0" err="1">
                <a:solidFill>
                  <a:schemeClr val="accent2"/>
                </a:solidFill>
                <a:latin typeface="Times-Roman"/>
              </a:rPr>
              <a:t>organisation</a:t>
            </a:r>
            <a:r>
              <a:rPr lang="en-US" sz="2400" b="0" i="0" u="none" strike="noStrike" baseline="0" dirty="0">
                <a:solidFill>
                  <a:schemeClr val="accent2"/>
                </a:solidFill>
                <a:latin typeface="Times-Roman"/>
              </a:rPr>
              <a:t> </a:t>
            </a:r>
            <a:r>
              <a:rPr lang="en-US" sz="2400" b="0" i="0" u="none" strike="noStrike" baseline="0" dirty="0">
                <a:latin typeface="Times-Roman"/>
              </a:rPr>
              <a:t>and sold on the open market to any customer who is able to buy them. Examples of this type of product include </a:t>
            </a:r>
            <a:r>
              <a:rPr lang="en-US" sz="2400" b="0" i="0" u="none" strike="noStrike" baseline="0" dirty="0">
                <a:solidFill>
                  <a:schemeClr val="accent2"/>
                </a:solidFill>
                <a:latin typeface="Times-Roman"/>
              </a:rPr>
              <a:t>software for PCs </a:t>
            </a:r>
            <a:r>
              <a:rPr lang="en-US" sz="2400" b="0" i="0" u="none" strike="noStrike" baseline="0" dirty="0">
                <a:latin typeface="Times-Roman"/>
              </a:rPr>
              <a:t>such as </a:t>
            </a:r>
            <a:r>
              <a:rPr lang="en-US" sz="2400" b="1" i="0" u="none" strike="noStrike" baseline="0" dirty="0">
                <a:latin typeface="Times-Roman"/>
              </a:rPr>
              <a:t>databases</a:t>
            </a:r>
            <a:r>
              <a:rPr lang="en-US" sz="2400" b="0" i="0" u="none" strike="noStrike" baseline="0" dirty="0">
                <a:latin typeface="Times-Roman"/>
              </a:rPr>
              <a:t>, </a:t>
            </a:r>
            <a:r>
              <a:rPr lang="en-US" sz="2400" b="1" i="0" u="none" strike="noStrike" baseline="0" dirty="0">
                <a:latin typeface="Times-Roman"/>
              </a:rPr>
              <a:t>word processors</a:t>
            </a:r>
            <a:r>
              <a:rPr lang="en-US" sz="2400" b="0" i="0" u="none" strike="noStrike" baseline="0" dirty="0">
                <a:latin typeface="Times-Roman"/>
              </a:rPr>
              <a:t>, drawing packages and project management tools.</a:t>
            </a:r>
          </a:p>
          <a:p>
            <a:pPr algn="l"/>
            <a:endParaRPr lang="en-US" sz="2400" dirty="0">
              <a:latin typeface="Times-Roman"/>
            </a:endParaRPr>
          </a:p>
          <a:p>
            <a:pPr algn="l"/>
            <a:r>
              <a:rPr lang="en-IN" sz="2400" b="1" i="1" u="none" strike="noStrike" baseline="0" dirty="0">
                <a:latin typeface="Times-Italic"/>
              </a:rPr>
              <a:t>Customised (or bespoke) products</a:t>
            </a:r>
            <a:r>
              <a:rPr lang="en-US" sz="2400" b="0" i="1" u="none" strike="noStrike" baseline="0" dirty="0">
                <a:latin typeface="Times-Roman"/>
              </a:rPr>
              <a:t>: </a:t>
            </a:r>
            <a:r>
              <a:rPr lang="en-US" sz="2400" b="0" i="0" u="none" strike="noStrike" baseline="0" dirty="0">
                <a:latin typeface="Times-Roman"/>
              </a:rPr>
              <a:t>These are systems which are </a:t>
            </a:r>
            <a:r>
              <a:rPr lang="en-US" sz="2400" b="0" i="0" u="none" strike="noStrike" baseline="0" dirty="0">
                <a:solidFill>
                  <a:schemeClr val="accent2"/>
                </a:solidFill>
                <a:latin typeface="Times-Roman"/>
              </a:rPr>
              <a:t>commissioned </a:t>
            </a:r>
            <a:r>
              <a:rPr lang="en-IN" sz="2400" b="0" i="0" u="none" strike="noStrike" baseline="0" dirty="0">
                <a:latin typeface="Times-Roman"/>
              </a:rPr>
              <a:t>by a </a:t>
            </a:r>
            <a:r>
              <a:rPr lang="en-IN" sz="2400" b="0" i="0" u="none" strike="noStrike" baseline="0" dirty="0">
                <a:solidFill>
                  <a:schemeClr val="accent2"/>
                </a:solidFill>
                <a:latin typeface="Times-Roman"/>
              </a:rPr>
              <a:t>particular customer</a:t>
            </a:r>
            <a:r>
              <a:rPr lang="en-IN" sz="2400" b="0" i="0" u="none" strike="noStrike" baseline="0" dirty="0">
                <a:latin typeface="Times-Roman"/>
              </a:rPr>
              <a:t>. </a:t>
            </a:r>
            <a:r>
              <a:rPr lang="en-US" sz="2400" b="0" i="0" u="none" strike="noStrike" baseline="0" dirty="0">
                <a:latin typeface="Times-Roman"/>
              </a:rPr>
              <a:t>These are systems which are commissioned by a particular customer. A software contractor develops the software especially </a:t>
            </a:r>
            <a:r>
              <a:rPr lang="en-IN" sz="2400" b="0" i="0" u="none" strike="noStrike" baseline="0" dirty="0">
                <a:latin typeface="Times-Roman"/>
              </a:rPr>
              <a:t>for that customer. Example: </a:t>
            </a:r>
            <a:r>
              <a:rPr lang="en-IN" sz="2400" b="0" i="0" u="none" strike="noStrike" baseline="0" dirty="0">
                <a:solidFill>
                  <a:schemeClr val="accent2"/>
                </a:solidFill>
                <a:latin typeface="Times-Roman"/>
              </a:rPr>
              <a:t>VTOP</a:t>
            </a:r>
            <a:endParaRPr lang="en-US" sz="2400" b="0" i="0" u="none" strike="noStrike" baseline="0" dirty="0">
              <a:solidFill>
                <a:schemeClr val="accent2"/>
              </a:solidFill>
              <a:latin typeface="Times-Roman"/>
            </a:endParaRPr>
          </a:p>
          <a:p>
            <a:pPr algn="l"/>
            <a:endParaRPr lang="en-IN" sz="2400" dirty="0"/>
          </a:p>
        </p:txBody>
      </p:sp>
    </p:spTree>
    <p:extLst>
      <p:ext uri="{BB962C8B-B14F-4D97-AF65-F5344CB8AC3E}">
        <p14:creationId xmlns:p14="http://schemas.microsoft.com/office/powerpoint/2010/main" val="2995375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14B99-CF62-D56E-C470-6230337B9ED0}"/>
              </a:ext>
            </a:extLst>
          </p:cNvPr>
          <p:cNvSpPr>
            <a:spLocks noGrp="1"/>
          </p:cNvSpPr>
          <p:nvPr>
            <p:ph type="title"/>
          </p:nvPr>
        </p:nvSpPr>
        <p:spPr>
          <a:xfrm>
            <a:off x="838200" y="0"/>
            <a:ext cx="10515600" cy="936172"/>
          </a:xfrm>
        </p:spPr>
        <p:txBody>
          <a:bodyPr>
            <a:normAutofit/>
          </a:bodyPr>
          <a:lstStyle/>
          <a:p>
            <a:r>
              <a:rPr lang="en-US" sz="2400" b="1" i="0" u="none" strike="noStrike" baseline="0" dirty="0">
                <a:latin typeface="Leawood-Book"/>
              </a:rPr>
              <a:t>seven broad categories of computer software present continuing challenges </a:t>
            </a:r>
            <a:r>
              <a:rPr lang="en-IN" sz="2400" b="1" i="0" u="none" strike="noStrike" baseline="0" dirty="0">
                <a:latin typeface="Leawood-Book"/>
              </a:rPr>
              <a:t>for software engineers:</a:t>
            </a:r>
            <a:endParaRPr lang="en-IN" sz="2400" b="1" dirty="0"/>
          </a:p>
        </p:txBody>
      </p:sp>
      <p:sp>
        <p:nvSpPr>
          <p:cNvPr id="3" name="Content Placeholder 2">
            <a:extLst>
              <a:ext uri="{FF2B5EF4-FFF2-40B4-BE49-F238E27FC236}">
                <a16:creationId xmlns:a16="http://schemas.microsoft.com/office/drawing/2014/main" id="{1A830BB1-DE1A-E486-4873-3861BAC10096}"/>
              </a:ext>
            </a:extLst>
          </p:cNvPr>
          <p:cNvSpPr>
            <a:spLocks noGrp="1"/>
          </p:cNvSpPr>
          <p:nvPr>
            <p:ph idx="1"/>
          </p:nvPr>
        </p:nvSpPr>
        <p:spPr>
          <a:xfrm>
            <a:off x="838200" y="1034143"/>
            <a:ext cx="10515600" cy="5142820"/>
          </a:xfrm>
        </p:spPr>
        <p:txBody>
          <a:bodyPr>
            <a:normAutofit lnSpcReduction="10000"/>
          </a:bodyPr>
          <a:lstStyle/>
          <a:p>
            <a:pPr algn="l"/>
            <a:r>
              <a:rPr lang="en-US" sz="1800" b="1" i="0" u="none" strike="noStrike" baseline="0" dirty="0">
                <a:latin typeface="Leawood-Bold"/>
              </a:rPr>
              <a:t>System software</a:t>
            </a:r>
            <a:r>
              <a:rPr lang="en-US" sz="1800" b="0" i="0" u="none" strike="noStrike" baseline="0" dirty="0">
                <a:latin typeface="Leawood-Book"/>
              </a:rPr>
              <a:t>—</a:t>
            </a:r>
            <a:r>
              <a:rPr lang="en-US" sz="1800" b="0" i="0" u="none" strike="noStrike" baseline="0" dirty="0">
                <a:solidFill>
                  <a:srgbClr val="FF0000"/>
                </a:solidFill>
                <a:latin typeface="Leawood-Book"/>
              </a:rPr>
              <a:t>a collection of programs written to service other programs</a:t>
            </a:r>
            <a:r>
              <a:rPr lang="en-US" sz="1800" b="0" i="0" u="none" strike="noStrike" baseline="0" dirty="0">
                <a:latin typeface="Leawood-Book"/>
              </a:rPr>
              <a:t>. Some system software (e.g., </a:t>
            </a:r>
            <a:r>
              <a:rPr lang="en-US" sz="1800" b="0" i="0" u="none" strike="noStrike" baseline="0" dirty="0">
                <a:solidFill>
                  <a:srgbClr val="FF0000"/>
                </a:solidFill>
                <a:latin typeface="Leawood-Book"/>
              </a:rPr>
              <a:t>compilers</a:t>
            </a:r>
            <a:r>
              <a:rPr lang="en-US" sz="1800" b="0" i="0" u="none" strike="noStrike" baseline="0" dirty="0">
                <a:latin typeface="Leawood-Book"/>
              </a:rPr>
              <a:t>, </a:t>
            </a:r>
            <a:r>
              <a:rPr lang="en-US" sz="1800" b="0" i="0" u="none" strike="noStrike" baseline="0" dirty="0">
                <a:solidFill>
                  <a:srgbClr val="FF0000"/>
                </a:solidFill>
                <a:latin typeface="Leawood-Book"/>
              </a:rPr>
              <a:t>editors</a:t>
            </a:r>
            <a:r>
              <a:rPr lang="en-US" sz="1800" b="0" i="0" u="none" strike="noStrike" baseline="0" dirty="0">
                <a:latin typeface="Leawood-Book"/>
              </a:rPr>
              <a:t>, and </a:t>
            </a:r>
            <a:r>
              <a:rPr lang="en-US" sz="1800" b="0" i="0" u="none" strike="noStrike" baseline="0" dirty="0">
                <a:solidFill>
                  <a:srgbClr val="FF0000"/>
                </a:solidFill>
                <a:latin typeface="Leawood-Book"/>
              </a:rPr>
              <a:t>file management </a:t>
            </a:r>
            <a:r>
              <a:rPr lang="en-IN" sz="1800" b="0" i="0" u="none" strike="noStrike" baseline="0" dirty="0">
                <a:latin typeface="Leawood-Book"/>
              </a:rPr>
              <a:t>utilities) processes complex, but determinate,</a:t>
            </a:r>
            <a:r>
              <a:rPr lang="en-IN" sz="1800" dirty="0">
                <a:latin typeface="Leawood-Book"/>
              </a:rPr>
              <a:t> </a:t>
            </a:r>
            <a:r>
              <a:rPr lang="en-IN" sz="1800" b="0" i="0" u="none" strike="noStrike" baseline="0" dirty="0">
                <a:latin typeface="Leawood-Book"/>
              </a:rPr>
              <a:t>information structures. Other </a:t>
            </a:r>
            <a:r>
              <a:rPr lang="en-US" sz="1800" b="0" i="0" u="none" strike="noStrike" baseline="0" dirty="0">
                <a:latin typeface="Leawood-Book"/>
              </a:rPr>
              <a:t>systems applications (e.g., operating system components, drivers, networking software, telecommunications processors) process largely indeterminate data.</a:t>
            </a:r>
          </a:p>
          <a:p>
            <a:pPr algn="l"/>
            <a:r>
              <a:rPr lang="en-US" sz="1800" b="1" i="0" u="none" strike="noStrike" baseline="0" dirty="0">
                <a:latin typeface="Leawood-Bold"/>
              </a:rPr>
              <a:t>Application software</a:t>
            </a:r>
            <a:r>
              <a:rPr lang="en-US" sz="1800" b="0" i="0" u="none" strike="noStrike" baseline="0" dirty="0">
                <a:latin typeface="Leawood-Book"/>
              </a:rPr>
              <a:t>—</a:t>
            </a:r>
            <a:r>
              <a:rPr lang="en-US" sz="1800" b="0" i="0" u="none" strike="noStrike" baseline="0" dirty="0">
                <a:solidFill>
                  <a:srgbClr val="FF0000"/>
                </a:solidFill>
                <a:latin typeface="Leawood-Book"/>
              </a:rPr>
              <a:t>stand-alone programs</a:t>
            </a:r>
            <a:r>
              <a:rPr lang="en-US" sz="1800" b="0" i="0" u="none" strike="noStrike" baseline="0" dirty="0">
                <a:latin typeface="Leawood-Book"/>
              </a:rPr>
              <a:t> that solve a specific business </a:t>
            </a:r>
            <a:r>
              <a:rPr lang="en-IN" sz="1800" b="0" i="0" u="none" strike="noStrike" baseline="0" dirty="0">
                <a:latin typeface="Leawood-Book"/>
              </a:rPr>
              <a:t>need</a:t>
            </a:r>
          </a:p>
          <a:p>
            <a:pPr algn="l"/>
            <a:r>
              <a:rPr lang="en-US" sz="1800" b="1" i="0" u="none" strike="noStrike" baseline="0" dirty="0">
                <a:latin typeface="Leawood-Bold"/>
              </a:rPr>
              <a:t>Engineering/scientific software</a:t>
            </a:r>
            <a:r>
              <a:rPr lang="en-US" sz="1800" b="0" i="0" u="none" strike="noStrike" baseline="0" dirty="0">
                <a:latin typeface="Leawood-Book"/>
              </a:rPr>
              <a:t>—has been characterized by “number crunching” algorithms. Applications range from astronomy to volcanology, from automotive stress analysis to space shuttle orbital dynamics, and from molecular biology to automated manufacturing</a:t>
            </a:r>
          </a:p>
          <a:p>
            <a:pPr algn="l"/>
            <a:r>
              <a:rPr lang="en-US" sz="1800" b="1" i="0" u="none" strike="noStrike" baseline="0" dirty="0">
                <a:latin typeface="Leawood-Bold"/>
              </a:rPr>
              <a:t>Embedded software</a:t>
            </a:r>
            <a:r>
              <a:rPr lang="en-US" sz="1800" b="0" i="0" u="none" strike="noStrike" baseline="0" dirty="0">
                <a:latin typeface="Leawood-Book"/>
              </a:rPr>
              <a:t>—</a:t>
            </a:r>
            <a:r>
              <a:rPr lang="en-US" sz="1800" b="0" i="0" u="none" strike="noStrike" baseline="0" dirty="0">
                <a:solidFill>
                  <a:srgbClr val="FF0000"/>
                </a:solidFill>
                <a:latin typeface="Leawood-Book"/>
              </a:rPr>
              <a:t>resides within a product or system</a:t>
            </a:r>
            <a:r>
              <a:rPr lang="en-US" sz="1800" b="0" i="0" u="none" strike="noStrike" baseline="0" dirty="0">
                <a:latin typeface="Leawood-Book"/>
              </a:rPr>
              <a:t> and is used to implement and control features and functions for the end user and for the </a:t>
            </a:r>
            <a:r>
              <a:rPr lang="en-IN" sz="1800" b="0" i="0" u="none" strike="noStrike" baseline="0" dirty="0">
                <a:latin typeface="Leawood-Book"/>
              </a:rPr>
              <a:t>system itself.</a:t>
            </a:r>
          </a:p>
          <a:p>
            <a:pPr algn="l"/>
            <a:r>
              <a:rPr lang="en-US" sz="1800" b="1" i="0" u="none" strike="noStrike" baseline="0" dirty="0">
                <a:latin typeface="Leawood-Bold"/>
              </a:rPr>
              <a:t>Product-line software</a:t>
            </a:r>
            <a:r>
              <a:rPr lang="en-US" sz="1800" b="0" i="0" u="none" strike="noStrike" baseline="0" dirty="0">
                <a:latin typeface="Leawood-Book"/>
              </a:rPr>
              <a:t>—designed to provide a specific capability for use by many different customers. </a:t>
            </a:r>
            <a:r>
              <a:rPr lang="en-US" sz="1800" b="0" i="0" u="none" strike="noStrike" baseline="0" dirty="0">
                <a:solidFill>
                  <a:srgbClr val="FF0000"/>
                </a:solidFill>
                <a:latin typeface="Leawood-Book"/>
              </a:rPr>
              <a:t>Product-line software can focus on a limited and marketplace </a:t>
            </a:r>
            <a:r>
              <a:rPr lang="en-US" sz="1800" b="0" i="0" u="none" strike="noStrike" baseline="0" dirty="0">
                <a:latin typeface="Leawood-Book"/>
              </a:rPr>
              <a:t>(e.g., inventory control products) or </a:t>
            </a:r>
            <a:r>
              <a:rPr lang="en-US" sz="1800" b="0" i="0" u="none" strike="noStrike" baseline="0" dirty="0">
                <a:solidFill>
                  <a:srgbClr val="FF0000"/>
                </a:solidFill>
                <a:latin typeface="Leawood-Book"/>
              </a:rPr>
              <a:t>address mass consumer markets </a:t>
            </a:r>
            <a:r>
              <a:rPr lang="en-US" sz="1800" b="0" i="0" u="none" strike="noStrike" baseline="0" dirty="0">
                <a:latin typeface="Leawood-Book"/>
              </a:rPr>
              <a:t>(e.g., word processing, spreadsheets, computer graphics, multimedia, entertainment, database management, and personal and </a:t>
            </a:r>
            <a:r>
              <a:rPr lang="en-IN" sz="1800" b="0" i="0" u="none" strike="noStrike" baseline="0" dirty="0">
                <a:latin typeface="Leawood-Book"/>
              </a:rPr>
              <a:t>business financial applications).</a:t>
            </a:r>
          </a:p>
          <a:p>
            <a:pPr algn="l"/>
            <a:r>
              <a:rPr lang="en-US" sz="1800" b="1" i="0" u="none" strike="noStrike" baseline="0" dirty="0">
                <a:latin typeface="Leawood-Bold"/>
              </a:rPr>
              <a:t>Web applications</a:t>
            </a:r>
            <a:r>
              <a:rPr lang="en-US" sz="1800" b="0" i="0" u="none" strike="noStrike" baseline="0" dirty="0">
                <a:latin typeface="Leawood-Book"/>
              </a:rPr>
              <a:t>—called “</a:t>
            </a:r>
            <a:r>
              <a:rPr lang="en-US" sz="1800" b="0" i="0" u="none" strike="noStrike" baseline="0" dirty="0" err="1">
                <a:solidFill>
                  <a:srgbClr val="FF0000"/>
                </a:solidFill>
                <a:latin typeface="Leawood-Book"/>
              </a:rPr>
              <a:t>WebApps</a:t>
            </a:r>
            <a:r>
              <a:rPr lang="en-US" sz="1800" b="0" i="0" u="none" strike="noStrike" baseline="0" dirty="0">
                <a:latin typeface="Leawood-Book"/>
              </a:rPr>
              <a:t>,” this </a:t>
            </a:r>
            <a:r>
              <a:rPr lang="en-US" sz="1800" b="0" i="0" u="none" strike="noStrike" baseline="0" dirty="0">
                <a:solidFill>
                  <a:srgbClr val="FF0000"/>
                </a:solidFill>
                <a:latin typeface="Leawood-Book"/>
              </a:rPr>
              <a:t>network-centric software </a:t>
            </a:r>
            <a:r>
              <a:rPr lang="en-US" sz="1800" b="0" i="0" u="none" strike="noStrike" baseline="0" dirty="0">
                <a:latin typeface="Leawood-Book"/>
              </a:rPr>
              <a:t>category spans a wide array of applications</a:t>
            </a:r>
          </a:p>
          <a:p>
            <a:pPr algn="l"/>
            <a:r>
              <a:rPr lang="en-US" sz="1800" b="1" i="0" u="none" strike="noStrike" baseline="0" dirty="0">
                <a:latin typeface="Leawood-Bold"/>
              </a:rPr>
              <a:t>Artificial intelligence software</a:t>
            </a:r>
            <a:r>
              <a:rPr lang="en-US" sz="1800" b="0" i="0" u="none" strike="noStrike" baseline="0" dirty="0">
                <a:latin typeface="Leawood-Book"/>
              </a:rPr>
              <a:t>—makes use of nonnumerical algorithms to solve complex problems that are not amenable to computation or straightforward analysis. Applications within this area include robotics, expert systems, </a:t>
            </a:r>
            <a:r>
              <a:rPr lang="en-IN" sz="1800" b="0" i="0" u="none" strike="noStrike" baseline="0" dirty="0">
                <a:latin typeface="Leawood-Book"/>
              </a:rPr>
              <a:t>pattern recognition</a:t>
            </a:r>
            <a:endParaRPr lang="en-IN" dirty="0"/>
          </a:p>
        </p:txBody>
      </p:sp>
    </p:spTree>
    <p:extLst>
      <p:ext uri="{BB962C8B-B14F-4D97-AF65-F5344CB8AC3E}">
        <p14:creationId xmlns:p14="http://schemas.microsoft.com/office/powerpoint/2010/main" val="1330384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3D5A18E-7E90-019D-3941-0153F87F72F0}"/>
              </a:ext>
            </a:extLst>
          </p:cNvPr>
          <p:cNvPicPr>
            <a:picLocks noGrp="1" noChangeAspect="1"/>
          </p:cNvPicPr>
          <p:nvPr>
            <p:ph idx="1"/>
          </p:nvPr>
        </p:nvPicPr>
        <p:blipFill>
          <a:blip r:embed="rId3"/>
          <a:stretch>
            <a:fillRect/>
          </a:stretch>
        </p:blipFill>
        <p:spPr>
          <a:xfrm>
            <a:off x="892629" y="97971"/>
            <a:ext cx="10406742" cy="6662057"/>
          </a:xfrm>
        </p:spPr>
      </p:pic>
    </p:spTree>
    <p:extLst>
      <p:ext uri="{BB962C8B-B14F-4D97-AF65-F5344CB8AC3E}">
        <p14:creationId xmlns:p14="http://schemas.microsoft.com/office/powerpoint/2010/main" val="3438250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5E932-54BE-6F21-C74B-070F61EF8A95}"/>
              </a:ext>
            </a:extLst>
          </p:cNvPr>
          <p:cNvSpPr>
            <a:spLocks noGrp="1"/>
          </p:cNvSpPr>
          <p:nvPr>
            <p:ph type="title"/>
          </p:nvPr>
        </p:nvSpPr>
        <p:spPr>
          <a:xfrm>
            <a:off x="838200" y="365126"/>
            <a:ext cx="10515600" cy="566208"/>
          </a:xfrm>
        </p:spPr>
        <p:txBody>
          <a:bodyPr>
            <a:normAutofit fontScale="90000"/>
          </a:bodyPr>
          <a:lstStyle/>
          <a:p>
            <a:r>
              <a:rPr lang="en-IN" b="1" dirty="0"/>
              <a:t>Software Engineering in brief</a:t>
            </a:r>
          </a:p>
        </p:txBody>
      </p:sp>
      <p:sp>
        <p:nvSpPr>
          <p:cNvPr id="3" name="Content Placeholder 2">
            <a:extLst>
              <a:ext uri="{FF2B5EF4-FFF2-40B4-BE49-F238E27FC236}">
                <a16:creationId xmlns:a16="http://schemas.microsoft.com/office/drawing/2014/main" id="{2FBE9112-9493-9616-CD6A-65D5A1F805C0}"/>
              </a:ext>
            </a:extLst>
          </p:cNvPr>
          <p:cNvSpPr>
            <a:spLocks noGrp="1"/>
          </p:cNvSpPr>
          <p:nvPr>
            <p:ph idx="1"/>
          </p:nvPr>
        </p:nvSpPr>
        <p:spPr>
          <a:xfrm>
            <a:off x="838200" y="1083733"/>
            <a:ext cx="10515600" cy="5093230"/>
          </a:xfrm>
        </p:spPr>
        <p:txBody>
          <a:bodyPr>
            <a:normAutofit fontScale="92500" lnSpcReduction="10000"/>
          </a:bodyPr>
          <a:lstStyle/>
          <a:p>
            <a:pPr marL="0" indent="0" algn="l">
              <a:buNone/>
            </a:pPr>
            <a:r>
              <a:rPr lang="en-US" b="0" i="0" u="none" strike="noStrike" baseline="0" dirty="0">
                <a:solidFill>
                  <a:srgbClr val="FF0000"/>
                </a:solidFill>
                <a:latin typeface="Times-Roman"/>
              </a:rPr>
              <a:t>Software engineering is an engineering discipline that is concerned with all aspects of software production from the early stages of system specification to maintaining the system after it has gone into use</a:t>
            </a:r>
            <a:endParaRPr lang="en-IN" dirty="0">
              <a:solidFill>
                <a:srgbClr val="FF0000"/>
              </a:solidFill>
            </a:endParaRPr>
          </a:p>
          <a:p>
            <a:endParaRPr lang="en-IN" dirty="0"/>
          </a:p>
          <a:p>
            <a:r>
              <a:rPr lang="en-IN" dirty="0"/>
              <a:t>Idea of the software</a:t>
            </a:r>
          </a:p>
          <a:p>
            <a:r>
              <a:rPr lang="en-IN" dirty="0"/>
              <a:t>Software Development Life Cycle (SDLC)</a:t>
            </a:r>
          </a:p>
          <a:p>
            <a:r>
              <a:rPr lang="en-IN" dirty="0"/>
              <a:t>Requirement analysis (SRS)</a:t>
            </a:r>
          </a:p>
          <a:p>
            <a:r>
              <a:rPr lang="en-IN" dirty="0"/>
              <a:t>Software Project management (</a:t>
            </a:r>
            <a:r>
              <a:rPr lang="en-IN" dirty="0" err="1"/>
              <a:t>Cocomo</a:t>
            </a:r>
            <a:r>
              <a:rPr lang="en-IN" dirty="0"/>
              <a:t>)</a:t>
            </a:r>
          </a:p>
          <a:p>
            <a:r>
              <a:rPr lang="en-IN" dirty="0"/>
              <a:t>Software Design (The diagrams)</a:t>
            </a:r>
          </a:p>
          <a:p>
            <a:r>
              <a:rPr lang="en-IN" dirty="0"/>
              <a:t>Coding and testing</a:t>
            </a:r>
          </a:p>
          <a:p>
            <a:r>
              <a:rPr lang="en-IN" dirty="0"/>
              <a:t>Maintenance</a:t>
            </a:r>
          </a:p>
          <a:p>
            <a:r>
              <a:rPr lang="en-IN" dirty="0"/>
              <a:t>Quality mgmt. </a:t>
            </a:r>
          </a:p>
        </p:txBody>
      </p:sp>
    </p:spTree>
    <p:extLst>
      <p:ext uri="{BB962C8B-B14F-4D97-AF65-F5344CB8AC3E}">
        <p14:creationId xmlns:p14="http://schemas.microsoft.com/office/powerpoint/2010/main" val="57680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7D58F-ACF6-869F-B8A5-5A8FE69AB068}"/>
              </a:ext>
            </a:extLst>
          </p:cNvPr>
          <p:cNvSpPr>
            <a:spLocks noGrp="1"/>
          </p:cNvSpPr>
          <p:nvPr>
            <p:ph type="title"/>
          </p:nvPr>
        </p:nvSpPr>
        <p:spPr>
          <a:xfrm>
            <a:off x="838200" y="365126"/>
            <a:ext cx="10515600" cy="799646"/>
          </a:xfrm>
        </p:spPr>
        <p:txBody>
          <a:bodyPr>
            <a:normAutofit/>
          </a:bodyPr>
          <a:lstStyle/>
          <a:p>
            <a:r>
              <a:rPr lang="en-US" sz="3200" b="1" i="0" u="none" strike="noStrike" baseline="0" dirty="0">
                <a:latin typeface="MetaPlusMedium-Roman"/>
              </a:rPr>
              <a:t>What is a software process?</a:t>
            </a:r>
            <a:endParaRPr lang="en-IN" sz="3200" b="1" dirty="0"/>
          </a:p>
        </p:txBody>
      </p:sp>
      <p:sp>
        <p:nvSpPr>
          <p:cNvPr id="3" name="Content Placeholder 2">
            <a:extLst>
              <a:ext uri="{FF2B5EF4-FFF2-40B4-BE49-F238E27FC236}">
                <a16:creationId xmlns:a16="http://schemas.microsoft.com/office/drawing/2014/main" id="{BDF3ACD8-295C-0546-8C05-7703366027CC}"/>
              </a:ext>
            </a:extLst>
          </p:cNvPr>
          <p:cNvSpPr>
            <a:spLocks noGrp="1"/>
          </p:cNvSpPr>
          <p:nvPr>
            <p:ph idx="1"/>
          </p:nvPr>
        </p:nvSpPr>
        <p:spPr>
          <a:xfrm>
            <a:off x="838200" y="1338943"/>
            <a:ext cx="10515600" cy="4838020"/>
          </a:xfrm>
        </p:spPr>
        <p:txBody>
          <a:bodyPr>
            <a:noAutofit/>
          </a:bodyPr>
          <a:lstStyle/>
          <a:p>
            <a:r>
              <a:rPr lang="en-US" sz="2000" b="0" i="0" u="none" strike="noStrike" baseline="0" dirty="0">
                <a:latin typeface="Times-Roman"/>
              </a:rPr>
              <a:t>A software process is the </a:t>
            </a:r>
            <a:r>
              <a:rPr lang="en-US" sz="2000" b="0" i="0" u="none" strike="noStrike" baseline="0" dirty="0">
                <a:solidFill>
                  <a:srgbClr val="FF0000"/>
                </a:solidFill>
                <a:latin typeface="Times-Roman"/>
              </a:rPr>
              <a:t>set of activities</a:t>
            </a:r>
            <a:r>
              <a:rPr lang="en-US" sz="2000" b="0" i="0" u="none" strike="noStrike" baseline="0" dirty="0">
                <a:latin typeface="Times-Roman"/>
              </a:rPr>
              <a:t> and </a:t>
            </a:r>
            <a:r>
              <a:rPr lang="en-US" sz="2000" b="0" i="0" u="none" strike="noStrike" baseline="0" dirty="0">
                <a:solidFill>
                  <a:srgbClr val="FF0000"/>
                </a:solidFill>
                <a:latin typeface="Times-Roman"/>
              </a:rPr>
              <a:t>associated result</a:t>
            </a:r>
            <a:r>
              <a:rPr lang="en-US" sz="2000" b="0" i="0" u="none" strike="noStrike" baseline="0" dirty="0">
                <a:latin typeface="Times-Roman"/>
              </a:rPr>
              <a:t>s that produce a software product. </a:t>
            </a:r>
          </a:p>
          <a:p>
            <a:pPr algn="l"/>
            <a:r>
              <a:rPr lang="en-US" sz="2000" b="0" i="0" u="none" strike="noStrike" baseline="0" dirty="0">
                <a:latin typeface="Futura"/>
              </a:rPr>
              <a:t>When you work to build a product or system, it’s important to go through a series of predictable steps—</a:t>
            </a:r>
            <a:r>
              <a:rPr lang="en-US" sz="2000" b="0" i="0" u="none" strike="noStrike" baseline="0" dirty="0">
                <a:solidFill>
                  <a:srgbClr val="FF0000"/>
                </a:solidFill>
                <a:latin typeface="Futura"/>
              </a:rPr>
              <a:t>a road map </a:t>
            </a:r>
            <a:r>
              <a:rPr lang="en-US" sz="2000" b="0" i="0" u="none" strike="noStrike" baseline="0" dirty="0">
                <a:latin typeface="Futura"/>
              </a:rPr>
              <a:t>that helps you create a timely, high-quality result. The road map that you follow is called a “software process</a:t>
            </a:r>
            <a:endParaRPr lang="en-US" sz="2000" b="0" i="0" u="none" strike="noStrike" baseline="0" dirty="0">
              <a:latin typeface="Times-Roman"/>
            </a:endParaRPr>
          </a:p>
          <a:p>
            <a:r>
              <a:rPr lang="en-US" sz="2000" b="0" i="0" u="none" strike="noStrike" baseline="0" dirty="0">
                <a:latin typeface="Times-Roman"/>
              </a:rPr>
              <a:t>There are </a:t>
            </a:r>
            <a:r>
              <a:rPr lang="en-US" sz="2000" b="0" i="0" u="none" strike="noStrike" baseline="0" dirty="0">
                <a:solidFill>
                  <a:srgbClr val="FF0000"/>
                </a:solidFill>
                <a:latin typeface="Times-Roman"/>
              </a:rPr>
              <a:t>four</a:t>
            </a:r>
            <a:r>
              <a:rPr lang="en-US" sz="2000" b="0" i="0" u="none" strike="noStrike" baseline="0" dirty="0">
                <a:latin typeface="Times-Roman"/>
              </a:rPr>
              <a:t> fundamental process </a:t>
            </a:r>
            <a:r>
              <a:rPr lang="en-US" sz="2000" b="0" i="0" u="none" strike="noStrike" baseline="0" dirty="0">
                <a:solidFill>
                  <a:srgbClr val="FF0000"/>
                </a:solidFill>
                <a:latin typeface="Times-Roman"/>
              </a:rPr>
              <a:t>activities</a:t>
            </a:r>
            <a:r>
              <a:rPr lang="en-US" sz="2000" b="0" i="0" u="none" strike="noStrike" baseline="0" dirty="0">
                <a:latin typeface="Times-Roman"/>
              </a:rPr>
              <a:t> that are common to all software processes. These are:</a:t>
            </a:r>
          </a:p>
          <a:p>
            <a:pPr marL="342900" indent="-342900" algn="l">
              <a:buFont typeface="+mj-lt"/>
              <a:buAutoNum type="arabicPeriod"/>
            </a:pPr>
            <a:r>
              <a:rPr lang="en-US" sz="2000" b="1" i="1" u="none" strike="noStrike" baseline="0" dirty="0">
                <a:latin typeface="Times-Italic"/>
              </a:rPr>
              <a:t>Software specification </a:t>
            </a:r>
            <a:r>
              <a:rPr lang="en-US" sz="2000" b="0" i="0" u="none" strike="noStrike" baseline="0" dirty="0">
                <a:latin typeface="Times-Roman"/>
              </a:rPr>
              <a:t>where customers and engineers define the software to be produced and the constraints on its operation.</a:t>
            </a:r>
          </a:p>
          <a:p>
            <a:pPr marL="342900" indent="-342900" algn="l">
              <a:buFont typeface="+mj-lt"/>
              <a:buAutoNum type="arabicPeriod"/>
            </a:pPr>
            <a:r>
              <a:rPr lang="en-US" sz="2000" b="1" i="1" u="none" strike="noStrike" baseline="0" dirty="0">
                <a:latin typeface="Times-Italic"/>
              </a:rPr>
              <a:t>Software development </a:t>
            </a:r>
            <a:r>
              <a:rPr lang="en-US" sz="2000" b="0" i="0" u="none" strike="noStrike" baseline="0" dirty="0">
                <a:latin typeface="Times-Roman"/>
              </a:rPr>
              <a:t>where the software is designed and programmed.</a:t>
            </a:r>
          </a:p>
          <a:p>
            <a:pPr marL="342900" indent="-342900" algn="l">
              <a:buFont typeface="+mj-lt"/>
              <a:buAutoNum type="arabicPeriod"/>
            </a:pPr>
            <a:r>
              <a:rPr lang="en-US" sz="2000" b="1" i="1" u="none" strike="noStrike" baseline="0" dirty="0">
                <a:latin typeface="Times-Italic"/>
              </a:rPr>
              <a:t>Software validation </a:t>
            </a:r>
            <a:r>
              <a:rPr lang="en-US" sz="2000" b="0" i="0" u="none" strike="noStrike" baseline="0" dirty="0">
                <a:latin typeface="Times-Roman"/>
              </a:rPr>
              <a:t>where the software is checked to ensure that it is what the </a:t>
            </a:r>
            <a:r>
              <a:rPr lang="en-IN" sz="2000" b="0" i="0" u="none" strike="noStrike" baseline="0" dirty="0">
                <a:latin typeface="Times-Roman"/>
              </a:rPr>
              <a:t>customer requires.</a:t>
            </a:r>
          </a:p>
          <a:p>
            <a:pPr marL="342900" indent="-342900" algn="l">
              <a:buFont typeface="+mj-lt"/>
              <a:buAutoNum type="arabicPeriod"/>
            </a:pPr>
            <a:r>
              <a:rPr lang="en-US" sz="2000" b="1" i="1" u="none" strike="noStrike" baseline="0" dirty="0">
                <a:latin typeface="Times-Italic"/>
              </a:rPr>
              <a:t>Software evolution </a:t>
            </a:r>
            <a:r>
              <a:rPr lang="en-US" sz="2000" b="0" i="0" u="none" strike="noStrike" baseline="0" dirty="0">
                <a:latin typeface="Times-Roman"/>
              </a:rPr>
              <a:t>where the software is modified to adapt it to changing customer </a:t>
            </a:r>
            <a:r>
              <a:rPr lang="en-IN" sz="2000" b="0" i="0" u="none" strike="noStrike" baseline="0" dirty="0">
                <a:latin typeface="Times-Roman"/>
              </a:rPr>
              <a:t>and market requirements</a:t>
            </a:r>
            <a:r>
              <a:rPr lang="en-IN" b="0" i="0" u="none" strike="noStrike" baseline="0" dirty="0">
                <a:latin typeface="Times-Roman"/>
              </a:rPr>
              <a:t>.</a:t>
            </a:r>
            <a:endParaRPr lang="en-IN" dirty="0"/>
          </a:p>
        </p:txBody>
      </p:sp>
    </p:spTree>
    <p:extLst>
      <p:ext uri="{BB962C8B-B14F-4D97-AF65-F5344CB8AC3E}">
        <p14:creationId xmlns:p14="http://schemas.microsoft.com/office/powerpoint/2010/main" val="3176003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92B9-6725-A516-8ABF-A1E59BC498C6}"/>
              </a:ext>
            </a:extLst>
          </p:cNvPr>
          <p:cNvSpPr>
            <a:spLocks noGrp="1"/>
          </p:cNvSpPr>
          <p:nvPr>
            <p:ph type="title"/>
          </p:nvPr>
        </p:nvSpPr>
        <p:spPr>
          <a:xfrm>
            <a:off x="838200" y="365125"/>
            <a:ext cx="10515600" cy="538389"/>
          </a:xfrm>
        </p:spPr>
        <p:txBody>
          <a:bodyPr>
            <a:normAutofit/>
          </a:bodyPr>
          <a:lstStyle/>
          <a:p>
            <a:r>
              <a:rPr lang="en-US" sz="2800" b="1" i="0" u="none" strike="noStrike" baseline="0" dirty="0">
                <a:latin typeface="MetaPlusMedium-Roman"/>
              </a:rPr>
              <a:t>What is a software process model?</a:t>
            </a:r>
            <a:endParaRPr lang="en-IN" sz="2800" b="1" dirty="0"/>
          </a:p>
        </p:txBody>
      </p:sp>
      <p:sp>
        <p:nvSpPr>
          <p:cNvPr id="3" name="Content Placeholder 2">
            <a:extLst>
              <a:ext uri="{FF2B5EF4-FFF2-40B4-BE49-F238E27FC236}">
                <a16:creationId xmlns:a16="http://schemas.microsoft.com/office/drawing/2014/main" id="{EE5BB2CA-19B4-24B3-89B0-4391428BD397}"/>
              </a:ext>
            </a:extLst>
          </p:cNvPr>
          <p:cNvSpPr>
            <a:spLocks noGrp="1"/>
          </p:cNvSpPr>
          <p:nvPr>
            <p:ph idx="1"/>
          </p:nvPr>
        </p:nvSpPr>
        <p:spPr>
          <a:xfrm>
            <a:off x="838200" y="1099457"/>
            <a:ext cx="10515600" cy="5077506"/>
          </a:xfrm>
        </p:spPr>
        <p:txBody>
          <a:bodyPr>
            <a:normAutofit/>
          </a:bodyPr>
          <a:lstStyle/>
          <a:p>
            <a:pPr algn="l"/>
            <a:r>
              <a:rPr lang="en-US" sz="1800" b="0" i="0" u="none" strike="noStrike" baseline="0" dirty="0">
                <a:latin typeface="Times-Roman"/>
              </a:rPr>
              <a:t>A software process model is a </a:t>
            </a:r>
            <a:r>
              <a:rPr lang="en-US" sz="1800" b="1" i="0" u="none" strike="noStrike" baseline="0" dirty="0">
                <a:solidFill>
                  <a:srgbClr val="FF0000"/>
                </a:solidFill>
                <a:latin typeface="Times-Roman"/>
              </a:rPr>
              <a:t>simplified description </a:t>
            </a:r>
            <a:r>
              <a:rPr lang="en-US" sz="1800" b="0" i="0" u="none" strike="noStrike" baseline="0" dirty="0">
                <a:latin typeface="Times-Roman"/>
              </a:rPr>
              <a:t>of a software process that presents one </a:t>
            </a:r>
            <a:r>
              <a:rPr lang="en-US" sz="1800" b="1" i="0" u="none" strike="noStrike" baseline="0" dirty="0">
                <a:solidFill>
                  <a:srgbClr val="FF0000"/>
                </a:solidFill>
                <a:latin typeface="Times-Roman"/>
              </a:rPr>
              <a:t>view</a:t>
            </a:r>
            <a:r>
              <a:rPr lang="en-US" sz="1800" b="0" i="0" u="none" strike="noStrike" baseline="0" dirty="0">
                <a:latin typeface="Times-Roman"/>
              </a:rPr>
              <a:t> of that process.</a:t>
            </a:r>
          </a:p>
          <a:p>
            <a:pPr algn="l"/>
            <a:r>
              <a:rPr lang="en-US" sz="1800" b="0" i="0" u="none" strike="noStrike" baseline="0" dirty="0">
                <a:latin typeface="Times-Roman"/>
              </a:rPr>
              <a:t>Process models may include </a:t>
            </a:r>
            <a:r>
              <a:rPr lang="en-US" sz="1800" b="0" i="0" u="none" strike="noStrike" baseline="0" dirty="0">
                <a:solidFill>
                  <a:srgbClr val="FF0000"/>
                </a:solidFill>
                <a:latin typeface="Times-Roman"/>
              </a:rPr>
              <a:t>activities</a:t>
            </a:r>
            <a:r>
              <a:rPr lang="en-US" sz="1800" b="0" i="0" u="none" strike="noStrike" baseline="0" dirty="0">
                <a:latin typeface="Times-Roman"/>
              </a:rPr>
              <a:t> that are part of the </a:t>
            </a:r>
            <a:r>
              <a:rPr lang="en-US" sz="1800" b="0" i="0" u="none" strike="noStrike" baseline="0" dirty="0">
                <a:solidFill>
                  <a:srgbClr val="FF0000"/>
                </a:solidFill>
                <a:latin typeface="Times-Roman"/>
              </a:rPr>
              <a:t>software process</a:t>
            </a:r>
            <a:r>
              <a:rPr lang="en-US" sz="1800" b="0" i="0" u="none" strike="noStrike" baseline="0" dirty="0">
                <a:latin typeface="Times-Roman"/>
              </a:rPr>
              <a:t>, software products and the roles of people involved in software engineering. Some examples of the types of software process model that may </a:t>
            </a:r>
            <a:r>
              <a:rPr lang="en-IN" sz="1800" b="0" i="0" u="none" strike="noStrike" baseline="0" dirty="0">
                <a:latin typeface="Times-Roman"/>
              </a:rPr>
              <a:t>be produced are:</a:t>
            </a:r>
          </a:p>
          <a:p>
            <a:pPr marL="342900" indent="-342900" algn="l">
              <a:buFont typeface="+mj-lt"/>
              <a:buAutoNum type="arabicPeriod"/>
            </a:pPr>
            <a:r>
              <a:rPr lang="en-US" sz="1800" b="1" i="1" u="none" strike="noStrike" baseline="0" dirty="0">
                <a:latin typeface="Times-Italic"/>
              </a:rPr>
              <a:t>A workflow model:  </a:t>
            </a:r>
            <a:r>
              <a:rPr lang="en-US" sz="1800" b="0" i="0" u="none" strike="noStrike" baseline="0" dirty="0">
                <a:latin typeface="Times-Roman"/>
              </a:rPr>
              <a:t>This shows the </a:t>
            </a:r>
            <a:r>
              <a:rPr lang="en-US" sz="1800" b="0" i="0" u="none" strike="noStrike" baseline="0" dirty="0">
                <a:solidFill>
                  <a:srgbClr val="FF0000"/>
                </a:solidFill>
                <a:latin typeface="Times-Roman"/>
              </a:rPr>
              <a:t>sequence of activities </a:t>
            </a:r>
            <a:r>
              <a:rPr lang="en-US" sz="1800" b="0" i="0" u="none" strike="noStrike" baseline="0" dirty="0">
                <a:latin typeface="Times-Roman"/>
              </a:rPr>
              <a:t>in the process along with their </a:t>
            </a:r>
            <a:r>
              <a:rPr lang="en-US" sz="1800" b="0" i="0" u="none" strike="noStrike" baseline="0" dirty="0">
                <a:solidFill>
                  <a:srgbClr val="FF0000"/>
                </a:solidFill>
                <a:latin typeface="Times-Roman"/>
              </a:rPr>
              <a:t>inputs, outputs and dependencies</a:t>
            </a:r>
            <a:r>
              <a:rPr lang="en-US" sz="1800" b="0" i="0" u="none" strike="noStrike" baseline="0" dirty="0">
                <a:latin typeface="Times-Roman"/>
              </a:rPr>
              <a:t>. The activities in this model represents </a:t>
            </a:r>
            <a:r>
              <a:rPr lang="en-IN" sz="1800" b="0" i="0" u="none" strike="noStrike" baseline="0" dirty="0">
                <a:solidFill>
                  <a:srgbClr val="FF0000"/>
                </a:solidFill>
                <a:latin typeface="Times-Roman"/>
              </a:rPr>
              <a:t>human actions</a:t>
            </a:r>
            <a:r>
              <a:rPr lang="en-IN" sz="1800" b="0" i="0" u="none" strike="noStrike" baseline="0" dirty="0">
                <a:latin typeface="Times-Roman"/>
              </a:rPr>
              <a:t>.</a:t>
            </a:r>
          </a:p>
          <a:p>
            <a:pPr marL="342900" indent="-342900" algn="l">
              <a:buFont typeface="+mj-lt"/>
              <a:buAutoNum type="arabicPeriod"/>
            </a:pPr>
            <a:r>
              <a:rPr lang="en-US" sz="1800" b="1" i="1" u="none" strike="noStrike" baseline="0" dirty="0">
                <a:latin typeface="Times-Italic"/>
              </a:rPr>
              <a:t>An activity model: </a:t>
            </a:r>
            <a:r>
              <a:rPr lang="en-US" sz="1800" b="0" i="0" u="none" strike="noStrike" baseline="0" dirty="0">
                <a:latin typeface="Times-Roman"/>
              </a:rPr>
              <a:t>This represents the process as a set of activities, each of which </a:t>
            </a:r>
            <a:r>
              <a:rPr lang="en-US" sz="1800" b="0" i="0" u="none" strike="noStrike" baseline="0" dirty="0">
                <a:solidFill>
                  <a:srgbClr val="FF0000"/>
                </a:solidFill>
                <a:latin typeface="Times-Roman"/>
              </a:rPr>
              <a:t>carries out some data transformation</a:t>
            </a:r>
            <a:r>
              <a:rPr lang="en-US" sz="1800" b="0" i="0" u="none" strike="noStrike" baseline="0" dirty="0">
                <a:latin typeface="Times-Roman"/>
              </a:rPr>
              <a:t>. It </a:t>
            </a:r>
            <a:r>
              <a:rPr lang="en-US" sz="1800" b="0" i="0" u="none" strike="noStrike" baseline="0" dirty="0">
                <a:solidFill>
                  <a:srgbClr val="FF0000"/>
                </a:solidFill>
                <a:latin typeface="Times-Roman"/>
              </a:rPr>
              <a:t>shows how the input to the process</a:t>
            </a:r>
            <a:r>
              <a:rPr lang="en-US" sz="1800" b="0" i="0" u="none" strike="noStrike" baseline="0" dirty="0">
                <a:latin typeface="Times-Roman"/>
              </a:rPr>
              <a:t>, such as a specification, </a:t>
            </a:r>
            <a:r>
              <a:rPr lang="en-US" sz="1800" b="0" i="0" u="none" strike="noStrike" baseline="0" dirty="0">
                <a:solidFill>
                  <a:srgbClr val="FF0000"/>
                </a:solidFill>
                <a:latin typeface="Times-Roman"/>
              </a:rPr>
              <a:t>is transformed to an output</a:t>
            </a:r>
            <a:r>
              <a:rPr lang="en-US" sz="1800" b="0" i="0" u="none" strike="noStrike" baseline="0" dirty="0">
                <a:latin typeface="Times-Roman"/>
              </a:rPr>
              <a:t>, such as a design. The activities here may represent transformations carried out by people or by </a:t>
            </a:r>
            <a:r>
              <a:rPr lang="en-IN" sz="1800" b="0" i="0" u="none" strike="noStrike" baseline="0" dirty="0">
                <a:latin typeface="Times-Roman"/>
              </a:rPr>
              <a:t>computers.</a:t>
            </a:r>
          </a:p>
          <a:p>
            <a:pPr marL="342900" indent="-342900" algn="l">
              <a:buFont typeface="+mj-lt"/>
              <a:buAutoNum type="arabicPeriod"/>
            </a:pPr>
            <a:r>
              <a:rPr lang="en-US" sz="1800" b="1" i="1" u="none" strike="noStrike" baseline="0" dirty="0">
                <a:latin typeface="Times-Italic"/>
              </a:rPr>
              <a:t>A role/action model: </a:t>
            </a:r>
            <a:r>
              <a:rPr lang="en-US" sz="1800" b="0" i="0" u="none" strike="noStrike" baseline="0" dirty="0">
                <a:latin typeface="Times-Roman"/>
              </a:rPr>
              <a:t>This represents the </a:t>
            </a:r>
            <a:r>
              <a:rPr lang="en-US" sz="1800" b="0" i="0" u="none" strike="noStrike" baseline="0" dirty="0">
                <a:solidFill>
                  <a:srgbClr val="FF0000"/>
                </a:solidFill>
                <a:latin typeface="Times-Roman"/>
              </a:rPr>
              <a:t>roles of the people </a:t>
            </a:r>
            <a:r>
              <a:rPr lang="en-US" sz="1800" b="0" i="0" u="none" strike="noStrike" baseline="0" dirty="0">
                <a:latin typeface="Times-Roman"/>
              </a:rPr>
              <a:t>involved in the software process and the activities for which they are responsible.</a:t>
            </a:r>
            <a:endParaRPr lang="en-IN" dirty="0"/>
          </a:p>
        </p:txBody>
      </p:sp>
    </p:spTree>
    <p:extLst>
      <p:ext uri="{BB962C8B-B14F-4D97-AF65-F5344CB8AC3E}">
        <p14:creationId xmlns:p14="http://schemas.microsoft.com/office/powerpoint/2010/main" val="2536148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BA4C-0A2A-532D-0735-8609B0897184}"/>
              </a:ext>
            </a:extLst>
          </p:cNvPr>
          <p:cNvSpPr>
            <a:spLocks noGrp="1"/>
          </p:cNvSpPr>
          <p:nvPr>
            <p:ph type="title"/>
          </p:nvPr>
        </p:nvSpPr>
        <p:spPr>
          <a:xfrm>
            <a:off x="838200" y="365126"/>
            <a:ext cx="10515600" cy="734332"/>
          </a:xfrm>
        </p:spPr>
        <p:txBody>
          <a:bodyPr>
            <a:normAutofit fontScale="90000"/>
          </a:bodyPr>
          <a:lstStyle/>
          <a:p>
            <a:r>
              <a:rPr lang="en-US" sz="2400" b="1" i="0" u="none" strike="noStrike" baseline="0" dirty="0">
                <a:latin typeface="Times-Roman"/>
              </a:rPr>
              <a:t>Most software process models are based on one of three general models or </a:t>
            </a:r>
            <a:r>
              <a:rPr lang="en-IN" sz="2400" b="1" i="0" u="none" strike="noStrike" baseline="0" dirty="0">
                <a:latin typeface="Times-Roman"/>
              </a:rPr>
              <a:t>paradigms of software development</a:t>
            </a:r>
            <a:endParaRPr lang="en-IN" sz="2400" b="1" dirty="0"/>
          </a:p>
        </p:txBody>
      </p:sp>
      <p:sp>
        <p:nvSpPr>
          <p:cNvPr id="3" name="Content Placeholder 2">
            <a:extLst>
              <a:ext uri="{FF2B5EF4-FFF2-40B4-BE49-F238E27FC236}">
                <a16:creationId xmlns:a16="http://schemas.microsoft.com/office/drawing/2014/main" id="{FAF525BD-B0B2-411A-B8CA-C7E7D0C74A7D}"/>
              </a:ext>
            </a:extLst>
          </p:cNvPr>
          <p:cNvSpPr>
            <a:spLocks noGrp="1"/>
          </p:cNvSpPr>
          <p:nvPr>
            <p:ph idx="1"/>
          </p:nvPr>
        </p:nvSpPr>
        <p:spPr>
          <a:xfrm>
            <a:off x="838200" y="1186543"/>
            <a:ext cx="10515600" cy="4990420"/>
          </a:xfrm>
        </p:spPr>
        <p:txBody>
          <a:bodyPr>
            <a:normAutofit/>
          </a:bodyPr>
          <a:lstStyle/>
          <a:p>
            <a:pPr marL="342900" indent="-342900" algn="l">
              <a:buFont typeface="+mj-lt"/>
              <a:buAutoNum type="arabicPeriod"/>
            </a:pPr>
            <a:r>
              <a:rPr lang="en-US" sz="2400" b="1" u="none" strike="noStrike" baseline="0" dirty="0">
                <a:latin typeface="Times-Italic"/>
              </a:rPr>
              <a:t>The waterfall approach: </a:t>
            </a:r>
            <a:r>
              <a:rPr lang="en-US" sz="2400" b="0" u="none" strike="noStrike" baseline="0" dirty="0">
                <a:latin typeface="Times-Roman"/>
              </a:rPr>
              <a:t>This takes the above activities and represents them as </a:t>
            </a:r>
            <a:r>
              <a:rPr lang="en-US" sz="2400" b="0" u="none" strike="noStrike" baseline="0" dirty="0">
                <a:solidFill>
                  <a:srgbClr val="FF0000"/>
                </a:solidFill>
                <a:latin typeface="Times-Roman"/>
              </a:rPr>
              <a:t>separate process phases </a:t>
            </a:r>
            <a:r>
              <a:rPr lang="en-US" sz="2400" b="0" u="none" strike="noStrike" baseline="0" dirty="0">
                <a:latin typeface="Times-Roman"/>
              </a:rPr>
              <a:t>such as requirements specification, software design, implementation, testing and so on. After each stage is defined it is ‘</a:t>
            </a:r>
            <a:r>
              <a:rPr lang="en-US" sz="2400" b="0" u="none" strike="noStrike" baseline="0" dirty="0">
                <a:solidFill>
                  <a:srgbClr val="FF0000"/>
                </a:solidFill>
                <a:latin typeface="Times-Roman"/>
              </a:rPr>
              <a:t>signed-off</a:t>
            </a:r>
            <a:r>
              <a:rPr lang="en-US" sz="2400" b="0" u="none" strike="noStrike" baseline="0" dirty="0">
                <a:latin typeface="Times-Roman"/>
              </a:rPr>
              <a:t>’, and development goes on to the next stage.</a:t>
            </a:r>
          </a:p>
          <a:p>
            <a:pPr marL="342900" indent="-342900" algn="l">
              <a:buFont typeface="+mj-lt"/>
              <a:buAutoNum type="arabicPeriod"/>
            </a:pPr>
            <a:r>
              <a:rPr lang="en-US" sz="2400" b="1" u="none" strike="noStrike" baseline="0" dirty="0">
                <a:latin typeface="Times-Italic"/>
              </a:rPr>
              <a:t>Iterative development: </a:t>
            </a:r>
            <a:r>
              <a:rPr lang="en-US" sz="2400" b="0" u="none" strike="noStrike" baseline="0" dirty="0">
                <a:latin typeface="Times-Roman"/>
              </a:rPr>
              <a:t>This approach </a:t>
            </a:r>
            <a:r>
              <a:rPr lang="en-US" sz="2400" b="0" u="none" strike="noStrike" baseline="0" dirty="0">
                <a:solidFill>
                  <a:srgbClr val="FF0000"/>
                </a:solidFill>
                <a:latin typeface="Times-Roman"/>
              </a:rPr>
              <a:t>interleaves the activities </a:t>
            </a:r>
            <a:r>
              <a:rPr lang="en-US" sz="2400" b="0" u="none" strike="noStrike" baseline="0" dirty="0">
                <a:latin typeface="Times-Roman"/>
              </a:rPr>
              <a:t>of specification, development and validation. An initial system is rapidly developed from very abstract specifications. This is </a:t>
            </a:r>
            <a:r>
              <a:rPr lang="en-US" sz="2400" b="0" u="none" strike="noStrike" baseline="0" dirty="0">
                <a:solidFill>
                  <a:srgbClr val="FF0000"/>
                </a:solidFill>
                <a:latin typeface="Times-Roman"/>
              </a:rPr>
              <a:t>then refined with customer input </a:t>
            </a:r>
            <a:r>
              <a:rPr lang="en-US" sz="2400" b="0" u="none" strike="noStrike" baseline="0" dirty="0">
                <a:latin typeface="Times-Roman"/>
              </a:rPr>
              <a:t>to produce a system that satisfies the customer’s needs. The system may then be delivered. Alternatively, it may be reimplemented using a more structured approach to produce a more robust and maintainable system.</a:t>
            </a:r>
          </a:p>
          <a:p>
            <a:pPr marL="342900" indent="-342900" algn="l">
              <a:buFont typeface="+mj-lt"/>
              <a:buAutoNum type="arabicPeriod"/>
            </a:pPr>
            <a:r>
              <a:rPr lang="en-US" sz="2400" b="1" u="none" strike="noStrike" baseline="0" dirty="0">
                <a:latin typeface="Times-Italic"/>
              </a:rPr>
              <a:t>Component-based software engineering (CBSE): </a:t>
            </a:r>
            <a:r>
              <a:rPr lang="en-US" sz="2400" b="0" u="none" strike="noStrike" baseline="0" dirty="0">
                <a:latin typeface="Times-Roman"/>
              </a:rPr>
              <a:t>This technique </a:t>
            </a:r>
            <a:r>
              <a:rPr lang="en-US" sz="2400" b="0" u="none" strike="noStrike" baseline="0" dirty="0">
                <a:solidFill>
                  <a:srgbClr val="FF0000"/>
                </a:solidFill>
                <a:latin typeface="Times-Roman"/>
              </a:rPr>
              <a:t>assumes</a:t>
            </a:r>
            <a:r>
              <a:rPr lang="en-US" sz="2400" b="0" u="none" strike="noStrike" baseline="0" dirty="0">
                <a:latin typeface="Times-Roman"/>
              </a:rPr>
              <a:t> that </a:t>
            </a:r>
            <a:r>
              <a:rPr lang="en-US" sz="2400" b="0" u="none" strike="noStrike" baseline="0" dirty="0">
                <a:solidFill>
                  <a:srgbClr val="FF0000"/>
                </a:solidFill>
                <a:latin typeface="Times-Roman"/>
              </a:rPr>
              <a:t>parts of the system already exist</a:t>
            </a:r>
            <a:r>
              <a:rPr lang="en-US" sz="2400" b="0" u="none" strike="noStrike" baseline="0" dirty="0">
                <a:latin typeface="Times-Roman"/>
              </a:rPr>
              <a:t>. The system development process focuses on integrating these parts rather than developing them from scratch.</a:t>
            </a:r>
            <a:endParaRPr lang="en-IN" sz="2400" dirty="0"/>
          </a:p>
        </p:txBody>
      </p:sp>
    </p:spTree>
    <p:extLst>
      <p:ext uri="{BB962C8B-B14F-4D97-AF65-F5344CB8AC3E}">
        <p14:creationId xmlns:p14="http://schemas.microsoft.com/office/powerpoint/2010/main" val="3593137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CF5AD4F-DA8E-B4C8-2B71-464E61767407}"/>
              </a:ext>
            </a:extLst>
          </p:cNvPr>
          <p:cNvPicPr>
            <a:picLocks noGrp="1" noChangeAspect="1"/>
          </p:cNvPicPr>
          <p:nvPr>
            <p:ph idx="1"/>
          </p:nvPr>
        </p:nvPicPr>
        <p:blipFill>
          <a:blip r:embed="rId2"/>
          <a:stretch>
            <a:fillRect/>
          </a:stretch>
        </p:blipFill>
        <p:spPr>
          <a:xfrm>
            <a:off x="1404257" y="758692"/>
            <a:ext cx="10025743" cy="5181866"/>
          </a:xfrm>
          <a:prstGeom prst="rect">
            <a:avLst/>
          </a:prstGeom>
        </p:spPr>
      </p:pic>
    </p:spTree>
    <p:extLst>
      <p:ext uri="{BB962C8B-B14F-4D97-AF65-F5344CB8AC3E}">
        <p14:creationId xmlns:p14="http://schemas.microsoft.com/office/powerpoint/2010/main" val="3647271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7C3E3-6FF3-D96B-8BE0-FF70D1AA6346}"/>
              </a:ext>
            </a:extLst>
          </p:cNvPr>
          <p:cNvSpPr>
            <a:spLocks noGrp="1"/>
          </p:cNvSpPr>
          <p:nvPr>
            <p:ph type="title"/>
          </p:nvPr>
        </p:nvSpPr>
        <p:spPr>
          <a:xfrm>
            <a:off x="838200" y="105684"/>
            <a:ext cx="10515600" cy="494846"/>
          </a:xfrm>
        </p:spPr>
        <p:txBody>
          <a:bodyPr>
            <a:normAutofit/>
          </a:bodyPr>
          <a:lstStyle/>
          <a:p>
            <a:r>
              <a:rPr lang="en-US" sz="2800" b="1" i="0" u="none" strike="noStrike" baseline="0" dirty="0">
                <a:latin typeface="MetaPlusMedium-Roman"/>
              </a:rPr>
              <a:t>What are the costs of software engineering?</a:t>
            </a:r>
            <a:endParaRPr lang="en-IN" sz="2800" b="1" dirty="0"/>
          </a:p>
        </p:txBody>
      </p:sp>
      <p:sp>
        <p:nvSpPr>
          <p:cNvPr id="3" name="Content Placeholder 2">
            <a:extLst>
              <a:ext uri="{FF2B5EF4-FFF2-40B4-BE49-F238E27FC236}">
                <a16:creationId xmlns:a16="http://schemas.microsoft.com/office/drawing/2014/main" id="{B6D59494-A458-0455-27A0-C650EAD58B75}"/>
              </a:ext>
            </a:extLst>
          </p:cNvPr>
          <p:cNvSpPr>
            <a:spLocks noGrp="1"/>
          </p:cNvSpPr>
          <p:nvPr>
            <p:ph idx="1"/>
          </p:nvPr>
        </p:nvSpPr>
        <p:spPr>
          <a:xfrm>
            <a:off x="838200" y="600530"/>
            <a:ext cx="10515600" cy="5576433"/>
          </a:xfrm>
        </p:spPr>
        <p:txBody>
          <a:bodyPr>
            <a:normAutofit/>
          </a:bodyPr>
          <a:lstStyle/>
          <a:p>
            <a:r>
              <a:rPr lang="en-US" sz="2400" b="0" i="0" u="none" strike="noStrike" baseline="0" dirty="0">
                <a:latin typeface="Times-Roman"/>
              </a:rPr>
              <a:t>distribution of costs across the different activities in the software process depends on the process used and the type of software that is being developed</a:t>
            </a:r>
          </a:p>
          <a:p>
            <a:pPr algn="l"/>
            <a:r>
              <a:rPr lang="en-IN" sz="2400" b="0" i="0" u="none" strike="noStrike" baseline="0" dirty="0">
                <a:latin typeface="Times-Roman"/>
              </a:rPr>
              <a:t>real-time software usually </a:t>
            </a:r>
            <a:r>
              <a:rPr lang="en-US" sz="2400" b="0" i="0" u="none" strike="noStrike" baseline="0" dirty="0">
                <a:latin typeface="Times-Roman"/>
              </a:rPr>
              <a:t>requires more extensive validation and testing than web-based systems</a:t>
            </a:r>
          </a:p>
          <a:p>
            <a:pPr algn="l"/>
            <a:endParaRPr lang="en-US" sz="2400" b="0" i="0" u="none" strike="noStrike" baseline="0" dirty="0">
              <a:latin typeface="Times-Roman"/>
            </a:endParaRPr>
          </a:p>
          <a:p>
            <a:pPr marL="0" indent="0" algn="l">
              <a:buNone/>
            </a:pPr>
            <a:endParaRPr lang="en-IN" sz="2400" dirty="0"/>
          </a:p>
        </p:txBody>
      </p:sp>
      <p:pic>
        <p:nvPicPr>
          <p:cNvPr id="5" name="Picture 4">
            <a:extLst>
              <a:ext uri="{FF2B5EF4-FFF2-40B4-BE49-F238E27FC236}">
                <a16:creationId xmlns:a16="http://schemas.microsoft.com/office/drawing/2014/main" id="{6D39B083-AB8A-6ADF-F7CE-E0E6DC17A969}"/>
              </a:ext>
            </a:extLst>
          </p:cNvPr>
          <p:cNvPicPr>
            <a:picLocks noChangeAspect="1"/>
          </p:cNvPicPr>
          <p:nvPr/>
        </p:nvPicPr>
        <p:blipFill>
          <a:blip r:embed="rId2"/>
          <a:stretch>
            <a:fillRect/>
          </a:stretch>
        </p:blipFill>
        <p:spPr>
          <a:xfrm>
            <a:off x="4125686" y="1730828"/>
            <a:ext cx="7131735" cy="5021488"/>
          </a:xfrm>
          <a:prstGeom prst="rect">
            <a:avLst/>
          </a:prstGeom>
        </p:spPr>
      </p:pic>
      <p:sp>
        <p:nvSpPr>
          <p:cNvPr id="6" name="TextBox 5">
            <a:extLst>
              <a:ext uri="{FF2B5EF4-FFF2-40B4-BE49-F238E27FC236}">
                <a16:creationId xmlns:a16="http://schemas.microsoft.com/office/drawing/2014/main" id="{94698847-73B3-C8F4-5ECD-CA1C4928667E}"/>
              </a:ext>
            </a:extLst>
          </p:cNvPr>
          <p:cNvSpPr txBox="1"/>
          <p:nvPr/>
        </p:nvSpPr>
        <p:spPr>
          <a:xfrm>
            <a:off x="195942" y="4710314"/>
            <a:ext cx="3483430" cy="1754326"/>
          </a:xfrm>
          <a:prstGeom prst="rect">
            <a:avLst/>
          </a:prstGeom>
          <a:noFill/>
        </p:spPr>
        <p:txBody>
          <a:bodyPr wrap="square" rtlCol="0">
            <a:spAutoFit/>
          </a:bodyPr>
          <a:lstStyle/>
          <a:p>
            <a:pPr algn="l"/>
            <a:r>
              <a:rPr lang="en-IN" sz="1800" b="1" i="0" u="none" strike="noStrike" baseline="0" dirty="0">
                <a:latin typeface="Times-Roman"/>
              </a:rPr>
              <a:t>If you assume that </a:t>
            </a:r>
            <a:r>
              <a:rPr lang="en-US" sz="1800" b="1" i="0" u="none" strike="noStrike" baseline="0" dirty="0">
                <a:latin typeface="Times-Roman"/>
              </a:rPr>
              <a:t>the total cost of developing a complex software system is 100 cost units then the Figure illustrates how these are spent on different process activities.</a:t>
            </a:r>
            <a:endParaRPr lang="en-IN" b="1" dirty="0"/>
          </a:p>
        </p:txBody>
      </p:sp>
    </p:spTree>
    <p:extLst>
      <p:ext uri="{BB962C8B-B14F-4D97-AF65-F5344CB8AC3E}">
        <p14:creationId xmlns:p14="http://schemas.microsoft.com/office/powerpoint/2010/main" val="2388278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1F70F-D40A-2355-4E14-2A4CF16C9B07}"/>
              </a:ext>
            </a:extLst>
          </p:cNvPr>
          <p:cNvSpPr>
            <a:spLocks noGrp="1"/>
          </p:cNvSpPr>
          <p:nvPr>
            <p:ph type="title"/>
          </p:nvPr>
        </p:nvSpPr>
        <p:spPr>
          <a:xfrm>
            <a:off x="838200" y="97971"/>
            <a:ext cx="10515600" cy="816429"/>
          </a:xfrm>
        </p:spPr>
        <p:txBody>
          <a:bodyPr/>
          <a:lstStyle/>
          <a:p>
            <a:r>
              <a:rPr lang="en-US" sz="2400" b="1" i="0" u="none" strike="noStrike" baseline="0" dirty="0">
                <a:latin typeface="MetaPlusMedium-Roman"/>
              </a:rPr>
              <a:t>What are the attributes of good software</a:t>
            </a:r>
            <a:r>
              <a:rPr lang="en-US" sz="1800" b="0" i="0" u="none" strike="noStrike" baseline="0" dirty="0">
                <a:solidFill>
                  <a:srgbClr val="00FFFF"/>
                </a:solidFill>
                <a:latin typeface="MetaPlusMedium-Roman"/>
              </a:rPr>
              <a:t>?</a:t>
            </a:r>
            <a:endParaRPr lang="en-IN" dirty="0"/>
          </a:p>
        </p:txBody>
      </p:sp>
      <p:sp>
        <p:nvSpPr>
          <p:cNvPr id="7" name="Content Placeholder 6">
            <a:extLst>
              <a:ext uri="{FF2B5EF4-FFF2-40B4-BE49-F238E27FC236}">
                <a16:creationId xmlns:a16="http://schemas.microsoft.com/office/drawing/2014/main" id="{091AAE94-593F-7903-FBAE-7897DE8D522B}"/>
              </a:ext>
            </a:extLst>
          </p:cNvPr>
          <p:cNvSpPr>
            <a:spLocks noGrp="1"/>
          </p:cNvSpPr>
          <p:nvPr>
            <p:ph idx="1"/>
          </p:nvPr>
        </p:nvSpPr>
        <p:spPr>
          <a:xfrm>
            <a:off x="838200" y="762000"/>
            <a:ext cx="10515600" cy="5414963"/>
          </a:xfrm>
        </p:spPr>
        <p:txBody>
          <a:bodyPr/>
          <a:lstStyle/>
          <a:p>
            <a:pPr algn="l"/>
            <a:r>
              <a:rPr lang="en-US" sz="1800" b="0" i="0" u="none" strike="noStrike" baseline="0" dirty="0">
                <a:latin typeface="Times-Roman"/>
              </a:rPr>
              <a:t>As well as the </a:t>
            </a:r>
            <a:r>
              <a:rPr lang="en-US" sz="1800" b="0" i="0" u="none" strike="noStrike" baseline="0" dirty="0">
                <a:solidFill>
                  <a:srgbClr val="FF0000"/>
                </a:solidFill>
                <a:latin typeface="Times-Roman"/>
              </a:rPr>
              <a:t>services</a:t>
            </a:r>
            <a:r>
              <a:rPr lang="en-US" sz="1800" b="0" i="0" u="none" strike="noStrike" baseline="0" dirty="0">
                <a:latin typeface="Times-Roman"/>
              </a:rPr>
              <a:t> that it provides, software products have a number of other associated attributes that reflect the quality of that software,</a:t>
            </a:r>
          </a:p>
          <a:p>
            <a:pPr algn="l"/>
            <a:r>
              <a:rPr lang="en-IN" sz="1800" b="0" i="0" u="none" strike="noStrike" baseline="0" dirty="0">
                <a:latin typeface="Times-Roman"/>
              </a:rPr>
              <a:t>It should reflect its behaviour </a:t>
            </a:r>
            <a:r>
              <a:rPr lang="en-US" sz="1800" b="0" i="0" u="none" strike="noStrike" baseline="0" dirty="0">
                <a:latin typeface="Times-Roman"/>
              </a:rPr>
              <a:t>while it is executing and the structure and </a:t>
            </a:r>
            <a:r>
              <a:rPr lang="en-US" sz="1800" b="0" i="0" u="none" strike="noStrike" baseline="0" dirty="0" err="1">
                <a:latin typeface="Times-Roman"/>
              </a:rPr>
              <a:t>organisation</a:t>
            </a:r>
            <a:r>
              <a:rPr lang="en-US" sz="1800" b="0" i="0" u="none" strike="noStrike" baseline="0" dirty="0">
                <a:latin typeface="Times-Roman"/>
              </a:rPr>
              <a:t> of the source program and </a:t>
            </a:r>
            <a:r>
              <a:rPr lang="en-IN" sz="1800" b="0" i="0" u="none" strike="noStrike" baseline="0" dirty="0">
                <a:latin typeface="Times-Roman"/>
              </a:rPr>
              <a:t>associated documentation.</a:t>
            </a:r>
          </a:p>
          <a:p>
            <a:pPr algn="l"/>
            <a:endParaRPr lang="en-IN" dirty="0"/>
          </a:p>
        </p:txBody>
      </p:sp>
      <p:pic>
        <p:nvPicPr>
          <p:cNvPr id="11" name="Picture 10">
            <a:extLst>
              <a:ext uri="{FF2B5EF4-FFF2-40B4-BE49-F238E27FC236}">
                <a16:creationId xmlns:a16="http://schemas.microsoft.com/office/drawing/2014/main" id="{38EC0513-6C5C-07FD-8518-6716BEF9F6F7}"/>
              </a:ext>
            </a:extLst>
          </p:cNvPr>
          <p:cNvPicPr>
            <a:picLocks noChangeAspect="1"/>
          </p:cNvPicPr>
          <p:nvPr/>
        </p:nvPicPr>
        <p:blipFill>
          <a:blip r:embed="rId2"/>
          <a:stretch>
            <a:fillRect/>
          </a:stretch>
        </p:blipFill>
        <p:spPr>
          <a:xfrm>
            <a:off x="1618625" y="1937657"/>
            <a:ext cx="8954750" cy="4903335"/>
          </a:xfrm>
          <a:prstGeom prst="rect">
            <a:avLst/>
          </a:prstGeom>
        </p:spPr>
      </p:pic>
    </p:spTree>
    <p:extLst>
      <p:ext uri="{BB962C8B-B14F-4D97-AF65-F5344CB8AC3E}">
        <p14:creationId xmlns:p14="http://schemas.microsoft.com/office/powerpoint/2010/main" val="475751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84C42-048C-DD97-FB5E-6DD6C898313F}"/>
              </a:ext>
            </a:extLst>
          </p:cNvPr>
          <p:cNvSpPr>
            <a:spLocks noGrp="1"/>
          </p:cNvSpPr>
          <p:nvPr>
            <p:ph type="title"/>
          </p:nvPr>
        </p:nvSpPr>
        <p:spPr>
          <a:xfrm>
            <a:off x="838200" y="108858"/>
            <a:ext cx="10515600" cy="572180"/>
          </a:xfrm>
        </p:spPr>
        <p:txBody>
          <a:bodyPr>
            <a:normAutofit/>
          </a:bodyPr>
          <a:lstStyle/>
          <a:p>
            <a:r>
              <a:rPr lang="en-US" sz="3200" b="1" i="0" u="none" strike="noStrike" baseline="0" dirty="0">
                <a:latin typeface="MetaPlusMedium-Roman"/>
              </a:rPr>
              <a:t>What are the key challenges facing software engineering?</a:t>
            </a:r>
            <a:endParaRPr lang="en-IN" sz="3200" b="1" dirty="0"/>
          </a:p>
        </p:txBody>
      </p:sp>
      <p:sp>
        <p:nvSpPr>
          <p:cNvPr id="3" name="Content Placeholder 2">
            <a:extLst>
              <a:ext uri="{FF2B5EF4-FFF2-40B4-BE49-F238E27FC236}">
                <a16:creationId xmlns:a16="http://schemas.microsoft.com/office/drawing/2014/main" id="{7978DFAF-FBE6-AB79-FF58-0B4A2324C082}"/>
              </a:ext>
            </a:extLst>
          </p:cNvPr>
          <p:cNvSpPr>
            <a:spLocks noGrp="1"/>
          </p:cNvSpPr>
          <p:nvPr>
            <p:ph idx="1"/>
          </p:nvPr>
        </p:nvSpPr>
        <p:spPr>
          <a:xfrm>
            <a:off x="838200" y="838200"/>
            <a:ext cx="10515600" cy="5338763"/>
          </a:xfrm>
        </p:spPr>
        <p:txBody>
          <a:bodyPr>
            <a:normAutofit/>
          </a:bodyPr>
          <a:lstStyle/>
          <a:p>
            <a:pPr algn="l"/>
            <a:r>
              <a:rPr lang="en-US" sz="2400" b="0" i="1" u="none" strike="noStrike" baseline="0" dirty="0">
                <a:latin typeface="Times-Italic"/>
              </a:rPr>
              <a:t>The </a:t>
            </a:r>
            <a:r>
              <a:rPr lang="en-US" sz="2400" b="0" i="1" u="none" strike="noStrike" baseline="0" dirty="0">
                <a:solidFill>
                  <a:srgbClr val="FF0000"/>
                </a:solidFill>
                <a:latin typeface="Times-Italic"/>
              </a:rPr>
              <a:t>heterogeneity</a:t>
            </a:r>
            <a:r>
              <a:rPr lang="en-US" sz="2400" b="0" i="1" u="none" strike="noStrike" baseline="0" dirty="0">
                <a:latin typeface="Times-Italic"/>
              </a:rPr>
              <a:t> challenge </a:t>
            </a:r>
            <a:r>
              <a:rPr lang="en-US" sz="2400" b="0" i="0" u="none" strike="noStrike" baseline="0" dirty="0">
                <a:latin typeface="Times-Roman"/>
              </a:rPr>
              <a:t>Increasingly, systems are required to operate as distributed systems across networks that include different types of computers and with different kinds of support systems</a:t>
            </a:r>
          </a:p>
          <a:p>
            <a:pPr algn="l"/>
            <a:r>
              <a:rPr lang="en-US" sz="2400" b="0" i="1" u="none" strike="noStrike" baseline="0" dirty="0">
                <a:latin typeface="Times-Italic"/>
              </a:rPr>
              <a:t>The delivery challenge </a:t>
            </a:r>
            <a:r>
              <a:rPr lang="en-US" sz="2400" b="0" i="0" u="none" strike="noStrike" baseline="0" dirty="0">
                <a:latin typeface="Times-Roman"/>
              </a:rPr>
              <a:t>Many traditional software engineering techniques are time-consuming. The time they take is required to achieve software quality. The </a:t>
            </a:r>
            <a:r>
              <a:rPr lang="en-US" sz="2400" b="0" i="0" u="none" strike="noStrike" baseline="0" dirty="0">
                <a:solidFill>
                  <a:srgbClr val="FF0000"/>
                </a:solidFill>
                <a:latin typeface="Times-Roman"/>
              </a:rPr>
              <a:t>delivery challenge </a:t>
            </a:r>
            <a:r>
              <a:rPr lang="en-US" sz="2400" b="0" i="0" u="none" strike="noStrike" baseline="0" dirty="0">
                <a:latin typeface="Times-Roman"/>
              </a:rPr>
              <a:t>is the challenge of </a:t>
            </a:r>
            <a:r>
              <a:rPr lang="en-US" sz="2400" b="0" i="0" u="none" strike="noStrike" baseline="0" dirty="0">
                <a:solidFill>
                  <a:srgbClr val="FF0000"/>
                </a:solidFill>
                <a:latin typeface="Times-Roman"/>
              </a:rPr>
              <a:t>shortening delivery times</a:t>
            </a:r>
            <a:r>
              <a:rPr lang="en-US" sz="2400" b="0" i="0" u="none" strike="noStrike" baseline="0" dirty="0">
                <a:latin typeface="Times-Roman"/>
              </a:rPr>
              <a:t> for large and complex systems </a:t>
            </a:r>
            <a:r>
              <a:rPr lang="en-US" sz="2400" b="0" i="0" u="none" strike="noStrike" baseline="0" dirty="0">
                <a:solidFill>
                  <a:srgbClr val="FF0000"/>
                </a:solidFill>
                <a:latin typeface="Times-Roman"/>
              </a:rPr>
              <a:t>without </a:t>
            </a:r>
            <a:r>
              <a:rPr lang="en-IN" sz="2400" b="0" i="0" u="none" strike="noStrike" baseline="0" dirty="0">
                <a:solidFill>
                  <a:srgbClr val="FF0000"/>
                </a:solidFill>
                <a:latin typeface="Times-Roman"/>
              </a:rPr>
              <a:t>compromising system quality</a:t>
            </a:r>
            <a:r>
              <a:rPr lang="en-IN" sz="2400" b="0" i="0" u="none" strike="noStrike" baseline="0" dirty="0">
                <a:latin typeface="Times-Roman"/>
              </a:rPr>
              <a:t>.</a:t>
            </a:r>
          </a:p>
          <a:p>
            <a:pPr algn="l"/>
            <a:r>
              <a:rPr lang="en-US" sz="2400" b="0" i="1" u="none" strike="noStrike" baseline="0" dirty="0">
                <a:latin typeface="Times-Italic"/>
              </a:rPr>
              <a:t>The </a:t>
            </a:r>
            <a:r>
              <a:rPr lang="en-US" sz="2400" b="0" i="1" u="none" strike="noStrike" baseline="0" dirty="0">
                <a:solidFill>
                  <a:srgbClr val="FF0000"/>
                </a:solidFill>
                <a:latin typeface="Times-Italic"/>
              </a:rPr>
              <a:t>trust challenge </a:t>
            </a:r>
            <a:r>
              <a:rPr lang="en-US" sz="2400" b="0" i="0" u="none" strike="noStrike" baseline="0" dirty="0">
                <a:latin typeface="Times-Roman"/>
              </a:rPr>
              <a:t>As software is intertwined with all aspects of our lives, it is essential that we can trust that software</a:t>
            </a:r>
            <a:endParaRPr lang="en-IN" sz="2400" dirty="0"/>
          </a:p>
        </p:txBody>
      </p:sp>
    </p:spTree>
    <p:extLst>
      <p:ext uri="{BB962C8B-B14F-4D97-AF65-F5344CB8AC3E}">
        <p14:creationId xmlns:p14="http://schemas.microsoft.com/office/powerpoint/2010/main" val="241206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2F898-B81E-56C6-7E95-C5874E48AF21}"/>
              </a:ext>
            </a:extLst>
          </p:cNvPr>
          <p:cNvSpPr>
            <a:spLocks noGrp="1"/>
          </p:cNvSpPr>
          <p:nvPr>
            <p:ph type="title"/>
          </p:nvPr>
        </p:nvSpPr>
        <p:spPr>
          <a:xfrm>
            <a:off x="838200" y="365125"/>
            <a:ext cx="10515600" cy="625475"/>
          </a:xfrm>
        </p:spPr>
        <p:txBody>
          <a:bodyPr>
            <a:normAutofit/>
          </a:bodyPr>
          <a:lstStyle/>
          <a:p>
            <a:r>
              <a:rPr lang="en-IN" sz="2800" b="1" i="0" u="none" strike="noStrike" baseline="0" dirty="0">
                <a:latin typeface="MetaPlusBold-Roman"/>
              </a:rPr>
              <a:t>Professional and ethical responsibility</a:t>
            </a:r>
            <a:endParaRPr lang="en-IN" sz="2800" dirty="0"/>
          </a:p>
        </p:txBody>
      </p:sp>
      <p:sp>
        <p:nvSpPr>
          <p:cNvPr id="3" name="Content Placeholder 2">
            <a:extLst>
              <a:ext uri="{FF2B5EF4-FFF2-40B4-BE49-F238E27FC236}">
                <a16:creationId xmlns:a16="http://schemas.microsoft.com/office/drawing/2014/main" id="{F45107CE-0BD1-09AF-F2DF-60B13A7F926F}"/>
              </a:ext>
            </a:extLst>
          </p:cNvPr>
          <p:cNvSpPr>
            <a:spLocks noGrp="1"/>
          </p:cNvSpPr>
          <p:nvPr>
            <p:ph idx="1"/>
          </p:nvPr>
        </p:nvSpPr>
        <p:spPr>
          <a:xfrm>
            <a:off x="838200" y="1110343"/>
            <a:ext cx="10515600" cy="5066620"/>
          </a:xfrm>
        </p:spPr>
        <p:txBody>
          <a:bodyPr/>
          <a:lstStyle/>
          <a:p>
            <a:pPr algn="l"/>
            <a:r>
              <a:rPr lang="en-US" sz="1800" b="0" i="1" u="none" strike="noStrike" baseline="0" dirty="0">
                <a:latin typeface="Times-Italic"/>
              </a:rPr>
              <a:t>Confidentiality </a:t>
            </a:r>
            <a:r>
              <a:rPr lang="en-US" sz="1800" b="0" i="0" u="none" strike="noStrike" baseline="0" dirty="0">
                <a:latin typeface="Times-Roman"/>
              </a:rPr>
              <a:t>You should normally respect the confidentiality of your employers or clients irrespective of whether a formal confidentiality agreement </a:t>
            </a:r>
            <a:r>
              <a:rPr lang="en-IN" sz="1800" b="0" i="0" u="none" strike="noStrike" baseline="0" dirty="0">
                <a:latin typeface="Times-Roman"/>
              </a:rPr>
              <a:t>has been signed.</a:t>
            </a:r>
          </a:p>
          <a:p>
            <a:pPr algn="l"/>
            <a:r>
              <a:rPr lang="en-US" sz="1800" b="0" i="1" u="none" strike="noStrike" baseline="0" dirty="0">
                <a:latin typeface="Times-Italic"/>
              </a:rPr>
              <a:t>Competence </a:t>
            </a:r>
            <a:r>
              <a:rPr lang="en-US" sz="1800" b="0" i="0" u="none" strike="noStrike" baseline="0" dirty="0">
                <a:latin typeface="Times-Roman"/>
              </a:rPr>
              <a:t>You should not misrepresent your level of competence. You should not knowingly accept work that is outside your competence.</a:t>
            </a:r>
          </a:p>
          <a:p>
            <a:pPr algn="l"/>
            <a:r>
              <a:rPr lang="en-US" sz="1800" b="0" i="1" u="none" strike="noStrike" baseline="0" dirty="0">
                <a:latin typeface="Times-Italic"/>
              </a:rPr>
              <a:t>Intellectual property rights </a:t>
            </a:r>
            <a:r>
              <a:rPr lang="en-US" sz="1800" b="0" i="0" u="none" strike="noStrike" baseline="0" dirty="0">
                <a:latin typeface="Times-Roman"/>
              </a:rPr>
              <a:t>You should be careful to ensure that the intellectual property of employers and clients is protected.</a:t>
            </a:r>
          </a:p>
          <a:p>
            <a:pPr algn="l"/>
            <a:r>
              <a:rPr lang="en-US" sz="1800" b="0" i="1" u="none" strike="noStrike" baseline="0" dirty="0">
                <a:latin typeface="Times-Italic"/>
              </a:rPr>
              <a:t>Computer misuse </a:t>
            </a:r>
            <a:r>
              <a:rPr lang="en-US" sz="1800" b="0" i="0" u="none" strike="noStrike" baseline="0" dirty="0">
                <a:latin typeface="Times-Roman"/>
              </a:rPr>
              <a:t>You should not use your technical skills to misuse other people’s computers. Computer misuse ranges from relatively trivial (game playing on an employer’s machine, say) to extremely serious (dissemination of viruses).</a:t>
            </a:r>
            <a:endParaRPr lang="en-IN" dirty="0"/>
          </a:p>
        </p:txBody>
      </p:sp>
    </p:spTree>
    <p:extLst>
      <p:ext uri="{BB962C8B-B14F-4D97-AF65-F5344CB8AC3E}">
        <p14:creationId xmlns:p14="http://schemas.microsoft.com/office/powerpoint/2010/main" val="2977419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21668-4688-D95B-151B-DD232E37FAE9}"/>
              </a:ext>
            </a:extLst>
          </p:cNvPr>
          <p:cNvSpPr>
            <a:spLocks noGrp="1"/>
          </p:cNvSpPr>
          <p:nvPr>
            <p:ph type="title"/>
          </p:nvPr>
        </p:nvSpPr>
        <p:spPr>
          <a:xfrm>
            <a:off x="838200" y="365126"/>
            <a:ext cx="10515600" cy="429532"/>
          </a:xfrm>
        </p:spPr>
        <p:txBody>
          <a:bodyPr>
            <a:normAutofit fontScale="90000"/>
          </a:bodyPr>
          <a:lstStyle/>
          <a:p>
            <a:r>
              <a:rPr lang="en-IN" b="1" dirty="0"/>
              <a:t>Take Away</a:t>
            </a:r>
          </a:p>
        </p:txBody>
      </p:sp>
      <p:pic>
        <p:nvPicPr>
          <p:cNvPr id="9" name="Content Placeholder 8">
            <a:extLst>
              <a:ext uri="{FF2B5EF4-FFF2-40B4-BE49-F238E27FC236}">
                <a16:creationId xmlns:a16="http://schemas.microsoft.com/office/drawing/2014/main" id="{40311E8A-CE36-6363-0439-6C7426297C2F}"/>
              </a:ext>
            </a:extLst>
          </p:cNvPr>
          <p:cNvPicPr>
            <a:picLocks noGrp="1" noChangeAspect="1"/>
          </p:cNvPicPr>
          <p:nvPr>
            <p:ph idx="1"/>
          </p:nvPr>
        </p:nvPicPr>
        <p:blipFill>
          <a:blip r:embed="rId2"/>
          <a:stretch>
            <a:fillRect/>
          </a:stretch>
        </p:blipFill>
        <p:spPr>
          <a:xfrm>
            <a:off x="838200" y="992292"/>
            <a:ext cx="10515600" cy="3775547"/>
          </a:xfrm>
        </p:spPr>
      </p:pic>
      <p:pic>
        <p:nvPicPr>
          <p:cNvPr id="11" name="Picture 10">
            <a:extLst>
              <a:ext uri="{FF2B5EF4-FFF2-40B4-BE49-F238E27FC236}">
                <a16:creationId xmlns:a16="http://schemas.microsoft.com/office/drawing/2014/main" id="{7ABCB768-B946-293A-7020-4FE00974D05E}"/>
              </a:ext>
            </a:extLst>
          </p:cNvPr>
          <p:cNvPicPr>
            <a:picLocks noChangeAspect="1"/>
          </p:cNvPicPr>
          <p:nvPr/>
        </p:nvPicPr>
        <p:blipFill>
          <a:blip r:embed="rId3"/>
          <a:stretch>
            <a:fillRect/>
          </a:stretch>
        </p:blipFill>
        <p:spPr>
          <a:xfrm>
            <a:off x="838200" y="4730503"/>
            <a:ext cx="10517068" cy="1762371"/>
          </a:xfrm>
          <a:prstGeom prst="rect">
            <a:avLst/>
          </a:prstGeom>
        </p:spPr>
      </p:pic>
    </p:spTree>
    <p:extLst>
      <p:ext uri="{BB962C8B-B14F-4D97-AF65-F5344CB8AC3E}">
        <p14:creationId xmlns:p14="http://schemas.microsoft.com/office/powerpoint/2010/main" val="1474057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660</TotalTime>
  <Words>1583</Words>
  <Application>Microsoft Office PowerPoint</Application>
  <PresentationFormat>Widescreen</PresentationFormat>
  <Paragraphs>87</Paragraphs>
  <Slides>17</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17</vt:i4>
      </vt:variant>
    </vt:vector>
  </HeadingPairs>
  <TitlesOfParts>
    <vt:vector size="32" baseType="lpstr">
      <vt:lpstr>Arial</vt:lpstr>
      <vt:lpstr>Calibri</vt:lpstr>
      <vt:lpstr>Calibri Light</vt:lpstr>
      <vt:lpstr>Calibri-Bold</vt:lpstr>
      <vt:lpstr>CIDFont+F1</vt:lpstr>
      <vt:lpstr>CIDFont+F2</vt:lpstr>
      <vt:lpstr>Formata-Regular</vt:lpstr>
      <vt:lpstr>Futura</vt:lpstr>
      <vt:lpstr>Leawood-Bold</vt:lpstr>
      <vt:lpstr>Leawood-Book</vt:lpstr>
      <vt:lpstr>MetaPlusBold-Roman</vt:lpstr>
      <vt:lpstr>MetaPlusMedium-Roman</vt:lpstr>
      <vt:lpstr>Times-Italic</vt:lpstr>
      <vt:lpstr>Times-Roman</vt:lpstr>
      <vt:lpstr>Office Theme</vt:lpstr>
      <vt:lpstr>Module:1 Overview Of Software Engineering</vt:lpstr>
      <vt:lpstr>Contents</vt:lpstr>
      <vt:lpstr>What is a Software?</vt:lpstr>
      <vt:lpstr>Software Components</vt:lpstr>
      <vt:lpstr>Nature of Software</vt:lpstr>
      <vt:lpstr>seven broad categories of computer software present continuing challenges for software engineers:</vt:lpstr>
      <vt:lpstr>PowerPoint Presentation</vt:lpstr>
      <vt:lpstr>Software Engineering in brief</vt:lpstr>
      <vt:lpstr>What is a software process?</vt:lpstr>
      <vt:lpstr>What is a software process model?</vt:lpstr>
      <vt:lpstr>Most software process models are based on one of three general models or paradigms of software development</vt:lpstr>
      <vt:lpstr>PowerPoint Presentation</vt:lpstr>
      <vt:lpstr>What are the costs of software engineering?</vt:lpstr>
      <vt:lpstr>What are the attributes of good software?</vt:lpstr>
      <vt:lpstr>What are the key challenges facing software engineering?</vt:lpstr>
      <vt:lpstr>Professional and ethical responsibility</vt:lpstr>
      <vt:lpstr>Take 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Samriddhi Sarkar</dc:creator>
  <cp:lastModifiedBy>Samriddhi Sarkar</cp:lastModifiedBy>
  <cp:revision>13</cp:revision>
  <dcterms:created xsi:type="dcterms:W3CDTF">2024-12-14T05:32:30Z</dcterms:created>
  <dcterms:modified xsi:type="dcterms:W3CDTF">2024-12-16T15:25:30Z</dcterms:modified>
</cp:coreProperties>
</file>