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61" r:id="rId8"/>
    <p:sldId id="264"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27B74-0E9C-DF00-B0CA-A1F1EA361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A3C6C9D-154F-14FD-5124-EF33A1F0EB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857069-AC35-114F-B5E7-61BEAB083C0E}"/>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A926E457-50FC-BCEE-0B11-705FC790E4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198534-F1FC-93CD-6C8A-F4B854D50684}"/>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140885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61D2-15E7-3C35-B3C1-678DD74591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4AFFA7-6B81-65E1-DDCA-1B94B24533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CDCC38-434D-1E80-B019-44577A3B1CA0}"/>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06AF275D-4023-CA35-509F-2AA459BEFB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CD7013-717E-65DD-A30C-D8BF86898331}"/>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3980675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85A1-A428-69FE-6436-595E28B135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CD7555-A4A1-C97F-1F6E-C0B43296B1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4B1E3-B776-5C8E-B9AA-0C3FFBCC40F8}"/>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B6279CC3-CBA6-68C0-870E-66ADC3B84E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4822B1-1907-788E-5608-759E861D2BAA}"/>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1333348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863A0-3430-3DA4-DF11-98498A9DDF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3DE41D-1ADB-0A3D-5EB0-D9A767AF8B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D8B772-E9D9-8010-2BD5-E01EDC3288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3BB52A-E482-D32E-1C23-D70A6BCCB9DD}"/>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6" name="Footer Placeholder 5">
            <a:extLst>
              <a:ext uri="{FF2B5EF4-FFF2-40B4-BE49-F238E27FC236}">
                <a16:creationId xmlns:a16="http://schemas.microsoft.com/office/drawing/2014/main" id="{596DD7E1-148A-56A1-AF58-7F081C6C43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24E4EA-0AAD-D432-D372-77DC93FF042D}"/>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3328040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EF15-C676-B928-15AA-AF9281CD3D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FF93DC-9E83-0705-7B43-78AFD5CA3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B43DFE-8F5E-E97B-FD0A-B7673127F5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A28265-F917-666A-F111-7AD454E362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941330-66F9-BB11-11BD-C85922CDFF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2D092B-D447-3938-4A31-5868609E255A}"/>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8" name="Footer Placeholder 7">
            <a:extLst>
              <a:ext uri="{FF2B5EF4-FFF2-40B4-BE49-F238E27FC236}">
                <a16:creationId xmlns:a16="http://schemas.microsoft.com/office/drawing/2014/main" id="{505EF7FA-EC5E-F4D3-1CA5-120757F124C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5FFEAC-E4B4-6B28-8E1F-E3C62943D2BC}"/>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734480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1A5F-C12D-33E9-F426-C599EF13EB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BA9B29-9E8C-3AC0-A2FF-17E272441BE1}"/>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4" name="Footer Placeholder 3">
            <a:extLst>
              <a:ext uri="{FF2B5EF4-FFF2-40B4-BE49-F238E27FC236}">
                <a16:creationId xmlns:a16="http://schemas.microsoft.com/office/drawing/2014/main" id="{F8E148FE-7620-7375-5FE3-F9CDF7278E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05A33A-EDB6-647C-E4CE-285374077270}"/>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160882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60F82C-FB65-126A-565F-F5561937E95D}"/>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3" name="Footer Placeholder 2">
            <a:extLst>
              <a:ext uri="{FF2B5EF4-FFF2-40B4-BE49-F238E27FC236}">
                <a16:creationId xmlns:a16="http://schemas.microsoft.com/office/drawing/2014/main" id="{081BD81C-5CA8-DDDA-D06E-EE9C337E4B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D7594D-2435-B4F9-0440-F2C53FB114FA}"/>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69286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BF63-199F-6E53-CDF5-F0E4E3493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E2E49F-49CF-2D06-E24C-DA92F52005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706ACC-C512-3CA1-F463-A1B22E60AF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B52466-15F2-C6BF-2A93-4CB855D9E6B4}"/>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6" name="Footer Placeholder 5">
            <a:extLst>
              <a:ext uri="{FF2B5EF4-FFF2-40B4-BE49-F238E27FC236}">
                <a16:creationId xmlns:a16="http://schemas.microsoft.com/office/drawing/2014/main" id="{9D990059-EAAC-E334-2AF1-049F18DD65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2CF9F9-76FA-9288-90EE-9CA8EE138682}"/>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1981621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8468-BBEB-605C-F6FB-404283C31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609F97-77AC-C6A5-DB8F-E63BB151A2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F3D668-95AF-49F7-EAEC-A6D1BB884F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FB8179-B9F4-8023-2F07-B8B445029532}"/>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6" name="Footer Placeholder 5">
            <a:extLst>
              <a:ext uri="{FF2B5EF4-FFF2-40B4-BE49-F238E27FC236}">
                <a16:creationId xmlns:a16="http://schemas.microsoft.com/office/drawing/2014/main" id="{78C6CD4F-8406-01A8-2920-C0D218EE54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8D796C-DAE3-15B6-B7BB-6660F87F36C7}"/>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2139267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9572-1E30-7808-2D83-D4F7816645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BB43DE-1B99-0A19-EDC8-30EA32F67D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187787-ECC5-114D-91AD-B926D00546CB}"/>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508791BE-AE9A-E7B4-59A4-8B6608594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F04E50-142D-B337-9BA6-05EB67CF4330}"/>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89293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1777AE-7356-7DC2-CCC1-AFDC960540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D2552B-39CA-EEFA-AB44-4A8D826B97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0E7C92-FFC7-DEC7-5DC8-EEA3D9D42AEA}"/>
              </a:ext>
            </a:extLst>
          </p:cNvPr>
          <p:cNvSpPr>
            <a:spLocks noGrp="1"/>
          </p:cNvSpPr>
          <p:nvPr>
            <p:ph type="dt" sz="half" idx="10"/>
          </p:nvPr>
        </p:nvSpPr>
        <p:spPr/>
        <p:txBody>
          <a:body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D1A361AC-EBE5-0BCC-F4FF-6324675B2F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B752AD-14F0-DECA-894B-94AE16DA1204}"/>
              </a:ext>
            </a:extLst>
          </p:cNvPr>
          <p:cNvSpPr>
            <a:spLocks noGrp="1"/>
          </p:cNvSpPr>
          <p:nvPr>
            <p:ph type="sldNum" sz="quarter" idx="12"/>
          </p:nvPr>
        </p:nvSpPr>
        <p:spPr/>
        <p:txBody>
          <a:bodyPr/>
          <a:lstStyle/>
          <a:p>
            <a:fld id="{95D8BE52-B7D6-4527-A539-1B220D47493C}" type="slidenum">
              <a:rPr lang="en-IN" smtClean="0"/>
              <a:t>‹#›</a:t>
            </a:fld>
            <a:endParaRPr lang="en-IN"/>
          </a:p>
        </p:txBody>
      </p:sp>
    </p:spTree>
    <p:extLst>
      <p:ext uri="{BB962C8B-B14F-4D97-AF65-F5344CB8AC3E}">
        <p14:creationId xmlns:p14="http://schemas.microsoft.com/office/powerpoint/2010/main" val="2847571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7556BC-DD5F-C064-6C3B-11A1B508ED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518961-2868-634C-DB52-B4C623DC14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771CE6-CFC3-A71E-39D2-C8CACF06C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7CEFFD-CFE0-49B1-9EDE-E871FE0723FC}" type="datetimeFigureOut">
              <a:rPr lang="en-IN" smtClean="0"/>
              <a:t>01-01-2025</a:t>
            </a:fld>
            <a:endParaRPr lang="en-IN"/>
          </a:p>
        </p:txBody>
      </p:sp>
      <p:sp>
        <p:nvSpPr>
          <p:cNvPr id="5" name="Footer Placeholder 4">
            <a:extLst>
              <a:ext uri="{FF2B5EF4-FFF2-40B4-BE49-F238E27FC236}">
                <a16:creationId xmlns:a16="http://schemas.microsoft.com/office/drawing/2014/main" id="{09F3EF85-064B-CDF0-24F0-1BBB6B80B6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DDA967-3E29-D361-CF44-5241858889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D8BE52-B7D6-4527-A539-1B220D47493C}" type="slidenum">
              <a:rPr lang="en-IN" smtClean="0"/>
              <a:t>‹#›</a:t>
            </a:fld>
            <a:endParaRPr lang="en-IN"/>
          </a:p>
        </p:txBody>
      </p:sp>
    </p:spTree>
    <p:extLst>
      <p:ext uri="{BB962C8B-B14F-4D97-AF65-F5344CB8AC3E}">
        <p14:creationId xmlns:p14="http://schemas.microsoft.com/office/powerpoint/2010/main" val="3666232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25DCD-ADF7-807D-2ED0-A886434719C7}"/>
              </a:ext>
            </a:extLst>
          </p:cNvPr>
          <p:cNvSpPr>
            <a:spLocks noGrp="1"/>
          </p:cNvSpPr>
          <p:nvPr>
            <p:ph type="ctrTitle"/>
          </p:nvPr>
        </p:nvSpPr>
        <p:spPr/>
        <p:txBody>
          <a:bodyPr>
            <a:normAutofit/>
          </a:bodyPr>
          <a:lstStyle/>
          <a:p>
            <a:r>
              <a:rPr lang="en-IN" sz="4400" b="0" i="0" u="none" strike="noStrike" baseline="0" dirty="0">
                <a:solidFill>
                  <a:srgbClr val="AA1C24"/>
                </a:solidFill>
                <a:latin typeface="Times New Roman" panose="02020603050405020304" pitchFamily="18" charset="0"/>
                <a:cs typeface="Times New Roman" panose="02020603050405020304" pitchFamily="18" charset="0"/>
              </a:rPr>
              <a:t>Extreme Programming Model</a:t>
            </a:r>
            <a:br>
              <a:rPr lang="en-IN" sz="4400" b="0" i="0" u="none" strike="noStrike" baseline="0" dirty="0">
                <a:solidFill>
                  <a:srgbClr val="AA1C24"/>
                </a:solidFill>
                <a:latin typeface="Times New Roman" panose="02020603050405020304" pitchFamily="18" charset="0"/>
                <a:cs typeface="Times New Roman" panose="02020603050405020304" pitchFamily="18" charset="0"/>
              </a:rPr>
            </a:br>
            <a:r>
              <a:rPr lang="en-IN" sz="4400" b="0" i="0" u="none" strike="noStrike" baseline="0" dirty="0">
                <a:solidFill>
                  <a:srgbClr val="AA1C24"/>
                </a:solidFill>
                <a:latin typeface="Times New Roman" panose="02020603050405020304" pitchFamily="18" charset="0"/>
                <a:cs typeface="Times New Roman" panose="02020603050405020304" pitchFamily="18" charset="0"/>
              </a:rPr>
              <a:t>Module 1</a:t>
            </a:r>
            <a:br>
              <a:rPr lang="en-IN" sz="4400" b="0" i="0" u="none" strike="noStrike" baseline="0" dirty="0">
                <a:solidFill>
                  <a:srgbClr val="AA1C24"/>
                </a:solidFill>
                <a:latin typeface="TimesNewRomanPSMT"/>
              </a:rPr>
            </a:br>
            <a:endParaRPr lang="en-IN" sz="4400" dirty="0"/>
          </a:p>
        </p:txBody>
      </p:sp>
      <p:sp>
        <p:nvSpPr>
          <p:cNvPr id="3" name="Subtitle 2">
            <a:extLst>
              <a:ext uri="{FF2B5EF4-FFF2-40B4-BE49-F238E27FC236}">
                <a16:creationId xmlns:a16="http://schemas.microsoft.com/office/drawing/2014/main" id="{2C416E48-55BE-0EC6-4BBC-A1161A26D254}"/>
              </a:ext>
            </a:extLst>
          </p:cNvPr>
          <p:cNvSpPr>
            <a:spLocks noGrp="1"/>
          </p:cNvSpPr>
          <p:nvPr>
            <p:ph type="subTitle" idx="1"/>
          </p:nvPr>
        </p:nvSpPr>
        <p:spPr/>
        <p:txBody>
          <a:bodyPr/>
          <a:lstStyle/>
          <a:p>
            <a:r>
              <a:rPr lang="en-IN" sz="1800" b="0" i="0" u="none" strike="noStrike" baseline="0" dirty="0">
                <a:latin typeface="CIDFont+F1"/>
              </a:rPr>
              <a:t>Software Engineering</a:t>
            </a:r>
            <a:endParaRPr lang="en-IN" dirty="0"/>
          </a:p>
        </p:txBody>
      </p:sp>
    </p:spTree>
    <p:extLst>
      <p:ext uri="{BB962C8B-B14F-4D97-AF65-F5344CB8AC3E}">
        <p14:creationId xmlns:p14="http://schemas.microsoft.com/office/powerpoint/2010/main" val="2831268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0A17-3439-70C6-E15B-54D4AA0306AB}"/>
              </a:ext>
            </a:extLst>
          </p:cNvPr>
          <p:cNvSpPr>
            <a:spLocks noGrp="1"/>
          </p:cNvSpPr>
          <p:nvPr>
            <p:ph type="title"/>
          </p:nvPr>
        </p:nvSpPr>
        <p:spPr>
          <a:xfrm>
            <a:off x="838200" y="365125"/>
            <a:ext cx="10515600" cy="766989"/>
          </a:xfrm>
        </p:spPr>
        <p:txBody>
          <a:bodyPr/>
          <a:lstStyle/>
          <a:p>
            <a:r>
              <a:rPr lang="en-IN" dirty="0"/>
              <a:t>Introduction</a:t>
            </a:r>
          </a:p>
        </p:txBody>
      </p:sp>
      <p:sp>
        <p:nvSpPr>
          <p:cNvPr id="3" name="Content Placeholder 2">
            <a:extLst>
              <a:ext uri="{FF2B5EF4-FFF2-40B4-BE49-F238E27FC236}">
                <a16:creationId xmlns:a16="http://schemas.microsoft.com/office/drawing/2014/main" id="{B1BE9C3A-0391-D224-4AAE-2E967809CD27}"/>
              </a:ext>
            </a:extLst>
          </p:cNvPr>
          <p:cNvSpPr>
            <a:spLocks noGrp="1"/>
          </p:cNvSpPr>
          <p:nvPr>
            <p:ph idx="1"/>
          </p:nvPr>
        </p:nvSpPr>
        <p:spPr>
          <a:xfrm>
            <a:off x="838200" y="1306286"/>
            <a:ext cx="10515600" cy="4870677"/>
          </a:xfrm>
        </p:spPr>
        <p:txBody>
          <a:bodyPr/>
          <a:lstStyle/>
          <a:p>
            <a:pPr algn="l"/>
            <a:r>
              <a:rPr lang="en-US" sz="2400" b="0" i="0" u="none" strike="noStrike" baseline="0" dirty="0">
                <a:latin typeface="Tahoma" panose="020B0604030504040204" pitchFamily="34" charset="0"/>
              </a:rPr>
              <a:t>Extreme programming (XP) is an important process model under the agile umbrella and was proposed by Kent Beck in </a:t>
            </a:r>
            <a:r>
              <a:rPr lang="en-US" sz="2400" b="0" i="0" u="none" strike="noStrike" baseline="0" dirty="0">
                <a:solidFill>
                  <a:srgbClr val="FF0000"/>
                </a:solidFill>
                <a:latin typeface="Tahoma" panose="020B0604030504040204" pitchFamily="34" charset="0"/>
              </a:rPr>
              <a:t>1999.</a:t>
            </a:r>
            <a:r>
              <a:rPr lang="en-US" sz="2400" b="0" i="0" u="none" strike="noStrike" baseline="0" dirty="0">
                <a:latin typeface="Tahoma" panose="020B0604030504040204" pitchFamily="34" charset="0"/>
              </a:rPr>
              <a:t> </a:t>
            </a:r>
          </a:p>
          <a:p>
            <a:pPr algn="l"/>
            <a:r>
              <a:rPr lang="en-US" sz="2400" b="0" i="0" u="none" strike="noStrike" baseline="0" dirty="0">
                <a:latin typeface="Tahoma" panose="020B0604030504040204" pitchFamily="34" charset="0"/>
              </a:rPr>
              <a:t>The name of this model reflects the fact that it recommends taking the </a:t>
            </a:r>
            <a:r>
              <a:rPr lang="en-US" sz="2400" b="0" i="1" u="none" strike="noStrike" baseline="0" dirty="0">
                <a:latin typeface="TimesNewRomanPS-ItalicMT"/>
              </a:rPr>
              <a:t>best practices </a:t>
            </a:r>
            <a:r>
              <a:rPr lang="en-US" sz="2400" b="0" i="0" u="none" strike="noStrike" baseline="0" dirty="0">
                <a:latin typeface="Tahoma" panose="020B0604030504040204" pitchFamily="34" charset="0"/>
              </a:rPr>
              <a:t>that have worked well in the past in program development projects to extreme levels. </a:t>
            </a:r>
          </a:p>
          <a:p>
            <a:pPr algn="l"/>
            <a:r>
              <a:rPr lang="en-US" sz="2400" b="0" i="0" u="none" strike="noStrike" baseline="0" dirty="0">
                <a:latin typeface="Tahoma" panose="020B0604030504040204" pitchFamily="34" charset="0"/>
              </a:rPr>
              <a:t>This model is based on a rather simple philosophy: ”</a:t>
            </a:r>
            <a:r>
              <a:rPr lang="en-US" sz="2400" b="0" i="0" u="none" strike="noStrike" baseline="0" dirty="0">
                <a:solidFill>
                  <a:srgbClr val="FF0000"/>
                </a:solidFill>
                <a:latin typeface="Tahoma" panose="020B0604030504040204" pitchFamily="34" charset="0"/>
              </a:rPr>
              <a:t>If something is known to be beneficial, why not put it to constant use?</a:t>
            </a:r>
            <a:r>
              <a:rPr lang="en-US" sz="2400" b="0" i="0" u="none" strike="noStrike" baseline="0" dirty="0">
                <a:latin typeface="Tahoma" panose="020B0604030504040204" pitchFamily="34" charset="0"/>
              </a:rPr>
              <a:t>” Based on this principle, it puts forward several </a:t>
            </a:r>
            <a:r>
              <a:rPr lang="en-US" sz="2400" b="0" i="0" u="none" strike="noStrike" baseline="0" dirty="0">
                <a:solidFill>
                  <a:srgbClr val="FF0000"/>
                </a:solidFill>
                <a:latin typeface="Tahoma" panose="020B0604030504040204" pitchFamily="34" charset="0"/>
              </a:rPr>
              <a:t>key practices </a:t>
            </a:r>
            <a:r>
              <a:rPr lang="en-US" sz="2400" b="0" i="0" u="none" strike="noStrike" baseline="0" dirty="0">
                <a:latin typeface="Tahoma" panose="020B0604030504040204" pitchFamily="34" charset="0"/>
              </a:rPr>
              <a:t>that need to be </a:t>
            </a:r>
            <a:r>
              <a:rPr lang="en-US" sz="2400" b="0" i="0" u="none" strike="noStrike" baseline="0" dirty="0">
                <a:solidFill>
                  <a:srgbClr val="FF0000"/>
                </a:solidFill>
                <a:latin typeface="Tahoma" panose="020B0604030504040204" pitchFamily="34" charset="0"/>
              </a:rPr>
              <a:t>practiced</a:t>
            </a:r>
            <a:r>
              <a:rPr lang="en-US" sz="2400" b="0" i="0" u="none" strike="noStrike" baseline="0" dirty="0">
                <a:latin typeface="Tahoma" panose="020B0604030504040204" pitchFamily="34" charset="0"/>
              </a:rPr>
              <a:t> to the </a:t>
            </a:r>
            <a:r>
              <a:rPr lang="en-US" sz="2400" b="0" i="0" u="none" strike="noStrike" baseline="0" dirty="0">
                <a:solidFill>
                  <a:srgbClr val="FF0000"/>
                </a:solidFill>
                <a:latin typeface="Tahoma" panose="020B0604030504040204" pitchFamily="34" charset="0"/>
              </a:rPr>
              <a:t>extreme</a:t>
            </a:r>
            <a:r>
              <a:rPr lang="en-US" sz="2400" b="0" i="0" u="none" strike="noStrike" baseline="0" dirty="0">
                <a:latin typeface="Tahoma" panose="020B0604030504040204" pitchFamily="34" charset="0"/>
              </a:rPr>
              <a:t>. </a:t>
            </a:r>
            <a:endParaRPr lang="en-US" sz="2400" dirty="0">
              <a:latin typeface="Tahoma" panose="020B0604030504040204" pitchFamily="34" charset="0"/>
            </a:endParaRPr>
          </a:p>
          <a:p>
            <a:pPr algn="l"/>
            <a:r>
              <a:rPr lang="en-US" sz="2400" b="0" i="0" u="none" strike="noStrike" baseline="0" dirty="0">
                <a:latin typeface="Tahoma" panose="020B0604030504040204" pitchFamily="34" charset="0"/>
              </a:rPr>
              <a:t>Please note that most of the key practices that it </a:t>
            </a:r>
            <a:r>
              <a:rPr lang="en-US" sz="2400" b="0" i="0" u="none" strike="noStrike" baseline="0" dirty="0" err="1">
                <a:latin typeface="Tahoma" panose="020B0604030504040204" pitchFamily="34" charset="0"/>
              </a:rPr>
              <a:t>emphasises</a:t>
            </a:r>
            <a:r>
              <a:rPr lang="en-US" sz="2400" b="0" i="0" u="none" strike="noStrike" baseline="0" dirty="0">
                <a:latin typeface="Tahoma" panose="020B0604030504040204" pitchFamily="34" charset="0"/>
              </a:rPr>
              <a:t> were already </a:t>
            </a:r>
            <a:r>
              <a:rPr lang="en-US" sz="2400" b="0" i="0" u="none" strike="noStrike" baseline="0" dirty="0" err="1">
                <a:latin typeface="Tahoma" panose="020B0604030504040204" pitchFamily="34" charset="0"/>
              </a:rPr>
              <a:t>recognised</a:t>
            </a:r>
            <a:r>
              <a:rPr lang="en-US" sz="2400" b="0" i="0" u="none" strike="noStrike" baseline="0" dirty="0">
                <a:latin typeface="Tahoma" panose="020B0604030504040204" pitchFamily="34" charset="0"/>
              </a:rPr>
              <a:t> as good practices for some time.</a:t>
            </a:r>
          </a:p>
          <a:p>
            <a:pPr algn="l"/>
            <a:endParaRPr lang="en-US" sz="1800" dirty="0">
              <a:latin typeface="Tahoma" panose="020B0604030504040204" pitchFamily="34" charset="0"/>
            </a:endParaRPr>
          </a:p>
          <a:p>
            <a:pPr algn="l"/>
            <a:endParaRPr lang="en-US" sz="1800" dirty="0">
              <a:latin typeface="Tahoma" panose="020B0604030504040204" pitchFamily="34" charset="0"/>
            </a:endParaRPr>
          </a:p>
        </p:txBody>
      </p:sp>
    </p:spTree>
    <p:extLst>
      <p:ext uri="{BB962C8B-B14F-4D97-AF65-F5344CB8AC3E}">
        <p14:creationId xmlns:p14="http://schemas.microsoft.com/office/powerpoint/2010/main" val="2958892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55843-EA8F-8EDC-DE26-61505305B993}"/>
              </a:ext>
            </a:extLst>
          </p:cNvPr>
          <p:cNvSpPr>
            <a:spLocks noGrp="1"/>
          </p:cNvSpPr>
          <p:nvPr>
            <p:ph type="title"/>
          </p:nvPr>
        </p:nvSpPr>
        <p:spPr>
          <a:xfrm>
            <a:off x="838200" y="365125"/>
            <a:ext cx="10515600" cy="1137103"/>
          </a:xfrm>
        </p:spPr>
        <p:txBody>
          <a:bodyPr>
            <a:normAutofit fontScale="90000"/>
          </a:bodyPr>
          <a:lstStyle/>
          <a:p>
            <a:r>
              <a:rPr lang="en-IN" dirty="0"/>
              <a:t>XP values, Principles and Practices</a:t>
            </a:r>
            <a:br>
              <a:rPr lang="en-IN" dirty="0"/>
            </a:br>
            <a:endParaRPr lang="en-IN" dirty="0"/>
          </a:p>
        </p:txBody>
      </p:sp>
      <p:sp>
        <p:nvSpPr>
          <p:cNvPr id="3" name="Content Placeholder 2">
            <a:extLst>
              <a:ext uri="{FF2B5EF4-FFF2-40B4-BE49-F238E27FC236}">
                <a16:creationId xmlns:a16="http://schemas.microsoft.com/office/drawing/2014/main" id="{9DB4936A-839F-F17A-213C-C95BA72665C7}"/>
              </a:ext>
            </a:extLst>
          </p:cNvPr>
          <p:cNvSpPr>
            <a:spLocks noGrp="1"/>
          </p:cNvSpPr>
          <p:nvPr>
            <p:ph idx="1"/>
          </p:nvPr>
        </p:nvSpPr>
        <p:spPr>
          <a:xfrm>
            <a:off x="838200" y="2601686"/>
            <a:ext cx="3842657" cy="3607934"/>
          </a:xfrm>
        </p:spPr>
        <p:txBody>
          <a:bodyPr/>
          <a:lstStyle/>
          <a:p>
            <a:pPr marL="0" indent="0">
              <a:buNone/>
            </a:pPr>
            <a:r>
              <a:rPr lang="en-IN" sz="3600" b="1" dirty="0"/>
              <a:t>XP values</a:t>
            </a:r>
          </a:p>
          <a:p>
            <a:r>
              <a:rPr lang="en-US" dirty="0"/>
              <a:t>communication, </a:t>
            </a:r>
          </a:p>
          <a:p>
            <a:r>
              <a:rPr lang="en-US" dirty="0"/>
              <a:t>simplicity, </a:t>
            </a:r>
          </a:p>
          <a:p>
            <a:r>
              <a:rPr lang="en-US" dirty="0"/>
              <a:t>feedback, </a:t>
            </a:r>
          </a:p>
          <a:p>
            <a:r>
              <a:rPr lang="en-US" dirty="0"/>
              <a:t>courage, </a:t>
            </a:r>
          </a:p>
          <a:p>
            <a:r>
              <a:rPr lang="en-US" dirty="0"/>
              <a:t>respect</a:t>
            </a:r>
            <a:endParaRPr lang="en-IN" dirty="0"/>
          </a:p>
          <a:p>
            <a:pPr marL="0" indent="0">
              <a:buNone/>
            </a:pPr>
            <a:endParaRPr lang="en-IN" dirty="0"/>
          </a:p>
        </p:txBody>
      </p:sp>
    </p:spTree>
    <p:extLst>
      <p:ext uri="{BB962C8B-B14F-4D97-AF65-F5344CB8AC3E}">
        <p14:creationId xmlns:p14="http://schemas.microsoft.com/office/powerpoint/2010/main" val="3082516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295B-300A-FD0D-5281-42BF78C29735}"/>
              </a:ext>
            </a:extLst>
          </p:cNvPr>
          <p:cNvSpPr>
            <a:spLocks noGrp="1"/>
          </p:cNvSpPr>
          <p:nvPr>
            <p:ph type="title"/>
          </p:nvPr>
        </p:nvSpPr>
        <p:spPr>
          <a:xfrm>
            <a:off x="838200" y="239487"/>
            <a:ext cx="10515600" cy="441550"/>
          </a:xfrm>
        </p:spPr>
        <p:txBody>
          <a:bodyPr>
            <a:normAutofit/>
          </a:bodyPr>
          <a:lstStyle/>
          <a:p>
            <a:r>
              <a:rPr lang="en-US" sz="2400" b="1" i="0" u="none" strike="noStrike" baseline="0" dirty="0">
                <a:solidFill>
                  <a:srgbClr val="6A135D"/>
                </a:solidFill>
                <a:latin typeface="Times New Roman" panose="02020603050405020304" pitchFamily="18" charset="0"/>
                <a:cs typeface="Times New Roman" panose="02020603050405020304" pitchFamily="18" charset="0"/>
              </a:rPr>
              <a:t>Good practices that need to be practiced to the extreme</a:t>
            </a:r>
            <a:endParaRPr lang="en-IN"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84A7AC-CB12-D0C0-6494-86C694AEA469}"/>
              </a:ext>
            </a:extLst>
          </p:cNvPr>
          <p:cNvSpPr>
            <a:spLocks noGrp="1"/>
          </p:cNvSpPr>
          <p:nvPr>
            <p:ph idx="1"/>
          </p:nvPr>
        </p:nvSpPr>
        <p:spPr>
          <a:xfrm>
            <a:off x="838200" y="936171"/>
            <a:ext cx="10515600" cy="5240792"/>
          </a:xfrm>
        </p:spPr>
        <p:txBody>
          <a:bodyPr>
            <a:normAutofit/>
          </a:bodyPr>
          <a:lstStyle/>
          <a:p>
            <a:pPr algn="l"/>
            <a:r>
              <a:rPr lang="en-US" sz="1800" b="1" i="0" u="none" strike="noStrike" baseline="0" dirty="0">
                <a:latin typeface="Tahoma-Bold"/>
              </a:rPr>
              <a:t>Code review: </a:t>
            </a:r>
            <a:r>
              <a:rPr lang="en-US" sz="1800" b="0" i="0" u="none" strike="noStrike" baseline="0" dirty="0">
                <a:latin typeface="Tahoma" panose="020B0604030504040204" pitchFamily="34" charset="0"/>
              </a:rPr>
              <a:t>It is good since it helps detect and correct problems most efficiently. It suggests </a:t>
            </a:r>
            <a:r>
              <a:rPr lang="en-US" sz="1800" b="0" i="1" u="none" strike="noStrike" baseline="0" dirty="0">
                <a:solidFill>
                  <a:srgbClr val="FF0000"/>
                </a:solidFill>
                <a:latin typeface="TimesNewRomanPS-ItalicMT"/>
              </a:rPr>
              <a:t>pair programming</a:t>
            </a:r>
            <a:r>
              <a:rPr lang="en-US" sz="1800" b="0" i="1" u="none" strike="noStrike" baseline="0" dirty="0">
                <a:latin typeface="TimesNewRomanPS-ItalicMT"/>
              </a:rPr>
              <a:t> </a:t>
            </a:r>
            <a:r>
              <a:rPr lang="en-US" sz="1800" b="0" i="0" u="none" strike="noStrike" baseline="0" dirty="0">
                <a:latin typeface="Tahoma" panose="020B0604030504040204" pitchFamily="34" charset="0"/>
              </a:rPr>
              <a:t>as the way to achieve continuous review. In pair programming, coding is carried out by </a:t>
            </a:r>
            <a:r>
              <a:rPr lang="en-US" sz="1800" b="0" i="0" u="none" strike="noStrike" baseline="0" dirty="0">
                <a:solidFill>
                  <a:srgbClr val="FF0000"/>
                </a:solidFill>
                <a:latin typeface="Tahoma" panose="020B0604030504040204" pitchFamily="34" charset="0"/>
              </a:rPr>
              <a:t>pairs of programmers</a:t>
            </a:r>
            <a:r>
              <a:rPr lang="en-US" sz="1800" b="0" i="0" u="none" strike="noStrike" baseline="0" dirty="0">
                <a:latin typeface="Tahoma" panose="020B0604030504040204" pitchFamily="34" charset="0"/>
              </a:rPr>
              <a:t>. The programmers take turn </a:t>
            </a:r>
            <a:r>
              <a:rPr lang="en-US" sz="1800" b="0" i="0" u="none" strike="noStrike" baseline="0" dirty="0">
                <a:solidFill>
                  <a:srgbClr val="FF0000"/>
                </a:solidFill>
                <a:latin typeface="Tahoma" panose="020B0604030504040204" pitchFamily="34" charset="0"/>
              </a:rPr>
              <a:t>in writing programs </a:t>
            </a:r>
            <a:r>
              <a:rPr lang="en-US" sz="1800" b="0" i="0" u="none" strike="noStrike" baseline="0" dirty="0">
                <a:latin typeface="Tahoma" panose="020B0604030504040204" pitchFamily="34" charset="0"/>
              </a:rPr>
              <a:t>and </a:t>
            </a:r>
            <a:r>
              <a:rPr lang="en-US" sz="1800" b="0" i="0" u="none" strike="noStrike" baseline="0" dirty="0">
                <a:solidFill>
                  <a:srgbClr val="FF0000"/>
                </a:solidFill>
                <a:latin typeface="Tahoma" panose="020B0604030504040204" pitchFamily="34" charset="0"/>
              </a:rPr>
              <a:t>while one writes the other reviews</a:t>
            </a:r>
            <a:r>
              <a:rPr lang="en-US" sz="1800" b="0" i="0" u="none" strike="noStrike" baseline="0" dirty="0">
                <a:latin typeface="Tahoma" panose="020B0604030504040204" pitchFamily="34" charset="0"/>
              </a:rPr>
              <a:t> code that is being written.</a:t>
            </a:r>
          </a:p>
          <a:p>
            <a:pPr algn="l"/>
            <a:r>
              <a:rPr lang="en-US" sz="1800" b="1" i="0" u="none" strike="noStrike" baseline="0" dirty="0">
                <a:latin typeface="Tahoma-Bold"/>
              </a:rPr>
              <a:t>Testing: </a:t>
            </a:r>
            <a:r>
              <a:rPr lang="en-US" sz="1800" b="0" i="0" u="none" strike="noStrike" baseline="0" dirty="0">
                <a:latin typeface="Tahoma" panose="020B0604030504040204" pitchFamily="34" charset="0"/>
              </a:rPr>
              <a:t>Testing code helps to remove bugs and improves its reliability. XP suggests </a:t>
            </a:r>
            <a:r>
              <a:rPr lang="en-US" sz="1800" b="0" i="1" u="none" strike="noStrike" baseline="0" dirty="0">
                <a:solidFill>
                  <a:srgbClr val="FF0000"/>
                </a:solidFill>
                <a:latin typeface="TimesNewRomanPS-ItalicMT"/>
              </a:rPr>
              <a:t>test-driven development </a:t>
            </a:r>
            <a:r>
              <a:rPr lang="en-US" sz="1800" b="0" i="0" u="none" strike="noStrike" baseline="0" dirty="0">
                <a:solidFill>
                  <a:srgbClr val="FF0000"/>
                </a:solidFill>
                <a:latin typeface="Tahoma" panose="020B0604030504040204" pitchFamily="34" charset="0"/>
              </a:rPr>
              <a:t>(TDD) </a:t>
            </a:r>
            <a:r>
              <a:rPr lang="en-US" sz="1800" b="0" i="0" u="none" strike="noStrike" baseline="0" dirty="0">
                <a:latin typeface="Tahoma" panose="020B0604030504040204" pitchFamily="34" charset="0"/>
              </a:rPr>
              <a:t>to continually write and execute test cases. In the TDD approach, test cases are written even before any code is </a:t>
            </a:r>
            <a:r>
              <a:rPr lang="en-IN" sz="1800" b="0" i="0" u="none" strike="noStrike" baseline="0" dirty="0">
                <a:latin typeface="Tahoma" panose="020B0604030504040204" pitchFamily="34" charset="0"/>
              </a:rPr>
              <a:t>written.</a:t>
            </a:r>
          </a:p>
          <a:p>
            <a:pPr algn="l"/>
            <a:r>
              <a:rPr lang="en-US" sz="1800" b="1" i="0" u="none" strike="noStrike" baseline="0" dirty="0">
                <a:latin typeface="Tahoma-Bold"/>
              </a:rPr>
              <a:t>Incremental development: </a:t>
            </a:r>
            <a:r>
              <a:rPr lang="en-US" sz="1800" b="0" i="0" u="none" strike="noStrike" baseline="0" dirty="0">
                <a:solidFill>
                  <a:srgbClr val="FF0000"/>
                </a:solidFill>
                <a:latin typeface="Tahoma" panose="020B0604030504040204" pitchFamily="34" charset="0"/>
              </a:rPr>
              <a:t>Incremental development </a:t>
            </a:r>
            <a:r>
              <a:rPr lang="en-US" sz="1800" b="0" i="0" u="none" strike="noStrike" baseline="0" dirty="0">
                <a:latin typeface="Tahoma" panose="020B0604030504040204" pitchFamily="34" charset="0"/>
              </a:rPr>
              <a:t>is good, since it helps to get customer feedback, and extent of features delivered is a reliable </a:t>
            </a:r>
            <a:r>
              <a:rPr lang="en-IN" sz="1800" b="0" i="0" u="none" strike="noStrike" baseline="0" dirty="0">
                <a:latin typeface="Tahoma" panose="020B0604030504040204" pitchFamily="34" charset="0"/>
              </a:rPr>
              <a:t>indicator of progress.</a:t>
            </a:r>
          </a:p>
          <a:p>
            <a:pPr algn="l"/>
            <a:r>
              <a:rPr lang="en-US" sz="1800" b="1" i="0" u="none" strike="noStrike" baseline="0" dirty="0">
                <a:latin typeface="Tahoma-Bold"/>
              </a:rPr>
              <a:t>Simplicity: </a:t>
            </a:r>
            <a:r>
              <a:rPr lang="en-US" sz="1800" b="0" i="0" u="none" strike="noStrike" baseline="0" dirty="0">
                <a:latin typeface="Tahoma" panose="020B0604030504040204" pitchFamily="34" charset="0"/>
              </a:rPr>
              <a:t>Simplicity makes it </a:t>
            </a:r>
            <a:r>
              <a:rPr lang="en-US" sz="1800" b="0" i="0" u="none" strike="noStrike" baseline="0" dirty="0">
                <a:solidFill>
                  <a:srgbClr val="FF0000"/>
                </a:solidFill>
                <a:latin typeface="Tahoma" panose="020B0604030504040204" pitchFamily="34" charset="0"/>
              </a:rPr>
              <a:t>easier to develop </a:t>
            </a:r>
            <a:r>
              <a:rPr lang="en-US" sz="1800" b="0" i="0" u="none" strike="noStrike" baseline="0" dirty="0">
                <a:latin typeface="Tahoma" panose="020B0604030504040204" pitchFamily="34" charset="0"/>
              </a:rPr>
              <a:t>good quality code, as well as to test and debug it. Therefore, one should try to create the simplest code that makes the basic functionality being written to work. For creating the simplest code</a:t>
            </a:r>
            <a:r>
              <a:rPr lang="en-US" sz="1800" b="0" i="0" u="none" strike="noStrike" baseline="0" dirty="0">
                <a:solidFill>
                  <a:srgbClr val="FF0000"/>
                </a:solidFill>
                <a:latin typeface="Tahoma" panose="020B0604030504040204" pitchFamily="34" charset="0"/>
              </a:rPr>
              <a:t>, one can ignore the aspects such as efficiency, reliability, maintainability</a:t>
            </a:r>
            <a:r>
              <a:rPr lang="en-US" sz="1800" b="0" i="0" u="none" strike="noStrike" baseline="0" dirty="0">
                <a:latin typeface="Tahoma" panose="020B0604030504040204" pitchFamily="34" charset="0"/>
              </a:rPr>
              <a:t>, etc. Once the simplest thing works, other aspects can be </a:t>
            </a:r>
            <a:r>
              <a:rPr lang="en-IN" sz="1800" b="0" i="0" u="none" strike="noStrike" baseline="0" dirty="0">
                <a:latin typeface="Tahoma" panose="020B0604030504040204" pitchFamily="34" charset="0"/>
              </a:rPr>
              <a:t>introduced through refactoring.</a:t>
            </a:r>
          </a:p>
          <a:p>
            <a:pPr algn="l"/>
            <a:r>
              <a:rPr lang="en-US" sz="1800" b="1" i="0" u="none" strike="noStrike" baseline="0" dirty="0">
                <a:latin typeface="Tahoma-Bold"/>
              </a:rPr>
              <a:t>Design: </a:t>
            </a:r>
            <a:r>
              <a:rPr lang="en-US" sz="1800" b="0" i="0" u="none" strike="noStrike" baseline="0" dirty="0">
                <a:latin typeface="Tahoma" panose="020B0604030504040204" pitchFamily="34" charset="0"/>
              </a:rPr>
              <a:t>Since having a </a:t>
            </a:r>
            <a:r>
              <a:rPr lang="en-US" sz="1800" b="0" i="0" u="none" strike="noStrike" baseline="0" dirty="0">
                <a:solidFill>
                  <a:srgbClr val="FF0000"/>
                </a:solidFill>
                <a:latin typeface="Tahoma" panose="020B0604030504040204" pitchFamily="34" charset="0"/>
              </a:rPr>
              <a:t>good quality design </a:t>
            </a:r>
            <a:r>
              <a:rPr lang="en-US" sz="1800" b="0" i="0" u="none" strike="noStrike" baseline="0" dirty="0">
                <a:latin typeface="Tahoma" panose="020B0604030504040204" pitchFamily="34" charset="0"/>
              </a:rPr>
              <a:t>is important to develop a good quality solution, everybody should design daily.</a:t>
            </a:r>
          </a:p>
          <a:p>
            <a:pPr algn="l"/>
            <a:r>
              <a:rPr lang="en-US" sz="1800" b="1" i="0" u="none" strike="noStrike" baseline="0" dirty="0">
                <a:latin typeface="Tahoma-Bold"/>
              </a:rPr>
              <a:t>Integration testing: </a:t>
            </a:r>
            <a:r>
              <a:rPr lang="en-US" sz="1800" b="0" i="0" u="none" strike="noStrike" baseline="0" dirty="0">
                <a:latin typeface="Tahoma" panose="020B0604030504040204" pitchFamily="34" charset="0"/>
              </a:rPr>
              <a:t>It is important since it helps identify the bugs at the </a:t>
            </a:r>
            <a:r>
              <a:rPr lang="en-IN" sz="1800" b="0" i="0" u="none" strike="noStrike" baseline="0" dirty="0">
                <a:latin typeface="Tahoma" panose="020B0604030504040204" pitchFamily="34" charset="0"/>
              </a:rPr>
              <a:t>interfaces of different functionalities.</a:t>
            </a:r>
            <a:endParaRPr lang="en-IN" dirty="0"/>
          </a:p>
        </p:txBody>
      </p:sp>
    </p:spTree>
    <p:extLst>
      <p:ext uri="{BB962C8B-B14F-4D97-AF65-F5344CB8AC3E}">
        <p14:creationId xmlns:p14="http://schemas.microsoft.com/office/powerpoint/2010/main" val="3371238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61E9-A88F-62C8-E9A7-BDD37AAB00FF}"/>
              </a:ext>
            </a:extLst>
          </p:cNvPr>
          <p:cNvSpPr>
            <a:spLocks noGrp="1"/>
          </p:cNvSpPr>
          <p:nvPr>
            <p:ph type="title"/>
          </p:nvPr>
        </p:nvSpPr>
        <p:spPr>
          <a:xfrm>
            <a:off x="838200" y="1"/>
            <a:ext cx="10515600" cy="544286"/>
          </a:xfrm>
        </p:spPr>
        <p:txBody>
          <a:bodyPr>
            <a:normAutofit/>
          </a:bodyPr>
          <a:lstStyle/>
          <a:p>
            <a:r>
              <a:rPr lang="en-US" sz="1800" b="1" i="0" u="none" strike="noStrike" baseline="0" dirty="0">
                <a:solidFill>
                  <a:srgbClr val="6A135D"/>
                </a:solidFill>
                <a:latin typeface="Tahoma-Bold"/>
              </a:rPr>
              <a:t>Basic idea of extreme programming model</a:t>
            </a:r>
            <a:endParaRPr lang="en-IN" dirty="0"/>
          </a:p>
        </p:txBody>
      </p:sp>
      <p:sp>
        <p:nvSpPr>
          <p:cNvPr id="3" name="Content Placeholder 2">
            <a:extLst>
              <a:ext uri="{FF2B5EF4-FFF2-40B4-BE49-F238E27FC236}">
                <a16:creationId xmlns:a16="http://schemas.microsoft.com/office/drawing/2014/main" id="{61AD8FDF-DE6D-94A4-008B-811C011EEA0E}"/>
              </a:ext>
            </a:extLst>
          </p:cNvPr>
          <p:cNvSpPr>
            <a:spLocks noGrp="1"/>
          </p:cNvSpPr>
          <p:nvPr>
            <p:ph idx="1"/>
          </p:nvPr>
        </p:nvSpPr>
        <p:spPr>
          <a:xfrm>
            <a:off x="838200" y="816429"/>
            <a:ext cx="10515600" cy="5360534"/>
          </a:xfrm>
        </p:spPr>
        <p:txBody>
          <a:bodyPr>
            <a:normAutofit lnSpcReduction="10000"/>
          </a:bodyPr>
          <a:lstStyle/>
          <a:p>
            <a:pPr marL="0" indent="0" algn="l">
              <a:buNone/>
            </a:pPr>
            <a:r>
              <a:rPr lang="en-US" sz="2400" b="0" i="0" u="none" strike="noStrike" baseline="0" dirty="0">
                <a:latin typeface="Tahoma" panose="020B0604030504040204" pitchFamily="34" charset="0"/>
              </a:rPr>
              <a:t>XP is based on </a:t>
            </a:r>
            <a:r>
              <a:rPr lang="en-US" sz="2400" b="0" i="0" u="none" strike="noStrike" baseline="0" dirty="0">
                <a:solidFill>
                  <a:srgbClr val="FF0000"/>
                </a:solidFill>
                <a:latin typeface="Tahoma" panose="020B0604030504040204" pitchFamily="34" charset="0"/>
              </a:rPr>
              <a:t>frequent releases </a:t>
            </a:r>
            <a:r>
              <a:rPr lang="en-US" sz="2400" b="0" i="0" u="none" strike="noStrike" baseline="0" dirty="0">
                <a:latin typeface="Tahoma" panose="020B0604030504040204" pitchFamily="34" charset="0"/>
              </a:rPr>
              <a:t>(called </a:t>
            </a:r>
            <a:r>
              <a:rPr lang="en-US" sz="2400" b="0" i="1" u="none" strike="noStrike" baseline="0" dirty="0">
                <a:solidFill>
                  <a:srgbClr val="FF0000"/>
                </a:solidFill>
                <a:latin typeface="TimesNewRomanPS-ItalicMT"/>
              </a:rPr>
              <a:t>iteration</a:t>
            </a:r>
            <a:r>
              <a:rPr lang="en-US" sz="2400" b="0" i="1" u="none" strike="noStrike" baseline="0" dirty="0">
                <a:latin typeface="TimesNewRomanPS-ItalicMT"/>
              </a:rPr>
              <a:t> </a:t>
            </a:r>
            <a:r>
              <a:rPr lang="en-US" sz="2400" b="0" i="0" u="none" strike="noStrike" baseline="0" dirty="0">
                <a:latin typeface="Tahoma" panose="020B0604030504040204" pitchFamily="34" charset="0"/>
              </a:rPr>
              <a:t>), during which the developers implement “</a:t>
            </a:r>
            <a:r>
              <a:rPr lang="en-US" sz="2400" b="0" i="0" u="none" strike="noStrike" baseline="0" dirty="0">
                <a:solidFill>
                  <a:srgbClr val="FF0000"/>
                </a:solidFill>
                <a:latin typeface="Tahoma" panose="020B0604030504040204" pitchFamily="34" charset="0"/>
              </a:rPr>
              <a:t>user stories</a:t>
            </a:r>
            <a:r>
              <a:rPr lang="en-US" sz="2400" b="0" i="0" u="none" strike="noStrike" baseline="0" dirty="0">
                <a:latin typeface="Tahoma" panose="020B0604030504040204" pitchFamily="34" charset="0"/>
              </a:rPr>
              <a:t>”. User stories are similar to </a:t>
            </a:r>
            <a:r>
              <a:rPr lang="en-US" sz="2400" b="0" i="0" u="none" strike="noStrike" baseline="0" dirty="0">
                <a:solidFill>
                  <a:srgbClr val="FF0000"/>
                </a:solidFill>
                <a:latin typeface="Tahoma" panose="020B0604030504040204" pitchFamily="34" charset="0"/>
              </a:rPr>
              <a:t>use cases</a:t>
            </a:r>
            <a:r>
              <a:rPr lang="en-US" sz="2400" b="0" i="0" u="none" strike="noStrike" baseline="0" dirty="0">
                <a:latin typeface="Tahoma" panose="020B0604030504040204" pitchFamily="34" charset="0"/>
              </a:rPr>
              <a:t>, but are more </a:t>
            </a:r>
            <a:r>
              <a:rPr lang="en-US" sz="2400" b="0" i="0" u="none" strike="noStrike" baseline="0" dirty="0">
                <a:solidFill>
                  <a:srgbClr val="FF0000"/>
                </a:solidFill>
                <a:latin typeface="Tahoma" panose="020B0604030504040204" pitchFamily="34" charset="0"/>
              </a:rPr>
              <a:t>informal</a:t>
            </a:r>
            <a:r>
              <a:rPr lang="en-US" sz="2400" b="0" i="0" u="none" strike="noStrike" baseline="0" dirty="0">
                <a:latin typeface="Tahoma" panose="020B0604030504040204" pitchFamily="34" charset="0"/>
              </a:rPr>
              <a:t> and are </a:t>
            </a:r>
            <a:r>
              <a:rPr lang="en-US" sz="2400" b="0" i="0" u="none" strike="noStrike" baseline="0" dirty="0">
                <a:solidFill>
                  <a:srgbClr val="FF0000"/>
                </a:solidFill>
                <a:latin typeface="Tahoma" panose="020B0604030504040204" pitchFamily="34" charset="0"/>
              </a:rPr>
              <a:t>simpler</a:t>
            </a:r>
            <a:r>
              <a:rPr lang="en-US" sz="2400" b="0" i="0" u="none" strike="noStrike" baseline="0" dirty="0">
                <a:latin typeface="Tahoma" panose="020B0604030504040204" pitchFamily="34" charset="0"/>
              </a:rPr>
              <a:t>. A user story is the </a:t>
            </a:r>
            <a:r>
              <a:rPr lang="en-US" sz="2400" b="0" i="0" u="none" strike="noStrike" baseline="0" dirty="0">
                <a:solidFill>
                  <a:srgbClr val="FF0000"/>
                </a:solidFill>
                <a:latin typeface="Tahoma" panose="020B0604030504040204" pitchFamily="34" charset="0"/>
              </a:rPr>
              <a:t>conversational description </a:t>
            </a:r>
            <a:r>
              <a:rPr lang="en-US" sz="2400" b="0" i="0" u="none" strike="noStrike" baseline="0" dirty="0">
                <a:latin typeface="Tahoma" panose="020B0604030504040204" pitchFamily="34" charset="0"/>
              </a:rPr>
              <a:t>by the user about a feature of the requirements. </a:t>
            </a:r>
          </a:p>
          <a:p>
            <a:pPr marL="0" indent="0" algn="l">
              <a:buNone/>
            </a:pPr>
            <a:r>
              <a:rPr lang="en-US" sz="2400" dirty="0">
                <a:latin typeface="Tahoma" panose="020B0604030504040204" pitchFamily="34" charset="0"/>
              </a:rPr>
              <a:t>For example: </a:t>
            </a:r>
          </a:p>
          <a:p>
            <a:pPr marL="0" indent="0" algn="l">
              <a:buNone/>
            </a:pPr>
            <a:endParaRPr lang="en-US" sz="2400" dirty="0">
              <a:latin typeface="Tahoma" panose="020B0604030504040204" pitchFamily="34" charset="0"/>
            </a:endParaRPr>
          </a:p>
          <a:p>
            <a:pPr marL="0" indent="0" algn="l">
              <a:buNone/>
            </a:pPr>
            <a:endParaRPr lang="en-US" sz="2400" dirty="0">
              <a:latin typeface="Tahoma" panose="020B0604030504040204" pitchFamily="34" charset="0"/>
            </a:endParaRPr>
          </a:p>
          <a:p>
            <a:pPr marL="0" indent="0" algn="l">
              <a:buNone/>
            </a:pPr>
            <a:endParaRPr lang="en-US" sz="2400" dirty="0">
              <a:latin typeface="Tahoma" panose="020B0604030504040204" pitchFamily="34" charset="0"/>
            </a:endParaRPr>
          </a:p>
          <a:p>
            <a:pPr marL="0" indent="0" algn="l">
              <a:buNone/>
            </a:pPr>
            <a:endParaRPr lang="en-US" sz="2400" dirty="0">
              <a:latin typeface="Tahoma" panose="020B0604030504040204" pitchFamily="34" charset="0"/>
            </a:endParaRPr>
          </a:p>
          <a:p>
            <a:pPr algn="l"/>
            <a:r>
              <a:rPr lang="en-US" sz="2400" b="0" i="0" u="none" strike="noStrike" baseline="0" dirty="0">
                <a:latin typeface="Tahoma" panose="020B0604030504040204" pitchFamily="34" charset="0"/>
              </a:rPr>
              <a:t>On the basis of user stories, the project team proposes “metaphors”—a </a:t>
            </a:r>
            <a:r>
              <a:rPr lang="en-US" sz="2400" b="1" i="0" u="none" strike="noStrike" baseline="0" dirty="0">
                <a:latin typeface="Tahoma" panose="020B0604030504040204" pitchFamily="34" charset="0"/>
              </a:rPr>
              <a:t>common vision of how the system would work</a:t>
            </a:r>
            <a:r>
              <a:rPr lang="en-US" sz="2400" b="0" i="0" u="none" strike="noStrike" baseline="0" dirty="0">
                <a:latin typeface="Tahoma" panose="020B0604030504040204" pitchFamily="34" charset="0"/>
              </a:rPr>
              <a:t>. The development team may decide to construct a </a:t>
            </a:r>
            <a:r>
              <a:rPr lang="en-US" sz="2400" b="1" i="1" u="none" strike="noStrike" baseline="0" dirty="0">
                <a:latin typeface="TimesNewRomanPS-ItalicMT"/>
              </a:rPr>
              <a:t>spike</a:t>
            </a:r>
            <a:r>
              <a:rPr lang="en-US" sz="2400" b="0" i="1" u="none" strike="noStrike" baseline="0" dirty="0">
                <a:latin typeface="TimesNewRomanPS-ItalicMT"/>
              </a:rPr>
              <a:t> </a:t>
            </a:r>
            <a:r>
              <a:rPr lang="en-US" sz="2400" b="0" u="none" strike="noStrike" baseline="0" dirty="0">
                <a:latin typeface="TimesNewRomanPS-ItalicMT"/>
              </a:rPr>
              <a:t>(</a:t>
            </a:r>
            <a:r>
              <a:rPr lang="en-US" sz="2400" b="0" i="0" u="none" strike="noStrike" baseline="0" dirty="0">
                <a:solidFill>
                  <a:srgbClr val="FF0000"/>
                </a:solidFill>
                <a:latin typeface="Tahoma" panose="020B0604030504040204" pitchFamily="34" charset="0"/>
              </a:rPr>
              <a:t>can be considered to be similar to a prototype</a:t>
            </a:r>
            <a:r>
              <a:rPr lang="en-US" sz="2400" b="0" u="none" strike="noStrike" baseline="0" dirty="0">
                <a:solidFill>
                  <a:srgbClr val="FF0000"/>
                </a:solidFill>
                <a:latin typeface="TimesNewRomanPS-ItalicMT"/>
              </a:rPr>
              <a:t>)</a:t>
            </a:r>
            <a:r>
              <a:rPr lang="en-US" sz="2400" b="0" u="none" strike="noStrike" baseline="0" dirty="0">
                <a:latin typeface="TimesNewRomanPS-ItalicMT"/>
              </a:rPr>
              <a:t> </a:t>
            </a:r>
            <a:r>
              <a:rPr lang="en-US" sz="2400" b="0" i="0" u="none" strike="noStrike" baseline="0" dirty="0">
                <a:latin typeface="Tahoma" panose="020B0604030504040204" pitchFamily="34" charset="0"/>
              </a:rPr>
              <a:t>for some feature. A </a:t>
            </a:r>
            <a:r>
              <a:rPr lang="en-US" sz="2400" b="0" i="1" u="none" strike="noStrike" baseline="0" dirty="0">
                <a:latin typeface="TimesNewRomanPS-ItalicMT"/>
              </a:rPr>
              <a:t>spike</a:t>
            </a:r>
            <a:r>
              <a:rPr lang="en-US" sz="2400" b="0" i="0" u="none" strike="noStrike" baseline="0" dirty="0">
                <a:latin typeface="Tahoma" panose="020B0604030504040204" pitchFamily="34" charset="0"/>
              </a:rPr>
              <a:t>, is a very simple program that is constructed to explore the suitability of a solution being proposed.</a:t>
            </a:r>
            <a:endParaRPr lang="en-US" sz="2400" dirty="0">
              <a:latin typeface="Tahoma" panose="020B0604030504040204" pitchFamily="34" charset="0"/>
            </a:endParaRPr>
          </a:p>
          <a:p>
            <a:pPr marL="0" indent="0" algn="l">
              <a:buNone/>
            </a:pPr>
            <a:endParaRPr lang="en-US" sz="1800" b="0" i="0" u="none" strike="noStrike" baseline="0" dirty="0">
              <a:latin typeface="Tahoma" panose="020B0604030504040204" pitchFamily="34" charset="0"/>
            </a:endParaRPr>
          </a:p>
          <a:p>
            <a:pPr marL="0" indent="0" algn="l">
              <a:buNone/>
            </a:pPr>
            <a:endParaRPr lang="en-IN" dirty="0"/>
          </a:p>
        </p:txBody>
      </p:sp>
      <p:pic>
        <p:nvPicPr>
          <p:cNvPr id="5" name="Picture 4">
            <a:extLst>
              <a:ext uri="{FF2B5EF4-FFF2-40B4-BE49-F238E27FC236}">
                <a16:creationId xmlns:a16="http://schemas.microsoft.com/office/drawing/2014/main" id="{A39785BB-767E-86CD-8E47-5E55419E1F13}"/>
              </a:ext>
            </a:extLst>
          </p:cNvPr>
          <p:cNvPicPr>
            <a:picLocks noChangeAspect="1"/>
          </p:cNvPicPr>
          <p:nvPr/>
        </p:nvPicPr>
        <p:blipFill>
          <a:blip r:embed="rId2"/>
          <a:stretch>
            <a:fillRect/>
          </a:stretch>
        </p:blipFill>
        <p:spPr>
          <a:xfrm>
            <a:off x="2154860" y="2577110"/>
            <a:ext cx="7316221" cy="1181265"/>
          </a:xfrm>
          <a:prstGeom prst="rect">
            <a:avLst/>
          </a:prstGeom>
        </p:spPr>
      </p:pic>
    </p:spTree>
    <p:extLst>
      <p:ext uri="{BB962C8B-B14F-4D97-AF65-F5344CB8AC3E}">
        <p14:creationId xmlns:p14="http://schemas.microsoft.com/office/powerpoint/2010/main" val="218846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70CC-8284-988D-B1D1-D29E40C95943}"/>
              </a:ext>
            </a:extLst>
          </p:cNvPr>
          <p:cNvSpPr>
            <a:spLocks noGrp="1"/>
          </p:cNvSpPr>
          <p:nvPr>
            <p:ph type="title"/>
          </p:nvPr>
        </p:nvSpPr>
        <p:spPr>
          <a:xfrm>
            <a:off x="838200" y="0"/>
            <a:ext cx="10515600" cy="881744"/>
          </a:xfrm>
        </p:spPr>
        <p:txBody>
          <a:bodyPr>
            <a:normAutofit/>
          </a:bodyPr>
          <a:lstStyle/>
          <a:p>
            <a:r>
              <a:rPr lang="en-IN" sz="3200" b="1" dirty="0">
                <a:latin typeface="Times New Roman" panose="02020603050405020304" pitchFamily="18" charset="0"/>
                <a:cs typeface="Times New Roman" panose="02020603050405020304" pitchFamily="18" charset="0"/>
              </a:rPr>
              <a:t>Activities of XP process model</a:t>
            </a:r>
          </a:p>
        </p:txBody>
      </p:sp>
      <p:sp>
        <p:nvSpPr>
          <p:cNvPr id="3" name="Content Placeholder 2">
            <a:extLst>
              <a:ext uri="{FF2B5EF4-FFF2-40B4-BE49-F238E27FC236}">
                <a16:creationId xmlns:a16="http://schemas.microsoft.com/office/drawing/2014/main" id="{4F17A50C-2139-0BE8-0576-CED5B6BDF061}"/>
              </a:ext>
            </a:extLst>
          </p:cNvPr>
          <p:cNvSpPr>
            <a:spLocks noGrp="1"/>
          </p:cNvSpPr>
          <p:nvPr>
            <p:ph idx="1"/>
          </p:nvPr>
        </p:nvSpPr>
        <p:spPr>
          <a:xfrm>
            <a:off x="838200" y="1012371"/>
            <a:ext cx="10515600" cy="5164592"/>
          </a:xfrm>
        </p:spPr>
        <p:txBody>
          <a:bodyPr>
            <a:normAutofit/>
          </a:bodyPr>
          <a:lstStyle/>
          <a:p>
            <a:pPr algn="l"/>
            <a:r>
              <a:rPr lang="en-US" sz="2000" b="1" i="0" u="none" strike="noStrike" baseline="0" dirty="0">
                <a:latin typeface="Tahoma-Bold"/>
              </a:rPr>
              <a:t>Coding: </a:t>
            </a:r>
            <a:r>
              <a:rPr lang="en-US" sz="2000" b="0" i="0" u="none" strike="noStrike" baseline="0" dirty="0">
                <a:latin typeface="Tahoma" panose="020B0604030504040204" pitchFamily="34" charset="0"/>
              </a:rPr>
              <a:t>XP argues that code is the crucial part of any system development process, since without code it is not possible to have a working system. </a:t>
            </a:r>
            <a:r>
              <a:rPr lang="en-IN" sz="2000" b="0" i="0" u="none" strike="noStrike" baseline="0" dirty="0">
                <a:latin typeface="Tahoma" panose="020B0604030504040204" pitchFamily="34" charset="0"/>
              </a:rPr>
              <a:t>coding activity includes </a:t>
            </a:r>
            <a:r>
              <a:rPr lang="en-US" sz="2000" b="0" i="0" u="none" strike="noStrike" baseline="0" dirty="0">
                <a:solidFill>
                  <a:srgbClr val="FF0000"/>
                </a:solidFill>
                <a:latin typeface="Tahoma" panose="020B0604030504040204" pitchFamily="34" charset="0"/>
              </a:rPr>
              <a:t>drawing diagrams</a:t>
            </a:r>
            <a:r>
              <a:rPr lang="en-US" sz="2000" b="0" i="0" u="none" strike="noStrike" baseline="0" dirty="0">
                <a:latin typeface="Tahoma" panose="020B0604030504040204" pitchFamily="34" charset="0"/>
              </a:rPr>
              <a:t> (modelling) that will be </a:t>
            </a:r>
            <a:r>
              <a:rPr lang="en-US" sz="2000" b="0" i="0" u="none" strike="noStrike" baseline="0" dirty="0">
                <a:solidFill>
                  <a:srgbClr val="FF0000"/>
                </a:solidFill>
                <a:latin typeface="Tahoma" panose="020B0604030504040204" pitchFamily="34" charset="0"/>
              </a:rPr>
              <a:t>transformed to code, scripting a web-based system</a:t>
            </a:r>
            <a:r>
              <a:rPr lang="en-US" sz="2000" b="0" i="0" u="none" strike="noStrike" baseline="0" dirty="0">
                <a:latin typeface="Tahoma" panose="020B0604030504040204" pitchFamily="34" charset="0"/>
              </a:rPr>
              <a:t>, and choosing among several alternative solutions.</a:t>
            </a:r>
          </a:p>
          <a:p>
            <a:pPr algn="l"/>
            <a:r>
              <a:rPr lang="en-US" sz="2000" b="1" i="0" u="none" strike="noStrike" baseline="0" dirty="0">
                <a:latin typeface="Tahoma-Bold"/>
              </a:rPr>
              <a:t>Testing: </a:t>
            </a:r>
            <a:r>
              <a:rPr lang="en-US" sz="2000" b="0" i="0" u="none" strike="noStrike" baseline="0" dirty="0">
                <a:latin typeface="Tahoma" panose="020B0604030504040204" pitchFamily="34" charset="0"/>
              </a:rPr>
              <a:t>XP places high importance on testing and considers it be the primary means for developing a fault-free software.</a:t>
            </a:r>
          </a:p>
          <a:p>
            <a:pPr algn="l"/>
            <a:r>
              <a:rPr lang="en-US" sz="2000" b="1" i="0" u="none" strike="noStrike" baseline="0" dirty="0">
                <a:latin typeface="Tahoma-Bold"/>
              </a:rPr>
              <a:t>Listening: </a:t>
            </a:r>
            <a:r>
              <a:rPr lang="en-US" sz="2000" b="0" i="0" u="none" strike="noStrike" baseline="0" dirty="0">
                <a:latin typeface="Tahoma" panose="020B0604030504040204" pitchFamily="34" charset="0"/>
              </a:rPr>
              <a:t>The developers need to carefully listen to the customers if they have to develop a good quality software. Programmers may not necessarily be having an in-depth knowledge of the specific domain of the system </a:t>
            </a:r>
            <a:r>
              <a:rPr lang="en-IN" sz="2000" b="0" i="0" u="none" strike="noStrike" baseline="0" dirty="0">
                <a:latin typeface="Tahoma" panose="020B0604030504040204" pitchFamily="34" charset="0"/>
              </a:rPr>
              <a:t>under development.</a:t>
            </a:r>
            <a:r>
              <a:rPr lang="en-US" sz="2000" dirty="0">
                <a:latin typeface="Tahoma" panose="020B0604030504040204" pitchFamily="34" charset="0"/>
              </a:rPr>
              <a:t> </a:t>
            </a:r>
            <a:r>
              <a:rPr lang="en-US" sz="2000" b="0" i="0" u="none" strike="noStrike" baseline="0" dirty="0">
                <a:latin typeface="Tahoma" panose="020B0604030504040204" pitchFamily="34" charset="0"/>
              </a:rPr>
              <a:t>Therefore, for the programmers need to properly listen to the customer to understand the specific domain.</a:t>
            </a:r>
          </a:p>
          <a:p>
            <a:pPr algn="l"/>
            <a:r>
              <a:rPr lang="en-US" sz="2000" b="1" dirty="0">
                <a:latin typeface="Tahoma" panose="020B0604030504040204" pitchFamily="34" charset="0"/>
              </a:rPr>
              <a:t>Feedback: </a:t>
            </a:r>
            <a:r>
              <a:rPr lang="en-US" sz="2000" b="0" i="0" u="none" strike="noStrike" baseline="0" dirty="0">
                <a:latin typeface="Tahoma" panose="020B0604030504040204" pitchFamily="34" charset="0"/>
              </a:rPr>
              <a:t>It </a:t>
            </a:r>
            <a:r>
              <a:rPr lang="en-US" sz="2000" b="0" i="0" u="none" strike="noStrike" baseline="0" dirty="0" err="1">
                <a:latin typeface="Tahoma" panose="020B0604030504040204" pitchFamily="34" charset="0"/>
              </a:rPr>
              <a:t>recognises</a:t>
            </a:r>
            <a:r>
              <a:rPr lang="en-US" sz="2000" b="0" i="0" u="none" strike="noStrike" baseline="0" dirty="0">
                <a:latin typeface="Tahoma" panose="020B0604030504040204" pitchFamily="34" charset="0"/>
              </a:rPr>
              <a:t> the importance of user feedback in understanding the exact customer requirements</a:t>
            </a:r>
            <a:endParaRPr lang="en-US" sz="2000" b="1" dirty="0">
              <a:latin typeface="Tahoma" panose="020B0604030504040204" pitchFamily="34" charset="0"/>
            </a:endParaRPr>
          </a:p>
          <a:p>
            <a:pPr algn="l"/>
            <a:r>
              <a:rPr lang="en-US" sz="2000" b="1" dirty="0">
                <a:latin typeface="Tahoma" panose="020B0604030504040204" pitchFamily="34" charset="0"/>
              </a:rPr>
              <a:t>Simplicity: </a:t>
            </a:r>
            <a:r>
              <a:rPr lang="en-US" sz="2000" b="0" i="0" u="none" strike="noStrike" baseline="0" dirty="0">
                <a:latin typeface="Tahoma" panose="020B0604030504040204" pitchFamily="34" charset="0"/>
              </a:rPr>
              <a:t>XP is based on the principle: “build something simple that will work today, rather than trying to build something that would take time and yet may never be used”.</a:t>
            </a:r>
            <a:endParaRPr lang="en-IN" sz="2000" b="1" dirty="0"/>
          </a:p>
        </p:txBody>
      </p:sp>
    </p:spTree>
    <p:extLst>
      <p:ext uri="{BB962C8B-B14F-4D97-AF65-F5344CB8AC3E}">
        <p14:creationId xmlns:p14="http://schemas.microsoft.com/office/powerpoint/2010/main" val="918261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E2D6-E724-BC70-B1EB-8F6A524503EA}"/>
              </a:ext>
            </a:extLst>
          </p:cNvPr>
          <p:cNvSpPr>
            <a:spLocks noGrp="1"/>
          </p:cNvSpPr>
          <p:nvPr>
            <p:ph type="title"/>
          </p:nvPr>
        </p:nvSpPr>
        <p:spPr>
          <a:xfrm>
            <a:off x="838200" y="365126"/>
            <a:ext cx="10515600" cy="658132"/>
          </a:xfrm>
        </p:spPr>
        <p:txBody>
          <a:bodyPr>
            <a:normAutofit fontScale="90000"/>
          </a:bodyPr>
          <a:lstStyle/>
          <a:p>
            <a:r>
              <a:rPr lang="en-US" sz="2700" b="1" i="0" u="none" strike="noStrike" baseline="0" dirty="0">
                <a:solidFill>
                  <a:srgbClr val="6A135D"/>
                </a:solidFill>
                <a:latin typeface="Tahoma-Bold"/>
              </a:rPr>
              <a:t>Applicability of extreme programming model</a:t>
            </a:r>
            <a:br>
              <a:rPr lang="en-US" sz="4400" b="1" i="0" u="none" strike="noStrike" baseline="0" dirty="0">
                <a:solidFill>
                  <a:srgbClr val="6A135D"/>
                </a:solidFill>
                <a:latin typeface="Tahoma-Bold"/>
              </a:rPr>
            </a:br>
            <a:endParaRPr lang="en-IN" dirty="0"/>
          </a:p>
        </p:txBody>
      </p:sp>
      <p:sp>
        <p:nvSpPr>
          <p:cNvPr id="3" name="Content Placeholder 2">
            <a:extLst>
              <a:ext uri="{FF2B5EF4-FFF2-40B4-BE49-F238E27FC236}">
                <a16:creationId xmlns:a16="http://schemas.microsoft.com/office/drawing/2014/main" id="{5EB4E1AD-762D-F29F-1746-7AEBCCD29CBB}"/>
              </a:ext>
            </a:extLst>
          </p:cNvPr>
          <p:cNvSpPr>
            <a:spLocks noGrp="1"/>
          </p:cNvSpPr>
          <p:nvPr>
            <p:ph idx="1"/>
          </p:nvPr>
        </p:nvSpPr>
        <p:spPr>
          <a:xfrm>
            <a:off x="838200" y="1023258"/>
            <a:ext cx="10515600" cy="5153705"/>
          </a:xfrm>
        </p:spPr>
        <p:txBody>
          <a:bodyPr>
            <a:normAutofit/>
          </a:bodyPr>
          <a:lstStyle/>
          <a:p>
            <a:pPr marL="0" indent="0" algn="l">
              <a:buNone/>
            </a:pPr>
            <a:r>
              <a:rPr lang="en-US" sz="1800" b="0" i="0" u="none" strike="noStrike" baseline="0" dirty="0">
                <a:solidFill>
                  <a:srgbClr val="000000"/>
                </a:solidFill>
                <a:latin typeface="Tahoma" panose="020B0604030504040204" pitchFamily="34" charset="0"/>
              </a:rPr>
              <a:t>The following are some of the project characteristics that indicate the</a:t>
            </a:r>
          </a:p>
          <a:p>
            <a:pPr algn="l"/>
            <a:r>
              <a:rPr lang="en-US" sz="1800" b="1" i="0" u="none" strike="noStrike" baseline="0" dirty="0">
                <a:solidFill>
                  <a:srgbClr val="000000"/>
                </a:solidFill>
                <a:latin typeface="Tahoma-Bold"/>
              </a:rPr>
              <a:t>Projects involving new technology or research pro jects: </a:t>
            </a:r>
            <a:r>
              <a:rPr lang="en-US" sz="1800" b="0" i="0" u="none" strike="noStrike" baseline="0" dirty="0">
                <a:solidFill>
                  <a:srgbClr val="000000"/>
                </a:solidFill>
                <a:latin typeface="Tahoma" panose="020B0604030504040204" pitchFamily="34" charset="0"/>
              </a:rPr>
              <a:t>In this case, the requirements change rapidly and unforeseen technical problems need to </a:t>
            </a:r>
            <a:r>
              <a:rPr lang="en-IN" sz="1800" b="0" i="0" u="none" strike="noStrike" baseline="0" dirty="0">
                <a:solidFill>
                  <a:srgbClr val="000000"/>
                </a:solidFill>
                <a:latin typeface="Tahoma" panose="020B0604030504040204" pitchFamily="34" charset="0"/>
              </a:rPr>
              <a:t>be resolved.</a:t>
            </a:r>
          </a:p>
          <a:p>
            <a:pPr algn="l"/>
            <a:r>
              <a:rPr lang="en-US" sz="1800" b="1" i="0" u="none" strike="noStrike" baseline="0" dirty="0">
                <a:solidFill>
                  <a:srgbClr val="000000"/>
                </a:solidFill>
                <a:latin typeface="Tahoma-Bold"/>
              </a:rPr>
              <a:t>Small projects: </a:t>
            </a:r>
            <a:r>
              <a:rPr lang="en-US" sz="1800" b="0" i="0" u="none" strike="noStrike" baseline="0" dirty="0">
                <a:solidFill>
                  <a:srgbClr val="000000"/>
                </a:solidFill>
                <a:latin typeface="Tahoma" panose="020B0604030504040204" pitchFamily="34" charset="0"/>
              </a:rPr>
              <a:t>Extreme programming was proposed in the context of small teams as face to face meeting is easier to achieve.</a:t>
            </a:r>
          </a:p>
          <a:p>
            <a:pPr marL="0" indent="0" algn="l">
              <a:buNone/>
            </a:pPr>
            <a:endParaRPr lang="en-US" sz="1800" dirty="0">
              <a:solidFill>
                <a:srgbClr val="000000"/>
              </a:solidFill>
              <a:latin typeface="Tahoma" panose="020B0604030504040204" pitchFamily="34" charset="0"/>
            </a:endParaRPr>
          </a:p>
          <a:p>
            <a:pPr marL="0" indent="0" algn="l">
              <a:buNone/>
            </a:pPr>
            <a:endParaRPr lang="en-US" sz="1800" dirty="0">
              <a:solidFill>
                <a:srgbClr val="000000"/>
              </a:solidFill>
              <a:latin typeface="Tahoma" panose="020B0604030504040204" pitchFamily="34" charset="0"/>
            </a:endParaRPr>
          </a:p>
          <a:p>
            <a:pPr marL="0" indent="0" algn="l">
              <a:buNone/>
            </a:pPr>
            <a:r>
              <a:rPr lang="en-US" sz="1800" b="1" dirty="0">
                <a:solidFill>
                  <a:srgbClr val="FF0000"/>
                </a:solidFill>
                <a:latin typeface="Tahoma" panose="020B0604030504040204" pitchFamily="34" charset="0"/>
              </a:rPr>
              <a:t>***IMPORTANT takeaway: </a:t>
            </a:r>
          </a:p>
          <a:p>
            <a:pPr marL="0" indent="0" algn="l">
              <a:buNone/>
            </a:pPr>
            <a:r>
              <a:rPr lang="en-US" sz="1800" b="0" i="0" u="none" strike="noStrike" baseline="0" dirty="0">
                <a:latin typeface="Tahoma" panose="020B0604030504040204" pitchFamily="34" charset="0"/>
              </a:rPr>
              <a:t>The following are some of the project characteristics that indicate unsuitability of agile development model for use in a development </a:t>
            </a:r>
            <a:r>
              <a:rPr lang="en-IN" sz="1800" b="0" i="0" u="none" strike="noStrike" baseline="0" dirty="0">
                <a:latin typeface="Tahoma" panose="020B0604030504040204" pitchFamily="34" charset="0"/>
              </a:rPr>
              <a:t>project:</a:t>
            </a:r>
          </a:p>
          <a:p>
            <a:pPr algn="l"/>
            <a:r>
              <a:rPr lang="en-US" sz="1800" b="1" i="0" u="none" strike="noStrike" baseline="0" dirty="0">
                <a:latin typeface="Tahoma-Bold"/>
              </a:rPr>
              <a:t>Stable requirements: </a:t>
            </a:r>
            <a:r>
              <a:rPr lang="en-US" sz="1800" b="0" i="0" u="none" strike="noStrike" baseline="0" dirty="0">
                <a:latin typeface="Tahoma" panose="020B0604030504040204" pitchFamily="34" charset="0"/>
              </a:rPr>
              <a:t>Conventional development models are more suited to use in projects </a:t>
            </a:r>
            <a:r>
              <a:rPr lang="en-US" sz="1800" b="0" i="0" u="none" strike="noStrike" baseline="0" dirty="0" err="1">
                <a:latin typeface="Tahoma" panose="020B0604030504040204" pitchFamily="34" charset="0"/>
              </a:rPr>
              <a:t>characterised</a:t>
            </a:r>
            <a:r>
              <a:rPr lang="en-US" sz="1800" b="0" i="0" u="none" strike="noStrike" baseline="0" dirty="0">
                <a:latin typeface="Tahoma" panose="020B0604030504040204" pitchFamily="34" charset="0"/>
              </a:rPr>
              <a:t> by stable requirements. projects, it is known that few changes, if at all, will occur. Therefore, process models such as iterative waterfall model that involve making long-term plans during project initiation can meaningfully be used.</a:t>
            </a:r>
          </a:p>
          <a:p>
            <a:pPr algn="l"/>
            <a:r>
              <a:rPr lang="en-US" sz="1800" b="1" i="0" u="none" strike="noStrike" baseline="0" dirty="0">
                <a:latin typeface="Tahoma-Bold"/>
              </a:rPr>
              <a:t>Mission critical or safety critical systems: </a:t>
            </a:r>
            <a:r>
              <a:rPr lang="en-US" sz="1800" b="0" i="0" u="none" strike="noStrike" baseline="0" dirty="0">
                <a:latin typeface="Tahoma" panose="020B0604030504040204" pitchFamily="34" charset="0"/>
              </a:rPr>
              <a:t>In the development of such systems, the traditional SDLC models are usually preferred to </a:t>
            </a:r>
            <a:r>
              <a:rPr lang="en-IN" sz="1800" b="0" i="0" u="none" strike="noStrike" baseline="0" dirty="0">
                <a:latin typeface="Tahoma" panose="020B0604030504040204" pitchFamily="34" charset="0"/>
              </a:rPr>
              <a:t>ensure reliability.</a:t>
            </a:r>
            <a:endParaRPr lang="en-IN" b="1" dirty="0">
              <a:solidFill>
                <a:srgbClr val="FF0000"/>
              </a:solidFill>
            </a:endParaRPr>
          </a:p>
        </p:txBody>
      </p:sp>
    </p:spTree>
    <p:extLst>
      <p:ext uri="{BB962C8B-B14F-4D97-AF65-F5344CB8AC3E}">
        <p14:creationId xmlns:p14="http://schemas.microsoft.com/office/powerpoint/2010/main" val="1578206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2A2C-D0EC-6BE7-9A79-96984B467DBD}"/>
              </a:ext>
            </a:extLst>
          </p:cNvPr>
          <p:cNvSpPr>
            <a:spLocks noGrp="1"/>
          </p:cNvSpPr>
          <p:nvPr>
            <p:ph type="title"/>
          </p:nvPr>
        </p:nvSpPr>
        <p:spPr>
          <a:xfrm>
            <a:off x="838200" y="152401"/>
            <a:ext cx="10515600" cy="957942"/>
          </a:xfrm>
        </p:spPr>
        <p:txBody>
          <a:bodyPr/>
          <a:lstStyle/>
          <a:p>
            <a:r>
              <a:rPr lang="en-IN" dirty="0"/>
              <a:t>Summary of the Agile Technology</a:t>
            </a:r>
          </a:p>
        </p:txBody>
      </p:sp>
      <p:sp>
        <p:nvSpPr>
          <p:cNvPr id="3" name="Content Placeholder 2">
            <a:extLst>
              <a:ext uri="{FF2B5EF4-FFF2-40B4-BE49-F238E27FC236}">
                <a16:creationId xmlns:a16="http://schemas.microsoft.com/office/drawing/2014/main" id="{DB2C6107-04BE-B1E3-F029-B87EC142B50E}"/>
              </a:ext>
            </a:extLst>
          </p:cNvPr>
          <p:cNvSpPr>
            <a:spLocks noGrp="1"/>
          </p:cNvSpPr>
          <p:nvPr>
            <p:ph idx="1"/>
          </p:nvPr>
        </p:nvSpPr>
        <p:spPr>
          <a:xfrm>
            <a:off x="838200" y="1110343"/>
            <a:ext cx="10515600" cy="5066620"/>
          </a:xfrm>
        </p:spPr>
        <p:txBody>
          <a:bodyPr>
            <a:normAutofit/>
          </a:bodyPr>
          <a:lstStyle/>
          <a:p>
            <a:pPr marL="0" indent="0" algn="l">
              <a:buNone/>
            </a:pPr>
            <a:r>
              <a:rPr lang="en-US" sz="2400" b="0" i="0" u="none" strike="noStrike" baseline="0" dirty="0">
                <a:latin typeface="Leawood-Book"/>
              </a:rPr>
              <a:t>An agile philosophy for software engineering stresses four key issues: </a:t>
            </a:r>
          </a:p>
          <a:p>
            <a:pPr marL="457200" indent="-457200" algn="l">
              <a:buAutoNum type="arabicParenR"/>
            </a:pPr>
            <a:r>
              <a:rPr lang="en-US" sz="2400" b="0" i="0" u="none" strike="noStrike" baseline="0" dirty="0">
                <a:latin typeface="Leawood-Book"/>
              </a:rPr>
              <a:t>the importance of </a:t>
            </a:r>
            <a:r>
              <a:rPr lang="en-US" sz="2400" b="0" i="0" u="none" strike="noStrike" baseline="0" dirty="0">
                <a:solidFill>
                  <a:srgbClr val="FF0000"/>
                </a:solidFill>
                <a:latin typeface="Leawood-Book"/>
              </a:rPr>
              <a:t>self-organizing teams </a:t>
            </a:r>
            <a:r>
              <a:rPr lang="en-US" sz="2400" b="0" i="0" u="none" strike="noStrike" baseline="0" dirty="0">
                <a:latin typeface="Leawood-Book"/>
              </a:rPr>
              <a:t>that have control over the work they perform, </a:t>
            </a:r>
          </a:p>
          <a:p>
            <a:pPr marL="457200" indent="-457200" algn="l">
              <a:buAutoNum type="arabicParenR"/>
            </a:pPr>
            <a:r>
              <a:rPr lang="en-US" sz="2400" b="0" i="0" u="none" strike="noStrike" baseline="0" dirty="0">
                <a:solidFill>
                  <a:srgbClr val="FF0000"/>
                </a:solidFill>
                <a:latin typeface="Leawood-Book"/>
              </a:rPr>
              <a:t>communication and collaboration </a:t>
            </a:r>
            <a:r>
              <a:rPr lang="en-US" sz="2400" b="0" i="0" u="none" strike="noStrike" baseline="0" dirty="0">
                <a:latin typeface="Leawood-Book"/>
              </a:rPr>
              <a:t>between team members and between practitioners and their customers, </a:t>
            </a:r>
          </a:p>
          <a:p>
            <a:pPr marL="457200" indent="-457200" algn="l">
              <a:buAutoNum type="arabicParenR"/>
            </a:pPr>
            <a:r>
              <a:rPr lang="en-US" sz="2400" b="0" i="0" u="none" strike="noStrike" baseline="0" dirty="0">
                <a:latin typeface="Leawood-Book"/>
              </a:rPr>
              <a:t>a recognition that </a:t>
            </a:r>
            <a:r>
              <a:rPr lang="en-US" sz="2400" b="0" i="0" u="none" strike="noStrike" baseline="0" dirty="0">
                <a:solidFill>
                  <a:srgbClr val="FF0000"/>
                </a:solidFill>
                <a:latin typeface="Leawood-Book"/>
              </a:rPr>
              <a:t>change represents an opportunity</a:t>
            </a:r>
            <a:r>
              <a:rPr lang="en-US" sz="2400" b="0" i="0" u="none" strike="noStrike" baseline="0" dirty="0">
                <a:latin typeface="Leawood-Book"/>
              </a:rPr>
              <a:t>, and </a:t>
            </a:r>
          </a:p>
          <a:p>
            <a:pPr marL="457200" indent="-457200" algn="l">
              <a:buAutoNum type="arabicParenR"/>
            </a:pPr>
            <a:r>
              <a:rPr lang="en-US" sz="2400" b="0" i="0" u="none" strike="noStrike" baseline="0" dirty="0">
                <a:latin typeface="Leawood-Book"/>
              </a:rPr>
              <a:t>an emphasis on </a:t>
            </a:r>
            <a:r>
              <a:rPr lang="en-US" sz="2400" b="0" i="0" u="none" strike="noStrike" baseline="0" dirty="0">
                <a:solidFill>
                  <a:srgbClr val="FF0000"/>
                </a:solidFill>
                <a:latin typeface="Leawood-Book"/>
              </a:rPr>
              <a:t>rapid delivery </a:t>
            </a:r>
            <a:r>
              <a:rPr lang="en-US" sz="2400" b="0" i="0" u="none" strike="noStrike" baseline="0" dirty="0">
                <a:latin typeface="Leawood-Book"/>
              </a:rPr>
              <a:t>of software that satisfies the customer. Agile process models have been designed to address each of these issues.</a:t>
            </a:r>
            <a:endParaRPr lang="en-IN" sz="2400" dirty="0"/>
          </a:p>
        </p:txBody>
      </p:sp>
    </p:spTree>
    <p:extLst>
      <p:ext uri="{BB962C8B-B14F-4D97-AF65-F5344CB8AC3E}">
        <p14:creationId xmlns:p14="http://schemas.microsoft.com/office/powerpoint/2010/main" val="1957137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18963-7241-1797-387D-A8A3D67CB16B}"/>
              </a:ext>
            </a:extLst>
          </p:cNvPr>
          <p:cNvSpPr>
            <a:spLocks noGrp="1"/>
          </p:cNvSpPr>
          <p:nvPr>
            <p:ph type="title"/>
          </p:nvPr>
        </p:nvSpPr>
        <p:spPr>
          <a:xfrm>
            <a:off x="838200" y="1"/>
            <a:ext cx="10515600" cy="903514"/>
          </a:xfrm>
        </p:spPr>
        <p:txBody>
          <a:bodyPr>
            <a:normAutofit/>
          </a:bodyPr>
          <a:lstStyle/>
          <a:p>
            <a:r>
              <a:rPr lang="en-US" sz="2400" b="1" i="0" u="none" strike="noStrike" baseline="0" dirty="0">
                <a:solidFill>
                  <a:srgbClr val="AA1C24"/>
                </a:solidFill>
                <a:latin typeface="TimesNewRomanPSMT"/>
              </a:rPr>
              <a:t>Selecting an Appropriate Life Cycle Model for a Project</a:t>
            </a:r>
            <a:endParaRPr lang="en-IN" sz="2400" b="1" dirty="0"/>
          </a:p>
        </p:txBody>
      </p:sp>
      <p:sp>
        <p:nvSpPr>
          <p:cNvPr id="3" name="Content Placeholder 2">
            <a:extLst>
              <a:ext uri="{FF2B5EF4-FFF2-40B4-BE49-F238E27FC236}">
                <a16:creationId xmlns:a16="http://schemas.microsoft.com/office/drawing/2014/main" id="{345500D2-2761-0D8E-E278-1E0996223BEE}"/>
              </a:ext>
            </a:extLst>
          </p:cNvPr>
          <p:cNvSpPr>
            <a:spLocks noGrp="1"/>
          </p:cNvSpPr>
          <p:nvPr>
            <p:ph idx="1"/>
          </p:nvPr>
        </p:nvSpPr>
        <p:spPr>
          <a:xfrm>
            <a:off x="838200" y="903515"/>
            <a:ext cx="10515600" cy="5273448"/>
          </a:xfrm>
        </p:spPr>
        <p:txBody>
          <a:bodyPr>
            <a:normAutofit/>
          </a:bodyPr>
          <a:lstStyle/>
          <a:p>
            <a:pPr marL="0" indent="0" algn="l">
              <a:buNone/>
            </a:pPr>
            <a:r>
              <a:rPr lang="en-US" sz="1800" b="0" i="0" u="none" strike="noStrike" baseline="0" dirty="0">
                <a:latin typeface="Tahoma" panose="020B0604030504040204" pitchFamily="34" charset="0"/>
              </a:rPr>
              <a:t>How to select a suitable life cycle model for a specific project?. A suitable life cycle model can possibly be selected based on an</a:t>
            </a:r>
          </a:p>
          <a:p>
            <a:pPr marL="0" indent="0" algn="l">
              <a:buNone/>
            </a:pPr>
            <a:r>
              <a:rPr lang="en-US" sz="1800" b="0" i="0" u="none" strike="noStrike" baseline="0" dirty="0">
                <a:latin typeface="Tahoma" panose="020B0604030504040204" pitchFamily="34" charset="0"/>
              </a:rPr>
              <a:t>analysis of issues such as the following:</a:t>
            </a:r>
          </a:p>
          <a:p>
            <a:pPr algn="l"/>
            <a:r>
              <a:rPr lang="en-US" sz="1800" b="1" i="0" u="none" strike="noStrike" baseline="0" dirty="0">
                <a:latin typeface="Tahoma-Bold"/>
              </a:rPr>
              <a:t>Characteristics of the software to be developed: </a:t>
            </a:r>
            <a:r>
              <a:rPr lang="en-US" sz="1800" b="0" i="0" u="none" strike="noStrike" baseline="0" dirty="0">
                <a:latin typeface="Tahoma" panose="020B0604030504040204" pitchFamily="34" charset="0"/>
              </a:rPr>
              <a:t>The choice of the life cycle model to a large extent depends on the nature of the software that is being developed. </a:t>
            </a:r>
            <a:r>
              <a:rPr lang="en-US" sz="1800" b="0" i="0" u="none" strike="noStrike" baseline="0" dirty="0">
                <a:solidFill>
                  <a:srgbClr val="FF0000"/>
                </a:solidFill>
                <a:latin typeface="Tahoma" panose="020B0604030504040204" pitchFamily="34" charset="0"/>
              </a:rPr>
              <a:t>For small services projects, the agile model is </a:t>
            </a:r>
            <a:r>
              <a:rPr lang="en-US" sz="1800" b="0" i="0" u="none" strike="noStrike" baseline="0" dirty="0" err="1">
                <a:solidFill>
                  <a:srgbClr val="FF0000"/>
                </a:solidFill>
                <a:latin typeface="Tahoma" panose="020B0604030504040204" pitchFamily="34" charset="0"/>
              </a:rPr>
              <a:t>favoured</a:t>
            </a:r>
            <a:r>
              <a:rPr lang="en-US" sz="1800" b="0" i="0" u="none" strike="noStrike" baseline="0" dirty="0">
                <a:latin typeface="Tahoma" panose="020B0604030504040204" pitchFamily="34" charset="0"/>
              </a:rPr>
              <a:t>. On the other hand, for </a:t>
            </a:r>
            <a:r>
              <a:rPr lang="en-US" sz="1800" b="0" i="0" u="none" strike="noStrike" baseline="0" dirty="0">
                <a:solidFill>
                  <a:srgbClr val="FF0000"/>
                </a:solidFill>
                <a:latin typeface="Tahoma" panose="020B0604030504040204" pitchFamily="34" charset="0"/>
              </a:rPr>
              <a:t>product and embedded software development</a:t>
            </a:r>
            <a:r>
              <a:rPr lang="en-US" sz="1800" b="0" i="0" u="none" strike="noStrike" baseline="0" dirty="0">
                <a:latin typeface="Tahoma" panose="020B0604030504040204" pitchFamily="34" charset="0"/>
              </a:rPr>
              <a:t>, the </a:t>
            </a:r>
            <a:r>
              <a:rPr lang="en-US" sz="1800" b="0" i="0" u="none" strike="noStrike" baseline="0" dirty="0">
                <a:solidFill>
                  <a:srgbClr val="FF0000"/>
                </a:solidFill>
                <a:latin typeface="Tahoma" panose="020B0604030504040204" pitchFamily="34" charset="0"/>
              </a:rPr>
              <a:t>iterative waterfall model </a:t>
            </a:r>
            <a:r>
              <a:rPr lang="en-US" sz="1800" b="0" i="0" u="none" strike="noStrike" baseline="0" dirty="0">
                <a:latin typeface="Tahoma" panose="020B0604030504040204" pitchFamily="34" charset="0"/>
              </a:rPr>
              <a:t>can be preferred. An </a:t>
            </a:r>
            <a:r>
              <a:rPr lang="en-US" sz="1800" b="0" i="0" u="none" strike="noStrike" baseline="0" dirty="0">
                <a:solidFill>
                  <a:srgbClr val="FF0000"/>
                </a:solidFill>
                <a:latin typeface="Tahoma" panose="020B0604030504040204" pitchFamily="34" charset="0"/>
              </a:rPr>
              <a:t>evolutionary model </a:t>
            </a:r>
            <a:r>
              <a:rPr lang="en-US" sz="1800" b="0" i="0" u="none" strike="noStrike" baseline="0" dirty="0">
                <a:latin typeface="Tahoma" panose="020B0604030504040204" pitchFamily="34" charset="0"/>
              </a:rPr>
              <a:t>is a suitable model for </a:t>
            </a:r>
            <a:r>
              <a:rPr lang="en-US" sz="1800" b="0" i="0" u="none" strike="noStrike" baseline="0" dirty="0">
                <a:solidFill>
                  <a:srgbClr val="FF0000"/>
                </a:solidFill>
                <a:latin typeface="Tahoma" panose="020B0604030504040204" pitchFamily="34" charset="0"/>
              </a:rPr>
              <a:t>object-oriented development </a:t>
            </a:r>
            <a:r>
              <a:rPr lang="en-US" sz="1800" b="0" i="0" u="none" strike="noStrike" baseline="0" dirty="0">
                <a:latin typeface="Tahoma" panose="020B0604030504040204" pitchFamily="34" charset="0"/>
              </a:rPr>
              <a:t>projects</a:t>
            </a:r>
            <a:r>
              <a:rPr lang="en-US" sz="1800" b="0" i="0" u="none" strike="noStrike" baseline="0" dirty="0">
                <a:solidFill>
                  <a:srgbClr val="FF0000"/>
                </a:solidFill>
                <a:latin typeface="Tahoma" panose="020B0604030504040204" pitchFamily="34" charset="0"/>
              </a:rPr>
              <a:t>.</a:t>
            </a:r>
          </a:p>
          <a:p>
            <a:pPr algn="l"/>
            <a:r>
              <a:rPr lang="en-US" sz="1800" b="1" i="0" u="none" strike="noStrike" baseline="0" dirty="0">
                <a:latin typeface="Tahoma-Bold"/>
              </a:rPr>
              <a:t>Characteristics of the development team: </a:t>
            </a:r>
            <a:r>
              <a:rPr lang="en-US" sz="1800" b="0" i="0" u="none" strike="noStrike" baseline="0" dirty="0">
                <a:latin typeface="Tahoma" panose="020B0604030504040204" pitchFamily="34" charset="0"/>
              </a:rPr>
              <a:t>The skill-level of the team members is a significant factor in deciding about the life cycle model to use. If the development team is experienced in developing similar software, then even an embedded software can be developed using an iterative waterfall model. If the development team is entirely novice, then even a simple data processing application may require a prototyping model to be adopted.</a:t>
            </a:r>
          </a:p>
          <a:p>
            <a:pPr algn="l"/>
            <a:r>
              <a:rPr lang="en-US" sz="1800" b="1" i="0" u="none" strike="noStrike" baseline="0" dirty="0">
                <a:latin typeface="Tahoma-Bold"/>
              </a:rPr>
              <a:t>Characteristics of the customer: </a:t>
            </a:r>
            <a:r>
              <a:rPr lang="en-US" sz="1800" b="0" i="0" u="none" strike="noStrike" baseline="0" dirty="0">
                <a:latin typeface="Tahoma" panose="020B0604030504040204" pitchFamily="34" charset="0"/>
              </a:rPr>
              <a:t>If the customer is not quite familiar with computers, then the requirements are likely to change frequently as it would be difficult to form complete, consistent, and unambiguous requirements. Thus, a prototyping model may be necessary to reduce later change requests </a:t>
            </a:r>
            <a:r>
              <a:rPr lang="en-IN" sz="1800" b="0" i="0" u="none" strike="noStrike" baseline="0" dirty="0">
                <a:latin typeface="Tahoma" panose="020B0604030504040204" pitchFamily="34" charset="0"/>
              </a:rPr>
              <a:t>from the customers.</a:t>
            </a:r>
            <a:endParaRPr lang="en-IN" dirty="0"/>
          </a:p>
        </p:txBody>
      </p:sp>
    </p:spTree>
    <p:extLst>
      <p:ext uri="{BB962C8B-B14F-4D97-AF65-F5344CB8AC3E}">
        <p14:creationId xmlns:p14="http://schemas.microsoft.com/office/powerpoint/2010/main" val="2220619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1225</Words>
  <Application>Microsoft Office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Arial</vt:lpstr>
      <vt:lpstr>Calibri</vt:lpstr>
      <vt:lpstr>Calibri Light</vt:lpstr>
      <vt:lpstr>CIDFont+F1</vt:lpstr>
      <vt:lpstr>Leawood-Book</vt:lpstr>
      <vt:lpstr>Tahoma</vt:lpstr>
      <vt:lpstr>Tahoma-Bold</vt:lpstr>
      <vt:lpstr>Times New Roman</vt:lpstr>
      <vt:lpstr>TimesNewRomanPS-ItalicMT</vt:lpstr>
      <vt:lpstr>TimesNewRomanPSMT</vt:lpstr>
      <vt:lpstr>Office Theme</vt:lpstr>
      <vt:lpstr>Extreme Programming Model Module 1 </vt:lpstr>
      <vt:lpstr>Introduction</vt:lpstr>
      <vt:lpstr>XP values, Principles and Practices </vt:lpstr>
      <vt:lpstr>Good practices that need to be practiced to the extreme</vt:lpstr>
      <vt:lpstr>Basic idea of extreme programming model</vt:lpstr>
      <vt:lpstr>Activities of XP process model</vt:lpstr>
      <vt:lpstr>Applicability of extreme programming model </vt:lpstr>
      <vt:lpstr>Summary of the Agile Technology</vt:lpstr>
      <vt:lpstr>Selecting an Appropriate Life Cycle Model for a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4</cp:revision>
  <dcterms:created xsi:type="dcterms:W3CDTF">2025-01-01T06:44:23Z</dcterms:created>
  <dcterms:modified xsi:type="dcterms:W3CDTF">2025-01-02T05:02:41Z</dcterms:modified>
</cp:coreProperties>
</file>