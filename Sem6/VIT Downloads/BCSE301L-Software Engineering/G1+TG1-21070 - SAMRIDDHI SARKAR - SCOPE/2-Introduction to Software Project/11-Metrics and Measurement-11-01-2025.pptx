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3" r:id="rId6"/>
    <p:sldId id="264" r:id="rId7"/>
    <p:sldId id="265" r:id="rId8"/>
    <p:sldId id="260" r:id="rId9"/>
    <p:sldId id="261" r:id="rId10"/>
    <p:sldId id="266" r:id="rId11"/>
    <p:sldId id="267" r:id="rId12"/>
    <p:sldId id="268"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62572-9016-3935-7CCF-648302BCFC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02D1F16-AA88-90A6-2970-F1EA605320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4A1D411-8F69-42FF-080A-31A4D0E15F35}"/>
              </a:ext>
            </a:extLst>
          </p:cNvPr>
          <p:cNvSpPr>
            <a:spLocks noGrp="1"/>
          </p:cNvSpPr>
          <p:nvPr>
            <p:ph type="dt" sz="half" idx="10"/>
          </p:nvPr>
        </p:nvSpPr>
        <p:spPr/>
        <p:txBody>
          <a:bodyPr/>
          <a:lstStyle/>
          <a:p>
            <a:fld id="{1DAAE38F-E60A-4033-8B51-C4E0B09DF8BA}" type="datetimeFigureOut">
              <a:rPr lang="en-IN" smtClean="0"/>
              <a:t>12-01-2025</a:t>
            </a:fld>
            <a:endParaRPr lang="en-IN"/>
          </a:p>
        </p:txBody>
      </p:sp>
      <p:sp>
        <p:nvSpPr>
          <p:cNvPr id="5" name="Footer Placeholder 4">
            <a:extLst>
              <a:ext uri="{FF2B5EF4-FFF2-40B4-BE49-F238E27FC236}">
                <a16:creationId xmlns:a16="http://schemas.microsoft.com/office/drawing/2014/main" id="{0885AD06-BB8C-2FCF-A33D-3EEC93FCD28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BB3CF9-B8F9-FD82-64D1-92BA9B3FC6AD}"/>
              </a:ext>
            </a:extLst>
          </p:cNvPr>
          <p:cNvSpPr>
            <a:spLocks noGrp="1"/>
          </p:cNvSpPr>
          <p:nvPr>
            <p:ph type="sldNum" sz="quarter" idx="12"/>
          </p:nvPr>
        </p:nvSpPr>
        <p:spPr/>
        <p:txBody>
          <a:bodyPr/>
          <a:lstStyle/>
          <a:p>
            <a:fld id="{6EBD8138-C71E-4131-A690-F7F64EF0C0F7}" type="slidenum">
              <a:rPr lang="en-IN" smtClean="0"/>
              <a:t>‹#›</a:t>
            </a:fld>
            <a:endParaRPr lang="en-IN"/>
          </a:p>
        </p:txBody>
      </p:sp>
    </p:spTree>
    <p:extLst>
      <p:ext uri="{BB962C8B-B14F-4D97-AF65-F5344CB8AC3E}">
        <p14:creationId xmlns:p14="http://schemas.microsoft.com/office/powerpoint/2010/main" val="11105928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57360-CCEB-B369-A1FF-5EBBF009782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BCDA42E-F1DF-23B3-9FBF-5821123728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37B9B3F-BC73-DB23-C993-80A87B4000A8}"/>
              </a:ext>
            </a:extLst>
          </p:cNvPr>
          <p:cNvSpPr>
            <a:spLocks noGrp="1"/>
          </p:cNvSpPr>
          <p:nvPr>
            <p:ph type="dt" sz="half" idx="10"/>
          </p:nvPr>
        </p:nvSpPr>
        <p:spPr/>
        <p:txBody>
          <a:bodyPr/>
          <a:lstStyle/>
          <a:p>
            <a:fld id="{1DAAE38F-E60A-4033-8B51-C4E0B09DF8BA}" type="datetimeFigureOut">
              <a:rPr lang="en-IN" smtClean="0"/>
              <a:t>12-01-2025</a:t>
            </a:fld>
            <a:endParaRPr lang="en-IN"/>
          </a:p>
        </p:txBody>
      </p:sp>
      <p:sp>
        <p:nvSpPr>
          <p:cNvPr id="5" name="Footer Placeholder 4">
            <a:extLst>
              <a:ext uri="{FF2B5EF4-FFF2-40B4-BE49-F238E27FC236}">
                <a16:creationId xmlns:a16="http://schemas.microsoft.com/office/drawing/2014/main" id="{93C25237-3E23-C2BD-94C0-19CE7BA2441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59A5F4-A31B-BF12-C5E9-6528E474007F}"/>
              </a:ext>
            </a:extLst>
          </p:cNvPr>
          <p:cNvSpPr>
            <a:spLocks noGrp="1"/>
          </p:cNvSpPr>
          <p:nvPr>
            <p:ph type="sldNum" sz="quarter" idx="12"/>
          </p:nvPr>
        </p:nvSpPr>
        <p:spPr/>
        <p:txBody>
          <a:bodyPr/>
          <a:lstStyle/>
          <a:p>
            <a:fld id="{6EBD8138-C71E-4131-A690-F7F64EF0C0F7}" type="slidenum">
              <a:rPr lang="en-IN" smtClean="0"/>
              <a:t>‹#›</a:t>
            </a:fld>
            <a:endParaRPr lang="en-IN"/>
          </a:p>
        </p:txBody>
      </p:sp>
    </p:spTree>
    <p:extLst>
      <p:ext uri="{BB962C8B-B14F-4D97-AF65-F5344CB8AC3E}">
        <p14:creationId xmlns:p14="http://schemas.microsoft.com/office/powerpoint/2010/main" val="33587457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30779-3D99-2DA8-8552-488639805AF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EB32C1A-90B9-6DAC-E168-5FEF438C30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48F3CCE-4D87-652D-8107-402A4A97DEC0}"/>
              </a:ext>
            </a:extLst>
          </p:cNvPr>
          <p:cNvSpPr>
            <a:spLocks noGrp="1"/>
          </p:cNvSpPr>
          <p:nvPr>
            <p:ph type="dt" sz="half" idx="10"/>
          </p:nvPr>
        </p:nvSpPr>
        <p:spPr/>
        <p:txBody>
          <a:bodyPr/>
          <a:lstStyle/>
          <a:p>
            <a:fld id="{1DAAE38F-E60A-4033-8B51-C4E0B09DF8BA}" type="datetimeFigureOut">
              <a:rPr lang="en-IN" smtClean="0"/>
              <a:t>12-01-2025</a:t>
            </a:fld>
            <a:endParaRPr lang="en-IN"/>
          </a:p>
        </p:txBody>
      </p:sp>
      <p:sp>
        <p:nvSpPr>
          <p:cNvPr id="5" name="Footer Placeholder 4">
            <a:extLst>
              <a:ext uri="{FF2B5EF4-FFF2-40B4-BE49-F238E27FC236}">
                <a16:creationId xmlns:a16="http://schemas.microsoft.com/office/drawing/2014/main" id="{02E6C18D-DBF6-AF0D-2E16-0B3356B583E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3FA9BC-EA60-361D-5ACC-645FF6D26190}"/>
              </a:ext>
            </a:extLst>
          </p:cNvPr>
          <p:cNvSpPr>
            <a:spLocks noGrp="1"/>
          </p:cNvSpPr>
          <p:nvPr>
            <p:ph type="sldNum" sz="quarter" idx="12"/>
          </p:nvPr>
        </p:nvSpPr>
        <p:spPr/>
        <p:txBody>
          <a:bodyPr/>
          <a:lstStyle/>
          <a:p>
            <a:fld id="{6EBD8138-C71E-4131-A690-F7F64EF0C0F7}" type="slidenum">
              <a:rPr lang="en-IN" smtClean="0"/>
              <a:t>‹#›</a:t>
            </a:fld>
            <a:endParaRPr lang="en-IN"/>
          </a:p>
        </p:txBody>
      </p:sp>
    </p:spTree>
    <p:extLst>
      <p:ext uri="{BB962C8B-B14F-4D97-AF65-F5344CB8AC3E}">
        <p14:creationId xmlns:p14="http://schemas.microsoft.com/office/powerpoint/2010/main" val="36641632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0304D-DCEE-BB22-512D-C1CA92D58D1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677D929-CAFC-53C8-4790-2992AF4C4A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DE662F8-6913-02FD-1B58-008E0CACFF7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464834-409E-7E73-F903-3F978FF8A4B8}"/>
              </a:ext>
            </a:extLst>
          </p:cNvPr>
          <p:cNvSpPr>
            <a:spLocks noGrp="1"/>
          </p:cNvSpPr>
          <p:nvPr>
            <p:ph type="dt" sz="half" idx="10"/>
          </p:nvPr>
        </p:nvSpPr>
        <p:spPr/>
        <p:txBody>
          <a:bodyPr/>
          <a:lstStyle/>
          <a:p>
            <a:fld id="{1DAAE38F-E60A-4033-8B51-C4E0B09DF8BA}" type="datetimeFigureOut">
              <a:rPr lang="en-IN" smtClean="0"/>
              <a:t>12-01-2025</a:t>
            </a:fld>
            <a:endParaRPr lang="en-IN"/>
          </a:p>
        </p:txBody>
      </p:sp>
      <p:sp>
        <p:nvSpPr>
          <p:cNvPr id="6" name="Footer Placeholder 5">
            <a:extLst>
              <a:ext uri="{FF2B5EF4-FFF2-40B4-BE49-F238E27FC236}">
                <a16:creationId xmlns:a16="http://schemas.microsoft.com/office/drawing/2014/main" id="{2D2E1651-8E35-2AC1-95DB-69A05A7C26A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0C3993D-CB25-5500-A217-6F40A79094F8}"/>
              </a:ext>
            </a:extLst>
          </p:cNvPr>
          <p:cNvSpPr>
            <a:spLocks noGrp="1"/>
          </p:cNvSpPr>
          <p:nvPr>
            <p:ph type="sldNum" sz="quarter" idx="12"/>
          </p:nvPr>
        </p:nvSpPr>
        <p:spPr/>
        <p:txBody>
          <a:bodyPr/>
          <a:lstStyle/>
          <a:p>
            <a:fld id="{6EBD8138-C71E-4131-A690-F7F64EF0C0F7}" type="slidenum">
              <a:rPr lang="en-IN" smtClean="0"/>
              <a:t>‹#›</a:t>
            </a:fld>
            <a:endParaRPr lang="en-IN"/>
          </a:p>
        </p:txBody>
      </p:sp>
    </p:spTree>
    <p:extLst>
      <p:ext uri="{BB962C8B-B14F-4D97-AF65-F5344CB8AC3E}">
        <p14:creationId xmlns:p14="http://schemas.microsoft.com/office/powerpoint/2010/main" val="40673367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39D0C-4EDB-AD53-3F43-25197996C6A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99BF5BD-02A2-4CCA-56FF-68FEE06CDB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4908E5-E3D0-1D08-A29B-A8DBD05CD23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2626588-B9A0-46C6-8D71-1B2308302A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05617B7-4D1F-F5D5-AEAB-6BF19217461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03F6D7B-1B2E-5D1F-21C0-E980ABDE6408}"/>
              </a:ext>
            </a:extLst>
          </p:cNvPr>
          <p:cNvSpPr>
            <a:spLocks noGrp="1"/>
          </p:cNvSpPr>
          <p:nvPr>
            <p:ph type="dt" sz="half" idx="10"/>
          </p:nvPr>
        </p:nvSpPr>
        <p:spPr/>
        <p:txBody>
          <a:bodyPr/>
          <a:lstStyle/>
          <a:p>
            <a:fld id="{1DAAE38F-E60A-4033-8B51-C4E0B09DF8BA}" type="datetimeFigureOut">
              <a:rPr lang="en-IN" smtClean="0"/>
              <a:t>12-01-2025</a:t>
            </a:fld>
            <a:endParaRPr lang="en-IN"/>
          </a:p>
        </p:txBody>
      </p:sp>
      <p:sp>
        <p:nvSpPr>
          <p:cNvPr id="8" name="Footer Placeholder 7">
            <a:extLst>
              <a:ext uri="{FF2B5EF4-FFF2-40B4-BE49-F238E27FC236}">
                <a16:creationId xmlns:a16="http://schemas.microsoft.com/office/drawing/2014/main" id="{87A72D1B-8B96-09E3-B8AB-B244385577D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BA473E2-1847-5CE5-F855-69D3B30E83C0}"/>
              </a:ext>
            </a:extLst>
          </p:cNvPr>
          <p:cNvSpPr>
            <a:spLocks noGrp="1"/>
          </p:cNvSpPr>
          <p:nvPr>
            <p:ph type="sldNum" sz="quarter" idx="12"/>
          </p:nvPr>
        </p:nvSpPr>
        <p:spPr/>
        <p:txBody>
          <a:bodyPr/>
          <a:lstStyle/>
          <a:p>
            <a:fld id="{6EBD8138-C71E-4131-A690-F7F64EF0C0F7}" type="slidenum">
              <a:rPr lang="en-IN" smtClean="0"/>
              <a:t>‹#›</a:t>
            </a:fld>
            <a:endParaRPr lang="en-IN"/>
          </a:p>
        </p:txBody>
      </p:sp>
    </p:spTree>
    <p:extLst>
      <p:ext uri="{BB962C8B-B14F-4D97-AF65-F5344CB8AC3E}">
        <p14:creationId xmlns:p14="http://schemas.microsoft.com/office/powerpoint/2010/main" val="15465292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53DCC-9624-DF66-7FD7-3F6704EF902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AF04C5C-F970-6D86-FB99-4BBBB0914D0A}"/>
              </a:ext>
            </a:extLst>
          </p:cNvPr>
          <p:cNvSpPr>
            <a:spLocks noGrp="1"/>
          </p:cNvSpPr>
          <p:nvPr>
            <p:ph type="dt" sz="half" idx="10"/>
          </p:nvPr>
        </p:nvSpPr>
        <p:spPr/>
        <p:txBody>
          <a:bodyPr/>
          <a:lstStyle/>
          <a:p>
            <a:fld id="{1DAAE38F-E60A-4033-8B51-C4E0B09DF8BA}" type="datetimeFigureOut">
              <a:rPr lang="en-IN" smtClean="0"/>
              <a:t>12-01-2025</a:t>
            </a:fld>
            <a:endParaRPr lang="en-IN"/>
          </a:p>
        </p:txBody>
      </p:sp>
      <p:sp>
        <p:nvSpPr>
          <p:cNvPr id="4" name="Footer Placeholder 3">
            <a:extLst>
              <a:ext uri="{FF2B5EF4-FFF2-40B4-BE49-F238E27FC236}">
                <a16:creationId xmlns:a16="http://schemas.microsoft.com/office/drawing/2014/main" id="{C68ECEC6-1979-9A14-9344-EAF6A95BB82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38A273F-8896-4B9C-13D2-D10816C0A512}"/>
              </a:ext>
            </a:extLst>
          </p:cNvPr>
          <p:cNvSpPr>
            <a:spLocks noGrp="1"/>
          </p:cNvSpPr>
          <p:nvPr>
            <p:ph type="sldNum" sz="quarter" idx="12"/>
          </p:nvPr>
        </p:nvSpPr>
        <p:spPr/>
        <p:txBody>
          <a:bodyPr/>
          <a:lstStyle/>
          <a:p>
            <a:fld id="{6EBD8138-C71E-4131-A690-F7F64EF0C0F7}" type="slidenum">
              <a:rPr lang="en-IN" smtClean="0"/>
              <a:t>‹#›</a:t>
            </a:fld>
            <a:endParaRPr lang="en-IN"/>
          </a:p>
        </p:txBody>
      </p:sp>
    </p:spTree>
    <p:extLst>
      <p:ext uri="{BB962C8B-B14F-4D97-AF65-F5344CB8AC3E}">
        <p14:creationId xmlns:p14="http://schemas.microsoft.com/office/powerpoint/2010/main" val="3799790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18217A8-C00F-1465-245A-D0B77D571BDD}"/>
              </a:ext>
            </a:extLst>
          </p:cNvPr>
          <p:cNvSpPr>
            <a:spLocks noGrp="1"/>
          </p:cNvSpPr>
          <p:nvPr>
            <p:ph type="dt" sz="half" idx="10"/>
          </p:nvPr>
        </p:nvSpPr>
        <p:spPr/>
        <p:txBody>
          <a:bodyPr/>
          <a:lstStyle/>
          <a:p>
            <a:fld id="{1DAAE38F-E60A-4033-8B51-C4E0B09DF8BA}" type="datetimeFigureOut">
              <a:rPr lang="en-IN" smtClean="0"/>
              <a:t>12-01-2025</a:t>
            </a:fld>
            <a:endParaRPr lang="en-IN"/>
          </a:p>
        </p:txBody>
      </p:sp>
      <p:sp>
        <p:nvSpPr>
          <p:cNvPr id="3" name="Footer Placeholder 2">
            <a:extLst>
              <a:ext uri="{FF2B5EF4-FFF2-40B4-BE49-F238E27FC236}">
                <a16:creationId xmlns:a16="http://schemas.microsoft.com/office/drawing/2014/main" id="{52336555-D3BB-2890-8CD9-E68A39912DA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D2999ED-E7C7-A700-5445-D96B32558F21}"/>
              </a:ext>
            </a:extLst>
          </p:cNvPr>
          <p:cNvSpPr>
            <a:spLocks noGrp="1"/>
          </p:cNvSpPr>
          <p:nvPr>
            <p:ph type="sldNum" sz="quarter" idx="12"/>
          </p:nvPr>
        </p:nvSpPr>
        <p:spPr/>
        <p:txBody>
          <a:bodyPr/>
          <a:lstStyle/>
          <a:p>
            <a:fld id="{6EBD8138-C71E-4131-A690-F7F64EF0C0F7}" type="slidenum">
              <a:rPr lang="en-IN" smtClean="0"/>
              <a:t>‹#›</a:t>
            </a:fld>
            <a:endParaRPr lang="en-IN"/>
          </a:p>
        </p:txBody>
      </p:sp>
    </p:spTree>
    <p:extLst>
      <p:ext uri="{BB962C8B-B14F-4D97-AF65-F5344CB8AC3E}">
        <p14:creationId xmlns:p14="http://schemas.microsoft.com/office/powerpoint/2010/main" val="36163780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43BE8-EF7A-0666-4D71-7DBD3C12B8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6C4DF7A-2888-8033-8512-16D9F70F65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829DC6F-6458-E5E8-0028-807633CA71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BBFE29-471B-1AF8-E594-D16CD5C96B8F}"/>
              </a:ext>
            </a:extLst>
          </p:cNvPr>
          <p:cNvSpPr>
            <a:spLocks noGrp="1"/>
          </p:cNvSpPr>
          <p:nvPr>
            <p:ph type="dt" sz="half" idx="10"/>
          </p:nvPr>
        </p:nvSpPr>
        <p:spPr/>
        <p:txBody>
          <a:bodyPr/>
          <a:lstStyle/>
          <a:p>
            <a:fld id="{1DAAE38F-E60A-4033-8B51-C4E0B09DF8BA}" type="datetimeFigureOut">
              <a:rPr lang="en-IN" smtClean="0"/>
              <a:t>12-01-2025</a:t>
            </a:fld>
            <a:endParaRPr lang="en-IN"/>
          </a:p>
        </p:txBody>
      </p:sp>
      <p:sp>
        <p:nvSpPr>
          <p:cNvPr id="6" name="Footer Placeholder 5">
            <a:extLst>
              <a:ext uri="{FF2B5EF4-FFF2-40B4-BE49-F238E27FC236}">
                <a16:creationId xmlns:a16="http://schemas.microsoft.com/office/drawing/2014/main" id="{E0994640-CCDB-EEC3-0E22-5FDCBDFE3E7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419E449-074C-1022-EDB2-C713698F280B}"/>
              </a:ext>
            </a:extLst>
          </p:cNvPr>
          <p:cNvSpPr>
            <a:spLocks noGrp="1"/>
          </p:cNvSpPr>
          <p:nvPr>
            <p:ph type="sldNum" sz="quarter" idx="12"/>
          </p:nvPr>
        </p:nvSpPr>
        <p:spPr/>
        <p:txBody>
          <a:bodyPr/>
          <a:lstStyle/>
          <a:p>
            <a:fld id="{6EBD8138-C71E-4131-A690-F7F64EF0C0F7}" type="slidenum">
              <a:rPr lang="en-IN" smtClean="0"/>
              <a:t>‹#›</a:t>
            </a:fld>
            <a:endParaRPr lang="en-IN"/>
          </a:p>
        </p:txBody>
      </p:sp>
    </p:spTree>
    <p:extLst>
      <p:ext uri="{BB962C8B-B14F-4D97-AF65-F5344CB8AC3E}">
        <p14:creationId xmlns:p14="http://schemas.microsoft.com/office/powerpoint/2010/main" val="22068293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E6EF0-A3D4-DA5D-3003-CB801F4F07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AD71BBC-9685-2615-5AF6-EB86DC34E3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F526047-FA74-F6B7-BDB4-0D0C9CAACF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F9F672-8006-09EF-7A26-B87E58799541}"/>
              </a:ext>
            </a:extLst>
          </p:cNvPr>
          <p:cNvSpPr>
            <a:spLocks noGrp="1"/>
          </p:cNvSpPr>
          <p:nvPr>
            <p:ph type="dt" sz="half" idx="10"/>
          </p:nvPr>
        </p:nvSpPr>
        <p:spPr/>
        <p:txBody>
          <a:bodyPr/>
          <a:lstStyle/>
          <a:p>
            <a:fld id="{1DAAE38F-E60A-4033-8B51-C4E0B09DF8BA}" type="datetimeFigureOut">
              <a:rPr lang="en-IN" smtClean="0"/>
              <a:t>12-01-2025</a:t>
            </a:fld>
            <a:endParaRPr lang="en-IN"/>
          </a:p>
        </p:txBody>
      </p:sp>
      <p:sp>
        <p:nvSpPr>
          <p:cNvPr id="6" name="Footer Placeholder 5">
            <a:extLst>
              <a:ext uri="{FF2B5EF4-FFF2-40B4-BE49-F238E27FC236}">
                <a16:creationId xmlns:a16="http://schemas.microsoft.com/office/drawing/2014/main" id="{328F2B73-BE10-C9CA-01BA-E8B7AC69413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DC66E62-0482-9092-B710-0E277EA7F672}"/>
              </a:ext>
            </a:extLst>
          </p:cNvPr>
          <p:cNvSpPr>
            <a:spLocks noGrp="1"/>
          </p:cNvSpPr>
          <p:nvPr>
            <p:ph type="sldNum" sz="quarter" idx="12"/>
          </p:nvPr>
        </p:nvSpPr>
        <p:spPr/>
        <p:txBody>
          <a:bodyPr/>
          <a:lstStyle/>
          <a:p>
            <a:fld id="{6EBD8138-C71E-4131-A690-F7F64EF0C0F7}" type="slidenum">
              <a:rPr lang="en-IN" smtClean="0"/>
              <a:t>‹#›</a:t>
            </a:fld>
            <a:endParaRPr lang="en-IN"/>
          </a:p>
        </p:txBody>
      </p:sp>
    </p:spTree>
    <p:extLst>
      <p:ext uri="{BB962C8B-B14F-4D97-AF65-F5344CB8AC3E}">
        <p14:creationId xmlns:p14="http://schemas.microsoft.com/office/powerpoint/2010/main" val="8332880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E69E9-11E0-9BCC-3677-16495ADFBEE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9FF4955-4BCC-1D57-9CA2-7FC7900DCB9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B2D7F96-20E3-C2BD-9838-BE39E4B9B851}"/>
              </a:ext>
            </a:extLst>
          </p:cNvPr>
          <p:cNvSpPr>
            <a:spLocks noGrp="1"/>
          </p:cNvSpPr>
          <p:nvPr>
            <p:ph type="dt" sz="half" idx="10"/>
          </p:nvPr>
        </p:nvSpPr>
        <p:spPr/>
        <p:txBody>
          <a:bodyPr/>
          <a:lstStyle/>
          <a:p>
            <a:fld id="{1DAAE38F-E60A-4033-8B51-C4E0B09DF8BA}" type="datetimeFigureOut">
              <a:rPr lang="en-IN" smtClean="0"/>
              <a:t>12-01-2025</a:t>
            </a:fld>
            <a:endParaRPr lang="en-IN"/>
          </a:p>
        </p:txBody>
      </p:sp>
      <p:sp>
        <p:nvSpPr>
          <p:cNvPr id="5" name="Footer Placeholder 4">
            <a:extLst>
              <a:ext uri="{FF2B5EF4-FFF2-40B4-BE49-F238E27FC236}">
                <a16:creationId xmlns:a16="http://schemas.microsoft.com/office/drawing/2014/main" id="{CCC1C29F-BFF1-4104-074A-0A0E68A6C64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0DD4214-6779-BC69-FDB6-5026A02DB088}"/>
              </a:ext>
            </a:extLst>
          </p:cNvPr>
          <p:cNvSpPr>
            <a:spLocks noGrp="1"/>
          </p:cNvSpPr>
          <p:nvPr>
            <p:ph type="sldNum" sz="quarter" idx="12"/>
          </p:nvPr>
        </p:nvSpPr>
        <p:spPr/>
        <p:txBody>
          <a:bodyPr/>
          <a:lstStyle/>
          <a:p>
            <a:fld id="{6EBD8138-C71E-4131-A690-F7F64EF0C0F7}" type="slidenum">
              <a:rPr lang="en-IN" smtClean="0"/>
              <a:t>‹#›</a:t>
            </a:fld>
            <a:endParaRPr lang="en-IN"/>
          </a:p>
        </p:txBody>
      </p:sp>
    </p:spTree>
    <p:extLst>
      <p:ext uri="{BB962C8B-B14F-4D97-AF65-F5344CB8AC3E}">
        <p14:creationId xmlns:p14="http://schemas.microsoft.com/office/powerpoint/2010/main" val="36203534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B66698-1341-97F0-CF39-EA1B40B09F2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F72FA85-F4C1-500D-0641-71B57AA953A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BA3AC15-1593-6F42-79EF-D5B05D462863}"/>
              </a:ext>
            </a:extLst>
          </p:cNvPr>
          <p:cNvSpPr>
            <a:spLocks noGrp="1"/>
          </p:cNvSpPr>
          <p:nvPr>
            <p:ph type="dt" sz="half" idx="10"/>
          </p:nvPr>
        </p:nvSpPr>
        <p:spPr/>
        <p:txBody>
          <a:bodyPr/>
          <a:lstStyle/>
          <a:p>
            <a:fld id="{1DAAE38F-E60A-4033-8B51-C4E0B09DF8BA}" type="datetimeFigureOut">
              <a:rPr lang="en-IN" smtClean="0"/>
              <a:t>12-01-2025</a:t>
            </a:fld>
            <a:endParaRPr lang="en-IN"/>
          </a:p>
        </p:txBody>
      </p:sp>
      <p:sp>
        <p:nvSpPr>
          <p:cNvPr id="5" name="Footer Placeholder 4">
            <a:extLst>
              <a:ext uri="{FF2B5EF4-FFF2-40B4-BE49-F238E27FC236}">
                <a16:creationId xmlns:a16="http://schemas.microsoft.com/office/drawing/2014/main" id="{3A71B2F2-848D-FF83-9BC6-426547125C0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B44F559-032A-B67B-0EFF-1677616353A6}"/>
              </a:ext>
            </a:extLst>
          </p:cNvPr>
          <p:cNvSpPr>
            <a:spLocks noGrp="1"/>
          </p:cNvSpPr>
          <p:nvPr>
            <p:ph type="sldNum" sz="quarter" idx="12"/>
          </p:nvPr>
        </p:nvSpPr>
        <p:spPr/>
        <p:txBody>
          <a:bodyPr/>
          <a:lstStyle/>
          <a:p>
            <a:fld id="{6EBD8138-C71E-4131-A690-F7F64EF0C0F7}" type="slidenum">
              <a:rPr lang="en-IN" smtClean="0"/>
              <a:t>‹#›</a:t>
            </a:fld>
            <a:endParaRPr lang="en-IN"/>
          </a:p>
        </p:txBody>
      </p:sp>
    </p:spTree>
    <p:extLst>
      <p:ext uri="{BB962C8B-B14F-4D97-AF65-F5344CB8AC3E}">
        <p14:creationId xmlns:p14="http://schemas.microsoft.com/office/powerpoint/2010/main" val="4252484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0380A2B-7350-50F5-E659-E74189375A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AB557D7-E990-DA72-DA85-2AEBBABE5F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DE1EC51-9616-9956-63D7-942AD25ADC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AAE38F-E60A-4033-8B51-C4E0B09DF8BA}" type="datetimeFigureOut">
              <a:rPr lang="en-IN" smtClean="0"/>
              <a:t>12-01-2025</a:t>
            </a:fld>
            <a:endParaRPr lang="en-IN"/>
          </a:p>
        </p:txBody>
      </p:sp>
      <p:sp>
        <p:nvSpPr>
          <p:cNvPr id="5" name="Footer Placeholder 4">
            <a:extLst>
              <a:ext uri="{FF2B5EF4-FFF2-40B4-BE49-F238E27FC236}">
                <a16:creationId xmlns:a16="http://schemas.microsoft.com/office/drawing/2014/main" id="{04C033BC-21CF-52C0-1813-7C92717512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A066F0F-971B-ED95-6FE4-A9113EEE0E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BD8138-C71E-4131-A690-F7F64EF0C0F7}" type="slidenum">
              <a:rPr lang="en-IN" smtClean="0"/>
              <a:t>‹#›</a:t>
            </a:fld>
            <a:endParaRPr lang="en-IN"/>
          </a:p>
        </p:txBody>
      </p:sp>
    </p:spTree>
    <p:extLst>
      <p:ext uri="{BB962C8B-B14F-4D97-AF65-F5344CB8AC3E}">
        <p14:creationId xmlns:p14="http://schemas.microsoft.com/office/powerpoint/2010/main" val="18539157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B9ECA-2AEC-6847-D425-BFE5BFF142A4}"/>
              </a:ext>
            </a:extLst>
          </p:cNvPr>
          <p:cNvSpPr>
            <a:spLocks noGrp="1"/>
          </p:cNvSpPr>
          <p:nvPr>
            <p:ph type="ctrTitle"/>
          </p:nvPr>
        </p:nvSpPr>
        <p:spPr/>
        <p:txBody>
          <a:bodyPr>
            <a:normAutofit/>
          </a:bodyPr>
          <a:lstStyle/>
          <a:p>
            <a:r>
              <a:rPr lang="en-US" sz="4000" b="1" dirty="0"/>
              <a:t>METRICS FOR PROJECT SIZE ESTIMATION</a:t>
            </a:r>
            <a:br>
              <a:rPr lang="en-US" sz="4000" b="1" dirty="0"/>
            </a:br>
            <a:r>
              <a:rPr lang="en-IN" sz="1800" b="1" dirty="0">
                <a:latin typeface="Tahoma" panose="020B0604030504040204" pitchFamily="34" charset="0"/>
              </a:rPr>
              <a:t>L</a:t>
            </a:r>
            <a:r>
              <a:rPr lang="en-IN" sz="1800" b="1" i="0" u="none" strike="noStrike" baseline="0" dirty="0">
                <a:latin typeface="Tahoma" panose="020B0604030504040204" pitchFamily="34" charset="0"/>
              </a:rPr>
              <a:t>ines of </a:t>
            </a:r>
            <a:r>
              <a:rPr lang="en-US" sz="1800" b="1" i="0" u="none" strike="noStrike" baseline="0" dirty="0">
                <a:latin typeface="Tahoma" panose="020B0604030504040204" pitchFamily="34" charset="0"/>
              </a:rPr>
              <a:t>code (LOC),</a:t>
            </a:r>
            <a:br>
              <a:rPr lang="en-US" sz="1800" b="1" i="0" u="none" strike="noStrike" baseline="0" dirty="0">
                <a:latin typeface="Tahoma" panose="020B0604030504040204" pitchFamily="34" charset="0"/>
              </a:rPr>
            </a:br>
            <a:r>
              <a:rPr lang="en-US" sz="1800" b="1" i="0" u="none" strike="noStrike" baseline="0" dirty="0">
                <a:latin typeface="Tahoma" panose="020B0604030504040204" pitchFamily="34" charset="0"/>
              </a:rPr>
              <a:t>Function point (FP)</a:t>
            </a:r>
            <a:endParaRPr lang="en-IN" sz="4000" b="1" dirty="0"/>
          </a:p>
        </p:txBody>
      </p:sp>
    </p:spTree>
    <p:extLst>
      <p:ext uri="{BB962C8B-B14F-4D97-AF65-F5344CB8AC3E}">
        <p14:creationId xmlns:p14="http://schemas.microsoft.com/office/powerpoint/2010/main" val="27542358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6C85D-8D1E-CF6D-2BC2-844FC32368D2}"/>
              </a:ext>
            </a:extLst>
          </p:cNvPr>
          <p:cNvSpPr>
            <a:spLocks noGrp="1"/>
          </p:cNvSpPr>
          <p:nvPr>
            <p:ph type="title"/>
          </p:nvPr>
        </p:nvSpPr>
        <p:spPr/>
        <p:txBody>
          <a:bodyPr/>
          <a:lstStyle/>
          <a:p>
            <a:r>
              <a:rPr lang="en-IN" b="1" dirty="0"/>
              <a:t>Lines of Code (LOC)</a:t>
            </a:r>
          </a:p>
        </p:txBody>
      </p:sp>
      <p:sp>
        <p:nvSpPr>
          <p:cNvPr id="3" name="Content Placeholder 2">
            <a:extLst>
              <a:ext uri="{FF2B5EF4-FFF2-40B4-BE49-F238E27FC236}">
                <a16:creationId xmlns:a16="http://schemas.microsoft.com/office/drawing/2014/main" id="{1D5A9301-6F68-385F-2976-0FA18246EFD8}"/>
              </a:ext>
            </a:extLst>
          </p:cNvPr>
          <p:cNvSpPr>
            <a:spLocks noGrp="1"/>
          </p:cNvSpPr>
          <p:nvPr>
            <p:ph idx="1"/>
          </p:nvPr>
        </p:nvSpPr>
        <p:spPr/>
        <p:txBody>
          <a:bodyPr/>
          <a:lstStyle/>
          <a:p>
            <a:r>
              <a:rPr lang="en-US" dirty="0"/>
              <a:t>This metric measures the size of a project by counting the number of source instructions in the developed program. </a:t>
            </a:r>
          </a:p>
          <a:p>
            <a:r>
              <a:rPr lang="en-US" dirty="0"/>
              <a:t>Obviously, </a:t>
            </a:r>
            <a:r>
              <a:rPr lang="en-US" dirty="0">
                <a:solidFill>
                  <a:srgbClr val="FF0000"/>
                </a:solidFill>
              </a:rPr>
              <a:t>while counting the number of source instructions, comment lines, and header lines are ignored</a:t>
            </a:r>
            <a:r>
              <a:rPr lang="en-US" dirty="0"/>
              <a:t>.</a:t>
            </a:r>
          </a:p>
          <a:p>
            <a:pPr algn="l"/>
            <a:r>
              <a:rPr lang="en-US" sz="1800" b="0" i="0" u="none" strike="noStrike" baseline="0" dirty="0">
                <a:latin typeface="Tahoma" panose="020B0604030504040204" pitchFamily="34" charset="0"/>
              </a:rPr>
              <a:t>Determining the LOC count at the end of a project is very simple. However, accurate estimation of LOC count at the beginning of a project is a very </a:t>
            </a:r>
            <a:r>
              <a:rPr lang="en-IN" sz="1800" b="0" i="0" u="none" strike="noStrike" baseline="0" dirty="0">
                <a:latin typeface="Tahoma" panose="020B0604030504040204" pitchFamily="34" charset="0"/>
              </a:rPr>
              <a:t>difficult task.</a:t>
            </a:r>
          </a:p>
          <a:p>
            <a:pPr algn="l"/>
            <a:r>
              <a:rPr lang="en-US" sz="1800" b="0" i="0" u="none" strike="noStrike" baseline="0" dirty="0">
                <a:latin typeface="Tahoma" panose="020B0604030504040204" pitchFamily="34" charset="0"/>
              </a:rPr>
              <a:t>The project manager divides the problem into modules, and each module into sub-modules and so on, until the LOC of the leaf-level modules are small enough to be predicted</a:t>
            </a:r>
          </a:p>
          <a:p>
            <a:pPr algn="l"/>
            <a:r>
              <a:rPr lang="en-US" sz="1800" dirty="0">
                <a:latin typeface="Tahoma" panose="020B0604030504040204" pitchFamily="34" charset="0"/>
              </a:rPr>
              <a:t>However, </a:t>
            </a:r>
            <a:r>
              <a:rPr lang="en-IN" sz="1800" dirty="0">
                <a:latin typeface="Tahoma" panose="020B0604030504040204" pitchFamily="34" charset="0"/>
              </a:rPr>
              <a:t>t</a:t>
            </a:r>
            <a:r>
              <a:rPr lang="en-IN" sz="1800" b="0" i="0" u="none" strike="noStrike" baseline="0" dirty="0">
                <a:latin typeface="Tahoma" panose="020B0604030504040204" pitchFamily="34" charset="0"/>
              </a:rPr>
              <a:t>o be </a:t>
            </a:r>
            <a:r>
              <a:rPr lang="en-US" sz="1800" b="0" i="0" u="none" strike="noStrike" baseline="0" dirty="0">
                <a:latin typeface="Tahoma" panose="020B0604030504040204" pitchFamily="34" charset="0"/>
              </a:rPr>
              <a:t>able to predict the LOC count for the various leaf-level modules sufficiently accurately, past experience in developing similar </a:t>
            </a:r>
            <a:r>
              <a:rPr lang="en-US" sz="1800" b="0" i="0" u="none" strike="noStrike" baseline="0" dirty="0" err="1">
                <a:latin typeface="Tahoma" panose="020B0604030504040204" pitchFamily="34" charset="0"/>
              </a:rPr>
              <a:t>mo</a:t>
            </a:r>
            <a:r>
              <a:rPr lang="en-US" sz="1800" b="0" i="0" u="none" strike="noStrike" baseline="0" dirty="0">
                <a:latin typeface="Tahoma" panose="020B0604030504040204" pitchFamily="34" charset="0"/>
              </a:rPr>
              <a:t> dules is very helpful</a:t>
            </a:r>
            <a:endParaRPr lang="en-IN" dirty="0"/>
          </a:p>
        </p:txBody>
      </p:sp>
    </p:spTree>
    <p:extLst>
      <p:ext uri="{BB962C8B-B14F-4D97-AF65-F5344CB8AC3E}">
        <p14:creationId xmlns:p14="http://schemas.microsoft.com/office/powerpoint/2010/main" val="854526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C72C9-1AC2-C021-53E5-F0F7E611A47F}"/>
              </a:ext>
            </a:extLst>
          </p:cNvPr>
          <p:cNvSpPr>
            <a:spLocks noGrp="1"/>
          </p:cNvSpPr>
          <p:nvPr>
            <p:ph type="title"/>
          </p:nvPr>
        </p:nvSpPr>
        <p:spPr>
          <a:xfrm>
            <a:off x="838200" y="1"/>
            <a:ext cx="10515600" cy="925286"/>
          </a:xfrm>
        </p:spPr>
        <p:txBody>
          <a:bodyPr>
            <a:normAutofit/>
          </a:bodyPr>
          <a:lstStyle/>
          <a:p>
            <a:r>
              <a:rPr lang="en-US" b="1" dirty="0"/>
              <a:t>Shortcomings of the LOC metric</a:t>
            </a:r>
            <a:endParaRPr lang="en-IN" b="1" dirty="0"/>
          </a:p>
        </p:txBody>
      </p:sp>
      <p:sp>
        <p:nvSpPr>
          <p:cNvPr id="3" name="Content Placeholder 2">
            <a:extLst>
              <a:ext uri="{FF2B5EF4-FFF2-40B4-BE49-F238E27FC236}">
                <a16:creationId xmlns:a16="http://schemas.microsoft.com/office/drawing/2014/main" id="{F98DD694-A41F-939A-56F7-224849C3E72E}"/>
              </a:ext>
            </a:extLst>
          </p:cNvPr>
          <p:cNvSpPr>
            <a:spLocks noGrp="1"/>
          </p:cNvSpPr>
          <p:nvPr>
            <p:ph idx="1"/>
          </p:nvPr>
        </p:nvSpPr>
        <p:spPr>
          <a:xfrm>
            <a:off x="838200" y="1273629"/>
            <a:ext cx="10515600" cy="4903334"/>
          </a:xfrm>
        </p:spPr>
        <p:txBody>
          <a:bodyPr/>
          <a:lstStyle/>
          <a:p>
            <a:pPr algn="l"/>
            <a:r>
              <a:rPr lang="en-US" sz="1800" b="1" i="0" u="none" strike="noStrike" baseline="0" dirty="0">
                <a:latin typeface="Tahoma-Bold"/>
              </a:rPr>
              <a:t>LOC is a measure of coding activity alone. </a:t>
            </a:r>
            <a:r>
              <a:rPr lang="en-US" sz="1800" b="0" i="0" u="none" strike="noStrike" baseline="0" dirty="0">
                <a:latin typeface="Tahoma" panose="020B0604030504040204" pitchFamily="34" charset="0"/>
              </a:rPr>
              <a:t>A good problem size measure should consider the total effort needed to carry out various life cycle activities (i.e. specification, design, code, test, etc.) and not just the coding </a:t>
            </a:r>
            <a:r>
              <a:rPr lang="en-IN" sz="1800" b="0" i="0" u="none" strike="noStrike" baseline="0" dirty="0">
                <a:latin typeface="Tahoma" panose="020B0604030504040204" pitchFamily="34" charset="0"/>
              </a:rPr>
              <a:t>effort.</a:t>
            </a:r>
          </a:p>
          <a:p>
            <a:pPr algn="l"/>
            <a:endParaRPr lang="en-IN" sz="1800" dirty="0">
              <a:latin typeface="Tahoma" panose="020B0604030504040204" pitchFamily="34" charset="0"/>
            </a:endParaRPr>
          </a:p>
          <a:p>
            <a:pPr algn="l"/>
            <a:r>
              <a:rPr lang="en-IN" sz="1800" b="0" i="0" u="none" strike="noStrike" baseline="0" dirty="0">
                <a:latin typeface="Tahoma" panose="020B0604030504040204" pitchFamily="34" charset="0"/>
              </a:rPr>
              <a:t>LOC gives a </a:t>
            </a:r>
            <a:r>
              <a:rPr lang="en-US" sz="1800" b="0" i="0" u="none" strike="noStrike" baseline="0" dirty="0">
                <a:latin typeface="Tahoma" panose="020B0604030504040204" pitchFamily="34" charset="0"/>
              </a:rPr>
              <a:t>numerical value of problem size that can vary widely with coding styles of individual programmers. By coding style, we mean the choice of code layout, the choice of the instructions in writing the program, and the specific algorithms used. Different programmers may lay out their code in very </a:t>
            </a:r>
            <a:r>
              <a:rPr lang="en-IN" sz="1800" b="0" i="0" u="none" strike="noStrike" baseline="0" dirty="0">
                <a:latin typeface="Tahoma" panose="020B0604030504040204" pitchFamily="34" charset="0"/>
              </a:rPr>
              <a:t>different ways.</a:t>
            </a:r>
          </a:p>
          <a:p>
            <a:pPr algn="l"/>
            <a:r>
              <a:rPr lang="en-US" sz="1800" b="0" i="0" u="none" strike="noStrike" baseline="0" dirty="0">
                <a:latin typeface="Tahoma" panose="020B0604030504040204" pitchFamily="34" charset="0"/>
              </a:rPr>
              <a:t>Larger code size does not necessarily imply better quality of code or higher efficiency. Some programmers produce lengthy and complicated code as they do not make effective use of the available instruction set or use </a:t>
            </a:r>
            <a:r>
              <a:rPr lang="en-IN" sz="1800" b="0" i="0" u="none" strike="noStrike" baseline="0" dirty="0">
                <a:latin typeface="Tahoma" panose="020B0604030504040204" pitchFamily="34" charset="0"/>
              </a:rPr>
              <a:t>improper algorithms.</a:t>
            </a:r>
          </a:p>
          <a:p>
            <a:pPr algn="l"/>
            <a:r>
              <a:rPr lang="en-US" sz="1800" b="1" i="0" u="none" strike="noStrike" baseline="0" dirty="0">
                <a:latin typeface="Tahoma-Bold"/>
              </a:rPr>
              <a:t>It is very difficult to accurately estimate LOC of the final program </a:t>
            </a:r>
            <a:r>
              <a:rPr lang="en-IN" sz="1800" b="1" i="0" u="none" strike="noStrike" baseline="0" dirty="0">
                <a:latin typeface="Tahoma-Bold"/>
              </a:rPr>
              <a:t>from problem specification</a:t>
            </a:r>
            <a:endParaRPr lang="en-IN" dirty="0"/>
          </a:p>
        </p:txBody>
      </p:sp>
    </p:spTree>
    <p:extLst>
      <p:ext uri="{BB962C8B-B14F-4D97-AF65-F5344CB8AC3E}">
        <p14:creationId xmlns:p14="http://schemas.microsoft.com/office/powerpoint/2010/main" val="29305080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81608-1B3A-C925-ABC8-D1940014FC2E}"/>
              </a:ext>
            </a:extLst>
          </p:cNvPr>
          <p:cNvSpPr>
            <a:spLocks noGrp="1"/>
          </p:cNvSpPr>
          <p:nvPr>
            <p:ph type="title"/>
          </p:nvPr>
        </p:nvSpPr>
        <p:spPr>
          <a:xfrm>
            <a:off x="838200" y="365126"/>
            <a:ext cx="10515600" cy="669018"/>
          </a:xfrm>
        </p:spPr>
        <p:txBody>
          <a:bodyPr>
            <a:normAutofit fontScale="90000"/>
          </a:bodyPr>
          <a:lstStyle/>
          <a:p>
            <a:r>
              <a:rPr lang="en-IN" b="1" dirty="0"/>
              <a:t>Function Point (FP) Metric</a:t>
            </a:r>
          </a:p>
        </p:txBody>
      </p:sp>
      <p:sp>
        <p:nvSpPr>
          <p:cNvPr id="3" name="Content Placeholder 2">
            <a:extLst>
              <a:ext uri="{FF2B5EF4-FFF2-40B4-BE49-F238E27FC236}">
                <a16:creationId xmlns:a16="http://schemas.microsoft.com/office/drawing/2014/main" id="{924A8FAE-2E76-C5B9-8157-0D91933A91CE}"/>
              </a:ext>
            </a:extLst>
          </p:cNvPr>
          <p:cNvSpPr>
            <a:spLocks noGrp="1"/>
          </p:cNvSpPr>
          <p:nvPr>
            <p:ph idx="1"/>
          </p:nvPr>
        </p:nvSpPr>
        <p:spPr>
          <a:xfrm>
            <a:off x="838200" y="1284514"/>
            <a:ext cx="10515600" cy="4892449"/>
          </a:xfrm>
        </p:spPr>
        <p:txBody>
          <a:bodyPr/>
          <a:lstStyle/>
          <a:p>
            <a:pPr algn="l"/>
            <a:r>
              <a:rPr lang="en-IN" sz="1800" b="0" i="0" u="none" strike="noStrike" baseline="0" dirty="0">
                <a:latin typeface="Tahoma" panose="020B0604030504040204" pitchFamily="34" charset="0"/>
              </a:rPr>
              <a:t>This metric </a:t>
            </a:r>
            <a:r>
              <a:rPr lang="en-US" sz="1800" b="0" i="0" u="none" strike="noStrike" baseline="0" dirty="0">
                <a:latin typeface="Tahoma" panose="020B0604030504040204" pitchFamily="34" charset="0"/>
              </a:rPr>
              <a:t>overcomes many of the shortcomings of the LOC metric.</a:t>
            </a:r>
          </a:p>
          <a:p>
            <a:pPr algn="l"/>
            <a:r>
              <a:rPr lang="en-US" sz="1800" b="0" i="0" u="none" strike="noStrike" baseline="0" dirty="0">
                <a:latin typeface="Tahoma" panose="020B0604030504040204" pitchFamily="34" charset="0"/>
              </a:rPr>
              <a:t>One of the important advantages of the function point metric over the LOC metric is that it can easily be computed from the problem </a:t>
            </a:r>
            <a:r>
              <a:rPr lang="en-IN" sz="1800" b="0" i="0" u="none" strike="noStrike" baseline="0" dirty="0">
                <a:latin typeface="Tahoma" panose="020B0604030504040204" pitchFamily="34" charset="0"/>
              </a:rPr>
              <a:t>specification itself:</a:t>
            </a:r>
          </a:p>
          <a:p>
            <a:pPr algn="l"/>
            <a:r>
              <a:rPr lang="en-IN" sz="1800" dirty="0">
                <a:latin typeface="Tahoma" panose="020B0604030504040204" pitchFamily="34" charset="0"/>
              </a:rPr>
              <a:t>The idea is: </a:t>
            </a:r>
            <a:r>
              <a:rPr lang="en-IN" sz="1800" b="0" i="0" u="none" strike="noStrike" baseline="0" dirty="0">
                <a:latin typeface="Tahoma" panose="020B0604030504040204" pitchFamily="34" charset="0"/>
              </a:rPr>
              <a:t>The </a:t>
            </a:r>
            <a:r>
              <a:rPr lang="en-US" sz="1800" b="0" i="0" u="none" strike="noStrike" baseline="0" dirty="0">
                <a:latin typeface="Tahoma" panose="020B0604030504040204" pitchFamily="34" charset="0"/>
              </a:rPr>
              <a:t>size of a software product is directly dependent on the number of different high-level functions or features it supports. </a:t>
            </a:r>
            <a:r>
              <a:rPr lang="en-US" sz="1800" b="1" i="0" u="none" strike="noStrike" baseline="0" dirty="0">
                <a:latin typeface="Tahoma" panose="020B0604030504040204" pitchFamily="34" charset="0"/>
              </a:rPr>
              <a:t>Conceptually, the function point metric is based on the idea that a software product supporting many features would certainly be of larger size than a product with less </a:t>
            </a:r>
            <a:r>
              <a:rPr lang="en-IN" sz="1800" b="1" i="0" u="none" strike="noStrike" baseline="0" dirty="0">
                <a:latin typeface="Tahoma" panose="020B0604030504040204" pitchFamily="34" charset="0"/>
              </a:rPr>
              <a:t>number of features.</a:t>
            </a:r>
            <a:endParaRPr lang="en-US" sz="1800" b="1" i="0" u="none" strike="noStrike" baseline="0" dirty="0">
              <a:latin typeface="Tahoma" panose="020B0604030504040204" pitchFamily="34" charset="0"/>
            </a:endParaRPr>
          </a:p>
          <a:p>
            <a:pPr algn="l"/>
            <a:r>
              <a:rPr lang="en-US" sz="1800" b="1" i="0" u="none" strike="noStrike" baseline="0" dirty="0">
                <a:latin typeface="Tahoma" panose="020B0604030504040204" pitchFamily="34" charset="0"/>
              </a:rPr>
              <a:t>For example</a:t>
            </a:r>
            <a:r>
              <a:rPr lang="en-US" sz="1800" b="0" i="0" u="none" strike="noStrike" baseline="0" dirty="0">
                <a:solidFill>
                  <a:srgbClr val="FF0000"/>
                </a:solidFill>
                <a:latin typeface="Tahoma" panose="020B0604030504040204" pitchFamily="34" charset="0"/>
              </a:rPr>
              <a:t>, in a banking software, a function to display a help message may be much easier to develop compared to say the function that carries out the actual banking </a:t>
            </a:r>
            <a:r>
              <a:rPr lang="en-IN" sz="1800" b="0" i="0" u="none" strike="noStrike" baseline="0" dirty="0">
                <a:solidFill>
                  <a:srgbClr val="FF0000"/>
                </a:solidFill>
                <a:latin typeface="Tahoma" panose="020B0604030504040204" pitchFamily="34" charset="0"/>
              </a:rPr>
              <a:t>transactions</a:t>
            </a:r>
          </a:p>
          <a:p>
            <a:pPr algn="l"/>
            <a:r>
              <a:rPr lang="en-US" sz="1800" b="0" i="0" u="none" strike="noStrike" baseline="0" dirty="0">
                <a:latin typeface="Tahoma" panose="020B0604030504040204" pitchFamily="34" charset="0"/>
              </a:rPr>
              <a:t>This has been considered by the function point metric by counting the number of input and output data items and the number of files </a:t>
            </a:r>
            <a:r>
              <a:rPr lang="en-IN" sz="1800" b="0" i="0" u="none" strike="noStrike" baseline="0" dirty="0">
                <a:latin typeface="Tahoma" panose="020B0604030504040204" pitchFamily="34" charset="0"/>
              </a:rPr>
              <a:t>accessed by the function. </a:t>
            </a:r>
            <a:r>
              <a:rPr lang="en-US" sz="1800" b="0" i="0" u="none" strike="noStrike" baseline="0" dirty="0">
                <a:latin typeface="Tahoma" panose="020B0604030504040204" pitchFamily="34" charset="0"/>
              </a:rPr>
              <a:t>Each feature when invoked typically reads some input data and then transforms those to the required output data</a:t>
            </a:r>
          </a:p>
          <a:p>
            <a:pPr algn="l"/>
            <a:r>
              <a:rPr lang="en-US" sz="1800" b="0" i="0" u="none" strike="noStrike" baseline="0" dirty="0">
                <a:latin typeface="Tahoma" panose="020B0604030504040204" pitchFamily="34" charset="0"/>
              </a:rPr>
              <a:t>the computation of the number of input and output data items</a:t>
            </a:r>
            <a:r>
              <a:rPr lang="en-US" sz="1800" dirty="0">
                <a:latin typeface="Tahoma" panose="020B0604030504040204" pitchFamily="34" charset="0"/>
              </a:rPr>
              <a:t> </a:t>
            </a:r>
            <a:r>
              <a:rPr lang="en-US" sz="1800" b="0" i="0" u="none" strike="noStrike" baseline="0" dirty="0">
                <a:latin typeface="Tahoma" panose="020B0604030504040204" pitchFamily="34" charset="0"/>
              </a:rPr>
              <a:t>would give a more accurate indication of the code size compared to simply counting the number of high-level functions supported by the system.</a:t>
            </a:r>
            <a:endParaRPr lang="en-IN" dirty="0"/>
          </a:p>
        </p:txBody>
      </p:sp>
    </p:spTree>
    <p:extLst>
      <p:ext uri="{BB962C8B-B14F-4D97-AF65-F5344CB8AC3E}">
        <p14:creationId xmlns:p14="http://schemas.microsoft.com/office/powerpoint/2010/main" val="307010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E53C2-C5FD-0896-2D48-5D1DFB33D059}"/>
              </a:ext>
            </a:extLst>
          </p:cNvPr>
          <p:cNvSpPr>
            <a:spLocks noGrp="1"/>
          </p:cNvSpPr>
          <p:nvPr>
            <p:ph type="title"/>
          </p:nvPr>
        </p:nvSpPr>
        <p:spPr>
          <a:xfrm>
            <a:off x="838200" y="365126"/>
            <a:ext cx="10515600" cy="756104"/>
          </a:xfrm>
        </p:spPr>
        <p:txBody>
          <a:bodyPr/>
          <a:lstStyle/>
          <a:p>
            <a:r>
              <a:rPr lang="en-IN" b="1" dirty="0"/>
              <a:t>Function Point (FP) Metric</a:t>
            </a:r>
            <a:endParaRPr lang="en-IN" dirty="0"/>
          </a:p>
        </p:txBody>
      </p:sp>
      <p:sp>
        <p:nvSpPr>
          <p:cNvPr id="3" name="Content Placeholder 2">
            <a:extLst>
              <a:ext uri="{FF2B5EF4-FFF2-40B4-BE49-F238E27FC236}">
                <a16:creationId xmlns:a16="http://schemas.microsoft.com/office/drawing/2014/main" id="{E6A08E2E-BC9E-F235-ECAA-512297BB59D0}"/>
              </a:ext>
            </a:extLst>
          </p:cNvPr>
          <p:cNvSpPr>
            <a:spLocks noGrp="1"/>
          </p:cNvSpPr>
          <p:nvPr>
            <p:ph idx="1"/>
          </p:nvPr>
        </p:nvSpPr>
        <p:spPr>
          <a:xfrm>
            <a:off x="838200" y="1219200"/>
            <a:ext cx="10515600" cy="4957763"/>
          </a:xfrm>
        </p:spPr>
        <p:txBody>
          <a:bodyPr/>
          <a:lstStyle/>
          <a:p>
            <a:r>
              <a:rPr lang="en-US" dirty="0"/>
              <a:t>Function Points (FP) is indirect approach method where instead of focusing on the function it focuses on the domain characteristics.</a:t>
            </a:r>
          </a:p>
          <a:p>
            <a:r>
              <a:rPr lang="en-US" dirty="0"/>
              <a:t>Focus on program "functionality" or "utility“.</a:t>
            </a:r>
          </a:p>
          <a:p>
            <a:r>
              <a:rPr lang="en-US" dirty="0"/>
              <a:t>Five information domain characteristics are determined and counts for each are provided and recorded in a table:</a:t>
            </a:r>
          </a:p>
          <a:p>
            <a:endParaRPr lang="en-IN" dirty="0"/>
          </a:p>
        </p:txBody>
      </p:sp>
      <p:graphicFrame>
        <p:nvGraphicFramePr>
          <p:cNvPr id="4" name="Table 3">
            <a:extLst>
              <a:ext uri="{FF2B5EF4-FFF2-40B4-BE49-F238E27FC236}">
                <a16:creationId xmlns:a16="http://schemas.microsoft.com/office/drawing/2014/main" id="{3675F58C-6B21-C51E-2879-A8F563FE7DBB}"/>
              </a:ext>
            </a:extLst>
          </p:cNvPr>
          <p:cNvGraphicFramePr>
            <a:graphicFrameLocks noGrp="1"/>
          </p:cNvGraphicFramePr>
          <p:nvPr>
            <p:extLst>
              <p:ext uri="{D42A27DB-BD31-4B8C-83A1-F6EECF244321}">
                <p14:modId xmlns:p14="http://schemas.microsoft.com/office/powerpoint/2010/main" val="2752091919"/>
              </p:ext>
            </p:extLst>
          </p:nvPr>
        </p:nvGraphicFramePr>
        <p:xfrm>
          <a:off x="1651000" y="3660661"/>
          <a:ext cx="8128000" cy="249428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066593122"/>
                    </a:ext>
                  </a:extLst>
                </a:gridCol>
                <a:gridCol w="4064000">
                  <a:extLst>
                    <a:ext uri="{9D8B030D-6E8A-4147-A177-3AD203B41FA5}">
                      <a16:colId xmlns:a16="http://schemas.microsoft.com/office/drawing/2014/main" val="2722994804"/>
                    </a:ext>
                  </a:extLst>
                </a:gridCol>
              </a:tblGrid>
              <a:tr h="370840">
                <a:tc>
                  <a:txBody>
                    <a:bodyPr/>
                    <a:lstStyle/>
                    <a:p>
                      <a:r>
                        <a:rPr lang="en-IN" sz="1800" b="1" i="0" u="none" strike="noStrike" kern="1200" baseline="0" dirty="0">
                          <a:solidFill>
                            <a:schemeClr val="lt1"/>
                          </a:solidFill>
                          <a:latin typeface="+mn-lt"/>
                          <a:ea typeface="+mn-ea"/>
                          <a:cs typeface="+mn-cs"/>
                        </a:rPr>
                        <a:t>Measurements Parameters </a:t>
                      </a:r>
                      <a:r>
                        <a:rPr lang="en-IN" sz="1800" b="0" i="0" u="none" strike="noStrike" kern="1200" baseline="0" dirty="0">
                          <a:solidFill>
                            <a:schemeClr val="lt1"/>
                          </a:solidFill>
                          <a:latin typeface="+mn-lt"/>
                          <a:ea typeface="+mn-ea"/>
                          <a:cs typeface="+mn-cs"/>
                        </a:rPr>
                        <a:t>		</a:t>
                      </a:r>
                    </a:p>
                    <a:p>
                      <a:endParaRPr lang="en-IN" dirty="0"/>
                    </a:p>
                  </a:txBody>
                  <a:tcPr/>
                </a:tc>
                <a:tc>
                  <a:txBody>
                    <a:bodyPr/>
                    <a:lstStyle/>
                    <a:p>
                      <a:r>
                        <a:rPr lang="en-IN" sz="1800" b="1" i="0" u="none" strike="noStrike" kern="1200" baseline="0" dirty="0">
                          <a:solidFill>
                            <a:schemeClr val="lt1"/>
                          </a:solidFill>
                          <a:latin typeface="+mn-lt"/>
                          <a:ea typeface="+mn-ea"/>
                          <a:cs typeface="+mn-cs"/>
                        </a:rPr>
                        <a:t>Examples </a:t>
                      </a:r>
                      <a:endParaRPr lang="en-IN" dirty="0"/>
                    </a:p>
                  </a:txBody>
                  <a:tcPr/>
                </a:tc>
                <a:extLst>
                  <a:ext uri="{0D108BD9-81ED-4DB2-BD59-A6C34878D82A}">
                    <a16:rowId xmlns:a16="http://schemas.microsoft.com/office/drawing/2014/main" val="1332686873"/>
                  </a:ext>
                </a:extLst>
              </a:tr>
              <a:tr h="370840">
                <a:tc>
                  <a:txBody>
                    <a:bodyPr/>
                    <a:lstStyle/>
                    <a:p>
                      <a:r>
                        <a:rPr lang="en-US" sz="1800" b="0" i="0" u="none" strike="noStrike" kern="1200" baseline="0" dirty="0">
                          <a:solidFill>
                            <a:schemeClr val="dk1"/>
                          </a:solidFill>
                          <a:latin typeface="+mn-lt"/>
                          <a:ea typeface="+mn-ea"/>
                          <a:cs typeface="+mn-cs"/>
                        </a:rPr>
                        <a:t>Number of External Inputs(EI) 	</a:t>
                      </a:r>
                    </a:p>
                  </a:txBody>
                  <a:tcPr/>
                </a:tc>
                <a:tc>
                  <a:txBody>
                    <a:bodyPr/>
                    <a:lstStyle/>
                    <a:p>
                      <a:r>
                        <a:rPr lang="en-IN" sz="1800" b="0" i="0" u="none" strike="noStrike" kern="1200" baseline="0" dirty="0">
                          <a:solidFill>
                            <a:schemeClr val="dk1"/>
                          </a:solidFill>
                          <a:latin typeface="+mn-lt"/>
                          <a:ea typeface="+mn-ea"/>
                          <a:cs typeface="+mn-cs"/>
                        </a:rPr>
                        <a:t>Input screen and tables 	</a:t>
                      </a:r>
                    </a:p>
                  </a:txBody>
                  <a:tcPr/>
                </a:tc>
                <a:extLst>
                  <a:ext uri="{0D108BD9-81ED-4DB2-BD59-A6C34878D82A}">
                    <a16:rowId xmlns:a16="http://schemas.microsoft.com/office/drawing/2014/main" val="3641411560"/>
                  </a:ext>
                </a:extLst>
              </a:tr>
              <a:tr h="370840">
                <a:tc>
                  <a:txBody>
                    <a:bodyPr/>
                    <a:lstStyle/>
                    <a:p>
                      <a:r>
                        <a:rPr lang="en-US" sz="1800" b="0" i="0" u="none" strike="noStrike" kern="1200" baseline="0" dirty="0">
                          <a:solidFill>
                            <a:schemeClr val="dk1"/>
                          </a:solidFill>
                          <a:latin typeface="+mn-lt"/>
                          <a:ea typeface="+mn-ea"/>
                          <a:cs typeface="+mn-cs"/>
                        </a:rPr>
                        <a:t>Number of External Output (EO) 	</a:t>
                      </a:r>
                    </a:p>
                  </a:txBody>
                  <a:tcPr/>
                </a:tc>
                <a:tc>
                  <a:txBody>
                    <a:bodyPr/>
                    <a:lstStyle/>
                    <a:p>
                      <a:r>
                        <a:rPr lang="en-IN" sz="1800" b="0" i="0" u="none" strike="noStrike" kern="1200" baseline="0" dirty="0">
                          <a:solidFill>
                            <a:schemeClr val="dk1"/>
                          </a:solidFill>
                          <a:latin typeface="+mn-lt"/>
                          <a:ea typeface="+mn-ea"/>
                          <a:cs typeface="+mn-cs"/>
                        </a:rPr>
                        <a:t>Output screens and reports 	</a:t>
                      </a:r>
                    </a:p>
                  </a:txBody>
                  <a:tcPr/>
                </a:tc>
                <a:extLst>
                  <a:ext uri="{0D108BD9-81ED-4DB2-BD59-A6C34878D82A}">
                    <a16:rowId xmlns:a16="http://schemas.microsoft.com/office/drawing/2014/main" val="2371420492"/>
                  </a:ext>
                </a:extLst>
              </a:tr>
              <a:tr h="370840">
                <a:tc>
                  <a:txBody>
                    <a:bodyPr/>
                    <a:lstStyle/>
                    <a:p>
                      <a:r>
                        <a:rPr lang="en-US" sz="1800" b="0" i="0" u="none" strike="noStrike" kern="1200" baseline="0" dirty="0">
                          <a:solidFill>
                            <a:schemeClr val="dk1"/>
                          </a:solidFill>
                          <a:latin typeface="+mn-lt"/>
                          <a:ea typeface="+mn-ea"/>
                          <a:cs typeface="+mn-cs"/>
                        </a:rPr>
                        <a:t>Number of external inquiries (EQ) 	</a:t>
                      </a:r>
                    </a:p>
                  </a:txBody>
                  <a:tcPr/>
                </a:tc>
                <a:tc>
                  <a:txBody>
                    <a:bodyPr/>
                    <a:lstStyle/>
                    <a:p>
                      <a:r>
                        <a:rPr lang="en-IN" sz="1800" b="0" i="0" u="none" strike="noStrike" kern="1200" baseline="0" dirty="0">
                          <a:solidFill>
                            <a:schemeClr val="dk1"/>
                          </a:solidFill>
                          <a:latin typeface="+mn-lt"/>
                          <a:ea typeface="+mn-ea"/>
                          <a:cs typeface="+mn-cs"/>
                        </a:rPr>
                        <a:t>Prompts and interrupts. 	</a:t>
                      </a:r>
                    </a:p>
                  </a:txBody>
                  <a:tcPr/>
                </a:tc>
                <a:extLst>
                  <a:ext uri="{0D108BD9-81ED-4DB2-BD59-A6C34878D82A}">
                    <a16:rowId xmlns:a16="http://schemas.microsoft.com/office/drawing/2014/main" val="1287492575"/>
                  </a:ext>
                </a:extLst>
              </a:tr>
              <a:tr h="370840">
                <a:tc>
                  <a:txBody>
                    <a:bodyPr/>
                    <a:lstStyle/>
                    <a:p>
                      <a:r>
                        <a:rPr lang="en-US" sz="1800" b="0" i="0" u="none" strike="noStrike" kern="1200" baseline="0" dirty="0">
                          <a:solidFill>
                            <a:schemeClr val="dk1"/>
                          </a:solidFill>
                          <a:latin typeface="+mn-lt"/>
                          <a:ea typeface="+mn-ea"/>
                          <a:cs typeface="+mn-cs"/>
                        </a:rPr>
                        <a:t>Number of internal files (ILF) 	</a:t>
                      </a:r>
                    </a:p>
                  </a:txBody>
                  <a:tcPr/>
                </a:tc>
                <a:tc>
                  <a:txBody>
                    <a:bodyPr/>
                    <a:lstStyle/>
                    <a:p>
                      <a:r>
                        <a:rPr lang="en-IN" sz="1800" b="0" i="0" u="none" strike="noStrike" kern="1200" baseline="0" dirty="0">
                          <a:solidFill>
                            <a:schemeClr val="dk1"/>
                          </a:solidFill>
                          <a:latin typeface="+mn-lt"/>
                          <a:ea typeface="+mn-ea"/>
                          <a:cs typeface="+mn-cs"/>
                        </a:rPr>
                        <a:t>Databases and directories 	</a:t>
                      </a:r>
                    </a:p>
                  </a:txBody>
                  <a:tcPr/>
                </a:tc>
                <a:extLst>
                  <a:ext uri="{0D108BD9-81ED-4DB2-BD59-A6C34878D82A}">
                    <a16:rowId xmlns:a16="http://schemas.microsoft.com/office/drawing/2014/main" val="2874668953"/>
                  </a:ext>
                </a:extLst>
              </a:tr>
              <a:tr h="370840">
                <a:tc>
                  <a:txBody>
                    <a:bodyPr/>
                    <a:lstStyle/>
                    <a:p>
                      <a:r>
                        <a:rPr lang="en-US" sz="1800" b="0" i="0" u="none" strike="noStrike" kern="1200" baseline="0" dirty="0">
                          <a:solidFill>
                            <a:schemeClr val="dk1"/>
                          </a:solidFill>
                          <a:latin typeface="+mn-lt"/>
                          <a:ea typeface="+mn-ea"/>
                          <a:cs typeface="+mn-cs"/>
                        </a:rPr>
                        <a:t>Number of external interfaces (EIF) 	</a:t>
                      </a:r>
                    </a:p>
                  </a:txBody>
                  <a:tcPr/>
                </a:tc>
                <a:tc>
                  <a:txBody>
                    <a:bodyPr/>
                    <a:lstStyle/>
                    <a:p>
                      <a:r>
                        <a:rPr lang="en-US" sz="1800" b="0" i="0" u="none" strike="noStrike" kern="1200" baseline="0" dirty="0">
                          <a:solidFill>
                            <a:schemeClr val="dk1"/>
                          </a:solidFill>
                          <a:latin typeface="+mn-lt"/>
                          <a:ea typeface="+mn-ea"/>
                          <a:cs typeface="+mn-cs"/>
                        </a:rPr>
                        <a:t>Shared databases and shared routines. 	</a:t>
                      </a:r>
                    </a:p>
                  </a:txBody>
                  <a:tcPr/>
                </a:tc>
                <a:extLst>
                  <a:ext uri="{0D108BD9-81ED-4DB2-BD59-A6C34878D82A}">
                    <a16:rowId xmlns:a16="http://schemas.microsoft.com/office/drawing/2014/main" val="2441970604"/>
                  </a:ext>
                </a:extLst>
              </a:tr>
            </a:tbl>
          </a:graphicData>
        </a:graphic>
      </p:graphicFrame>
    </p:spTree>
    <p:extLst>
      <p:ext uri="{BB962C8B-B14F-4D97-AF65-F5344CB8AC3E}">
        <p14:creationId xmlns:p14="http://schemas.microsoft.com/office/powerpoint/2010/main" val="28439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67338AC-FEFD-F1E5-7BA0-7B77D7B1CC3E}"/>
              </a:ext>
            </a:extLst>
          </p:cNvPr>
          <p:cNvPicPr>
            <a:picLocks noGrp="1" noChangeAspect="1"/>
          </p:cNvPicPr>
          <p:nvPr>
            <p:ph idx="1"/>
          </p:nvPr>
        </p:nvPicPr>
        <p:blipFill>
          <a:blip r:embed="rId2"/>
          <a:stretch>
            <a:fillRect/>
          </a:stretch>
        </p:blipFill>
        <p:spPr>
          <a:xfrm>
            <a:off x="413657" y="370114"/>
            <a:ext cx="10279481" cy="5806849"/>
          </a:xfrm>
        </p:spPr>
      </p:pic>
    </p:spTree>
    <p:extLst>
      <p:ext uri="{BB962C8B-B14F-4D97-AF65-F5344CB8AC3E}">
        <p14:creationId xmlns:p14="http://schemas.microsoft.com/office/powerpoint/2010/main" val="5958057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D5F8F68-0A84-BF32-722C-F3F57ACCCC27}"/>
              </a:ext>
            </a:extLst>
          </p:cNvPr>
          <p:cNvPicPr>
            <a:picLocks noGrp="1" noChangeAspect="1"/>
          </p:cNvPicPr>
          <p:nvPr>
            <p:ph idx="1"/>
          </p:nvPr>
        </p:nvPicPr>
        <p:blipFill>
          <a:blip r:embed="rId2"/>
          <a:stretch>
            <a:fillRect/>
          </a:stretch>
        </p:blipFill>
        <p:spPr>
          <a:xfrm>
            <a:off x="1110343" y="0"/>
            <a:ext cx="8947751" cy="6176963"/>
          </a:xfrm>
        </p:spPr>
      </p:pic>
    </p:spTree>
    <p:extLst>
      <p:ext uri="{BB962C8B-B14F-4D97-AF65-F5344CB8AC3E}">
        <p14:creationId xmlns:p14="http://schemas.microsoft.com/office/powerpoint/2010/main" val="39205383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5815B-33D7-776F-D1ED-C6EDE7FD6EF6}"/>
              </a:ext>
            </a:extLst>
          </p:cNvPr>
          <p:cNvSpPr>
            <a:spLocks noGrp="1"/>
          </p:cNvSpPr>
          <p:nvPr>
            <p:ph type="title"/>
          </p:nvPr>
        </p:nvSpPr>
        <p:spPr>
          <a:xfrm>
            <a:off x="838200" y="119743"/>
            <a:ext cx="10515600" cy="718457"/>
          </a:xfrm>
        </p:spPr>
        <p:txBody>
          <a:bodyPr>
            <a:normAutofit/>
          </a:bodyPr>
          <a:lstStyle/>
          <a:p>
            <a:r>
              <a:rPr lang="en-IN" b="1" dirty="0"/>
              <a:t>Function point (FP) metric computation</a:t>
            </a:r>
          </a:p>
        </p:txBody>
      </p:sp>
      <p:sp>
        <p:nvSpPr>
          <p:cNvPr id="7" name="Content Placeholder 6">
            <a:extLst>
              <a:ext uri="{FF2B5EF4-FFF2-40B4-BE49-F238E27FC236}">
                <a16:creationId xmlns:a16="http://schemas.microsoft.com/office/drawing/2014/main" id="{3C8AE849-9742-392B-024E-339D22DAEF6A}"/>
              </a:ext>
            </a:extLst>
          </p:cNvPr>
          <p:cNvSpPr>
            <a:spLocks noGrp="1"/>
          </p:cNvSpPr>
          <p:nvPr>
            <p:ph idx="1"/>
          </p:nvPr>
        </p:nvSpPr>
        <p:spPr>
          <a:xfrm>
            <a:off x="838200" y="1001486"/>
            <a:ext cx="10515600" cy="5175477"/>
          </a:xfrm>
        </p:spPr>
        <p:txBody>
          <a:bodyPr/>
          <a:lstStyle/>
          <a:p>
            <a:r>
              <a:rPr lang="en-US" dirty="0"/>
              <a:t>Depending upon these complexity values is calculated.</a:t>
            </a:r>
          </a:p>
          <a:p>
            <a:r>
              <a:rPr lang="en-US" dirty="0"/>
              <a:t>To compute function points, we use:</a:t>
            </a:r>
          </a:p>
          <a:p>
            <a:endParaRPr lang="en-US" dirty="0"/>
          </a:p>
          <a:p>
            <a:endParaRPr lang="en-IN" dirty="0"/>
          </a:p>
          <a:p>
            <a:pPr marL="0" indent="0">
              <a:buNone/>
            </a:pPr>
            <a:r>
              <a:rPr lang="en-IN" dirty="0"/>
              <a:t>	</a:t>
            </a:r>
            <a:r>
              <a:rPr lang="en-US" b="1" dirty="0">
                <a:solidFill>
                  <a:srgbClr val="FF0000"/>
                </a:solidFill>
              </a:rPr>
              <a:t>FP = UFP * [ 0.65 + 0.01 * SUM(</a:t>
            </a:r>
            <a:r>
              <a:rPr lang="en-IN" b="1" i="0" u="none" strike="noStrike" baseline="0" dirty="0">
                <a:solidFill>
                  <a:srgbClr val="FF0000"/>
                </a:solidFill>
                <a:latin typeface="Tahoma" panose="020B0604030504040204" pitchFamily="34" charset="0"/>
              </a:rPr>
              <a:t>degree of influence</a:t>
            </a:r>
            <a:r>
              <a:rPr lang="en-US" b="1" dirty="0">
                <a:solidFill>
                  <a:srgbClr val="FF0000"/>
                </a:solidFill>
              </a:rPr>
              <a:t>) ]</a:t>
            </a:r>
          </a:p>
        </p:txBody>
      </p:sp>
    </p:spTree>
    <p:extLst>
      <p:ext uri="{BB962C8B-B14F-4D97-AF65-F5344CB8AC3E}">
        <p14:creationId xmlns:p14="http://schemas.microsoft.com/office/powerpoint/2010/main" val="32688174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2FDFF-6082-7F4B-5560-9E13628F968D}"/>
              </a:ext>
            </a:extLst>
          </p:cNvPr>
          <p:cNvSpPr>
            <a:spLocks noGrp="1"/>
          </p:cNvSpPr>
          <p:nvPr>
            <p:ph type="title"/>
          </p:nvPr>
        </p:nvSpPr>
        <p:spPr>
          <a:xfrm>
            <a:off x="838200" y="76200"/>
            <a:ext cx="10515600" cy="947058"/>
          </a:xfrm>
        </p:spPr>
        <p:txBody>
          <a:bodyPr>
            <a:normAutofit/>
          </a:bodyPr>
          <a:lstStyle/>
          <a:p>
            <a:r>
              <a:rPr lang="en-IN" b="1" dirty="0"/>
              <a:t>Step 1: UFP computation</a:t>
            </a:r>
          </a:p>
        </p:txBody>
      </p:sp>
      <p:sp>
        <p:nvSpPr>
          <p:cNvPr id="3" name="Content Placeholder 2">
            <a:extLst>
              <a:ext uri="{FF2B5EF4-FFF2-40B4-BE49-F238E27FC236}">
                <a16:creationId xmlns:a16="http://schemas.microsoft.com/office/drawing/2014/main" id="{84DD2DC9-3333-9579-52AA-70E5867B7A12}"/>
              </a:ext>
            </a:extLst>
          </p:cNvPr>
          <p:cNvSpPr>
            <a:spLocks noGrp="1"/>
          </p:cNvSpPr>
          <p:nvPr>
            <p:ph idx="1"/>
          </p:nvPr>
        </p:nvSpPr>
        <p:spPr>
          <a:xfrm>
            <a:off x="838200" y="805543"/>
            <a:ext cx="10515600" cy="5371419"/>
          </a:xfrm>
        </p:spPr>
        <p:txBody>
          <a:bodyPr/>
          <a:lstStyle/>
          <a:p>
            <a:pPr marL="0" indent="0">
              <a:buNone/>
            </a:pPr>
            <a:r>
              <a:rPr lang="en-US" dirty="0"/>
              <a:t>The unadjusted function points (UFP) is computed as the</a:t>
            </a:r>
            <a:r>
              <a:rPr lang="en-US" b="1" dirty="0">
                <a:solidFill>
                  <a:srgbClr val="FF0000"/>
                </a:solidFill>
              </a:rPr>
              <a:t> weighted sum of five characteristics </a:t>
            </a:r>
            <a:r>
              <a:rPr lang="en-US" dirty="0"/>
              <a:t>of a product as shown in the following expression. The weights associated with the five characteristics were determined empirically by Albrecht through data gathered from many projects.</a:t>
            </a:r>
          </a:p>
          <a:p>
            <a:pPr marL="0" indent="0">
              <a:buNone/>
            </a:pPr>
            <a:endParaRPr lang="en-IN" dirty="0"/>
          </a:p>
        </p:txBody>
      </p:sp>
      <p:graphicFrame>
        <p:nvGraphicFramePr>
          <p:cNvPr id="6" name="Table 5">
            <a:extLst>
              <a:ext uri="{FF2B5EF4-FFF2-40B4-BE49-F238E27FC236}">
                <a16:creationId xmlns:a16="http://schemas.microsoft.com/office/drawing/2014/main" id="{1375C207-FF3D-3932-7D3D-1A9C4B731018}"/>
              </a:ext>
            </a:extLst>
          </p:cNvPr>
          <p:cNvGraphicFramePr>
            <a:graphicFrameLocks noGrp="1"/>
          </p:cNvGraphicFramePr>
          <p:nvPr>
            <p:extLst>
              <p:ext uri="{D42A27DB-BD31-4B8C-83A1-F6EECF244321}">
                <p14:modId xmlns:p14="http://schemas.microsoft.com/office/powerpoint/2010/main" val="3083440023"/>
              </p:ext>
            </p:extLst>
          </p:nvPr>
        </p:nvGraphicFramePr>
        <p:xfrm>
          <a:off x="2478314" y="2841172"/>
          <a:ext cx="8128000" cy="3571240"/>
        </p:xfrm>
        <a:graphic>
          <a:graphicData uri="http://schemas.openxmlformats.org/drawingml/2006/table">
            <a:tbl>
              <a:tblPr firstRow="1" bandRow="1">
                <a:tableStyleId>{5C22544A-7EE6-4342-B048-85BDC9FD1C3A}</a:tableStyleId>
              </a:tblPr>
              <a:tblGrid>
                <a:gridCol w="2779486">
                  <a:extLst>
                    <a:ext uri="{9D8B030D-6E8A-4147-A177-3AD203B41FA5}">
                      <a16:colId xmlns:a16="http://schemas.microsoft.com/office/drawing/2014/main" val="1930092367"/>
                    </a:ext>
                  </a:extLst>
                </a:gridCol>
                <a:gridCol w="1284514">
                  <a:extLst>
                    <a:ext uri="{9D8B030D-6E8A-4147-A177-3AD203B41FA5}">
                      <a16:colId xmlns:a16="http://schemas.microsoft.com/office/drawing/2014/main" val="2729005631"/>
                    </a:ext>
                  </a:extLst>
                </a:gridCol>
                <a:gridCol w="2032000">
                  <a:extLst>
                    <a:ext uri="{9D8B030D-6E8A-4147-A177-3AD203B41FA5}">
                      <a16:colId xmlns:a16="http://schemas.microsoft.com/office/drawing/2014/main" val="3925723965"/>
                    </a:ext>
                  </a:extLst>
                </a:gridCol>
                <a:gridCol w="2032000">
                  <a:extLst>
                    <a:ext uri="{9D8B030D-6E8A-4147-A177-3AD203B41FA5}">
                      <a16:colId xmlns:a16="http://schemas.microsoft.com/office/drawing/2014/main" val="3096516694"/>
                    </a:ext>
                  </a:extLst>
                </a:gridCol>
              </a:tblGrid>
              <a:tr h="370840">
                <a:tc>
                  <a:txBody>
                    <a:bodyPr/>
                    <a:lstStyle/>
                    <a:p>
                      <a:r>
                        <a:rPr lang="en-IN" dirty="0"/>
                        <a:t>Measurement Parameter</a:t>
                      </a:r>
                    </a:p>
                  </a:txBody>
                  <a:tcPr anchor="ctr"/>
                </a:tc>
                <a:tc>
                  <a:txBody>
                    <a:bodyPr/>
                    <a:lstStyle/>
                    <a:p>
                      <a:r>
                        <a:rPr lang="en-IN"/>
                        <a:t>Low</a:t>
                      </a:r>
                    </a:p>
                  </a:txBody>
                  <a:tcPr anchor="ctr"/>
                </a:tc>
                <a:tc>
                  <a:txBody>
                    <a:bodyPr/>
                    <a:lstStyle/>
                    <a:p>
                      <a:r>
                        <a:rPr lang="en-IN"/>
                        <a:t>Average</a:t>
                      </a:r>
                    </a:p>
                  </a:txBody>
                  <a:tcPr anchor="ctr"/>
                </a:tc>
                <a:tc>
                  <a:txBody>
                    <a:bodyPr/>
                    <a:lstStyle/>
                    <a:p>
                      <a:r>
                        <a:rPr lang="en-IN"/>
                        <a:t>High</a:t>
                      </a:r>
                    </a:p>
                  </a:txBody>
                  <a:tcPr anchor="ctr"/>
                </a:tc>
                <a:extLst>
                  <a:ext uri="{0D108BD9-81ED-4DB2-BD59-A6C34878D82A}">
                    <a16:rowId xmlns:a16="http://schemas.microsoft.com/office/drawing/2014/main" val="3157676421"/>
                  </a:ext>
                </a:extLst>
              </a:tr>
              <a:tr h="370840">
                <a:tc>
                  <a:txBody>
                    <a:bodyPr/>
                    <a:lstStyle/>
                    <a:p>
                      <a:r>
                        <a:rPr lang="en-US" dirty="0"/>
                        <a:t>1. Number of external inputs (EI)</a:t>
                      </a:r>
                    </a:p>
                  </a:txBody>
                  <a:tcPr anchor="ctr"/>
                </a:tc>
                <a:tc>
                  <a:txBody>
                    <a:bodyPr/>
                    <a:lstStyle/>
                    <a:p>
                      <a:r>
                        <a:rPr lang="en-IN"/>
                        <a:t>7</a:t>
                      </a:r>
                    </a:p>
                  </a:txBody>
                  <a:tcPr anchor="ctr"/>
                </a:tc>
                <a:tc>
                  <a:txBody>
                    <a:bodyPr/>
                    <a:lstStyle/>
                    <a:p>
                      <a:r>
                        <a:rPr lang="en-IN"/>
                        <a:t>10</a:t>
                      </a:r>
                    </a:p>
                  </a:txBody>
                  <a:tcPr anchor="ctr"/>
                </a:tc>
                <a:tc>
                  <a:txBody>
                    <a:bodyPr/>
                    <a:lstStyle/>
                    <a:p>
                      <a:r>
                        <a:rPr lang="en-IN"/>
                        <a:t>15</a:t>
                      </a:r>
                    </a:p>
                  </a:txBody>
                  <a:tcPr anchor="ctr"/>
                </a:tc>
                <a:extLst>
                  <a:ext uri="{0D108BD9-81ED-4DB2-BD59-A6C34878D82A}">
                    <a16:rowId xmlns:a16="http://schemas.microsoft.com/office/drawing/2014/main" val="3639125078"/>
                  </a:ext>
                </a:extLst>
              </a:tr>
              <a:tr h="370840">
                <a:tc>
                  <a:txBody>
                    <a:bodyPr/>
                    <a:lstStyle/>
                    <a:p>
                      <a:r>
                        <a:rPr lang="en-US"/>
                        <a:t>2. Number of external outputs (EO)</a:t>
                      </a:r>
                    </a:p>
                  </a:txBody>
                  <a:tcPr anchor="ctr"/>
                </a:tc>
                <a:tc>
                  <a:txBody>
                    <a:bodyPr/>
                    <a:lstStyle/>
                    <a:p>
                      <a:r>
                        <a:rPr lang="en-IN"/>
                        <a:t>5</a:t>
                      </a:r>
                    </a:p>
                  </a:txBody>
                  <a:tcPr anchor="ctr"/>
                </a:tc>
                <a:tc>
                  <a:txBody>
                    <a:bodyPr/>
                    <a:lstStyle/>
                    <a:p>
                      <a:r>
                        <a:rPr lang="en-IN"/>
                        <a:t>7</a:t>
                      </a:r>
                    </a:p>
                  </a:txBody>
                  <a:tcPr anchor="ctr"/>
                </a:tc>
                <a:tc>
                  <a:txBody>
                    <a:bodyPr/>
                    <a:lstStyle/>
                    <a:p>
                      <a:r>
                        <a:rPr lang="en-IN"/>
                        <a:t>10</a:t>
                      </a:r>
                    </a:p>
                  </a:txBody>
                  <a:tcPr anchor="ctr"/>
                </a:tc>
                <a:extLst>
                  <a:ext uri="{0D108BD9-81ED-4DB2-BD59-A6C34878D82A}">
                    <a16:rowId xmlns:a16="http://schemas.microsoft.com/office/drawing/2014/main" val="3554580460"/>
                  </a:ext>
                </a:extLst>
              </a:tr>
              <a:tr h="370840">
                <a:tc>
                  <a:txBody>
                    <a:bodyPr/>
                    <a:lstStyle/>
                    <a:p>
                      <a:r>
                        <a:rPr lang="en-US"/>
                        <a:t>3. Number of external inquiries (EQ)</a:t>
                      </a:r>
                    </a:p>
                  </a:txBody>
                  <a:tcPr anchor="ctr"/>
                </a:tc>
                <a:tc>
                  <a:txBody>
                    <a:bodyPr/>
                    <a:lstStyle/>
                    <a:p>
                      <a:r>
                        <a:rPr lang="en-IN"/>
                        <a:t>3</a:t>
                      </a:r>
                    </a:p>
                  </a:txBody>
                  <a:tcPr anchor="ctr"/>
                </a:tc>
                <a:tc>
                  <a:txBody>
                    <a:bodyPr/>
                    <a:lstStyle/>
                    <a:p>
                      <a:r>
                        <a:rPr lang="en-IN"/>
                        <a:t>4</a:t>
                      </a:r>
                    </a:p>
                  </a:txBody>
                  <a:tcPr anchor="ctr"/>
                </a:tc>
                <a:tc>
                  <a:txBody>
                    <a:bodyPr/>
                    <a:lstStyle/>
                    <a:p>
                      <a:r>
                        <a:rPr lang="en-IN"/>
                        <a:t>6</a:t>
                      </a:r>
                    </a:p>
                  </a:txBody>
                  <a:tcPr anchor="ctr"/>
                </a:tc>
                <a:extLst>
                  <a:ext uri="{0D108BD9-81ED-4DB2-BD59-A6C34878D82A}">
                    <a16:rowId xmlns:a16="http://schemas.microsoft.com/office/drawing/2014/main" val="3488632038"/>
                  </a:ext>
                </a:extLst>
              </a:tr>
              <a:tr h="370840">
                <a:tc>
                  <a:txBody>
                    <a:bodyPr/>
                    <a:lstStyle/>
                    <a:p>
                      <a:r>
                        <a:rPr lang="en-US"/>
                        <a:t>4. Number of internal files (ILF)</a:t>
                      </a:r>
                    </a:p>
                  </a:txBody>
                  <a:tcPr anchor="ctr"/>
                </a:tc>
                <a:tc>
                  <a:txBody>
                    <a:bodyPr/>
                    <a:lstStyle/>
                    <a:p>
                      <a:r>
                        <a:rPr lang="en-IN"/>
                        <a:t>4</a:t>
                      </a:r>
                    </a:p>
                  </a:txBody>
                  <a:tcPr anchor="ctr"/>
                </a:tc>
                <a:tc>
                  <a:txBody>
                    <a:bodyPr/>
                    <a:lstStyle/>
                    <a:p>
                      <a:r>
                        <a:rPr lang="en-IN"/>
                        <a:t>5</a:t>
                      </a:r>
                    </a:p>
                  </a:txBody>
                  <a:tcPr anchor="ctr"/>
                </a:tc>
                <a:tc>
                  <a:txBody>
                    <a:bodyPr/>
                    <a:lstStyle/>
                    <a:p>
                      <a:r>
                        <a:rPr lang="en-IN"/>
                        <a:t>7</a:t>
                      </a:r>
                    </a:p>
                  </a:txBody>
                  <a:tcPr anchor="ctr"/>
                </a:tc>
                <a:extLst>
                  <a:ext uri="{0D108BD9-81ED-4DB2-BD59-A6C34878D82A}">
                    <a16:rowId xmlns:a16="http://schemas.microsoft.com/office/drawing/2014/main" val="3872334695"/>
                  </a:ext>
                </a:extLst>
              </a:tr>
              <a:tr h="370840">
                <a:tc>
                  <a:txBody>
                    <a:bodyPr/>
                    <a:lstStyle/>
                    <a:p>
                      <a:r>
                        <a:rPr lang="en-US"/>
                        <a:t>5. Number of external interfaces (EIF)</a:t>
                      </a:r>
                    </a:p>
                  </a:txBody>
                  <a:tcPr anchor="ctr"/>
                </a:tc>
                <a:tc>
                  <a:txBody>
                    <a:bodyPr/>
                    <a:lstStyle/>
                    <a:p>
                      <a:r>
                        <a:rPr lang="en-IN"/>
                        <a:t>3</a:t>
                      </a:r>
                    </a:p>
                  </a:txBody>
                  <a:tcPr anchor="ctr"/>
                </a:tc>
                <a:tc>
                  <a:txBody>
                    <a:bodyPr/>
                    <a:lstStyle/>
                    <a:p>
                      <a:r>
                        <a:rPr lang="en-IN"/>
                        <a:t>4</a:t>
                      </a:r>
                    </a:p>
                  </a:txBody>
                  <a:tcPr anchor="ctr"/>
                </a:tc>
                <a:tc>
                  <a:txBody>
                    <a:bodyPr/>
                    <a:lstStyle/>
                    <a:p>
                      <a:r>
                        <a:rPr lang="en-IN" dirty="0"/>
                        <a:t>6</a:t>
                      </a:r>
                    </a:p>
                  </a:txBody>
                  <a:tcPr anchor="ctr"/>
                </a:tc>
                <a:extLst>
                  <a:ext uri="{0D108BD9-81ED-4DB2-BD59-A6C34878D82A}">
                    <a16:rowId xmlns:a16="http://schemas.microsoft.com/office/drawing/2014/main" val="1710617478"/>
                  </a:ext>
                </a:extLst>
              </a:tr>
            </a:tbl>
          </a:graphicData>
        </a:graphic>
      </p:graphicFrame>
    </p:spTree>
    <p:extLst>
      <p:ext uri="{BB962C8B-B14F-4D97-AF65-F5344CB8AC3E}">
        <p14:creationId xmlns:p14="http://schemas.microsoft.com/office/powerpoint/2010/main" val="36732392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93904-DBAC-9919-6967-A60C3A3D6356}"/>
              </a:ext>
            </a:extLst>
          </p:cNvPr>
          <p:cNvSpPr>
            <a:spLocks noGrp="1"/>
          </p:cNvSpPr>
          <p:nvPr>
            <p:ph type="title"/>
          </p:nvPr>
        </p:nvSpPr>
        <p:spPr>
          <a:xfrm>
            <a:off x="838200" y="119743"/>
            <a:ext cx="10515600" cy="838201"/>
          </a:xfrm>
        </p:spPr>
        <p:txBody>
          <a:bodyPr>
            <a:normAutofit/>
          </a:bodyPr>
          <a:lstStyle/>
          <a:p>
            <a:r>
              <a:rPr lang="en-IN" dirty="0"/>
              <a:t>complexity adjustment Factors</a:t>
            </a:r>
          </a:p>
        </p:txBody>
      </p:sp>
      <p:pic>
        <p:nvPicPr>
          <p:cNvPr id="5" name="Content Placeholder 4">
            <a:extLst>
              <a:ext uri="{FF2B5EF4-FFF2-40B4-BE49-F238E27FC236}">
                <a16:creationId xmlns:a16="http://schemas.microsoft.com/office/drawing/2014/main" id="{5E26B38A-D854-6FF7-0B6D-C02CD99CF552}"/>
              </a:ext>
            </a:extLst>
          </p:cNvPr>
          <p:cNvPicPr>
            <a:picLocks noGrp="1" noChangeAspect="1"/>
          </p:cNvPicPr>
          <p:nvPr>
            <p:ph idx="1"/>
          </p:nvPr>
        </p:nvPicPr>
        <p:blipFill>
          <a:blip r:embed="rId2"/>
          <a:stretch>
            <a:fillRect/>
          </a:stretch>
        </p:blipFill>
        <p:spPr>
          <a:xfrm>
            <a:off x="685800" y="957944"/>
            <a:ext cx="10263865" cy="5029589"/>
          </a:xfrm>
        </p:spPr>
      </p:pic>
    </p:spTree>
    <p:extLst>
      <p:ext uri="{BB962C8B-B14F-4D97-AF65-F5344CB8AC3E}">
        <p14:creationId xmlns:p14="http://schemas.microsoft.com/office/powerpoint/2010/main" val="28060652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24111-9206-516A-CC34-61028DB6FA67}"/>
              </a:ext>
            </a:extLst>
          </p:cNvPr>
          <p:cNvSpPr>
            <a:spLocks noGrp="1"/>
          </p:cNvSpPr>
          <p:nvPr>
            <p:ph type="title"/>
          </p:nvPr>
        </p:nvSpPr>
        <p:spPr>
          <a:xfrm>
            <a:off x="838200" y="365126"/>
            <a:ext cx="10515600" cy="756104"/>
          </a:xfrm>
        </p:spPr>
        <p:txBody>
          <a:bodyPr/>
          <a:lstStyle/>
          <a:p>
            <a:r>
              <a:rPr lang="en-IN" dirty="0"/>
              <a:t>Example</a:t>
            </a:r>
          </a:p>
        </p:txBody>
      </p:sp>
      <p:sp>
        <p:nvSpPr>
          <p:cNvPr id="7" name="Content Placeholder 6">
            <a:extLst>
              <a:ext uri="{FF2B5EF4-FFF2-40B4-BE49-F238E27FC236}">
                <a16:creationId xmlns:a16="http://schemas.microsoft.com/office/drawing/2014/main" id="{5F5D0F56-3006-1F7F-CAEF-A0AC20511362}"/>
              </a:ext>
            </a:extLst>
          </p:cNvPr>
          <p:cNvSpPr>
            <a:spLocks noGrp="1"/>
          </p:cNvSpPr>
          <p:nvPr>
            <p:ph idx="1"/>
          </p:nvPr>
        </p:nvSpPr>
        <p:spPr>
          <a:xfrm>
            <a:off x="838200" y="1230086"/>
            <a:ext cx="10515600" cy="4946877"/>
          </a:xfrm>
        </p:spPr>
        <p:txBody>
          <a:bodyPr/>
          <a:lstStyle/>
          <a:p>
            <a:r>
              <a:rPr lang="en-US" dirty="0"/>
              <a:t>Given the following values, compute function point when all complexity adjustment factor (CAF) and weighting factors are average.</a:t>
            </a:r>
          </a:p>
          <a:p>
            <a:endParaRPr lang="en-IN" dirty="0"/>
          </a:p>
        </p:txBody>
      </p:sp>
      <p:pic>
        <p:nvPicPr>
          <p:cNvPr id="9" name="Picture 8">
            <a:extLst>
              <a:ext uri="{FF2B5EF4-FFF2-40B4-BE49-F238E27FC236}">
                <a16:creationId xmlns:a16="http://schemas.microsoft.com/office/drawing/2014/main" id="{65A850B6-58EB-0F2B-7569-7FA477C8CD7C}"/>
              </a:ext>
            </a:extLst>
          </p:cNvPr>
          <p:cNvPicPr>
            <a:picLocks noChangeAspect="1"/>
          </p:cNvPicPr>
          <p:nvPr/>
        </p:nvPicPr>
        <p:blipFill>
          <a:blip r:embed="rId2"/>
          <a:stretch>
            <a:fillRect/>
          </a:stretch>
        </p:blipFill>
        <p:spPr>
          <a:xfrm>
            <a:off x="2891245" y="2359311"/>
            <a:ext cx="3905795" cy="2400635"/>
          </a:xfrm>
          <a:prstGeom prst="rect">
            <a:avLst/>
          </a:prstGeom>
        </p:spPr>
      </p:pic>
    </p:spTree>
    <p:extLst>
      <p:ext uri="{BB962C8B-B14F-4D97-AF65-F5344CB8AC3E}">
        <p14:creationId xmlns:p14="http://schemas.microsoft.com/office/powerpoint/2010/main" val="6340358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A03B24B-4564-3E47-A1DE-246FA86497D6}"/>
              </a:ext>
            </a:extLst>
          </p:cNvPr>
          <p:cNvPicPr>
            <a:picLocks noGrp="1" noChangeAspect="1"/>
          </p:cNvPicPr>
          <p:nvPr>
            <p:ph idx="1"/>
          </p:nvPr>
        </p:nvPicPr>
        <p:blipFill>
          <a:blip r:embed="rId2"/>
          <a:stretch>
            <a:fillRect/>
          </a:stretch>
        </p:blipFill>
        <p:spPr>
          <a:xfrm>
            <a:off x="1031801" y="751114"/>
            <a:ext cx="10128398" cy="5425849"/>
          </a:xfrm>
        </p:spPr>
      </p:pic>
    </p:spTree>
    <p:extLst>
      <p:ext uri="{BB962C8B-B14F-4D97-AF65-F5344CB8AC3E}">
        <p14:creationId xmlns:p14="http://schemas.microsoft.com/office/powerpoint/2010/main" val="14737941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979DC-C235-B250-845C-FDEA8BC01F05}"/>
              </a:ext>
            </a:extLst>
          </p:cNvPr>
          <p:cNvSpPr>
            <a:spLocks noGrp="1"/>
          </p:cNvSpPr>
          <p:nvPr>
            <p:ph type="title"/>
          </p:nvPr>
        </p:nvSpPr>
        <p:spPr/>
        <p:txBody>
          <a:bodyPr/>
          <a:lstStyle/>
          <a:p>
            <a:r>
              <a:rPr lang="en-IN" b="1" dirty="0"/>
              <a:t>Final answers</a:t>
            </a:r>
          </a:p>
        </p:txBody>
      </p:sp>
      <p:pic>
        <p:nvPicPr>
          <p:cNvPr id="5" name="Content Placeholder 4">
            <a:extLst>
              <a:ext uri="{FF2B5EF4-FFF2-40B4-BE49-F238E27FC236}">
                <a16:creationId xmlns:a16="http://schemas.microsoft.com/office/drawing/2014/main" id="{B4DE0192-66BA-9624-8939-8DAEC3BE15DE}"/>
              </a:ext>
            </a:extLst>
          </p:cNvPr>
          <p:cNvPicPr>
            <a:picLocks noGrp="1" noChangeAspect="1"/>
          </p:cNvPicPr>
          <p:nvPr>
            <p:ph idx="1"/>
          </p:nvPr>
        </p:nvPicPr>
        <p:blipFill>
          <a:blip r:embed="rId2"/>
          <a:stretch>
            <a:fillRect/>
          </a:stretch>
        </p:blipFill>
        <p:spPr>
          <a:xfrm>
            <a:off x="1761520" y="2843845"/>
            <a:ext cx="8668960" cy="2314898"/>
          </a:xfrm>
        </p:spPr>
      </p:pic>
    </p:spTree>
    <p:extLst>
      <p:ext uri="{BB962C8B-B14F-4D97-AF65-F5344CB8AC3E}">
        <p14:creationId xmlns:p14="http://schemas.microsoft.com/office/powerpoint/2010/main" val="11619248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8C330-EE0D-A15A-F4B7-179B6984D3A8}"/>
              </a:ext>
            </a:extLst>
          </p:cNvPr>
          <p:cNvSpPr>
            <a:spLocks noGrp="1"/>
          </p:cNvSpPr>
          <p:nvPr>
            <p:ph type="title"/>
          </p:nvPr>
        </p:nvSpPr>
        <p:spPr>
          <a:xfrm>
            <a:off x="838200" y="261257"/>
            <a:ext cx="10515600" cy="762001"/>
          </a:xfrm>
        </p:spPr>
        <p:txBody>
          <a:bodyPr>
            <a:normAutofit/>
          </a:bodyPr>
          <a:lstStyle/>
          <a:p>
            <a:r>
              <a:rPr lang="en-IN" dirty="0"/>
              <a:t>Problem 1:</a:t>
            </a:r>
          </a:p>
        </p:txBody>
      </p:sp>
      <p:pic>
        <p:nvPicPr>
          <p:cNvPr id="5" name="Content Placeholder 4">
            <a:extLst>
              <a:ext uri="{FF2B5EF4-FFF2-40B4-BE49-F238E27FC236}">
                <a16:creationId xmlns:a16="http://schemas.microsoft.com/office/drawing/2014/main" id="{E2E11A9A-51CC-550A-A272-BC1A7EB41547}"/>
              </a:ext>
            </a:extLst>
          </p:cNvPr>
          <p:cNvPicPr>
            <a:picLocks noGrp="1" noChangeAspect="1"/>
          </p:cNvPicPr>
          <p:nvPr>
            <p:ph idx="1"/>
          </p:nvPr>
        </p:nvPicPr>
        <p:blipFill>
          <a:blip r:embed="rId2"/>
          <a:stretch>
            <a:fillRect/>
          </a:stretch>
        </p:blipFill>
        <p:spPr>
          <a:xfrm>
            <a:off x="1453069" y="1131888"/>
            <a:ext cx="9285862" cy="5045075"/>
          </a:xfrm>
        </p:spPr>
      </p:pic>
    </p:spTree>
    <p:extLst>
      <p:ext uri="{BB962C8B-B14F-4D97-AF65-F5344CB8AC3E}">
        <p14:creationId xmlns:p14="http://schemas.microsoft.com/office/powerpoint/2010/main" val="21860503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1563</TotalTime>
  <Words>854</Words>
  <Application>Microsoft Office PowerPoint</Application>
  <PresentationFormat>Widescreen</PresentationFormat>
  <Paragraphs>73</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Calibri Light</vt:lpstr>
      <vt:lpstr>Tahoma</vt:lpstr>
      <vt:lpstr>Tahoma-Bold</vt:lpstr>
      <vt:lpstr>Office Theme</vt:lpstr>
      <vt:lpstr>METRICS FOR PROJECT SIZE ESTIMATION Lines of code (LOC), Function point (FP)</vt:lpstr>
      <vt:lpstr>Lines of Code (LOC)</vt:lpstr>
      <vt:lpstr>Shortcomings of the LOC metric</vt:lpstr>
      <vt:lpstr>Function Point (FP) Metric</vt:lpstr>
      <vt:lpstr>Function Point (FP) Metric</vt:lpstr>
      <vt:lpstr>PowerPoint Presentation</vt:lpstr>
      <vt:lpstr>PowerPoint Presentation</vt:lpstr>
      <vt:lpstr>Function point (FP) metric computation</vt:lpstr>
      <vt:lpstr>Step 1: UFP computation</vt:lpstr>
      <vt:lpstr>complexity adjustment Factors</vt:lpstr>
      <vt:lpstr>Example</vt:lpstr>
      <vt:lpstr>PowerPoint Presentation</vt:lpstr>
      <vt:lpstr>Final answers</vt:lpstr>
      <vt:lpstr>Problem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Samriddhi Sarkar</dc:creator>
  <cp:lastModifiedBy>Samriddhi Sarkar</cp:lastModifiedBy>
  <cp:revision>3</cp:revision>
  <dcterms:created xsi:type="dcterms:W3CDTF">2025-01-11T03:26:26Z</dcterms:created>
  <dcterms:modified xsi:type="dcterms:W3CDTF">2025-01-13T03:59:10Z</dcterms:modified>
</cp:coreProperties>
</file>