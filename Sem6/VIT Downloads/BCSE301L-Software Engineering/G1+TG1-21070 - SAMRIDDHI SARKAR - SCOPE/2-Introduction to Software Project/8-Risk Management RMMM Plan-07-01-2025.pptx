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A6065-B212-4827-1F26-0A9789590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685B01-33CD-6294-6E0C-A22757028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E614FA-618D-4E4B-B464-2C6BBD8B4D2B}"/>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5" name="Footer Placeholder 4">
            <a:extLst>
              <a:ext uri="{FF2B5EF4-FFF2-40B4-BE49-F238E27FC236}">
                <a16:creationId xmlns:a16="http://schemas.microsoft.com/office/drawing/2014/main" id="{2979DB55-D644-C317-2041-2271325C46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A3D833-8C64-6EAC-38C8-E635F9560B40}"/>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2230348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5D19E-CC95-0913-8A7F-A6603B94C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B999C7-C3CF-9FCA-B771-FCCDEAAC98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E46915-9FD1-0D08-72E6-8E6CC748A975}"/>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5" name="Footer Placeholder 4">
            <a:extLst>
              <a:ext uri="{FF2B5EF4-FFF2-40B4-BE49-F238E27FC236}">
                <a16:creationId xmlns:a16="http://schemas.microsoft.com/office/drawing/2014/main" id="{0BD75420-BCBC-39CE-2B0D-94FC342800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F3DAB2-324D-2A27-04A7-8878BD634A12}"/>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1024210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C497-02EC-B7BC-B4B5-D65108DA16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BC340F-0819-A28F-2EFD-5978510976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B7BB22-43A0-4AB2-96C3-1E0A0A4A910C}"/>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5" name="Footer Placeholder 4">
            <a:extLst>
              <a:ext uri="{FF2B5EF4-FFF2-40B4-BE49-F238E27FC236}">
                <a16:creationId xmlns:a16="http://schemas.microsoft.com/office/drawing/2014/main" id="{7780736B-7201-5E8A-6F49-E98CF4CB49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F3ACD7-7DF7-BCE3-DA1C-6399C591084C}"/>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3412457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91D9B-E113-D389-76B3-1B3C06AE01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3718E8-ACC9-460D-FFF3-578F9F46EE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4FC44B-1648-0D1B-634F-F71FC45D11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5E95AB-1502-6076-00EC-08F4FFA65B1C}"/>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6" name="Footer Placeholder 5">
            <a:extLst>
              <a:ext uri="{FF2B5EF4-FFF2-40B4-BE49-F238E27FC236}">
                <a16:creationId xmlns:a16="http://schemas.microsoft.com/office/drawing/2014/main" id="{D75BF5B8-1184-A4BD-3D2A-3504255582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CA51A3-E531-3034-C108-97BCDF98A8D4}"/>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1888926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90D59-EC71-5E08-D215-26C9A5CC64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2A8881-6E00-61BB-7BA1-AF90F3E671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657ABE-3783-7AE3-D687-1D5B8BD879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5D3A4FD-CA5E-CFD5-EE2C-77D4A8758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AC44B0-E959-1D1A-D76A-4A7B154584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CB226B-FB9E-0898-C01E-09C89CBDDB68}"/>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8" name="Footer Placeholder 7">
            <a:extLst>
              <a:ext uri="{FF2B5EF4-FFF2-40B4-BE49-F238E27FC236}">
                <a16:creationId xmlns:a16="http://schemas.microsoft.com/office/drawing/2014/main" id="{84DDA8D2-F0AE-F1B1-E0FC-F52407813D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80C94B-AF96-E008-11DE-C03B221EF9E2}"/>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3068265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BC7C2-A092-A46E-2A2B-79E0ED761D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857F6E5-D752-4068-10B8-25825AB4B197}"/>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4" name="Footer Placeholder 3">
            <a:extLst>
              <a:ext uri="{FF2B5EF4-FFF2-40B4-BE49-F238E27FC236}">
                <a16:creationId xmlns:a16="http://schemas.microsoft.com/office/drawing/2014/main" id="{5F3FE3E6-543E-F118-A7D4-366E4A0B64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65F85BD-9B5E-D6BD-750B-06F13DD855BD}"/>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1164350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0BA674-89AD-819A-B3BD-892036377410}"/>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3" name="Footer Placeholder 2">
            <a:extLst>
              <a:ext uri="{FF2B5EF4-FFF2-40B4-BE49-F238E27FC236}">
                <a16:creationId xmlns:a16="http://schemas.microsoft.com/office/drawing/2014/main" id="{22C5DE5D-1278-D22D-ADF7-94508565C4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CFEDA33-9E0E-8F9F-D107-3BA69502C107}"/>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2903750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3FCF1-EE34-1E1D-A7B3-43FA549176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842631-2354-DE03-6883-DE8E0EFD23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358A2A-81AE-5314-7EDA-ACF9FFB670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967FD-D0BB-1DE1-82EA-94F4C8C332AD}"/>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6" name="Footer Placeholder 5">
            <a:extLst>
              <a:ext uri="{FF2B5EF4-FFF2-40B4-BE49-F238E27FC236}">
                <a16:creationId xmlns:a16="http://schemas.microsoft.com/office/drawing/2014/main" id="{A76D4925-5B0A-8867-A6F8-A9081694B4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5AB769-D359-ACD3-9D75-3D79C2D92F72}"/>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588868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C798F-B01F-8D2F-F634-A867723949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C4DCE8-E000-49C3-7EC2-C9675CA92A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AC9D46-F063-A731-6C96-182BC715E2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E7817C-61F3-5BDB-C18A-87A68E8668B6}"/>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6" name="Footer Placeholder 5">
            <a:extLst>
              <a:ext uri="{FF2B5EF4-FFF2-40B4-BE49-F238E27FC236}">
                <a16:creationId xmlns:a16="http://schemas.microsoft.com/office/drawing/2014/main" id="{A2D15A25-3584-2419-4C6D-9E10A27493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5A3955-5F10-865D-2CE7-6681262AD92B}"/>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1120365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29AE6-6A54-240E-6797-635B93E6BA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0B6D80-9A05-382F-BC88-0D0148B271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59FAFC-01E3-31F3-FE82-952CA039C625}"/>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5" name="Footer Placeholder 4">
            <a:extLst>
              <a:ext uri="{FF2B5EF4-FFF2-40B4-BE49-F238E27FC236}">
                <a16:creationId xmlns:a16="http://schemas.microsoft.com/office/drawing/2014/main" id="{AB21B496-F162-D788-D3D6-004DC1FF48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8665F2-1B42-E31F-3474-B03305B2E8DB}"/>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111749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B37A06-990A-78F5-723E-AAC326E019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11A50C-71E3-F1A1-1DF6-F21379933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B56A1F-81CE-BAE2-4D4B-19C0F8C2BE3B}"/>
              </a:ext>
            </a:extLst>
          </p:cNvPr>
          <p:cNvSpPr>
            <a:spLocks noGrp="1"/>
          </p:cNvSpPr>
          <p:nvPr>
            <p:ph type="dt" sz="half" idx="10"/>
          </p:nvPr>
        </p:nvSpPr>
        <p:spPr/>
        <p:txBody>
          <a:bodyPr/>
          <a:lstStyle/>
          <a:p>
            <a:fld id="{65C3F9CE-B946-4894-9F94-F0616AADB7D9}" type="datetimeFigureOut">
              <a:rPr lang="en-IN" smtClean="0"/>
              <a:t>10-02-2025</a:t>
            </a:fld>
            <a:endParaRPr lang="en-IN"/>
          </a:p>
        </p:txBody>
      </p:sp>
      <p:sp>
        <p:nvSpPr>
          <p:cNvPr id="5" name="Footer Placeholder 4">
            <a:extLst>
              <a:ext uri="{FF2B5EF4-FFF2-40B4-BE49-F238E27FC236}">
                <a16:creationId xmlns:a16="http://schemas.microsoft.com/office/drawing/2014/main" id="{D639BA1B-F185-E752-614A-62F4314A08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78A8F5-2DC1-DADE-54C0-98047386F0B7}"/>
              </a:ext>
            </a:extLst>
          </p:cNvPr>
          <p:cNvSpPr>
            <a:spLocks noGrp="1"/>
          </p:cNvSpPr>
          <p:nvPr>
            <p:ph type="sldNum" sz="quarter" idx="12"/>
          </p:nvPr>
        </p:nvSpPr>
        <p:spPr/>
        <p:txBody>
          <a:bodyPr/>
          <a:lstStyle/>
          <a:p>
            <a:fld id="{9A919A57-E9D7-47AE-A20B-7E4A7E4777CE}" type="slidenum">
              <a:rPr lang="en-IN" smtClean="0"/>
              <a:t>‹#›</a:t>
            </a:fld>
            <a:endParaRPr lang="en-IN"/>
          </a:p>
        </p:txBody>
      </p:sp>
    </p:spTree>
    <p:extLst>
      <p:ext uri="{BB962C8B-B14F-4D97-AF65-F5344CB8AC3E}">
        <p14:creationId xmlns:p14="http://schemas.microsoft.com/office/powerpoint/2010/main" val="3592850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DF6FF3-6336-089D-9FB6-4214D54D4C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2682DA-277F-7923-43AE-87976FE465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B55F8C-C1B1-8225-FBDF-8896D6B688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C3F9CE-B946-4894-9F94-F0616AADB7D9}" type="datetimeFigureOut">
              <a:rPr lang="en-IN" smtClean="0"/>
              <a:t>10-02-2025</a:t>
            </a:fld>
            <a:endParaRPr lang="en-IN"/>
          </a:p>
        </p:txBody>
      </p:sp>
      <p:sp>
        <p:nvSpPr>
          <p:cNvPr id="5" name="Footer Placeholder 4">
            <a:extLst>
              <a:ext uri="{FF2B5EF4-FFF2-40B4-BE49-F238E27FC236}">
                <a16:creationId xmlns:a16="http://schemas.microsoft.com/office/drawing/2014/main" id="{41B47355-19E8-047F-B9D7-A8CF5C9DDB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F2C9EC-EBD0-6905-2913-F0EA27E76F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919A57-E9D7-47AE-A20B-7E4A7E4777CE}" type="slidenum">
              <a:rPr lang="en-IN" smtClean="0"/>
              <a:t>‹#›</a:t>
            </a:fld>
            <a:endParaRPr lang="en-IN"/>
          </a:p>
        </p:txBody>
      </p:sp>
    </p:spTree>
    <p:extLst>
      <p:ext uri="{BB962C8B-B14F-4D97-AF65-F5344CB8AC3E}">
        <p14:creationId xmlns:p14="http://schemas.microsoft.com/office/powerpoint/2010/main" val="2165194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29AB-0052-5003-CFDC-09E84B14CF5B}"/>
              </a:ext>
            </a:extLst>
          </p:cNvPr>
          <p:cNvSpPr>
            <a:spLocks noGrp="1"/>
          </p:cNvSpPr>
          <p:nvPr>
            <p:ph type="ctrTitle"/>
          </p:nvPr>
        </p:nvSpPr>
        <p:spPr/>
        <p:txBody>
          <a:bodyPr>
            <a:normAutofit/>
          </a:bodyPr>
          <a:lstStyle/>
          <a:p>
            <a:r>
              <a:rPr lang="en-IN" b="1" dirty="0"/>
              <a:t>RISK</a:t>
            </a:r>
            <a:br>
              <a:rPr lang="en-IN" b="1" dirty="0"/>
            </a:br>
            <a:r>
              <a:rPr lang="en-IN" b="1" dirty="0"/>
              <a:t>MANAGEMENT</a:t>
            </a:r>
            <a:br>
              <a:rPr lang="en-IN" b="1" dirty="0"/>
            </a:br>
            <a:r>
              <a:rPr lang="en-IN" sz="3100" b="1" dirty="0"/>
              <a:t>Module 2</a:t>
            </a:r>
          </a:p>
        </p:txBody>
      </p:sp>
      <p:sp>
        <p:nvSpPr>
          <p:cNvPr id="3" name="Subtitle 2">
            <a:extLst>
              <a:ext uri="{FF2B5EF4-FFF2-40B4-BE49-F238E27FC236}">
                <a16:creationId xmlns:a16="http://schemas.microsoft.com/office/drawing/2014/main" id="{FC1F4567-ACD1-6B55-5992-BAF4B2178319}"/>
              </a:ext>
            </a:extLst>
          </p:cNvPr>
          <p:cNvSpPr>
            <a:spLocks noGrp="1"/>
          </p:cNvSpPr>
          <p:nvPr>
            <p:ph type="subTitle" idx="1"/>
          </p:nvPr>
        </p:nvSpPr>
        <p:spPr/>
        <p:txBody>
          <a:bodyPr>
            <a:normAutofit lnSpcReduction="10000"/>
          </a:bodyPr>
          <a:lstStyle/>
          <a:p>
            <a:r>
              <a:rPr lang="en-IN" dirty="0"/>
              <a:t>Chapter 28</a:t>
            </a:r>
          </a:p>
          <a:p>
            <a:r>
              <a:rPr lang="en-IN" dirty="0"/>
              <a:t>Page no. 744 -</a:t>
            </a:r>
          </a:p>
          <a:p>
            <a:r>
              <a:rPr lang="en-US" dirty="0"/>
              <a:t>7th EDITION</a:t>
            </a:r>
          </a:p>
          <a:p>
            <a:r>
              <a:rPr lang="en-US" dirty="0"/>
              <a:t>Roger S. Pressman,</a:t>
            </a:r>
            <a:endParaRPr lang="en-IN" dirty="0"/>
          </a:p>
        </p:txBody>
      </p:sp>
    </p:spTree>
    <p:extLst>
      <p:ext uri="{BB962C8B-B14F-4D97-AF65-F5344CB8AC3E}">
        <p14:creationId xmlns:p14="http://schemas.microsoft.com/office/powerpoint/2010/main" val="1552895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FC7C-A88D-3E25-F61A-9832339B6FD8}"/>
              </a:ext>
            </a:extLst>
          </p:cNvPr>
          <p:cNvSpPr>
            <a:spLocks noGrp="1"/>
          </p:cNvSpPr>
          <p:nvPr>
            <p:ph type="title"/>
          </p:nvPr>
        </p:nvSpPr>
        <p:spPr>
          <a:xfrm>
            <a:off x="838200" y="163287"/>
            <a:ext cx="10515600" cy="849084"/>
          </a:xfrm>
        </p:spPr>
        <p:txBody>
          <a:bodyPr/>
          <a:lstStyle/>
          <a:p>
            <a:r>
              <a:rPr lang="en-IN" b="1" dirty="0"/>
              <a:t>What is Risk?</a:t>
            </a:r>
          </a:p>
        </p:txBody>
      </p:sp>
      <p:sp>
        <p:nvSpPr>
          <p:cNvPr id="3" name="Content Placeholder 2">
            <a:extLst>
              <a:ext uri="{FF2B5EF4-FFF2-40B4-BE49-F238E27FC236}">
                <a16:creationId xmlns:a16="http://schemas.microsoft.com/office/drawing/2014/main" id="{60F35ADB-573E-C05B-9620-0A93BC807AC6}"/>
              </a:ext>
            </a:extLst>
          </p:cNvPr>
          <p:cNvSpPr>
            <a:spLocks noGrp="1"/>
          </p:cNvSpPr>
          <p:nvPr>
            <p:ph idx="1"/>
          </p:nvPr>
        </p:nvSpPr>
        <p:spPr>
          <a:xfrm>
            <a:off x="838200" y="914400"/>
            <a:ext cx="10515600" cy="5262563"/>
          </a:xfrm>
        </p:spPr>
        <p:txBody>
          <a:bodyPr>
            <a:normAutofit/>
          </a:bodyPr>
          <a:lstStyle/>
          <a:p>
            <a:pPr marL="0" indent="0" algn="just">
              <a:buNone/>
            </a:pPr>
            <a:r>
              <a:rPr lang="en-IN" sz="2000" b="1" dirty="0">
                <a:latin typeface="Times New Roman" panose="02020603050405020304" pitchFamily="18" charset="0"/>
                <a:cs typeface="Times New Roman" panose="02020603050405020304" pitchFamily="18" charset="0"/>
              </a:rPr>
              <a:t>R</a:t>
            </a:r>
            <a:r>
              <a:rPr lang="en-IN" sz="2000" b="1" i="0" u="none" strike="noStrike" baseline="0" dirty="0">
                <a:latin typeface="Times New Roman" panose="02020603050405020304" pitchFamily="18" charset="0"/>
                <a:cs typeface="Times New Roman" panose="02020603050405020304" pitchFamily="18" charset="0"/>
              </a:rPr>
              <a:t>isk concerns future happenings. </a:t>
            </a:r>
            <a:r>
              <a:rPr lang="en-US" sz="1800" b="1" dirty="0">
                <a:latin typeface="Leawood-Book"/>
                <a:cs typeface="Times New Roman" panose="02020603050405020304" pitchFamily="18" charset="0"/>
              </a:rPr>
              <a:t>B</a:t>
            </a:r>
            <a:r>
              <a:rPr lang="en-US" sz="1800" b="1" i="0" u="none" strike="noStrike" baseline="0" dirty="0">
                <a:latin typeface="Leawood-Book"/>
              </a:rPr>
              <a:t>y changing our actions today, create an opportunity for a different and hopefully better situation for ourselves tomorrow</a:t>
            </a:r>
            <a:endParaRPr lang="en-IN" sz="2000" b="1" i="0" u="none" strike="noStrike" baseline="0" dirty="0">
              <a:latin typeface="Times New Roman" panose="02020603050405020304" pitchFamily="18" charset="0"/>
              <a:cs typeface="Times New Roman" panose="02020603050405020304" pitchFamily="18" charset="0"/>
            </a:endParaRPr>
          </a:p>
          <a:p>
            <a:pPr algn="just"/>
            <a:r>
              <a:rPr lang="en-US" sz="2000" b="1" i="0" u="none" strike="noStrike" baseline="0" dirty="0">
                <a:latin typeface="Times New Roman" panose="02020603050405020304" pitchFamily="18" charset="0"/>
                <a:cs typeface="Times New Roman" panose="02020603050405020304" pitchFamily="18" charset="0"/>
              </a:rPr>
              <a:t>What is it? </a:t>
            </a:r>
            <a:r>
              <a:rPr lang="en-US" sz="2000" b="0" i="0" u="none" strike="noStrike" baseline="0" dirty="0">
                <a:latin typeface="Times New Roman" panose="02020603050405020304" pitchFamily="18" charset="0"/>
                <a:cs typeface="Times New Roman" panose="02020603050405020304" pitchFamily="18" charset="0"/>
              </a:rPr>
              <a:t>Risk analysis and management are actions that help a software team to understand and </a:t>
            </a:r>
            <a:r>
              <a:rPr lang="en-IN" sz="2000" b="0" i="0" u="none" strike="noStrike" baseline="0" dirty="0">
                <a:latin typeface="Times New Roman" panose="02020603050405020304" pitchFamily="18" charset="0"/>
                <a:cs typeface="Times New Roman" panose="02020603050405020304" pitchFamily="18" charset="0"/>
              </a:rPr>
              <a:t>manage uncertainty</a:t>
            </a:r>
          </a:p>
          <a:p>
            <a:pPr algn="just"/>
            <a:r>
              <a:rPr lang="en-US" sz="2000" b="1" dirty="0">
                <a:latin typeface="Times New Roman" panose="02020603050405020304" pitchFamily="18" charset="0"/>
                <a:cs typeface="Times New Roman" panose="02020603050405020304" pitchFamily="18" charset="0"/>
              </a:rPr>
              <a:t>Who does it? </a:t>
            </a:r>
            <a:r>
              <a:rPr lang="en-US" sz="2000" dirty="0">
                <a:latin typeface="Times New Roman" panose="02020603050405020304" pitchFamily="18" charset="0"/>
                <a:cs typeface="Times New Roman" panose="02020603050405020304" pitchFamily="18" charset="0"/>
              </a:rPr>
              <a:t>Everyone involved in the software process—managers, software engineers, and other stakeholders—participate in risk analysis and management.</a:t>
            </a:r>
          </a:p>
          <a:p>
            <a:pPr algn="just"/>
            <a:r>
              <a:rPr lang="en-US" sz="2000" b="1" dirty="0">
                <a:latin typeface="Times New Roman" panose="02020603050405020304" pitchFamily="18" charset="0"/>
                <a:cs typeface="Times New Roman" panose="02020603050405020304" pitchFamily="18" charset="0"/>
              </a:rPr>
              <a:t>What are the steps? </a:t>
            </a:r>
          </a:p>
          <a:p>
            <a:pPr marL="0" indent="0" algn="just">
              <a:buNone/>
            </a:pPr>
            <a:r>
              <a:rPr lang="en-US" sz="2000" b="1" dirty="0">
                <a:latin typeface="Times New Roman" panose="02020603050405020304" pitchFamily="18" charset="0"/>
                <a:cs typeface="Times New Roman" panose="02020603050405020304" pitchFamily="18" charset="0"/>
              </a:rPr>
              <a:t>               1) </a:t>
            </a:r>
            <a:r>
              <a:rPr lang="en-US" sz="2000" dirty="0">
                <a:latin typeface="Times New Roman" panose="02020603050405020304" pitchFamily="18" charset="0"/>
                <a:cs typeface="Times New Roman" panose="02020603050405020304" pitchFamily="18" charset="0"/>
              </a:rPr>
              <a:t>Recognizing </a:t>
            </a:r>
            <a:r>
              <a:rPr lang="en-US" sz="2000" b="1" dirty="0">
                <a:solidFill>
                  <a:srgbClr val="FF0000"/>
                </a:solidFill>
                <a:latin typeface="Times New Roman" panose="02020603050405020304" pitchFamily="18" charset="0"/>
                <a:cs typeface="Times New Roman" panose="02020603050405020304" pitchFamily="18" charset="0"/>
              </a:rPr>
              <a:t>what can go wrong</a:t>
            </a:r>
            <a:r>
              <a:rPr lang="en-US" sz="2000" dirty="0">
                <a:latin typeface="Times New Roman" panose="02020603050405020304" pitchFamily="18" charset="0"/>
                <a:cs typeface="Times New Roman" panose="02020603050405020304" pitchFamily="18" charset="0"/>
              </a:rPr>
              <a:t>, called “risk identification.” </a:t>
            </a:r>
          </a:p>
          <a:p>
            <a:pPr marL="0" indent="0" algn="just">
              <a:buNone/>
            </a:pPr>
            <a:r>
              <a:rPr lang="en-US" sz="2000" dirty="0">
                <a:latin typeface="Times New Roman" panose="02020603050405020304" pitchFamily="18" charset="0"/>
                <a:cs typeface="Times New Roman" panose="02020603050405020304" pitchFamily="18" charset="0"/>
              </a:rPr>
              <a:t>               2) determine the </a:t>
            </a:r>
            <a:r>
              <a:rPr lang="en-US" sz="2000" b="1" dirty="0">
                <a:solidFill>
                  <a:srgbClr val="FF0000"/>
                </a:solidFill>
                <a:latin typeface="Times New Roman" panose="02020603050405020304" pitchFamily="18" charset="0"/>
                <a:cs typeface="Times New Roman" panose="02020603050405020304" pitchFamily="18" charset="0"/>
              </a:rPr>
              <a:t>likelihood that it will occur </a:t>
            </a:r>
            <a:r>
              <a:rPr lang="en-US" sz="2000" dirty="0">
                <a:latin typeface="Times New Roman" panose="02020603050405020304" pitchFamily="18" charset="0"/>
                <a:cs typeface="Times New Roman" panose="02020603050405020304" pitchFamily="18" charset="0"/>
              </a:rPr>
              <a:t>and the damage that it will do if it does occur. </a:t>
            </a:r>
          </a:p>
          <a:p>
            <a:pPr marL="0" indent="0" algn="just">
              <a:buNone/>
            </a:pPr>
            <a:r>
              <a:rPr lang="en-US" sz="2000" dirty="0">
                <a:latin typeface="Times New Roman" panose="02020603050405020304" pitchFamily="18" charset="0"/>
                <a:cs typeface="Times New Roman" panose="02020603050405020304" pitchFamily="18" charset="0"/>
              </a:rPr>
              <a:t>               3) Once this information is established, </a:t>
            </a:r>
            <a:r>
              <a:rPr lang="en-US" sz="2000" b="1" dirty="0">
                <a:solidFill>
                  <a:srgbClr val="FF0000"/>
                </a:solidFill>
                <a:latin typeface="Times New Roman" panose="02020603050405020304" pitchFamily="18" charset="0"/>
                <a:cs typeface="Times New Roman" panose="02020603050405020304" pitchFamily="18" charset="0"/>
              </a:rPr>
              <a:t>risks are ranked</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               4) a plan is developed to manage those risks that have high probability and high impact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124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890A6-D51E-7118-B930-B1086AF50999}"/>
              </a:ext>
            </a:extLst>
          </p:cNvPr>
          <p:cNvSpPr>
            <a:spLocks noGrp="1"/>
          </p:cNvSpPr>
          <p:nvPr>
            <p:ph type="title"/>
          </p:nvPr>
        </p:nvSpPr>
        <p:spPr>
          <a:xfrm>
            <a:off x="838200" y="76200"/>
            <a:ext cx="10515600" cy="1012372"/>
          </a:xfrm>
        </p:spPr>
        <p:txBody>
          <a:bodyPr/>
          <a:lstStyle/>
          <a:p>
            <a:r>
              <a:rPr lang="en-IN" dirty="0"/>
              <a:t>Solution for the risk management</a:t>
            </a:r>
          </a:p>
        </p:txBody>
      </p:sp>
      <p:sp>
        <p:nvSpPr>
          <p:cNvPr id="3" name="Content Placeholder 2">
            <a:extLst>
              <a:ext uri="{FF2B5EF4-FFF2-40B4-BE49-F238E27FC236}">
                <a16:creationId xmlns:a16="http://schemas.microsoft.com/office/drawing/2014/main" id="{B6FD1E03-99D1-9B31-3623-47EA0BF421EF}"/>
              </a:ext>
            </a:extLst>
          </p:cNvPr>
          <p:cNvSpPr>
            <a:spLocks noGrp="1"/>
          </p:cNvSpPr>
          <p:nvPr>
            <p:ph idx="1"/>
          </p:nvPr>
        </p:nvSpPr>
        <p:spPr>
          <a:xfrm>
            <a:off x="838200" y="1001486"/>
            <a:ext cx="10515600" cy="5175477"/>
          </a:xfrm>
        </p:spPr>
        <p:txBody>
          <a:bodyPr>
            <a:normAutofit lnSpcReduction="10000"/>
          </a:bodyPr>
          <a:lstStyle/>
          <a:p>
            <a:pPr marL="0" indent="0">
              <a:buNone/>
            </a:pPr>
            <a:r>
              <a:rPr lang="en-US" dirty="0"/>
              <a:t>What is the work product? A </a:t>
            </a:r>
            <a:r>
              <a:rPr lang="en-US" dirty="0">
                <a:solidFill>
                  <a:srgbClr val="FF0000"/>
                </a:solidFill>
              </a:rPr>
              <a:t>risk mitigation, monitoring, and management (RMMM) </a:t>
            </a:r>
            <a:r>
              <a:rPr lang="en-US" dirty="0"/>
              <a:t>plan or a set of risk information sheets is produced.</a:t>
            </a:r>
          </a:p>
          <a:p>
            <a:r>
              <a:rPr lang="en-IN" b="1" dirty="0">
                <a:solidFill>
                  <a:srgbClr val="FF0000"/>
                </a:solidFill>
              </a:rPr>
              <a:t>Reactive risk strategies</a:t>
            </a:r>
          </a:p>
          <a:p>
            <a:r>
              <a:rPr lang="en-IN" b="1" dirty="0">
                <a:solidFill>
                  <a:srgbClr val="FF0000"/>
                </a:solidFill>
              </a:rPr>
              <a:t>proactive strategy </a:t>
            </a:r>
            <a:r>
              <a:rPr lang="en-IN" dirty="0"/>
              <a:t>– (Planning in advance) </a:t>
            </a:r>
            <a:r>
              <a:rPr lang="en-US" dirty="0"/>
              <a:t>A considerably more intelligent strategy for risk management is to be proactive. A proactive strategy begins long before technical work is initiated. </a:t>
            </a:r>
          </a:p>
          <a:p>
            <a:pPr lvl="1"/>
            <a:r>
              <a:rPr lang="en-US" dirty="0"/>
              <a:t>Potential risks are identified, their probability and impact are assessed, and they are ranked by importance.</a:t>
            </a:r>
          </a:p>
          <a:p>
            <a:pPr lvl="1"/>
            <a:r>
              <a:rPr lang="en-US" dirty="0"/>
              <a:t>Then, the software team establishes a plan for managing risk. </a:t>
            </a:r>
          </a:p>
          <a:p>
            <a:pPr lvl="1"/>
            <a:r>
              <a:rPr lang="en-US" dirty="0"/>
              <a:t>The primary objective is to avoid risk, but because not all risks can be avoided, the team works to develop a contingency plan that will enable it to respond in a controlled and effective manner.</a:t>
            </a:r>
            <a:endParaRPr lang="en-IN" dirty="0"/>
          </a:p>
        </p:txBody>
      </p:sp>
    </p:spTree>
    <p:extLst>
      <p:ext uri="{BB962C8B-B14F-4D97-AF65-F5344CB8AC3E}">
        <p14:creationId xmlns:p14="http://schemas.microsoft.com/office/powerpoint/2010/main" val="1853913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04E3-F632-6522-7586-F5D339C3F089}"/>
              </a:ext>
            </a:extLst>
          </p:cNvPr>
          <p:cNvSpPr>
            <a:spLocks noGrp="1"/>
          </p:cNvSpPr>
          <p:nvPr>
            <p:ph type="title"/>
          </p:nvPr>
        </p:nvSpPr>
        <p:spPr/>
        <p:txBody>
          <a:bodyPr/>
          <a:lstStyle/>
          <a:p>
            <a:r>
              <a:rPr lang="en-IN" dirty="0" err="1"/>
              <a:t>Contd</a:t>
            </a:r>
            <a:r>
              <a:rPr lang="en-IN" dirty="0"/>
              <a:t>…</a:t>
            </a:r>
          </a:p>
        </p:txBody>
      </p:sp>
      <p:sp>
        <p:nvSpPr>
          <p:cNvPr id="3" name="Content Placeholder 2">
            <a:extLst>
              <a:ext uri="{FF2B5EF4-FFF2-40B4-BE49-F238E27FC236}">
                <a16:creationId xmlns:a16="http://schemas.microsoft.com/office/drawing/2014/main" id="{4710D2AC-BB82-60C1-75E3-20C46D5E6179}"/>
              </a:ext>
            </a:extLst>
          </p:cNvPr>
          <p:cNvSpPr>
            <a:spLocks noGrp="1"/>
          </p:cNvSpPr>
          <p:nvPr>
            <p:ph idx="1"/>
          </p:nvPr>
        </p:nvSpPr>
        <p:spPr>
          <a:xfrm>
            <a:off x="838200" y="1458686"/>
            <a:ext cx="10515600" cy="4718277"/>
          </a:xfrm>
        </p:spPr>
        <p:txBody>
          <a:bodyPr>
            <a:normAutofit/>
          </a:bodyPr>
          <a:lstStyle/>
          <a:p>
            <a:r>
              <a:rPr lang="en-US" dirty="0"/>
              <a:t>Risk always involves two characteristics: </a:t>
            </a:r>
          </a:p>
          <a:p>
            <a:r>
              <a:rPr lang="en-US" dirty="0">
                <a:solidFill>
                  <a:srgbClr val="FF0000"/>
                </a:solidFill>
              </a:rPr>
              <a:t>uncertainty</a:t>
            </a:r>
            <a:r>
              <a:rPr lang="en-US" dirty="0"/>
              <a:t>—the risk may or may not happen; that is, there are no 100 percent guarantee </a:t>
            </a:r>
          </a:p>
          <a:p>
            <a:r>
              <a:rPr lang="en-US" dirty="0"/>
              <a:t>and </a:t>
            </a:r>
            <a:r>
              <a:rPr lang="en-US" dirty="0">
                <a:solidFill>
                  <a:srgbClr val="FF0000"/>
                </a:solidFill>
              </a:rPr>
              <a:t>loss</a:t>
            </a:r>
            <a:r>
              <a:rPr lang="en-US" dirty="0"/>
              <a:t>—if the risk becomes a reality, unwanted consequences or losses will occur.</a:t>
            </a:r>
          </a:p>
          <a:p>
            <a:pPr marL="0" indent="0" algn="l">
              <a:buNone/>
            </a:pPr>
            <a:r>
              <a:rPr lang="en-US" sz="1800" b="0" i="0" u="none" strike="noStrike" baseline="0" dirty="0">
                <a:latin typeface="Leawood-Book"/>
              </a:rPr>
              <a:t>When risks are analyzed, it is important to quantify the level of uncertainty and the degree of loss associated with each risk. To accomplish this, different categories of risks are considered.</a:t>
            </a:r>
          </a:p>
          <a:p>
            <a:pPr marL="342900" indent="-342900" algn="l">
              <a:buAutoNum type="arabicPeriod"/>
            </a:pPr>
            <a:r>
              <a:rPr lang="en-IN" sz="1800" b="0" i="1" u="none" strike="noStrike" baseline="0" dirty="0">
                <a:solidFill>
                  <a:srgbClr val="FF0000"/>
                </a:solidFill>
                <a:latin typeface="Leawood-BookItalic"/>
              </a:rPr>
              <a:t>Project risks</a:t>
            </a:r>
            <a:r>
              <a:rPr lang="en-US" sz="1800" dirty="0">
                <a:latin typeface="Leawood-Book"/>
              </a:rPr>
              <a:t>: </a:t>
            </a:r>
            <a:r>
              <a:rPr lang="en-IN" sz="1800" b="0" i="0" u="none" strike="noStrike" baseline="0" dirty="0">
                <a:latin typeface="Leawood-Book"/>
              </a:rPr>
              <a:t>Project risks </a:t>
            </a:r>
            <a:r>
              <a:rPr lang="en-US" sz="1800" b="0" i="0" u="none" strike="noStrike" baseline="0" dirty="0">
                <a:latin typeface="Leawood-Book"/>
              </a:rPr>
              <a:t>identify potential budgetary, schedule, personnel (staffing and organization), resource, stakeholder, and requirements problems and their impact on a software project.</a:t>
            </a:r>
          </a:p>
          <a:p>
            <a:pPr marL="342900" indent="-342900" algn="l">
              <a:buFont typeface="+mj-lt"/>
              <a:buAutoNum type="arabicPeriod"/>
            </a:pPr>
            <a:r>
              <a:rPr lang="en-IN" sz="1800" b="0" i="0" u="none" strike="noStrike" baseline="0" dirty="0">
                <a:solidFill>
                  <a:srgbClr val="FF0000"/>
                </a:solidFill>
                <a:latin typeface="Leawood-Book"/>
              </a:rPr>
              <a:t>Technical risks </a:t>
            </a:r>
            <a:r>
              <a:rPr lang="en-IN" sz="1800" b="0" i="0" u="none" strike="noStrike" baseline="0" dirty="0">
                <a:latin typeface="Leawood-Book"/>
              </a:rPr>
              <a:t>identify potential design, implementation, interface, verification, and maintenance problems</a:t>
            </a:r>
          </a:p>
          <a:p>
            <a:pPr marL="342900" indent="-342900" algn="l">
              <a:buFont typeface="+mj-lt"/>
              <a:buAutoNum type="arabicPeriod"/>
            </a:pPr>
            <a:r>
              <a:rPr lang="en-US" sz="1800" b="0" i="1" u="none" strike="noStrike" baseline="0" dirty="0">
                <a:solidFill>
                  <a:srgbClr val="FF0000"/>
                </a:solidFill>
                <a:latin typeface="Leawood-BookItalic"/>
              </a:rPr>
              <a:t>Business risks </a:t>
            </a:r>
            <a:r>
              <a:rPr lang="en-US" sz="1800" b="0" i="0" u="none" strike="noStrike" baseline="0" dirty="0">
                <a:latin typeface="Leawood-Book"/>
              </a:rPr>
              <a:t>threaten the viability of the software to be built</a:t>
            </a:r>
            <a:endParaRPr lang="en-US" dirty="0"/>
          </a:p>
        </p:txBody>
      </p:sp>
    </p:spTree>
    <p:extLst>
      <p:ext uri="{BB962C8B-B14F-4D97-AF65-F5344CB8AC3E}">
        <p14:creationId xmlns:p14="http://schemas.microsoft.com/office/powerpoint/2010/main" val="87034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F2369-9C83-EBC1-F170-C5EA5E3705DE}"/>
              </a:ext>
            </a:extLst>
          </p:cNvPr>
          <p:cNvSpPr>
            <a:spLocks noGrp="1"/>
          </p:cNvSpPr>
          <p:nvPr>
            <p:ph type="title"/>
          </p:nvPr>
        </p:nvSpPr>
        <p:spPr>
          <a:xfrm>
            <a:off x="838200" y="365125"/>
            <a:ext cx="10515600" cy="930275"/>
          </a:xfrm>
        </p:spPr>
        <p:txBody>
          <a:bodyPr/>
          <a:lstStyle/>
          <a:p>
            <a:r>
              <a:rPr lang="en-US" dirty="0"/>
              <a:t>Seven Principles of Risk Management</a:t>
            </a:r>
            <a:endParaRPr lang="en-IN" dirty="0"/>
          </a:p>
        </p:txBody>
      </p:sp>
      <p:pic>
        <p:nvPicPr>
          <p:cNvPr id="5" name="Content Placeholder 4">
            <a:extLst>
              <a:ext uri="{FF2B5EF4-FFF2-40B4-BE49-F238E27FC236}">
                <a16:creationId xmlns:a16="http://schemas.microsoft.com/office/drawing/2014/main" id="{CE5EA823-157D-E117-E21E-2AFFA95C5464}"/>
              </a:ext>
            </a:extLst>
          </p:cNvPr>
          <p:cNvPicPr>
            <a:picLocks noGrp="1" noChangeAspect="1"/>
          </p:cNvPicPr>
          <p:nvPr>
            <p:ph idx="1"/>
          </p:nvPr>
        </p:nvPicPr>
        <p:blipFill>
          <a:blip r:embed="rId2"/>
          <a:stretch>
            <a:fillRect/>
          </a:stretch>
        </p:blipFill>
        <p:spPr>
          <a:xfrm>
            <a:off x="631372" y="1295400"/>
            <a:ext cx="11027228" cy="5421086"/>
          </a:xfrm>
        </p:spPr>
      </p:pic>
    </p:spTree>
    <p:extLst>
      <p:ext uri="{BB962C8B-B14F-4D97-AF65-F5344CB8AC3E}">
        <p14:creationId xmlns:p14="http://schemas.microsoft.com/office/powerpoint/2010/main" val="1660217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51A7F-8437-46BD-D16D-DD618DBA2091}"/>
              </a:ext>
            </a:extLst>
          </p:cNvPr>
          <p:cNvSpPr>
            <a:spLocks noGrp="1"/>
          </p:cNvSpPr>
          <p:nvPr>
            <p:ph type="title"/>
          </p:nvPr>
        </p:nvSpPr>
        <p:spPr>
          <a:xfrm>
            <a:off x="838200" y="119743"/>
            <a:ext cx="10515600" cy="783771"/>
          </a:xfrm>
        </p:spPr>
        <p:txBody>
          <a:bodyPr/>
          <a:lstStyle/>
          <a:p>
            <a:r>
              <a:rPr lang="en-IN" b="1" dirty="0"/>
              <a:t>Risk identification</a:t>
            </a:r>
          </a:p>
        </p:txBody>
      </p:sp>
      <p:sp>
        <p:nvSpPr>
          <p:cNvPr id="3" name="Content Placeholder 2">
            <a:extLst>
              <a:ext uri="{FF2B5EF4-FFF2-40B4-BE49-F238E27FC236}">
                <a16:creationId xmlns:a16="http://schemas.microsoft.com/office/drawing/2014/main" id="{B129C8E7-F574-D3D9-9178-422915B1BC2A}"/>
              </a:ext>
            </a:extLst>
          </p:cNvPr>
          <p:cNvSpPr>
            <a:spLocks noGrp="1"/>
          </p:cNvSpPr>
          <p:nvPr>
            <p:ph idx="1"/>
          </p:nvPr>
        </p:nvSpPr>
        <p:spPr>
          <a:xfrm>
            <a:off x="838200" y="1055914"/>
            <a:ext cx="10515600" cy="5121049"/>
          </a:xfrm>
        </p:spPr>
        <p:txBody>
          <a:bodyPr/>
          <a:lstStyle/>
          <a:p>
            <a:r>
              <a:rPr lang="en-US" dirty="0"/>
              <a:t>systematic attempt to specify threats to the project plan (estimates, schedule, resource loading, etc.). </a:t>
            </a:r>
          </a:p>
          <a:p>
            <a:r>
              <a:rPr lang="en-US" dirty="0"/>
              <a:t>By identifying known and predictable risks, </a:t>
            </a:r>
          </a:p>
          <a:p>
            <a:r>
              <a:rPr lang="en-US" dirty="0"/>
              <a:t>the project manager takes a first step toward avoiding them when possible and controlling them when necessary.</a:t>
            </a:r>
          </a:p>
          <a:p>
            <a:r>
              <a:rPr lang="en-US" dirty="0"/>
              <a:t>There are two distinct types of risks: </a:t>
            </a:r>
          </a:p>
          <a:p>
            <a:pPr marL="914400" lvl="1" indent="-457200">
              <a:buFont typeface="+mj-lt"/>
              <a:buAutoNum type="arabicPeriod"/>
            </a:pPr>
            <a:r>
              <a:rPr lang="en-US" dirty="0"/>
              <a:t>Generic risks are a potential threat to every software project. </a:t>
            </a:r>
          </a:p>
          <a:p>
            <a:pPr marL="914400" lvl="1" indent="-457200">
              <a:buFont typeface="+mj-lt"/>
              <a:buAutoNum type="arabicPeriod"/>
            </a:pPr>
            <a:r>
              <a:rPr lang="en-US" dirty="0"/>
              <a:t>Product-specific risks can be identified only by those with a clear understanding of the technology</a:t>
            </a:r>
            <a:endParaRPr lang="en-IN" dirty="0"/>
          </a:p>
        </p:txBody>
      </p:sp>
    </p:spTree>
    <p:extLst>
      <p:ext uri="{BB962C8B-B14F-4D97-AF65-F5344CB8AC3E}">
        <p14:creationId xmlns:p14="http://schemas.microsoft.com/office/powerpoint/2010/main" val="171385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41F5-0B48-0332-D532-1C5B40DFF92F}"/>
              </a:ext>
            </a:extLst>
          </p:cNvPr>
          <p:cNvSpPr>
            <a:spLocks noGrp="1"/>
          </p:cNvSpPr>
          <p:nvPr>
            <p:ph type="title"/>
          </p:nvPr>
        </p:nvSpPr>
        <p:spPr>
          <a:xfrm>
            <a:off x="838200" y="0"/>
            <a:ext cx="10515600" cy="491767"/>
          </a:xfrm>
        </p:spPr>
        <p:txBody>
          <a:bodyPr>
            <a:normAutofit fontScale="90000"/>
          </a:bodyPr>
          <a:lstStyle/>
          <a:p>
            <a:r>
              <a:rPr lang="en-IN" b="1" dirty="0" err="1"/>
              <a:t>Contd</a:t>
            </a:r>
            <a:r>
              <a:rPr lang="en-IN" dirty="0"/>
              <a:t>…</a:t>
            </a:r>
          </a:p>
        </p:txBody>
      </p:sp>
      <p:pic>
        <p:nvPicPr>
          <p:cNvPr id="5" name="Content Placeholder 4">
            <a:extLst>
              <a:ext uri="{FF2B5EF4-FFF2-40B4-BE49-F238E27FC236}">
                <a16:creationId xmlns:a16="http://schemas.microsoft.com/office/drawing/2014/main" id="{22401C79-AD2B-F8BC-3B99-544FF77C046B}"/>
              </a:ext>
            </a:extLst>
          </p:cNvPr>
          <p:cNvPicPr>
            <a:picLocks noGrp="1" noChangeAspect="1"/>
          </p:cNvPicPr>
          <p:nvPr>
            <p:ph idx="1"/>
          </p:nvPr>
        </p:nvPicPr>
        <p:blipFill>
          <a:blip r:embed="rId2"/>
          <a:stretch>
            <a:fillRect/>
          </a:stretch>
        </p:blipFill>
        <p:spPr>
          <a:xfrm>
            <a:off x="685794" y="491768"/>
            <a:ext cx="9840698" cy="2273203"/>
          </a:xfrm>
        </p:spPr>
      </p:pic>
      <p:pic>
        <p:nvPicPr>
          <p:cNvPr id="7" name="Picture 6">
            <a:extLst>
              <a:ext uri="{FF2B5EF4-FFF2-40B4-BE49-F238E27FC236}">
                <a16:creationId xmlns:a16="http://schemas.microsoft.com/office/drawing/2014/main" id="{7E1F2F18-4641-72D8-0859-17F56F83A7CB}"/>
              </a:ext>
            </a:extLst>
          </p:cNvPr>
          <p:cNvPicPr>
            <a:picLocks noChangeAspect="1"/>
          </p:cNvPicPr>
          <p:nvPr/>
        </p:nvPicPr>
        <p:blipFill>
          <a:blip r:embed="rId3"/>
          <a:stretch>
            <a:fillRect/>
          </a:stretch>
        </p:blipFill>
        <p:spPr>
          <a:xfrm>
            <a:off x="1126682" y="2764971"/>
            <a:ext cx="9612066" cy="3712029"/>
          </a:xfrm>
          <a:prstGeom prst="rect">
            <a:avLst/>
          </a:prstGeom>
        </p:spPr>
      </p:pic>
    </p:spTree>
    <p:extLst>
      <p:ext uri="{BB962C8B-B14F-4D97-AF65-F5344CB8AC3E}">
        <p14:creationId xmlns:p14="http://schemas.microsoft.com/office/powerpoint/2010/main" val="3258655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E60AB-F71D-C97C-D338-612EE1520C85}"/>
              </a:ext>
            </a:extLst>
          </p:cNvPr>
          <p:cNvSpPr>
            <a:spLocks noGrp="1"/>
          </p:cNvSpPr>
          <p:nvPr>
            <p:ph type="title"/>
          </p:nvPr>
        </p:nvSpPr>
        <p:spPr>
          <a:xfrm>
            <a:off x="838200" y="365126"/>
            <a:ext cx="10515600" cy="315912"/>
          </a:xfrm>
        </p:spPr>
        <p:txBody>
          <a:bodyPr>
            <a:normAutofit fontScale="90000"/>
          </a:bodyPr>
          <a:lstStyle/>
          <a:p>
            <a:r>
              <a:rPr lang="en-IN" b="1" dirty="0"/>
              <a:t>Risk projection</a:t>
            </a:r>
          </a:p>
        </p:txBody>
      </p:sp>
      <p:sp>
        <p:nvSpPr>
          <p:cNvPr id="3" name="Content Placeholder 2">
            <a:extLst>
              <a:ext uri="{FF2B5EF4-FFF2-40B4-BE49-F238E27FC236}">
                <a16:creationId xmlns:a16="http://schemas.microsoft.com/office/drawing/2014/main" id="{658BCFE9-75B9-F791-7AF4-9F5AD7122687}"/>
              </a:ext>
            </a:extLst>
          </p:cNvPr>
          <p:cNvSpPr>
            <a:spLocks noGrp="1"/>
          </p:cNvSpPr>
          <p:nvPr>
            <p:ph idx="1"/>
          </p:nvPr>
        </p:nvSpPr>
        <p:spPr>
          <a:xfrm>
            <a:off x="838200" y="1023257"/>
            <a:ext cx="10515600" cy="5153706"/>
          </a:xfrm>
        </p:spPr>
        <p:txBody>
          <a:bodyPr/>
          <a:lstStyle/>
          <a:p>
            <a:r>
              <a:rPr lang="en-US" dirty="0"/>
              <a:t>Risk projection, also called risk estimation, attempts to rate each risk in two ways— (1) the likelihood or probability that the risk is real and (2) the consequences of the problems associated with the risk</a:t>
            </a:r>
            <a:endParaRPr lang="en-IN" dirty="0"/>
          </a:p>
        </p:txBody>
      </p:sp>
    </p:spTree>
    <p:extLst>
      <p:ext uri="{BB962C8B-B14F-4D97-AF65-F5344CB8AC3E}">
        <p14:creationId xmlns:p14="http://schemas.microsoft.com/office/powerpoint/2010/main" val="3060024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ED1BD-AE6B-5113-BFF9-E2D2438FCC7B}"/>
              </a:ext>
            </a:extLst>
          </p:cNvPr>
          <p:cNvSpPr>
            <a:spLocks noGrp="1"/>
          </p:cNvSpPr>
          <p:nvPr>
            <p:ph type="title"/>
          </p:nvPr>
        </p:nvSpPr>
        <p:spPr>
          <a:xfrm>
            <a:off x="838200" y="0"/>
            <a:ext cx="10515600" cy="1023258"/>
          </a:xfrm>
        </p:spPr>
        <p:txBody>
          <a:bodyPr>
            <a:normAutofit/>
          </a:bodyPr>
          <a:lstStyle/>
          <a:p>
            <a:r>
              <a:rPr lang="en-IN" dirty="0"/>
              <a:t>Impact assessment.</a:t>
            </a:r>
          </a:p>
        </p:txBody>
      </p:sp>
      <p:pic>
        <p:nvPicPr>
          <p:cNvPr id="5" name="Content Placeholder 4">
            <a:extLst>
              <a:ext uri="{FF2B5EF4-FFF2-40B4-BE49-F238E27FC236}">
                <a16:creationId xmlns:a16="http://schemas.microsoft.com/office/drawing/2014/main" id="{5BCE4F33-8277-A999-1CED-89E4FDA0A8F4}"/>
              </a:ext>
            </a:extLst>
          </p:cNvPr>
          <p:cNvPicPr>
            <a:picLocks noGrp="1" noChangeAspect="1"/>
          </p:cNvPicPr>
          <p:nvPr>
            <p:ph idx="1"/>
          </p:nvPr>
        </p:nvPicPr>
        <p:blipFill>
          <a:blip r:embed="rId2"/>
          <a:stretch>
            <a:fillRect/>
          </a:stretch>
        </p:blipFill>
        <p:spPr>
          <a:xfrm>
            <a:off x="838200" y="805542"/>
            <a:ext cx="10341429" cy="6052458"/>
          </a:xfrm>
        </p:spPr>
      </p:pic>
    </p:spTree>
    <p:extLst>
      <p:ext uri="{BB962C8B-B14F-4D97-AF65-F5344CB8AC3E}">
        <p14:creationId xmlns:p14="http://schemas.microsoft.com/office/powerpoint/2010/main" val="1875460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57A11-9422-32AD-1298-02323A66F226}"/>
              </a:ext>
            </a:extLst>
          </p:cNvPr>
          <p:cNvSpPr>
            <a:spLocks noGrp="1"/>
          </p:cNvSpPr>
          <p:nvPr>
            <p:ph type="title"/>
          </p:nvPr>
        </p:nvSpPr>
        <p:spPr>
          <a:xfrm>
            <a:off x="838200" y="0"/>
            <a:ext cx="10515600" cy="892630"/>
          </a:xfrm>
        </p:spPr>
        <p:txBody>
          <a:bodyPr>
            <a:normAutofit/>
          </a:bodyPr>
          <a:lstStyle/>
          <a:p>
            <a:r>
              <a:rPr lang="en-US" dirty="0"/>
              <a:t>Sample risk table prior to sorting</a:t>
            </a:r>
            <a:endParaRPr lang="en-IN" dirty="0"/>
          </a:p>
        </p:txBody>
      </p:sp>
      <p:pic>
        <p:nvPicPr>
          <p:cNvPr id="5" name="Content Placeholder 4">
            <a:extLst>
              <a:ext uri="{FF2B5EF4-FFF2-40B4-BE49-F238E27FC236}">
                <a16:creationId xmlns:a16="http://schemas.microsoft.com/office/drawing/2014/main" id="{78471565-E780-D59D-E87F-DEE2CCA4AAED}"/>
              </a:ext>
            </a:extLst>
          </p:cNvPr>
          <p:cNvPicPr>
            <a:picLocks noGrp="1" noChangeAspect="1"/>
          </p:cNvPicPr>
          <p:nvPr>
            <p:ph idx="1"/>
          </p:nvPr>
        </p:nvPicPr>
        <p:blipFill>
          <a:blip r:embed="rId2"/>
          <a:stretch>
            <a:fillRect/>
          </a:stretch>
        </p:blipFill>
        <p:spPr>
          <a:xfrm>
            <a:off x="838200" y="892630"/>
            <a:ext cx="8227245" cy="5834741"/>
          </a:xfrm>
        </p:spPr>
      </p:pic>
    </p:spTree>
    <p:extLst>
      <p:ext uri="{BB962C8B-B14F-4D97-AF65-F5344CB8AC3E}">
        <p14:creationId xmlns:p14="http://schemas.microsoft.com/office/powerpoint/2010/main" val="506999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85DCD-F269-CFEB-B424-E8C0643C321E}"/>
              </a:ext>
            </a:extLst>
          </p:cNvPr>
          <p:cNvSpPr>
            <a:spLocks noGrp="1"/>
          </p:cNvSpPr>
          <p:nvPr>
            <p:ph type="title"/>
          </p:nvPr>
        </p:nvSpPr>
        <p:spPr>
          <a:xfrm>
            <a:off x="838200" y="250371"/>
            <a:ext cx="10515600" cy="1440317"/>
          </a:xfrm>
        </p:spPr>
        <p:txBody>
          <a:bodyPr/>
          <a:lstStyle/>
          <a:p>
            <a:r>
              <a:rPr lang="en-IN" dirty="0" err="1"/>
              <a:t>Contd</a:t>
            </a:r>
            <a:r>
              <a:rPr lang="en-IN" dirty="0"/>
              <a:t>…</a:t>
            </a:r>
          </a:p>
        </p:txBody>
      </p:sp>
      <p:pic>
        <p:nvPicPr>
          <p:cNvPr id="5" name="Content Placeholder 4">
            <a:extLst>
              <a:ext uri="{FF2B5EF4-FFF2-40B4-BE49-F238E27FC236}">
                <a16:creationId xmlns:a16="http://schemas.microsoft.com/office/drawing/2014/main" id="{0BCD2C2E-3137-3462-4743-545EE1960A03}"/>
              </a:ext>
            </a:extLst>
          </p:cNvPr>
          <p:cNvPicPr>
            <a:picLocks noGrp="1" noChangeAspect="1"/>
          </p:cNvPicPr>
          <p:nvPr>
            <p:ph idx="1"/>
          </p:nvPr>
        </p:nvPicPr>
        <p:blipFill>
          <a:blip r:embed="rId2"/>
          <a:stretch>
            <a:fillRect/>
          </a:stretch>
        </p:blipFill>
        <p:spPr>
          <a:xfrm>
            <a:off x="1458686" y="1219200"/>
            <a:ext cx="7251304" cy="5268685"/>
          </a:xfrm>
        </p:spPr>
      </p:pic>
    </p:spTree>
    <p:extLst>
      <p:ext uri="{BB962C8B-B14F-4D97-AF65-F5344CB8AC3E}">
        <p14:creationId xmlns:p14="http://schemas.microsoft.com/office/powerpoint/2010/main" val="296209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5F55-3B30-4096-8500-D0FAA19813E0}"/>
              </a:ext>
            </a:extLst>
          </p:cNvPr>
          <p:cNvSpPr>
            <a:spLocks noGrp="1"/>
          </p:cNvSpPr>
          <p:nvPr>
            <p:ph type="title"/>
          </p:nvPr>
        </p:nvSpPr>
        <p:spPr>
          <a:xfrm>
            <a:off x="838200" y="200931"/>
            <a:ext cx="10515600" cy="757011"/>
          </a:xfrm>
        </p:spPr>
        <p:txBody>
          <a:bodyPr>
            <a:normAutofit/>
          </a:bodyPr>
          <a:lstStyle/>
          <a:p>
            <a:r>
              <a:rPr lang="en-IN" b="1" dirty="0"/>
              <a:t>Assessing Risk Impact</a:t>
            </a:r>
            <a:r>
              <a:rPr lang="en-IN" b="1" dirty="0">
                <a:solidFill>
                  <a:srgbClr val="FF0000"/>
                </a:solidFill>
              </a:rPr>
              <a:t>**</a:t>
            </a:r>
          </a:p>
        </p:txBody>
      </p:sp>
      <p:pic>
        <p:nvPicPr>
          <p:cNvPr id="5" name="Content Placeholder 4">
            <a:extLst>
              <a:ext uri="{FF2B5EF4-FFF2-40B4-BE49-F238E27FC236}">
                <a16:creationId xmlns:a16="http://schemas.microsoft.com/office/drawing/2014/main" id="{7050D010-9924-3862-7853-CB883DAEE93B}"/>
              </a:ext>
            </a:extLst>
          </p:cNvPr>
          <p:cNvPicPr>
            <a:picLocks noGrp="1" noChangeAspect="1"/>
          </p:cNvPicPr>
          <p:nvPr>
            <p:ph idx="1"/>
          </p:nvPr>
        </p:nvPicPr>
        <p:blipFill>
          <a:blip r:embed="rId2"/>
          <a:stretch>
            <a:fillRect/>
          </a:stretch>
        </p:blipFill>
        <p:spPr>
          <a:xfrm>
            <a:off x="838200" y="1099456"/>
            <a:ext cx="10439400" cy="5557612"/>
          </a:xfrm>
        </p:spPr>
      </p:pic>
    </p:spTree>
    <p:extLst>
      <p:ext uri="{BB962C8B-B14F-4D97-AF65-F5344CB8AC3E}">
        <p14:creationId xmlns:p14="http://schemas.microsoft.com/office/powerpoint/2010/main" val="2658329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9DBE-9EEB-7241-DA93-02DBBCEF6F3D}"/>
              </a:ext>
            </a:extLst>
          </p:cNvPr>
          <p:cNvSpPr>
            <a:spLocks noGrp="1"/>
          </p:cNvSpPr>
          <p:nvPr>
            <p:ph type="title"/>
          </p:nvPr>
        </p:nvSpPr>
        <p:spPr>
          <a:xfrm>
            <a:off x="838200" y="365125"/>
            <a:ext cx="10515600" cy="636361"/>
          </a:xfrm>
        </p:spPr>
        <p:txBody>
          <a:bodyPr>
            <a:normAutofit/>
          </a:bodyPr>
          <a:lstStyle/>
          <a:p>
            <a:r>
              <a:rPr lang="en-US" sz="3600" dirty="0"/>
              <a:t>RISK MITIGATION, MONITORING, AND MANAGEMENT</a:t>
            </a:r>
            <a:endParaRPr lang="en-IN" sz="3600" dirty="0"/>
          </a:p>
        </p:txBody>
      </p:sp>
      <p:sp>
        <p:nvSpPr>
          <p:cNvPr id="3" name="Content Placeholder 2">
            <a:extLst>
              <a:ext uri="{FF2B5EF4-FFF2-40B4-BE49-F238E27FC236}">
                <a16:creationId xmlns:a16="http://schemas.microsoft.com/office/drawing/2014/main" id="{A64EAA03-ED8C-52C3-C62C-E82555151052}"/>
              </a:ext>
            </a:extLst>
          </p:cNvPr>
          <p:cNvSpPr>
            <a:spLocks noGrp="1"/>
          </p:cNvSpPr>
          <p:nvPr>
            <p:ph idx="1"/>
          </p:nvPr>
        </p:nvSpPr>
        <p:spPr>
          <a:xfrm>
            <a:off x="838200" y="1208314"/>
            <a:ext cx="10515600" cy="4968649"/>
          </a:xfrm>
        </p:spPr>
        <p:txBody>
          <a:bodyPr/>
          <a:lstStyle/>
          <a:p>
            <a:pPr algn="l"/>
            <a:r>
              <a:rPr lang="en-US" sz="1800" b="0" i="0" u="none" strike="noStrike" baseline="0" dirty="0">
                <a:latin typeface="Leawood-Book"/>
              </a:rPr>
              <a:t>All of the risk analysis activities presented to this point have a single goal—to assist the project team in developing a strategy for dealing with risk.</a:t>
            </a:r>
          </a:p>
          <a:p>
            <a:pPr algn="l"/>
            <a:r>
              <a:rPr lang="en-IN" sz="1800" b="0" i="0" u="none" strike="noStrike" baseline="0" dirty="0">
                <a:latin typeface="Leawood-Book"/>
              </a:rPr>
              <a:t>An effective strategy </a:t>
            </a:r>
            <a:r>
              <a:rPr lang="en-US" sz="1800" b="0" i="0" u="none" strike="noStrike" baseline="0" dirty="0">
                <a:latin typeface="Leawood-Book"/>
              </a:rPr>
              <a:t>must consider three issues: risk avoidance, risk monitoring, and risk management </a:t>
            </a:r>
            <a:r>
              <a:rPr lang="en-IN" sz="1800" b="0" i="0" u="none" strike="noStrike" baseline="0" dirty="0">
                <a:latin typeface="Leawood-Book"/>
              </a:rPr>
              <a:t>and contingency planning.</a:t>
            </a:r>
            <a:endParaRPr lang="en-IN" dirty="0"/>
          </a:p>
        </p:txBody>
      </p:sp>
    </p:spTree>
    <p:extLst>
      <p:ext uri="{BB962C8B-B14F-4D97-AF65-F5344CB8AC3E}">
        <p14:creationId xmlns:p14="http://schemas.microsoft.com/office/powerpoint/2010/main" val="2235802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017D7C5-A0B6-689F-2624-E853D1658E27}"/>
              </a:ext>
            </a:extLst>
          </p:cNvPr>
          <p:cNvSpPr>
            <a:spLocks noGrp="1"/>
          </p:cNvSpPr>
          <p:nvPr>
            <p:ph idx="1"/>
          </p:nvPr>
        </p:nvSpPr>
        <p:spPr>
          <a:xfrm>
            <a:off x="838200" y="1121230"/>
            <a:ext cx="10515600" cy="5055733"/>
          </a:xfrm>
        </p:spPr>
        <p:txBody>
          <a:bodyPr/>
          <a:lstStyle/>
          <a:p>
            <a:pPr algn="l"/>
            <a:r>
              <a:rPr lang="en-US" dirty="0"/>
              <a:t>The RMMM plan documents all work performed as part of risk analysis and is used by the project manager as part of the overall project plan.</a:t>
            </a:r>
          </a:p>
          <a:p>
            <a:pPr algn="l"/>
            <a:r>
              <a:rPr lang="en-US" dirty="0"/>
              <a:t>Some software teams do not develop a formal RMMM document. Rather, each risk is documented individually using a </a:t>
            </a:r>
            <a:r>
              <a:rPr lang="en-US" b="1" dirty="0">
                <a:solidFill>
                  <a:srgbClr val="FF0000"/>
                </a:solidFill>
              </a:rPr>
              <a:t>risk information sheet (RIS)</a:t>
            </a:r>
            <a:endParaRPr lang="en-IN" b="1" dirty="0">
              <a:solidFill>
                <a:srgbClr val="FF0000"/>
              </a:solidFill>
            </a:endParaRPr>
          </a:p>
        </p:txBody>
      </p:sp>
      <p:sp>
        <p:nvSpPr>
          <p:cNvPr id="9" name="Title 8">
            <a:extLst>
              <a:ext uri="{FF2B5EF4-FFF2-40B4-BE49-F238E27FC236}">
                <a16:creationId xmlns:a16="http://schemas.microsoft.com/office/drawing/2014/main" id="{AF1BBD76-BAD5-825B-DE9F-FCA15465690F}"/>
              </a:ext>
            </a:extLst>
          </p:cNvPr>
          <p:cNvSpPr>
            <a:spLocks noGrp="1"/>
          </p:cNvSpPr>
          <p:nvPr>
            <p:ph type="title"/>
          </p:nvPr>
        </p:nvSpPr>
        <p:spPr>
          <a:xfrm>
            <a:off x="838200" y="365126"/>
            <a:ext cx="10515600" cy="756104"/>
          </a:xfrm>
        </p:spPr>
        <p:txBody>
          <a:bodyPr/>
          <a:lstStyle/>
          <a:p>
            <a:r>
              <a:rPr lang="en-IN" dirty="0"/>
              <a:t>THE RMMM PLAN</a:t>
            </a:r>
          </a:p>
        </p:txBody>
      </p:sp>
    </p:spTree>
    <p:extLst>
      <p:ext uri="{BB962C8B-B14F-4D97-AF65-F5344CB8AC3E}">
        <p14:creationId xmlns:p14="http://schemas.microsoft.com/office/powerpoint/2010/main" val="919875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7777-E87D-FB51-B21C-D6ED1F9A578B}"/>
              </a:ext>
            </a:extLst>
          </p:cNvPr>
          <p:cNvSpPr>
            <a:spLocks noGrp="1"/>
          </p:cNvSpPr>
          <p:nvPr>
            <p:ph type="title"/>
          </p:nvPr>
        </p:nvSpPr>
        <p:spPr>
          <a:xfrm>
            <a:off x="838200" y="1"/>
            <a:ext cx="10515600" cy="772885"/>
          </a:xfrm>
        </p:spPr>
        <p:txBody>
          <a:bodyPr/>
          <a:lstStyle/>
          <a:p>
            <a:r>
              <a:rPr lang="en-IN" dirty="0"/>
              <a:t>Example of RMMM Plan</a:t>
            </a:r>
          </a:p>
        </p:txBody>
      </p:sp>
      <p:pic>
        <p:nvPicPr>
          <p:cNvPr id="5" name="Content Placeholder 4">
            <a:extLst>
              <a:ext uri="{FF2B5EF4-FFF2-40B4-BE49-F238E27FC236}">
                <a16:creationId xmlns:a16="http://schemas.microsoft.com/office/drawing/2014/main" id="{110B1184-3F52-0DC5-F2A3-F277E0635320}"/>
              </a:ext>
            </a:extLst>
          </p:cNvPr>
          <p:cNvPicPr>
            <a:picLocks noGrp="1" noChangeAspect="1"/>
          </p:cNvPicPr>
          <p:nvPr>
            <p:ph idx="1"/>
          </p:nvPr>
        </p:nvPicPr>
        <p:blipFill>
          <a:blip r:embed="rId2"/>
          <a:stretch>
            <a:fillRect/>
          </a:stretch>
        </p:blipFill>
        <p:spPr>
          <a:xfrm>
            <a:off x="968829" y="772886"/>
            <a:ext cx="7277243" cy="5834743"/>
          </a:xfrm>
        </p:spPr>
      </p:pic>
    </p:spTree>
    <p:extLst>
      <p:ext uri="{BB962C8B-B14F-4D97-AF65-F5344CB8AC3E}">
        <p14:creationId xmlns:p14="http://schemas.microsoft.com/office/powerpoint/2010/main" val="853657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703</Words>
  <Application>Microsoft Office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Leawood-Book</vt:lpstr>
      <vt:lpstr>Leawood-BookItalic</vt:lpstr>
      <vt:lpstr>Times New Roman</vt:lpstr>
      <vt:lpstr>Office Theme</vt:lpstr>
      <vt:lpstr>RISK MANAGEMENT Module 2</vt:lpstr>
      <vt:lpstr>What is Risk?</vt:lpstr>
      <vt:lpstr>Solution for the risk management</vt:lpstr>
      <vt:lpstr>Contd…</vt:lpstr>
      <vt:lpstr>Seven Principles of Risk Management</vt:lpstr>
      <vt:lpstr>Risk identification</vt:lpstr>
      <vt:lpstr>Contd…</vt:lpstr>
      <vt:lpstr>Risk projection</vt:lpstr>
      <vt:lpstr>Impact assessment.</vt:lpstr>
      <vt:lpstr>Sample risk table prior to sorting</vt:lpstr>
      <vt:lpstr>Contd…</vt:lpstr>
      <vt:lpstr>Assessing Risk Impact**</vt:lpstr>
      <vt:lpstr>RISK MITIGATION, MONITORING, AND MANAGEMENT</vt:lpstr>
      <vt:lpstr>THE RMMM PLAN</vt:lpstr>
      <vt:lpstr>Example of RMMM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3</cp:revision>
  <dcterms:created xsi:type="dcterms:W3CDTF">2025-02-10T05:51:05Z</dcterms:created>
  <dcterms:modified xsi:type="dcterms:W3CDTF">2025-02-11T11:23:53Z</dcterms:modified>
</cp:coreProperties>
</file>