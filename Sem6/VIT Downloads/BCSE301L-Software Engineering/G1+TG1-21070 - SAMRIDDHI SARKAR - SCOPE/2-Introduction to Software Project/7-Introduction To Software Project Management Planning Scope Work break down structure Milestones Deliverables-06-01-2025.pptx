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58" r:id="rId5"/>
    <p:sldId id="259" r:id="rId6"/>
    <p:sldId id="260" r:id="rId7"/>
    <p:sldId id="261" r:id="rId8"/>
    <p:sldId id="262" r:id="rId9"/>
    <p:sldId id="263" r:id="rId10"/>
    <p:sldId id="264" r:id="rId11"/>
    <p:sldId id="265" r:id="rId12"/>
    <p:sldId id="267" r:id="rId13"/>
    <p:sldId id="268" r:id="rId14"/>
    <p:sldId id="269" r:id="rId15"/>
    <p:sldId id="270" r:id="rId16"/>
    <p:sldId id="271" r:id="rId17"/>
    <p:sldId id="283" r:id="rId18"/>
    <p:sldId id="272" r:id="rId19"/>
    <p:sldId id="273" r:id="rId20"/>
    <p:sldId id="274" r:id="rId21"/>
    <p:sldId id="275" r:id="rId22"/>
    <p:sldId id="276" r:id="rId23"/>
    <p:sldId id="277" r:id="rId24"/>
    <p:sldId id="284" r:id="rId25"/>
    <p:sldId id="278" r:id="rId26"/>
    <p:sldId id="279" r:id="rId27"/>
    <p:sldId id="280" r:id="rId28"/>
    <p:sldId id="282" r:id="rId29"/>
    <p:sldId id="28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snapToGrid="0">
      <p:cViewPr varScale="1">
        <p:scale>
          <a:sx n="59" d="100"/>
          <a:sy n="59" d="100"/>
        </p:scale>
        <p:origin x="96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50598-D139-9943-0A1E-8DFC08EA05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EA19834-D602-3CAD-69EE-C80F71439E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C2D271-5FD9-C4E0-2CF3-34C2066CAA73}"/>
              </a:ext>
            </a:extLst>
          </p:cNvPr>
          <p:cNvSpPr>
            <a:spLocks noGrp="1"/>
          </p:cNvSpPr>
          <p:nvPr>
            <p:ph type="dt" sz="half" idx="10"/>
          </p:nvPr>
        </p:nvSpPr>
        <p:spPr/>
        <p:txBody>
          <a:bodyPr/>
          <a:lstStyle/>
          <a:p>
            <a:fld id="{3EE23759-8F4A-48D8-95A0-AA70607DE178}" type="datetimeFigureOut">
              <a:rPr lang="en-IN" smtClean="0"/>
              <a:t>05-01-2025</a:t>
            </a:fld>
            <a:endParaRPr lang="en-IN"/>
          </a:p>
        </p:txBody>
      </p:sp>
      <p:sp>
        <p:nvSpPr>
          <p:cNvPr id="5" name="Footer Placeholder 4">
            <a:extLst>
              <a:ext uri="{FF2B5EF4-FFF2-40B4-BE49-F238E27FC236}">
                <a16:creationId xmlns:a16="http://schemas.microsoft.com/office/drawing/2014/main" id="{486B2CF8-6050-4EF4-8FFC-F344D0506D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BC3F45-7BC4-32FA-1697-63543C31CE70}"/>
              </a:ext>
            </a:extLst>
          </p:cNvPr>
          <p:cNvSpPr>
            <a:spLocks noGrp="1"/>
          </p:cNvSpPr>
          <p:nvPr>
            <p:ph type="sldNum" sz="quarter" idx="12"/>
          </p:nvPr>
        </p:nvSpPr>
        <p:spPr/>
        <p:txBody>
          <a:bodyPr/>
          <a:lstStyle/>
          <a:p>
            <a:fld id="{20B48DA7-6A39-4E61-A4E3-05D7B7C6EC88}" type="slidenum">
              <a:rPr lang="en-IN" smtClean="0"/>
              <a:t>‹#›</a:t>
            </a:fld>
            <a:endParaRPr lang="en-IN"/>
          </a:p>
        </p:txBody>
      </p:sp>
    </p:spTree>
    <p:extLst>
      <p:ext uri="{BB962C8B-B14F-4D97-AF65-F5344CB8AC3E}">
        <p14:creationId xmlns:p14="http://schemas.microsoft.com/office/powerpoint/2010/main" val="2264202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2898E-C190-AB21-A94C-E85704A29F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7DF258-6578-CB73-7ECF-1D439981F6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4DD83B-343A-5629-93B5-7D886268268D}"/>
              </a:ext>
            </a:extLst>
          </p:cNvPr>
          <p:cNvSpPr>
            <a:spLocks noGrp="1"/>
          </p:cNvSpPr>
          <p:nvPr>
            <p:ph type="dt" sz="half" idx="10"/>
          </p:nvPr>
        </p:nvSpPr>
        <p:spPr/>
        <p:txBody>
          <a:bodyPr/>
          <a:lstStyle/>
          <a:p>
            <a:fld id="{3EE23759-8F4A-48D8-95A0-AA70607DE178}" type="datetimeFigureOut">
              <a:rPr lang="en-IN" smtClean="0"/>
              <a:t>05-01-2025</a:t>
            </a:fld>
            <a:endParaRPr lang="en-IN"/>
          </a:p>
        </p:txBody>
      </p:sp>
      <p:sp>
        <p:nvSpPr>
          <p:cNvPr id="5" name="Footer Placeholder 4">
            <a:extLst>
              <a:ext uri="{FF2B5EF4-FFF2-40B4-BE49-F238E27FC236}">
                <a16:creationId xmlns:a16="http://schemas.microsoft.com/office/drawing/2014/main" id="{E9ED46F6-B3FC-0FF5-1DE1-74B1029F6F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EA5BB8-8158-E672-EF59-3ED9C755039A}"/>
              </a:ext>
            </a:extLst>
          </p:cNvPr>
          <p:cNvSpPr>
            <a:spLocks noGrp="1"/>
          </p:cNvSpPr>
          <p:nvPr>
            <p:ph type="sldNum" sz="quarter" idx="12"/>
          </p:nvPr>
        </p:nvSpPr>
        <p:spPr/>
        <p:txBody>
          <a:bodyPr/>
          <a:lstStyle/>
          <a:p>
            <a:fld id="{20B48DA7-6A39-4E61-A4E3-05D7B7C6EC88}" type="slidenum">
              <a:rPr lang="en-IN" smtClean="0"/>
              <a:t>‹#›</a:t>
            </a:fld>
            <a:endParaRPr lang="en-IN"/>
          </a:p>
        </p:txBody>
      </p:sp>
    </p:spTree>
    <p:extLst>
      <p:ext uri="{BB962C8B-B14F-4D97-AF65-F5344CB8AC3E}">
        <p14:creationId xmlns:p14="http://schemas.microsoft.com/office/powerpoint/2010/main" val="3311812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C7825-E96E-48FE-0B03-56BC946695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8F2CDD5-FFAA-1000-B29F-3D896A5B08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9C210B-C0C6-FE60-754D-FE5A319A96A9}"/>
              </a:ext>
            </a:extLst>
          </p:cNvPr>
          <p:cNvSpPr>
            <a:spLocks noGrp="1"/>
          </p:cNvSpPr>
          <p:nvPr>
            <p:ph type="dt" sz="half" idx="10"/>
          </p:nvPr>
        </p:nvSpPr>
        <p:spPr/>
        <p:txBody>
          <a:bodyPr/>
          <a:lstStyle/>
          <a:p>
            <a:fld id="{3EE23759-8F4A-48D8-95A0-AA70607DE178}" type="datetimeFigureOut">
              <a:rPr lang="en-IN" smtClean="0"/>
              <a:t>05-01-2025</a:t>
            </a:fld>
            <a:endParaRPr lang="en-IN"/>
          </a:p>
        </p:txBody>
      </p:sp>
      <p:sp>
        <p:nvSpPr>
          <p:cNvPr id="5" name="Footer Placeholder 4">
            <a:extLst>
              <a:ext uri="{FF2B5EF4-FFF2-40B4-BE49-F238E27FC236}">
                <a16:creationId xmlns:a16="http://schemas.microsoft.com/office/drawing/2014/main" id="{D388DAA8-3F06-615F-73A0-50076FBFD1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9A2B23-6EAF-39D9-201A-2A68B839F639}"/>
              </a:ext>
            </a:extLst>
          </p:cNvPr>
          <p:cNvSpPr>
            <a:spLocks noGrp="1"/>
          </p:cNvSpPr>
          <p:nvPr>
            <p:ph type="sldNum" sz="quarter" idx="12"/>
          </p:nvPr>
        </p:nvSpPr>
        <p:spPr/>
        <p:txBody>
          <a:bodyPr/>
          <a:lstStyle/>
          <a:p>
            <a:fld id="{20B48DA7-6A39-4E61-A4E3-05D7B7C6EC88}" type="slidenum">
              <a:rPr lang="en-IN" smtClean="0"/>
              <a:t>‹#›</a:t>
            </a:fld>
            <a:endParaRPr lang="en-IN"/>
          </a:p>
        </p:txBody>
      </p:sp>
    </p:spTree>
    <p:extLst>
      <p:ext uri="{BB962C8B-B14F-4D97-AF65-F5344CB8AC3E}">
        <p14:creationId xmlns:p14="http://schemas.microsoft.com/office/powerpoint/2010/main" val="143743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68DFE-64BD-B722-2B47-EC3B1E37BF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C11AAC-855A-5C85-0836-2035F3B165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14FF2F-1CE5-66A6-FA6A-0DD70D2B76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6917A22-C996-AD2A-2AB2-A452AB5E2338}"/>
              </a:ext>
            </a:extLst>
          </p:cNvPr>
          <p:cNvSpPr>
            <a:spLocks noGrp="1"/>
          </p:cNvSpPr>
          <p:nvPr>
            <p:ph type="dt" sz="half" idx="10"/>
          </p:nvPr>
        </p:nvSpPr>
        <p:spPr/>
        <p:txBody>
          <a:bodyPr/>
          <a:lstStyle/>
          <a:p>
            <a:fld id="{3EE23759-8F4A-48D8-95A0-AA70607DE178}" type="datetimeFigureOut">
              <a:rPr lang="en-IN" smtClean="0"/>
              <a:t>05-01-2025</a:t>
            </a:fld>
            <a:endParaRPr lang="en-IN"/>
          </a:p>
        </p:txBody>
      </p:sp>
      <p:sp>
        <p:nvSpPr>
          <p:cNvPr id="6" name="Footer Placeholder 5">
            <a:extLst>
              <a:ext uri="{FF2B5EF4-FFF2-40B4-BE49-F238E27FC236}">
                <a16:creationId xmlns:a16="http://schemas.microsoft.com/office/drawing/2014/main" id="{772082AE-82F5-3142-F6EF-E7B909BEA2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903DED-F5DE-5D12-27DA-8AA32DB4F89B}"/>
              </a:ext>
            </a:extLst>
          </p:cNvPr>
          <p:cNvSpPr>
            <a:spLocks noGrp="1"/>
          </p:cNvSpPr>
          <p:nvPr>
            <p:ph type="sldNum" sz="quarter" idx="12"/>
          </p:nvPr>
        </p:nvSpPr>
        <p:spPr/>
        <p:txBody>
          <a:bodyPr/>
          <a:lstStyle/>
          <a:p>
            <a:fld id="{20B48DA7-6A39-4E61-A4E3-05D7B7C6EC88}" type="slidenum">
              <a:rPr lang="en-IN" smtClean="0"/>
              <a:t>‹#›</a:t>
            </a:fld>
            <a:endParaRPr lang="en-IN"/>
          </a:p>
        </p:txBody>
      </p:sp>
    </p:spTree>
    <p:extLst>
      <p:ext uri="{BB962C8B-B14F-4D97-AF65-F5344CB8AC3E}">
        <p14:creationId xmlns:p14="http://schemas.microsoft.com/office/powerpoint/2010/main" val="4050496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C735A-5E0C-CB13-3F9B-B4E9B166883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4DEE12-A94B-5EFC-CEE1-8E9028A9FD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515CAF-AACE-7369-8CF0-E668D2C2AB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583BFE5-9C5D-4F94-DBEA-3155626F8F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8FB9DA-02F2-B39B-BCED-3FC7DC44C4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DB3FF39-D3B2-AD9A-B3E4-3CF000B58057}"/>
              </a:ext>
            </a:extLst>
          </p:cNvPr>
          <p:cNvSpPr>
            <a:spLocks noGrp="1"/>
          </p:cNvSpPr>
          <p:nvPr>
            <p:ph type="dt" sz="half" idx="10"/>
          </p:nvPr>
        </p:nvSpPr>
        <p:spPr/>
        <p:txBody>
          <a:bodyPr/>
          <a:lstStyle/>
          <a:p>
            <a:fld id="{3EE23759-8F4A-48D8-95A0-AA70607DE178}" type="datetimeFigureOut">
              <a:rPr lang="en-IN" smtClean="0"/>
              <a:t>05-01-2025</a:t>
            </a:fld>
            <a:endParaRPr lang="en-IN"/>
          </a:p>
        </p:txBody>
      </p:sp>
      <p:sp>
        <p:nvSpPr>
          <p:cNvPr id="8" name="Footer Placeholder 7">
            <a:extLst>
              <a:ext uri="{FF2B5EF4-FFF2-40B4-BE49-F238E27FC236}">
                <a16:creationId xmlns:a16="http://schemas.microsoft.com/office/drawing/2014/main" id="{7534C938-A887-EFD3-C9F0-228F2D9522B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AA7FF70-51B0-2B36-C53D-B0D6770D6B31}"/>
              </a:ext>
            </a:extLst>
          </p:cNvPr>
          <p:cNvSpPr>
            <a:spLocks noGrp="1"/>
          </p:cNvSpPr>
          <p:nvPr>
            <p:ph type="sldNum" sz="quarter" idx="12"/>
          </p:nvPr>
        </p:nvSpPr>
        <p:spPr/>
        <p:txBody>
          <a:bodyPr/>
          <a:lstStyle/>
          <a:p>
            <a:fld id="{20B48DA7-6A39-4E61-A4E3-05D7B7C6EC88}" type="slidenum">
              <a:rPr lang="en-IN" smtClean="0"/>
              <a:t>‹#›</a:t>
            </a:fld>
            <a:endParaRPr lang="en-IN"/>
          </a:p>
        </p:txBody>
      </p:sp>
    </p:spTree>
    <p:extLst>
      <p:ext uri="{BB962C8B-B14F-4D97-AF65-F5344CB8AC3E}">
        <p14:creationId xmlns:p14="http://schemas.microsoft.com/office/powerpoint/2010/main" val="3833374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2EA1C-31EC-A581-6E87-C18BEAFD9F0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544D769-AA35-F521-0DE0-2F560C63D59C}"/>
              </a:ext>
            </a:extLst>
          </p:cNvPr>
          <p:cNvSpPr>
            <a:spLocks noGrp="1"/>
          </p:cNvSpPr>
          <p:nvPr>
            <p:ph type="dt" sz="half" idx="10"/>
          </p:nvPr>
        </p:nvSpPr>
        <p:spPr/>
        <p:txBody>
          <a:bodyPr/>
          <a:lstStyle/>
          <a:p>
            <a:fld id="{3EE23759-8F4A-48D8-95A0-AA70607DE178}" type="datetimeFigureOut">
              <a:rPr lang="en-IN" smtClean="0"/>
              <a:t>05-01-2025</a:t>
            </a:fld>
            <a:endParaRPr lang="en-IN"/>
          </a:p>
        </p:txBody>
      </p:sp>
      <p:sp>
        <p:nvSpPr>
          <p:cNvPr id="4" name="Footer Placeholder 3">
            <a:extLst>
              <a:ext uri="{FF2B5EF4-FFF2-40B4-BE49-F238E27FC236}">
                <a16:creationId xmlns:a16="http://schemas.microsoft.com/office/drawing/2014/main" id="{95151666-4C2B-7FD2-6257-7EDFB16F70E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95705B3-DF93-C72E-5501-A891AA196991}"/>
              </a:ext>
            </a:extLst>
          </p:cNvPr>
          <p:cNvSpPr>
            <a:spLocks noGrp="1"/>
          </p:cNvSpPr>
          <p:nvPr>
            <p:ph type="sldNum" sz="quarter" idx="12"/>
          </p:nvPr>
        </p:nvSpPr>
        <p:spPr/>
        <p:txBody>
          <a:bodyPr/>
          <a:lstStyle/>
          <a:p>
            <a:fld id="{20B48DA7-6A39-4E61-A4E3-05D7B7C6EC88}" type="slidenum">
              <a:rPr lang="en-IN" smtClean="0"/>
              <a:t>‹#›</a:t>
            </a:fld>
            <a:endParaRPr lang="en-IN"/>
          </a:p>
        </p:txBody>
      </p:sp>
    </p:spTree>
    <p:extLst>
      <p:ext uri="{BB962C8B-B14F-4D97-AF65-F5344CB8AC3E}">
        <p14:creationId xmlns:p14="http://schemas.microsoft.com/office/powerpoint/2010/main" val="4241051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D80724-E8DD-EB2B-BB7D-B2683EDBD463}"/>
              </a:ext>
            </a:extLst>
          </p:cNvPr>
          <p:cNvSpPr>
            <a:spLocks noGrp="1"/>
          </p:cNvSpPr>
          <p:nvPr>
            <p:ph type="dt" sz="half" idx="10"/>
          </p:nvPr>
        </p:nvSpPr>
        <p:spPr/>
        <p:txBody>
          <a:bodyPr/>
          <a:lstStyle/>
          <a:p>
            <a:fld id="{3EE23759-8F4A-48D8-95A0-AA70607DE178}" type="datetimeFigureOut">
              <a:rPr lang="en-IN" smtClean="0"/>
              <a:t>05-01-2025</a:t>
            </a:fld>
            <a:endParaRPr lang="en-IN"/>
          </a:p>
        </p:txBody>
      </p:sp>
      <p:sp>
        <p:nvSpPr>
          <p:cNvPr id="3" name="Footer Placeholder 2">
            <a:extLst>
              <a:ext uri="{FF2B5EF4-FFF2-40B4-BE49-F238E27FC236}">
                <a16:creationId xmlns:a16="http://schemas.microsoft.com/office/drawing/2014/main" id="{1F5B8192-C505-CB93-EE18-0D04BFE9AB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E3CB83C-3E42-4367-34F2-75C10D1AF355}"/>
              </a:ext>
            </a:extLst>
          </p:cNvPr>
          <p:cNvSpPr>
            <a:spLocks noGrp="1"/>
          </p:cNvSpPr>
          <p:nvPr>
            <p:ph type="sldNum" sz="quarter" idx="12"/>
          </p:nvPr>
        </p:nvSpPr>
        <p:spPr/>
        <p:txBody>
          <a:bodyPr/>
          <a:lstStyle/>
          <a:p>
            <a:fld id="{20B48DA7-6A39-4E61-A4E3-05D7B7C6EC88}" type="slidenum">
              <a:rPr lang="en-IN" smtClean="0"/>
              <a:t>‹#›</a:t>
            </a:fld>
            <a:endParaRPr lang="en-IN"/>
          </a:p>
        </p:txBody>
      </p:sp>
    </p:spTree>
    <p:extLst>
      <p:ext uri="{BB962C8B-B14F-4D97-AF65-F5344CB8AC3E}">
        <p14:creationId xmlns:p14="http://schemas.microsoft.com/office/powerpoint/2010/main" val="2364387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6BBB4-2152-BCDE-B402-D1B6BA9122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C80B12E-98A2-B318-D8F9-4699D4D72C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31D0B8F-0B53-40A4-E7D4-114E3FB04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5A17DE-CE07-F2F0-D59C-4FB38DB62CEE}"/>
              </a:ext>
            </a:extLst>
          </p:cNvPr>
          <p:cNvSpPr>
            <a:spLocks noGrp="1"/>
          </p:cNvSpPr>
          <p:nvPr>
            <p:ph type="dt" sz="half" idx="10"/>
          </p:nvPr>
        </p:nvSpPr>
        <p:spPr/>
        <p:txBody>
          <a:bodyPr/>
          <a:lstStyle/>
          <a:p>
            <a:fld id="{3EE23759-8F4A-48D8-95A0-AA70607DE178}" type="datetimeFigureOut">
              <a:rPr lang="en-IN" smtClean="0"/>
              <a:t>05-01-2025</a:t>
            </a:fld>
            <a:endParaRPr lang="en-IN"/>
          </a:p>
        </p:txBody>
      </p:sp>
      <p:sp>
        <p:nvSpPr>
          <p:cNvPr id="6" name="Footer Placeholder 5">
            <a:extLst>
              <a:ext uri="{FF2B5EF4-FFF2-40B4-BE49-F238E27FC236}">
                <a16:creationId xmlns:a16="http://schemas.microsoft.com/office/drawing/2014/main" id="{601FCBA2-C49C-18D8-9B60-DB907DD131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76FAD9-5879-63CD-3BBB-E02A1F9360EE}"/>
              </a:ext>
            </a:extLst>
          </p:cNvPr>
          <p:cNvSpPr>
            <a:spLocks noGrp="1"/>
          </p:cNvSpPr>
          <p:nvPr>
            <p:ph type="sldNum" sz="quarter" idx="12"/>
          </p:nvPr>
        </p:nvSpPr>
        <p:spPr/>
        <p:txBody>
          <a:bodyPr/>
          <a:lstStyle/>
          <a:p>
            <a:fld id="{20B48DA7-6A39-4E61-A4E3-05D7B7C6EC88}" type="slidenum">
              <a:rPr lang="en-IN" smtClean="0"/>
              <a:t>‹#›</a:t>
            </a:fld>
            <a:endParaRPr lang="en-IN"/>
          </a:p>
        </p:txBody>
      </p:sp>
    </p:spTree>
    <p:extLst>
      <p:ext uri="{BB962C8B-B14F-4D97-AF65-F5344CB8AC3E}">
        <p14:creationId xmlns:p14="http://schemas.microsoft.com/office/powerpoint/2010/main" val="2397772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AE688-B65F-F490-4BBA-565FB07C26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8DC0158-87DE-F063-007F-1A0234624E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CB6B530-38C4-FD7A-3FE7-E9DF80605A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3308F7-0918-D3B3-3268-E76611642883}"/>
              </a:ext>
            </a:extLst>
          </p:cNvPr>
          <p:cNvSpPr>
            <a:spLocks noGrp="1"/>
          </p:cNvSpPr>
          <p:nvPr>
            <p:ph type="dt" sz="half" idx="10"/>
          </p:nvPr>
        </p:nvSpPr>
        <p:spPr/>
        <p:txBody>
          <a:bodyPr/>
          <a:lstStyle/>
          <a:p>
            <a:fld id="{3EE23759-8F4A-48D8-95A0-AA70607DE178}" type="datetimeFigureOut">
              <a:rPr lang="en-IN" smtClean="0"/>
              <a:t>05-01-2025</a:t>
            </a:fld>
            <a:endParaRPr lang="en-IN"/>
          </a:p>
        </p:txBody>
      </p:sp>
      <p:sp>
        <p:nvSpPr>
          <p:cNvPr id="6" name="Footer Placeholder 5">
            <a:extLst>
              <a:ext uri="{FF2B5EF4-FFF2-40B4-BE49-F238E27FC236}">
                <a16:creationId xmlns:a16="http://schemas.microsoft.com/office/drawing/2014/main" id="{B32E590E-3EE2-808A-ACC9-6602100628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ADFD2C-085B-FA2B-1FF1-FFBE881728A2}"/>
              </a:ext>
            </a:extLst>
          </p:cNvPr>
          <p:cNvSpPr>
            <a:spLocks noGrp="1"/>
          </p:cNvSpPr>
          <p:nvPr>
            <p:ph type="sldNum" sz="quarter" idx="12"/>
          </p:nvPr>
        </p:nvSpPr>
        <p:spPr/>
        <p:txBody>
          <a:bodyPr/>
          <a:lstStyle/>
          <a:p>
            <a:fld id="{20B48DA7-6A39-4E61-A4E3-05D7B7C6EC88}" type="slidenum">
              <a:rPr lang="en-IN" smtClean="0"/>
              <a:t>‹#›</a:t>
            </a:fld>
            <a:endParaRPr lang="en-IN"/>
          </a:p>
        </p:txBody>
      </p:sp>
    </p:spTree>
    <p:extLst>
      <p:ext uri="{BB962C8B-B14F-4D97-AF65-F5344CB8AC3E}">
        <p14:creationId xmlns:p14="http://schemas.microsoft.com/office/powerpoint/2010/main" val="2851125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59108-9D4E-26B3-5FA0-B039C19640B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D974CA-D951-92AB-9350-6F04E9CC12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B582C0-5B03-F23E-92E0-98B13EE9F5D4}"/>
              </a:ext>
            </a:extLst>
          </p:cNvPr>
          <p:cNvSpPr>
            <a:spLocks noGrp="1"/>
          </p:cNvSpPr>
          <p:nvPr>
            <p:ph type="dt" sz="half" idx="10"/>
          </p:nvPr>
        </p:nvSpPr>
        <p:spPr/>
        <p:txBody>
          <a:bodyPr/>
          <a:lstStyle/>
          <a:p>
            <a:fld id="{3EE23759-8F4A-48D8-95A0-AA70607DE178}" type="datetimeFigureOut">
              <a:rPr lang="en-IN" smtClean="0"/>
              <a:t>05-01-2025</a:t>
            </a:fld>
            <a:endParaRPr lang="en-IN"/>
          </a:p>
        </p:txBody>
      </p:sp>
      <p:sp>
        <p:nvSpPr>
          <p:cNvPr id="5" name="Footer Placeholder 4">
            <a:extLst>
              <a:ext uri="{FF2B5EF4-FFF2-40B4-BE49-F238E27FC236}">
                <a16:creationId xmlns:a16="http://schemas.microsoft.com/office/drawing/2014/main" id="{77806162-F587-F344-378D-06E0364576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545A32-FE9B-30C8-F1AE-EC71258849B7}"/>
              </a:ext>
            </a:extLst>
          </p:cNvPr>
          <p:cNvSpPr>
            <a:spLocks noGrp="1"/>
          </p:cNvSpPr>
          <p:nvPr>
            <p:ph type="sldNum" sz="quarter" idx="12"/>
          </p:nvPr>
        </p:nvSpPr>
        <p:spPr/>
        <p:txBody>
          <a:bodyPr/>
          <a:lstStyle/>
          <a:p>
            <a:fld id="{20B48DA7-6A39-4E61-A4E3-05D7B7C6EC88}" type="slidenum">
              <a:rPr lang="en-IN" smtClean="0"/>
              <a:t>‹#›</a:t>
            </a:fld>
            <a:endParaRPr lang="en-IN"/>
          </a:p>
        </p:txBody>
      </p:sp>
    </p:spTree>
    <p:extLst>
      <p:ext uri="{BB962C8B-B14F-4D97-AF65-F5344CB8AC3E}">
        <p14:creationId xmlns:p14="http://schemas.microsoft.com/office/powerpoint/2010/main" val="2814805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36A003-ABEF-60D4-3A94-1195E6A094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D6428C-5E18-F6C0-0D10-CF99F34A5E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BFE43F-CC3C-CC9F-8F55-29A5FD280F85}"/>
              </a:ext>
            </a:extLst>
          </p:cNvPr>
          <p:cNvSpPr>
            <a:spLocks noGrp="1"/>
          </p:cNvSpPr>
          <p:nvPr>
            <p:ph type="dt" sz="half" idx="10"/>
          </p:nvPr>
        </p:nvSpPr>
        <p:spPr/>
        <p:txBody>
          <a:bodyPr/>
          <a:lstStyle/>
          <a:p>
            <a:fld id="{3EE23759-8F4A-48D8-95A0-AA70607DE178}" type="datetimeFigureOut">
              <a:rPr lang="en-IN" smtClean="0"/>
              <a:t>05-01-2025</a:t>
            </a:fld>
            <a:endParaRPr lang="en-IN"/>
          </a:p>
        </p:txBody>
      </p:sp>
      <p:sp>
        <p:nvSpPr>
          <p:cNvPr id="5" name="Footer Placeholder 4">
            <a:extLst>
              <a:ext uri="{FF2B5EF4-FFF2-40B4-BE49-F238E27FC236}">
                <a16:creationId xmlns:a16="http://schemas.microsoft.com/office/drawing/2014/main" id="{914EFF4E-6746-6C2A-7896-63B1930041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11D11B-04FC-EA21-E23D-67BE15B89575}"/>
              </a:ext>
            </a:extLst>
          </p:cNvPr>
          <p:cNvSpPr>
            <a:spLocks noGrp="1"/>
          </p:cNvSpPr>
          <p:nvPr>
            <p:ph type="sldNum" sz="quarter" idx="12"/>
          </p:nvPr>
        </p:nvSpPr>
        <p:spPr/>
        <p:txBody>
          <a:bodyPr/>
          <a:lstStyle/>
          <a:p>
            <a:fld id="{20B48DA7-6A39-4E61-A4E3-05D7B7C6EC88}" type="slidenum">
              <a:rPr lang="en-IN" smtClean="0"/>
              <a:t>‹#›</a:t>
            </a:fld>
            <a:endParaRPr lang="en-IN"/>
          </a:p>
        </p:txBody>
      </p:sp>
    </p:spTree>
    <p:extLst>
      <p:ext uri="{BB962C8B-B14F-4D97-AF65-F5344CB8AC3E}">
        <p14:creationId xmlns:p14="http://schemas.microsoft.com/office/powerpoint/2010/main" val="1042157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594D01-C60A-2AB9-3729-E23FE40E58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9FF318-3555-CE64-452A-E53EB23E64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27FFAD-E016-D3BC-9A29-8A049531A3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E23759-8F4A-48D8-95A0-AA70607DE178}" type="datetimeFigureOut">
              <a:rPr lang="en-IN" smtClean="0"/>
              <a:t>05-01-2025</a:t>
            </a:fld>
            <a:endParaRPr lang="en-IN"/>
          </a:p>
        </p:txBody>
      </p:sp>
      <p:sp>
        <p:nvSpPr>
          <p:cNvPr id="5" name="Footer Placeholder 4">
            <a:extLst>
              <a:ext uri="{FF2B5EF4-FFF2-40B4-BE49-F238E27FC236}">
                <a16:creationId xmlns:a16="http://schemas.microsoft.com/office/drawing/2014/main" id="{A0DD3C0D-B096-CCFF-9725-1E07F552D7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010F2A0-7E1A-E5B6-0DEB-DB7745A3EF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B48DA7-6A39-4E61-A4E3-05D7B7C6EC88}" type="slidenum">
              <a:rPr lang="en-IN" smtClean="0"/>
              <a:t>‹#›</a:t>
            </a:fld>
            <a:endParaRPr lang="en-IN"/>
          </a:p>
        </p:txBody>
      </p:sp>
    </p:spTree>
    <p:extLst>
      <p:ext uri="{BB962C8B-B14F-4D97-AF65-F5344CB8AC3E}">
        <p14:creationId xmlns:p14="http://schemas.microsoft.com/office/powerpoint/2010/main" val="33136381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3BCCA-71A1-C8BF-B5B2-54466BA62EF4}"/>
              </a:ext>
            </a:extLst>
          </p:cNvPr>
          <p:cNvSpPr>
            <a:spLocks noGrp="1"/>
          </p:cNvSpPr>
          <p:nvPr>
            <p:ph type="ctrTitle"/>
          </p:nvPr>
        </p:nvSpPr>
        <p:spPr/>
        <p:txBody>
          <a:bodyPr>
            <a:normAutofit/>
          </a:bodyPr>
          <a:lstStyle/>
          <a:p>
            <a:r>
              <a:rPr lang="en-US" sz="3200" b="1" i="0" u="none" strike="noStrike" baseline="0" dirty="0">
                <a:latin typeface="CIDFont+F1"/>
              </a:rPr>
              <a:t>Module:2 Introduction To Software Project</a:t>
            </a:r>
            <a:br>
              <a:rPr lang="en-US" sz="3200" b="1" i="0" u="none" strike="noStrike" baseline="0" dirty="0">
                <a:latin typeface="CIDFont+F1"/>
              </a:rPr>
            </a:br>
            <a:r>
              <a:rPr lang="en-IN" sz="3200" b="1" i="0" u="none" strike="noStrike" baseline="0" dirty="0">
                <a:latin typeface="CIDFont+F1"/>
              </a:rPr>
              <a:t>Management</a:t>
            </a:r>
            <a:endParaRPr lang="en-IN" sz="3200" b="1" dirty="0"/>
          </a:p>
        </p:txBody>
      </p:sp>
      <p:sp>
        <p:nvSpPr>
          <p:cNvPr id="3" name="Subtitle 2">
            <a:extLst>
              <a:ext uri="{FF2B5EF4-FFF2-40B4-BE49-F238E27FC236}">
                <a16:creationId xmlns:a16="http://schemas.microsoft.com/office/drawing/2014/main" id="{9B8D9AA9-0D23-67B5-41D1-A6023AE462D9}"/>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858631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C30F7-B63B-6D6F-4DCA-D384E045808B}"/>
              </a:ext>
            </a:extLst>
          </p:cNvPr>
          <p:cNvSpPr>
            <a:spLocks noGrp="1"/>
          </p:cNvSpPr>
          <p:nvPr>
            <p:ph type="title"/>
          </p:nvPr>
        </p:nvSpPr>
        <p:spPr>
          <a:xfrm>
            <a:off x="838200" y="365126"/>
            <a:ext cx="10515600" cy="571046"/>
          </a:xfrm>
        </p:spPr>
        <p:txBody>
          <a:bodyPr>
            <a:normAutofit/>
          </a:bodyPr>
          <a:lstStyle/>
          <a:p>
            <a:r>
              <a:rPr lang="en-IN" sz="2400" b="1" i="0" u="none" strike="noStrike" baseline="0" dirty="0">
                <a:solidFill>
                  <a:srgbClr val="AA1C24"/>
                </a:solidFill>
              </a:rPr>
              <a:t>SOFTWARE PROJECT MANAGEMENT</a:t>
            </a:r>
            <a:endParaRPr lang="en-IN" sz="2400" dirty="0"/>
          </a:p>
        </p:txBody>
      </p:sp>
      <p:sp>
        <p:nvSpPr>
          <p:cNvPr id="3" name="Content Placeholder 2">
            <a:extLst>
              <a:ext uri="{FF2B5EF4-FFF2-40B4-BE49-F238E27FC236}">
                <a16:creationId xmlns:a16="http://schemas.microsoft.com/office/drawing/2014/main" id="{058636D7-1766-E3BD-CF84-A62D399CF6CE}"/>
              </a:ext>
            </a:extLst>
          </p:cNvPr>
          <p:cNvSpPr>
            <a:spLocks noGrp="1"/>
          </p:cNvSpPr>
          <p:nvPr>
            <p:ph idx="1"/>
          </p:nvPr>
        </p:nvSpPr>
        <p:spPr>
          <a:xfrm>
            <a:off x="838200" y="1077686"/>
            <a:ext cx="10515600" cy="5099277"/>
          </a:xfrm>
        </p:spPr>
        <p:txBody>
          <a:bodyPr/>
          <a:lstStyle/>
          <a:p>
            <a:pPr algn="l"/>
            <a:r>
              <a:rPr lang="en-US" dirty="0"/>
              <a:t>In the past, many projects failed not because there weren't skilled technical professionals or enough resources, but because of poor project management practices. </a:t>
            </a:r>
            <a:r>
              <a:rPr lang="en-IN" sz="1800" b="0" i="0" u="none" strike="noStrike" baseline="0" dirty="0">
                <a:latin typeface="Tahoma" panose="020B0604030504040204" pitchFamily="34" charset="0"/>
              </a:rPr>
              <a:t>Therefore, it </a:t>
            </a:r>
            <a:r>
              <a:rPr lang="en-US" sz="1800" b="0" i="0" u="none" strike="noStrike" baseline="0" dirty="0">
                <a:latin typeface="Tahoma" panose="020B0604030504040204" pitchFamily="34" charset="0"/>
              </a:rPr>
              <a:t>is important to carefully learn the latest software project management </a:t>
            </a:r>
            <a:r>
              <a:rPr lang="en-IN" sz="1800" b="0" i="0" u="none" strike="noStrike" baseline="0" dirty="0">
                <a:latin typeface="Tahoma" panose="020B0604030504040204" pitchFamily="34" charset="0"/>
              </a:rPr>
              <a:t>techniques.</a:t>
            </a:r>
          </a:p>
          <a:p>
            <a:pPr algn="l"/>
            <a:r>
              <a:rPr lang="en-IN" sz="1800" b="1" dirty="0">
                <a:latin typeface="Tahoma" panose="020B0604030504040204" pitchFamily="34" charset="0"/>
              </a:rPr>
              <a:t>Objective</a:t>
            </a:r>
            <a:r>
              <a:rPr lang="en-IN" sz="1800" dirty="0">
                <a:latin typeface="Tahoma" panose="020B0604030504040204" pitchFamily="34" charset="0"/>
              </a:rPr>
              <a:t>: </a:t>
            </a:r>
            <a:r>
              <a:rPr lang="en-US" b="0" i="0" u="none" strike="noStrike" baseline="0" dirty="0">
                <a:latin typeface="Tahoma" panose="020B0604030504040204" pitchFamily="34" charset="0"/>
              </a:rPr>
              <a:t>The main goal of software project management is to </a:t>
            </a:r>
            <a:r>
              <a:rPr lang="en-US" b="0" i="0" u="none" strike="noStrike" baseline="0" dirty="0">
                <a:solidFill>
                  <a:srgbClr val="FF0000"/>
                </a:solidFill>
                <a:latin typeface="Tahoma" panose="020B0604030504040204" pitchFamily="34" charset="0"/>
              </a:rPr>
              <a:t>enable a group of developers </a:t>
            </a:r>
            <a:r>
              <a:rPr lang="en-US" b="0" i="0" u="none" strike="noStrike" baseline="0" dirty="0">
                <a:latin typeface="Tahoma" panose="020B0604030504040204" pitchFamily="34" charset="0"/>
              </a:rPr>
              <a:t>to work effectively towards the </a:t>
            </a:r>
            <a:r>
              <a:rPr lang="en-US" b="0" i="0" u="none" strike="noStrike" baseline="0" dirty="0">
                <a:solidFill>
                  <a:srgbClr val="FF0000"/>
                </a:solidFill>
                <a:latin typeface="Tahoma" panose="020B0604030504040204" pitchFamily="34" charset="0"/>
              </a:rPr>
              <a:t>successful completion </a:t>
            </a:r>
            <a:r>
              <a:rPr lang="en-US" b="0" i="0" u="none" strike="noStrike" baseline="0" dirty="0">
                <a:latin typeface="Tahoma" panose="020B0604030504040204" pitchFamily="34" charset="0"/>
              </a:rPr>
              <a:t>of a project.</a:t>
            </a:r>
            <a:endParaRPr lang="en-IN" dirty="0"/>
          </a:p>
        </p:txBody>
      </p:sp>
    </p:spTree>
    <p:extLst>
      <p:ext uri="{BB962C8B-B14F-4D97-AF65-F5344CB8AC3E}">
        <p14:creationId xmlns:p14="http://schemas.microsoft.com/office/powerpoint/2010/main" val="1677742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0E749-0C8A-CBD1-1CE9-003E5020210C}"/>
              </a:ext>
            </a:extLst>
          </p:cNvPr>
          <p:cNvSpPr>
            <a:spLocks noGrp="1"/>
          </p:cNvSpPr>
          <p:nvPr>
            <p:ph type="title"/>
          </p:nvPr>
        </p:nvSpPr>
        <p:spPr>
          <a:xfrm>
            <a:off x="838200" y="365125"/>
            <a:ext cx="10515600" cy="614589"/>
          </a:xfrm>
        </p:spPr>
        <p:txBody>
          <a:bodyPr>
            <a:normAutofit fontScale="90000"/>
          </a:bodyPr>
          <a:lstStyle/>
          <a:p>
            <a:r>
              <a:rPr lang="en-IN" dirty="0"/>
              <a:t>Management activities</a:t>
            </a:r>
          </a:p>
        </p:txBody>
      </p:sp>
      <p:sp>
        <p:nvSpPr>
          <p:cNvPr id="3" name="Content Placeholder 2">
            <a:extLst>
              <a:ext uri="{FF2B5EF4-FFF2-40B4-BE49-F238E27FC236}">
                <a16:creationId xmlns:a16="http://schemas.microsoft.com/office/drawing/2014/main" id="{2994FB58-B6FE-C6FB-3534-264AA363B9A7}"/>
              </a:ext>
            </a:extLst>
          </p:cNvPr>
          <p:cNvSpPr>
            <a:spLocks noGrp="1"/>
          </p:cNvSpPr>
          <p:nvPr>
            <p:ph idx="1"/>
          </p:nvPr>
        </p:nvSpPr>
        <p:spPr>
          <a:xfrm>
            <a:off x="838200" y="1328057"/>
            <a:ext cx="10515600" cy="4848906"/>
          </a:xfrm>
        </p:spPr>
        <p:txBody>
          <a:bodyPr/>
          <a:lstStyle/>
          <a:p>
            <a:pPr algn="l"/>
            <a:r>
              <a:rPr lang="en-IN" sz="1800" b="0" i="0" u="none" strike="noStrike" baseline="0" dirty="0">
                <a:latin typeface="Times-Roman"/>
              </a:rPr>
              <a:t>Proposal writing</a:t>
            </a:r>
          </a:p>
          <a:p>
            <a:pPr algn="l"/>
            <a:r>
              <a:rPr lang="en-IN" sz="1800" b="0" i="0" u="none" strike="noStrike" baseline="0" dirty="0">
                <a:latin typeface="Times-Roman"/>
              </a:rPr>
              <a:t>Project planning and scheduling</a:t>
            </a:r>
          </a:p>
          <a:p>
            <a:pPr algn="l"/>
            <a:r>
              <a:rPr lang="en-IN" sz="1800" b="0" i="0" u="none" strike="noStrike" baseline="0" dirty="0">
                <a:latin typeface="Times-Roman"/>
              </a:rPr>
              <a:t>Project cost</a:t>
            </a:r>
          </a:p>
          <a:p>
            <a:pPr algn="l"/>
            <a:r>
              <a:rPr lang="en-IN" sz="1800" b="0" i="0" u="none" strike="noStrike" baseline="0" dirty="0">
                <a:latin typeface="Times-Roman"/>
              </a:rPr>
              <a:t>Project monitoring and reviews</a:t>
            </a:r>
          </a:p>
          <a:p>
            <a:pPr algn="l"/>
            <a:r>
              <a:rPr lang="en-IN" sz="1800" b="0" i="0" u="none" strike="noStrike" baseline="0" dirty="0">
                <a:latin typeface="Times-Roman"/>
              </a:rPr>
              <a:t>Personnel selection and evaluation</a:t>
            </a:r>
          </a:p>
          <a:p>
            <a:pPr algn="l"/>
            <a:r>
              <a:rPr lang="en-IN" sz="1800" b="0" i="0" u="none" strike="noStrike" baseline="0" dirty="0">
                <a:latin typeface="Times-Roman"/>
              </a:rPr>
              <a:t>Report writing and presentations</a:t>
            </a:r>
            <a:endParaRPr lang="en-IN" dirty="0"/>
          </a:p>
        </p:txBody>
      </p:sp>
    </p:spTree>
    <p:extLst>
      <p:ext uri="{BB962C8B-B14F-4D97-AF65-F5344CB8AC3E}">
        <p14:creationId xmlns:p14="http://schemas.microsoft.com/office/powerpoint/2010/main" val="2647064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3A2E3-603F-C6CE-F09C-31111C3B9F71}"/>
              </a:ext>
            </a:extLst>
          </p:cNvPr>
          <p:cNvSpPr>
            <a:spLocks noGrp="1"/>
          </p:cNvSpPr>
          <p:nvPr>
            <p:ph type="title"/>
          </p:nvPr>
        </p:nvSpPr>
        <p:spPr>
          <a:xfrm>
            <a:off x="838200" y="365126"/>
            <a:ext cx="10515600" cy="875846"/>
          </a:xfrm>
        </p:spPr>
        <p:txBody>
          <a:bodyPr/>
          <a:lstStyle/>
          <a:p>
            <a:r>
              <a:rPr lang="en-IN" dirty="0"/>
              <a:t>Role of a project manager</a:t>
            </a:r>
          </a:p>
        </p:txBody>
      </p:sp>
      <p:sp>
        <p:nvSpPr>
          <p:cNvPr id="3" name="Content Placeholder 2">
            <a:extLst>
              <a:ext uri="{FF2B5EF4-FFF2-40B4-BE49-F238E27FC236}">
                <a16:creationId xmlns:a16="http://schemas.microsoft.com/office/drawing/2014/main" id="{398329F6-ABB7-1A19-BB89-7082597D53E8}"/>
              </a:ext>
            </a:extLst>
          </p:cNvPr>
          <p:cNvSpPr>
            <a:spLocks noGrp="1"/>
          </p:cNvSpPr>
          <p:nvPr>
            <p:ph idx="1"/>
          </p:nvPr>
        </p:nvSpPr>
        <p:spPr>
          <a:xfrm>
            <a:off x="838200" y="1404257"/>
            <a:ext cx="10515600" cy="4772706"/>
          </a:xfrm>
        </p:spPr>
        <p:txBody>
          <a:bodyPr>
            <a:normAutofit/>
          </a:bodyPr>
          <a:lstStyle/>
          <a:p>
            <a:r>
              <a:rPr lang="en-US" dirty="0"/>
              <a:t>A project manager is usually an </a:t>
            </a:r>
            <a:r>
              <a:rPr lang="en-US" dirty="0">
                <a:solidFill>
                  <a:srgbClr val="FF0000"/>
                </a:solidFill>
              </a:rPr>
              <a:t>experienced member </a:t>
            </a:r>
            <a:r>
              <a:rPr lang="en-US" dirty="0"/>
              <a:t>of the team who essentially works as the administrative leader of the team.</a:t>
            </a:r>
          </a:p>
          <a:p>
            <a:pPr lvl="1"/>
            <a:r>
              <a:rPr lang="en-US" sz="2000" b="0" i="0" u="none" strike="noStrike" baseline="0" dirty="0">
                <a:latin typeface="Tahoma" panose="020B0604030504040204" pitchFamily="34" charset="0"/>
              </a:rPr>
              <a:t>For </a:t>
            </a:r>
            <a:r>
              <a:rPr lang="en-US" sz="2000" b="0" i="0" u="none" strike="noStrike" baseline="0" dirty="0">
                <a:solidFill>
                  <a:srgbClr val="FF0000"/>
                </a:solidFill>
                <a:latin typeface="Tahoma" panose="020B0604030504040204" pitchFamily="34" charset="0"/>
              </a:rPr>
              <a:t>small</a:t>
            </a:r>
            <a:r>
              <a:rPr lang="en-US" sz="2000" b="0" i="0" u="none" strike="noStrike" baseline="0" dirty="0">
                <a:latin typeface="Tahoma" panose="020B0604030504040204" pitchFamily="34" charset="0"/>
              </a:rPr>
              <a:t> software development projects, a </a:t>
            </a:r>
            <a:r>
              <a:rPr lang="en-US" sz="2000" b="0" i="0" u="none" strike="noStrike" baseline="0" dirty="0">
                <a:solidFill>
                  <a:srgbClr val="FF0000"/>
                </a:solidFill>
                <a:latin typeface="Tahoma" panose="020B0604030504040204" pitchFamily="34" charset="0"/>
              </a:rPr>
              <a:t>single member </a:t>
            </a:r>
            <a:r>
              <a:rPr lang="en-US" sz="2000" b="0" i="0" u="none" strike="noStrike" baseline="0" dirty="0">
                <a:latin typeface="Tahoma" panose="020B0604030504040204" pitchFamily="34" charset="0"/>
              </a:rPr>
              <a:t>of the team assumes the responsibilities for both </a:t>
            </a:r>
            <a:r>
              <a:rPr lang="en-US" sz="2000" b="0" i="0" u="none" strike="noStrike" baseline="0" dirty="0">
                <a:solidFill>
                  <a:srgbClr val="FF0000"/>
                </a:solidFill>
                <a:latin typeface="Tahoma" panose="020B0604030504040204" pitchFamily="34" charset="0"/>
              </a:rPr>
              <a:t>project management </a:t>
            </a:r>
            <a:r>
              <a:rPr lang="en-US" sz="2000" b="0" i="0" u="none" strike="noStrike" baseline="0" dirty="0">
                <a:latin typeface="Tahoma" panose="020B0604030504040204" pitchFamily="34" charset="0"/>
              </a:rPr>
              <a:t>and </a:t>
            </a:r>
            <a:r>
              <a:rPr lang="en-US" sz="2000" b="0" i="0" u="none" strike="noStrike" baseline="0" dirty="0">
                <a:solidFill>
                  <a:srgbClr val="FF0000"/>
                </a:solidFill>
                <a:latin typeface="Tahoma" panose="020B0604030504040204" pitchFamily="34" charset="0"/>
              </a:rPr>
              <a:t>technical management</a:t>
            </a:r>
            <a:r>
              <a:rPr lang="en-US" sz="2000" b="0" i="0" u="none" strike="noStrike" baseline="0" dirty="0">
                <a:latin typeface="Tahoma" panose="020B0604030504040204" pitchFamily="34" charset="0"/>
              </a:rPr>
              <a:t>. </a:t>
            </a:r>
          </a:p>
          <a:p>
            <a:pPr lvl="1"/>
            <a:r>
              <a:rPr lang="en-US" sz="2000" b="0" i="0" u="none" strike="noStrike" baseline="0" dirty="0">
                <a:latin typeface="Tahoma" panose="020B0604030504040204" pitchFamily="34" charset="0"/>
              </a:rPr>
              <a:t>For </a:t>
            </a:r>
            <a:r>
              <a:rPr lang="en-US" sz="2000" b="0" i="0" u="none" strike="noStrike" baseline="0" dirty="0">
                <a:solidFill>
                  <a:srgbClr val="FF0000"/>
                </a:solidFill>
                <a:latin typeface="Tahoma" panose="020B0604030504040204" pitchFamily="34" charset="0"/>
              </a:rPr>
              <a:t>large</a:t>
            </a:r>
            <a:r>
              <a:rPr lang="en-US" sz="2000" b="0" i="0" u="none" strike="noStrike" baseline="0" dirty="0">
                <a:latin typeface="Tahoma" panose="020B0604030504040204" pitchFamily="34" charset="0"/>
              </a:rPr>
              <a:t> projects, a </a:t>
            </a:r>
            <a:r>
              <a:rPr lang="en-US" sz="2000" b="0" i="0" u="none" strike="noStrike" baseline="0" dirty="0">
                <a:solidFill>
                  <a:srgbClr val="FF0000"/>
                </a:solidFill>
                <a:latin typeface="Tahoma" panose="020B0604030504040204" pitchFamily="34" charset="0"/>
              </a:rPr>
              <a:t>different member </a:t>
            </a:r>
            <a:r>
              <a:rPr lang="en-US" sz="2000" b="0" i="0" u="none" strike="noStrike" baseline="0" dirty="0">
                <a:latin typeface="Tahoma" panose="020B0604030504040204" pitchFamily="34" charset="0"/>
              </a:rPr>
              <a:t>of the team (other than the project manager) assumes the </a:t>
            </a:r>
            <a:r>
              <a:rPr lang="en-IN" sz="2000" b="0" i="0" u="none" strike="noStrike" baseline="0" dirty="0">
                <a:latin typeface="Tahoma" panose="020B0604030504040204" pitchFamily="34" charset="0"/>
              </a:rPr>
              <a:t>responsibility of technical leadership</a:t>
            </a:r>
          </a:p>
          <a:p>
            <a:pPr algn="l"/>
            <a:r>
              <a:rPr lang="en-US" b="0" i="0" u="none" strike="noStrike" baseline="0" dirty="0"/>
              <a:t>The responsibilities of the technical leader includes addressing issues such as which </a:t>
            </a:r>
            <a:r>
              <a:rPr lang="en-US" b="0" i="0" u="none" strike="noStrike" baseline="0" dirty="0">
                <a:solidFill>
                  <a:srgbClr val="FF0000"/>
                </a:solidFill>
              </a:rPr>
              <a:t>tools</a:t>
            </a:r>
            <a:r>
              <a:rPr lang="en-US" b="0" i="0" u="none" strike="noStrike" baseline="0" dirty="0"/>
              <a:t> and </a:t>
            </a:r>
            <a:r>
              <a:rPr lang="en-US" b="0" i="0" u="none" strike="noStrike" baseline="0" dirty="0">
                <a:solidFill>
                  <a:srgbClr val="FF0000"/>
                </a:solidFill>
              </a:rPr>
              <a:t>techniques</a:t>
            </a:r>
            <a:r>
              <a:rPr lang="en-US" b="0" i="0" u="none" strike="noStrike" baseline="0" dirty="0"/>
              <a:t> to use, </a:t>
            </a:r>
            <a:r>
              <a:rPr lang="en-US" b="0" i="0" u="none" strike="noStrike" baseline="0" dirty="0">
                <a:solidFill>
                  <a:srgbClr val="FF0000"/>
                </a:solidFill>
              </a:rPr>
              <a:t>specific algorithms </a:t>
            </a:r>
            <a:r>
              <a:rPr lang="en-US" b="0" i="0" u="none" strike="noStrike" baseline="0" dirty="0"/>
              <a:t>to use</a:t>
            </a:r>
          </a:p>
          <a:p>
            <a:pPr marL="0" indent="0">
              <a:buNone/>
            </a:pPr>
            <a:endParaRPr lang="en-US" dirty="0"/>
          </a:p>
          <a:p>
            <a:pPr marL="0" indent="0">
              <a:buNone/>
            </a:pPr>
            <a:endParaRPr lang="en-US" dirty="0"/>
          </a:p>
          <a:p>
            <a:pPr marL="457200" lvl="1" indent="0">
              <a:buNone/>
            </a:pPr>
            <a:endParaRPr lang="en-IN" sz="2000" b="0" i="0" u="none" strike="noStrike" baseline="0" dirty="0">
              <a:latin typeface="Tahoma" panose="020B0604030504040204" pitchFamily="34" charset="0"/>
            </a:endParaRPr>
          </a:p>
        </p:txBody>
      </p:sp>
    </p:spTree>
    <p:extLst>
      <p:ext uri="{BB962C8B-B14F-4D97-AF65-F5344CB8AC3E}">
        <p14:creationId xmlns:p14="http://schemas.microsoft.com/office/powerpoint/2010/main" val="1900563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2E786-F91D-6E44-A4BE-3EC902D48659}"/>
              </a:ext>
            </a:extLst>
          </p:cNvPr>
          <p:cNvSpPr>
            <a:spLocks noGrp="1"/>
          </p:cNvSpPr>
          <p:nvPr>
            <p:ph type="title"/>
          </p:nvPr>
        </p:nvSpPr>
        <p:spPr>
          <a:xfrm>
            <a:off x="838200" y="152400"/>
            <a:ext cx="10515600" cy="707572"/>
          </a:xfrm>
        </p:spPr>
        <p:txBody>
          <a:bodyPr>
            <a:normAutofit/>
          </a:bodyPr>
          <a:lstStyle/>
          <a:p>
            <a:r>
              <a:rPr lang="en-IN" sz="2800" b="1" i="0" u="none" strike="noStrike" baseline="0" dirty="0">
                <a:solidFill>
                  <a:srgbClr val="362083"/>
                </a:solidFill>
              </a:rPr>
              <a:t>SOFTWARE PROJECT MANAGEMENT COMPLEXITIES</a:t>
            </a:r>
            <a:endParaRPr lang="en-IN" sz="2800" b="1" dirty="0"/>
          </a:p>
        </p:txBody>
      </p:sp>
      <p:sp>
        <p:nvSpPr>
          <p:cNvPr id="3" name="Content Placeholder 2">
            <a:extLst>
              <a:ext uri="{FF2B5EF4-FFF2-40B4-BE49-F238E27FC236}">
                <a16:creationId xmlns:a16="http://schemas.microsoft.com/office/drawing/2014/main" id="{C53356D9-B252-E170-893F-07383C436FB5}"/>
              </a:ext>
            </a:extLst>
          </p:cNvPr>
          <p:cNvSpPr>
            <a:spLocks noGrp="1"/>
          </p:cNvSpPr>
          <p:nvPr>
            <p:ph idx="1"/>
          </p:nvPr>
        </p:nvSpPr>
        <p:spPr>
          <a:xfrm>
            <a:off x="838200" y="859972"/>
            <a:ext cx="10515600" cy="5316991"/>
          </a:xfrm>
        </p:spPr>
        <p:txBody>
          <a:bodyPr>
            <a:normAutofit lnSpcReduction="10000"/>
          </a:bodyPr>
          <a:lstStyle/>
          <a:p>
            <a:pPr algn="l"/>
            <a:r>
              <a:rPr lang="en-US" sz="1800" b="1" i="0" u="none" strike="noStrike" baseline="0" dirty="0">
                <a:latin typeface="Tahoma-Bold"/>
              </a:rPr>
              <a:t>Invisibility: </a:t>
            </a:r>
            <a:r>
              <a:rPr lang="en-US" sz="1800" b="0" i="0" u="none" strike="noStrike" baseline="0" dirty="0">
                <a:latin typeface="Tahoma" panose="020B0604030504040204" pitchFamily="34" charset="0"/>
              </a:rPr>
              <a:t>Software remains </a:t>
            </a:r>
            <a:r>
              <a:rPr lang="en-US" sz="1800" b="0" i="0" u="none" strike="noStrike" baseline="0" dirty="0">
                <a:solidFill>
                  <a:srgbClr val="FF0000"/>
                </a:solidFill>
                <a:latin typeface="Tahoma" panose="020B0604030504040204" pitchFamily="34" charset="0"/>
              </a:rPr>
              <a:t>invisible</a:t>
            </a:r>
            <a:r>
              <a:rPr lang="en-US" sz="1800" b="0" i="0" u="none" strike="noStrike" baseline="0" dirty="0">
                <a:latin typeface="Tahoma" panose="020B0604030504040204" pitchFamily="34" charset="0"/>
              </a:rPr>
              <a:t>, until its development is complete and it is operational. Anything that is invisible, is difficult to manage and </a:t>
            </a:r>
            <a:r>
              <a:rPr lang="en-IN" sz="1800" b="0" i="0" u="none" strike="noStrike" baseline="0" dirty="0">
                <a:latin typeface="Tahoma" panose="020B0604030504040204" pitchFamily="34" charset="0"/>
              </a:rPr>
              <a:t>control.</a:t>
            </a:r>
          </a:p>
          <a:p>
            <a:pPr marL="0" indent="0" algn="l">
              <a:buNone/>
            </a:pPr>
            <a:r>
              <a:rPr lang="en-IN" sz="1800" dirty="0">
                <a:latin typeface="Tahoma" panose="020B0604030504040204" pitchFamily="34" charset="0"/>
              </a:rPr>
              <a:t>	</a:t>
            </a:r>
            <a:r>
              <a:rPr lang="en-IN" sz="1800" b="0" i="0" u="none" strike="noStrike" baseline="0" dirty="0">
                <a:latin typeface="Tahoma" panose="020B0604030504040204" pitchFamily="34" charset="0"/>
              </a:rPr>
              <a:t>The best that he </a:t>
            </a:r>
            <a:r>
              <a:rPr lang="en-US" sz="1800" b="0" i="0" u="none" strike="noStrike" baseline="0" dirty="0">
                <a:latin typeface="Tahoma" panose="020B0604030504040204" pitchFamily="34" charset="0"/>
              </a:rPr>
              <a:t>can do perhaps is to monitor the milestones that have been completed by 	the development team and the documents that have been produced—which are rough 	indicators of the progress achieved.</a:t>
            </a:r>
          </a:p>
          <a:p>
            <a:pPr algn="l"/>
            <a:r>
              <a:rPr lang="en-US" sz="1800" b="1" i="0" u="none" strike="noStrike" baseline="0" dirty="0">
                <a:latin typeface="Tahoma-Bold"/>
              </a:rPr>
              <a:t>Changeability: </a:t>
            </a:r>
            <a:r>
              <a:rPr lang="en-US" sz="1800" b="0" i="0" u="none" strike="noStrike" baseline="0" dirty="0">
                <a:latin typeface="Tahoma" panose="020B0604030504040204" pitchFamily="34" charset="0"/>
              </a:rPr>
              <a:t>Because the software part of any system is easier to change as compared to the hardware part, the software part is the one that gets </a:t>
            </a:r>
            <a:r>
              <a:rPr lang="en-IN" sz="1800" b="0" i="0" u="none" strike="noStrike" baseline="0" dirty="0">
                <a:latin typeface="Tahoma" panose="020B0604030504040204" pitchFamily="34" charset="0"/>
              </a:rPr>
              <a:t>most frequently changed</a:t>
            </a:r>
          </a:p>
          <a:p>
            <a:pPr algn="l"/>
            <a:r>
              <a:rPr lang="en-US" sz="1800" b="1" i="0" u="none" strike="noStrike" baseline="0" dirty="0">
                <a:latin typeface="Tahoma-Bold"/>
              </a:rPr>
              <a:t>Complexity: </a:t>
            </a:r>
            <a:r>
              <a:rPr lang="en-US" sz="1800" b="0" i="0" u="none" strike="noStrike" baseline="0" dirty="0">
                <a:latin typeface="Tahoma" panose="020B0604030504040204" pitchFamily="34" charset="0"/>
              </a:rPr>
              <a:t>Even a moderate sized software has millions of parts (functions) that interact with each other in many ways—</a:t>
            </a:r>
            <a:r>
              <a:rPr lang="en-US" sz="1800" b="0" i="0" u="none" strike="noStrike" baseline="0" dirty="0">
                <a:solidFill>
                  <a:srgbClr val="FF0000"/>
                </a:solidFill>
                <a:latin typeface="Tahoma" panose="020B0604030504040204" pitchFamily="34" charset="0"/>
              </a:rPr>
              <a:t>data coupling, serial and concurrent runs, state transitions, control dependency, file sharing,</a:t>
            </a:r>
            <a:r>
              <a:rPr lang="en-US" sz="1800" b="0" i="0" u="none" strike="noStrike" baseline="0" dirty="0">
                <a:latin typeface="Tahoma" panose="020B0604030504040204" pitchFamily="34" charset="0"/>
              </a:rPr>
              <a:t> etc. Due to the inherent complexity of the functioning of a software product in terms of the basic parts making up the software, many types of risks are associated with its development. This makes managing these projects much more difficult as compared to many other kinds of projects.</a:t>
            </a:r>
          </a:p>
          <a:p>
            <a:pPr algn="l"/>
            <a:r>
              <a:rPr lang="en-US" sz="1800" b="1" i="0" u="none" strike="noStrike" baseline="0" dirty="0">
                <a:latin typeface="Tahoma-Bold"/>
              </a:rPr>
              <a:t>Uniqueness: </a:t>
            </a:r>
            <a:r>
              <a:rPr lang="en-US" sz="1800" b="0" i="0" u="none" strike="noStrike" baseline="0" dirty="0">
                <a:latin typeface="Tahoma" panose="020B0604030504040204" pitchFamily="34" charset="0"/>
              </a:rPr>
              <a:t>Every software project is usually associated with many unique features or situations. This makes every project much different from the others. Due to the uniqueness of the software projects, a project manager in the course of a project faces many issues that are quite unlike the others he had </a:t>
            </a:r>
            <a:r>
              <a:rPr lang="en-IN" sz="1800" b="0" i="0" u="none" strike="noStrike" baseline="0" dirty="0">
                <a:latin typeface="Tahoma" panose="020B0604030504040204" pitchFamily="34" charset="0"/>
              </a:rPr>
              <a:t>encountered in the past.</a:t>
            </a:r>
          </a:p>
          <a:p>
            <a:pPr algn="l"/>
            <a:r>
              <a:rPr lang="en-US" sz="1800" b="1" i="0" u="none" strike="noStrike" baseline="0" dirty="0">
                <a:latin typeface="Tahoma-Bold"/>
              </a:rPr>
              <a:t>Exactness of the solution: </a:t>
            </a:r>
            <a:r>
              <a:rPr lang="en-US" sz="1800" b="0" i="0" u="none" strike="noStrike" baseline="0" dirty="0">
                <a:latin typeface="Tahoma" panose="020B0604030504040204" pitchFamily="34" charset="0"/>
              </a:rPr>
              <a:t>Mechanical components such as nuts and bolts typically work satisfactorily as long as they are within a tolerance of 1 per cent or so of their specified sizes.</a:t>
            </a:r>
          </a:p>
          <a:p>
            <a:pPr algn="l"/>
            <a:r>
              <a:rPr lang="en-IN" sz="1800" b="1" i="0" u="none" strike="noStrike" baseline="0" dirty="0">
                <a:latin typeface="Tahoma-Bold"/>
              </a:rPr>
              <a:t>Team-oriented and intellect-intensive work:</a:t>
            </a:r>
            <a:endParaRPr lang="en-IN" dirty="0"/>
          </a:p>
        </p:txBody>
      </p:sp>
    </p:spTree>
    <p:extLst>
      <p:ext uri="{BB962C8B-B14F-4D97-AF65-F5344CB8AC3E}">
        <p14:creationId xmlns:p14="http://schemas.microsoft.com/office/powerpoint/2010/main" val="243973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35B55-9205-14D6-6334-7876A3C063AF}"/>
              </a:ext>
            </a:extLst>
          </p:cNvPr>
          <p:cNvSpPr>
            <a:spLocks noGrp="1"/>
          </p:cNvSpPr>
          <p:nvPr>
            <p:ph type="title"/>
          </p:nvPr>
        </p:nvSpPr>
        <p:spPr>
          <a:xfrm>
            <a:off x="838200" y="365125"/>
            <a:ext cx="10515600" cy="473075"/>
          </a:xfrm>
        </p:spPr>
        <p:txBody>
          <a:bodyPr>
            <a:normAutofit fontScale="90000"/>
          </a:bodyPr>
          <a:lstStyle/>
          <a:p>
            <a:r>
              <a:rPr lang="en-US" dirty="0"/>
              <a:t>Project planning</a:t>
            </a:r>
            <a:endParaRPr lang="en-IN" dirty="0"/>
          </a:p>
        </p:txBody>
      </p:sp>
      <p:sp>
        <p:nvSpPr>
          <p:cNvPr id="3" name="Content Placeholder 2">
            <a:extLst>
              <a:ext uri="{FF2B5EF4-FFF2-40B4-BE49-F238E27FC236}">
                <a16:creationId xmlns:a16="http://schemas.microsoft.com/office/drawing/2014/main" id="{98097629-7C9B-EF8F-0C54-B985831BA4E8}"/>
              </a:ext>
            </a:extLst>
          </p:cNvPr>
          <p:cNvSpPr>
            <a:spLocks noGrp="1"/>
          </p:cNvSpPr>
          <p:nvPr>
            <p:ph idx="1"/>
          </p:nvPr>
        </p:nvSpPr>
        <p:spPr>
          <a:xfrm>
            <a:off x="838200" y="1153886"/>
            <a:ext cx="10515600" cy="5023077"/>
          </a:xfrm>
        </p:spPr>
        <p:txBody>
          <a:bodyPr/>
          <a:lstStyle/>
          <a:p>
            <a:r>
              <a:rPr lang="en-US" dirty="0"/>
              <a:t>Project planning involves </a:t>
            </a:r>
            <a:r>
              <a:rPr lang="en-US" dirty="0">
                <a:solidFill>
                  <a:srgbClr val="FF0000"/>
                </a:solidFill>
              </a:rPr>
              <a:t>breaking down </a:t>
            </a:r>
            <a:r>
              <a:rPr lang="en-US" dirty="0"/>
              <a:t>the work </a:t>
            </a:r>
            <a:r>
              <a:rPr lang="en-US" dirty="0">
                <a:solidFill>
                  <a:srgbClr val="FF0000"/>
                </a:solidFill>
              </a:rPr>
              <a:t>into parts and assign these to project team members</a:t>
            </a:r>
            <a:r>
              <a:rPr lang="en-US" dirty="0"/>
              <a:t>, anticipate problems that might arise and prepare tentative solutions to those problems. </a:t>
            </a:r>
          </a:p>
          <a:p>
            <a:r>
              <a:rPr lang="en-US" dirty="0"/>
              <a:t>The project plan, which is created </a:t>
            </a:r>
            <a:r>
              <a:rPr lang="en-US" dirty="0">
                <a:solidFill>
                  <a:srgbClr val="FF0000"/>
                </a:solidFill>
              </a:rPr>
              <a:t>at the start of a project</a:t>
            </a:r>
            <a:r>
              <a:rPr lang="en-US" dirty="0"/>
              <a:t>, is used to communicate how the work will be done to the project team and customers, and to help assess progress on the project. </a:t>
            </a:r>
          </a:p>
          <a:p>
            <a:endParaRPr lang="en-IN" dirty="0"/>
          </a:p>
        </p:txBody>
      </p:sp>
    </p:spTree>
    <p:extLst>
      <p:ext uri="{BB962C8B-B14F-4D97-AF65-F5344CB8AC3E}">
        <p14:creationId xmlns:p14="http://schemas.microsoft.com/office/powerpoint/2010/main" val="2430790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6E952-48BE-B637-DC57-38FF883CCF79}"/>
              </a:ext>
            </a:extLst>
          </p:cNvPr>
          <p:cNvSpPr>
            <a:spLocks noGrp="1"/>
          </p:cNvSpPr>
          <p:nvPr>
            <p:ph type="title"/>
          </p:nvPr>
        </p:nvSpPr>
        <p:spPr>
          <a:xfrm>
            <a:off x="838200" y="365125"/>
            <a:ext cx="10515600" cy="483961"/>
          </a:xfrm>
        </p:spPr>
        <p:txBody>
          <a:bodyPr>
            <a:normAutofit fontScale="90000"/>
          </a:bodyPr>
          <a:lstStyle/>
          <a:p>
            <a:r>
              <a:rPr lang="en-US" dirty="0"/>
              <a:t>Planning stages</a:t>
            </a:r>
            <a:endParaRPr lang="en-IN" dirty="0"/>
          </a:p>
        </p:txBody>
      </p:sp>
      <p:sp>
        <p:nvSpPr>
          <p:cNvPr id="3" name="Content Placeholder 2">
            <a:extLst>
              <a:ext uri="{FF2B5EF4-FFF2-40B4-BE49-F238E27FC236}">
                <a16:creationId xmlns:a16="http://schemas.microsoft.com/office/drawing/2014/main" id="{4B3AB206-B9CB-78AD-F0B1-4DF6D0B952E8}"/>
              </a:ext>
            </a:extLst>
          </p:cNvPr>
          <p:cNvSpPr>
            <a:spLocks noGrp="1"/>
          </p:cNvSpPr>
          <p:nvPr>
            <p:ph idx="1"/>
          </p:nvPr>
        </p:nvSpPr>
        <p:spPr>
          <a:xfrm>
            <a:off x="838200" y="1001486"/>
            <a:ext cx="10515600" cy="5175477"/>
          </a:xfrm>
        </p:spPr>
        <p:txBody>
          <a:bodyPr/>
          <a:lstStyle/>
          <a:p>
            <a:pPr marL="514350" indent="-514350">
              <a:buFont typeface="+mj-lt"/>
              <a:buAutoNum type="arabicPeriod"/>
            </a:pPr>
            <a:r>
              <a:rPr lang="en-US" dirty="0"/>
              <a:t>At the </a:t>
            </a:r>
            <a:r>
              <a:rPr lang="en-US" b="1" dirty="0">
                <a:solidFill>
                  <a:srgbClr val="FF0000"/>
                </a:solidFill>
              </a:rPr>
              <a:t>proposal stage</a:t>
            </a:r>
            <a:r>
              <a:rPr lang="en-US" dirty="0"/>
              <a:t>, when you are </a:t>
            </a:r>
            <a:r>
              <a:rPr lang="en-US" dirty="0">
                <a:solidFill>
                  <a:srgbClr val="FF0000"/>
                </a:solidFill>
              </a:rPr>
              <a:t>bidding for a contract </a:t>
            </a:r>
            <a:r>
              <a:rPr lang="en-US" dirty="0"/>
              <a:t>to develop or provide a software system. </a:t>
            </a:r>
          </a:p>
          <a:p>
            <a:pPr marL="514350" indent="-514350">
              <a:buFont typeface="+mj-lt"/>
              <a:buAutoNum type="arabicPeriod"/>
            </a:pPr>
            <a:r>
              <a:rPr lang="en-US" dirty="0"/>
              <a:t>During the </a:t>
            </a:r>
            <a:r>
              <a:rPr lang="en-US" b="1" dirty="0">
                <a:solidFill>
                  <a:srgbClr val="FF0000"/>
                </a:solidFill>
              </a:rPr>
              <a:t>project startup phase</a:t>
            </a:r>
            <a:r>
              <a:rPr lang="en-US" dirty="0"/>
              <a:t>, when you have to plan </a:t>
            </a:r>
            <a:r>
              <a:rPr lang="en-US" dirty="0">
                <a:solidFill>
                  <a:srgbClr val="FF0000"/>
                </a:solidFill>
              </a:rPr>
              <a:t>who will work</a:t>
            </a:r>
            <a:r>
              <a:rPr lang="en-US" dirty="0"/>
              <a:t> on the project, </a:t>
            </a:r>
            <a:r>
              <a:rPr lang="en-US" dirty="0">
                <a:solidFill>
                  <a:srgbClr val="FF0000"/>
                </a:solidFill>
              </a:rPr>
              <a:t>how the project will be broken </a:t>
            </a:r>
            <a:r>
              <a:rPr lang="en-US" dirty="0"/>
              <a:t>down into increments, </a:t>
            </a:r>
            <a:r>
              <a:rPr lang="en-US" dirty="0">
                <a:solidFill>
                  <a:srgbClr val="FF0000"/>
                </a:solidFill>
              </a:rPr>
              <a:t>how resources will be allocated </a:t>
            </a:r>
            <a:r>
              <a:rPr lang="en-US" dirty="0"/>
              <a:t>across your company, etc. </a:t>
            </a:r>
          </a:p>
          <a:p>
            <a:pPr marL="514350" indent="-514350">
              <a:buFont typeface="+mj-lt"/>
              <a:buAutoNum type="arabicPeriod"/>
            </a:pPr>
            <a:r>
              <a:rPr lang="en-US" dirty="0"/>
              <a:t>Periodically throughout the project, when you modify your plan in the light of experience gained and information from monitoring the progress of the work. </a:t>
            </a:r>
          </a:p>
          <a:p>
            <a:endParaRPr lang="en-IN" dirty="0"/>
          </a:p>
        </p:txBody>
      </p:sp>
    </p:spTree>
    <p:extLst>
      <p:ext uri="{BB962C8B-B14F-4D97-AF65-F5344CB8AC3E}">
        <p14:creationId xmlns:p14="http://schemas.microsoft.com/office/powerpoint/2010/main" val="2448477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C0659-5FDA-1483-F74D-F833118B6855}"/>
              </a:ext>
            </a:extLst>
          </p:cNvPr>
          <p:cNvSpPr>
            <a:spLocks noGrp="1"/>
          </p:cNvSpPr>
          <p:nvPr>
            <p:ph type="title"/>
          </p:nvPr>
        </p:nvSpPr>
        <p:spPr/>
        <p:txBody>
          <a:bodyPr/>
          <a:lstStyle/>
          <a:p>
            <a:r>
              <a:rPr lang="en-IN" dirty="0"/>
              <a:t>Stage 1: </a:t>
            </a:r>
            <a:r>
              <a:rPr lang="en-US" dirty="0"/>
              <a:t>Proposal planning</a:t>
            </a:r>
            <a:endParaRPr lang="en-IN" dirty="0"/>
          </a:p>
        </p:txBody>
      </p:sp>
      <p:sp>
        <p:nvSpPr>
          <p:cNvPr id="3" name="Content Placeholder 2">
            <a:extLst>
              <a:ext uri="{FF2B5EF4-FFF2-40B4-BE49-F238E27FC236}">
                <a16:creationId xmlns:a16="http://schemas.microsoft.com/office/drawing/2014/main" id="{86B2D976-BCDD-4454-6C8C-347BF639B7A6}"/>
              </a:ext>
            </a:extLst>
          </p:cNvPr>
          <p:cNvSpPr>
            <a:spLocks noGrp="1"/>
          </p:cNvSpPr>
          <p:nvPr>
            <p:ph idx="1"/>
          </p:nvPr>
        </p:nvSpPr>
        <p:spPr/>
        <p:txBody>
          <a:bodyPr/>
          <a:lstStyle/>
          <a:p>
            <a:r>
              <a:rPr lang="en-US" dirty="0"/>
              <a:t>Planning may be necessary with only outline software requirements.</a:t>
            </a:r>
          </a:p>
          <a:p>
            <a:r>
              <a:rPr lang="en-US" dirty="0"/>
              <a:t>The aim of planning at this stage is to provide information that will be used in setting a price for the system to customers.</a:t>
            </a:r>
          </a:p>
          <a:p>
            <a:r>
              <a:rPr lang="en-US" dirty="0"/>
              <a:t>Project pricing involves estimating how much the software will cost to develop, taking factors such as staff costs, hardware costs, software costs, etc. into account</a:t>
            </a:r>
          </a:p>
          <a:p>
            <a:endParaRPr lang="en-IN" dirty="0"/>
          </a:p>
        </p:txBody>
      </p:sp>
    </p:spTree>
    <p:extLst>
      <p:ext uri="{BB962C8B-B14F-4D97-AF65-F5344CB8AC3E}">
        <p14:creationId xmlns:p14="http://schemas.microsoft.com/office/powerpoint/2010/main" val="4071559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84A84-D48A-1C97-17C7-F2DA102F8E86}"/>
              </a:ext>
            </a:extLst>
          </p:cNvPr>
          <p:cNvSpPr>
            <a:spLocks noGrp="1"/>
          </p:cNvSpPr>
          <p:nvPr>
            <p:ph type="title"/>
          </p:nvPr>
        </p:nvSpPr>
        <p:spPr>
          <a:xfrm>
            <a:off x="838200" y="365125"/>
            <a:ext cx="10515600" cy="777875"/>
          </a:xfrm>
        </p:spPr>
        <p:txBody>
          <a:bodyPr/>
          <a:lstStyle/>
          <a:p>
            <a:r>
              <a:rPr lang="en-IN" dirty="0"/>
              <a:t>Stage 2: </a:t>
            </a:r>
            <a:r>
              <a:rPr lang="en-US" dirty="0"/>
              <a:t>Project startup planning</a:t>
            </a:r>
            <a:endParaRPr lang="en-IN" dirty="0"/>
          </a:p>
        </p:txBody>
      </p:sp>
      <p:sp>
        <p:nvSpPr>
          <p:cNvPr id="3" name="Content Placeholder 2">
            <a:extLst>
              <a:ext uri="{FF2B5EF4-FFF2-40B4-BE49-F238E27FC236}">
                <a16:creationId xmlns:a16="http://schemas.microsoft.com/office/drawing/2014/main" id="{B42B69E1-4DD7-B721-D25E-901D24C4F38C}"/>
              </a:ext>
            </a:extLst>
          </p:cNvPr>
          <p:cNvSpPr>
            <a:spLocks noGrp="1"/>
          </p:cNvSpPr>
          <p:nvPr>
            <p:ph idx="1"/>
          </p:nvPr>
        </p:nvSpPr>
        <p:spPr>
          <a:xfrm>
            <a:off x="838200" y="1469571"/>
            <a:ext cx="10515600" cy="4707392"/>
          </a:xfrm>
        </p:spPr>
        <p:txBody>
          <a:bodyPr/>
          <a:lstStyle/>
          <a:p>
            <a:r>
              <a:rPr lang="en-US" dirty="0"/>
              <a:t>At this stage, you know more about the system requirements but do not have design or implementation information</a:t>
            </a:r>
          </a:p>
          <a:p>
            <a:r>
              <a:rPr lang="en-US" dirty="0"/>
              <a:t>Create a plan with enough detail to make decisions about the project budget and staffing. </a:t>
            </a:r>
          </a:p>
          <a:p>
            <a:pPr lvl="1"/>
            <a:r>
              <a:rPr lang="en-US" dirty="0"/>
              <a:t>This plan is the basis for project resource allocation</a:t>
            </a:r>
          </a:p>
          <a:p>
            <a:r>
              <a:rPr lang="en-US" dirty="0"/>
              <a:t>The startup plan should also define project monitoring mechanisms</a:t>
            </a:r>
          </a:p>
          <a:p>
            <a:r>
              <a:rPr lang="en-US" dirty="0"/>
              <a:t>A startup plan is still needed for agile development to allow resources to be allocated to the project</a:t>
            </a:r>
          </a:p>
          <a:p>
            <a:endParaRPr lang="en-IN" dirty="0"/>
          </a:p>
        </p:txBody>
      </p:sp>
    </p:spTree>
    <p:extLst>
      <p:ext uri="{BB962C8B-B14F-4D97-AF65-F5344CB8AC3E}">
        <p14:creationId xmlns:p14="http://schemas.microsoft.com/office/powerpoint/2010/main" val="4118679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BA7FF-4C6B-6FCA-9BE0-D69D5202B813}"/>
              </a:ext>
            </a:extLst>
          </p:cNvPr>
          <p:cNvSpPr>
            <a:spLocks noGrp="1"/>
          </p:cNvSpPr>
          <p:nvPr>
            <p:ph type="title"/>
          </p:nvPr>
        </p:nvSpPr>
        <p:spPr/>
        <p:txBody>
          <a:bodyPr/>
          <a:lstStyle/>
          <a:p>
            <a:r>
              <a:rPr lang="en-IN" dirty="0"/>
              <a:t>Stage 3: </a:t>
            </a:r>
            <a:r>
              <a:rPr lang="en-US" dirty="0"/>
              <a:t>Development planning</a:t>
            </a:r>
            <a:endParaRPr lang="en-IN" dirty="0"/>
          </a:p>
        </p:txBody>
      </p:sp>
      <p:sp>
        <p:nvSpPr>
          <p:cNvPr id="3" name="Content Placeholder 2">
            <a:extLst>
              <a:ext uri="{FF2B5EF4-FFF2-40B4-BE49-F238E27FC236}">
                <a16:creationId xmlns:a16="http://schemas.microsoft.com/office/drawing/2014/main" id="{E4270936-3FBA-8296-A13B-42827FDD6824}"/>
              </a:ext>
            </a:extLst>
          </p:cNvPr>
          <p:cNvSpPr>
            <a:spLocks noGrp="1"/>
          </p:cNvSpPr>
          <p:nvPr>
            <p:ph idx="1"/>
          </p:nvPr>
        </p:nvSpPr>
        <p:spPr/>
        <p:txBody>
          <a:bodyPr/>
          <a:lstStyle/>
          <a:p>
            <a:r>
              <a:rPr lang="en-US" dirty="0"/>
              <a:t>The project plan should be regularly amended as the project progresses and you know more about the software and its development</a:t>
            </a:r>
          </a:p>
          <a:p>
            <a:r>
              <a:rPr lang="en-US" dirty="0"/>
              <a:t>The project schedule, cost-estimate and risks have to be regularly revised</a:t>
            </a:r>
          </a:p>
          <a:p>
            <a:endParaRPr lang="en-IN" dirty="0"/>
          </a:p>
        </p:txBody>
      </p:sp>
    </p:spTree>
    <p:extLst>
      <p:ext uri="{BB962C8B-B14F-4D97-AF65-F5344CB8AC3E}">
        <p14:creationId xmlns:p14="http://schemas.microsoft.com/office/powerpoint/2010/main" val="3864962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11AC0-6B52-45FF-3414-418A340D9335}"/>
              </a:ext>
            </a:extLst>
          </p:cNvPr>
          <p:cNvSpPr>
            <a:spLocks noGrp="1"/>
          </p:cNvSpPr>
          <p:nvPr>
            <p:ph type="title"/>
          </p:nvPr>
        </p:nvSpPr>
        <p:spPr>
          <a:xfrm>
            <a:off x="838200" y="365125"/>
            <a:ext cx="10515600" cy="712561"/>
          </a:xfrm>
        </p:spPr>
        <p:txBody>
          <a:bodyPr/>
          <a:lstStyle/>
          <a:p>
            <a:r>
              <a:rPr lang="en-US" dirty="0"/>
              <a:t>Plan-driven development</a:t>
            </a:r>
            <a:endParaRPr lang="en-IN" dirty="0"/>
          </a:p>
        </p:txBody>
      </p:sp>
      <p:sp>
        <p:nvSpPr>
          <p:cNvPr id="3" name="Content Placeholder 2">
            <a:extLst>
              <a:ext uri="{FF2B5EF4-FFF2-40B4-BE49-F238E27FC236}">
                <a16:creationId xmlns:a16="http://schemas.microsoft.com/office/drawing/2014/main" id="{7D9D32B2-5383-8F8C-5858-651D956485AC}"/>
              </a:ext>
            </a:extLst>
          </p:cNvPr>
          <p:cNvSpPr>
            <a:spLocks noGrp="1"/>
          </p:cNvSpPr>
          <p:nvPr>
            <p:ph idx="1"/>
          </p:nvPr>
        </p:nvSpPr>
        <p:spPr>
          <a:xfrm>
            <a:off x="838200" y="1273629"/>
            <a:ext cx="10515600" cy="4903334"/>
          </a:xfrm>
        </p:spPr>
        <p:txBody>
          <a:bodyPr/>
          <a:lstStyle/>
          <a:p>
            <a:r>
              <a:rPr lang="en-US" dirty="0"/>
              <a:t>Plan-driven or plan-based development is an approach to software engineering where the development process is planned in detail. </a:t>
            </a:r>
          </a:p>
          <a:p>
            <a:pPr lvl="1"/>
            <a:r>
              <a:rPr lang="en-US" dirty="0"/>
              <a:t>Plan-driven development is based on engineering project management  techniques and is the ‘traditional’ way of managing large software development projects. </a:t>
            </a:r>
          </a:p>
          <a:p>
            <a:r>
              <a:rPr lang="en-US" dirty="0"/>
              <a:t>A project plan is created that records the work to be done, who will do it, the development schedule and the work products. </a:t>
            </a:r>
          </a:p>
          <a:p>
            <a:r>
              <a:rPr lang="en-US" dirty="0"/>
              <a:t>Managers use the plan to support project decision making and as a way of measuring progress. </a:t>
            </a:r>
          </a:p>
          <a:p>
            <a:endParaRPr lang="en-IN" dirty="0"/>
          </a:p>
        </p:txBody>
      </p:sp>
    </p:spTree>
    <p:extLst>
      <p:ext uri="{BB962C8B-B14F-4D97-AF65-F5344CB8AC3E}">
        <p14:creationId xmlns:p14="http://schemas.microsoft.com/office/powerpoint/2010/main" val="874939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E2C77-F04A-A2C9-55AB-CDB3CC68EBFA}"/>
              </a:ext>
            </a:extLst>
          </p:cNvPr>
          <p:cNvSpPr>
            <a:spLocks noGrp="1"/>
          </p:cNvSpPr>
          <p:nvPr>
            <p:ph type="title"/>
          </p:nvPr>
        </p:nvSpPr>
        <p:spPr>
          <a:xfrm>
            <a:off x="838200" y="365126"/>
            <a:ext cx="10515600" cy="603704"/>
          </a:xfrm>
        </p:spPr>
        <p:txBody>
          <a:bodyPr>
            <a:normAutofit fontScale="90000"/>
          </a:bodyPr>
          <a:lstStyle/>
          <a:p>
            <a:r>
              <a:rPr lang="en-IN" dirty="0"/>
              <a:t>Project plan </a:t>
            </a:r>
          </a:p>
        </p:txBody>
      </p:sp>
      <p:sp>
        <p:nvSpPr>
          <p:cNvPr id="3" name="Content Placeholder 2">
            <a:extLst>
              <a:ext uri="{FF2B5EF4-FFF2-40B4-BE49-F238E27FC236}">
                <a16:creationId xmlns:a16="http://schemas.microsoft.com/office/drawing/2014/main" id="{F92499FE-BCF1-1263-56E9-18E5B46B2420}"/>
              </a:ext>
            </a:extLst>
          </p:cNvPr>
          <p:cNvSpPr>
            <a:spLocks noGrp="1"/>
          </p:cNvSpPr>
          <p:nvPr>
            <p:ph idx="1"/>
          </p:nvPr>
        </p:nvSpPr>
        <p:spPr>
          <a:xfrm>
            <a:off x="838200" y="1164771"/>
            <a:ext cx="10515600" cy="5012192"/>
          </a:xfrm>
        </p:spPr>
        <p:txBody>
          <a:bodyPr/>
          <a:lstStyle/>
          <a:p>
            <a:pPr algn="l"/>
            <a:r>
              <a:rPr lang="en-US" sz="1800" b="1" i="0" u="none" strike="noStrike" baseline="0" dirty="0">
                <a:latin typeface="Times-Roman"/>
              </a:rPr>
              <a:t>The project plan </a:t>
            </a:r>
            <a:r>
              <a:rPr lang="en-US" sz="1800" b="0" i="0" u="none" strike="noStrike" baseline="0" dirty="0">
                <a:latin typeface="Times-Roman"/>
              </a:rPr>
              <a:t>sets out the resources available to the project, the work breakdown and a schedule for carrying out the work. In some </a:t>
            </a:r>
            <a:r>
              <a:rPr lang="en-US" sz="1800" b="0" i="0" u="none" strike="noStrike" baseline="0" dirty="0" err="1">
                <a:latin typeface="Times-Roman"/>
              </a:rPr>
              <a:t>organisations</a:t>
            </a:r>
            <a:r>
              <a:rPr lang="en-US" sz="1800" b="0" i="0" u="none" strike="noStrike" baseline="0" dirty="0">
                <a:latin typeface="Times-Roman"/>
              </a:rPr>
              <a:t>, the project plan is a single document that includes the different types of plan. In other cases, the project plan is solely concerned with the development process</a:t>
            </a:r>
            <a:endParaRPr lang="en-IN" dirty="0"/>
          </a:p>
        </p:txBody>
      </p:sp>
      <p:pic>
        <p:nvPicPr>
          <p:cNvPr id="5" name="Picture 4">
            <a:extLst>
              <a:ext uri="{FF2B5EF4-FFF2-40B4-BE49-F238E27FC236}">
                <a16:creationId xmlns:a16="http://schemas.microsoft.com/office/drawing/2014/main" id="{8217FF66-8436-E287-769B-73124FE94176}"/>
              </a:ext>
            </a:extLst>
          </p:cNvPr>
          <p:cNvPicPr>
            <a:picLocks noChangeAspect="1"/>
          </p:cNvPicPr>
          <p:nvPr/>
        </p:nvPicPr>
        <p:blipFill>
          <a:blip r:embed="rId2"/>
          <a:stretch>
            <a:fillRect/>
          </a:stretch>
        </p:blipFill>
        <p:spPr>
          <a:xfrm>
            <a:off x="3204759" y="2285787"/>
            <a:ext cx="5782482" cy="3287699"/>
          </a:xfrm>
          <a:prstGeom prst="rect">
            <a:avLst/>
          </a:prstGeom>
        </p:spPr>
      </p:pic>
      <p:sp>
        <p:nvSpPr>
          <p:cNvPr id="6" name="TextBox 5">
            <a:extLst>
              <a:ext uri="{FF2B5EF4-FFF2-40B4-BE49-F238E27FC236}">
                <a16:creationId xmlns:a16="http://schemas.microsoft.com/office/drawing/2014/main" id="{AF9A194C-C894-EDA3-8C44-02D6C08DAFE0}"/>
              </a:ext>
            </a:extLst>
          </p:cNvPr>
          <p:cNvSpPr txBox="1"/>
          <p:nvPr/>
        </p:nvSpPr>
        <p:spPr>
          <a:xfrm>
            <a:off x="8871667" y="3059668"/>
            <a:ext cx="3320333" cy="369332"/>
          </a:xfrm>
          <a:prstGeom prst="rect">
            <a:avLst/>
          </a:prstGeom>
          <a:noFill/>
        </p:spPr>
        <p:txBody>
          <a:bodyPr wrap="none" rtlCol="0">
            <a:spAutoFit/>
          </a:bodyPr>
          <a:lstStyle/>
          <a:p>
            <a:r>
              <a:rPr lang="en-IN" dirty="0"/>
              <a:t>Image: Ian </a:t>
            </a:r>
            <a:r>
              <a:rPr lang="en-IN" dirty="0" err="1"/>
              <a:t>Sommervile</a:t>
            </a:r>
            <a:r>
              <a:rPr lang="en-IN" dirty="0"/>
              <a:t>, </a:t>
            </a:r>
            <a:r>
              <a:rPr lang="en-IN" dirty="0" err="1"/>
              <a:t>pg</a:t>
            </a:r>
            <a:r>
              <a:rPr lang="en-IN" dirty="0"/>
              <a:t> no. 96</a:t>
            </a:r>
          </a:p>
        </p:txBody>
      </p:sp>
    </p:spTree>
    <p:extLst>
      <p:ext uri="{BB962C8B-B14F-4D97-AF65-F5344CB8AC3E}">
        <p14:creationId xmlns:p14="http://schemas.microsoft.com/office/powerpoint/2010/main" val="1123577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87BA9-4C3E-1BC5-B1DF-87FA903AAA3A}"/>
              </a:ext>
            </a:extLst>
          </p:cNvPr>
          <p:cNvSpPr>
            <a:spLocks noGrp="1"/>
          </p:cNvSpPr>
          <p:nvPr>
            <p:ph type="title"/>
          </p:nvPr>
        </p:nvSpPr>
        <p:spPr/>
        <p:txBody>
          <a:bodyPr/>
          <a:lstStyle/>
          <a:p>
            <a:r>
              <a:rPr lang="en-US" dirty="0"/>
              <a:t>Most plans should include the following sections: </a:t>
            </a:r>
            <a:endParaRPr lang="en-IN" dirty="0"/>
          </a:p>
        </p:txBody>
      </p:sp>
      <p:sp>
        <p:nvSpPr>
          <p:cNvPr id="3" name="Content Placeholder 2">
            <a:extLst>
              <a:ext uri="{FF2B5EF4-FFF2-40B4-BE49-F238E27FC236}">
                <a16:creationId xmlns:a16="http://schemas.microsoft.com/office/drawing/2014/main" id="{8DAF82DA-9635-AF90-BCE5-55745ADDFF0E}"/>
              </a:ext>
            </a:extLst>
          </p:cNvPr>
          <p:cNvSpPr>
            <a:spLocks noGrp="1"/>
          </p:cNvSpPr>
          <p:nvPr>
            <p:ph idx="1"/>
          </p:nvPr>
        </p:nvSpPr>
        <p:spPr/>
        <p:txBody>
          <a:bodyPr>
            <a:normAutofit fontScale="92500" lnSpcReduction="10000"/>
          </a:bodyPr>
          <a:lstStyle/>
          <a:p>
            <a:pPr algn="l"/>
            <a:r>
              <a:rPr lang="en-US" sz="1800" b="1" i="1" u="none" strike="noStrike" baseline="0" dirty="0">
                <a:latin typeface="Times-Italic"/>
              </a:rPr>
              <a:t>Introduction</a:t>
            </a:r>
            <a:r>
              <a:rPr lang="en-US" sz="1800" b="0" i="1" u="none" strike="noStrike" baseline="0" dirty="0">
                <a:latin typeface="Times-Italic"/>
              </a:rPr>
              <a:t> </a:t>
            </a:r>
            <a:r>
              <a:rPr lang="en-US" sz="1800" b="0" i="0" u="none" strike="noStrike" baseline="0" dirty="0">
                <a:latin typeface="Times-Roman"/>
              </a:rPr>
              <a:t>This briefly describes the objectives of the project and sets out the constraints (e.g., budget, time, etc.) that affect the project management.</a:t>
            </a:r>
            <a:r>
              <a:rPr lang="en-US" dirty="0"/>
              <a:t>	</a:t>
            </a:r>
            <a:endParaRPr lang="en-GB" dirty="0"/>
          </a:p>
          <a:p>
            <a:pPr algn="l"/>
            <a:r>
              <a:rPr lang="en-US" sz="1800" b="1" i="1" u="none" strike="noStrike" baseline="0" dirty="0">
                <a:latin typeface="Times-Italic"/>
              </a:rPr>
              <a:t>Project </a:t>
            </a:r>
            <a:r>
              <a:rPr lang="en-US" sz="1800" b="1" i="1" u="none" strike="noStrike" baseline="0" dirty="0" err="1">
                <a:latin typeface="Times-Italic"/>
              </a:rPr>
              <a:t>organisation</a:t>
            </a:r>
            <a:r>
              <a:rPr lang="en-US" sz="1800" b="1" i="1" u="none" strike="noStrike" baseline="0" dirty="0">
                <a:latin typeface="Times-Italic"/>
              </a:rPr>
              <a:t> </a:t>
            </a:r>
            <a:r>
              <a:rPr lang="en-US" sz="1800" b="0" i="0" u="none" strike="noStrike" baseline="0" dirty="0">
                <a:latin typeface="Times-Roman"/>
              </a:rPr>
              <a:t>This describes the way in which the development team is </a:t>
            </a:r>
            <a:r>
              <a:rPr lang="en-US" sz="1800" b="0" i="0" u="none" strike="noStrike" baseline="0" dirty="0" err="1">
                <a:latin typeface="Times-Roman"/>
              </a:rPr>
              <a:t>organised</a:t>
            </a:r>
            <a:r>
              <a:rPr lang="en-US" sz="1800" b="0" i="0" u="none" strike="noStrike" baseline="0" dirty="0">
                <a:latin typeface="Times-Roman"/>
              </a:rPr>
              <a:t>, the people involved and their roles in the team.</a:t>
            </a:r>
          </a:p>
          <a:p>
            <a:pPr algn="l"/>
            <a:r>
              <a:rPr lang="en-US" sz="1800" b="1" i="1" u="none" strike="noStrike" baseline="0" dirty="0">
                <a:latin typeface="Times-Italic"/>
              </a:rPr>
              <a:t>Risk analysis </a:t>
            </a:r>
            <a:r>
              <a:rPr lang="en-US" sz="1800" b="0" i="0" u="none" strike="noStrike" baseline="0" dirty="0">
                <a:latin typeface="Times-Roman"/>
              </a:rPr>
              <a:t>This describes possible project risks, the likelihood of these risks arising and the risk reduction strategies that are proposed. I explain the principles of risk management in Section 5.4.</a:t>
            </a:r>
          </a:p>
          <a:p>
            <a:pPr algn="l"/>
            <a:r>
              <a:rPr lang="en-US" sz="1800" b="1" i="1" u="none" strike="noStrike" baseline="0" dirty="0">
                <a:latin typeface="Times-Italic"/>
              </a:rPr>
              <a:t>Hardware and software resource requirements </a:t>
            </a:r>
            <a:r>
              <a:rPr lang="en-US" sz="1800" b="0" i="0" u="none" strike="noStrike" baseline="0" dirty="0">
                <a:latin typeface="Times-Roman"/>
              </a:rPr>
              <a:t>This specifies the hardware and the support software required to carry out the development. If hardware has to be bought, estimates of the prices and the delivery schedule may be included.</a:t>
            </a:r>
          </a:p>
          <a:p>
            <a:pPr algn="l"/>
            <a:r>
              <a:rPr lang="en-US" sz="1800" b="1" i="1" u="none" strike="noStrike" baseline="0" dirty="0">
                <a:latin typeface="Times-Italic"/>
              </a:rPr>
              <a:t>Work breakdown </a:t>
            </a:r>
            <a:r>
              <a:rPr lang="en-US" sz="1800" b="0" i="0" u="none" strike="noStrike" baseline="0" dirty="0">
                <a:latin typeface="Times-Roman"/>
              </a:rPr>
              <a:t>This sets out the breakdown of the project into activities and identifies the milestones and deliverables associated with each activity. Milestones and deliverables are discussed in Section 5.2.2.</a:t>
            </a:r>
          </a:p>
          <a:p>
            <a:pPr algn="l"/>
            <a:r>
              <a:rPr lang="en-US" sz="1800" b="1" i="1" u="none" strike="noStrike" baseline="0" dirty="0">
                <a:latin typeface="Times-Italic"/>
              </a:rPr>
              <a:t>Project schedule </a:t>
            </a:r>
            <a:r>
              <a:rPr lang="en-US" sz="1800" b="0" i="0" u="none" strike="noStrike" baseline="0" dirty="0">
                <a:latin typeface="Times-Roman"/>
              </a:rPr>
              <a:t>This shows the dependencies between activities, the estimated time required to reach each milestone and the allocation of people to activities.</a:t>
            </a:r>
          </a:p>
          <a:p>
            <a:pPr algn="l"/>
            <a:r>
              <a:rPr lang="en-US" sz="1800" b="1" i="1" u="none" strike="noStrike" baseline="0" dirty="0">
                <a:latin typeface="Times-Italic"/>
              </a:rPr>
              <a:t>Monitoring and reporting mechanisms </a:t>
            </a:r>
            <a:r>
              <a:rPr lang="en-US" sz="1800" b="0" i="0" u="none" strike="noStrike" baseline="0" dirty="0">
                <a:latin typeface="Times-Roman"/>
              </a:rPr>
              <a:t>This defines the management reports that should be produced, when these should be produced and the project monitoring </a:t>
            </a:r>
            <a:r>
              <a:rPr lang="en-IN" sz="1800" b="0" i="0" u="none" strike="noStrike" baseline="0" dirty="0">
                <a:latin typeface="Times-Roman"/>
              </a:rPr>
              <a:t>mechanisms used.</a:t>
            </a:r>
            <a:endParaRPr lang="en-IN" dirty="0"/>
          </a:p>
        </p:txBody>
      </p:sp>
    </p:spTree>
    <p:extLst>
      <p:ext uri="{BB962C8B-B14F-4D97-AF65-F5344CB8AC3E}">
        <p14:creationId xmlns:p14="http://schemas.microsoft.com/office/powerpoint/2010/main" val="968438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7F80B-A2EF-E476-E5BF-BDB3ED41EBBF}"/>
              </a:ext>
            </a:extLst>
          </p:cNvPr>
          <p:cNvSpPr>
            <a:spLocks noGrp="1"/>
          </p:cNvSpPr>
          <p:nvPr>
            <p:ph type="title"/>
          </p:nvPr>
        </p:nvSpPr>
        <p:spPr>
          <a:xfrm>
            <a:off x="838200" y="341085"/>
            <a:ext cx="10515600" cy="679904"/>
          </a:xfrm>
        </p:spPr>
        <p:txBody>
          <a:bodyPr>
            <a:normAutofit fontScale="90000"/>
          </a:bodyPr>
          <a:lstStyle/>
          <a:p>
            <a:r>
              <a:rPr lang="en-IN" b="1" dirty="0"/>
              <a:t>Milestones and Deliverables</a:t>
            </a:r>
          </a:p>
        </p:txBody>
      </p:sp>
      <p:sp>
        <p:nvSpPr>
          <p:cNvPr id="3" name="Content Placeholder 2">
            <a:extLst>
              <a:ext uri="{FF2B5EF4-FFF2-40B4-BE49-F238E27FC236}">
                <a16:creationId xmlns:a16="http://schemas.microsoft.com/office/drawing/2014/main" id="{13003D88-A0AF-EFCB-3181-48C918843C80}"/>
              </a:ext>
            </a:extLst>
          </p:cNvPr>
          <p:cNvSpPr>
            <a:spLocks noGrp="1"/>
          </p:cNvSpPr>
          <p:nvPr>
            <p:ph idx="1"/>
          </p:nvPr>
        </p:nvSpPr>
        <p:spPr>
          <a:xfrm>
            <a:off x="838200" y="1197429"/>
            <a:ext cx="10515600" cy="4979534"/>
          </a:xfrm>
        </p:spPr>
        <p:txBody>
          <a:bodyPr>
            <a:normAutofit/>
          </a:bodyPr>
          <a:lstStyle/>
          <a:p>
            <a:pPr algn="l"/>
            <a:r>
              <a:rPr lang="en-US" sz="2400" b="0" i="0" u="none" strike="noStrike" baseline="0" dirty="0">
                <a:latin typeface="Times-Roman"/>
              </a:rPr>
              <a:t>Milestone reports need not be large documents. </a:t>
            </a:r>
            <a:r>
              <a:rPr lang="en-US" sz="2400" b="1" i="0" u="none" strike="noStrike" baseline="0" dirty="0">
                <a:latin typeface="Times-Roman"/>
              </a:rPr>
              <a:t>They may simply be a short report of what has been completed (significant events).</a:t>
            </a:r>
            <a:r>
              <a:rPr lang="en-US" sz="2400" b="0" i="0" u="none" strike="noStrike" baseline="0" dirty="0">
                <a:latin typeface="Times-Roman"/>
              </a:rPr>
              <a:t> Milestones should represent the end of a distinct, logical stage in the project. </a:t>
            </a:r>
            <a:r>
              <a:rPr lang="en-US" sz="2400" b="1" i="0" u="none" strike="noStrike" baseline="0" dirty="0">
                <a:latin typeface="Times-Roman"/>
              </a:rPr>
              <a:t>Indefinite milestones </a:t>
            </a:r>
            <a:r>
              <a:rPr lang="en-US" sz="2400" b="0" i="0" u="none" strike="noStrike" baseline="0" dirty="0">
                <a:latin typeface="Times-Roman"/>
              </a:rPr>
              <a:t>such as ‘</a:t>
            </a:r>
            <a:r>
              <a:rPr lang="en-US" sz="2400" b="1" i="0" u="none" strike="noStrike" baseline="0" dirty="0">
                <a:latin typeface="Times-Roman"/>
              </a:rPr>
              <a:t>Coding 80% complete</a:t>
            </a:r>
            <a:r>
              <a:rPr lang="en-US" sz="2400" b="0" i="0" u="none" strike="noStrike" baseline="0" dirty="0">
                <a:latin typeface="Times-Roman"/>
              </a:rPr>
              <a:t>’ that can’t be checked are useless for project management. You can’t check whether this state has been achieved because the amount of code that still has to </a:t>
            </a:r>
            <a:r>
              <a:rPr lang="en-IN" sz="2400" b="0" i="0" u="none" strike="noStrike" baseline="0" dirty="0">
                <a:latin typeface="Times-Roman"/>
              </a:rPr>
              <a:t>be developed is uncertain.</a:t>
            </a:r>
          </a:p>
          <a:p>
            <a:pPr algn="l"/>
            <a:r>
              <a:rPr lang="en-US" sz="2400" b="0" i="0" u="none" strike="noStrike" baseline="0" dirty="0">
                <a:latin typeface="Times-Roman"/>
              </a:rPr>
              <a:t>A deliverable is a project result that is delivered to the customer. It is usually delivered at the end of some major project phase such as specification or design. Deliverables are usually milestones, but milestones need not be deliverables.</a:t>
            </a:r>
            <a:endParaRPr lang="en-IN" sz="2400" dirty="0"/>
          </a:p>
        </p:txBody>
      </p:sp>
    </p:spTree>
    <p:extLst>
      <p:ext uri="{BB962C8B-B14F-4D97-AF65-F5344CB8AC3E}">
        <p14:creationId xmlns:p14="http://schemas.microsoft.com/office/powerpoint/2010/main" val="3844731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3D0B6-D666-84BF-6758-36D4E87ABE2F}"/>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AB963A2-8359-5D2C-2BCC-44100BC0DD54}"/>
              </a:ext>
            </a:extLst>
          </p:cNvPr>
          <p:cNvSpPr>
            <a:spLocks noGrp="1"/>
          </p:cNvSpPr>
          <p:nvPr>
            <p:ph idx="1"/>
          </p:nvPr>
        </p:nvSpPr>
        <p:spPr/>
        <p:txBody>
          <a:bodyPr/>
          <a:lstStyle/>
          <a:p>
            <a:pPr algn="l"/>
            <a:r>
              <a:rPr lang="en-US" sz="1800" b="0" i="0" u="none" strike="noStrike" baseline="0" dirty="0">
                <a:latin typeface="Times-Roman"/>
              </a:rPr>
              <a:t>To establish </a:t>
            </a:r>
            <a:r>
              <a:rPr lang="en-US" sz="1800" b="1" i="0" u="none" strike="noStrike" baseline="0" dirty="0">
                <a:latin typeface="Times-Roman"/>
              </a:rPr>
              <a:t>milestones</a:t>
            </a:r>
            <a:r>
              <a:rPr lang="en-US" sz="1800" b="0" i="0" u="none" strike="noStrike" baseline="0" dirty="0">
                <a:latin typeface="Times-Roman"/>
              </a:rPr>
              <a:t>, the software process must be broken down into basic activities with associated outputs. For example, Figure shows possible activities involved in requirements specification when prototyping is used to help validate requirements. The milestones in this case are the completion of the outputs for each activity. The project deliverables, which are delivered to the customer, are the requirements definition and the requirements specification.</a:t>
            </a:r>
            <a:endParaRPr lang="en-IN" dirty="0"/>
          </a:p>
        </p:txBody>
      </p:sp>
      <p:pic>
        <p:nvPicPr>
          <p:cNvPr id="5" name="Picture 4">
            <a:extLst>
              <a:ext uri="{FF2B5EF4-FFF2-40B4-BE49-F238E27FC236}">
                <a16:creationId xmlns:a16="http://schemas.microsoft.com/office/drawing/2014/main" id="{E340AFAC-146A-B751-955F-23EC253EC446}"/>
              </a:ext>
            </a:extLst>
          </p:cNvPr>
          <p:cNvPicPr>
            <a:picLocks noChangeAspect="1"/>
          </p:cNvPicPr>
          <p:nvPr/>
        </p:nvPicPr>
        <p:blipFill>
          <a:blip r:embed="rId2"/>
          <a:stretch>
            <a:fillRect/>
          </a:stretch>
        </p:blipFill>
        <p:spPr>
          <a:xfrm>
            <a:off x="2313394" y="3187171"/>
            <a:ext cx="7173326" cy="2162477"/>
          </a:xfrm>
          <a:prstGeom prst="rect">
            <a:avLst/>
          </a:prstGeom>
        </p:spPr>
      </p:pic>
    </p:spTree>
    <p:extLst>
      <p:ext uri="{BB962C8B-B14F-4D97-AF65-F5344CB8AC3E}">
        <p14:creationId xmlns:p14="http://schemas.microsoft.com/office/powerpoint/2010/main" val="3173031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536F9-5570-24BF-E451-09F12E0F5802}"/>
              </a:ext>
            </a:extLst>
          </p:cNvPr>
          <p:cNvSpPr>
            <a:spLocks noGrp="1"/>
          </p:cNvSpPr>
          <p:nvPr>
            <p:ph type="title"/>
          </p:nvPr>
        </p:nvSpPr>
        <p:spPr>
          <a:xfrm>
            <a:off x="838200" y="365125"/>
            <a:ext cx="10515600" cy="821418"/>
          </a:xfrm>
        </p:spPr>
        <p:txBody>
          <a:bodyPr>
            <a:normAutofit fontScale="90000"/>
          </a:bodyPr>
          <a:lstStyle/>
          <a:p>
            <a:r>
              <a:rPr lang="en-IN" dirty="0"/>
              <a:t>Work Breakdown Structure (WBS)</a:t>
            </a:r>
            <a:br>
              <a:rPr lang="en-IN" dirty="0"/>
            </a:br>
            <a:endParaRPr lang="en-IN" dirty="0"/>
          </a:p>
        </p:txBody>
      </p:sp>
      <p:sp>
        <p:nvSpPr>
          <p:cNvPr id="3" name="Content Placeholder 2">
            <a:extLst>
              <a:ext uri="{FF2B5EF4-FFF2-40B4-BE49-F238E27FC236}">
                <a16:creationId xmlns:a16="http://schemas.microsoft.com/office/drawing/2014/main" id="{002CFF2E-32A7-26E6-58AF-95535F39EF39}"/>
              </a:ext>
            </a:extLst>
          </p:cNvPr>
          <p:cNvSpPr>
            <a:spLocks noGrp="1"/>
          </p:cNvSpPr>
          <p:nvPr>
            <p:ph idx="1"/>
          </p:nvPr>
        </p:nvSpPr>
        <p:spPr>
          <a:xfrm>
            <a:off x="838200" y="1545771"/>
            <a:ext cx="10515600" cy="4631192"/>
          </a:xfrm>
        </p:spPr>
        <p:txBody>
          <a:bodyPr>
            <a:normAutofit/>
          </a:bodyPr>
          <a:lstStyle/>
          <a:p>
            <a:r>
              <a:rPr lang="en-IN" sz="3200" dirty="0"/>
              <a:t>Hierarchical decomposition of the project to manageable components.</a:t>
            </a:r>
          </a:p>
          <a:p>
            <a:r>
              <a:rPr lang="en-IN" sz="3200" dirty="0"/>
              <a:t>The decomposition is deliverable oriented</a:t>
            </a:r>
          </a:p>
          <a:p>
            <a:r>
              <a:rPr lang="en-IN" sz="3200" dirty="0"/>
              <a:t>Displayed graphically.</a:t>
            </a:r>
          </a:p>
        </p:txBody>
      </p:sp>
    </p:spTree>
    <p:extLst>
      <p:ext uri="{BB962C8B-B14F-4D97-AF65-F5344CB8AC3E}">
        <p14:creationId xmlns:p14="http://schemas.microsoft.com/office/powerpoint/2010/main" val="438608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CADD9-3F34-5052-FB78-C155CEB4C664}"/>
              </a:ext>
            </a:extLst>
          </p:cNvPr>
          <p:cNvSpPr>
            <a:spLocks noGrp="1"/>
          </p:cNvSpPr>
          <p:nvPr>
            <p:ph type="title"/>
          </p:nvPr>
        </p:nvSpPr>
        <p:spPr/>
        <p:txBody>
          <a:bodyPr/>
          <a:lstStyle/>
          <a:p>
            <a:r>
              <a:rPr lang="en-IN" sz="4400" b="1" i="0" u="none" strike="noStrike" baseline="0" dirty="0">
                <a:solidFill>
                  <a:srgbClr val="362083"/>
                </a:solidFill>
                <a:latin typeface="Tahoma-Bold"/>
              </a:rPr>
              <a:t>SCHEDULING</a:t>
            </a:r>
            <a:br>
              <a:rPr lang="en-IN" sz="4400" b="1" i="0" u="none" strike="noStrike" baseline="0" dirty="0">
                <a:solidFill>
                  <a:srgbClr val="362083"/>
                </a:solidFill>
                <a:latin typeface="Tahoma-Bold"/>
              </a:rPr>
            </a:br>
            <a:endParaRPr lang="en-IN" dirty="0"/>
          </a:p>
        </p:txBody>
      </p:sp>
      <p:sp>
        <p:nvSpPr>
          <p:cNvPr id="3" name="Content Placeholder 2">
            <a:extLst>
              <a:ext uri="{FF2B5EF4-FFF2-40B4-BE49-F238E27FC236}">
                <a16:creationId xmlns:a16="http://schemas.microsoft.com/office/drawing/2014/main" id="{1CEFE693-BBC8-D542-78C4-67FC32B08F41}"/>
              </a:ext>
            </a:extLst>
          </p:cNvPr>
          <p:cNvSpPr>
            <a:spLocks noGrp="1"/>
          </p:cNvSpPr>
          <p:nvPr>
            <p:ph idx="1"/>
          </p:nvPr>
        </p:nvSpPr>
        <p:spPr>
          <a:xfrm>
            <a:off x="435428" y="1945367"/>
            <a:ext cx="10515600" cy="4351338"/>
          </a:xfrm>
        </p:spPr>
        <p:txBody>
          <a:bodyPr>
            <a:normAutofit/>
          </a:bodyPr>
          <a:lstStyle/>
          <a:p>
            <a:pPr marL="0" indent="0" algn="l">
              <a:buNone/>
            </a:pPr>
            <a:r>
              <a:rPr lang="en-US" b="0" i="0" u="none" strike="noStrike" baseline="0" dirty="0">
                <a:solidFill>
                  <a:srgbClr val="000000"/>
                </a:solidFill>
                <a:latin typeface="Tahoma" panose="020B0604030504040204" pitchFamily="34" charset="0"/>
              </a:rPr>
              <a:t>Scheduling the project tasks is an important project planning activity.</a:t>
            </a:r>
            <a:endParaRPr lang="en-IN" dirty="0"/>
          </a:p>
        </p:txBody>
      </p:sp>
    </p:spTree>
    <p:extLst>
      <p:ext uri="{BB962C8B-B14F-4D97-AF65-F5344CB8AC3E}">
        <p14:creationId xmlns:p14="http://schemas.microsoft.com/office/powerpoint/2010/main" val="2338053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FC355-E887-D659-AA6C-EDE5A3135E80}"/>
              </a:ext>
            </a:extLst>
          </p:cNvPr>
          <p:cNvSpPr>
            <a:spLocks noGrp="1"/>
          </p:cNvSpPr>
          <p:nvPr>
            <p:ph type="title"/>
          </p:nvPr>
        </p:nvSpPr>
        <p:spPr>
          <a:xfrm>
            <a:off x="838200" y="365125"/>
            <a:ext cx="10515600" cy="777875"/>
          </a:xfrm>
        </p:spPr>
        <p:txBody>
          <a:bodyPr>
            <a:normAutofit fontScale="90000"/>
          </a:bodyPr>
          <a:lstStyle/>
          <a:p>
            <a:r>
              <a:rPr lang="en-IN" b="1" dirty="0"/>
              <a:t>Work Breakdown Structure (WBS)</a:t>
            </a:r>
            <a:br>
              <a:rPr lang="en-IN" dirty="0"/>
            </a:br>
            <a:endParaRPr lang="en-IN" dirty="0"/>
          </a:p>
        </p:txBody>
      </p:sp>
      <p:sp>
        <p:nvSpPr>
          <p:cNvPr id="3" name="Content Placeholder 2">
            <a:extLst>
              <a:ext uri="{FF2B5EF4-FFF2-40B4-BE49-F238E27FC236}">
                <a16:creationId xmlns:a16="http://schemas.microsoft.com/office/drawing/2014/main" id="{26B3E585-CC74-4C2E-DF8D-84500732133E}"/>
              </a:ext>
            </a:extLst>
          </p:cNvPr>
          <p:cNvSpPr>
            <a:spLocks noGrp="1"/>
          </p:cNvSpPr>
          <p:nvPr>
            <p:ph idx="1"/>
          </p:nvPr>
        </p:nvSpPr>
        <p:spPr>
          <a:xfrm>
            <a:off x="838200" y="1023257"/>
            <a:ext cx="10515600" cy="5153706"/>
          </a:xfrm>
        </p:spPr>
        <p:txBody>
          <a:bodyPr>
            <a:normAutofit lnSpcReduction="10000"/>
          </a:bodyPr>
          <a:lstStyle/>
          <a:p>
            <a:r>
              <a:rPr lang="en-US" b="1" dirty="0"/>
              <a:t>Design:</a:t>
            </a:r>
            <a:r>
              <a:rPr lang="en-US" dirty="0"/>
              <a:t> The WBS provides a graphical representation or textual outline of the project scope.</a:t>
            </a:r>
          </a:p>
          <a:p>
            <a:r>
              <a:rPr lang="en-US" dirty="0"/>
              <a:t>Some of the main roles the WBS plays in supporting clarity for project definition are that it:</a:t>
            </a:r>
          </a:p>
          <a:p>
            <a:r>
              <a:rPr lang="en-US" b="1" dirty="0"/>
              <a:t>Decomposes:</a:t>
            </a:r>
            <a:r>
              <a:rPr lang="en-US" dirty="0"/>
              <a:t>  </a:t>
            </a:r>
            <a:r>
              <a:rPr lang="en-US" b="1" dirty="0"/>
              <a:t>the overall project scope into clearly defined deliverables.</a:t>
            </a:r>
          </a:p>
          <a:p>
            <a:r>
              <a:rPr lang="en-US" b="1" dirty="0"/>
              <a:t>Defines:</a:t>
            </a:r>
            <a:r>
              <a:rPr lang="en-US" dirty="0"/>
              <a:t> the scope of the project in terms that the stakeholders can            	       understand.</a:t>
            </a:r>
          </a:p>
          <a:p>
            <a:r>
              <a:rPr lang="en-US" b="1" dirty="0"/>
              <a:t>Provides:</a:t>
            </a:r>
            <a:r>
              <a:rPr lang="en-US" dirty="0"/>
              <a:t> 	a structure for organizing information regarding the project’s progress, status, and performance.</a:t>
            </a:r>
          </a:p>
          <a:p>
            <a:r>
              <a:rPr lang="en-US" b="1" dirty="0"/>
              <a:t>Supports:</a:t>
            </a:r>
            <a:r>
              <a:rPr lang="en-US" dirty="0"/>
              <a:t> 	tracking of risks to assist the project manager in identifying and  implementing necessary responses</a:t>
            </a:r>
            <a:endParaRPr lang="en-IN" dirty="0"/>
          </a:p>
        </p:txBody>
      </p:sp>
    </p:spTree>
    <p:extLst>
      <p:ext uri="{BB962C8B-B14F-4D97-AF65-F5344CB8AC3E}">
        <p14:creationId xmlns:p14="http://schemas.microsoft.com/office/powerpoint/2010/main" val="682881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C9F18-09D5-4266-3DC2-F2AF8F99111D}"/>
              </a:ext>
            </a:extLst>
          </p:cNvPr>
          <p:cNvSpPr>
            <a:spLocks noGrp="1"/>
          </p:cNvSpPr>
          <p:nvPr>
            <p:ph type="title"/>
          </p:nvPr>
        </p:nvSpPr>
        <p:spPr>
          <a:xfrm>
            <a:off x="838200" y="365125"/>
            <a:ext cx="10515600" cy="538389"/>
          </a:xfrm>
        </p:spPr>
        <p:txBody>
          <a:bodyPr>
            <a:normAutofit fontScale="90000"/>
          </a:bodyPr>
          <a:lstStyle/>
          <a:p>
            <a:r>
              <a:rPr lang="en-IN" b="1" dirty="0"/>
              <a:t>Example of WBS</a:t>
            </a:r>
          </a:p>
        </p:txBody>
      </p:sp>
      <p:sp>
        <p:nvSpPr>
          <p:cNvPr id="6" name="TextBox 5">
            <a:extLst>
              <a:ext uri="{FF2B5EF4-FFF2-40B4-BE49-F238E27FC236}">
                <a16:creationId xmlns:a16="http://schemas.microsoft.com/office/drawing/2014/main" id="{66F7A342-592F-8EB4-9FF9-ADCD533F7DB2}"/>
              </a:ext>
            </a:extLst>
          </p:cNvPr>
          <p:cNvSpPr txBox="1"/>
          <p:nvPr/>
        </p:nvSpPr>
        <p:spPr>
          <a:xfrm>
            <a:off x="8686800" y="6123543"/>
            <a:ext cx="2492285" cy="369332"/>
          </a:xfrm>
          <a:prstGeom prst="rect">
            <a:avLst/>
          </a:prstGeom>
          <a:noFill/>
        </p:spPr>
        <p:txBody>
          <a:bodyPr wrap="none" rtlCol="0">
            <a:spAutoFit/>
          </a:bodyPr>
          <a:lstStyle/>
          <a:p>
            <a:r>
              <a:rPr lang="en-IN" dirty="0"/>
              <a:t>Image courtesy: Internet</a:t>
            </a:r>
          </a:p>
        </p:txBody>
      </p:sp>
      <p:pic>
        <p:nvPicPr>
          <p:cNvPr id="10" name="Content Placeholder 9">
            <a:extLst>
              <a:ext uri="{FF2B5EF4-FFF2-40B4-BE49-F238E27FC236}">
                <a16:creationId xmlns:a16="http://schemas.microsoft.com/office/drawing/2014/main" id="{8B5CC5A0-CE22-F5BA-3409-609C63B8D4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6657" y="1110343"/>
            <a:ext cx="9154886" cy="5066620"/>
          </a:xfrm>
        </p:spPr>
      </p:pic>
    </p:spTree>
    <p:extLst>
      <p:ext uri="{BB962C8B-B14F-4D97-AF65-F5344CB8AC3E}">
        <p14:creationId xmlns:p14="http://schemas.microsoft.com/office/powerpoint/2010/main" val="2242829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EB994-A68C-20F5-3F7E-C18E72B4266B}"/>
              </a:ext>
            </a:extLst>
          </p:cNvPr>
          <p:cNvSpPr>
            <a:spLocks noGrp="1"/>
          </p:cNvSpPr>
          <p:nvPr>
            <p:ph type="title"/>
          </p:nvPr>
        </p:nvSpPr>
        <p:spPr>
          <a:xfrm>
            <a:off x="838200" y="365126"/>
            <a:ext cx="10515600" cy="832304"/>
          </a:xfrm>
        </p:spPr>
        <p:txBody>
          <a:bodyPr/>
          <a:lstStyle/>
          <a:p>
            <a:r>
              <a:rPr lang="en-IN" b="1" dirty="0"/>
              <a:t>Benefits of WBS</a:t>
            </a:r>
          </a:p>
        </p:txBody>
      </p:sp>
      <p:sp>
        <p:nvSpPr>
          <p:cNvPr id="3" name="Content Placeholder 2">
            <a:extLst>
              <a:ext uri="{FF2B5EF4-FFF2-40B4-BE49-F238E27FC236}">
                <a16:creationId xmlns:a16="http://schemas.microsoft.com/office/drawing/2014/main" id="{EA55D140-F4CC-ADE4-14BF-C6AC20A673C6}"/>
              </a:ext>
            </a:extLst>
          </p:cNvPr>
          <p:cNvSpPr>
            <a:spLocks noGrp="1"/>
          </p:cNvSpPr>
          <p:nvPr>
            <p:ph idx="1"/>
          </p:nvPr>
        </p:nvSpPr>
        <p:spPr/>
        <p:txBody>
          <a:bodyPr/>
          <a:lstStyle/>
          <a:p>
            <a:r>
              <a:rPr lang="en-IN" dirty="0"/>
              <a:t>Assists with accurate project organization</a:t>
            </a:r>
          </a:p>
          <a:p>
            <a:r>
              <a:rPr lang="en-IN" dirty="0"/>
              <a:t>Helps with assigning responsibilities</a:t>
            </a:r>
          </a:p>
          <a:p>
            <a:r>
              <a:rPr lang="en-IN" dirty="0"/>
              <a:t>Shows the control points and project milestones</a:t>
            </a:r>
          </a:p>
          <a:p>
            <a:r>
              <a:rPr lang="en-IN" dirty="0"/>
              <a:t>Allows for more accurate estimation of cost, risk and time</a:t>
            </a:r>
          </a:p>
          <a:p>
            <a:r>
              <a:rPr lang="en-IN" dirty="0"/>
              <a:t>Helps explain the project scope to stakeholders</a:t>
            </a:r>
          </a:p>
        </p:txBody>
      </p:sp>
    </p:spTree>
    <p:extLst>
      <p:ext uri="{BB962C8B-B14F-4D97-AF65-F5344CB8AC3E}">
        <p14:creationId xmlns:p14="http://schemas.microsoft.com/office/powerpoint/2010/main" val="1683688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7064B-48CF-084F-7AB6-537C946B467C}"/>
              </a:ext>
            </a:extLst>
          </p:cNvPr>
          <p:cNvSpPr>
            <a:spLocks noGrp="1"/>
          </p:cNvSpPr>
          <p:nvPr>
            <p:ph type="title"/>
          </p:nvPr>
        </p:nvSpPr>
        <p:spPr>
          <a:xfrm>
            <a:off x="838200" y="365125"/>
            <a:ext cx="10515600" cy="904875"/>
          </a:xfrm>
        </p:spPr>
        <p:txBody>
          <a:bodyPr>
            <a:normAutofit fontScale="90000"/>
          </a:bodyPr>
          <a:lstStyle/>
          <a:p>
            <a:r>
              <a:rPr lang="en-IN" dirty="0"/>
              <a:t>Steps of WBS</a:t>
            </a:r>
            <a:br>
              <a:rPr lang="en-IN" dirty="0"/>
            </a:br>
            <a:r>
              <a:rPr lang="en-IN" dirty="0"/>
              <a:t>Step 1</a:t>
            </a:r>
          </a:p>
        </p:txBody>
      </p:sp>
      <p:sp>
        <p:nvSpPr>
          <p:cNvPr id="3" name="Content Placeholder 2">
            <a:extLst>
              <a:ext uri="{FF2B5EF4-FFF2-40B4-BE49-F238E27FC236}">
                <a16:creationId xmlns:a16="http://schemas.microsoft.com/office/drawing/2014/main" id="{E504763F-35D4-6C33-26FB-37DC719D2505}"/>
              </a:ext>
            </a:extLst>
          </p:cNvPr>
          <p:cNvSpPr>
            <a:spLocks noGrp="1"/>
          </p:cNvSpPr>
          <p:nvPr>
            <p:ph idx="1"/>
          </p:nvPr>
        </p:nvSpPr>
        <p:spPr>
          <a:xfrm>
            <a:off x="838200" y="1388533"/>
            <a:ext cx="10515600" cy="4788430"/>
          </a:xfrm>
        </p:spPr>
        <p:txBody>
          <a:bodyPr/>
          <a:lstStyle/>
          <a:p>
            <a:r>
              <a:rPr lang="en-IN" dirty="0"/>
              <a:t>Define the project’s end product. This is usually no more than a title: for example “construction of a </a:t>
            </a:r>
            <a:r>
              <a:rPr lang="en-IN" dirty="0" err="1"/>
              <a:t>buliding</a:t>
            </a:r>
            <a:r>
              <a:rPr lang="en-IN" dirty="0"/>
              <a:t>”. It forms the root of </a:t>
            </a:r>
            <a:r>
              <a:rPr lang="en-IN" dirty="0" err="1"/>
              <a:t>thr</a:t>
            </a:r>
            <a:r>
              <a:rPr lang="en-IN" dirty="0"/>
              <a:t> Work Breakdown Structure document. </a:t>
            </a:r>
          </a:p>
        </p:txBody>
      </p:sp>
      <p:sp>
        <p:nvSpPr>
          <p:cNvPr id="4" name="Rectangle: Rounded Corners 3">
            <a:extLst>
              <a:ext uri="{FF2B5EF4-FFF2-40B4-BE49-F238E27FC236}">
                <a16:creationId xmlns:a16="http://schemas.microsoft.com/office/drawing/2014/main" id="{600F5628-12ED-10F6-49D0-2C60DA3D41D3}"/>
              </a:ext>
            </a:extLst>
          </p:cNvPr>
          <p:cNvSpPr/>
          <p:nvPr/>
        </p:nvSpPr>
        <p:spPr>
          <a:xfrm>
            <a:off x="4648200" y="3820886"/>
            <a:ext cx="2982686"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Construction of  a house</a:t>
            </a:r>
          </a:p>
        </p:txBody>
      </p:sp>
    </p:spTree>
    <p:extLst>
      <p:ext uri="{BB962C8B-B14F-4D97-AF65-F5344CB8AC3E}">
        <p14:creationId xmlns:p14="http://schemas.microsoft.com/office/powerpoint/2010/main" val="2887757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78502-A6CD-8B4F-B808-640B5ED5A677}"/>
              </a:ext>
            </a:extLst>
          </p:cNvPr>
          <p:cNvSpPr>
            <a:spLocks noGrp="1"/>
          </p:cNvSpPr>
          <p:nvPr>
            <p:ph type="title"/>
          </p:nvPr>
        </p:nvSpPr>
        <p:spPr>
          <a:xfrm>
            <a:off x="838200" y="365126"/>
            <a:ext cx="10515600" cy="820208"/>
          </a:xfrm>
        </p:spPr>
        <p:txBody>
          <a:bodyPr/>
          <a:lstStyle/>
          <a:p>
            <a:r>
              <a:rPr lang="en-IN" b="1" dirty="0"/>
              <a:t>Step 2</a:t>
            </a:r>
          </a:p>
        </p:txBody>
      </p:sp>
      <p:sp>
        <p:nvSpPr>
          <p:cNvPr id="3" name="Content Placeholder 2">
            <a:extLst>
              <a:ext uri="{FF2B5EF4-FFF2-40B4-BE49-F238E27FC236}">
                <a16:creationId xmlns:a16="http://schemas.microsoft.com/office/drawing/2014/main" id="{5935956C-99A4-7EA6-A3E2-14122C4341D9}"/>
              </a:ext>
            </a:extLst>
          </p:cNvPr>
          <p:cNvSpPr>
            <a:spLocks noGrp="1"/>
          </p:cNvSpPr>
          <p:nvPr>
            <p:ph idx="1"/>
          </p:nvPr>
        </p:nvSpPr>
        <p:spPr>
          <a:xfrm>
            <a:off x="838200" y="1185334"/>
            <a:ext cx="10515600" cy="4991629"/>
          </a:xfrm>
        </p:spPr>
        <p:txBody>
          <a:bodyPr/>
          <a:lstStyle/>
          <a:p>
            <a:r>
              <a:rPr lang="en-IN" dirty="0"/>
              <a:t>Define the main deliverables</a:t>
            </a:r>
          </a:p>
          <a:p>
            <a:endParaRPr lang="en-IN" b="1" dirty="0"/>
          </a:p>
        </p:txBody>
      </p:sp>
      <p:pic>
        <p:nvPicPr>
          <p:cNvPr id="7" name="Picture 6">
            <a:extLst>
              <a:ext uri="{FF2B5EF4-FFF2-40B4-BE49-F238E27FC236}">
                <a16:creationId xmlns:a16="http://schemas.microsoft.com/office/drawing/2014/main" id="{2CB3EF43-F75F-5580-BD0D-3656A998FA95}"/>
              </a:ext>
            </a:extLst>
          </p:cNvPr>
          <p:cNvPicPr>
            <a:picLocks noChangeAspect="1"/>
          </p:cNvPicPr>
          <p:nvPr/>
        </p:nvPicPr>
        <p:blipFill>
          <a:blip r:embed="rId2"/>
          <a:stretch>
            <a:fillRect/>
          </a:stretch>
        </p:blipFill>
        <p:spPr>
          <a:xfrm>
            <a:off x="184912" y="2109603"/>
            <a:ext cx="11822175" cy="2638793"/>
          </a:xfrm>
          <a:prstGeom prst="rect">
            <a:avLst/>
          </a:prstGeom>
        </p:spPr>
      </p:pic>
    </p:spTree>
    <p:extLst>
      <p:ext uri="{BB962C8B-B14F-4D97-AF65-F5344CB8AC3E}">
        <p14:creationId xmlns:p14="http://schemas.microsoft.com/office/powerpoint/2010/main" val="2882533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07FDC-929E-EC83-8B62-A33FB2481D62}"/>
              </a:ext>
            </a:extLst>
          </p:cNvPr>
          <p:cNvSpPr>
            <a:spLocks noGrp="1"/>
          </p:cNvSpPr>
          <p:nvPr>
            <p:ph type="title"/>
          </p:nvPr>
        </p:nvSpPr>
        <p:spPr>
          <a:xfrm>
            <a:off x="838200" y="365125"/>
            <a:ext cx="10515600" cy="650875"/>
          </a:xfrm>
        </p:spPr>
        <p:txBody>
          <a:bodyPr>
            <a:normAutofit fontScale="90000"/>
          </a:bodyPr>
          <a:lstStyle/>
          <a:p>
            <a:r>
              <a:rPr lang="en-IN" b="1" dirty="0"/>
              <a:t>Step 3</a:t>
            </a:r>
          </a:p>
        </p:txBody>
      </p:sp>
      <p:sp>
        <p:nvSpPr>
          <p:cNvPr id="3" name="Content Placeholder 2">
            <a:extLst>
              <a:ext uri="{FF2B5EF4-FFF2-40B4-BE49-F238E27FC236}">
                <a16:creationId xmlns:a16="http://schemas.microsoft.com/office/drawing/2014/main" id="{27BB7CE8-D1EF-BF3A-C8BC-BFB4440DD1AD}"/>
              </a:ext>
            </a:extLst>
          </p:cNvPr>
          <p:cNvSpPr>
            <a:spLocks noGrp="1"/>
          </p:cNvSpPr>
          <p:nvPr>
            <p:ph idx="1"/>
          </p:nvPr>
        </p:nvSpPr>
        <p:spPr>
          <a:xfrm>
            <a:off x="228600" y="1219200"/>
            <a:ext cx="5431971" cy="4957763"/>
          </a:xfrm>
        </p:spPr>
        <p:txBody>
          <a:bodyPr>
            <a:normAutofit fontScale="92500" lnSpcReduction="20000"/>
          </a:bodyPr>
          <a:lstStyle/>
          <a:p>
            <a:r>
              <a:rPr lang="en-IN" dirty="0"/>
              <a:t>Break down the main deliverables into their sub components using as many sub-branches as needed until you have manageable ‘units of work’ which need to be subdivided further.</a:t>
            </a:r>
          </a:p>
          <a:p>
            <a:r>
              <a:rPr lang="en-IN" dirty="0"/>
              <a:t>These units of work should be of a size that the project manager can easily handle. For example, something that a worker or a team of workers can accomplish in a week might ne represented as a unit of work</a:t>
            </a:r>
          </a:p>
          <a:p>
            <a:r>
              <a:rPr lang="en-IN" dirty="0"/>
              <a:t>Too much subdivision is counter productive as the product manger will then have to get too involved in the project details.</a:t>
            </a:r>
          </a:p>
        </p:txBody>
      </p:sp>
      <p:pic>
        <p:nvPicPr>
          <p:cNvPr id="7" name="Picture 6">
            <a:extLst>
              <a:ext uri="{FF2B5EF4-FFF2-40B4-BE49-F238E27FC236}">
                <a16:creationId xmlns:a16="http://schemas.microsoft.com/office/drawing/2014/main" id="{09AFB26B-748B-1EF6-9588-BE93A3B392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828" y="561975"/>
            <a:ext cx="6117772" cy="5734050"/>
          </a:xfrm>
          <a:prstGeom prst="rect">
            <a:avLst/>
          </a:prstGeom>
        </p:spPr>
      </p:pic>
    </p:spTree>
    <p:extLst>
      <p:ext uri="{BB962C8B-B14F-4D97-AF65-F5344CB8AC3E}">
        <p14:creationId xmlns:p14="http://schemas.microsoft.com/office/powerpoint/2010/main" val="835951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CE324-95C3-B257-68C3-40CF690CA3BD}"/>
              </a:ext>
            </a:extLst>
          </p:cNvPr>
          <p:cNvSpPr>
            <a:spLocks noGrp="1"/>
          </p:cNvSpPr>
          <p:nvPr>
            <p:ph type="title"/>
          </p:nvPr>
        </p:nvSpPr>
        <p:spPr>
          <a:xfrm>
            <a:off x="838200" y="365126"/>
            <a:ext cx="10515600" cy="756104"/>
          </a:xfrm>
        </p:spPr>
        <p:txBody>
          <a:bodyPr>
            <a:normAutofit fontScale="90000"/>
          </a:bodyPr>
          <a:lstStyle/>
          <a:p>
            <a:r>
              <a:rPr lang="en-IN" sz="4400" b="1" i="0" u="none" strike="noStrike" baseline="0" dirty="0">
                <a:solidFill>
                  <a:srgbClr val="6A135D"/>
                </a:solidFill>
                <a:latin typeface="Tahoma-Bold"/>
              </a:rPr>
              <a:t>How long to decompose?</a:t>
            </a:r>
            <a:br>
              <a:rPr lang="en-IN" sz="4400" b="1" i="0" u="none" strike="noStrike" baseline="0" dirty="0">
                <a:solidFill>
                  <a:srgbClr val="6A135D"/>
                </a:solidFill>
                <a:latin typeface="Tahoma-Bold"/>
              </a:rPr>
            </a:br>
            <a:endParaRPr lang="en-IN" dirty="0"/>
          </a:p>
        </p:txBody>
      </p:sp>
      <p:sp>
        <p:nvSpPr>
          <p:cNvPr id="3" name="Content Placeholder 2">
            <a:extLst>
              <a:ext uri="{FF2B5EF4-FFF2-40B4-BE49-F238E27FC236}">
                <a16:creationId xmlns:a16="http://schemas.microsoft.com/office/drawing/2014/main" id="{2664A5BD-A8F2-A2E5-6476-D79E950A6A3D}"/>
              </a:ext>
            </a:extLst>
          </p:cNvPr>
          <p:cNvSpPr>
            <a:spLocks noGrp="1"/>
          </p:cNvSpPr>
          <p:nvPr>
            <p:ph idx="1"/>
          </p:nvPr>
        </p:nvSpPr>
        <p:spPr>
          <a:xfrm>
            <a:off x="838200" y="1219200"/>
            <a:ext cx="10515600" cy="4957763"/>
          </a:xfrm>
        </p:spPr>
        <p:txBody>
          <a:bodyPr>
            <a:normAutofit/>
          </a:bodyPr>
          <a:lstStyle/>
          <a:p>
            <a:pPr algn="l"/>
            <a:r>
              <a:rPr lang="en-US" sz="2000" b="0" i="0" u="none" strike="noStrike" baseline="0" dirty="0">
                <a:solidFill>
                  <a:srgbClr val="000000"/>
                </a:solidFill>
                <a:latin typeface="Tahoma" panose="020B0604030504040204" pitchFamily="34" charset="0"/>
              </a:rPr>
              <a:t>The decomposition of the activities is carried out until any of the </a:t>
            </a:r>
            <a:r>
              <a:rPr lang="en-IN" sz="2000" b="0" i="0" u="none" strike="noStrike" baseline="0" dirty="0">
                <a:solidFill>
                  <a:srgbClr val="000000"/>
                </a:solidFill>
                <a:latin typeface="Tahoma" panose="020B0604030504040204" pitchFamily="34" charset="0"/>
              </a:rPr>
              <a:t>following is satisfied:</a:t>
            </a:r>
          </a:p>
          <a:p>
            <a:pPr algn="l"/>
            <a:r>
              <a:rPr lang="en-US" sz="2000" b="0" i="0" u="none" strike="noStrike" baseline="0" dirty="0">
                <a:solidFill>
                  <a:srgbClr val="000000"/>
                </a:solidFill>
                <a:latin typeface="Tahoma" panose="020B0604030504040204" pitchFamily="34" charset="0"/>
              </a:rPr>
              <a:t>A leaf-level sub-activity (a task) requires approximately two weeks to </a:t>
            </a:r>
            <a:r>
              <a:rPr lang="en-IN" sz="2000" b="0" i="0" u="none" strike="noStrike" baseline="0" dirty="0">
                <a:solidFill>
                  <a:srgbClr val="000000"/>
                </a:solidFill>
                <a:latin typeface="Tahoma" panose="020B0604030504040204" pitchFamily="34" charset="0"/>
              </a:rPr>
              <a:t>develop.</a:t>
            </a:r>
          </a:p>
          <a:p>
            <a:pPr algn="l"/>
            <a:r>
              <a:rPr lang="en-US" sz="2000" b="0" i="0" u="none" strike="noStrike" baseline="0" dirty="0">
                <a:solidFill>
                  <a:srgbClr val="000000"/>
                </a:solidFill>
                <a:latin typeface="Tahoma" panose="020B0604030504040204" pitchFamily="34" charset="0"/>
              </a:rPr>
              <a:t>Hidden complexities are exposed, so that the job to be done is understood and can be assigned as a unit of work to one of the </a:t>
            </a:r>
            <a:r>
              <a:rPr lang="en-IN" sz="2000" b="0" i="0" u="none" strike="noStrike" baseline="0" dirty="0">
                <a:solidFill>
                  <a:srgbClr val="000000"/>
                </a:solidFill>
                <a:latin typeface="Tahoma" panose="020B0604030504040204" pitchFamily="34" charset="0"/>
              </a:rPr>
              <a:t>developers.</a:t>
            </a:r>
          </a:p>
          <a:p>
            <a:pPr algn="l"/>
            <a:r>
              <a:rPr lang="en-US" sz="2000" b="0" i="0" u="none" strike="noStrike" baseline="0" dirty="0">
                <a:latin typeface="Tahoma" panose="020B0604030504040204" pitchFamily="34" charset="0"/>
              </a:rPr>
              <a:t>Opportunities for reuse of existing software components is identified</a:t>
            </a:r>
            <a:endParaRPr lang="en-IN" sz="2000" dirty="0"/>
          </a:p>
        </p:txBody>
      </p:sp>
    </p:spTree>
    <p:extLst>
      <p:ext uri="{BB962C8B-B14F-4D97-AF65-F5344CB8AC3E}">
        <p14:creationId xmlns:p14="http://schemas.microsoft.com/office/powerpoint/2010/main" val="2646018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62375-DEFD-3176-9AB2-57ED53E50F9B}"/>
              </a:ext>
            </a:extLst>
          </p:cNvPr>
          <p:cNvSpPr>
            <a:spLocks noGrp="1"/>
          </p:cNvSpPr>
          <p:nvPr>
            <p:ph type="title"/>
          </p:nvPr>
        </p:nvSpPr>
        <p:spPr>
          <a:xfrm>
            <a:off x="838200" y="365126"/>
            <a:ext cx="10515600" cy="669018"/>
          </a:xfrm>
        </p:spPr>
        <p:txBody>
          <a:bodyPr>
            <a:normAutofit fontScale="90000"/>
          </a:bodyPr>
          <a:lstStyle/>
          <a:p>
            <a:r>
              <a:rPr lang="en-IN" dirty="0"/>
              <a:t>Example 2: </a:t>
            </a:r>
            <a:r>
              <a:rPr lang="en-IN" sz="3100" b="0" i="0" u="none" strike="noStrike" baseline="0" dirty="0">
                <a:latin typeface="Tahoma" panose="020B0604030504040204" pitchFamily="34" charset="0"/>
              </a:rPr>
              <a:t>management information system</a:t>
            </a:r>
            <a:endParaRPr lang="en-IN" sz="3100" dirty="0"/>
          </a:p>
        </p:txBody>
      </p:sp>
      <p:pic>
        <p:nvPicPr>
          <p:cNvPr id="5" name="Content Placeholder 4">
            <a:extLst>
              <a:ext uri="{FF2B5EF4-FFF2-40B4-BE49-F238E27FC236}">
                <a16:creationId xmlns:a16="http://schemas.microsoft.com/office/drawing/2014/main" id="{BC967FCD-4876-76E0-0021-0D7FBBAB7420}"/>
              </a:ext>
            </a:extLst>
          </p:cNvPr>
          <p:cNvPicPr>
            <a:picLocks noGrp="1" noChangeAspect="1"/>
          </p:cNvPicPr>
          <p:nvPr>
            <p:ph idx="1"/>
          </p:nvPr>
        </p:nvPicPr>
        <p:blipFill>
          <a:blip r:embed="rId2"/>
          <a:stretch>
            <a:fillRect/>
          </a:stretch>
        </p:blipFill>
        <p:spPr>
          <a:xfrm>
            <a:off x="2490284" y="1848343"/>
            <a:ext cx="7211431" cy="4305901"/>
          </a:xfrm>
        </p:spPr>
      </p:pic>
    </p:spTree>
    <p:extLst>
      <p:ext uri="{BB962C8B-B14F-4D97-AF65-F5344CB8AC3E}">
        <p14:creationId xmlns:p14="http://schemas.microsoft.com/office/powerpoint/2010/main" val="39946138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B7797-E72A-4D34-0057-78D527617A9E}"/>
              </a:ext>
            </a:extLst>
          </p:cNvPr>
          <p:cNvSpPr>
            <a:spLocks noGrp="1"/>
          </p:cNvSpPr>
          <p:nvPr>
            <p:ph type="title"/>
          </p:nvPr>
        </p:nvSpPr>
        <p:spPr/>
        <p:txBody>
          <a:bodyPr/>
          <a:lstStyle/>
          <a:p>
            <a:r>
              <a:rPr lang="en-IN" dirty="0"/>
              <a:t>GANTT CHART </a:t>
            </a:r>
          </a:p>
        </p:txBody>
      </p:sp>
      <p:sp>
        <p:nvSpPr>
          <p:cNvPr id="3" name="Content Placeholder 2">
            <a:extLst>
              <a:ext uri="{FF2B5EF4-FFF2-40B4-BE49-F238E27FC236}">
                <a16:creationId xmlns:a16="http://schemas.microsoft.com/office/drawing/2014/main" id="{9635447F-9938-AF5A-B745-557E8C41C6E4}"/>
              </a:ext>
            </a:extLst>
          </p:cNvPr>
          <p:cNvSpPr>
            <a:spLocks noGrp="1"/>
          </p:cNvSpPr>
          <p:nvPr>
            <p:ph idx="1"/>
          </p:nvPr>
        </p:nvSpPr>
        <p:spPr/>
        <p:txBody>
          <a:bodyPr/>
          <a:lstStyle/>
          <a:p>
            <a:r>
              <a:rPr lang="en-IN" dirty="0"/>
              <a:t>Project management tool</a:t>
            </a:r>
          </a:p>
          <a:p>
            <a:r>
              <a:rPr lang="en-IN" dirty="0"/>
              <a:t>Invented around 1915 by Henry Gantt</a:t>
            </a:r>
          </a:p>
          <a:p>
            <a:r>
              <a:rPr lang="en-IN" dirty="0"/>
              <a:t>Similar to bar chart that depicts the project schedule</a:t>
            </a:r>
          </a:p>
          <a:p>
            <a:r>
              <a:rPr lang="en-IN" dirty="0"/>
              <a:t>It is used for finding dependence between activities.</a:t>
            </a:r>
          </a:p>
          <a:p>
            <a:r>
              <a:rPr lang="en-US" dirty="0"/>
              <a:t>The different types of resources that need to be allocated to activities include staff, hardware, and software</a:t>
            </a:r>
            <a:endParaRPr lang="en-IN" dirty="0"/>
          </a:p>
          <a:p>
            <a:endParaRPr lang="en-IN" dirty="0"/>
          </a:p>
        </p:txBody>
      </p:sp>
    </p:spTree>
    <p:extLst>
      <p:ext uri="{BB962C8B-B14F-4D97-AF65-F5344CB8AC3E}">
        <p14:creationId xmlns:p14="http://schemas.microsoft.com/office/powerpoint/2010/main" val="4066818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D6226-567E-6010-868A-898869F4EA50}"/>
              </a:ext>
            </a:extLst>
          </p:cNvPr>
          <p:cNvSpPr>
            <a:spLocks noGrp="1"/>
          </p:cNvSpPr>
          <p:nvPr>
            <p:ph type="title"/>
          </p:nvPr>
        </p:nvSpPr>
        <p:spPr/>
        <p:txBody>
          <a:bodyPr/>
          <a:lstStyle/>
          <a:p>
            <a:r>
              <a:rPr lang="en-IN" dirty="0"/>
              <a:t>Example 1</a:t>
            </a:r>
          </a:p>
        </p:txBody>
      </p:sp>
      <p:pic>
        <p:nvPicPr>
          <p:cNvPr id="5" name="Content Placeholder 4">
            <a:extLst>
              <a:ext uri="{FF2B5EF4-FFF2-40B4-BE49-F238E27FC236}">
                <a16:creationId xmlns:a16="http://schemas.microsoft.com/office/drawing/2014/main" id="{8F46D1FA-DA32-FA1F-7BA8-501358B94DDF}"/>
              </a:ext>
            </a:extLst>
          </p:cNvPr>
          <p:cNvPicPr>
            <a:picLocks noGrp="1" noChangeAspect="1"/>
          </p:cNvPicPr>
          <p:nvPr>
            <p:ph idx="1"/>
          </p:nvPr>
        </p:nvPicPr>
        <p:blipFill>
          <a:blip r:embed="rId2"/>
          <a:stretch>
            <a:fillRect/>
          </a:stretch>
        </p:blipFill>
        <p:spPr>
          <a:xfrm>
            <a:off x="95311" y="1560060"/>
            <a:ext cx="8888065" cy="4277322"/>
          </a:xfrm>
        </p:spPr>
      </p:pic>
      <p:sp>
        <p:nvSpPr>
          <p:cNvPr id="6" name="TextBox 5">
            <a:extLst>
              <a:ext uri="{FF2B5EF4-FFF2-40B4-BE49-F238E27FC236}">
                <a16:creationId xmlns:a16="http://schemas.microsoft.com/office/drawing/2014/main" id="{958C0081-97F0-AB58-5B30-DA4B192637B7}"/>
              </a:ext>
            </a:extLst>
          </p:cNvPr>
          <p:cNvSpPr txBox="1"/>
          <p:nvPr/>
        </p:nvSpPr>
        <p:spPr>
          <a:xfrm>
            <a:off x="3931836" y="3210037"/>
            <a:ext cx="1215013" cy="369332"/>
          </a:xfrm>
          <a:prstGeom prst="rect">
            <a:avLst/>
          </a:prstGeom>
          <a:noFill/>
        </p:spPr>
        <p:txBody>
          <a:bodyPr wrap="none" rtlCol="0">
            <a:spAutoFit/>
          </a:bodyPr>
          <a:lstStyle/>
          <a:p>
            <a:r>
              <a:rPr lang="en-IN" b="1" dirty="0">
                <a:solidFill>
                  <a:srgbClr val="FF0000"/>
                </a:solidFill>
              </a:rPr>
              <a:t>DURATION</a:t>
            </a:r>
          </a:p>
        </p:txBody>
      </p:sp>
      <p:sp>
        <p:nvSpPr>
          <p:cNvPr id="8" name="TextBox 7">
            <a:extLst>
              <a:ext uri="{FF2B5EF4-FFF2-40B4-BE49-F238E27FC236}">
                <a16:creationId xmlns:a16="http://schemas.microsoft.com/office/drawing/2014/main" id="{441794AE-DEFA-E3AA-78BF-145CD155A86F}"/>
              </a:ext>
            </a:extLst>
          </p:cNvPr>
          <p:cNvSpPr txBox="1"/>
          <p:nvPr/>
        </p:nvSpPr>
        <p:spPr>
          <a:xfrm>
            <a:off x="9818914" y="2340429"/>
            <a:ext cx="1651414" cy="1477328"/>
          </a:xfrm>
          <a:prstGeom prst="rect">
            <a:avLst/>
          </a:prstGeom>
          <a:noFill/>
        </p:spPr>
        <p:txBody>
          <a:bodyPr wrap="none" rtlCol="0">
            <a:spAutoFit/>
          </a:bodyPr>
          <a:lstStyle/>
          <a:p>
            <a:pPr marL="285750" indent="-285750">
              <a:buFontTx/>
              <a:buChar char="-"/>
            </a:pPr>
            <a:r>
              <a:rPr lang="en-IN" b="1" dirty="0"/>
              <a:t>Dependency</a:t>
            </a:r>
          </a:p>
          <a:p>
            <a:pPr marL="285750" indent="-285750">
              <a:buFontTx/>
              <a:buChar char="-"/>
            </a:pPr>
            <a:r>
              <a:rPr lang="en-IN" b="1" dirty="0"/>
              <a:t>Parallelism</a:t>
            </a:r>
          </a:p>
          <a:p>
            <a:pPr marL="285750" indent="-285750">
              <a:buFontTx/>
              <a:buChar char="-"/>
            </a:pPr>
            <a:r>
              <a:rPr lang="en-IN" b="1" dirty="0"/>
              <a:t>Duration</a:t>
            </a:r>
          </a:p>
          <a:p>
            <a:pPr marL="285750" indent="-285750">
              <a:buFontTx/>
              <a:buChar char="-"/>
            </a:pPr>
            <a:r>
              <a:rPr lang="en-IN" b="1" dirty="0"/>
              <a:t>Subtask</a:t>
            </a:r>
          </a:p>
          <a:p>
            <a:pPr marL="285750" indent="-285750">
              <a:buFontTx/>
              <a:buChar char="-"/>
            </a:pPr>
            <a:r>
              <a:rPr lang="en-IN" b="1" dirty="0"/>
              <a:t>deadlines</a:t>
            </a:r>
          </a:p>
        </p:txBody>
      </p:sp>
    </p:spTree>
    <p:extLst>
      <p:ext uri="{BB962C8B-B14F-4D97-AF65-F5344CB8AC3E}">
        <p14:creationId xmlns:p14="http://schemas.microsoft.com/office/powerpoint/2010/main" val="39408755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2A9A-552F-16F8-DC99-87FEA3F46147}"/>
              </a:ext>
            </a:extLst>
          </p:cNvPr>
          <p:cNvSpPr>
            <a:spLocks noGrp="1"/>
          </p:cNvSpPr>
          <p:nvPr>
            <p:ph type="title"/>
          </p:nvPr>
        </p:nvSpPr>
        <p:spPr>
          <a:xfrm>
            <a:off x="838200" y="365126"/>
            <a:ext cx="10515600" cy="658132"/>
          </a:xfrm>
        </p:spPr>
        <p:txBody>
          <a:bodyPr>
            <a:normAutofit fontScale="90000"/>
          </a:bodyPr>
          <a:lstStyle/>
          <a:p>
            <a:r>
              <a:rPr lang="en-IN" b="1" dirty="0"/>
              <a:t>Example </a:t>
            </a:r>
          </a:p>
        </p:txBody>
      </p:sp>
      <p:pic>
        <p:nvPicPr>
          <p:cNvPr id="5" name="Content Placeholder 4">
            <a:extLst>
              <a:ext uri="{FF2B5EF4-FFF2-40B4-BE49-F238E27FC236}">
                <a16:creationId xmlns:a16="http://schemas.microsoft.com/office/drawing/2014/main" id="{DCBC116A-3B9B-377E-58ED-9B2BF1193B24}"/>
              </a:ext>
            </a:extLst>
          </p:cNvPr>
          <p:cNvPicPr>
            <a:picLocks noGrp="1" noChangeAspect="1"/>
          </p:cNvPicPr>
          <p:nvPr>
            <p:ph idx="1"/>
          </p:nvPr>
        </p:nvPicPr>
        <p:blipFill>
          <a:blip r:embed="rId2"/>
          <a:stretch>
            <a:fillRect/>
          </a:stretch>
        </p:blipFill>
        <p:spPr>
          <a:xfrm>
            <a:off x="1393371" y="1023258"/>
            <a:ext cx="7732335" cy="5153705"/>
          </a:xfrm>
        </p:spPr>
      </p:pic>
      <p:sp>
        <p:nvSpPr>
          <p:cNvPr id="6" name="TextBox 5">
            <a:extLst>
              <a:ext uri="{FF2B5EF4-FFF2-40B4-BE49-F238E27FC236}">
                <a16:creationId xmlns:a16="http://schemas.microsoft.com/office/drawing/2014/main" id="{88FA906B-B929-D2AB-FBA7-13E4F6972D76}"/>
              </a:ext>
            </a:extLst>
          </p:cNvPr>
          <p:cNvSpPr txBox="1"/>
          <p:nvPr/>
        </p:nvSpPr>
        <p:spPr>
          <a:xfrm>
            <a:off x="9125706" y="3145971"/>
            <a:ext cx="2658805" cy="369332"/>
          </a:xfrm>
          <a:prstGeom prst="rect">
            <a:avLst/>
          </a:prstGeom>
          <a:noFill/>
        </p:spPr>
        <p:txBody>
          <a:bodyPr wrap="none" rtlCol="0">
            <a:spAutoFit/>
          </a:bodyPr>
          <a:lstStyle/>
          <a:p>
            <a:r>
              <a:rPr lang="en-IN" dirty="0"/>
              <a:t>Image courtesy: </a:t>
            </a:r>
            <a:r>
              <a:rPr lang="en-IN" dirty="0" err="1"/>
              <a:t>Rajib</a:t>
            </a:r>
            <a:r>
              <a:rPr lang="en-IN" dirty="0"/>
              <a:t> Mall</a:t>
            </a:r>
          </a:p>
        </p:txBody>
      </p:sp>
    </p:spTree>
    <p:extLst>
      <p:ext uri="{BB962C8B-B14F-4D97-AF65-F5344CB8AC3E}">
        <p14:creationId xmlns:p14="http://schemas.microsoft.com/office/powerpoint/2010/main" val="396474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030ED-821C-8AD7-FE76-38778FC78D3C}"/>
              </a:ext>
            </a:extLst>
          </p:cNvPr>
          <p:cNvSpPr>
            <a:spLocks noGrp="1"/>
          </p:cNvSpPr>
          <p:nvPr>
            <p:ph type="title"/>
          </p:nvPr>
        </p:nvSpPr>
        <p:spPr/>
        <p:txBody>
          <a:bodyPr/>
          <a:lstStyle/>
          <a:p>
            <a:r>
              <a:rPr lang="en-IN" dirty="0"/>
              <a:t>How to make GANTT Chart</a:t>
            </a:r>
          </a:p>
        </p:txBody>
      </p:sp>
      <p:sp>
        <p:nvSpPr>
          <p:cNvPr id="3" name="Content Placeholder 2">
            <a:extLst>
              <a:ext uri="{FF2B5EF4-FFF2-40B4-BE49-F238E27FC236}">
                <a16:creationId xmlns:a16="http://schemas.microsoft.com/office/drawing/2014/main" id="{864675E0-3769-3ADF-4D99-35A2DFF049E0}"/>
              </a:ext>
            </a:extLst>
          </p:cNvPr>
          <p:cNvSpPr>
            <a:spLocks noGrp="1"/>
          </p:cNvSpPr>
          <p:nvPr>
            <p:ph idx="1"/>
          </p:nvPr>
        </p:nvSpPr>
        <p:spPr/>
        <p:txBody>
          <a:bodyPr/>
          <a:lstStyle/>
          <a:p>
            <a:r>
              <a:rPr lang="en-IN" dirty="0"/>
              <a:t>Tasks are shown in the Y axis</a:t>
            </a:r>
          </a:p>
          <a:p>
            <a:r>
              <a:rPr lang="en-IN" dirty="0"/>
              <a:t>Timeline in the X axis</a:t>
            </a:r>
          </a:p>
          <a:p>
            <a:r>
              <a:rPr lang="en-IN" dirty="0"/>
              <a:t>Width of the bar is the duration of the task</a:t>
            </a:r>
          </a:p>
        </p:txBody>
      </p:sp>
    </p:spTree>
    <p:extLst>
      <p:ext uri="{BB962C8B-B14F-4D97-AF65-F5344CB8AC3E}">
        <p14:creationId xmlns:p14="http://schemas.microsoft.com/office/powerpoint/2010/main" val="14177774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TotalTime>
  <Words>1911</Words>
  <Application>Microsoft Office PowerPoint</Application>
  <PresentationFormat>Widescreen</PresentationFormat>
  <Paragraphs>120</Paragraphs>
  <Slides>29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Calibri</vt:lpstr>
      <vt:lpstr>Calibri Light</vt:lpstr>
      <vt:lpstr>CIDFont+F1</vt:lpstr>
      <vt:lpstr>Tahoma</vt:lpstr>
      <vt:lpstr>Tahoma-Bold</vt:lpstr>
      <vt:lpstr>Times-Italic</vt:lpstr>
      <vt:lpstr>Times-Roman</vt:lpstr>
      <vt:lpstr>Office Theme</vt:lpstr>
      <vt:lpstr>Module:2 Introduction To Software Project Management</vt:lpstr>
      <vt:lpstr>SOFTWARE PROJECT MANAGEMENT</vt:lpstr>
      <vt:lpstr>Management activities</vt:lpstr>
      <vt:lpstr>Role of a project manager</vt:lpstr>
      <vt:lpstr>SOFTWARE PROJECT MANAGEMENT COMPLEXITIES</vt:lpstr>
      <vt:lpstr>Project planning</vt:lpstr>
      <vt:lpstr>Planning stages</vt:lpstr>
      <vt:lpstr>Stage 1: Proposal planning</vt:lpstr>
      <vt:lpstr>Stage 2: Project startup planning</vt:lpstr>
      <vt:lpstr>Stage 3: Development planning</vt:lpstr>
      <vt:lpstr>Plan-driven development</vt:lpstr>
      <vt:lpstr>Project plan </vt:lpstr>
      <vt:lpstr>Most plans should include the following sections: </vt:lpstr>
      <vt:lpstr>Milestones and Deliverables</vt:lpstr>
      <vt:lpstr>PowerPoint Presentation</vt:lpstr>
      <vt:lpstr>Work Breakdown Structure (WBS) </vt:lpstr>
      <vt:lpstr>SCHEDULING </vt:lpstr>
      <vt:lpstr>Work Breakdown Structure (WBS) </vt:lpstr>
      <vt:lpstr>Example of WBS</vt:lpstr>
      <vt:lpstr>Benefits of WBS</vt:lpstr>
      <vt:lpstr>Steps of WBS Step 1</vt:lpstr>
      <vt:lpstr>Step 2</vt:lpstr>
      <vt:lpstr>Step 3</vt:lpstr>
      <vt:lpstr>How long to decompose? </vt:lpstr>
      <vt:lpstr>Example 2: management information system</vt:lpstr>
      <vt:lpstr>GANTT CHART </vt:lpstr>
      <vt:lpstr>Example 1</vt:lpstr>
      <vt:lpstr>Example </vt:lpstr>
      <vt:lpstr>How to make GANTT 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Samriddhi Sarkar</dc:creator>
  <cp:lastModifiedBy>Samriddhi Sarkar</cp:lastModifiedBy>
  <cp:revision>6</cp:revision>
  <dcterms:created xsi:type="dcterms:W3CDTF">2025-01-06T03:21:00Z</dcterms:created>
  <dcterms:modified xsi:type="dcterms:W3CDTF">2025-01-06T08:00:48Z</dcterms:modified>
</cp:coreProperties>
</file>