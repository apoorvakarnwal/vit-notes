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304" r:id="rId2"/>
    <p:sldId id="303" r:id="rId3"/>
    <p:sldId id="256" r:id="rId4"/>
    <p:sldId id="313" r:id="rId5"/>
    <p:sldId id="314" r:id="rId6"/>
    <p:sldId id="305" r:id="rId7"/>
    <p:sldId id="306" r:id="rId8"/>
    <p:sldId id="307" r:id="rId9"/>
    <p:sldId id="315" r:id="rId10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E7FF"/>
    <a:srgbClr val="FFD908"/>
    <a:srgbClr val="006666"/>
    <a:srgbClr val="1D1901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59B388-433A-4E7A-BEDE-4BF2E383E7C0}" v="2" dt="2024-05-01T17:55:58.7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62" autoAdjust="0"/>
    <p:restoredTop sz="94660"/>
  </p:normalViewPr>
  <p:slideViewPr>
    <p:cSldViewPr showGuides="1">
      <p:cViewPr varScale="1">
        <p:scale>
          <a:sx n="82" d="100"/>
          <a:sy n="82" d="100"/>
        </p:scale>
        <p:origin x="270" y="90"/>
      </p:cViewPr>
      <p:guideLst>
        <p:guide orient="horz" pos="2193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 Gaurav Sushant" userId="ea0695df9e5e2b13" providerId="LiveId" clId="{DA59B388-433A-4E7A-BEDE-4BF2E383E7C0}"/>
    <pc:docChg chg="modSld">
      <pc:chgData name="Dr Gaurav Sushant" userId="ea0695df9e5e2b13" providerId="LiveId" clId="{DA59B388-433A-4E7A-BEDE-4BF2E383E7C0}" dt="2024-05-01T17:55:58.755" v="1" actId="20577"/>
      <pc:docMkLst>
        <pc:docMk/>
      </pc:docMkLst>
      <pc:sldChg chg="modSp">
        <pc:chgData name="Dr Gaurav Sushant" userId="ea0695df9e5e2b13" providerId="LiveId" clId="{DA59B388-433A-4E7A-BEDE-4BF2E383E7C0}" dt="2024-05-01T17:55:58.755" v="1" actId="20577"/>
        <pc:sldMkLst>
          <pc:docMk/>
          <pc:sldMk cId="0" sldId="303"/>
        </pc:sldMkLst>
        <pc:spChg chg="mod">
          <ac:chgData name="Dr Gaurav Sushant" userId="ea0695df9e5e2b13" providerId="LiveId" clId="{DA59B388-433A-4E7A-BEDE-4BF2E383E7C0}" dt="2024-05-01T17:55:58.755" v="1" actId="20577"/>
          <ac:spMkLst>
            <pc:docMk/>
            <pc:sldMk cId="0" sldId="303"/>
            <ac:spMk id="5" creationId="{E5479AFF-A67F-D55F-BFB6-43651DB5B15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CDB82A98-4393-450D-AFC8-FB6CB13FD444}" type="datetimeFigureOut">
              <a:rPr lang="en-US"/>
              <a:t>5/1/2024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1F820A3-7102-41C1-9F28-E583712E3628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68691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F3CE1F3-5572-4D5D-BC5C-1C54B9B46EBA}" type="slidenum">
              <a:rPr lang="en-US" altLang="en-US" smtClean="0"/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F3CE1F3-5572-4D5D-BC5C-1C54B9B46EBA}" type="slidenum">
              <a:rPr lang="en-US" altLang="en-US" smtClean="0"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8846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4664075"/>
            <a:ext cx="12200467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grpSp>
        <p:nvGrpSpPr>
          <p:cNvPr id="3" name="Group 15"/>
          <p:cNvGrpSpPr/>
          <p:nvPr/>
        </p:nvGrpSpPr>
        <p:grpSpPr bwMode="auto">
          <a:xfrm>
            <a:off x="-4233" y="4953000"/>
            <a:ext cx="12196233" cy="1911350"/>
            <a:chOff x="-3765" y="4832896"/>
            <a:chExt cx="9147765" cy="2032192"/>
          </a:xfrm>
        </p:grpSpPr>
        <p:sp>
          <p:nvSpPr>
            <p:cNvPr id="4" name="Freeform 15"/>
            <p:cNvSpPr/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5" name="Freeform 18"/>
            <p:cNvSpPr/>
            <p:nvPr/>
          </p:nvSpPr>
          <p:spPr bwMode="auto">
            <a:xfrm>
              <a:off x="35443" y="5135526"/>
              <a:ext cx="9108557" cy="838200"/>
            </a:xfrm>
            <a:custGeom>
              <a:avLst/>
              <a:gdLst>
                <a:gd name="T0" fmla="*/ 0 w 5760"/>
                <a:gd name="T1" fmla="*/ 0 h 528"/>
                <a:gd name="T2" fmla="*/ 2147483646 w 5760"/>
                <a:gd name="T3" fmla="*/ 0 h 528"/>
                <a:gd name="T4" fmla="*/ 2147483646 w 5760"/>
                <a:gd name="T5" fmla="*/ 2147483646 h 528"/>
                <a:gd name="T6" fmla="*/ 2147483646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18"/>
            <p:cNvSpPr/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914400" y="1752602"/>
            <a:ext cx="103632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914400" y="3611607"/>
            <a:ext cx="10363200" cy="1199704"/>
          </a:xfrm>
        </p:spPr>
        <p:txBody>
          <a:bodyPr lIns="45720" rIns="45720"/>
          <a:lstStyle>
            <a:lvl1pPr marL="0" marR="64135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E5C4797E-F45D-49B6-AECC-1C2E5734122B}" type="datetimeFigureOut">
              <a:rPr lang="en-US"/>
              <a:t>5/1/2024</a:t>
            </a:fld>
            <a:endParaRPr lang="en-US"/>
          </a:p>
        </p:txBody>
      </p:sp>
      <p:sp>
        <p:nvSpPr>
          <p:cNvPr id="10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1F36499-BEC0-4E84-81F1-5334B3C96315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>
              <a:defRPr sz="4400">
                <a:solidFill>
                  <a:srgbClr val="1DE7FF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CBE735-F178-4EB4-B43C-3F3F41E16F5E}" type="datetimeFigureOut">
              <a:rPr lang="en-US"/>
              <a:t>5/1/2024</a:t>
            </a:fld>
            <a:endParaRPr lang="en-US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C31F85-DD49-465D-9E50-DB0B1D5A5C70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10"/>
          <p:cNvSpPr/>
          <p:nvPr/>
        </p:nvSpPr>
        <p:spPr>
          <a:xfrm>
            <a:off x="4849284" y="3005138"/>
            <a:ext cx="243416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Chevron 11"/>
          <p:cNvSpPr/>
          <p:nvPr/>
        </p:nvSpPr>
        <p:spPr>
          <a:xfrm>
            <a:off x="4599518" y="3005138"/>
            <a:ext cx="24553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68" y="1059712"/>
            <a:ext cx="103632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30284" y="2931712"/>
            <a:ext cx="6096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D68901-3140-4FDB-B3A2-1DE68FC21289}" type="datetimeFigureOut">
              <a:rPr lang="en-US"/>
              <a:t>5/1/2024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4862EA-466E-4161-A6BD-3853A849B6EE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D8A88C-0E5C-482F-95BA-BCD5FD9F9894}" type="datetimeFigureOut">
              <a:rPr lang="en-US"/>
              <a:t>5/1/2024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C5905E-5664-4A4D-9C48-934A37FEF09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5410200"/>
            <a:ext cx="5386917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9" y="5410200"/>
            <a:ext cx="5389033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1444295"/>
            <a:ext cx="5386917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444295"/>
            <a:ext cx="5389033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68F889-185C-45DB-A166-E29565746C93}" type="datetimeFigureOut">
              <a:rPr lang="en-US"/>
              <a:t>5/1/2024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679E8-EB01-47A3-B7C3-BDCE0D79C884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rgbClr val="FFD90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24E626-CB2F-42CE-9B14-40C4A54532E2}" type="datetimeFigureOut">
              <a:rPr lang="en-US"/>
              <a:t>5/1/2024</a:t>
            </a:fld>
            <a:endParaRPr lang="en-US"/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73D16E-FAEA-4FE9-A6BF-37AE23685F76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623685-DD17-4044-A3A1-817C1CBF6865}" type="datetimeFigureOut">
              <a:rPr lang="en-US"/>
              <a:t>5/1/2024</a:t>
            </a:fld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0645C-5A49-4807-AFAF-11CE9EDDEAE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876800"/>
            <a:ext cx="9975701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892800" y="5355102"/>
            <a:ext cx="5299456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219200" y="274320"/>
            <a:ext cx="9973056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767E4A-3DAA-43B2-8DD6-60C4A37A6B48}" type="datetimeFigureOut">
              <a:rPr lang="en-US"/>
              <a:t>5/1/2024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11632B-3DC7-44AD-B742-E2917EEAE32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0"/>
          <p:cNvSpPr/>
          <p:nvPr/>
        </p:nvSpPr>
        <p:spPr bwMode="auto">
          <a:xfrm>
            <a:off x="666751" y="5945188"/>
            <a:ext cx="6587067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6" name="Freeform 15"/>
          <p:cNvSpPr/>
          <p:nvPr/>
        </p:nvSpPr>
        <p:spPr bwMode="auto">
          <a:xfrm>
            <a:off x="647700" y="5938838"/>
            <a:ext cx="4921251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Right Triangle 6"/>
          <p:cNvSpPr/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18"/>
          <p:cNvSpPr/>
          <p:nvPr/>
        </p:nvSpPr>
        <p:spPr>
          <a:xfrm>
            <a:off x="11552768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" name="Chevron 19"/>
          <p:cNvSpPr/>
          <p:nvPr/>
        </p:nvSpPr>
        <p:spPr>
          <a:xfrm>
            <a:off x="11303001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1643" y="5443402"/>
            <a:ext cx="9550400" cy="648232"/>
          </a:xfrm>
          <a:noFill/>
        </p:spPr>
        <p:txBody>
          <a:bodyPr tIns="0"/>
          <a:lstStyle>
            <a:lvl1pPr marL="0" marR="18415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89968"/>
            <a:ext cx="115824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865122"/>
            <a:ext cx="10767243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5A2E619-0132-4432-8259-8A13C7B703B1}" type="datetimeFigureOut">
              <a:rPr lang="en-US"/>
              <a:t>5/1/2024</a:t>
            </a:fld>
            <a:endParaRPr lang="en-US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0D180D-DB6E-492A-B6F2-492018F42D46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81330"/>
            <a:ext cx="10972800" cy="43860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8F1FE2-381B-4D05-BBE6-D20514FD8FD8}" type="datetimeFigureOut">
              <a:rPr lang="en-US"/>
              <a:t>5/1/2024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97EB17-0E17-44E9-8225-69F0D53B972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5351" y="274641"/>
            <a:ext cx="2369960" cy="55927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432800" cy="55927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8EF774-DFA7-4173-8B29-4B1816957445}" type="datetimeFigureOut">
              <a:rPr lang="en-US"/>
              <a:t>5/1/2024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9710D9-638E-45E6-8731-40E83F57FBAE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/>
        </p:nvSpPr>
        <p:spPr bwMode="auto">
          <a:xfrm>
            <a:off x="666751" y="5945188"/>
            <a:ext cx="6587067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1027" name="Freeform 11"/>
          <p:cNvSpPr/>
          <p:nvPr/>
        </p:nvSpPr>
        <p:spPr bwMode="auto">
          <a:xfrm>
            <a:off x="647700" y="5938838"/>
            <a:ext cx="4921251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ight Triangle 13"/>
          <p:cNvSpPr/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1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609600" y="1481138"/>
            <a:ext cx="109728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8970433" y="6408739"/>
            <a:ext cx="2559051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9FFD12D-0B7F-453B-8177-D25DF0FE07CF}" type="datetimeFigureOut">
              <a:rPr lang="en-US"/>
              <a:t>5/1/2024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5839884" y="6408739"/>
            <a:ext cx="3134783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1529484" y="6408739"/>
            <a:ext cx="488949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000"/>
            </a:lvl1pPr>
          </a:lstStyle>
          <a:p>
            <a:pPr>
              <a:defRPr/>
            </a:pPr>
            <a:fld id="{2D955A27-3246-4D8E-AAA1-ABC4B9F4F6E9}" type="slidenum">
              <a:rPr lang="en-US" altLang="en-US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bg2">
              <a:lumMod val="50000"/>
            </a:schemeClr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9pPr>
    </p:titleStyle>
    <p:bodyStyle>
      <a:lvl1pPr marL="365125" indent="-255905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bg1"/>
          </a:solidFill>
          <a:latin typeface="+mn-lt"/>
          <a:ea typeface="+mn-ea"/>
          <a:cs typeface="+mn-cs"/>
        </a:defRPr>
      </a:lvl1pPr>
      <a:lvl2pPr marL="621030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bg1"/>
          </a:solidFill>
          <a:latin typeface="+mn-lt"/>
          <a:ea typeface="+mn-ea"/>
          <a:cs typeface="+mn-cs"/>
        </a:defRPr>
      </a:lvl2pPr>
      <a:lvl3pPr marL="859155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bg1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1900" kern="1200">
          <a:solidFill>
            <a:schemeClr val="bg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kern="1200">
          <a:solidFill>
            <a:schemeClr val="bg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46100" y="228600"/>
            <a:ext cx="10972800" cy="1401762"/>
          </a:xfrm>
        </p:spPr>
        <p:txBody>
          <a:bodyPr/>
          <a:lstStyle/>
          <a:p>
            <a:pPr algn="ctr" eaLnBrk="1" hangingPunct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Verbo TENER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1"/>
          <p:cNvSpPr>
            <a:spLocks noGrp="1"/>
          </p:cNvSpPr>
          <p:nvPr/>
        </p:nvSpPr>
        <p:spPr>
          <a:xfrm>
            <a:off x="685800" y="2286000"/>
            <a:ext cx="10693400" cy="71151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tengo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casa. – I have a house. 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F473378-31B9-B0DD-4D2C-C5F77DA62FF5}"/>
              </a:ext>
            </a:extLst>
          </p:cNvPr>
          <p:cNvSpPr txBox="1">
            <a:spLocks noChangeArrowheads="1"/>
          </p:cNvSpPr>
          <p:nvPr/>
        </p:nvSpPr>
        <p:spPr>
          <a:xfrm>
            <a:off x="2438400" y="533400"/>
            <a:ext cx="8153400" cy="2746375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 kern="1200">
                <a:solidFill>
                  <a:srgbClr val="1DE7FF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Arial Black" panose="020B0A040201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/>
            <a:endParaRPr lang="en-US" altLang="en-US" sz="7000" dirty="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104188"/>
            <a:ext cx="10972800" cy="1554162"/>
          </a:xfrm>
        </p:spPr>
        <p:txBody>
          <a:bodyPr>
            <a:normAutofit/>
          </a:bodyPr>
          <a:lstStyle/>
          <a:p>
            <a:pPr marL="812800" indent="-812800" algn="ctr" eaLnBrk="1" hangingPunct="1">
              <a:buFontTx/>
              <a:buNone/>
            </a:pP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TENER – To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7A883D-E9DC-6946-753B-D7E1B57688E2}"/>
              </a:ext>
            </a:extLst>
          </p:cNvPr>
          <p:cNvSpPr txBox="1"/>
          <p:nvPr/>
        </p:nvSpPr>
        <p:spPr>
          <a:xfrm>
            <a:off x="6133817" y="1920441"/>
            <a:ext cx="508741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Nosotros/as tenemos – </a:t>
            </a:r>
            <a:r>
              <a:rPr lang="es-E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endParaRPr lang="es-ES"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479AFF-A67F-D55F-BFB6-43651DB5B15D}"/>
              </a:ext>
            </a:extLst>
          </p:cNvPr>
          <p:cNvSpPr txBox="1"/>
          <p:nvPr/>
        </p:nvSpPr>
        <p:spPr>
          <a:xfrm>
            <a:off x="762000" y="1920441"/>
            <a:ext cx="31580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 tengo </a:t>
            </a:r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I </a:t>
            </a:r>
            <a:r>
              <a:rPr lang="es-E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F98B19-9BE5-C376-AEC1-4872A085E5DC}"/>
              </a:ext>
            </a:extLst>
          </p:cNvPr>
          <p:cNvSpPr txBox="1"/>
          <p:nvPr/>
        </p:nvSpPr>
        <p:spPr>
          <a:xfrm>
            <a:off x="762000" y="2591949"/>
            <a:ext cx="50874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Tú tienes – </a:t>
            </a:r>
            <a:r>
              <a:rPr lang="es-E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(informal) </a:t>
            </a:r>
            <a:r>
              <a:rPr lang="es-E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0FFCE0-9B14-1D6B-4FA6-4F3C9AC73C27}"/>
              </a:ext>
            </a:extLst>
          </p:cNvPr>
          <p:cNvSpPr txBox="1"/>
          <p:nvPr/>
        </p:nvSpPr>
        <p:spPr>
          <a:xfrm>
            <a:off x="762000" y="3263457"/>
            <a:ext cx="5087418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Él tiene – He has      </a:t>
            </a:r>
          </a:p>
          <a:p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Ella tiene – </a:t>
            </a:r>
            <a:r>
              <a:rPr lang="es-E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She</a:t>
            </a:r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has</a:t>
            </a:r>
          </a:p>
          <a:p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María tiene – </a:t>
            </a:r>
            <a:r>
              <a:rPr lang="es-E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Maria</a:t>
            </a:r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has</a:t>
            </a:r>
          </a:p>
          <a:p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Usted Tiene – </a:t>
            </a:r>
            <a:r>
              <a:rPr lang="es-E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(formal) </a:t>
            </a:r>
            <a:r>
              <a:rPr lang="es-E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FC3223-A24E-87B3-D15C-C3D9374506D5}"/>
              </a:ext>
            </a:extLst>
          </p:cNvPr>
          <p:cNvSpPr txBox="1"/>
          <p:nvPr/>
        </p:nvSpPr>
        <p:spPr>
          <a:xfrm>
            <a:off x="6096000" y="2591949"/>
            <a:ext cx="50874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Vosotros/as  tenéis – </a:t>
            </a:r>
            <a:r>
              <a:rPr lang="es-E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(informal) </a:t>
            </a:r>
            <a:r>
              <a:rPr lang="es-E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44195E-4B8B-CA63-D28E-47D444FE9A23}"/>
              </a:ext>
            </a:extLst>
          </p:cNvPr>
          <p:cNvSpPr txBox="1"/>
          <p:nvPr/>
        </p:nvSpPr>
        <p:spPr>
          <a:xfrm>
            <a:off x="6133817" y="3593072"/>
            <a:ext cx="544858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Ellos tienen – </a:t>
            </a:r>
            <a:r>
              <a:rPr lang="es-E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endParaRPr lang="es-ES"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Ellas tienen – </a:t>
            </a:r>
            <a:r>
              <a:rPr lang="es-E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endParaRPr lang="es-ES"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María y Pablo tiene – </a:t>
            </a:r>
            <a:r>
              <a:rPr lang="es-E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Maria</a:t>
            </a:r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Pablo </a:t>
            </a:r>
            <a:r>
              <a:rPr lang="es-E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endParaRPr lang="es-ES"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Ustedes tienen – </a:t>
            </a:r>
            <a:r>
              <a:rPr lang="es-E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(formal) </a:t>
            </a:r>
            <a:r>
              <a:rPr lang="es-E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endParaRPr lang="en-US"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5" grpId="0"/>
      <p:bldP spid="2" grpId="0"/>
      <p:bldP spid="6" grpId="0"/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600" y="87154"/>
            <a:ext cx="4876800" cy="914400"/>
          </a:xfrm>
        </p:spPr>
        <p:txBody>
          <a:bodyPr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dirty="0">
                <a:ln/>
                <a:solidFill>
                  <a:srgbClr val="1DE7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Uses of TENER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AE9711-9392-3442-6362-CE0D399C0E02}"/>
              </a:ext>
            </a:extLst>
          </p:cNvPr>
          <p:cNvSpPr txBox="1"/>
          <p:nvPr/>
        </p:nvSpPr>
        <p:spPr>
          <a:xfrm>
            <a:off x="685800" y="1026924"/>
            <a:ext cx="108204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s-E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tell</a:t>
            </a:r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possession</a:t>
            </a:r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US"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E.g. I have a house -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tengo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una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casa </a:t>
            </a:r>
          </a:p>
          <a:p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have two dogs –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tengo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dos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perros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have three cats. – T</a:t>
            </a:r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ú tienes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tres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gatos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(formal) have a Spanish book. –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Usted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tiene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libro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español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 has two brothers –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Él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tiene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dos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hermanos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have a meeting today. –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Nosotros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tenemos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una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reunión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hoy.  </a:t>
            </a:r>
          </a:p>
          <a:p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all have a class tomorrow. –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Vosotros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tenéis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una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clase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mañana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have many friends. –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Ellos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tienen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muchos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amigos.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600" y="381000"/>
            <a:ext cx="4876800" cy="914400"/>
          </a:xfrm>
        </p:spPr>
        <p:txBody>
          <a:bodyPr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dirty="0">
                <a:ln/>
                <a:solidFill>
                  <a:srgbClr val="1DE7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Uses of TENER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AE9711-9392-3442-6362-CE0D399C0E02}"/>
              </a:ext>
            </a:extLst>
          </p:cNvPr>
          <p:cNvSpPr txBox="1"/>
          <p:nvPr/>
        </p:nvSpPr>
        <p:spPr>
          <a:xfrm>
            <a:off x="1676400" y="1600200"/>
            <a:ext cx="84582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  To </a:t>
            </a:r>
            <a:r>
              <a:rPr lang="es-E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tell</a:t>
            </a:r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US"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E.g. </a:t>
            </a:r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am 20 </a:t>
            </a:r>
            <a:r>
              <a:rPr lang="es-E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years</a:t>
            </a:r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old</a:t>
            </a:r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Yo tengo veinte años</a:t>
            </a:r>
          </a:p>
          <a:p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 padre tiene cincuenta años. </a:t>
            </a:r>
          </a:p>
          <a:p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Tú tienes veinte años. </a:t>
            </a:r>
          </a:p>
          <a:p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Él tiene diez años. </a:t>
            </a:r>
          </a:p>
          <a:p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Ella tiene quince años. </a:t>
            </a:r>
          </a:p>
          <a:p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Usted tiene cincuenta años. </a:t>
            </a:r>
          </a:p>
          <a:p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Ellos tienen cinco años. </a:t>
            </a:r>
          </a:p>
        </p:txBody>
      </p:sp>
    </p:spTree>
    <p:extLst>
      <p:ext uri="{BB962C8B-B14F-4D97-AF65-F5344CB8AC3E}">
        <p14:creationId xmlns:p14="http://schemas.microsoft.com/office/powerpoint/2010/main" val="1903207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B35C29-8360-6262-AC57-14A5C0CDD1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181600"/>
          </a:xfrm>
        </p:spPr>
        <p:txBody>
          <a:bodyPr/>
          <a:lstStyle/>
          <a:p>
            <a:r>
              <a:rPr lang="es-E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Q. ¿Cuántos años tú tienes?</a:t>
            </a:r>
          </a:p>
          <a:p>
            <a:r>
              <a:rPr lang="es-E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Yo tengo veinte años. </a:t>
            </a:r>
          </a:p>
          <a:p>
            <a:r>
              <a:rPr lang="es-E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Q. ¿Cuántos años ella tiene?</a:t>
            </a:r>
          </a:p>
          <a:p>
            <a:r>
              <a:rPr lang="es-E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Ella tiene diez años.</a:t>
            </a:r>
          </a:p>
          <a:p>
            <a:r>
              <a:rPr lang="es-E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Q. ¿Cuántos hermanos tú tienes?</a:t>
            </a:r>
          </a:p>
          <a:p>
            <a:r>
              <a:rPr lang="es-E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Yo tengo dos hermanos. </a:t>
            </a:r>
          </a:p>
          <a:p>
            <a:r>
              <a:rPr lang="es-E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Q. ¿Cuántas hijas Pablo tiene?</a:t>
            </a:r>
          </a:p>
          <a:p>
            <a:r>
              <a:rPr lang="es-E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Pablo tiene tres hijas.  </a:t>
            </a:r>
          </a:p>
          <a:p>
            <a:r>
              <a:rPr lang="es-E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Q. ¿Cuántas clases tú tienes hoy?</a:t>
            </a:r>
          </a:p>
          <a:p>
            <a:r>
              <a:rPr lang="es-E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Yo tengo dos clases hoy.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6137A5-AC90-559B-43CB-6049C96B3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83820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 framed by using TENER</a:t>
            </a:r>
          </a:p>
        </p:txBody>
      </p:sp>
    </p:spTree>
    <p:extLst>
      <p:ext uri="{BB962C8B-B14F-4D97-AF65-F5344CB8AC3E}">
        <p14:creationId xmlns:p14="http://schemas.microsoft.com/office/powerpoint/2010/main" val="2793844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11935" y="1219200"/>
            <a:ext cx="5812666" cy="4876800"/>
          </a:xfrm>
        </p:spPr>
        <p:txBody>
          <a:bodyPr/>
          <a:lstStyle/>
          <a:p>
            <a:pPr marL="623570" indent="-514350" eaLnBrk="1" hangingPunct="1">
              <a:spcBef>
                <a:spcPct val="50000"/>
              </a:spcBef>
              <a:buFont typeface="+mj-lt"/>
              <a:buAutoNum type="arabicPeriod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Ella ____(</a:t>
            </a: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tener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mucho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dinero. </a:t>
            </a:r>
          </a:p>
          <a:p>
            <a:pPr marL="623570" indent="-514350" eaLnBrk="1" hangingPunct="1">
              <a:spcBef>
                <a:spcPct val="50000"/>
              </a:spcBef>
              <a:buFont typeface="+mj-lt"/>
              <a:buAutoNum type="arabicPeriod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 </a:t>
            </a: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tú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______(</a:t>
            </a: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tener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una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mascota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623570" indent="-514350" eaLnBrk="1" hangingPunct="1">
              <a:spcBef>
                <a:spcPct val="50000"/>
              </a:spcBef>
              <a:buFont typeface="+mj-lt"/>
              <a:buAutoNum type="arabicPeriod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 </a:t>
            </a: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familia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____(</a:t>
            </a: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tener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un </a:t>
            </a: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perro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623570" indent="-514350" eaLnBrk="1" hangingPunct="1">
              <a:spcBef>
                <a:spcPct val="50000"/>
              </a:spcBef>
              <a:buFont typeface="+mj-lt"/>
              <a:buAutoNum type="arabicPeriod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 Pérez _____(</a:t>
            </a: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tener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un </a:t>
            </a: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gato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623570" indent="-514350" eaLnBrk="1" hangingPunct="1">
              <a:spcBef>
                <a:spcPct val="50000"/>
              </a:spcBef>
              <a:buFont typeface="+mj-lt"/>
              <a:buAutoNum type="arabicPeriod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 y </a:t>
            </a: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___(</a:t>
            </a: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tener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unos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libros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623570" indent="-514350" eaLnBrk="1" hangingPunct="1">
              <a:spcBef>
                <a:spcPct val="50000"/>
              </a:spcBef>
              <a:buFont typeface="+mj-lt"/>
              <a:buAutoNum type="arabicPeriod"/>
            </a:pP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___(</a:t>
            </a: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tener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diecisiete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años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623570" indent="-514350" eaLnBrk="1" hangingPunct="1">
              <a:spcBef>
                <a:spcPct val="50000"/>
              </a:spcBef>
              <a:buFont typeface="+mj-lt"/>
              <a:buAutoNum type="arabicPeriod"/>
            </a:pP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Ustedes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____(</a:t>
            </a: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tener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una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familia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grande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686300" y="228600"/>
            <a:ext cx="2819400" cy="868362"/>
          </a:xfrm>
        </p:spPr>
        <p:txBody>
          <a:bodyPr>
            <a:normAutofit/>
          </a:bodyPr>
          <a:lstStyle/>
          <a:p>
            <a:pPr marL="812800" indent="-812800" algn="ctr" eaLnBrk="1" hangingPunct="1">
              <a:buFontTx/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C1FF03-1805-A344-E7EE-1CE19559CBFD}"/>
              </a:ext>
            </a:extLst>
          </p:cNvPr>
          <p:cNvSpPr txBox="1"/>
          <p:nvPr/>
        </p:nvSpPr>
        <p:spPr>
          <a:xfrm>
            <a:off x="6096000" y="1295400"/>
            <a:ext cx="129715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TIENE</a:t>
            </a:r>
            <a:endParaRPr lang="en-IN"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D70586-1CDB-72F7-2656-897BC1366A6B}"/>
              </a:ext>
            </a:extLst>
          </p:cNvPr>
          <p:cNvSpPr txBox="1"/>
          <p:nvPr/>
        </p:nvSpPr>
        <p:spPr>
          <a:xfrm>
            <a:off x="6324601" y="1925598"/>
            <a:ext cx="151035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TIENES</a:t>
            </a:r>
            <a:endParaRPr lang="en-IN"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AB828C-F0B3-7025-65A6-4707A5B78C8D}"/>
              </a:ext>
            </a:extLst>
          </p:cNvPr>
          <p:cNvSpPr txBox="1"/>
          <p:nvPr/>
        </p:nvSpPr>
        <p:spPr>
          <a:xfrm>
            <a:off x="6324601" y="2601834"/>
            <a:ext cx="129715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TIENE</a:t>
            </a:r>
            <a:endParaRPr lang="en-IN"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AEF6E3-1FBF-322C-98EE-5CF1FDA672A7}"/>
              </a:ext>
            </a:extLst>
          </p:cNvPr>
          <p:cNvSpPr txBox="1"/>
          <p:nvPr/>
        </p:nvSpPr>
        <p:spPr>
          <a:xfrm>
            <a:off x="6373433" y="3278070"/>
            <a:ext cx="157447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TIENEN</a:t>
            </a:r>
            <a:endParaRPr lang="en-IN"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79637E-FE81-4F35-A223-897350B0D285}"/>
              </a:ext>
            </a:extLst>
          </p:cNvPr>
          <p:cNvSpPr txBox="1"/>
          <p:nvPr/>
        </p:nvSpPr>
        <p:spPr>
          <a:xfrm>
            <a:off x="6431201" y="3954946"/>
            <a:ext cx="200086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TENEMOS</a:t>
            </a:r>
            <a:endParaRPr lang="en-IN"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F5EE07-0430-4674-C20B-41B1213EA852}"/>
              </a:ext>
            </a:extLst>
          </p:cNvPr>
          <p:cNvSpPr txBox="1"/>
          <p:nvPr/>
        </p:nvSpPr>
        <p:spPr>
          <a:xfrm>
            <a:off x="6405968" y="4630542"/>
            <a:ext cx="148790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TENGO</a:t>
            </a:r>
            <a:endParaRPr lang="en-IN"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7F26BC-D102-8D06-1187-B7AA5C4038A0}"/>
              </a:ext>
            </a:extLst>
          </p:cNvPr>
          <p:cNvSpPr txBox="1"/>
          <p:nvPr/>
        </p:nvSpPr>
        <p:spPr>
          <a:xfrm>
            <a:off x="6537801" y="5306138"/>
            <a:ext cx="157447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TIENEN</a:t>
            </a:r>
            <a:endParaRPr lang="en-IN"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038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2" grpId="1" build="p"/>
      <p:bldP spid="3" grpId="0"/>
      <p:bldP spid="3" grpId="1"/>
      <p:bldP spid="4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1143000"/>
            <a:ext cx="10972800" cy="4572000"/>
          </a:xfrm>
        </p:spPr>
        <p:txBody>
          <a:bodyPr/>
          <a:lstStyle/>
          <a:p>
            <a:pPr marL="852170" indent="-742950" algn="just">
              <a:buFont typeface="+mj-lt"/>
              <a:buAutoNum type="arabicPeriod"/>
            </a:pPr>
            <a:r>
              <a:rPr lang="es-E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Tener hambre – To be </a:t>
            </a:r>
            <a:r>
              <a:rPr lang="es-E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hungry</a:t>
            </a:r>
            <a:r>
              <a:rPr lang="es-E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09220" indent="0" algn="just">
              <a:buNone/>
            </a:pPr>
            <a:r>
              <a:rPr lang="es-E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E.g</a:t>
            </a:r>
            <a:r>
              <a:rPr lang="es-E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Yo tengo mucha hambre. </a:t>
            </a:r>
          </a:p>
          <a:p>
            <a:pPr marL="109220" indent="0" algn="just">
              <a:buNone/>
            </a:pPr>
            <a:endParaRPr lang="es-E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2170" indent="-742950" algn="just">
              <a:buFont typeface="+mj-lt"/>
              <a:buAutoNum type="arabicPeriod" startAt="2"/>
            </a:pP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Tener </a:t>
            </a:r>
            <a:r>
              <a:rPr lang="en-IN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miedo</a:t>
            </a: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– To be afraid of</a:t>
            </a:r>
          </a:p>
          <a:p>
            <a:pPr marL="109220" indent="0" algn="just">
              <a:buNone/>
            </a:pP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 </a:t>
            </a:r>
            <a:r>
              <a:rPr lang="en-IN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</a:t>
            </a: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tengo</a:t>
            </a: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miedo</a:t>
            </a: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las </a:t>
            </a:r>
            <a:r>
              <a:rPr lang="es-E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arañas</a:t>
            </a: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109220" indent="0" algn="just">
              <a:buNone/>
            </a:pPr>
            <a:endParaRPr lang="en-IN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2170" indent="-742950" algn="just">
              <a:buFont typeface="+mj-lt"/>
              <a:buAutoNum type="arabicPeriod" startAt="3"/>
            </a:pP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Tener </a:t>
            </a:r>
            <a:r>
              <a:rPr lang="en-IN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frío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calor</a:t>
            </a: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To feel cold/hot</a:t>
            </a:r>
          </a:p>
          <a:p>
            <a:pPr marL="109220" indent="0" algn="just">
              <a:buNone/>
            </a:pP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 Mi </a:t>
            </a:r>
            <a:r>
              <a:rPr lang="en-IN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hermano</a:t>
            </a: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tiene</a:t>
            </a: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frío</a:t>
            </a: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ahora</a:t>
            </a: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838200"/>
          </a:xfrm>
        </p:spPr>
        <p:txBody>
          <a:bodyPr>
            <a:normAutofit/>
          </a:bodyPr>
          <a:lstStyle/>
          <a:p>
            <a:pPr marL="812800" indent="-812800" algn="ctr" eaLnBrk="1" hangingPunct="1">
              <a:buFontTx/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Expressions by Using TENER</a:t>
            </a:r>
          </a:p>
        </p:txBody>
      </p:sp>
    </p:spTree>
    <p:extLst>
      <p:ext uri="{BB962C8B-B14F-4D97-AF65-F5344CB8AC3E}">
        <p14:creationId xmlns:p14="http://schemas.microsoft.com/office/powerpoint/2010/main" val="1822451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2" grpId="1" build="p"/>
      <p:bldP spid="3" grpId="0"/>
      <p:bldP spid="3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1219200"/>
            <a:ext cx="10972800" cy="4876800"/>
          </a:xfrm>
        </p:spPr>
        <p:txBody>
          <a:bodyPr/>
          <a:lstStyle/>
          <a:p>
            <a:pPr marL="852170" indent="-742950" algn="just">
              <a:buFont typeface="+mj-lt"/>
              <a:buAutoNum type="arabicPeriod"/>
            </a:pPr>
            <a:r>
              <a:rPr lang="es-E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Tener prisa – To be in </a:t>
            </a:r>
            <a:r>
              <a:rPr lang="es-E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hurry</a:t>
            </a:r>
            <a:r>
              <a:rPr lang="es-E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09220" indent="0" algn="just">
              <a:buNone/>
            </a:pPr>
            <a:r>
              <a:rPr lang="es-E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E.g</a:t>
            </a:r>
            <a:r>
              <a:rPr lang="es-E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Él profesor tiene mucha prisa. </a:t>
            </a:r>
          </a:p>
          <a:p>
            <a:pPr marL="109220" indent="0" algn="just">
              <a:buNone/>
            </a:pPr>
            <a:endParaRPr lang="es-E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2170" indent="-742950" algn="just">
              <a:buFont typeface="+mj-lt"/>
              <a:buAutoNum type="arabicPeriod" startAt="2"/>
            </a:pP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Tener </a:t>
            </a:r>
            <a:r>
              <a:rPr lang="en-IN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sed</a:t>
            </a: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To be thirsty </a:t>
            </a:r>
          </a:p>
          <a:p>
            <a:pPr marL="109220" indent="0" algn="just">
              <a:buNone/>
            </a:pP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 El </a:t>
            </a:r>
            <a:r>
              <a:rPr lang="en-IN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jugador</a:t>
            </a: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tiene</a:t>
            </a: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sed. </a:t>
            </a:r>
          </a:p>
          <a:p>
            <a:pPr marL="109220" indent="0" algn="just">
              <a:buNone/>
            </a:pPr>
            <a:endParaRPr lang="en-IN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2170" indent="-742950" algn="just">
              <a:buFont typeface="+mj-lt"/>
              <a:buAutoNum type="arabicPeriod" startAt="3"/>
            </a:pP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Tener </a:t>
            </a:r>
            <a:r>
              <a:rPr lang="es-E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sueño</a:t>
            </a: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To feel sleepy</a:t>
            </a:r>
          </a:p>
          <a:p>
            <a:pPr marL="109220" indent="0" algn="just">
              <a:buNone/>
            </a:pP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 El </a:t>
            </a:r>
            <a:r>
              <a:rPr lang="en-IN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niño</a:t>
            </a: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tiene</a:t>
            </a: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sueños</a:t>
            </a: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944562"/>
          </a:xfrm>
        </p:spPr>
        <p:txBody>
          <a:bodyPr>
            <a:normAutofit/>
          </a:bodyPr>
          <a:lstStyle/>
          <a:p>
            <a:pPr marL="812800" indent="-812800" algn="ctr" eaLnBrk="1" hangingPunct="1">
              <a:buFontTx/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Expressions by Using TENER</a:t>
            </a:r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1415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2" grpId="1" build="p"/>
      <p:bldP spid="3" grpId="0"/>
      <p:bldP spid="3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9B6ADA-082D-515A-ED94-4B4FD974D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800" dirty="0"/>
              <a:t>1. The conjugation of the verb TENER. </a:t>
            </a:r>
            <a:endParaRPr lang="en-IN" sz="2800" dirty="0"/>
          </a:p>
          <a:p>
            <a:pPr>
              <a:lnSpc>
                <a:spcPct val="150000"/>
              </a:lnSpc>
            </a:pPr>
            <a:r>
              <a:rPr lang="en-US" sz="2800" dirty="0"/>
              <a:t>2. Use of TENER verb to talk about possession. </a:t>
            </a:r>
            <a:endParaRPr lang="en-IN" sz="2800" dirty="0"/>
          </a:p>
          <a:p>
            <a:pPr>
              <a:lnSpc>
                <a:spcPct val="150000"/>
              </a:lnSpc>
            </a:pPr>
            <a:r>
              <a:rPr lang="en-US" sz="2800" dirty="0"/>
              <a:t>3. Use of the TENER verb for telling age. </a:t>
            </a:r>
            <a:endParaRPr lang="en-IN" sz="2800" dirty="0"/>
          </a:p>
          <a:p>
            <a:pPr>
              <a:lnSpc>
                <a:spcPct val="150000"/>
              </a:lnSpc>
            </a:pPr>
            <a:r>
              <a:rPr lang="en-US" sz="2800" dirty="0"/>
              <a:t>4. Framing simple questions by using the TENER verb. </a:t>
            </a:r>
            <a:endParaRPr lang="en-IN" sz="2800" dirty="0"/>
          </a:p>
          <a:p>
            <a:pPr>
              <a:lnSpc>
                <a:spcPct val="150000"/>
              </a:lnSpc>
            </a:pPr>
            <a:r>
              <a:rPr lang="en-US" sz="2800" dirty="0"/>
              <a:t>5. Common expressions by using TENER. </a:t>
            </a:r>
            <a:r>
              <a:rPr lang="es-ES" sz="2800" dirty="0"/>
              <a:t>For e.g. – Tener hambre, Tener miedo de, Tener frío</a:t>
            </a:r>
            <a:endParaRPr lang="en-IN" sz="2800" dirty="0"/>
          </a:p>
          <a:p>
            <a:pPr>
              <a:lnSpc>
                <a:spcPct val="150000"/>
              </a:lnSpc>
            </a:pPr>
            <a:endParaRPr lang="en-US" sz="2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63A4B46-BABE-5BE8-AE49-356A7963C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1143000"/>
          </a:xfrm>
        </p:spPr>
        <p:txBody>
          <a:bodyPr/>
          <a:lstStyle/>
          <a:p>
            <a:pPr algn="ctr"/>
            <a:r>
              <a:rPr lang="es-ES" dirty="0" err="1"/>
              <a:t>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522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200</TotalTime>
  <Words>586</Words>
  <Application>Microsoft Office PowerPoint</Application>
  <PresentationFormat>Widescreen</PresentationFormat>
  <Paragraphs>88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Arial</vt:lpstr>
      <vt:lpstr>Arial Black</vt:lpstr>
      <vt:lpstr>Calibri</vt:lpstr>
      <vt:lpstr>Lucida Sans Unicode</vt:lpstr>
      <vt:lpstr>Times New Roman</vt:lpstr>
      <vt:lpstr>Verdana</vt:lpstr>
      <vt:lpstr>Wingdings 2</vt:lpstr>
      <vt:lpstr>Wingdings 3</vt:lpstr>
      <vt:lpstr>Concourse</vt:lpstr>
      <vt:lpstr>El Verbo TENER</vt:lpstr>
      <vt:lpstr>TENER – To have</vt:lpstr>
      <vt:lpstr>Uses of TENER</vt:lpstr>
      <vt:lpstr>Uses of TENER</vt:lpstr>
      <vt:lpstr>Questions framed by using TENER</vt:lpstr>
      <vt:lpstr>Exercises</vt:lpstr>
      <vt:lpstr>Useful Expressions by Using TENER</vt:lpstr>
      <vt:lpstr>Useful Expressions by Using TENER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Subject pronouns</dc:title>
  <dc:creator>Shilpi Gupta</dc:creator>
  <cp:lastModifiedBy>Dr Gaurav Sushant</cp:lastModifiedBy>
  <cp:revision>158</cp:revision>
  <dcterms:created xsi:type="dcterms:W3CDTF">2007-10-19T05:42:00Z</dcterms:created>
  <dcterms:modified xsi:type="dcterms:W3CDTF">2024-05-01T17:56:05Z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23D8D464D3DE4274B7E58EBE81E74B16_13</vt:lpwstr>
  </property>
  <property fmtid="{D5CDD505-2E9C-101B-9397-08002B2CF9AE}" pid="3" name="KSOProductBuildVer">
    <vt:lpwstr>1033-12.2.0.13472</vt:lpwstr>
  </property>
</Properties>
</file>