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40"/>
  </p:handoutMasterIdLst>
  <p:sldIdLst>
    <p:sldId id="316" r:id="rId2"/>
    <p:sldId id="268" r:id="rId3"/>
    <p:sldId id="282" r:id="rId4"/>
    <p:sldId id="283" r:id="rId5"/>
    <p:sldId id="312" r:id="rId6"/>
    <p:sldId id="284" r:id="rId7"/>
    <p:sldId id="285" r:id="rId8"/>
    <p:sldId id="286" r:id="rId9"/>
    <p:sldId id="287" r:id="rId10"/>
    <p:sldId id="288" r:id="rId11"/>
    <p:sldId id="313" r:id="rId12"/>
    <p:sldId id="317" r:id="rId13"/>
    <p:sldId id="289" r:id="rId14"/>
    <p:sldId id="290" r:id="rId15"/>
    <p:sldId id="291" r:id="rId16"/>
    <p:sldId id="292" r:id="rId17"/>
    <p:sldId id="293" r:id="rId18"/>
    <p:sldId id="294" r:id="rId19"/>
    <p:sldId id="315" r:id="rId20"/>
    <p:sldId id="295" r:id="rId21"/>
    <p:sldId id="296" r:id="rId22"/>
    <p:sldId id="310" r:id="rId23"/>
    <p:sldId id="297" r:id="rId24"/>
    <p:sldId id="298" r:id="rId25"/>
    <p:sldId id="299" r:id="rId26"/>
    <p:sldId id="300" r:id="rId27"/>
    <p:sldId id="301" r:id="rId28"/>
    <p:sldId id="302" r:id="rId29"/>
    <p:sldId id="303" r:id="rId30"/>
    <p:sldId id="304" r:id="rId31"/>
    <p:sldId id="305" r:id="rId32"/>
    <p:sldId id="311" r:id="rId33"/>
    <p:sldId id="306" r:id="rId34"/>
    <p:sldId id="307" r:id="rId35"/>
    <p:sldId id="308" r:id="rId36"/>
    <p:sldId id="309" r:id="rId37"/>
    <p:sldId id="314" r:id="rId38"/>
    <p:sldId id="267" r:id="rId39"/>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FF0066"/>
    <a:srgbClr val="CCFFCC"/>
    <a:srgbClr val="FFCCFF"/>
    <a:srgbClr val="FFFFCC"/>
    <a:srgbClr val="99CCFF"/>
    <a:srgbClr val="00FFFF"/>
    <a:srgbClr val="FF33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0"/>
  </p:normalViewPr>
  <p:slideViewPr>
    <p:cSldViewPr>
      <p:cViewPr>
        <p:scale>
          <a:sx n="66" d="100"/>
          <a:sy n="66" d="100"/>
        </p:scale>
        <p:origin x="-456" y="-222"/>
      </p:cViewPr>
      <p:guideLst>
        <p:guide orient="horz" pos="2160"/>
        <p:guide pos="2880"/>
      </p:guideLst>
    </p:cSldViewPr>
  </p:slideViewPr>
  <p:outlineViewPr>
    <p:cViewPr>
      <p:scale>
        <a:sx n="25" d="100"/>
        <a:sy n="25"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53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53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53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29E9A56-EAAA-4872-8F0C-4E375980D99E}" type="slidenum">
              <a:rPr lang="en-US"/>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7024008-400A-40BA-82A9-C022209B4005}"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28C13FE-010B-403E-BF19-24FE4311FBA9}"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4F1C6A0-2361-4B93-A0AB-0BC0B42AC6E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AEBD497-FEB7-4237-B4C5-2E37E53334F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FFDAA537-50FC-42EA-8382-213A19B8E9B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F0C22C79-B700-4551-B050-03D0FC8B64A7}"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21284922-6B76-408A-9306-B015ED347F5B}"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34EEE76-6B00-46D1-BF80-D8ABBFA93A1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58D0EF8-7D9D-4964-B658-DA66EB9DFE9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D495C89-1F1D-4C85-B13A-85913DFBA33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89173AD-4F75-418B-96BE-87A082AF65F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noProof="1"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1" smtClean="0"/>
              <a:t>Click to edit Master text styles</a:t>
            </a:r>
          </a:p>
          <a:p>
            <a:pPr lvl="1"/>
            <a:r>
              <a:rPr lang="en-US" noProof="1" smtClean="0"/>
              <a:t>Second level</a:t>
            </a:r>
          </a:p>
          <a:p>
            <a:pPr lvl="2"/>
            <a:r>
              <a:rPr lang="en-US" noProof="1" smtClean="0"/>
              <a:t>Third level</a:t>
            </a:r>
          </a:p>
          <a:p>
            <a:pPr lvl="3"/>
            <a:r>
              <a:rPr lang="en-US" noProof="1" smtClean="0"/>
              <a:t>Fourth level</a:t>
            </a:r>
          </a:p>
          <a:p>
            <a:pPr lvl="4"/>
            <a:r>
              <a:rPr lang="en-US" noProof="1"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noProof="1"/>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noProof="1"/>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noProof="1"/>
            </a:lvl1pPr>
          </a:lstStyle>
          <a:p>
            <a:fld id="{0EA56AA4-F0E7-466A-9CA7-AE321FA0606A}"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7588" name="Picture 4"/>
          <p:cNvPicPr>
            <a:picLocks noChangeAspect="1" noChangeArrowheads="1"/>
          </p:cNvPicPr>
          <p:nvPr/>
        </p:nvPicPr>
        <p:blipFill>
          <a:blip r:embed="rId2" cstate="print"/>
          <a:srcRect/>
          <a:stretch>
            <a:fillRect/>
          </a:stretch>
        </p:blipFill>
        <p:spPr bwMode="auto">
          <a:xfrm>
            <a:off x="3352800" y="4116388"/>
            <a:ext cx="2209800" cy="1751012"/>
          </a:xfrm>
          <a:prstGeom prst="rect">
            <a:avLst/>
          </a:prstGeom>
          <a:noFill/>
          <a:ln w="12700">
            <a:noFill/>
            <a:miter lim="800000"/>
            <a:headEnd/>
            <a:tailEnd/>
          </a:ln>
          <a:effectLst/>
        </p:spPr>
      </p:pic>
      <p:sp>
        <p:nvSpPr>
          <p:cNvPr id="67589" name="WordArt 5"/>
          <p:cNvSpPr>
            <a:spLocks noChangeArrowheads="1" noChangeShapeType="1" noTextEdit="1"/>
          </p:cNvSpPr>
          <p:nvPr/>
        </p:nvSpPr>
        <p:spPr bwMode="auto">
          <a:xfrm rot="-862130">
            <a:off x="1809750" y="6858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99CC00"/>
                </a:solidFill>
                <a:latin typeface="Times New Roman"/>
                <a:cs typeface="Times New Roman"/>
              </a:rPr>
              <a:t>T</a:t>
            </a:r>
          </a:p>
        </p:txBody>
      </p:sp>
      <p:sp>
        <p:nvSpPr>
          <p:cNvPr id="67590" name="WordArt 6"/>
          <p:cNvSpPr>
            <a:spLocks noChangeArrowheads="1" noChangeShapeType="1" noTextEdit="1"/>
          </p:cNvSpPr>
          <p:nvPr/>
        </p:nvSpPr>
        <p:spPr bwMode="auto">
          <a:xfrm>
            <a:off x="2476500" y="685800"/>
            <a:ext cx="304800" cy="695325"/>
          </a:xfrm>
          <a:prstGeom prst="rect">
            <a:avLst/>
          </a:prstGeom>
        </p:spPr>
        <p:txBody>
          <a:bodyPr wrap="none" fromWordArt="1">
            <a:prstTxWarp prst="textPlain">
              <a:avLst>
                <a:gd name="adj" fmla="val 50000"/>
              </a:avLst>
            </a:prstTxWarp>
          </a:bodyPr>
          <a:lstStyle/>
          <a:p>
            <a:pPr algn="ctr"/>
            <a:r>
              <a:rPr lang="en-US" sz="4800" b="1" kern="10">
                <a:ln w="9525">
                  <a:solidFill>
                    <a:srgbClr val="000000"/>
                  </a:solidFill>
                  <a:round/>
                  <a:headEnd/>
                  <a:tailEnd/>
                </a:ln>
                <a:solidFill>
                  <a:srgbClr val="FF0000"/>
                </a:solidFill>
                <a:latin typeface="Times New Roman"/>
                <a:cs typeface="Times New Roman"/>
              </a:rPr>
              <a:t>h</a:t>
            </a:r>
          </a:p>
        </p:txBody>
      </p:sp>
      <p:sp>
        <p:nvSpPr>
          <p:cNvPr id="67591" name="WordArt 7"/>
          <p:cNvSpPr>
            <a:spLocks noChangeArrowheads="1" noChangeShapeType="1" noTextEdit="1"/>
          </p:cNvSpPr>
          <p:nvPr/>
        </p:nvSpPr>
        <p:spPr bwMode="auto">
          <a:xfrm>
            <a:off x="2933700" y="828675"/>
            <a:ext cx="266700" cy="695325"/>
          </a:xfrm>
          <a:prstGeom prst="rect">
            <a:avLst/>
          </a:prstGeom>
        </p:spPr>
        <p:txBody>
          <a:bodyPr wrap="none" fromWordArt="1">
            <a:prstTxWarp prst="textPlain">
              <a:avLst>
                <a:gd name="adj" fmla="val 50000"/>
              </a:avLst>
            </a:prstTxWarp>
          </a:bodyPr>
          <a:lstStyle/>
          <a:p>
            <a:pPr algn="ctr"/>
            <a:r>
              <a:rPr lang="en-US" sz="4800" b="1" kern="10">
                <a:ln w="9525">
                  <a:solidFill>
                    <a:srgbClr val="000000"/>
                  </a:solidFill>
                  <a:round/>
                  <a:headEnd/>
                  <a:tailEnd/>
                </a:ln>
                <a:solidFill>
                  <a:srgbClr val="0000FF"/>
                </a:solidFill>
                <a:latin typeface="Times New Roman"/>
                <a:cs typeface="Times New Roman"/>
              </a:rPr>
              <a:t>e</a:t>
            </a:r>
          </a:p>
        </p:txBody>
      </p:sp>
      <p:sp>
        <p:nvSpPr>
          <p:cNvPr id="67592" name="WordArt 8"/>
          <p:cNvSpPr>
            <a:spLocks noChangeArrowheads="1" noChangeShapeType="1" noTextEdit="1"/>
          </p:cNvSpPr>
          <p:nvPr/>
        </p:nvSpPr>
        <p:spPr bwMode="auto">
          <a:xfrm>
            <a:off x="3924300" y="7620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99CC00"/>
                </a:solidFill>
                <a:latin typeface="Times New Roman"/>
                <a:cs typeface="Times New Roman"/>
              </a:rPr>
              <a:t>S</a:t>
            </a:r>
          </a:p>
        </p:txBody>
      </p:sp>
      <p:sp>
        <p:nvSpPr>
          <p:cNvPr id="67593" name="WordArt 9"/>
          <p:cNvSpPr>
            <a:spLocks noChangeArrowheads="1" noChangeShapeType="1" noTextEdit="1"/>
          </p:cNvSpPr>
          <p:nvPr/>
        </p:nvSpPr>
        <p:spPr bwMode="auto">
          <a:xfrm rot="-1004029">
            <a:off x="6534150" y="6096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333333"/>
                </a:solidFill>
                <a:latin typeface="Times New Roman"/>
                <a:cs typeface="Times New Roman"/>
              </a:rPr>
              <a:t>h</a:t>
            </a:r>
          </a:p>
        </p:txBody>
      </p:sp>
      <p:sp>
        <p:nvSpPr>
          <p:cNvPr id="67594" name="WordArt 10"/>
          <p:cNvSpPr>
            <a:spLocks noChangeArrowheads="1" noChangeShapeType="1" noTextEdit="1"/>
          </p:cNvSpPr>
          <p:nvPr/>
        </p:nvSpPr>
        <p:spPr bwMode="auto">
          <a:xfrm>
            <a:off x="6076950" y="10668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00FFFF"/>
                </a:solidFill>
                <a:latin typeface="Times New Roman"/>
                <a:cs typeface="Times New Roman"/>
              </a:rPr>
              <a:t>s</a:t>
            </a:r>
          </a:p>
        </p:txBody>
      </p:sp>
      <p:sp>
        <p:nvSpPr>
          <p:cNvPr id="67595" name="WordArt 11"/>
          <p:cNvSpPr>
            <a:spLocks noChangeArrowheads="1" noChangeShapeType="1" noTextEdit="1"/>
          </p:cNvSpPr>
          <p:nvPr/>
        </p:nvSpPr>
        <p:spPr bwMode="auto">
          <a:xfrm>
            <a:off x="5772150" y="685800"/>
            <a:ext cx="228600" cy="952500"/>
          </a:xfrm>
          <a:prstGeom prst="rect">
            <a:avLst/>
          </a:prstGeom>
        </p:spPr>
        <p:txBody>
          <a:bodyPr wrap="none" fromWordArt="1">
            <a:prstTxWarp prst="textPlain">
              <a:avLst>
                <a:gd name="adj" fmla="val 50000"/>
              </a:avLst>
            </a:prstTxWarp>
          </a:bodyPr>
          <a:lstStyle/>
          <a:p>
            <a:pPr algn="ctr"/>
            <a:r>
              <a:rPr lang="en-US" sz="6600" b="1" kern="10">
                <a:ln w="9525">
                  <a:solidFill>
                    <a:srgbClr val="000000"/>
                  </a:solidFill>
                  <a:round/>
                  <a:headEnd/>
                  <a:tailEnd/>
                </a:ln>
                <a:solidFill>
                  <a:srgbClr val="FF0000"/>
                </a:solidFill>
                <a:latin typeface="Times New Roman"/>
                <a:cs typeface="Times New Roman"/>
              </a:rPr>
              <a:t>i</a:t>
            </a:r>
          </a:p>
        </p:txBody>
      </p:sp>
      <p:sp>
        <p:nvSpPr>
          <p:cNvPr id="67596" name="WordArt 12"/>
          <p:cNvSpPr>
            <a:spLocks noChangeArrowheads="1" noChangeShapeType="1" noTextEdit="1"/>
          </p:cNvSpPr>
          <p:nvPr/>
        </p:nvSpPr>
        <p:spPr bwMode="auto">
          <a:xfrm>
            <a:off x="5391150" y="914400"/>
            <a:ext cx="285750" cy="638175"/>
          </a:xfrm>
          <a:prstGeom prst="rect">
            <a:avLst/>
          </a:prstGeom>
        </p:spPr>
        <p:txBody>
          <a:bodyPr wrap="none" fromWordArt="1">
            <a:prstTxWarp prst="textPlain">
              <a:avLst>
                <a:gd name="adj" fmla="val 50000"/>
              </a:avLst>
            </a:prstTxWarp>
          </a:bodyPr>
          <a:lstStyle/>
          <a:p>
            <a:pPr algn="ctr"/>
            <a:r>
              <a:rPr lang="en-US" sz="4400" b="1" kern="10">
                <a:ln w="9525">
                  <a:solidFill>
                    <a:srgbClr val="000000"/>
                  </a:solidFill>
                  <a:round/>
                  <a:headEnd/>
                  <a:tailEnd/>
                </a:ln>
                <a:solidFill>
                  <a:srgbClr val="FF33CC"/>
                </a:solidFill>
                <a:latin typeface="Times New Roman"/>
                <a:cs typeface="Times New Roman"/>
              </a:rPr>
              <a:t>n</a:t>
            </a:r>
          </a:p>
        </p:txBody>
      </p:sp>
      <p:sp>
        <p:nvSpPr>
          <p:cNvPr id="67597" name="WordArt 13"/>
          <p:cNvSpPr>
            <a:spLocks noChangeArrowheads="1" noChangeShapeType="1" noTextEdit="1"/>
          </p:cNvSpPr>
          <p:nvPr/>
        </p:nvSpPr>
        <p:spPr bwMode="auto">
          <a:xfrm>
            <a:off x="5010150" y="762000"/>
            <a:ext cx="247650" cy="638175"/>
          </a:xfrm>
          <a:prstGeom prst="rect">
            <a:avLst/>
          </a:prstGeom>
        </p:spPr>
        <p:txBody>
          <a:bodyPr wrap="none" fromWordArt="1">
            <a:prstTxWarp prst="textPlain">
              <a:avLst>
                <a:gd name="adj" fmla="val 50000"/>
              </a:avLst>
            </a:prstTxWarp>
          </a:bodyPr>
          <a:lstStyle/>
          <a:p>
            <a:pPr algn="ctr"/>
            <a:r>
              <a:rPr lang="en-US" sz="4400" b="1" kern="10">
                <a:ln w="9525">
                  <a:solidFill>
                    <a:srgbClr val="000000"/>
                  </a:solidFill>
                  <a:round/>
                  <a:headEnd/>
                  <a:tailEnd/>
                </a:ln>
                <a:solidFill>
                  <a:srgbClr val="FFCC00"/>
                </a:solidFill>
                <a:latin typeface="Times New Roman"/>
                <a:cs typeface="Times New Roman"/>
              </a:rPr>
              <a:t>a</a:t>
            </a:r>
          </a:p>
        </p:txBody>
      </p:sp>
      <p:sp>
        <p:nvSpPr>
          <p:cNvPr id="67598" name="WordArt 14"/>
          <p:cNvSpPr>
            <a:spLocks noChangeArrowheads="1" noChangeShapeType="1" noTextEdit="1"/>
          </p:cNvSpPr>
          <p:nvPr/>
        </p:nvSpPr>
        <p:spPr bwMode="auto">
          <a:xfrm>
            <a:off x="4552950" y="981075"/>
            <a:ext cx="342900" cy="771525"/>
          </a:xfrm>
          <a:prstGeom prst="rect">
            <a:avLst/>
          </a:prstGeom>
        </p:spPr>
        <p:txBody>
          <a:bodyPr wrap="none" fromWordArt="1">
            <a:prstTxWarp prst="textPlain">
              <a:avLst>
                <a:gd name="adj" fmla="val 50000"/>
              </a:avLst>
            </a:prstTxWarp>
          </a:bodyPr>
          <a:lstStyle/>
          <a:p>
            <a:pPr algn="ctr"/>
            <a:r>
              <a:rPr lang="en-US" sz="5400" b="1" kern="10">
                <a:ln w="9525">
                  <a:solidFill>
                    <a:srgbClr val="000000"/>
                  </a:solidFill>
                  <a:round/>
                  <a:headEnd/>
                  <a:tailEnd/>
                </a:ln>
                <a:latin typeface="Times New Roman"/>
                <a:cs typeface="Times New Roman"/>
              </a:rPr>
              <a:t>p</a:t>
            </a:r>
          </a:p>
        </p:txBody>
      </p:sp>
      <p:sp>
        <p:nvSpPr>
          <p:cNvPr id="67599" name="WordArt 15"/>
          <p:cNvSpPr>
            <a:spLocks noChangeArrowheads="1" noChangeShapeType="1" noTextEdit="1"/>
          </p:cNvSpPr>
          <p:nvPr/>
        </p:nvSpPr>
        <p:spPr bwMode="auto">
          <a:xfrm>
            <a:off x="2705100" y="20574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99CC00"/>
                </a:solidFill>
                <a:latin typeface="Times New Roman"/>
                <a:cs typeface="Times New Roman"/>
              </a:rPr>
              <a:t>A</a:t>
            </a:r>
          </a:p>
        </p:txBody>
      </p:sp>
      <p:sp>
        <p:nvSpPr>
          <p:cNvPr id="67600" name="WordArt 16"/>
          <p:cNvSpPr>
            <a:spLocks noChangeArrowheads="1" noChangeShapeType="1" noTextEdit="1"/>
          </p:cNvSpPr>
          <p:nvPr/>
        </p:nvSpPr>
        <p:spPr bwMode="auto">
          <a:xfrm rot="-1004029">
            <a:off x="5314950" y="19050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333333"/>
                </a:solidFill>
                <a:latin typeface="Times New Roman"/>
                <a:cs typeface="Times New Roman"/>
              </a:rPr>
              <a:t>e</a:t>
            </a:r>
          </a:p>
        </p:txBody>
      </p:sp>
      <p:sp>
        <p:nvSpPr>
          <p:cNvPr id="67601" name="WordArt 17"/>
          <p:cNvSpPr>
            <a:spLocks noChangeArrowheads="1" noChangeShapeType="1" noTextEdit="1"/>
          </p:cNvSpPr>
          <p:nvPr/>
        </p:nvSpPr>
        <p:spPr bwMode="auto">
          <a:xfrm>
            <a:off x="4857750" y="236220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00FFFF"/>
                </a:solidFill>
                <a:latin typeface="Times New Roman"/>
                <a:cs typeface="Times New Roman"/>
              </a:rPr>
              <a:t>b</a:t>
            </a:r>
          </a:p>
        </p:txBody>
      </p:sp>
      <p:sp>
        <p:nvSpPr>
          <p:cNvPr id="67602" name="WordArt 18"/>
          <p:cNvSpPr>
            <a:spLocks noChangeArrowheads="1" noChangeShapeType="1" noTextEdit="1"/>
          </p:cNvSpPr>
          <p:nvPr/>
        </p:nvSpPr>
        <p:spPr bwMode="auto">
          <a:xfrm>
            <a:off x="4552950" y="1981200"/>
            <a:ext cx="228600" cy="952500"/>
          </a:xfrm>
          <a:prstGeom prst="rect">
            <a:avLst/>
          </a:prstGeom>
        </p:spPr>
        <p:txBody>
          <a:bodyPr wrap="none" fromWordArt="1">
            <a:prstTxWarp prst="textPlain">
              <a:avLst>
                <a:gd name="adj" fmla="val 50000"/>
              </a:avLst>
            </a:prstTxWarp>
          </a:bodyPr>
          <a:lstStyle/>
          <a:p>
            <a:pPr algn="ctr"/>
            <a:r>
              <a:rPr lang="en-US" sz="6600" b="1" kern="10">
                <a:ln w="9525">
                  <a:solidFill>
                    <a:srgbClr val="000000"/>
                  </a:solidFill>
                  <a:round/>
                  <a:headEnd/>
                  <a:tailEnd/>
                </a:ln>
                <a:solidFill>
                  <a:srgbClr val="FF0000"/>
                </a:solidFill>
                <a:latin typeface="Times New Roman"/>
                <a:cs typeface="Times New Roman"/>
              </a:rPr>
              <a:t>a</a:t>
            </a:r>
          </a:p>
        </p:txBody>
      </p:sp>
      <p:sp>
        <p:nvSpPr>
          <p:cNvPr id="67603" name="WordArt 19"/>
          <p:cNvSpPr>
            <a:spLocks noChangeArrowheads="1" noChangeShapeType="1" noTextEdit="1"/>
          </p:cNvSpPr>
          <p:nvPr/>
        </p:nvSpPr>
        <p:spPr bwMode="auto">
          <a:xfrm>
            <a:off x="4171950" y="2209800"/>
            <a:ext cx="285750" cy="638175"/>
          </a:xfrm>
          <a:prstGeom prst="rect">
            <a:avLst/>
          </a:prstGeom>
        </p:spPr>
        <p:txBody>
          <a:bodyPr wrap="none" fromWordArt="1">
            <a:prstTxWarp prst="textPlain">
              <a:avLst>
                <a:gd name="adj" fmla="val 50000"/>
              </a:avLst>
            </a:prstTxWarp>
          </a:bodyPr>
          <a:lstStyle/>
          <a:p>
            <a:pPr algn="ctr"/>
            <a:r>
              <a:rPr lang="en-US" sz="4400" b="1" kern="10">
                <a:ln w="9525">
                  <a:solidFill>
                    <a:srgbClr val="000000"/>
                  </a:solidFill>
                  <a:round/>
                  <a:headEnd/>
                  <a:tailEnd/>
                </a:ln>
                <a:solidFill>
                  <a:srgbClr val="FF33CC"/>
                </a:solidFill>
                <a:latin typeface="Times New Roman"/>
                <a:cs typeface="Times New Roman"/>
              </a:rPr>
              <a:t>h</a:t>
            </a:r>
          </a:p>
        </p:txBody>
      </p:sp>
      <p:sp>
        <p:nvSpPr>
          <p:cNvPr id="67604" name="WordArt 20"/>
          <p:cNvSpPr>
            <a:spLocks noChangeArrowheads="1" noChangeShapeType="1" noTextEdit="1"/>
          </p:cNvSpPr>
          <p:nvPr/>
        </p:nvSpPr>
        <p:spPr bwMode="auto">
          <a:xfrm>
            <a:off x="3790950" y="2057400"/>
            <a:ext cx="247650" cy="638175"/>
          </a:xfrm>
          <a:prstGeom prst="rect">
            <a:avLst/>
          </a:prstGeom>
        </p:spPr>
        <p:txBody>
          <a:bodyPr wrap="none" fromWordArt="1">
            <a:prstTxWarp prst="textPlain">
              <a:avLst>
                <a:gd name="adj" fmla="val 50000"/>
              </a:avLst>
            </a:prstTxWarp>
          </a:bodyPr>
          <a:lstStyle/>
          <a:p>
            <a:pPr algn="ctr"/>
            <a:r>
              <a:rPr lang="en-US" sz="4400" b="1" kern="10">
                <a:ln w="9525">
                  <a:solidFill>
                    <a:srgbClr val="000000"/>
                  </a:solidFill>
                  <a:round/>
                  <a:headEnd/>
                  <a:tailEnd/>
                </a:ln>
                <a:solidFill>
                  <a:srgbClr val="FFCC00"/>
                </a:solidFill>
                <a:latin typeface="Times New Roman"/>
                <a:cs typeface="Times New Roman"/>
              </a:rPr>
              <a:t>p</a:t>
            </a:r>
          </a:p>
        </p:txBody>
      </p:sp>
      <p:sp>
        <p:nvSpPr>
          <p:cNvPr id="67605" name="WordArt 21"/>
          <p:cNvSpPr>
            <a:spLocks noChangeArrowheads="1" noChangeShapeType="1" noTextEdit="1"/>
          </p:cNvSpPr>
          <p:nvPr/>
        </p:nvSpPr>
        <p:spPr bwMode="auto">
          <a:xfrm>
            <a:off x="3333750" y="2276475"/>
            <a:ext cx="342900" cy="771525"/>
          </a:xfrm>
          <a:prstGeom prst="rect">
            <a:avLst/>
          </a:prstGeom>
        </p:spPr>
        <p:txBody>
          <a:bodyPr wrap="none" fromWordArt="1">
            <a:prstTxWarp prst="textPlain">
              <a:avLst>
                <a:gd name="adj" fmla="val 50000"/>
              </a:avLst>
            </a:prstTxWarp>
          </a:bodyPr>
          <a:lstStyle/>
          <a:p>
            <a:pPr algn="ctr"/>
            <a:r>
              <a:rPr lang="en-US" sz="5400" b="1" kern="10">
                <a:ln w="9525">
                  <a:solidFill>
                    <a:srgbClr val="000000"/>
                  </a:solidFill>
                  <a:round/>
                  <a:headEnd/>
                  <a:tailEnd/>
                </a:ln>
                <a:latin typeface="Times New Roman"/>
                <a:cs typeface="Times New Roman"/>
              </a:rPr>
              <a:t>l</a:t>
            </a:r>
          </a:p>
        </p:txBody>
      </p:sp>
      <p:sp>
        <p:nvSpPr>
          <p:cNvPr id="67606" name="WordArt 22"/>
          <p:cNvSpPr>
            <a:spLocks noChangeArrowheads="1" noChangeShapeType="1" noTextEdit="1"/>
          </p:cNvSpPr>
          <p:nvPr/>
        </p:nvSpPr>
        <p:spPr bwMode="auto">
          <a:xfrm rot="1474526">
            <a:off x="6019800" y="2190750"/>
            <a:ext cx="476250" cy="857250"/>
          </a:xfrm>
          <a:prstGeom prst="rect">
            <a:avLst/>
          </a:prstGeom>
        </p:spPr>
        <p:txBody>
          <a:bodyPr wrap="none" fromWordArt="1">
            <a:prstTxWarp prst="textPlain">
              <a:avLst>
                <a:gd name="adj" fmla="val 50000"/>
              </a:avLst>
            </a:prstTxWarp>
          </a:bodyPr>
          <a:lstStyle/>
          <a:p>
            <a:pPr algn="ctr"/>
            <a:r>
              <a:rPr lang="en-US" sz="6000" b="1" kern="10">
                <a:ln w="9525">
                  <a:solidFill>
                    <a:srgbClr val="000000"/>
                  </a:solidFill>
                  <a:round/>
                  <a:headEnd/>
                  <a:tailEnd/>
                </a:ln>
                <a:solidFill>
                  <a:srgbClr val="99CC00"/>
                </a:solidFill>
                <a:latin typeface="Times New Roman"/>
                <a:cs typeface="Times New Roman"/>
              </a:rPr>
              <a:t>t</a:t>
            </a:r>
          </a:p>
        </p:txBody>
      </p:sp>
      <p:sp>
        <p:nvSpPr>
          <p:cNvPr id="67608" name="Text Box 24"/>
          <p:cNvSpPr txBox="1">
            <a:spLocks noChangeArrowheads="1"/>
          </p:cNvSpPr>
          <p:nvPr/>
        </p:nvSpPr>
        <p:spPr bwMode="auto">
          <a:xfrm>
            <a:off x="1371600" y="3321050"/>
            <a:ext cx="6400800" cy="641350"/>
          </a:xfrm>
          <a:prstGeom prst="rect">
            <a:avLst/>
          </a:prstGeom>
          <a:noFill/>
          <a:ln w="9525">
            <a:noFill/>
            <a:miter lim="800000"/>
            <a:headEnd/>
            <a:tailEnd/>
          </a:ln>
          <a:effectLst/>
        </p:spPr>
        <p:txBody>
          <a:bodyPr>
            <a:spAutoFit/>
          </a:bodyPr>
          <a:lstStyle/>
          <a:p>
            <a:pPr algn="ctr">
              <a:spcBef>
                <a:spcPct val="50000"/>
              </a:spcBef>
            </a:pPr>
            <a:r>
              <a:rPr lang="en-US" sz="3600">
                <a:latin typeface="Comic Sans MS" pitchFamily="66" charset="0"/>
              </a:rPr>
              <a:t>(El alfabeto español)</a:t>
            </a:r>
          </a:p>
        </p:txBody>
      </p:sp>
      <p:pic>
        <p:nvPicPr>
          <p:cNvPr id="67613" name="Picture 29" descr="PPH%2BWL"/>
          <p:cNvPicPr>
            <a:picLocks noChangeAspect="1" noChangeArrowheads="1"/>
          </p:cNvPicPr>
          <p:nvPr/>
        </p:nvPicPr>
        <p:blipFill>
          <a:blip r:embed="rId3" cstate="print"/>
          <a:srcRect/>
          <a:stretch>
            <a:fillRect/>
          </a:stretch>
        </p:blipFill>
        <p:spPr bwMode="auto">
          <a:xfrm>
            <a:off x="152400" y="6192838"/>
            <a:ext cx="1524000" cy="6651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589"/>
                                        </p:tgtEl>
                                        <p:attrNameLst>
                                          <p:attrName>style.visibility</p:attrName>
                                        </p:attrNameLst>
                                      </p:cBhvr>
                                      <p:to>
                                        <p:strVal val="visible"/>
                                      </p:to>
                                    </p:set>
                                    <p:animEffect transition="in" filter="dissolve">
                                      <p:cBhvr>
                                        <p:cTn id="7" dur="500"/>
                                        <p:tgtEl>
                                          <p:spTgt spid="6758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7590"/>
                                        </p:tgtEl>
                                        <p:attrNameLst>
                                          <p:attrName>style.visibility</p:attrName>
                                        </p:attrNameLst>
                                      </p:cBhvr>
                                      <p:to>
                                        <p:strVal val="visible"/>
                                      </p:to>
                                    </p:set>
                                    <p:animEffect transition="in" filter="dissolve">
                                      <p:cBhvr>
                                        <p:cTn id="10" dur="500"/>
                                        <p:tgtEl>
                                          <p:spTgt spid="6759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7591"/>
                                        </p:tgtEl>
                                        <p:attrNameLst>
                                          <p:attrName>style.visibility</p:attrName>
                                        </p:attrNameLst>
                                      </p:cBhvr>
                                      <p:to>
                                        <p:strVal val="visible"/>
                                      </p:to>
                                    </p:set>
                                    <p:animEffect transition="in" filter="dissolve">
                                      <p:cBhvr>
                                        <p:cTn id="13" dur="500"/>
                                        <p:tgtEl>
                                          <p:spTgt spid="6759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7592"/>
                                        </p:tgtEl>
                                        <p:attrNameLst>
                                          <p:attrName>style.visibility</p:attrName>
                                        </p:attrNameLst>
                                      </p:cBhvr>
                                      <p:to>
                                        <p:strVal val="visible"/>
                                      </p:to>
                                    </p:set>
                                    <p:animEffect transition="in" filter="dissolve">
                                      <p:cBhvr>
                                        <p:cTn id="16" dur="500"/>
                                        <p:tgtEl>
                                          <p:spTgt spid="6759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7593"/>
                                        </p:tgtEl>
                                        <p:attrNameLst>
                                          <p:attrName>style.visibility</p:attrName>
                                        </p:attrNameLst>
                                      </p:cBhvr>
                                      <p:to>
                                        <p:strVal val="visible"/>
                                      </p:to>
                                    </p:set>
                                    <p:animEffect transition="in" filter="dissolve">
                                      <p:cBhvr>
                                        <p:cTn id="19" dur="500"/>
                                        <p:tgtEl>
                                          <p:spTgt spid="6759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67594"/>
                                        </p:tgtEl>
                                        <p:attrNameLst>
                                          <p:attrName>style.visibility</p:attrName>
                                        </p:attrNameLst>
                                      </p:cBhvr>
                                      <p:to>
                                        <p:strVal val="visible"/>
                                      </p:to>
                                    </p:set>
                                    <p:animEffect transition="in" filter="dissolve">
                                      <p:cBhvr>
                                        <p:cTn id="22" dur="500"/>
                                        <p:tgtEl>
                                          <p:spTgt spid="6759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7595"/>
                                        </p:tgtEl>
                                        <p:attrNameLst>
                                          <p:attrName>style.visibility</p:attrName>
                                        </p:attrNameLst>
                                      </p:cBhvr>
                                      <p:to>
                                        <p:strVal val="visible"/>
                                      </p:to>
                                    </p:set>
                                    <p:animEffect transition="in" filter="dissolve">
                                      <p:cBhvr>
                                        <p:cTn id="25" dur="500"/>
                                        <p:tgtEl>
                                          <p:spTgt spid="6759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7596"/>
                                        </p:tgtEl>
                                        <p:attrNameLst>
                                          <p:attrName>style.visibility</p:attrName>
                                        </p:attrNameLst>
                                      </p:cBhvr>
                                      <p:to>
                                        <p:strVal val="visible"/>
                                      </p:to>
                                    </p:set>
                                    <p:animEffect transition="in" filter="dissolve">
                                      <p:cBhvr>
                                        <p:cTn id="28" dur="500"/>
                                        <p:tgtEl>
                                          <p:spTgt spid="6759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7597"/>
                                        </p:tgtEl>
                                        <p:attrNameLst>
                                          <p:attrName>style.visibility</p:attrName>
                                        </p:attrNameLst>
                                      </p:cBhvr>
                                      <p:to>
                                        <p:strVal val="visible"/>
                                      </p:to>
                                    </p:set>
                                    <p:animEffect transition="in" filter="dissolve">
                                      <p:cBhvr>
                                        <p:cTn id="31" dur="500"/>
                                        <p:tgtEl>
                                          <p:spTgt spid="6759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7598"/>
                                        </p:tgtEl>
                                        <p:attrNameLst>
                                          <p:attrName>style.visibility</p:attrName>
                                        </p:attrNameLst>
                                      </p:cBhvr>
                                      <p:to>
                                        <p:strVal val="visible"/>
                                      </p:to>
                                    </p:set>
                                    <p:animEffect transition="in" filter="dissolve">
                                      <p:cBhvr>
                                        <p:cTn id="34" dur="500"/>
                                        <p:tgtEl>
                                          <p:spTgt spid="6759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67599"/>
                                        </p:tgtEl>
                                        <p:attrNameLst>
                                          <p:attrName>style.visibility</p:attrName>
                                        </p:attrNameLst>
                                      </p:cBhvr>
                                      <p:to>
                                        <p:strVal val="visible"/>
                                      </p:to>
                                    </p:set>
                                    <p:animEffect transition="in" filter="dissolve">
                                      <p:cBhvr>
                                        <p:cTn id="37" dur="500"/>
                                        <p:tgtEl>
                                          <p:spTgt spid="6759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67600"/>
                                        </p:tgtEl>
                                        <p:attrNameLst>
                                          <p:attrName>style.visibility</p:attrName>
                                        </p:attrNameLst>
                                      </p:cBhvr>
                                      <p:to>
                                        <p:strVal val="visible"/>
                                      </p:to>
                                    </p:set>
                                    <p:animEffect transition="in" filter="dissolve">
                                      <p:cBhvr>
                                        <p:cTn id="40" dur="500"/>
                                        <p:tgtEl>
                                          <p:spTgt spid="67600"/>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67601"/>
                                        </p:tgtEl>
                                        <p:attrNameLst>
                                          <p:attrName>style.visibility</p:attrName>
                                        </p:attrNameLst>
                                      </p:cBhvr>
                                      <p:to>
                                        <p:strVal val="visible"/>
                                      </p:to>
                                    </p:set>
                                    <p:animEffect transition="in" filter="dissolve">
                                      <p:cBhvr>
                                        <p:cTn id="43" dur="500"/>
                                        <p:tgtEl>
                                          <p:spTgt spid="6760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67602"/>
                                        </p:tgtEl>
                                        <p:attrNameLst>
                                          <p:attrName>style.visibility</p:attrName>
                                        </p:attrNameLst>
                                      </p:cBhvr>
                                      <p:to>
                                        <p:strVal val="visible"/>
                                      </p:to>
                                    </p:set>
                                    <p:animEffect transition="in" filter="dissolve">
                                      <p:cBhvr>
                                        <p:cTn id="46" dur="500"/>
                                        <p:tgtEl>
                                          <p:spTgt spid="6760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67603"/>
                                        </p:tgtEl>
                                        <p:attrNameLst>
                                          <p:attrName>style.visibility</p:attrName>
                                        </p:attrNameLst>
                                      </p:cBhvr>
                                      <p:to>
                                        <p:strVal val="visible"/>
                                      </p:to>
                                    </p:set>
                                    <p:animEffect transition="in" filter="dissolve">
                                      <p:cBhvr>
                                        <p:cTn id="49" dur="500"/>
                                        <p:tgtEl>
                                          <p:spTgt spid="67603"/>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7604"/>
                                        </p:tgtEl>
                                        <p:attrNameLst>
                                          <p:attrName>style.visibility</p:attrName>
                                        </p:attrNameLst>
                                      </p:cBhvr>
                                      <p:to>
                                        <p:strVal val="visible"/>
                                      </p:to>
                                    </p:set>
                                    <p:animEffect transition="in" filter="dissolve">
                                      <p:cBhvr>
                                        <p:cTn id="52" dur="500"/>
                                        <p:tgtEl>
                                          <p:spTgt spid="67604"/>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7605"/>
                                        </p:tgtEl>
                                        <p:attrNameLst>
                                          <p:attrName>style.visibility</p:attrName>
                                        </p:attrNameLst>
                                      </p:cBhvr>
                                      <p:to>
                                        <p:strVal val="visible"/>
                                      </p:to>
                                    </p:set>
                                    <p:animEffect transition="in" filter="dissolve">
                                      <p:cBhvr>
                                        <p:cTn id="55" dur="500"/>
                                        <p:tgtEl>
                                          <p:spTgt spid="67605"/>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67606"/>
                                        </p:tgtEl>
                                        <p:attrNameLst>
                                          <p:attrName>style.visibility</p:attrName>
                                        </p:attrNameLst>
                                      </p:cBhvr>
                                      <p:to>
                                        <p:strVal val="visible"/>
                                      </p:to>
                                    </p:set>
                                    <p:animEffect transition="in" filter="dissolve">
                                      <p:cBhvr>
                                        <p:cTn id="58" dur="500"/>
                                        <p:tgtEl>
                                          <p:spTgt spid="67606"/>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67608"/>
                                        </p:tgtEl>
                                        <p:attrNameLst>
                                          <p:attrName>style.visibility</p:attrName>
                                        </p:attrNameLst>
                                      </p:cBhvr>
                                      <p:to>
                                        <p:strVal val="visible"/>
                                      </p:to>
                                    </p:set>
                                    <p:animEffect transition="in" filter="dissolve">
                                      <p:cBhvr>
                                        <p:cTn id="61" dur="500"/>
                                        <p:tgtEl>
                                          <p:spTgt spid="67608"/>
                                        </p:tgtEl>
                                      </p:cBhvr>
                                    </p:animEffect>
                                  </p:childTnLst>
                                </p:cTn>
                              </p:par>
                              <p:par>
                                <p:cTn id="62" presetID="9" presetClass="entr" presetSubtype="0" fill="hold" nodeType="withEffect">
                                  <p:stCondLst>
                                    <p:cond delay="0"/>
                                  </p:stCondLst>
                                  <p:childTnLst>
                                    <p:set>
                                      <p:cBhvr>
                                        <p:cTn id="63" dur="1" fill="hold">
                                          <p:stCondLst>
                                            <p:cond delay="0"/>
                                          </p:stCondLst>
                                        </p:cTn>
                                        <p:tgtEl>
                                          <p:spTgt spid="67588"/>
                                        </p:tgtEl>
                                        <p:attrNameLst>
                                          <p:attrName>style.visibility</p:attrName>
                                        </p:attrNameLst>
                                      </p:cBhvr>
                                      <p:to>
                                        <p:strVal val="visible"/>
                                      </p:to>
                                    </p:set>
                                    <p:animEffect transition="in" filter="dissolve">
                                      <p:cBhvr>
                                        <p:cTn id="64" dur="500"/>
                                        <p:tgtEl>
                                          <p:spTgt spid="67588"/>
                                        </p:tgtEl>
                                      </p:cBhvr>
                                    </p:animEffect>
                                  </p:childTnLst>
                                </p:cTn>
                              </p:par>
                              <p:par>
                                <p:cTn id="65" presetID="9" presetClass="entr" presetSubtype="0" fill="hold" nodeType="withEffect">
                                  <p:stCondLst>
                                    <p:cond delay="0"/>
                                  </p:stCondLst>
                                  <p:childTnLst>
                                    <p:set>
                                      <p:cBhvr>
                                        <p:cTn id="66" dur="1" fill="hold">
                                          <p:stCondLst>
                                            <p:cond delay="0"/>
                                          </p:stCondLst>
                                        </p:cTn>
                                        <p:tgtEl>
                                          <p:spTgt spid="67613"/>
                                        </p:tgtEl>
                                        <p:attrNameLst>
                                          <p:attrName>style.visibility</p:attrName>
                                        </p:attrNameLst>
                                      </p:cBhvr>
                                      <p:to>
                                        <p:strVal val="visible"/>
                                      </p:to>
                                    </p:set>
                                    <p:animEffect transition="in" filter="dissolve">
                                      <p:cBhvr>
                                        <p:cTn id="67" dur="300"/>
                                        <p:tgtEl>
                                          <p:spTgt spid="67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animBg="1"/>
      <p:bldP spid="67590" grpId="0" animBg="1"/>
      <p:bldP spid="67591" grpId="0" animBg="1"/>
      <p:bldP spid="67592" grpId="0" animBg="1"/>
      <p:bldP spid="67593" grpId="0" animBg="1"/>
      <p:bldP spid="67594" grpId="0" animBg="1"/>
      <p:bldP spid="67595" grpId="0" animBg="1"/>
      <p:bldP spid="67596" grpId="0" animBg="1"/>
      <p:bldP spid="67597" grpId="0" animBg="1"/>
      <p:bldP spid="67598" grpId="0" animBg="1"/>
      <p:bldP spid="67599" grpId="0" animBg="1"/>
      <p:bldP spid="67600" grpId="0" animBg="1"/>
      <p:bldP spid="67601" grpId="0" animBg="1"/>
      <p:bldP spid="67602" grpId="0" animBg="1"/>
      <p:bldP spid="67603" grpId="0" animBg="1"/>
      <p:bldP spid="67604" grpId="0" animBg="1"/>
      <p:bldP spid="67605" grpId="0" animBg="1"/>
      <p:bldP spid="67606" grpId="0" animBg="1"/>
      <p:bldP spid="6760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5" name="WordArt 1043" descr="Woven mat"/>
          <p:cNvSpPr>
            <a:spLocks noChangeArrowheads="1" noChangeShapeType="1" noTextEdit="1"/>
          </p:cNvSpPr>
          <p:nvPr/>
        </p:nvSpPr>
        <p:spPr bwMode="auto">
          <a:xfrm>
            <a:off x="2209800" y="866775"/>
            <a:ext cx="1471613"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a</a:t>
            </a:r>
          </a:p>
        </p:txBody>
      </p:sp>
      <p:sp>
        <p:nvSpPr>
          <p:cNvPr id="14356" name="WordArt 1044" descr="Stationery"/>
          <p:cNvSpPr>
            <a:spLocks noChangeArrowheads="1" noChangeShapeType="1" noTextEdit="1"/>
          </p:cNvSpPr>
          <p:nvPr/>
        </p:nvSpPr>
        <p:spPr bwMode="auto">
          <a:xfrm>
            <a:off x="4700588" y="838200"/>
            <a:ext cx="2157412"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(a)</a:t>
            </a:r>
          </a:p>
        </p:txBody>
      </p:sp>
      <p:sp>
        <p:nvSpPr>
          <p:cNvPr id="14357" name="Oval 1045"/>
          <p:cNvSpPr>
            <a:spLocks noChangeArrowheads="1"/>
          </p:cNvSpPr>
          <p:nvPr/>
        </p:nvSpPr>
        <p:spPr bwMode="auto">
          <a:xfrm>
            <a:off x="1524000" y="457200"/>
            <a:ext cx="2743200" cy="2667000"/>
          </a:xfrm>
          <a:prstGeom prst="ellipse">
            <a:avLst/>
          </a:prstGeom>
          <a:noFill/>
          <a:ln w="25400">
            <a:solidFill>
              <a:schemeClr val="tx1"/>
            </a:solidFill>
            <a:round/>
            <a:headEnd/>
            <a:tailEnd/>
          </a:ln>
          <a:effectLst/>
        </p:spPr>
        <p:txBody>
          <a:bodyPr wrap="none" anchor="ctr"/>
          <a:lstStyle/>
          <a:p>
            <a:endParaRPr lang="en-US"/>
          </a:p>
        </p:txBody>
      </p:sp>
      <p:sp>
        <p:nvSpPr>
          <p:cNvPr id="14358" name="Text Box 1046"/>
          <p:cNvSpPr txBox="1">
            <a:spLocks noChangeArrowheads="1"/>
          </p:cNvSpPr>
          <p:nvPr/>
        </p:nvSpPr>
        <p:spPr bwMode="auto">
          <a:xfrm>
            <a:off x="1476375" y="3548063"/>
            <a:ext cx="5762625"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Like the a in “f</a:t>
            </a:r>
            <a:r>
              <a:rPr lang="en-US" sz="3200" u="sng">
                <a:solidFill>
                  <a:schemeClr val="bg1"/>
                </a:solidFill>
              </a:rPr>
              <a:t>a</a:t>
            </a:r>
            <a:r>
              <a:rPr lang="en-US" sz="3200">
                <a:solidFill>
                  <a:schemeClr val="bg1"/>
                </a:solidFill>
              </a:rPr>
              <a:t>ther,” but shorter</a:t>
            </a:r>
          </a:p>
        </p:txBody>
      </p:sp>
      <p:sp>
        <p:nvSpPr>
          <p:cNvPr id="14359" name="Line 1047"/>
          <p:cNvSpPr>
            <a:spLocks noChangeShapeType="1"/>
          </p:cNvSpPr>
          <p:nvPr/>
        </p:nvSpPr>
        <p:spPr bwMode="auto">
          <a:xfrm>
            <a:off x="2919413" y="3124200"/>
            <a:ext cx="152400" cy="533400"/>
          </a:xfrm>
          <a:prstGeom prst="line">
            <a:avLst/>
          </a:prstGeom>
          <a:noFill/>
          <a:ln w="25400">
            <a:solidFill>
              <a:schemeClr val="tx1"/>
            </a:solidFill>
            <a:round/>
            <a:headEnd/>
            <a:tailEnd type="triangle" w="med" len="med"/>
          </a:ln>
          <a:effectLst/>
        </p:spPr>
        <p:txBody>
          <a:bodyPr/>
          <a:lstStyle/>
          <a:p>
            <a:endParaRPr lang="en-US"/>
          </a:p>
        </p:txBody>
      </p:sp>
      <p:sp>
        <p:nvSpPr>
          <p:cNvPr id="14360" name="Text Box 1048"/>
          <p:cNvSpPr txBox="1">
            <a:spLocks noChangeArrowheads="1"/>
          </p:cNvSpPr>
          <p:nvPr/>
        </p:nvSpPr>
        <p:spPr bwMode="auto">
          <a:xfrm>
            <a:off x="2057400" y="4525963"/>
            <a:ext cx="990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más</a:t>
            </a:r>
          </a:p>
        </p:txBody>
      </p:sp>
      <p:sp>
        <p:nvSpPr>
          <p:cNvPr id="14361" name="Text Box 1049"/>
          <p:cNvSpPr txBox="1">
            <a:spLocks noChangeArrowheads="1"/>
          </p:cNvSpPr>
          <p:nvPr/>
        </p:nvSpPr>
        <p:spPr bwMode="auto">
          <a:xfrm>
            <a:off x="1066800" y="3962400"/>
            <a:ext cx="2209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Examples:</a:t>
            </a:r>
          </a:p>
        </p:txBody>
      </p:sp>
      <p:sp>
        <p:nvSpPr>
          <p:cNvPr id="14362" name="Text Box 1050"/>
          <p:cNvSpPr txBox="1">
            <a:spLocks noChangeArrowheads="1"/>
          </p:cNvSpPr>
          <p:nvPr/>
        </p:nvSpPr>
        <p:spPr bwMode="auto">
          <a:xfrm>
            <a:off x="2057400" y="50593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pasa</a:t>
            </a:r>
          </a:p>
        </p:txBody>
      </p:sp>
      <p:sp>
        <p:nvSpPr>
          <p:cNvPr id="14363" name="Text Box 1051"/>
          <p:cNvSpPr txBox="1">
            <a:spLocks noChangeArrowheads="1"/>
          </p:cNvSpPr>
          <p:nvPr/>
        </p:nvSpPr>
        <p:spPr bwMode="auto">
          <a:xfrm>
            <a:off x="3733800" y="45259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nada</a:t>
            </a:r>
          </a:p>
        </p:txBody>
      </p:sp>
      <p:sp>
        <p:nvSpPr>
          <p:cNvPr id="14364" name="Text Box 1052"/>
          <p:cNvSpPr txBox="1">
            <a:spLocks noChangeArrowheads="1"/>
          </p:cNvSpPr>
          <p:nvPr/>
        </p:nvSpPr>
        <p:spPr bwMode="auto">
          <a:xfrm>
            <a:off x="3733800" y="50593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mañana</a:t>
            </a:r>
          </a:p>
        </p:txBody>
      </p:sp>
      <p:sp>
        <p:nvSpPr>
          <p:cNvPr id="14365" name="Text Box 1053"/>
          <p:cNvSpPr txBox="1">
            <a:spLocks noChangeArrowheads="1"/>
          </p:cNvSpPr>
          <p:nvPr/>
        </p:nvSpPr>
        <p:spPr bwMode="auto">
          <a:xfrm>
            <a:off x="5715000" y="4525963"/>
            <a:ext cx="1066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casa</a:t>
            </a:r>
          </a:p>
        </p:txBody>
      </p:sp>
      <p:sp>
        <p:nvSpPr>
          <p:cNvPr id="14366" name="Text Box 1054"/>
          <p:cNvSpPr txBox="1">
            <a:spLocks noChangeArrowheads="1"/>
          </p:cNvSpPr>
          <p:nvPr/>
        </p:nvSpPr>
        <p:spPr bwMode="auto">
          <a:xfrm>
            <a:off x="5715000" y="5059363"/>
            <a:ext cx="2057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encantada</a:t>
            </a:r>
          </a:p>
        </p:txBody>
      </p:sp>
      <p:sp>
        <p:nvSpPr>
          <p:cNvPr id="14367" name="Text Box 1055"/>
          <p:cNvSpPr txBox="1">
            <a:spLocks noChangeArrowheads="1"/>
          </p:cNvSpPr>
          <p:nvPr/>
        </p:nvSpPr>
        <p:spPr bwMode="auto">
          <a:xfrm>
            <a:off x="533400" y="5791200"/>
            <a:ext cx="8305800" cy="549275"/>
          </a:xfrm>
          <a:prstGeom prst="rect">
            <a:avLst/>
          </a:prstGeom>
          <a:noFill/>
          <a:ln w="9525">
            <a:noFill/>
            <a:miter lim="800000"/>
            <a:headEnd/>
            <a:tailEnd/>
          </a:ln>
          <a:effectLst/>
        </p:spPr>
        <p:txBody>
          <a:bodyPr>
            <a:spAutoFit/>
          </a:bodyPr>
          <a:lstStyle/>
          <a:p>
            <a:pPr>
              <a:spcBef>
                <a:spcPct val="50000"/>
              </a:spcBef>
            </a:pPr>
            <a:r>
              <a:rPr lang="en-US" sz="3000">
                <a:solidFill>
                  <a:schemeClr val="bg1"/>
                </a:solidFill>
              </a:rPr>
              <a:t>Note: In this presentation, all vowels will be circled.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55"/>
                                        </p:tgtEl>
                                        <p:attrNameLst>
                                          <p:attrName>style.visibility</p:attrName>
                                        </p:attrNameLst>
                                      </p:cBhvr>
                                      <p:to>
                                        <p:strVal val="visible"/>
                                      </p:to>
                                    </p:set>
                                    <p:animEffect transition="in" filter="wipe(left)">
                                      <p:cBhvr>
                                        <p:cTn id="7" dur="200"/>
                                        <p:tgtEl>
                                          <p:spTgt spid="1435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56"/>
                                        </p:tgtEl>
                                        <p:attrNameLst>
                                          <p:attrName>style.visibility</p:attrName>
                                        </p:attrNameLst>
                                      </p:cBhvr>
                                      <p:to>
                                        <p:strVal val="visible"/>
                                      </p:to>
                                    </p:set>
                                    <p:animEffect transition="in" filter="dissolve">
                                      <p:cBhvr>
                                        <p:cTn id="12" dur="500"/>
                                        <p:tgtEl>
                                          <p:spTgt spid="143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357"/>
                                        </p:tgtEl>
                                        <p:attrNameLst>
                                          <p:attrName>style.visibility</p:attrName>
                                        </p:attrNameLst>
                                      </p:cBhvr>
                                      <p:to>
                                        <p:strVal val="visible"/>
                                      </p:to>
                                    </p:set>
                                    <p:animEffect transition="in" filter="wipe(up)">
                                      <p:cBhvr>
                                        <p:cTn id="17" dur="300"/>
                                        <p:tgtEl>
                                          <p:spTgt spid="14357"/>
                                        </p:tgtEl>
                                      </p:cBhvr>
                                    </p:animEffect>
                                  </p:childTnLst>
                                </p:cTn>
                              </p:par>
                            </p:childTnLst>
                          </p:cTn>
                        </p:par>
                        <p:par>
                          <p:cTn id="18" fill="hold">
                            <p:stCondLst>
                              <p:cond delay="300"/>
                            </p:stCondLst>
                            <p:childTnLst>
                              <p:par>
                                <p:cTn id="19" presetID="22" presetClass="entr" presetSubtype="1" fill="hold" grpId="0" nodeType="afterEffect">
                                  <p:stCondLst>
                                    <p:cond delay="0"/>
                                  </p:stCondLst>
                                  <p:childTnLst>
                                    <p:set>
                                      <p:cBhvr>
                                        <p:cTn id="20" dur="1" fill="hold">
                                          <p:stCondLst>
                                            <p:cond delay="0"/>
                                          </p:stCondLst>
                                        </p:cTn>
                                        <p:tgtEl>
                                          <p:spTgt spid="14359"/>
                                        </p:tgtEl>
                                        <p:attrNameLst>
                                          <p:attrName>style.visibility</p:attrName>
                                        </p:attrNameLst>
                                      </p:cBhvr>
                                      <p:to>
                                        <p:strVal val="visible"/>
                                      </p:to>
                                    </p:set>
                                    <p:animEffect transition="in" filter="wipe(up)">
                                      <p:cBhvr>
                                        <p:cTn id="21" dur="300"/>
                                        <p:tgtEl>
                                          <p:spTgt spid="14359"/>
                                        </p:tgtEl>
                                      </p:cBhvr>
                                    </p:animEffect>
                                  </p:childTnLst>
                                </p:cTn>
                              </p:par>
                            </p:childTnLst>
                          </p:cTn>
                        </p:par>
                        <p:par>
                          <p:cTn id="22" fill="hold">
                            <p:stCondLst>
                              <p:cond delay="600"/>
                            </p:stCondLst>
                            <p:childTnLst>
                              <p:par>
                                <p:cTn id="23" presetID="9" presetClass="entr" presetSubtype="0" fill="hold" grpId="0" nodeType="afterEffect">
                                  <p:stCondLst>
                                    <p:cond delay="0"/>
                                  </p:stCondLst>
                                  <p:childTnLst>
                                    <p:set>
                                      <p:cBhvr>
                                        <p:cTn id="24" dur="1" fill="hold">
                                          <p:stCondLst>
                                            <p:cond delay="0"/>
                                          </p:stCondLst>
                                        </p:cTn>
                                        <p:tgtEl>
                                          <p:spTgt spid="14358"/>
                                        </p:tgtEl>
                                        <p:attrNameLst>
                                          <p:attrName>style.visibility</p:attrName>
                                        </p:attrNameLst>
                                      </p:cBhvr>
                                      <p:to>
                                        <p:strVal val="visible"/>
                                      </p:to>
                                    </p:set>
                                    <p:animEffect transition="in" filter="dissolve">
                                      <p:cBhvr>
                                        <p:cTn id="25" dur="400"/>
                                        <p:tgtEl>
                                          <p:spTgt spid="14358"/>
                                        </p:tgtEl>
                                      </p:cBhvr>
                                    </p:animEffect>
                                  </p:childTnLst>
                                </p:cTn>
                              </p:par>
                            </p:childTnLst>
                          </p:cTn>
                        </p:par>
                        <p:par>
                          <p:cTn id="26" fill="hold">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14367"/>
                                        </p:tgtEl>
                                        <p:attrNameLst>
                                          <p:attrName>style.visibility</p:attrName>
                                        </p:attrNameLst>
                                      </p:cBhvr>
                                      <p:to>
                                        <p:strVal val="visible"/>
                                      </p:to>
                                    </p:set>
                                    <p:animEffect transition="in" filter="dissolve">
                                      <p:cBhvr>
                                        <p:cTn id="29" dur="400"/>
                                        <p:tgtEl>
                                          <p:spTgt spid="14367"/>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361"/>
                                        </p:tgtEl>
                                        <p:attrNameLst>
                                          <p:attrName>style.visibility</p:attrName>
                                        </p:attrNameLst>
                                      </p:cBhvr>
                                      <p:to>
                                        <p:strVal val="visible"/>
                                      </p:to>
                                    </p:set>
                                    <p:animEffect transition="in" filter="dissolve">
                                      <p:cBhvr>
                                        <p:cTn id="34" dur="400"/>
                                        <p:tgtEl>
                                          <p:spTgt spid="1436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360"/>
                                        </p:tgtEl>
                                        <p:attrNameLst>
                                          <p:attrName>style.visibility</p:attrName>
                                        </p:attrNameLst>
                                      </p:cBhvr>
                                      <p:to>
                                        <p:strVal val="visible"/>
                                      </p:to>
                                    </p:set>
                                    <p:animEffect transition="in" filter="fade">
                                      <p:cBhvr>
                                        <p:cTn id="39" dur="300"/>
                                        <p:tgtEl>
                                          <p:spTgt spid="1436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362"/>
                                        </p:tgtEl>
                                        <p:attrNameLst>
                                          <p:attrName>style.visibility</p:attrName>
                                        </p:attrNameLst>
                                      </p:cBhvr>
                                      <p:to>
                                        <p:strVal val="visible"/>
                                      </p:to>
                                    </p:set>
                                    <p:animEffect transition="in" filter="fade">
                                      <p:cBhvr>
                                        <p:cTn id="44" dur="300"/>
                                        <p:tgtEl>
                                          <p:spTgt spid="1436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363"/>
                                        </p:tgtEl>
                                        <p:attrNameLst>
                                          <p:attrName>style.visibility</p:attrName>
                                        </p:attrNameLst>
                                      </p:cBhvr>
                                      <p:to>
                                        <p:strVal val="visible"/>
                                      </p:to>
                                    </p:set>
                                    <p:animEffect transition="in" filter="fade">
                                      <p:cBhvr>
                                        <p:cTn id="49" dur="300"/>
                                        <p:tgtEl>
                                          <p:spTgt spid="1436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4364"/>
                                        </p:tgtEl>
                                        <p:attrNameLst>
                                          <p:attrName>style.visibility</p:attrName>
                                        </p:attrNameLst>
                                      </p:cBhvr>
                                      <p:to>
                                        <p:strVal val="visible"/>
                                      </p:to>
                                    </p:set>
                                    <p:animEffect transition="in" filter="fade">
                                      <p:cBhvr>
                                        <p:cTn id="54" dur="300"/>
                                        <p:tgtEl>
                                          <p:spTgt spid="1436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4365"/>
                                        </p:tgtEl>
                                        <p:attrNameLst>
                                          <p:attrName>style.visibility</p:attrName>
                                        </p:attrNameLst>
                                      </p:cBhvr>
                                      <p:to>
                                        <p:strVal val="visible"/>
                                      </p:to>
                                    </p:set>
                                    <p:animEffect transition="in" filter="fade">
                                      <p:cBhvr>
                                        <p:cTn id="59" dur="300"/>
                                        <p:tgtEl>
                                          <p:spTgt spid="1436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4366"/>
                                        </p:tgtEl>
                                        <p:attrNameLst>
                                          <p:attrName>style.visibility</p:attrName>
                                        </p:attrNameLst>
                                      </p:cBhvr>
                                      <p:to>
                                        <p:strVal val="visible"/>
                                      </p:to>
                                    </p:set>
                                    <p:animEffect transition="in" filter="fade">
                                      <p:cBhvr>
                                        <p:cTn id="64" dur="300"/>
                                        <p:tgtEl>
                                          <p:spTgt spid="14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5" grpId="0" animBg="1"/>
      <p:bldP spid="14356" grpId="0" animBg="1"/>
      <p:bldP spid="14357" grpId="0" animBg="1"/>
      <p:bldP spid="14358" grpId="0"/>
      <p:bldP spid="14359" grpId="0" animBg="1"/>
      <p:bldP spid="14360" grpId="0"/>
      <p:bldP spid="14361" grpId="0"/>
      <p:bldP spid="14362" grpId="0"/>
      <p:bldP spid="14363" grpId="0"/>
      <p:bldP spid="14364" grpId="0"/>
      <p:bldP spid="14365" grpId="0"/>
      <p:bldP spid="14366" grpId="0"/>
      <p:bldP spid="1436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descr="Woven mat"/>
          <p:cNvSpPr>
            <a:spLocks noChangeArrowheads="1" noChangeShapeType="1" noTextEdit="1"/>
          </p:cNvSpPr>
          <p:nvPr/>
        </p:nvSpPr>
        <p:spPr bwMode="auto">
          <a:xfrm>
            <a:off x="2209800" y="485775"/>
            <a:ext cx="1471613"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b</a:t>
            </a:r>
          </a:p>
        </p:txBody>
      </p:sp>
      <p:sp>
        <p:nvSpPr>
          <p:cNvPr id="32771" name="WordArt 3" descr="Stationery"/>
          <p:cNvSpPr>
            <a:spLocks noChangeArrowheads="1" noChangeShapeType="1" noTextEdit="1"/>
          </p:cNvSpPr>
          <p:nvPr/>
        </p:nvSpPr>
        <p:spPr bwMode="auto">
          <a:xfrm>
            <a:off x="4700588" y="457200"/>
            <a:ext cx="2309812"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(be)</a:t>
            </a:r>
          </a:p>
        </p:txBody>
      </p:sp>
      <p:sp>
        <p:nvSpPr>
          <p:cNvPr id="32772" name="Text Box 4"/>
          <p:cNvSpPr txBox="1">
            <a:spLocks noChangeArrowheads="1"/>
          </p:cNvSpPr>
          <p:nvPr/>
        </p:nvSpPr>
        <p:spPr bwMode="auto">
          <a:xfrm>
            <a:off x="1447800" y="2351088"/>
            <a:ext cx="6753225" cy="1077912"/>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The Spanish “b” is similar to the English “b” when initial (pronounced at the beginning of a phrase) or after the letters m or n.</a:t>
            </a:r>
          </a:p>
        </p:txBody>
      </p:sp>
      <p:sp>
        <p:nvSpPr>
          <p:cNvPr id="32773" name="Text Box 5"/>
          <p:cNvSpPr txBox="1">
            <a:spLocks noChangeArrowheads="1"/>
          </p:cNvSpPr>
          <p:nvPr/>
        </p:nvSpPr>
        <p:spPr bwMode="auto">
          <a:xfrm>
            <a:off x="1447800" y="3352800"/>
            <a:ext cx="2971800" cy="579438"/>
          </a:xfrm>
          <a:prstGeom prst="rect">
            <a:avLst/>
          </a:prstGeom>
          <a:noFill/>
          <a:ln w="9525">
            <a:noFill/>
            <a:miter lim="800000"/>
            <a:headEnd/>
            <a:tailEnd/>
          </a:ln>
          <a:effectLst/>
        </p:spPr>
        <p:txBody>
          <a:bodyPr>
            <a:spAutoFit/>
          </a:bodyPr>
          <a:lstStyle/>
          <a:p>
            <a:pPr>
              <a:spcBef>
                <a:spcPct val="50000"/>
              </a:spcBef>
            </a:pPr>
            <a:r>
              <a:rPr lang="en-US" sz="3200" u="sng">
                <a:solidFill>
                  <a:schemeClr val="bg1"/>
                </a:solidFill>
              </a:rPr>
              <a:t>B</a:t>
            </a:r>
            <a:r>
              <a:rPr lang="en-US" sz="3200">
                <a:solidFill>
                  <a:schemeClr val="bg1"/>
                </a:solidFill>
              </a:rPr>
              <a:t>ailo con María.</a:t>
            </a:r>
          </a:p>
        </p:txBody>
      </p:sp>
      <p:sp>
        <p:nvSpPr>
          <p:cNvPr id="32774" name="Text Box 6"/>
          <p:cNvSpPr txBox="1">
            <a:spLocks noChangeArrowheads="1"/>
          </p:cNvSpPr>
          <p:nvPr/>
        </p:nvSpPr>
        <p:spPr bwMode="auto">
          <a:xfrm>
            <a:off x="4800600" y="3352800"/>
            <a:ext cx="3505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el medio am</a:t>
            </a:r>
            <a:r>
              <a:rPr lang="en-US" sz="3200" u="sng">
                <a:solidFill>
                  <a:schemeClr val="bg1"/>
                </a:solidFill>
              </a:rPr>
              <a:t>b</a:t>
            </a:r>
            <a:r>
              <a:rPr lang="en-US" sz="3200">
                <a:solidFill>
                  <a:schemeClr val="bg1"/>
                </a:solidFill>
              </a:rPr>
              <a:t>iente</a:t>
            </a:r>
          </a:p>
        </p:txBody>
      </p:sp>
      <p:sp>
        <p:nvSpPr>
          <p:cNvPr id="32775" name="Text Box 7"/>
          <p:cNvSpPr txBox="1">
            <a:spLocks noChangeArrowheads="1"/>
          </p:cNvSpPr>
          <p:nvPr/>
        </p:nvSpPr>
        <p:spPr bwMode="auto">
          <a:xfrm>
            <a:off x="1447800" y="4495800"/>
            <a:ext cx="6753225" cy="749300"/>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It is softer, allowing some air to pass through the lips, when intervocalic (located between vowels).</a:t>
            </a:r>
          </a:p>
        </p:txBody>
      </p:sp>
      <p:sp>
        <p:nvSpPr>
          <p:cNvPr id="32776" name="Text Box 8"/>
          <p:cNvSpPr txBox="1">
            <a:spLocks noChangeArrowheads="1"/>
          </p:cNvSpPr>
          <p:nvPr/>
        </p:nvSpPr>
        <p:spPr bwMode="auto">
          <a:xfrm>
            <a:off x="1981200" y="5211763"/>
            <a:ext cx="2590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No </a:t>
            </a:r>
            <a:r>
              <a:rPr lang="en-US" sz="3200" u="sng">
                <a:solidFill>
                  <a:schemeClr val="bg1"/>
                </a:solidFill>
              </a:rPr>
              <a:t>b</a:t>
            </a:r>
            <a:r>
              <a:rPr lang="en-US" sz="3200">
                <a:solidFill>
                  <a:schemeClr val="bg1"/>
                </a:solidFill>
              </a:rPr>
              <a:t>ailo </a:t>
            </a:r>
            <a:r>
              <a:rPr lang="en-US" sz="3200" u="sng">
                <a:solidFill>
                  <a:schemeClr val="bg1"/>
                </a:solidFill>
              </a:rPr>
              <a:t>b</a:t>
            </a:r>
            <a:r>
              <a:rPr lang="en-US" sz="3200">
                <a:solidFill>
                  <a:schemeClr val="bg1"/>
                </a:solidFill>
              </a:rPr>
              <a:t>ien.</a:t>
            </a:r>
          </a:p>
        </p:txBody>
      </p:sp>
      <p:sp>
        <p:nvSpPr>
          <p:cNvPr id="32777" name="Text Box 9"/>
          <p:cNvSpPr txBox="1">
            <a:spLocks noChangeArrowheads="1"/>
          </p:cNvSpPr>
          <p:nvPr/>
        </p:nvSpPr>
        <p:spPr bwMode="auto">
          <a:xfrm>
            <a:off x="5638800" y="52117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I</a:t>
            </a:r>
            <a:r>
              <a:rPr lang="en-US" sz="3200" u="sng">
                <a:solidFill>
                  <a:schemeClr val="bg1"/>
                </a:solidFill>
              </a:rPr>
              <a:t>b</a:t>
            </a:r>
            <a:r>
              <a:rPr lang="en-US" sz="3200">
                <a:solidFill>
                  <a:schemeClr val="bg1"/>
                </a:solidFill>
              </a:rPr>
              <a:t>eria.</a:t>
            </a:r>
          </a:p>
        </p:txBody>
      </p:sp>
      <p:sp>
        <p:nvSpPr>
          <p:cNvPr id="32779" name="Text Box 11"/>
          <p:cNvSpPr txBox="1">
            <a:spLocks noChangeArrowheads="1"/>
          </p:cNvSpPr>
          <p:nvPr/>
        </p:nvSpPr>
        <p:spPr bwMode="auto">
          <a:xfrm>
            <a:off x="1447800" y="3916363"/>
            <a:ext cx="2971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Hablan </a:t>
            </a:r>
            <a:r>
              <a:rPr lang="en-US" sz="3200" u="sng">
                <a:solidFill>
                  <a:schemeClr val="bg1"/>
                </a:solidFill>
              </a:rPr>
              <a:t>b</a:t>
            </a:r>
            <a:r>
              <a:rPr lang="en-US" sz="3200">
                <a:solidFill>
                  <a:schemeClr val="bg1"/>
                </a:solidFill>
              </a:rPr>
              <a:t>ien.</a:t>
            </a:r>
          </a:p>
        </p:txBody>
      </p:sp>
      <p:sp>
        <p:nvSpPr>
          <p:cNvPr id="32780" name="Text Box 12"/>
          <p:cNvSpPr txBox="1">
            <a:spLocks noChangeArrowheads="1"/>
          </p:cNvSpPr>
          <p:nvPr/>
        </p:nvSpPr>
        <p:spPr bwMode="auto">
          <a:xfrm>
            <a:off x="4800600" y="3916363"/>
            <a:ext cx="30480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 </a:t>
            </a:r>
            <a:r>
              <a:rPr lang="en-US" sz="3200" u="sng">
                <a:solidFill>
                  <a:schemeClr val="bg1"/>
                </a:solidFill>
              </a:rPr>
              <a:t>b</a:t>
            </a:r>
            <a:r>
              <a:rPr lang="en-US" sz="3200">
                <a:solidFill>
                  <a:schemeClr val="bg1"/>
                </a:solidFill>
              </a:rPr>
              <a:t>anco</a:t>
            </a:r>
          </a:p>
        </p:txBody>
      </p:sp>
      <p:sp>
        <p:nvSpPr>
          <p:cNvPr id="32781" name="Text Box 13"/>
          <p:cNvSpPr txBox="1">
            <a:spLocks noChangeArrowheads="1"/>
          </p:cNvSpPr>
          <p:nvPr/>
        </p:nvSpPr>
        <p:spPr bwMode="auto">
          <a:xfrm>
            <a:off x="2819400" y="5727700"/>
            <a:ext cx="3657600" cy="476250"/>
          </a:xfrm>
          <a:prstGeom prst="rect">
            <a:avLst/>
          </a:prstGeom>
          <a:noFill/>
          <a:ln w="9525">
            <a:noFill/>
            <a:miter lim="800000"/>
            <a:headEnd/>
            <a:tailEnd/>
          </a:ln>
          <a:effectLst/>
        </p:spPr>
        <p:txBody>
          <a:bodyPr>
            <a:spAutoFit/>
          </a:bodyPr>
          <a:lstStyle/>
          <a:p>
            <a:pPr algn="ctr">
              <a:lnSpc>
                <a:spcPct val="90000"/>
              </a:lnSpc>
              <a:spcBef>
                <a:spcPct val="50000"/>
              </a:spcBef>
            </a:pPr>
            <a:r>
              <a:rPr lang="en-US" sz="2800">
                <a:solidFill>
                  <a:schemeClr val="bg1"/>
                </a:solidFill>
              </a:rPr>
              <a:t>Note:  Also see “v.”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wipe(left)">
                                      <p:cBhvr>
                                        <p:cTn id="7" dur="200"/>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771"/>
                                        </p:tgtEl>
                                        <p:attrNameLst>
                                          <p:attrName>style.visibility</p:attrName>
                                        </p:attrNameLst>
                                      </p:cBhvr>
                                      <p:to>
                                        <p:strVal val="visible"/>
                                      </p:to>
                                    </p:set>
                                    <p:animEffect transition="in" filter="dissolve">
                                      <p:cBhvr>
                                        <p:cTn id="12" dur="500"/>
                                        <p:tgtEl>
                                          <p:spTgt spid="3277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2"/>
                                        </p:tgtEl>
                                        <p:attrNameLst>
                                          <p:attrName>style.visibility</p:attrName>
                                        </p:attrNameLst>
                                      </p:cBhvr>
                                      <p:to>
                                        <p:strVal val="visible"/>
                                      </p:to>
                                    </p:set>
                                    <p:animEffect transition="in" filter="dissolve">
                                      <p:cBhvr>
                                        <p:cTn id="17" dur="400"/>
                                        <p:tgtEl>
                                          <p:spTgt spid="3277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773"/>
                                        </p:tgtEl>
                                        <p:attrNameLst>
                                          <p:attrName>style.visibility</p:attrName>
                                        </p:attrNameLst>
                                      </p:cBhvr>
                                      <p:to>
                                        <p:strVal val="visible"/>
                                      </p:to>
                                    </p:set>
                                    <p:animEffect transition="in" filter="fade">
                                      <p:cBhvr>
                                        <p:cTn id="22" dur="300"/>
                                        <p:tgtEl>
                                          <p:spTgt spid="3277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774"/>
                                        </p:tgtEl>
                                        <p:attrNameLst>
                                          <p:attrName>style.visibility</p:attrName>
                                        </p:attrNameLst>
                                      </p:cBhvr>
                                      <p:to>
                                        <p:strVal val="visible"/>
                                      </p:to>
                                    </p:set>
                                    <p:animEffect transition="in" filter="fade">
                                      <p:cBhvr>
                                        <p:cTn id="27" dur="300"/>
                                        <p:tgtEl>
                                          <p:spTgt spid="3277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779"/>
                                        </p:tgtEl>
                                        <p:attrNameLst>
                                          <p:attrName>style.visibility</p:attrName>
                                        </p:attrNameLst>
                                      </p:cBhvr>
                                      <p:to>
                                        <p:strVal val="visible"/>
                                      </p:to>
                                    </p:set>
                                    <p:animEffect transition="in" filter="fade">
                                      <p:cBhvr>
                                        <p:cTn id="32" dur="300"/>
                                        <p:tgtEl>
                                          <p:spTgt spid="3277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780"/>
                                        </p:tgtEl>
                                        <p:attrNameLst>
                                          <p:attrName>style.visibility</p:attrName>
                                        </p:attrNameLst>
                                      </p:cBhvr>
                                      <p:to>
                                        <p:strVal val="visible"/>
                                      </p:to>
                                    </p:set>
                                    <p:animEffect transition="in" filter="fade">
                                      <p:cBhvr>
                                        <p:cTn id="37" dur="300"/>
                                        <p:tgtEl>
                                          <p:spTgt spid="3278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2775"/>
                                        </p:tgtEl>
                                        <p:attrNameLst>
                                          <p:attrName>style.visibility</p:attrName>
                                        </p:attrNameLst>
                                      </p:cBhvr>
                                      <p:to>
                                        <p:strVal val="visible"/>
                                      </p:to>
                                    </p:set>
                                    <p:animEffect transition="in" filter="dissolve">
                                      <p:cBhvr>
                                        <p:cTn id="42" dur="400"/>
                                        <p:tgtEl>
                                          <p:spTgt spid="3277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2776"/>
                                        </p:tgtEl>
                                        <p:attrNameLst>
                                          <p:attrName>style.visibility</p:attrName>
                                        </p:attrNameLst>
                                      </p:cBhvr>
                                      <p:to>
                                        <p:strVal val="visible"/>
                                      </p:to>
                                    </p:set>
                                    <p:animEffect transition="in" filter="fade">
                                      <p:cBhvr>
                                        <p:cTn id="47" dur="300"/>
                                        <p:tgtEl>
                                          <p:spTgt spid="3277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777"/>
                                        </p:tgtEl>
                                        <p:attrNameLst>
                                          <p:attrName>style.visibility</p:attrName>
                                        </p:attrNameLst>
                                      </p:cBhvr>
                                      <p:to>
                                        <p:strVal val="visible"/>
                                      </p:to>
                                    </p:set>
                                    <p:animEffect transition="in" filter="fade">
                                      <p:cBhvr>
                                        <p:cTn id="52" dur="300"/>
                                        <p:tgtEl>
                                          <p:spTgt spid="3277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2781"/>
                                        </p:tgtEl>
                                        <p:attrNameLst>
                                          <p:attrName>style.visibility</p:attrName>
                                        </p:attrNameLst>
                                      </p:cBhvr>
                                      <p:to>
                                        <p:strVal val="visible"/>
                                      </p:to>
                                    </p:set>
                                    <p:animEffect transition="in" filter="dissolve">
                                      <p:cBhvr>
                                        <p:cTn id="57" dur="400"/>
                                        <p:tgtEl>
                                          <p:spTgt spid="32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animBg="1"/>
      <p:bldP spid="32772" grpId="0"/>
      <p:bldP spid="32773" grpId="0"/>
      <p:bldP spid="32774" grpId="0"/>
      <p:bldP spid="32775" grpId="0"/>
      <p:bldP spid="32776" grpId="0"/>
      <p:bldP spid="32777" grpId="0"/>
      <p:bldP spid="32779" grpId="0"/>
      <p:bldP spid="32780" grpId="0"/>
      <p:bldP spid="3278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WordArt 2" descr="Woven mat"/>
          <p:cNvSpPr>
            <a:spLocks noChangeArrowheads="1" noChangeShapeType="1" noTextEdit="1"/>
          </p:cNvSpPr>
          <p:nvPr/>
        </p:nvSpPr>
        <p:spPr bwMode="auto">
          <a:xfrm>
            <a:off x="2209800" y="1095375"/>
            <a:ext cx="1471613"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c</a:t>
            </a:r>
          </a:p>
        </p:txBody>
      </p:sp>
      <p:sp>
        <p:nvSpPr>
          <p:cNvPr id="33795" name="WordArt 3" descr="Stationery"/>
          <p:cNvSpPr>
            <a:spLocks noChangeArrowheads="1" noChangeShapeType="1" noTextEdit="1"/>
          </p:cNvSpPr>
          <p:nvPr/>
        </p:nvSpPr>
        <p:spPr bwMode="auto">
          <a:xfrm>
            <a:off x="4700588" y="1066800"/>
            <a:ext cx="2386012"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(ce)</a:t>
            </a:r>
          </a:p>
        </p:txBody>
      </p:sp>
      <p:sp>
        <p:nvSpPr>
          <p:cNvPr id="33796" name="Text Box 4"/>
          <p:cNvSpPr txBox="1">
            <a:spLocks noChangeArrowheads="1"/>
          </p:cNvSpPr>
          <p:nvPr/>
        </p:nvSpPr>
        <p:spPr bwMode="auto">
          <a:xfrm>
            <a:off x="1447800" y="3341688"/>
            <a:ext cx="6753225"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Spanish “c” has two distinct sounds, depending on its environment, that is, how it is located with respect to certain vowels.  The next slide provides more details.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2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dissolve">
                                      <p:cBhvr>
                                        <p:cTn id="12" dur="500"/>
                                        <p:tgtEl>
                                          <p:spTgt spid="3379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796"/>
                                        </p:tgtEl>
                                        <p:attrNameLst>
                                          <p:attrName>style.visibility</p:attrName>
                                        </p:attrNameLst>
                                      </p:cBhvr>
                                      <p:to>
                                        <p:strVal val="visible"/>
                                      </p:to>
                                    </p:set>
                                    <p:animEffect transition="in" filter="dissolve">
                                      <p:cBhvr>
                                        <p:cTn id="17" dur="4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nimBg="1"/>
      <p:bldP spid="33795" grpId="0" animBg="1"/>
      <p:bldP spid="3379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WordArt 2" descr="Woven mat"/>
          <p:cNvSpPr>
            <a:spLocks noChangeArrowheads="1" noChangeShapeType="1" noTextEdit="1"/>
          </p:cNvSpPr>
          <p:nvPr/>
        </p:nvSpPr>
        <p:spPr bwMode="auto">
          <a:xfrm>
            <a:off x="676275" y="952500"/>
            <a:ext cx="2133600" cy="990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2800" kern="10">
                <a:ln w="9525">
                  <a:round/>
                  <a:headEnd/>
                  <a:tailEnd/>
                </a:ln>
                <a:blipFill dpi="0" rotWithShape="0">
                  <a:blip r:embed="rId2"/>
                  <a:srcRect/>
                  <a:tile tx="0" ty="0" sx="100000" sy="100000" flip="none" algn="tl"/>
                </a:blipFill>
                <a:latin typeface="Arial Black"/>
              </a:rPr>
              <a:t>c = k</a:t>
            </a:r>
          </a:p>
        </p:txBody>
      </p:sp>
      <p:sp>
        <p:nvSpPr>
          <p:cNvPr id="63491" name="WordArt 3" descr="Stationery"/>
          <p:cNvSpPr>
            <a:spLocks noChangeArrowheads="1" noChangeShapeType="1" noTextEdit="1"/>
          </p:cNvSpPr>
          <p:nvPr/>
        </p:nvSpPr>
        <p:spPr bwMode="auto">
          <a:xfrm>
            <a:off x="3505200" y="495300"/>
            <a:ext cx="1676400" cy="457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casa</a:t>
            </a:r>
          </a:p>
        </p:txBody>
      </p:sp>
      <p:sp>
        <p:nvSpPr>
          <p:cNvPr id="63492" name="WordArt 4" descr="Woven mat"/>
          <p:cNvSpPr>
            <a:spLocks noChangeArrowheads="1" noChangeShapeType="1" noTextEdit="1"/>
          </p:cNvSpPr>
          <p:nvPr/>
        </p:nvSpPr>
        <p:spPr bwMode="auto">
          <a:xfrm>
            <a:off x="752475" y="4422775"/>
            <a:ext cx="2057400" cy="838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2800" kern="10">
                <a:ln w="9525">
                  <a:round/>
                  <a:headEnd/>
                  <a:tailEnd/>
                </a:ln>
                <a:blipFill dpi="0" rotWithShape="0">
                  <a:blip r:embed="rId2"/>
                  <a:srcRect/>
                  <a:tile tx="0" ty="0" sx="100000" sy="100000" flip="none" algn="tl"/>
                </a:blipFill>
                <a:latin typeface="Arial Black"/>
              </a:rPr>
              <a:t>c = s</a:t>
            </a:r>
          </a:p>
        </p:txBody>
      </p:sp>
      <p:sp>
        <p:nvSpPr>
          <p:cNvPr id="63493" name="WordArt 5" descr="Stationery"/>
          <p:cNvSpPr>
            <a:spLocks noChangeArrowheads="1" noChangeShapeType="1" noTextEdit="1"/>
          </p:cNvSpPr>
          <p:nvPr/>
        </p:nvSpPr>
        <p:spPr bwMode="auto">
          <a:xfrm>
            <a:off x="3505200" y="1304925"/>
            <a:ext cx="1971675" cy="63817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copa</a:t>
            </a:r>
          </a:p>
        </p:txBody>
      </p:sp>
      <p:sp>
        <p:nvSpPr>
          <p:cNvPr id="63494" name="WordArt 6" descr="Stationery"/>
          <p:cNvSpPr>
            <a:spLocks noChangeArrowheads="1" noChangeShapeType="1" noTextEdit="1"/>
          </p:cNvSpPr>
          <p:nvPr/>
        </p:nvSpPr>
        <p:spPr bwMode="auto">
          <a:xfrm>
            <a:off x="3505200" y="2171700"/>
            <a:ext cx="1895475" cy="457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cura</a:t>
            </a:r>
          </a:p>
        </p:txBody>
      </p:sp>
      <p:sp>
        <p:nvSpPr>
          <p:cNvPr id="63495" name="Line 7"/>
          <p:cNvSpPr>
            <a:spLocks noChangeShapeType="1"/>
          </p:cNvSpPr>
          <p:nvPr/>
        </p:nvSpPr>
        <p:spPr bwMode="auto">
          <a:xfrm>
            <a:off x="3898900" y="1042988"/>
            <a:ext cx="447675" cy="0"/>
          </a:xfrm>
          <a:prstGeom prst="line">
            <a:avLst/>
          </a:prstGeom>
          <a:noFill/>
          <a:ln w="34925">
            <a:solidFill>
              <a:schemeClr val="tx1"/>
            </a:solidFill>
            <a:round/>
            <a:headEnd/>
            <a:tailEnd/>
          </a:ln>
          <a:effectLst/>
        </p:spPr>
        <p:txBody>
          <a:bodyPr/>
          <a:lstStyle/>
          <a:p>
            <a:endParaRPr lang="en-US"/>
          </a:p>
        </p:txBody>
      </p:sp>
      <p:sp>
        <p:nvSpPr>
          <p:cNvPr id="63496" name="Line 8"/>
          <p:cNvSpPr>
            <a:spLocks noChangeShapeType="1"/>
          </p:cNvSpPr>
          <p:nvPr/>
        </p:nvSpPr>
        <p:spPr bwMode="auto">
          <a:xfrm>
            <a:off x="3971925" y="1828800"/>
            <a:ext cx="419100" cy="0"/>
          </a:xfrm>
          <a:prstGeom prst="line">
            <a:avLst/>
          </a:prstGeom>
          <a:noFill/>
          <a:ln w="34925">
            <a:solidFill>
              <a:schemeClr val="tx1"/>
            </a:solidFill>
            <a:round/>
            <a:headEnd/>
            <a:tailEnd/>
          </a:ln>
          <a:effectLst/>
        </p:spPr>
        <p:txBody>
          <a:bodyPr/>
          <a:lstStyle/>
          <a:p>
            <a:endParaRPr lang="en-US"/>
          </a:p>
        </p:txBody>
      </p:sp>
      <p:sp>
        <p:nvSpPr>
          <p:cNvPr id="63497" name="Line 9"/>
          <p:cNvSpPr>
            <a:spLocks noChangeShapeType="1"/>
          </p:cNvSpPr>
          <p:nvPr/>
        </p:nvSpPr>
        <p:spPr bwMode="auto">
          <a:xfrm>
            <a:off x="3986213" y="2705100"/>
            <a:ext cx="447675" cy="0"/>
          </a:xfrm>
          <a:prstGeom prst="line">
            <a:avLst/>
          </a:prstGeom>
          <a:noFill/>
          <a:ln w="34925">
            <a:solidFill>
              <a:schemeClr val="tx1"/>
            </a:solidFill>
            <a:round/>
            <a:headEnd/>
            <a:tailEnd/>
          </a:ln>
          <a:effectLst/>
        </p:spPr>
        <p:txBody>
          <a:bodyPr/>
          <a:lstStyle/>
          <a:p>
            <a:endParaRPr lang="en-US"/>
          </a:p>
        </p:txBody>
      </p:sp>
      <p:sp>
        <p:nvSpPr>
          <p:cNvPr id="63498" name="WordArt 10" descr="Stationery"/>
          <p:cNvSpPr>
            <a:spLocks noChangeArrowheads="1" noChangeShapeType="1" noTextEdit="1"/>
          </p:cNvSpPr>
          <p:nvPr/>
        </p:nvSpPr>
        <p:spPr bwMode="auto">
          <a:xfrm>
            <a:off x="3505200" y="4156075"/>
            <a:ext cx="1752600" cy="4191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cero</a:t>
            </a:r>
          </a:p>
        </p:txBody>
      </p:sp>
      <p:sp>
        <p:nvSpPr>
          <p:cNvPr id="63499" name="WordArt 11" descr="Stationery"/>
          <p:cNvSpPr>
            <a:spLocks noChangeArrowheads="1" noChangeShapeType="1" noTextEdit="1"/>
          </p:cNvSpPr>
          <p:nvPr/>
        </p:nvSpPr>
        <p:spPr bwMode="auto">
          <a:xfrm>
            <a:off x="3505200" y="4841875"/>
            <a:ext cx="2057400" cy="6477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circo</a:t>
            </a:r>
          </a:p>
        </p:txBody>
      </p:sp>
      <p:sp>
        <p:nvSpPr>
          <p:cNvPr id="63500" name="Line 12"/>
          <p:cNvSpPr>
            <a:spLocks noChangeShapeType="1"/>
          </p:cNvSpPr>
          <p:nvPr/>
        </p:nvSpPr>
        <p:spPr bwMode="auto">
          <a:xfrm>
            <a:off x="3978275" y="4689475"/>
            <a:ext cx="428625" cy="1588"/>
          </a:xfrm>
          <a:prstGeom prst="line">
            <a:avLst/>
          </a:prstGeom>
          <a:noFill/>
          <a:ln w="34925">
            <a:solidFill>
              <a:schemeClr val="tx1"/>
            </a:solidFill>
            <a:round/>
            <a:headEnd/>
            <a:tailEnd/>
          </a:ln>
          <a:effectLst/>
        </p:spPr>
        <p:txBody>
          <a:bodyPr/>
          <a:lstStyle/>
          <a:p>
            <a:endParaRPr lang="en-US"/>
          </a:p>
        </p:txBody>
      </p:sp>
      <p:sp>
        <p:nvSpPr>
          <p:cNvPr id="63501" name="Line 13"/>
          <p:cNvSpPr>
            <a:spLocks noChangeShapeType="1"/>
          </p:cNvSpPr>
          <p:nvPr/>
        </p:nvSpPr>
        <p:spPr bwMode="auto">
          <a:xfrm>
            <a:off x="3902075" y="5584825"/>
            <a:ext cx="400050" cy="1588"/>
          </a:xfrm>
          <a:prstGeom prst="line">
            <a:avLst/>
          </a:prstGeom>
          <a:noFill/>
          <a:ln w="34925">
            <a:solidFill>
              <a:schemeClr val="tx1"/>
            </a:solidFill>
            <a:round/>
            <a:headEnd/>
            <a:tailEnd/>
          </a:ln>
          <a:effectLst/>
        </p:spPr>
        <p:txBody>
          <a:bodyPr/>
          <a:lstStyle/>
          <a:p>
            <a:endParaRPr lang="en-US"/>
          </a:p>
        </p:txBody>
      </p:sp>
      <p:sp>
        <p:nvSpPr>
          <p:cNvPr id="63502" name="AutoShape 14"/>
          <p:cNvSpPr>
            <a:spLocks/>
          </p:cNvSpPr>
          <p:nvPr/>
        </p:nvSpPr>
        <p:spPr bwMode="auto">
          <a:xfrm>
            <a:off x="2971800" y="381000"/>
            <a:ext cx="609600" cy="2362200"/>
          </a:xfrm>
          <a:prstGeom prst="leftBrace">
            <a:avLst>
              <a:gd name="adj1" fmla="val 32292"/>
              <a:gd name="adj2" fmla="val 50000"/>
            </a:avLst>
          </a:prstGeom>
          <a:noFill/>
          <a:ln w="19050">
            <a:solidFill>
              <a:schemeClr val="tx1"/>
            </a:solidFill>
            <a:round/>
            <a:headEnd/>
            <a:tailEnd/>
          </a:ln>
          <a:effectLst/>
        </p:spPr>
        <p:txBody>
          <a:bodyPr wrap="none" anchor="ctr"/>
          <a:lstStyle/>
          <a:p>
            <a:endParaRPr lang="en-US"/>
          </a:p>
        </p:txBody>
      </p:sp>
      <p:sp>
        <p:nvSpPr>
          <p:cNvPr id="63503" name="AutoShape 15"/>
          <p:cNvSpPr>
            <a:spLocks/>
          </p:cNvSpPr>
          <p:nvPr/>
        </p:nvSpPr>
        <p:spPr bwMode="auto">
          <a:xfrm>
            <a:off x="3060700" y="4041775"/>
            <a:ext cx="533400" cy="1676400"/>
          </a:xfrm>
          <a:prstGeom prst="leftBrace">
            <a:avLst>
              <a:gd name="adj1" fmla="val 26190"/>
              <a:gd name="adj2" fmla="val 50000"/>
            </a:avLst>
          </a:prstGeom>
          <a:noFill/>
          <a:ln w="19050">
            <a:solidFill>
              <a:schemeClr val="tx1"/>
            </a:solidFill>
            <a:round/>
            <a:headEnd/>
            <a:tailEnd/>
          </a:ln>
          <a:effectLst/>
        </p:spPr>
        <p:txBody>
          <a:bodyPr wrap="none" anchor="ctr"/>
          <a:lstStyle/>
          <a:p>
            <a:endParaRPr lang="en-US"/>
          </a:p>
        </p:txBody>
      </p:sp>
      <p:sp>
        <p:nvSpPr>
          <p:cNvPr id="63504" name="WordArt 16" descr="Stationery"/>
          <p:cNvSpPr>
            <a:spLocks noChangeArrowheads="1" noChangeShapeType="1" noTextEdit="1"/>
          </p:cNvSpPr>
          <p:nvPr/>
        </p:nvSpPr>
        <p:spPr bwMode="auto">
          <a:xfrm>
            <a:off x="5943600" y="4841875"/>
            <a:ext cx="2247900" cy="685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"thirco"</a:t>
            </a:r>
          </a:p>
        </p:txBody>
      </p:sp>
      <p:sp>
        <p:nvSpPr>
          <p:cNvPr id="63505" name="WordArt 17" descr="Stationery"/>
          <p:cNvSpPr>
            <a:spLocks noChangeArrowheads="1" noChangeShapeType="1" noTextEdit="1"/>
          </p:cNvSpPr>
          <p:nvPr/>
        </p:nvSpPr>
        <p:spPr bwMode="auto">
          <a:xfrm>
            <a:off x="5943600" y="3965575"/>
            <a:ext cx="2152650" cy="6667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"thero"</a:t>
            </a:r>
          </a:p>
        </p:txBody>
      </p:sp>
      <p:sp>
        <p:nvSpPr>
          <p:cNvPr id="63506" name="Text Box 18"/>
          <p:cNvSpPr txBox="1">
            <a:spLocks noChangeArrowheads="1"/>
          </p:cNvSpPr>
          <p:nvPr/>
        </p:nvSpPr>
        <p:spPr bwMode="auto">
          <a:xfrm>
            <a:off x="4648200" y="2895600"/>
            <a:ext cx="4267200" cy="968375"/>
          </a:xfrm>
          <a:prstGeom prst="rect">
            <a:avLst/>
          </a:prstGeom>
          <a:noFill/>
          <a:ln w="9525">
            <a:noFill/>
            <a:miter lim="800000"/>
            <a:headEnd/>
            <a:tailEnd/>
          </a:ln>
          <a:effectLst/>
        </p:spPr>
        <p:txBody>
          <a:bodyPr>
            <a:spAutoFit/>
          </a:bodyPr>
          <a:lstStyle/>
          <a:p>
            <a:pPr>
              <a:lnSpc>
                <a:spcPct val="90000"/>
              </a:lnSpc>
              <a:spcBef>
                <a:spcPct val="50000"/>
              </a:spcBef>
            </a:pPr>
            <a:r>
              <a:rPr lang="en-US" sz="3200">
                <a:solidFill>
                  <a:schemeClr val="bg1"/>
                </a:solidFill>
              </a:rPr>
              <a:t>In Spain, the “c” before e or i is pronounced “th”</a:t>
            </a:r>
            <a:endParaRPr lang="en-US" sz="3200" noProof="1">
              <a:solidFill>
                <a:schemeClr val="bg1"/>
              </a:solidFill>
            </a:endParaRPr>
          </a:p>
        </p:txBody>
      </p:sp>
      <p:sp>
        <p:nvSpPr>
          <p:cNvPr id="63507" name="Text Box 19"/>
          <p:cNvSpPr txBox="1">
            <a:spLocks noChangeArrowheads="1"/>
          </p:cNvSpPr>
          <p:nvPr/>
        </p:nvSpPr>
        <p:spPr bwMode="auto">
          <a:xfrm>
            <a:off x="762000" y="1981200"/>
            <a:ext cx="2362200" cy="996950"/>
          </a:xfrm>
          <a:prstGeom prst="rect">
            <a:avLst/>
          </a:prstGeom>
          <a:noFill/>
          <a:ln w="9525">
            <a:noFill/>
            <a:miter lim="800000"/>
            <a:headEnd/>
            <a:tailEnd/>
          </a:ln>
          <a:effectLst/>
        </p:spPr>
        <p:txBody>
          <a:bodyPr>
            <a:spAutoFit/>
          </a:bodyPr>
          <a:lstStyle/>
          <a:p>
            <a:pPr>
              <a:lnSpc>
                <a:spcPct val="90000"/>
              </a:lnSpc>
              <a:spcBef>
                <a:spcPct val="50000"/>
              </a:spcBef>
            </a:pPr>
            <a:r>
              <a:rPr lang="en-US" sz="2200">
                <a:solidFill>
                  <a:schemeClr val="bg1"/>
                </a:solidFill>
              </a:rPr>
              <a:t>. . . before the following three vowels</a:t>
            </a:r>
          </a:p>
        </p:txBody>
      </p:sp>
      <p:sp>
        <p:nvSpPr>
          <p:cNvPr id="63508" name="Text Box 20"/>
          <p:cNvSpPr txBox="1">
            <a:spLocks noChangeArrowheads="1"/>
          </p:cNvSpPr>
          <p:nvPr/>
        </p:nvSpPr>
        <p:spPr bwMode="auto">
          <a:xfrm>
            <a:off x="304800" y="5337175"/>
            <a:ext cx="2895600" cy="695325"/>
          </a:xfrm>
          <a:prstGeom prst="rect">
            <a:avLst/>
          </a:prstGeom>
          <a:noFill/>
          <a:ln w="9525">
            <a:noFill/>
            <a:miter lim="800000"/>
            <a:headEnd/>
            <a:tailEnd/>
          </a:ln>
          <a:effectLst/>
        </p:spPr>
        <p:txBody>
          <a:bodyPr>
            <a:spAutoFit/>
          </a:bodyPr>
          <a:lstStyle/>
          <a:p>
            <a:pPr>
              <a:lnSpc>
                <a:spcPct val="90000"/>
              </a:lnSpc>
              <a:spcBef>
                <a:spcPct val="50000"/>
              </a:spcBef>
            </a:pPr>
            <a:r>
              <a:rPr lang="en-US" sz="2200">
                <a:solidFill>
                  <a:schemeClr val="bg1"/>
                </a:solidFill>
              </a:rPr>
              <a:t>. . . before the following two vowels</a:t>
            </a:r>
          </a:p>
        </p:txBody>
      </p:sp>
      <p:sp>
        <p:nvSpPr>
          <p:cNvPr id="63509" name="Text Box 21"/>
          <p:cNvSpPr txBox="1">
            <a:spLocks noChangeArrowheads="1"/>
          </p:cNvSpPr>
          <p:nvPr/>
        </p:nvSpPr>
        <p:spPr bwMode="auto">
          <a:xfrm>
            <a:off x="5791200" y="685800"/>
            <a:ext cx="2895600" cy="1600200"/>
          </a:xfrm>
          <a:prstGeom prst="rect">
            <a:avLst/>
          </a:prstGeom>
          <a:noFill/>
          <a:ln w="9525">
            <a:noFill/>
            <a:miter lim="800000"/>
            <a:headEnd/>
            <a:tailEnd/>
          </a:ln>
          <a:effectLst/>
        </p:spPr>
        <p:txBody>
          <a:bodyPr>
            <a:spAutoFit/>
          </a:bodyPr>
          <a:lstStyle/>
          <a:p>
            <a:pPr>
              <a:lnSpc>
                <a:spcPct val="90000"/>
              </a:lnSpc>
              <a:spcBef>
                <a:spcPct val="50000"/>
              </a:spcBef>
            </a:pPr>
            <a:r>
              <a:rPr lang="en-US" sz="2200">
                <a:solidFill>
                  <a:schemeClr val="bg1"/>
                </a:solidFill>
              </a:rPr>
              <a:t>Unlike the English “k” sound, the hard Spanish c is not aspirated, that is, no air is expelled when it is pronounced.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300"/>
                                        <p:tgtEl>
                                          <p:spTgt spid="6349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3507"/>
                                        </p:tgtEl>
                                        <p:attrNameLst>
                                          <p:attrName>style.visibility</p:attrName>
                                        </p:attrNameLst>
                                      </p:cBhvr>
                                      <p:to>
                                        <p:strVal val="visible"/>
                                      </p:to>
                                    </p:set>
                                    <p:animEffect transition="in" filter="dissolve">
                                      <p:cBhvr>
                                        <p:cTn id="12" dur="400"/>
                                        <p:tgtEl>
                                          <p:spTgt spid="63507"/>
                                        </p:tgtEl>
                                      </p:cBhvr>
                                    </p:animEffect>
                                  </p:childTnLst>
                                </p:cTn>
                              </p:par>
                            </p:childTnLst>
                          </p:cTn>
                        </p:par>
                        <p:par>
                          <p:cTn id="13" fill="hold">
                            <p:stCondLst>
                              <p:cond delay="400"/>
                            </p:stCondLst>
                            <p:childTnLst>
                              <p:par>
                                <p:cTn id="14" presetID="22" presetClass="entr" presetSubtype="8" fill="hold" grpId="0" nodeType="afterEffect">
                                  <p:stCondLst>
                                    <p:cond delay="0"/>
                                  </p:stCondLst>
                                  <p:childTnLst>
                                    <p:set>
                                      <p:cBhvr>
                                        <p:cTn id="15" dur="1" fill="hold">
                                          <p:stCondLst>
                                            <p:cond delay="0"/>
                                          </p:stCondLst>
                                        </p:cTn>
                                        <p:tgtEl>
                                          <p:spTgt spid="63502"/>
                                        </p:tgtEl>
                                        <p:attrNameLst>
                                          <p:attrName>style.visibility</p:attrName>
                                        </p:attrNameLst>
                                      </p:cBhvr>
                                      <p:to>
                                        <p:strVal val="visible"/>
                                      </p:to>
                                    </p:set>
                                    <p:animEffect transition="in" filter="wipe(left)">
                                      <p:cBhvr>
                                        <p:cTn id="16" dur="300"/>
                                        <p:tgtEl>
                                          <p:spTgt spid="6350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3491"/>
                                        </p:tgtEl>
                                        <p:attrNameLst>
                                          <p:attrName>style.visibility</p:attrName>
                                        </p:attrNameLst>
                                      </p:cBhvr>
                                      <p:to>
                                        <p:strVal val="visible"/>
                                      </p:to>
                                    </p:set>
                                    <p:animEffect transition="in" filter="wipe(left)">
                                      <p:cBhvr>
                                        <p:cTn id="21" dur="300"/>
                                        <p:tgtEl>
                                          <p:spTgt spid="634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3493"/>
                                        </p:tgtEl>
                                        <p:attrNameLst>
                                          <p:attrName>style.visibility</p:attrName>
                                        </p:attrNameLst>
                                      </p:cBhvr>
                                      <p:to>
                                        <p:strVal val="visible"/>
                                      </p:to>
                                    </p:set>
                                    <p:animEffect transition="in" filter="wipe(left)">
                                      <p:cBhvr>
                                        <p:cTn id="26" dur="300"/>
                                        <p:tgtEl>
                                          <p:spTgt spid="6349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3494"/>
                                        </p:tgtEl>
                                        <p:attrNameLst>
                                          <p:attrName>style.visibility</p:attrName>
                                        </p:attrNameLst>
                                      </p:cBhvr>
                                      <p:to>
                                        <p:strVal val="visible"/>
                                      </p:to>
                                    </p:set>
                                    <p:animEffect transition="in" filter="wipe(left)">
                                      <p:cBhvr>
                                        <p:cTn id="31" dur="300"/>
                                        <p:tgtEl>
                                          <p:spTgt spid="63494"/>
                                        </p:tgtEl>
                                      </p:cBhvr>
                                    </p:animEffect>
                                  </p:childTnLst>
                                </p:cTn>
                              </p:par>
                            </p:childTnLst>
                          </p:cTn>
                        </p:par>
                        <p:par>
                          <p:cTn id="32" fill="hold">
                            <p:stCondLst>
                              <p:cond delay="300"/>
                            </p:stCondLst>
                            <p:childTnLst>
                              <p:par>
                                <p:cTn id="33" presetID="22" presetClass="entr" presetSubtype="8" fill="hold" grpId="0" nodeType="afterEffect">
                                  <p:stCondLst>
                                    <p:cond delay="0"/>
                                  </p:stCondLst>
                                  <p:childTnLst>
                                    <p:set>
                                      <p:cBhvr>
                                        <p:cTn id="34" dur="1" fill="hold">
                                          <p:stCondLst>
                                            <p:cond delay="0"/>
                                          </p:stCondLst>
                                        </p:cTn>
                                        <p:tgtEl>
                                          <p:spTgt spid="63495"/>
                                        </p:tgtEl>
                                        <p:attrNameLst>
                                          <p:attrName>style.visibility</p:attrName>
                                        </p:attrNameLst>
                                      </p:cBhvr>
                                      <p:to>
                                        <p:strVal val="visible"/>
                                      </p:to>
                                    </p:set>
                                    <p:animEffect transition="in" filter="wipe(left)">
                                      <p:cBhvr>
                                        <p:cTn id="35" dur="300"/>
                                        <p:tgtEl>
                                          <p:spTgt spid="6349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63496"/>
                                        </p:tgtEl>
                                        <p:attrNameLst>
                                          <p:attrName>style.visibility</p:attrName>
                                        </p:attrNameLst>
                                      </p:cBhvr>
                                      <p:to>
                                        <p:strVal val="visible"/>
                                      </p:to>
                                    </p:set>
                                    <p:animEffect transition="in" filter="wipe(left)">
                                      <p:cBhvr>
                                        <p:cTn id="38" dur="300"/>
                                        <p:tgtEl>
                                          <p:spTgt spid="63496"/>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63497"/>
                                        </p:tgtEl>
                                        <p:attrNameLst>
                                          <p:attrName>style.visibility</p:attrName>
                                        </p:attrNameLst>
                                      </p:cBhvr>
                                      <p:to>
                                        <p:strVal val="visible"/>
                                      </p:to>
                                    </p:set>
                                    <p:animEffect transition="in" filter="wipe(left)">
                                      <p:cBhvr>
                                        <p:cTn id="41" dur="300"/>
                                        <p:tgtEl>
                                          <p:spTgt spid="6349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63509"/>
                                        </p:tgtEl>
                                        <p:attrNameLst>
                                          <p:attrName>style.visibility</p:attrName>
                                        </p:attrNameLst>
                                      </p:cBhvr>
                                      <p:to>
                                        <p:strVal val="visible"/>
                                      </p:to>
                                    </p:set>
                                    <p:animEffect transition="in" filter="dissolve">
                                      <p:cBhvr>
                                        <p:cTn id="46" dur="400"/>
                                        <p:tgtEl>
                                          <p:spTgt spid="6350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3492"/>
                                        </p:tgtEl>
                                        <p:attrNameLst>
                                          <p:attrName>style.visibility</p:attrName>
                                        </p:attrNameLst>
                                      </p:cBhvr>
                                      <p:to>
                                        <p:strVal val="visible"/>
                                      </p:to>
                                    </p:set>
                                    <p:animEffect transition="in" filter="wipe(left)">
                                      <p:cBhvr>
                                        <p:cTn id="51" dur="300"/>
                                        <p:tgtEl>
                                          <p:spTgt spid="6349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63508"/>
                                        </p:tgtEl>
                                        <p:attrNameLst>
                                          <p:attrName>style.visibility</p:attrName>
                                        </p:attrNameLst>
                                      </p:cBhvr>
                                      <p:to>
                                        <p:strVal val="visible"/>
                                      </p:to>
                                    </p:set>
                                    <p:animEffect transition="in" filter="dissolve">
                                      <p:cBhvr>
                                        <p:cTn id="56" dur="400"/>
                                        <p:tgtEl>
                                          <p:spTgt spid="63508"/>
                                        </p:tgtEl>
                                      </p:cBhvr>
                                    </p:animEffect>
                                  </p:childTnLst>
                                </p:cTn>
                              </p:par>
                            </p:childTnLst>
                          </p:cTn>
                        </p:par>
                        <p:par>
                          <p:cTn id="57" fill="hold">
                            <p:stCondLst>
                              <p:cond delay="400"/>
                            </p:stCondLst>
                            <p:childTnLst>
                              <p:par>
                                <p:cTn id="58" presetID="22" presetClass="entr" presetSubtype="8" fill="hold" grpId="0" nodeType="afterEffect">
                                  <p:stCondLst>
                                    <p:cond delay="0"/>
                                  </p:stCondLst>
                                  <p:childTnLst>
                                    <p:set>
                                      <p:cBhvr>
                                        <p:cTn id="59" dur="1" fill="hold">
                                          <p:stCondLst>
                                            <p:cond delay="0"/>
                                          </p:stCondLst>
                                        </p:cTn>
                                        <p:tgtEl>
                                          <p:spTgt spid="63503"/>
                                        </p:tgtEl>
                                        <p:attrNameLst>
                                          <p:attrName>style.visibility</p:attrName>
                                        </p:attrNameLst>
                                      </p:cBhvr>
                                      <p:to>
                                        <p:strVal val="visible"/>
                                      </p:to>
                                    </p:set>
                                    <p:animEffect transition="in" filter="wipe(left)">
                                      <p:cBhvr>
                                        <p:cTn id="60" dur="300"/>
                                        <p:tgtEl>
                                          <p:spTgt spid="6350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3498"/>
                                        </p:tgtEl>
                                        <p:attrNameLst>
                                          <p:attrName>style.visibility</p:attrName>
                                        </p:attrNameLst>
                                      </p:cBhvr>
                                      <p:to>
                                        <p:strVal val="visible"/>
                                      </p:to>
                                    </p:set>
                                    <p:animEffect transition="in" filter="wipe(left)">
                                      <p:cBhvr>
                                        <p:cTn id="65" dur="300"/>
                                        <p:tgtEl>
                                          <p:spTgt spid="6349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3499"/>
                                        </p:tgtEl>
                                        <p:attrNameLst>
                                          <p:attrName>style.visibility</p:attrName>
                                        </p:attrNameLst>
                                      </p:cBhvr>
                                      <p:to>
                                        <p:strVal val="visible"/>
                                      </p:to>
                                    </p:set>
                                    <p:animEffect transition="in" filter="wipe(left)">
                                      <p:cBhvr>
                                        <p:cTn id="70" dur="300"/>
                                        <p:tgtEl>
                                          <p:spTgt spid="63499"/>
                                        </p:tgtEl>
                                      </p:cBhvr>
                                    </p:animEffect>
                                  </p:childTnLst>
                                </p:cTn>
                              </p:par>
                            </p:childTnLst>
                          </p:cTn>
                        </p:par>
                        <p:par>
                          <p:cTn id="71" fill="hold">
                            <p:stCondLst>
                              <p:cond delay="300"/>
                            </p:stCondLst>
                            <p:childTnLst>
                              <p:par>
                                <p:cTn id="72" presetID="22" presetClass="entr" presetSubtype="8" fill="hold" grpId="0" nodeType="afterEffect">
                                  <p:stCondLst>
                                    <p:cond delay="0"/>
                                  </p:stCondLst>
                                  <p:childTnLst>
                                    <p:set>
                                      <p:cBhvr>
                                        <p:cTn id="73" dur="1" fill="hold">
                                          <p:stCondLst>
                                            <p:cond delay="0"/>
                                          </p:stCondLst>
                                        </p:cTn>
                                        <p:tgtEl>
                                          <p:spTgt spid="63500"/>
                                        </p:tgtEl>
                                        <p:attrNameLst>
                                          <p:attrName>style.visibility</p:attrName>
                                        </p:attrNameLst>
                                      </p:cBhvr>
                                      <p:to>
                                        <p:strVal val="visible"/>
                                      </p:to>
                                    </p:set>
                                    <p:animEffect transition="in" filter="wipe(left)">
                                      <p:cBhvr>
                                        <p:cTn id="74" dur="300"/>
                                        <p:tgtEl>
                                          <p:spTgt spid="63500"/>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63501"/>
                                        </p:tgtEl>
                                        <p:attrNameLst>
                                          <p:attrName>style.visibility</p:attrName>
                                        </p:attrNameLst>
                                      </p:cBhvr>
                                      <p:to>
                                        <p:strVal val="visible"/>
                                      </p:to>
                                    </p:set>
                                    <p:animEffect transition="in" filter="wipe(left)">
                                      <p:cBhvr>
                                        <p:cTn id="77" dur="300"/>
                                        <p:tgtEl>
                                          <p:spTgt spid="63501"/>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63506"/>
                                        </p:tgtEl>
                                        <p:attrNameLst>
                                          <p:attrName>style.visibility</p:attrName>
                                        </p:attrNameLst>
                                      </p:cBhvr>
                                      <p:to>
                                        <p:strVal val="visible"/>
                                      </p:to>
                                    </p:set>
                                    <p:animEffect transition="in" filter="dissolve">
                                      <p:cBhvr>
                                        <p:cTn id="82" dur="400"/>
                                        <p:tgtEl>
                                          <p:spTgt spid="6350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63505"/>
                                        </p:tgtEl>
                                        <p:attrNameLst>
                                          <p:attrName>style.visibility</p:attrName>
                                        </p:attrNameLst>
                                      </p:cBhvr>
                                      <p:to>
                                        <p:strVal val="visible"/>
                                      </p:to>
                                    </p:set>
                                    <p:animEffect transition="in" filter="wipe(left)">
                                      <p:cBhvr>
                                        <p:cTn id="87" dur="300"/>
                                        <p:tgtEl>
                                          <p:spTgt spid="6350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3504"/>
                                        </p:tgtEl>
                                        <p:attrNameLst>
                                          <p:attrName>style.visibility</p:attrName>
                                        </p:attrNameLst>
                                      </p:cBhvr>
                                      <p:to>
                                        <p:strVal val="visible"/>
                                      </p:to>
                                    </p:set>
                                    <p:animEffect transition="in" filter="wipe(left)">
                                      <p:cBhvr>
                                        <p:cTn id="92" dur="300"/>
                                        <p:tgtEl>
                                          <p:spTgt spid="63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p:bldP spid="63491" grpId="0" animBg="1"/>
      <p:bldP spid="63492" grpId="0" animBg="1"/>
      <p:bldP spid="63493" grpId="0" animBg="1"/>
      <p:bldP spid="63494" grpId="0" animBg="1"/>
      <p:bldP spid="63495" grpId="0" animBg="1"/>
      <p:bldP spid="63496" grpId="0" animBg="1"/>
      <p:bldP spid="63497" grpId="0" animBg="1"/>
      <p:bldP spid="63498" grpId="0" animBg="1"/>
      <p:bldP spid="63499" grpId="0" animBg="1"/>
      <p:bldP spid="63500" grpId="0" animBg="1"/>
      <p:bldP spid="63501" grpId="0" animBg="1"/>
      <p:bldP spid="63502" grpId="0" animBg="1"/>
      <p:bldP spid="63503" grpId="0" animBg="1"/>
      <p:bldP spid="63504" grpId="0" animBg="1"/>
      <p:bldP spid="63505" grpId="0" animBg="1"/>
      <p:bldP spid="63506" grpId="0" autoUpdateAnimBg="0"/>
      <p:bldP spid="63507" grpId="0"/>
      <p:bldP spid="63508" grpId="0"/>
      <p:bldP spid="6350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WordArt 2" descr="Woven mat"/>
          <p:cNvSpPr>
            <a:spLocks noChangeArrowheads="1" noChangeShapeType="1" noTextEdit="1"/>
          </p:cNvSpPr>
          <p:nvPr/>
        </p:nvSpPr>
        <p:spPr bwMode="auto">
          <a:xfrm>
            <a:off x="1981200" y="809625"/>
            <a:ext cx="21336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ch</a:t>
            </a:r>
          </a:p>
        </p:txBody>
      </p:sp>
      <p:sp>
        <p:nvSpPr>
          <p:cNvPr id="34819" name="WordArt 3" descr="Stationery"/>
          <p:cNvSpPr>
            <a:spLocks noChangeArrowheads="1" noChangeShapeType="1" noTextEdit="1"/>
          </p:cNvSpPr>
          <p:nvPr/>
        </p:nvSpPr>
        <p:spPr bwMode="auto">
          <a:xfrm>
            <a:off x="4800600" y="962025"/>
            <a:ext cx="27432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(che)</a:t>
            </a:r>
          </a:p>
        </p:txBody>
      </p:sp>
      <p:sp>
        <p:nvSpPr>
          <p:cNvPr id="34820" name="WordArt 4" descr="Woven mat"/>
          <p:cNvSpPr>
            <a:spLocks noChangeArrowheads="1" noChangeShapeType="1" noTextEdit="1"/>
          </p:cNvSpPr>
          <p:nvPr/>
        </p:nvSpPr>
        <p:spPr bwMode="auto">
          <a:xfrm>
            <a:off x="1371600" y="457200"/>
            <a:ext cx="685800" cy="704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34821" name="Text Box 5"/>
          <p:cNvSpPr txBox="1">
            <a:spLocks noChangeArrowheads="1"/>
          </p:cNvSpPr>
          <p:nvPr/>
        </p:nvSpPr>
        <p:spPr bwMode="auto">
          <a:xfrm>
            <a:off x="1295400" y="2751138"/>
            <a:ext cx="7467600" cy="20129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Until 1994, “ch” was a separate letter in Spanish, and words that began with this letter were found in a separate ch section in the dictionary after the section containing words beginning with c.  It is pronounced like the English ch.</a:t>
            </a:r>
          </a:p>
        </p:txBody>
      </p:sp>
      <p:sp>
        <p:nvSpPr>
          <p:cNvPr id="34822" name="WordArt 6" descr="Woven mat"/>
          <p:cNvSpPr>
            <a:spLocks noChangeArrowheads="1" noChangeShapeType="1" noTextEdit="1"/>
          </p:cNvSpPr>
          <p:nvPr/>
        </p:nvSpPr>
        <p:spPr bwMode="auto">
          <a:xfrm>
            <a:off x="762000" y="2590800"/>
            <a:ext cx="457200" cy="4000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34823" name="Text Box 7"/>
          <p:cNvSpPr txBox="1">
            <a:spLocks noChangeArrowheads="1"/>
          </p:cNvSpPr>
          <p:nvPr/>
        </p:nvSpPr>
        <p:spPr bwMode="auto">
          <a:xfrm>
            <a:off x="2133600" y="4800600"/>
            <a:ext cx="1447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charro</a:t>
            </a:r>
          </a:p>
        </p:txBody>
      </p:sp>
      <p:sp>
        <p:nvSpPr>
          <p:cNvPr id="34824" name="Text Box 8"/>
          <p:cNvSpPr txBox="1">
            <a:spLocks noChangeArrowheads="1"/>
          </p:cNvSpPr>
          <p:nvPr/>
        </p:nvSpPr>
        <p:spPr bwMode="auto">
          <a:xfrm>
            <a:off x="5410200" y="4800600"/>
            <a:ext cx="2514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chimichanga</a:t>
            </a:r>
          </a:p>
        </p:txBody>
      </p:sp>
      <p:sp>
        <p:nvSpPr>
          <p:cNvPr id="34825" name="Text Box 9"/>
          <p:cNvSpPr txBox="1">
            <a:spLocks noChangeArrowheads="1"/>
          </p:cNvSpPr>
          <p:nvPr/>
        </p:nvSpPr>
        <p:spPr bwMode="auto">
          <a:xfrm>
            <a:off x="2133600" y="5440363"/>
            <a:ext cx="2590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muchacho</a:t>
            </a:r>
          </a:p>
        </p:txBody>
      </p:sp>
      <p:sp>
        <p:nvSpPr>
          <p:cNvPr id="34826" name="Text Box 10"/>
          <p:cNvSpPr txBox="1">
            <a:spLocks noChangeArrowheads="1"/>
          </p:cNvSpPr>
          <p:nvPr/>
        </p:nvSpPr>
        <p:spPr bwMode="auto">
          <a:xfrm>
            <a:off x="5410200" y="5440363"/>
            <a:ext cx="2209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chica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left)">
                                      <p:cBhvr>
                                        <p:cTn id="7" dur="2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819"/>
                                        </p:tgtEl>
                                        <p:attrNameLst>
                                          <p:attrName>style.visibility</p:attrName>
                                        </p:attrNameLst>
                                      </p:cBhvr>
                                      <p:to>
                                        <p:strVal val="visible"/>
                                      </p:to>
                                    </p:set>
                                    <p:animEffect transition="in" filter="dissolve">
                                      <p:cBhvr>
                                        <p:cTn id="12" dur="500"/>
                                        <p:tgtEl>
                                          <p:spTgt spid="34819"/>
                                        </p:tgtEl>
                                      </p:cBhvr>
                                    </p:animEffect>
                                  </p:childTnLst>
                                </p:cTn>
                              </p:par>
                            </p:childTnLst>
                          </p:cTn>
                        </p:par>
                        <p:par>
                          <p:cTn id="13" fill="hold">
                            <p:stCondLst>
                              <p:cond delay="500"/>
                            </p:stCondLst>
                            <p:childTnLst>
                              <p:par>
                                <p:cTn id="14" presetID="23" presetClass="entr" presetSubtype="288" fill="hold" grpId="0" nodeType="afterEffect">
                                  <p:stCondLst>
                                    <p:cond delay="0"/>
                                  </p:stCondLst>
                                  <p:childTnLst>
                                    <p:set>
                                      <p:cBhvr>
                                        <p:cTn id="15" dur="1" fill="hold">
                                          <p:stCondLst>
                                            <p:cond delay="0"/>
                                          </p:stCondLst>
                                        </p:cTn>
                                        <p:tgtEl>
                                          <p:spTgt spid="34820"/>
                                        </p:tgtEl>
                                        <p:attrNameLst>
                                          <p:attrName>style.visibility</p:attrName>
                                        </p:attrNameLst>
                                      </p:cBhvr>
                                      <p:to>
                                        <p:strVal val="visible"/>
                                      </p:to>
                                    </p:set>
                                    <p:anim calcmode="lin" valueType="num">
                                      <p:cBhvr>
                                        <p:cTn id="16" dur="300" fill="hold"/>
                                        <p:tgtEl>
                                          <p:spTgt spid="34820"/>
                                        </p:tgtEl>
                                        <p:attrNameLst>
                                          <p:attrName>ppt_w</p:attrName>
                                        </p:attrNameLst>
                                      </p:cBhvr>
                                      <p:tavLst>
                                        <p:tav tm="0">
                                          <p:val>
                                            <p:strVal val="4/3*#ppt_w"/>
                                          </p:val>
                                        </p:tav>
                                        <p:tav tm="100000">
                                          <p:val>
                                            <p:strVal val="#ppt_w"/>
                                          </p:val>
                                        </p:tav>
                                      </p:tavLst>
                                    </p:anim>
                                    <p:anim calcmode="lin" valueType="num">
                                      <p:cBhvr>
                                        <p:cTn id="17" dur="300" fill="hold"/>
                                        <p:tgtEl>
                                          <p:spTgt spid="34820"/>
                                        </p:tgtEl>
                                        <p:attrNameLst>
                                          <p:attrName>ppt_h</p:attrName>
                                        </p:attrNameLst>
                                      </p:cBhvr>
                                      <p:tavLst>
                                        <p:tav tm="0">
                                          <p:val>
                                            <p:strVal val="4/3*#ppt_h"/>
                                          </p:val>
                                        </p:tav>
                                        <p:tav tm="100000">
                                          <p:val>
                                            <p:strVal val="#ppt_h"/>
                                          </p:val>
                                        </p:tav>
                                      </p:tavLst>
                                    </p:anim>
                                  </p:childTnLst>
                                </p:cTn>
                              </p:par>
                            </p:childTnLst>
                          </p:cTn>
                        </p:par>
                        <p:par>
                          <p:cTn id="18" fill="hold">
                            <p:stCondLst>
                              <p:cond delay="800"/>
                            </p:stCondLst>
                            <p:childTnLst>
                              <p:par>
                                <p:cTn id="19" presetID="23" presetClass="entr" presetSubtype="288" fill="hold" grpId="0" nodeType="afterEffect">
                                  <p:stCondLst>
                                    <p:cond delay="0"/>
                                  </p:stCondLst>
                                  <p:childTnLst>
                                    <p:set>
                                      <p:cBhvr>
                                        <p:cTn id="20" dur="1" fill="hold">
                                          <p:stCondLst>
                                            <p:cond delay="0"/>
                                          </p:stCondLst>
                                        </p:cTn>
                                        <p:tgtEl>
                                          <p:spTgt spid="34822"/>
                                        </p:tgtEl>
                                        <p:attrNameLst>
                                          <p:attrName>style.visibility</p:attrName>
                                        </p:attrNameLst>
                                      </p:cBhvr>
                                      <p:to>
                                        <p:strVal val="visible"/>
                                      </p:to>
                                    </p:set>
                                    <p:anim calcmode="lin" valueType="num">
                                      <p:cBhvr>
                                        <p:cTn id="21" dur="300" fill="hold"/>
                                        <p:tgtEl>
                                          <p:spTgt spid="34822"/>
                                        </p:tgtEl>
                                        <p:attrNameLst>
                                          <p:attrName>ppt_w</p:attrName>
                                        </p:attrNameLst>
                                      </p:cBhvr>
                                      <p:tavLst>
                                        <p:tav tm="0">
                                          <p:val>
                                            <p:strVal val="4/3*#ppt_w"/>
                                          </p:val>
                                        </p:tav>
                                        <p:tav tm="100000">
                                          <p:val>
                                            <p:strVal val="#ppt_w"/>
                                          </p:val>
                                        </p:tav>
                                      </p:tavLst>
                                    </p:anim>
                                    <p:anim calcmode="lin" valueType="num">
                                      <p:cBhvr>
                                        <p:cTn id="22" dur="300" fill="hold"/>
                                        <p:tgtEl>
                                          <p:spTgt spid="34822"/>
                                        </p:tgtEl>
                                        <p:attrNameLst>
                                          <p:attrName>ppt_h</p:attrName>
                                        </p:attrNameLst>
                                      </p:cBhvr>
                                      <p:tavLst>
                                        <p:tav tm="0">
                                          <p:val>
                                            <p:strVal val="4/3*#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4821"/>
                                        </p:tgtEl>
                                        <p:attrNameLst>
                                          <p:attrName>style.visibility</p:attrName>
                                        </p:attrNameLst>
                                      </p:cBhvr>
                                      <p:to>
                                        <p:strVal val="visible"/>
                                      </p:to>
                                    </p:set>
                                    <p:animEffect transition="in" filter="dissolve">
                                      <p:cBhvr>
                                        <p:cTn id="27" dur="400"/>
                                        <p:tgtEl>
                                          <p:spTgt spid="348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823"/>
                                        </p:tgtEl>
                                        <p:attrNameLst>
                                          <p:attrName>style.visibility</p:attrName>
                                        </p:attrNameLst>
                                      </p:cBhvr>
                                      <p:to>
                                        <p:strVal val="visible"/>
                                      </p:to>
                                    </p:set>
                                    <p:animEffect transition="in" filter="fade">
                                      <p:cBhvr>
                                        <p:cTn id="32" dur="300"/>
                                        <p:tgtEl>
                                          <p:spTgt spid="348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825"/>
                                        </p:tgtEl>
                                        <p:attrNameLst>
                                          <p:attrName>style.visibility</p:attrName>
                                        </p:attrNameLst>
                                      </p:cBhvr>
                                      <p:to>
                                        <p:strVal val="visible"/>
                                      </p:to>
                                    </p:set>
                                    <p:animEffect transition="in" filter="fade">
                                      <p:cBhvr>
                                        <p:cTn id="37" dur="300"/>
                                        <p:tgtEl>
                                          <p:spTgt spid="348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824"/>
                                        </p:tgtEl>
                                        <p:attrNameLst>
                                          <p:attrName>style.visibility</p:attrName>
                                        </p:attrNameLst>
                                      </p:cBhvr>
                                      <p:to>
                                        <p:strVal val="visible"/>
                                      </p:to>
                                    </p:set>
                                    <p:animEffect transition="in" filter="fade">
                                      <p:cBhvr>
                                        <p:cTn id="42" dur="300"/>
                                        <p:tgtEl>
                                          <p:spTgt spid="348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826"/>
                                        </p:tgtEl>
                                        <p:attrNameLst>
                                          <p:attrName>style.visibility</p:attrName>
                                        </p:attrNameLst>
                                      </p:cBhvr>
                                      <p:to>
                                        <p:strVal val="visible"/>
                                      </p:to>
                                    </p:set>
                                    <p:animEffect transition="in" filter="fade">
                                      <p:cBhvr>
                                        <p:cTn id="47" dur="300"/>
                                        <p:tgtEl>
                                          <p:spTgt spid="3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nimBg="1"/>
      <p:bldP spid="34819" grpId="0" animBg="1"/>
      <p:bldP spid="34820" grpId="0" animBg="1"/>
      <p:bldP spid="34821" grpId="0"/>
      <p:bldP spid="34822" grpId="0" animBg="1"/>
      <p:bldP spid="34823" grpId="0"/>
      <p:bldP spid="34824" grpId="0"/>
      <p:bldP spid="34825" grpId="0"/>
      <p:bldP spid="348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WordArt 2" descr="Woven mat"/>
          <p:cNvSpPr>
            <a:spLocks noChangeArrowheads="1" noChangeShapeType="1" noTextEdit="1"/>
          </p:cNvSpPr>
          <p:nvPr/>
        </p:nvSpPr>
        <p:spPr bwMode="auto">
          <a:xfrm>
            <a:off x="2286000" y="942975"/>
            <a:ext cx="1471613"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d</a:t>
            </a:r>
          </a:p>
        </p:txBody>
      </p:sp>
      <p:sp>
        <p:nvSpPr>
          <p:cNvPr id="35843" name="WordArt 3" descr="Stationery"/>
          <p:cNvSpPr>
            <a:spLocks noChangeArrowheads="1" noChangeShapeType="1" noTextEdit="1"/>
          </p:cNvSpPr>
          <p:nvPr/>
        </p:nvSpPr>
        <p:spPr bwMode="auto">
          <a:xfrm>
            <a:off x="4572000" y="914400"/>
            <a:ext cx="2667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(de)</a:t>
            </a:r>
          </a:p>
        </p:txBody>
      </p:sp>
      <p:sp>
        <p:nvSpPr>
          <p:cNvPr id="35844" name="Text Box 4"/>
          <p:cNvSpPr txBox="1">
            <a:spLocks noChangeArrowheads="1"/>
          </p:cNvSpPr>
          <p:nvPr/>
        </p:nvSpPr>
        <p:spPr bwMode="auto">
          <a:xfrm>
            <a:off x="1447800" y="2836863"/>
            <a:ext cx="7010400" cy="1406525"/>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The Spanish “d” is similar to the English “d” but is pronounced with the tongue farther forward against the upper teeth.  When initial or after the letters n or l, it is harder;</a:t>
            </a:r>
          </a:p>
        </p:txBody>
      </p:sp>
      <p:sp>
        <p:nvSpPr>
          <p:cNvPr id="35845" name="Text Box 5"/>
          <p:cNvSpPr txBox="1">
            <a:spLocks noChangeArrowheads="1"/>
          </p:cNvSpPr>
          <p:nvPr/>
        </p:nvSpPr>
        <p:spPr bwMode="auto">
          <a:xfrm>
            <a:off x="1219200" y="4648200"/>
            <a:ext cx="3962400" cy="579438"/>
          </a:xfrm>
          <a:prstGeom prst="rect">
            <a:avLst/>
          </a:prstGeom>
          <a:noFill/>
          <a:ln w="9525">
            <a:noFill/>
            <a:miter lim="800000"/>
            <a:headEnd/>
            <a:tailEnd/>
          </a:ln>
          <a:effectLst/>
        </p:spPr>
        <p:txBody>
          <a:bodyPr>
            <a:spAutoFit/>
          </a:bodyPr>
          <a:lstStyle/>
          <a:p>
            <a:pPr>
              <a:spcBef>
                <a:spcPct val="50000"/>
              </a:spcBef>
            </a:pPr>
            <a:r>
              <a:rPr lang="en-US" sz="3200" u="sng">
                <a:solidFill>
                  <a:schemeClr val="bg1"/>
                </a:solidFill>
              </a:rPr>
              <a:t>D</a:t>
            </a:r>
            <a:r>
              <a:rPr lang="en-US" sz="3200">
                <a:solidFill>
                  <a:schemeClr val="bg1"/>
                </a:solidFill>
              </a:rPr>
              <a:t>aniel es mi hermano.</a:t>
            </a:r>
          </a:p>
        </p:txBody>
      </p:sp>
      <p:sp>
        <p:nvSpPr>
          <p:cNvPr id="35846" name="Text Box 6"/>
          <p:cNvSpPr txBox="1">
            <a:spLocks noChangeArrowheads="1"/>
          </p:cNvSpPr>
          <p:nvPr/>
        </p:nvSpPr>
        <p:spPr bwMode="auto">
          <a:xfrm>
            <a:off x="6096000" y="46482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an</a:t>
            </a:r>
            <a:r>
              <a:rPr lang="en-US" sz="3200" u="sng">
                <a:solidFill>
                  <a:schemeClr val="bg1"/>
                </a:solidFill>
              </a:rPr>
              <a:t>d</a:t>
            </a:r>
            <a:r>
              <a:rPr lang="en-US" sz="3200">
                <a:solidFill>
                  <a:schemeClr val="bg1"/>
                </a:solidFill>
              </a:rPr>
              <a:t>ar</a:t>
            </a:r>
          </a:p>
        </p:txBody>
      </p:sp>
      <p:sp>
        <p:nvSpPr>
          <p:cNvPr id="35847" name="Text Box 7"/>
          <p:cNvSpPr txBox="1">
            <a:spLocks noChangeArrowheads="1"/>
          </p:cNvSpPr>
          <p:nvPr/>
        </p:nvSpPr>
        <p:spPr bwMode="auto">
          <a:xfrm>
            <a:off x="1752600" y="5287963"/>
            <a:ext cx="2590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¡Buena i</a:t>
            </a:r>
            <a:r>
              <a:rPr lang="en-US" sz="3200" u="sng">
                <a:solidFill>
                  <a:schemeClr val="bg1"/>
                </a:solidFill>
              </a:rPr>
              <a:t>d</a:t>
            </a:r>
            <a:r>
              <a:rPr lang="en-US" sz="3200">
                <a:solidFill>
                  <a:schemeClr val="bg1"/>
                </a:solidFill>
              </a:rPr>
              <a:t>ea!</a:t>
            </a:r>
          </a:p>
        </p:txBody>
      </p:sp>
      <p:sp>
        <p:nvSpPr>
          <p:cNvPr id="35848" name="Text Box 8"/>
          <p:cNvSpPr txBox="1">
            <a:spLocks noChangeArrowheads="1"/>
          </p:cNvSpPr>
          <p:nvPr/>
        </p:nvSpPr>
        <p:spPr bwMode="auto">
          <a:xfrm>
            <a:off x="5715000" y="5334000"/>
            <a:ext cx="1219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na</a:t>
            </a:r>
            <a:r>
              <a:rPr lang="en-US" sz="3200" u="sng">
                <a:solidFill>
                  <a:schemeClr val="bg1"/>
                </a:solidFill>
              </a:rPr>
              <a:t>d</a:t>
            </a:r>
            <a:r>
              <a:rPr lang="en-US" sz="3200">
                <a:solidFill>
                  <a:schemeClr val="bg1"/>
                </a:solidFill>
              </a:rPr>
              <a:t>a</a:t>
            </a:r>
          </a:p>
        </p:txBody>
      </p:sp>
      <p:sp>
        <p:nvSpPr>
          <p:cNvPr id="35849" name="Text Box 9"/>
          <p:cNvSpPr txBox="1">
            <a:spLocks noChangeArrowheads="1"/>
          </p:cNvSpPr>
          <p:nvPr/>
        </p:nvSpPr>
        <p:spPr bwMode="auto">
          <a:xfrm>
            <a:off x="1447800" y="3824288"/>
            <a:ext cx="7010400" cy="749300"/>
          </a:xfrm>
          <a:prstGeom prst="rect">
            <a:avLst/>
          </a:prstGeom>
          <a:noFill/>
          <a:ln w="9525">
            <a:noFill/>
            <a:miter lim="800000"/>
            <a:headEnd/>
            <a:tailEnd/>
          </a:ln>
          <a:effectLst/>
        </p:spPr>
        <p:txBody>
          <a:bodyPr>
            <a:spAutoFit/>
          </a:bodyPr>
          <a:lstStyle/>
          <a:p>
            <a:pPr indent="973138">
              <a:lnSpc>
                <a:spcPct val="90000"/>
              </a:lnSpc>
              <a:spcBef>
                <a:spcPct val="50000"/>
              </a:spcBef>
            </a:pPr>
            <a:r>
              <a:rPr lang="en-US">
                <a:solidFill>
                  <a:schemeClr val="bg1"/>
                </a:solidFill>
              </a:rPr>
              <a:t>when intervocalic, it is a bit softer, much like the voiced “th” sound in the English word “they.”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wipe(left)">
                                      <p:cBhvr>
                                        <p:cTn id="7" dur="200"/>
                                        <p:tgtEl>
                                          <p:spTgt spid="358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dissolve">
                                      <p:cBhvr>
                                        <p:cTn id="12" dur="500"/>
                                        <p:tgtEl>
                                          <p:spTgt spid="358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844"/>
                                        </p:tgtEl>
                                        <p:attrNameLst>
                                          <p:attrName>style.visibility</p:attrName>
                                        </p:attrNameLst>
                                      </p:cBhvr>
                                      <p:to>
                                        <p:strVal val="visible"/>
                                      </p:to>
                                    </p:set>
                                    <p:animEffect transition="in" filter="dissolve">
                                      <p:cBhvr>
                                        <p:cTn id="17" dur="400"/>
                                        <p:tgtEl>
                                          <p:spTgt spid="358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5"/>
                                        </p:tgtEl>
                                        <p:attrNameLst>
                                          <p:attrName>style.visibility</p:attrName>
                                        </p:attrNameLst>
                                      </p:cBhvr>
                                      <p:to>
                                        <p:strVal val="visible"/>
                                      </p:to>
                                    </p:set>
                                    <p:animEffect transition="in" filter="fade">
                                      <p:cBhvr>
                                        <p:cTn id="22" dur="300"/>
                                        <p:tgtEl>
                                          <p:spTgt spid="3584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6"/>
                                        </p:tgtEl>
                                        <p:attrNameLst>
                                          <p:attrName>style.visibility</p:attrName>
                                        </p:attrNameLst>
                                      </p:cBhvr>
                                      <p:to>
                                        <p:strVal val="visible"/>
                                      </p:to>
                                    </p:set>
                                    <p:animEffect transition="in" filter="fade">
                                      <p:cBhvr>
                                        <p:cTn id="27" dur="300"/>
                                        <p:tgtEl>
                                          <p:spTgt spid="3584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5849"/>
                                        </p:tgtEl>
                                        <p:attrNameLst>
                                          <p:attrName>style.visibility</p:attrName>
                                        </p:attrNameLst>
                                      </p:cBhvr>
                                      <p:to>
                                        <p:strVal val="visible"/>
                                      </p:to>
                                    </p:set>
                                    <p:animEffect transition="in" filter="dissolve">
                                      <p:cBhvr>
                                        <p:cTn id="32" dur="500"/>
                                        <p:tgtEl>
                                          <p:spTgt spid="3584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5847"/>
                                        </p:tgtEl>
                                        <p:attrNameLst>
                                          <p:attrName>style.visibility</p:attrName>
                                        </p:attrNameLst>
                                      </p:cBhvr>
                                      <p:to>
                                        <p:strVal val="visible"/>
                                      </p:to>
                                    </p:set>
                                    <p:animEffect transition="in" filter="fade">
                                      <p:cBhvr>
                                        <p:cTn id="37" dur="300"/>
                                        <p:tgtEl>
                                          <p:spTgt spid="3584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848"/>
                                        </p:tgtEl>
                                        <p:attrNameLst>
                                          <p:attrName>style.visibility</p:attrName>
                                        </p:attrNameLst>
                                      </p:cBhvr>
                                      <p:to>
                                        <p:strVal val="visible"/>
                                      </p:to>
                                    </p:set>
                                    <p:animEffect transition="in" filter="fade">
                                      <p:cBhvr>
                                        <p:cTn id="42" dur="3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nimBg="1"/>
      <p:bldP spid="35843" grpId="0" animBg="1"/>
      <p:bldP spid="35844" grpId="0"/>
      <p:bldP spid="35845" grpId="0"/>
      <p:bldP spid="35846" grpId="0"/>
      <p:bldP spid="35847" grpId="0"/>
      <p:bldP spid="35848" grpId="0"/>
      <p:bldP spid="358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WordArt 2" descr="Woven mat"/>
          <p:cNvSpPr>
            <a:spLocks noChangeArrowheads="1" noChangeShapeType="1" noTextEdit="1"/>
          </p:cNvSpPr>
          <p:nvPr/>
        </p:nvSpPr>
        <p:spPr bwMode="auto">
          <a:xfrm>
            <a:off x="2209800" y="1219200"/>
            <a:ext cx="1471613" cy="1600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e</a:t>
            </a:r>
          </a:p>
        </p:txBody>
      </p:sp>
      <p:sp>
        <p:nvSpPr>
          <p:cNvPr id="36867" name="WordArt 3" descr="Stationery"/>
          <p:cNvSpPr>
            <a:spLocks noChangeArrowheads="1" noChangeShapeType="1" noTextEdit="1"/>
          </p:cNvSpPr>
          <p:nvPr/>
        </p:nvSpPr>
        <p:spPr bwMode="auto">
          <a:xfrm>
            <a:off x="4648200" y="1066800"/>
            <a:ext cx="23622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a:t>
            </a:r>
          </a:p>
        </p:txBody>
      </p:sp>
      <p:sp>
        <p:nvSpPr>
          <p:cNvPr id="36868" name="Oval 4"/>
          <p:cNvSpPr>
            <a:spLocks noChangeArrowheads="1"/>
          </p:cNvSpPr>
          <p:nvPr/>
        </p:nvSpPr>
        <p:spPr bwMode="auto">
          <a:xfrm>
            <a:off x="1524000" y="685800"/>
            <a:ext cx="2743200" cy="2667000"/>
          </a:xfrm>
          <a:prstGeom prst="ellipse">
            <a:avLst/>
          </a:prstGeom>
          <a:noFill/>
          <a:ln w="25400">
            <a:solidFill>
              <a:schemeClr val="tx1"/>
            </a:solidFill>
            <a:round/>
            <a:headEnd/>
            <a:tailEnd/>
          </a:ln>
          <a:effectLst/>
        </p:spPr>
        <p:txBody>
          <a:bodyPr wrap="none" anchor="ctr"/>
          <a:lstStyle/>
          <a:p>
            <a:endParaRPr lang="en-US"/>
          </a:p>
        </p:txBody>
      </p:sp>
      <p:sp>
        <p:nvSpPr>
          <p:cNvPr id="36869" name="Line 5"/>
          <p:cNvSpPr>
            <a:spLocks noChangeShapeType="1"/>
          </p:cNvSpPr>
          <p:nvPr/>
        </p:nvSpPr>
        <p:spPr bwMode="auto">
          <a:xfrm flipH="1">
            <a:off x="2419350" y="3343275"/>
            <a:ext cx="271463" cy="723900"/>
          </a:xfrm>
          <a:prstGeom prst="line">
            <a:avLst/>
          </a:prstGeom>
          <a:noFill/>
          <a:ln w="25400">
            <a:solidFill>
              <a:schemeClr val="tx1"/>
            </a:solidFill>
            <a:round/>
            <a:headEnd/>
            <a:tailEnd type="triangle" w="med" len="med"/>
          </a:ln>
          <a:effectLst/>
        </p:spPr>
        <p:txBody>
          <a:bodyPr/>
          <a:lstStyle/>
          <a:p>
            <a:endParaRPr lang="en-US"/>
          </a:p>
        </p:txBody>
      </p:sp>
      <p:sp>
        <p:nvSpPr>
          <p:cNvPr id="36870" name="Text Box 6"/>
          <p:cNvSpPr txBox="1">
            <a:spLocks noChangeArrowheads="1"/>
          </p:cNvSpPr>
          <p:nvPr/>
        </p:nvSpPr>
        <p:spPr bwMode="auto">
          <a:xfrm>
            <a:off x="762000" y="3929063"/>
            <a:ext cx="7834313"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Like the e in “th</a:t>
            </a:r>
            <a:r>
              <a:rPr lang="en-US" sz="3200" u="sng">
                <a:solidFill>
                  <a:schemeClr val="bg1"/>
                </a:solidFill>
              </a:rPr>
              <a:t>e</a:t>
            </a:r>
            <a:r>
              <a:rPr lang="en-US" sz="3200">
                <a:solidFill>
                  <a:schemeClr val="bg1"/>
                </a:solidFill>
              </a:rPr>
              <a:t>y,” but without the “y” glide</a:t>
            </a:r>
          </a:p>
        </p:txBody>
      </p:sp>
      <p:sp>
        <p:nvSpPr>
          <p:cNvPr id="36871" name="Text Box 7"/>
          <p:cNvSpPr txBox="1">
            <a:spLocks noChangeArrowheads="1"/>
          </p:cNvSpPr>
          <p:nvPr/>
        </p:nvSpPr>
        <p:spPr bwMode="auto">
          <a:xfrm>
            <a:off x="2057400" y="4724400"/>
            <a:ext cx="7620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es</a:t>
            </a:r>
          </a:p>
        </p:txBody>
      </p:sp>
      <p:sp>
        <p:nvSpPr>
          <p:cNvPr id="36872" name="Text Box 8"/>
          <p:cNvSpPr txBox="1">
            <a:spLocks noChangeArrowheads="1"/>
          </p:cNvSpPr>
          <p:nvPr/>
        </p:nvSpPr>
        <p:spPr bwMode="auto">
          <a:xfrm>
            <a:off x="2057400" y="5287963"/>
            <a:ext cx="990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tres</a:t>
            </a:r>
          </a:p>
        </p:txBody>
      </p:sp>
      <p:sp>
        <p:nvSpPr>
          <p:cNvPr id="36873" name="Text Box 9"/>
          <p:cNvSpPr txBox="1">
            <a:spLocks noChangeArrowheads="1"/>
          </p:cNvSpPr>
          <p:nvPr/>
        </p:nvSpPr>
        <p:spPr bwMode="auto">
          <a:xfrm>
            <a:off x="3581400" y="4724400"/>
            <a:ext cx="11430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mesa</a:t>
            </a:r>
          </a:p>
        </p:txBody>
      </p:sp>
      <p:sp>
        <p:nvSpPr>
          <p:cNvPr id="36874" name="Text Box 10"/>
          <p:cNvSpPr txBox="1">
            <a:spLocks noChangeArrowheads="1"/>
          </p:cNvSpPr>
          <p:nvPr/>
        </p:nvSpPr>
        <p:spPr bwMode="auto">
          <a:xfrm>
            <a:off x="3581400" y="52879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deporte</a:t>
            </a:r>
          </a:p>
        </p:txBody>
      </p:sp>
      <p:sp>
        <p:nvSpPr>
          <p:cNvPr id="36875" name="Text Box 11"/>
          <p:cNvSpPr txBox="1">
            <a:spLocks noChangeArrowheads="1"/>
          </p:cNvSpPr>
          <p:nvPr/>
        </p:nvSpPr>
        <p:spPr bwMode="auto">
          <a:xfrm>
            <a:off x="5562600" y="4724400"/>
            <a:ext cx="2057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interesante</a:t>
            </a:r>
          </a:p>
        </p:txBody>
      </p:sp>
      <p:sp>
        <p:nvSpPr>
          <p:cNvPr id="36876" name="Text Box 12"/>
          <p:cNvSpPr txBox="1">
            <a:spLocks noChangeArrowheads="1"/>
          </p:cNvSpPr>
          <p:nvPr/>
        </p:nvSpPr>
        <p:spPr bwMode="auto">
          <a:xfrm>
            <a:off x="5562600" y="5287963"/>
            <a:ext cx="1981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México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2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67"/>
                                        </p:tgtEl>
                                        <p:attrNameLst>
                                          <p:attrName>style.visibility</p:attrName>
                                        </p:attrNameLst>
                                      </p:cBhvr>
                                      <p:to>
                                        <p:strVal val="visible"/>
                                      </p:to>
                                    </p:set>
                                    <p:animEffect transition="in" filter="dissolve">
                                      <p:cBhvr>
                                        <p:cTn id="12" dur="500"/>
                                        <p:tgtEl>
                                          <p:spTgt spid="368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868"/>
                                        </p:tgtEl>
                                        <p:attrNameLst>
                                          <p:attrName>style.visibility</p:attrName>
                                        </p:attrNameLst>
                                      </p:cBhvr>
                                      <p:to>
                                        <p:strVal val="visible"/>
                                      </p:to>
                                    </p:set>
                                    <p:animEffect transition="in" filter="wipe(up)">
                                      <p:cBhvr>
                                        <p:cTn id="17" dur="300"/>
                                        <p:tgtEl>
                                          <p:spTgt spid="36868"/>
                                        </p:tgtEl>
                                      </p:cBhvr>
                                    </p:animEffect>
                                  </p:childTnLst>
                                </p:cTn>
                              </p:par>
                            </p:childTnLst>
                          </p:cTn>
                        </p:par>
                        <p:par>
                          <p:cTn id="18" fill="hold">
                            <p:stCondLst>
                              <p:cond delay="300"/>
                            </p:stCondLst>
                            <p:childTnLst>
                              <p:par>
                                <p:cTn id="19" presetID="22" presetClass="entr" presetSubtype="1" fill="hold" grpId="0" nodeType="afterEffect">
                                  <p:stCondLst>
                                    <p:cond delay="0"/>
                                  </p:stCondLst>
                                  <p:childTnLst>
                                    <p:set>
                                      <p:cBhvr>
                                        <p:cTn id="20" dur="1" fill="hold">
                                          <p:stCondLst>
                                            <p:cond delay="0"/>
                                          </p:stCondLst>
                                        </p:cTn>
                                        <p:tgtEl>
                                          <p:spTgt spid="36869"/>
                                        </p:tgtEl>
                                        <p:attrNameLst>
                                          <p:attrName>style.visibility</p:attrName>
                                        </p:attrNameLst>
                                      </p:cBhvr>
                                      <p:to>
                                        <p:strVal val="visible"/>
                                      </p:to>
                                    </p:set>
                                    <p:animEffect transition="in" filter="wipe(up)">
                                      <p:cBhvr>
                                        <p:cTn id="21" dur="300"/>
                                        <p:tgtEl>
                                          <p:spTgt spid="36869"/>
                                        </p:tgtEl>
                                      </p:cBhvr>
                                    </p:animEffect>
                                  </p:childTnLst>
                                </p:cTn>
                              </p:par>
                            </p:childTnLst>
                          </p:cTn>
                        </p:par>
                        <p:par>
                          <p:cTn id="22" fill="hold">
                            <p:stCondLst>
                              <p:cond delay="600"/>
                            </p:stCondLst>
                            <p:childTnLst>
                              <p:par>
                                <p:cTn id="23" presetID="9" presetClass="entr" presetSubtype="0" fill="hold" grpId="0" nodeType="afterEffect">
                                  <p:stCondLst>
                                    <p:cond delay="0"/>
                                  </p:stCondLst>
                                  <p:childTnLst>
                                    <p:set>
                                      <p:cBhvr>
                                        <p:cTn id="24" dur="1" fill="hold">
                                          <p:stCondLst>
                                            <p:cond delay="0"/>
                                          </p:stCondLst>
                                        </p:cTn>
                                        <p:tgtEl>
                                          <p:spTgt spid="36870"/>
                                        </p:tgtEl>
                                        <p:attrNameLst>
                                          <p:attrName>style.visibility</p:attrName>
                                        </p:attrNameLst>
                                      </p:cBhvr>
                                      <p:to>
                                        <p:strVal val="visible"/>
                                      </p:to>
                                    </p:set>
                                    <p:animEffect transition="in" filter="dissolve">
                                      <p:cBhvr>
                                        <p:cTn id="25" dur="400"/>
                                        <p:tgtEl>
                                          <p:spTgt spid="3687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6871"/>
                                        </p:tgtEl>
                                        <p:attrNameLst>
                                          <p:attrName>style.visibility</p:attrName>
                                        </p:attrNameLst>
                                      </p:cBhvr>
                                      <p:to>
                                        <p:strVal val="visible"/>
                                      </p:to>
                                    </p:set>
                                    <p:animEffect transition="in" filter="fade">
                                      <p:cBhvr>
                                        <p:cTn id="30" dur="300"/>
                                        <p:tgtEl>
                                          <p:spTgt spid="3687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6872"/>
                                        </p:tgtEl>
                                        <p:attrNameLst>
                                          <p:attrName>style.visibility</p:attrName>
                                        </p:attrNameLst>
                                      </p:cBhvr>
                                      <p:to>
                                        <p:strVal val="visible"/>
                                      </p:to>
                                    </p:set>
                                    <p:animEffect transition="in" filter="fade">
                                      <p:cBhvr>
                                        <p:cTn id="35" dur="300"/>
                                        <p:tgtEl>
                                          <p:spTgt spid="3687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873"/>
                                        </p:tgtEl>
                                        <p:attrNameLst>
                                          <p:attrName>style.visibility</p:attrName>
                                        </p:attrNameLst>
                                      </p:cBhvr>
                                      <p:to>
                                        <p:strVal val="visible"/>
                                      </p:to>
                                    </p:set>
                                    <p:animEffect transition="in" filter="fade">
                                      <p:cBhvr>
                                        <p:cTn id="40" dur="300"/>
                                        <p:tgtEl>
                                          <p:spTgt spid="3687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6874"/>
                                        </p:tgtEl>
                                        <p:attrNameLst>
                                          <p:attrName>style.visibility</p:attrName>
                                        </p:attrNameLst>
                                      </p:cBhvr>
                                      <p:to>
                                        <p:strVal val="visible"/>
                                      </p:to>
                                    </p:set>
                                    <p:animEffect transition="in" filter="fade">
                                      <p:cBhvr>
                                        <p:cTn id="45" dur="300"/>
                                        <p:tgtEl>
                                          <p:spTgt spid="3687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6875"/>
                                        </p:tgtEl>
                                        <p:attrNameLst>
                                          <p:attrName>style.visibility</p:attrName>
                                        </p:attrNameLst>
                                      </p:cBhvr>
                                      <p:to>
                                        <p:strVal val="visible"/>
                                      </p:to>
                                    </p:set>
                                    <p:animEffect transition="in" filter="fade">
                                      <p:cBhvr>
                                        <p:cTn id="50" dur="300"/>
                                        <p:tgtEl>
                                          <p:spTgt spid="3687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6876"/>
                                        </p:tgtEl>
                                        <p:attrNameLst>
                                          <p:attrName>style.visibility</p:attrName>
                                        </p:attrNameLst>
                                      </p:cBhvr>
                                      <p:to>
                                        <p:strVal val="visible"/>
                                      </p:to>
                                    </p:set>
                                    <p:animEffect transition="in" filter="fade">
                                      <p:cBhvr>
                                        <p:cTn id="55" dur="300"/>
                                        <p:tgtEl>
                                          <p:spTgt spid="36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nimBg="1"/>
      <p:bldP spid="36867" grpId="0" animBg="1"/>
      <p:bldP spid="36868" grpId="0" animBg="1"/>
      <p:bldP spid="36869" grpId="0" animBg="1"/>
      <p:bldP spid="36870" grpId="0"/>
      <p:bldP spid="36871" grpId="0"/>
      <p:bldP spid="36872" grpId="0"/>
      <p:bldP spid="36873" grpId="0"/>
      <p:bldP spid="36874" grpId="0"/>
      <p:bldP spid="36875" grpId="0"/>
      <p:bldP spid="368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WordArt 2" descr="Woven mat"/>
          <p:cNvSpPr>
            <a:spLocks noChangeArrowheads="1" noChangeShapeType="1" noTextEdit="1"/>
          </p:cNvSpPr>
          <p:nvPr/>
        </p:nvSpPr>
        <p:spPr bwMode="auto">
          <a:xfrm>
            <a:off x="2362200" y="1219200"/>
            <a:ext cx="1014413"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f</a:t>
            </a:r>
          </a:p>
        </p:txBody>
      </p:sp>
      <p:sp>
        <p:nvSpPr>
          <p:cNvPr id="37891" name="WordArt 3" descr="Stationery"/>
          <p:cNvSpPr>
            <a:spLocks noChangeArrowheads="1" noChangeShapeType="1" noTextEdit="1"/>
          </p:cNvSpPr>
          <p:nvPr/>
        </p:nvSpPr>
        <p:spPr bwMode="auto">
          <a:xfrm>
            <a:off x="4191000" y="1447800"/>
            <a:ext cx="28956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(efe)</a:t>
            </a:r>
          </a:p>
        </p:txBody>
      </p:sp>
      <p:sp>
        <p:nvSpPr>
          <p:cNvPr id="37892" name="Text Box 4"/>
          <p:cNvSpPr txBox="1">
            <a:spLocks noChangeArrowheads="1"/>
          </p:cNvSpPr>
          <p:nvPr/>
        </p:nvSpPr>
        <p:spPr bwMode="auto">
          <a:xfrm>
            <a:off x="1447800" y="3505200"/>
            <a:ext cx="7010400" cy="968375"/>
          </a:xfrm>
          <a:prstGeom prst="rect">
            <a:avLst/>
          </a:prstGeom>
          <a:noFill/>
          <a:ln w="9525">
            <a:noFill/>
            <a:miter lim="800000"/>
            <a:headEnd/>
            <a:tailEnd/>
          </a:ln>
          <a:effectLst/>
        </p:spPr>
        <p:txBody>
          <a:bodyPr>
            <a:spAutoFit/>
          </a:bodyPr>
          <a:lstStyle/>
          <a:p>
            <a:pPr>
              <a:lnSpc>
                <a:spcPct val="90000"/>
              </a:lnSpc>
              <a:spcBef>
                <a:spcPct val="50000"/>
              </a:spcBef>
            </a:pPr>
            <a:r>
              <a:rPr lang="en-US" sz="3200">
                <a:solidFill>
                  <a:schemeClr val="bg1"/>
                </a:solidFill>
              </a:rPr>
              <a:t>The Spanish “f” is essentially identical  to the English “f.”</a:t>
            </a:r>
          </a:p>
        </p:txBody>
      </p:sp>
      <p:sp>
        <p:nvSpPr>
          <p:cNvPr id="37893" name="Text Box 5"/>
          <p:cNvSpPr txBox="1">
            <a:spLocks noChangeArrowheads="1"/>
          </p:cNvSpPr>
          <p:nvPr/>
        </p:nvSpPr>
        <p:spPr bwMode="auto">
          <a:xfrm>
            <a:off x="2438400" y="4572000"/>
            <a:ext cx="1828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Fernando</a:t>
            </a:r>
          </a:p>
        </p:txBody>
      </p:sp>
      <p:sp>
        <p:nvSpPr>
          <p:cNvPr id="37894" name="Text Box 6"/>
          <p:cNvSpPr txBox="1">
            <a:spLocks noChangeArrowheads="1"/>
          </p:cNvSpPr>
          <p:nvPr/>
        </p:nvSpPr>
        <p:spPr bwMode="auto">
          <a:xfrm>
            <a:off x="2438400" y="5135563"/>
            <a:ext cx="1981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teléfono</a:t>
            </a:r>
          </a:p>
        </p:txBody>
      </p:sp>
      <p:sp>
        <p:nvSpPr>
          <p:cNvPr id="37895" name="Text Box 7"/>
          <p:cNvSpPr txBox="1">
            <a:spLocks noChangeArrowheads="1"/>
          </p:cNvSpPr>
          <p:nvPr/>
        </p:nvSpPr>
        <p:spPr bwMode="auto">
          <a:xfrm>
            <a:off x="5334000" y="4572000"/>
            <a:ext cx="11430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flan</a:t>
            </a:r>
          </a:p>
        </p:txBody>
      </p:sp>
      <p:sp>
        <p:nvSpPr>
          <p:cNvPr id="37896" name="Text Box 8"/>
          <p:cNvSpPr txBox="1">
            <a:spLocks noChangeArrowheads="1"/>
          </p:cNvSpPr>
          <p:nvPr/>
        </p:nvSpPr>
        <p:spPr bwMode="auto">
          <a:xfrm>
            <a:off x="5334000" y="5135563"/>
            <a:ext cx="1752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frente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wipe(left)">
                                      <p:cBhvr>
                                        <p:cTn id="7" dur="200"/>
                                        <p:tgtEl>
                                          <p:spTgt spid="3789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891"/>
                                        </p:tgtEl>
                                        <p:attrNameLst>
                                          <p:attrName>style.visibility</p:attrName>
                                        </p:attrNameLst>
                                      </p:cBhvr>
                                      <p:to>
                                        <p:strVal val="visible"/>
                                      </p:to>
                                    </p:set>
                                    <p:animEffect transition="in" filter="dissolve">
                                      <p:cBhvr>
                                        <p:cTn id="12" dur="500"/>
                                        <p:tgtEl>
                                          <p:spTgt spid="378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892"/>
                                        </p:tgtEl>
                                        <p:attrNameLst>
                                          <p:attrName>style.visibility</p:attrName>
                                        </p:attrNameLst>
                                      </p:cBhvr>
                                      <p:to>
                                        <p:strVal val="visible"/>
                                      </p:to>
                                    </p:set>
                                    <p:animEffect transition="in" filter="dissolve">
                                      <p:cBhvr>
                                        <p:cTn id="17" dur="400"/>
                                        <p:tgtEl>
                                          <p:spTgt spid="3789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893"/>
                                        </p:tgtEl>
                                        <p:attrNameLst>
                                          <p:attrName>style.visibility</p:attrName>
                                        </p:attrNameLst>
                                      </p:cBhvr>
                                      <p:to>
                                        <p:strVal val="visible"/>
                                      </p:to>
                                    </p:set>
                                    <p:animEffect transition="in" filter="fade">
                                      <p:cBhvr>
                                        <p:cTn id="22" dur="300"/>
                                        <p:tgtEl>
                                          <p:spTgt spid="378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894"/>
                                        </p:tgtEl>
                                        <p:attrNameLst>
                                          <p:attrName>style.visibility</p:attrName>
                                        </p:attrNameLst>
                                      </p:cBhvr>
                                      <p:to>
                                        <p:strVal val="visible"/>
                                      </p:to>
                                    </p:set>
                                    <p:animEffect transition="in" filter="fade">
                                      <p:cBhvr>
                                        <p:cTn id="27" dur="300"/>
                                        <p:tgtEl>
                                          <p:spTgt spid="3789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895"/>
                                        </p:tgtEl>
                                        <p:attrNameLst>
                                          <p:attrName>style.visibility</p:attrName>
                                        </p:attrNameLst>
                                      </p:cBhvr>
                                      <p:to>
                                        <p:strVal val="visible"/>
                                      </p:to>
                                    </p:set>
                                    <p:animEffect transition="in" filter="fade">
                                      <p:cBhvr>
                                        <p:cTn id="32" dur="300"/>
                                        <p:tgtEl>
                                          <p:spTgt spid="3789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896"/>
                                        </p:tgtEl>
                                        <p:attrNameLst>
                                          <p:attrName>style.visibility</p:attrName>
                                        </p:attrNameLst>
                                      </p:cBhvr>
                                      <p:to>
                                        <p:strVal val="visible"/>
                                      </p:to>
                                    </p:set>
                                    <p:animEffect transition="in" filter="fade">
                                      <p:cBhvr>
                                        <p:cTn id="37" dur="3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nimBg="1"/>
      <p:bldP spid="37891" grpId="0" animBg="1"/>
      <p:bldP spid="37892" grpId="0"/>
      <p:bldP spid="37893" grpId="0"/>
      <p:bldP spid="37894" grpId="0"/>
      <p:bldP spid="37895" grpId="0"/>
      <p:bldP spid="3789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WordArt 2" descr="Woven mat"/>
          <p:cNvSpPr>
            <a:spLocks noChangeArrowheads="1" noChangeShapeType="1" noTextEdit="1"/>
          </p:cNvSpPr>
          <p:nvPr/>
        </p:nvSpPr>
        <p:spPr bwMode="auto">
          <a:xfrm>
            <a:off x="2286000" y="1219200"/>
            <a:ext cx="11430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g</a:t>
            </a:r>
          </a:p>
        </p:txBody>
      </p:sp>
      <p:sp>
        <p:nvSpPr>
          <p:cNvPr id="38915" name="WordArt 3" descr="Stationery"/>
          <p:cNvSpPr>
            <a:spLocks noChangeArrowheads="1" noChangeShapeType="1" noTextEdit="1"/>
          </p:cNvSpPr>
          <p:nvPr/>
        </p:nvSpPr>
        <p:spPr bwMode="auto">
          <a:xfrm>
            <a:off x="4267200" y="1447800"/>
            <a:ext cx="2667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(ge)</a:t>
            </a:r>
          </a:p>
        </p:txBody>
      </p:sp>
      <p:sp>
        <p:nvSpPr>
          <p:cNvPr id="38916" name="Text Box 4"/>
          <p:cNvSpPr txBox="1">
            <a:spLocks noChangeArrowheads="1"/>
          </p:cNvSpPr>
          <p:nvPr/>
        </p:nvSpPr>
        <p:spPr bwMode="auto">
          <a:xfrm>
            <a:off x="1447800" y="3476625"/>
            <a:ext cx="6753225" cy="124460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Spanish “g” has three distinct sounds, depending on its environment.  The next two slides provide more details.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wipe(left)">
                                      <p:cBhvr>
                                        <p:cTn id="7" dur="200"/>
                                        <p:tgtEl>
                                          <p:spTgt spid="389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915"/>
                                        </p:tgtEl>
                                        <p:attrNameLst>
                                          <p:attrName>style.visibility</p:attrName>
                                        </p:attrNameLst>
                                      </p:cBhvr>
                                      <p:to>
                                        <p:strVal val="visible"/>
                                      </p:to>
                                    </p:set>
                                    <p:animEffect transition="in" filter="dissolve">
                                      <p:cBhvr>
                                        <p:cTn id="12" dur="500"/>
                                        <p:tgtEl>
                                          <p:spTgt spid="389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dissolve">
                                      <p:cBhvr>
                                        <p:cTn id="17" dur="4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nimBg="1"/>
      <p:bldP spid="38915" grpId="0" animBg="1"/>
      <p:bldP spid="389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44" name="Line 32"/>
          <p:cNvSpPr>
            <a:spLocks noChangeShapeType="1"/>
          </p:cNvSpPr>
          <p:nvPr/>
        </p:nvSpPr>
        <p:spPr bwMode="auto">
          <a:xfrm>
            <a:off x="5729288" y="5932488"/>
            <a:ext cx="381000" cy="0"/>
          </a:xfrm>
          <a:prstGeom prst="line">
            <a:avLst/>
          </a:prstGeom>
          <a:noFill/>
          <a:ln w="34925">
            <a:solidFill>
              <a:schemeClr val="tx1"/>
            </a:solidFill>
            <a:round/>
            <a:headEnd/>
            <a:tailEnd/>
          </a:ln>
          <a:effectLst/>
        </p:spPr>
        <p:txBody>
          <a:bodyPr/>
          <a:lstStyle/>
          <a:p>
            <a:endParaRPr lang="en-US"/>
          </a:p>
        </p:txBody>
      </p:sp>
      <p:sp>
        <p:nvSpPr>
          <p:cNvPr id="64514" name="WordArt 2" descr="Woven mat"/>
          <p:cNvSpPr>
            <a:spLocks noChangeArrowheads="1" noChangeShapeType="1" noTextEdit="1"/>
          </p:cNvSpPr>
          <p:nvPr/>
        </p:nvSpPr>
        <p:spPr bwMode="auto">
          <a:xfrm>
            <a:off x="1209675" y="1054100"/>
            <a:ext cx="3743325" cy="990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2800" kern="10">
                <a:ln w="9525">
                  <a:round/>
                  <a:headEnd/>
                  <a:tailEnd/>
                </a:ln>
                <a:blipFill dpi="0" rotWithShape="0">
                  <a:blip r:embed="rId2"/>
                  <a:srcRect/>
                  <a:tile tx="0" ty="0" sx="100000" sy="100000" flip="none" algn="tl"/>
                </a:blipFill>
                <a:latin typeface="Arial Black"/>
              </a:rPr>
              <a:t>g = g in "gap"</a:t>
            </a:r>
          </a:p>
        </p:txBody>
      </p:sp>
      <p:sp>
        <p:nvSpPr>
          <p:cNvPr id="64515" name="WordArt 3" descr="Stationery"/>
          <p:cNvSpPr>
            <a:spLocks noChangeArrowheads="1" noChangeShapeType="1" noTextEdit="1"/>
          </p:cNvSpPr>
          <p:nvPr/>
        </p:nvSpPr>
        <p:spPr bwMode="auto">
          <a:xfrm>
            <a:off x="5791200" y="292100"/>
            <a:ext cx="1752600" cy="6477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gato</a:t>
            </a:r>
          </a:p>
        </p:txBody>
      </p:sp>
      <p:sp>
        <p:nvSpPr>
          <p:cNvPr id="64517" name="WordArt 5" descr="Stationery"/>
          <p:cNvSpPr>
            <a:spLocks noChangeArrowheads="1" noChangeShapeType="1" noTextEdit="1"/>
          </p:cNvSpPr>
          <p:nvPr/>
        </p:nvSpPr>
        <p:spPr bwMode="auto">
          <a:xfrm>
            <a:off x="5791200" y="1054100"/>
            <a:ext cx="1981200" cy="609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gota</a:t>
            </a:r>
          </a:p>
        </p:txBody>
      </p:sp>
      <p:sp>
        <p:nvSpPr>
          <p:cNvPr id="64518" name="WordArt 6" descr="Stationery"/>
          <p:cNvSpPr>
            <a:spLocks noChangeArrowheads="1" noChangeShapeType="1" noTextEdit="1"/>
          </p:cNvSpPr>
          <p:nvPr/>
        </p:nvSpPr>
        <p:spPr bwMode="auto">
          <a:xfrm>
            <a:off x="5791200" y="1800225"/>
            <a:ext cx="2133600" cy="685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gusto</a:t>
            </a:r>
          </a:p>
        </p:txBody>
      </p:sp>
      <p:sp>
        <p:nvSpPr>
          <p:cNvPr id="64519" name="Line 7"/>
          <p:cNvSpPr>
            <a:spLocks noChangeShapeType="1"/>
          </p:cNvSpPr>
          <p:nvPr/>
        </p:nvSpPr>
        <p:spPr bwMode="auto">
          <a:xfrm>
            <a:off x="6334125" y="889000"/>
            <a:ext cx="381000" cy="0"/>
          </a:xfrm>
          <a:prstGeom prst="line">
            <a:avLst/>
          </a:prstGeom>
          <a:noFill/>
          <a:ln w="34925">
            <a:solidFill>
              <a:schemeClr val="tx1"/>
            </a:solidFill>
            <a:round/>
            <a:headEnd/>
            <a:tailEnd/>
          </a:ln>
          <a:effectLst/>
        </p:spPr>
        <p:txBody>
          <a:bodyPr/>
          <a:lstStyle/>
          <a:p>
            <a:endParaRPr lang="en-US"/>
          </a:p>
        </p:txBody>
      </p:sp>
      <p:sp>
        <p:nvSpPr>
          <p:cNvPr id="64520" name="Line 8"/>
          <p:cNvSpPr>
            <a:spLocks noChangeShapeType="1"/>
          </p:cNvSpPr>
          <p:nvPr/>
        </p:nvSpPr>
        <p:spPr bwMode="auto">
          <a:xfrm>
            <a:off x="6400800" y="1612900"/>
            <a:ext cx="381000" cy="0"/>
          </a:xfrm>
          <a:prstGeom prst="line">
            <a:avLst/>
          </a:prstGeom>
          <a:noFill/>
          <a:ln w="34925">
            <a:solidFill>
              <a:schemeClr val="tx1"/>
            </a:solidFill>
            <a:round/>
            <a:headEnd/>
            <a:tailEnd/>
          </a:ln>
          <a:effectLst/>
        </p:spPr>
        <p:txBody>
          <a:bodyPr/>
          <a:lstStyle/>
          <a:p>
            <a:endParaRPr lang="en-US"/>
          </a:p>
        </p:txBody>
      </p:sp>
      <p:sp>
        <p:nvSpPr>
          <p:cNvPr id="64526" name="AutoShape 14"/>
          <p:cNvSpPr>
            <a:spLocks/>
          </p:cNvSpPr>
          <p:nvPr/>
        </p:nvSpPr>
        <p:spPr bwMode="auto">
          <a:xfrm>
            <a:off x="5257800" y="292100"/>
            <a:ext cx="609600" cy="3021013"/>
          </a:xfrm>
          <a:prstGeom prst="leftBrace">
            <a:avLst>
              <a:gd name="adj1" fmla="val 41298"/>
              <a:gd name="adj2" fmla="val 38389"/>
            </a:avLst>
          </a:prstGeom>
          <a:noFill/>
          <a:ln w="19050">
            <a:solidFill>
              <a:schemeClr val="tx1"/>
            </a:solidFill>
            <a:round/>
            <a:headEnd/>
            <a:tailEnd/>
          </a:ln>
          <a:effectLst/>
        </p:spPr>
        <p:txBody>
          <a:bodyPr wrap="none" anchor="ctr"/>
          <a:lstStyle/>
          <a:p>
            <a:endParaRPr lang="en-US"/>
          </a:p>
        </p:txBody>
      </p:sp>
      <p:sp>
        <p:nvSpPr>
          <p:cNvPr id="64528" name="Text Box 16"/>
          <p:cNvSpPr txBox="1">
            <a:spLocks noChangeArrowheads="1"/>
          </p:cNvSpPr>
          <p:nvPr/>
        </p:nvSpPr>
        <p:spPr bwMode="auto">
          <a:xfrm>
            <a:off x="762000" y="2108200"/>
            <a:ext cx="4495800" cy="124460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 . . before the following three vowels at the beginning of a phrase or after the letter “n”.</a:t>
            </a:r>
          </a:p>
        </p:txBody>
      </p:sp>
      <p:sp>
        <p:nvSpPr>
          <p:cNvPr id="64530" name="WordArt 18" descr="Stationery"/>
          <p:cNvSpPr>
            <a:spLocks noChangeArrowheads="1" noChangeShapeType="1" noTextEdit="1"/>
          </p:cNvSpPr>
          <p:nvPr/>
        </p:nvSpPr>
        <p:spPr bwMode="auto">
          <a:xfrm>
            <a:off x="5791200" y="2625725"/>
            <a:ext cx="2133600" cy="685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tengo</a:t>
            </a:r>
          </a:p>
        </p:txBody>
      </p:sp>
      <p:sp>
        <p:nvSpPr>
          <p:cNvPr id="64531" name="Line 19"/>
          <p:cNvSpPr>
            <a:spLocks noChangeShapeType="1"/>
          </p:cNvSpPr>
          <p:nvPr/>
        </p:nvSpPr>
        <p:spPr bwMode="auto">
          <a:xfrm>
            <a:off x="6343650" y="2397125"/>
            <a:ext cx="381000" cy="0"/>
          </a:xfrm>
          <a:prstGeom prst="line">
            <a:avLst/>
          </a:prstGeom>
          <a:noFill/>
          <a:ln w="34925">
            <a:solidFill>
              <a:schemeClr val="tx1"/>
            </a:solidFill>
            <a:round/>
            <a:headEnd/>
            <a:tailEnd/>
          </a:ln>
          <a:effectLst/>
        </p:spPr>
        <p:txBody>
          <a:bodyPr/>
          <a:lstStyle/>
          <a:p>
            <a:endParaRPr lang="en-US"/>
          </a:p>
        </p:txBody>
      </p:sp>
      <p:sp>
        <p:nvSpPr>
          <p:cNvPr id="64540" name="Text Box 28"/>
          <p:cNvSpPr txBox="1">
            <a:spLocks noChangeArrowheads="1"/>
          </p:cNvSpPr>
          <p:nvPr/>
        </p:nvSpPr>
        <p:spPr bwMode="auto">
          <a:xfrm>
            <a:off x="685800" y="3733800"/>
            <a:ext cx="47244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In other cases, such as when intervocalic, the g is softer, somewhat like the g in </a:t>
            </a:r>
            <a:r>
              <a:rPr lang="en-US" sz="2800" i="1">
                <a:solidFill>
                  <a:schemeClr val="bg1"/>
                </a:solidFill>
              </a:rPr>
              <a:t>sugar</a:t>
            </a:r>
            <a:r>
              <a:rPr lang="en-US" sz="2800">
                <a:solidFill>
                  <a:schemeClr val="bg1"/>
                </a:solidFill>
              </a:rPr>
              <a:t>, before these three vowels.</a:t>
            </a:r>
          </a:p>
        </p:txBody>
      </p:sp>
      <p:sp>
        <p:nvSpPr>
          <p:cNvPr id="64541" name="WordArt 29" descr="Stationery"/>
          <p:cNvSpPr>
            <a:spLocks noChangeArrowheads="1" noChangeShapeType="1" noTextEdit="1"/>
          </p:cNvSpPr>
          <p:nvPr/>
        </p:nvSpPr>
        <p:spPr bwMode="auto">
          <a:xfrm>
            <a:off x="5791200" y="5289550"/>
            <a:ext cx="1911350" cy="7302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igual</a:t>
            </a:r>
          </a:p>
        </p:txBody>
      </p:sp>
      <p:sp>
        <p:nvSpPr>
          <p:cNvPr id="64542" name="WordArt 30" descr="Stationery"/>
          <p:cNvSpPr>
            <a:spLocks noChangeArrowheads="1" noChangeShapeType="1" noTextEdit="1"/>
          </p:cNvSpPr>
          <p:nvPr/>
        </p:nvSpPr>
        <p:spPr bwMode="auto">
          <a:xfrm>
            <a:off x="5791200" y="3810000"/>
            <a:ext cx="1981200" cy="609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pagar</a:t>
            </a:r>
          </a:p>
        </p:txBody>
      </p:sp>
      <p:sp>
        <p:nvSpPr>
          <p:cNvPr id="64545" name="Line 33"/>
          <p:cNvSpPr>
            <a:spLocks noChangeShapeType="1"/>
          </p:cNvSpPr>
          <p:nvPr/>
        </p:nvSpPr>
        <p:spPr bwMode="auto">
          <a:xfrm>
            <a:off x="6229350" y="4319588"/>
            <a:ext cx="381000" cy="0"/>
          </a:xfrm>
          <a:prstGeom prst="line">
            <a:avLst/>
          </a:prstGeom>
          <a:noFill/>
          <a:ln w="34925">
            <a:solidFill>
              <a:schemeClr val="tx1"/>
            </a:solidFill>
            <a:round/>
            <a:headEnd/>
            <a:tailEnd/>
          </a:ln>
          <a:effectLst/>
        </p:spPr>
        <p:txBody>
          <a:bodyPr/>
          <a:lstStyle/>
          <a:p>
            <a:endParaRPr lang="en-US"/>
          </a:p>
        </p:txBody>
      </p:sp>
      <p:sp>
        <p:nvSpPr>
          <p:cNvPr id="64547" name="AutoShape 35"/>
          <p:cNvSpPr>
            <a:spLocks/>
          </p:cNvSpPr>
          <p:nvPr/>
        </p:nvSpPr>
        <p:spPr bwMode="auto">
          <a:xfrm>
            <a:off x="5257800" y="3733800"/>
            <a:ext cx="609600" cy="2362200"/>
          </a:xfrm>
          <a:prstGeom prst="leftBrace">
            <a:avLst>
              <a:gd name="adj1" fmla="val 32292"/>
              <a:gd name="adj2" fmla="val 44690"/>
            </a:avLst>
          </a:prstGeom>
          <a:noFill/>
          <a:ln w="19050">
            <a:solidFill>
              <a:schemeClr val="tx1"/>
            </a:solidFill>
            <a:round/>
            <a:headEnd/>
            <a:tailEnd/>
          </a:ln>
          <a:effectLst/>
        </p:spPr>
        <p:txBody>
          <a:bodyPr wrap="none" anchor="ctr"/>
          <a:lstStyle/>
          <a:p>
            <a:endParaRPr lang="en-US"/>
          </a:p>
        </p:txBody>
      </p:sp>
      <p:sp>
        <p:nvSpPr>
          <p:cNvPr id="64551" name="Line 39"/>
          <p:cNvSpPr>
            <a:spLocks noChangeShapeType="1"/>
          </p:cNvSpPr>
          <p:nvPr/>
        </p:nvSpPr>
        <p:spPr bwMode="auto">
          <a:xfrm>
            <a:off x="6596063" y="3233738"/>
            <a:ext cx="381000" cy="0"/>
          </a:xfrm>
          <a:prstGeom prst="line">
            <a:avLst/>
          </a:prstGeom>
          <a:noFill/>
          <a:ln w="34925">
            <a:solidFill>
              <a:schemeClr val="tx1"/>
            </a:solidFill>
            <a:round/>
            <a:headEnd/>
            <a:tailEnd/>
          </a:ln>
          <a:effectLst/>
        </p:spPr>
        <p:txBody>
          <a:bodyPr/>
          <a:lstStyle/>
          <a:p>
            <a:endParaRPr lang="en-US"/>
          </a:p>
        </p:txBody>
      </p:sp>
      <p:sp>
        <p:nvSpPr>
          <p:cNvPr id="64552" name="Line 40"/>
          <p:cNvSpPr>
            <a:spLocks noChangeShapeType="1"/>
          </p:cNvSpPr>
          <p:nvPr/>
        </p:nvSpPr>
        <p:spPr bwMode="auto">
          <a:xfrm>
            <a:off x="7058025" y="4329113"/>
            <a:ext cx="381000" cy="0"/>
          </a:xfrm>
          <a:prstGeom prst="line">
            <a:avLst/>
          </a:prstGeom>
          <a:noFill/>
          <a:ln w="34925">
            <a:solidFill>
              <a:schemeClr val="tx1"/>
            </a:solidFill>
            <a:round/>
            <a:headEnd/>
            <a:tailEnd/>
          </a:ln>
          <a:effectLst/>
        </p:spPr>
        <p:txBody>
          <a:bodyPr/>
          <a:lstStyle/>
          <a:p>
            <a:endParaRPr lang="en-US"/>
          </a:p>
        </p:txBody>
      </p:sp>
      <p:sp>
        <p:nvSpPr>
          <p:cNvPr id="64553" name="Line 41"/>
          <p:cNvSpPr>
            <a:spLocks noChangeShapeType="1"/>
          </p:cNvSpPr>
          <p:nvPr/>
        </p:nvSpPr>
        <p:spPr bwMode="auto">
          <a:xfrm>
            <a:off x="6581775" y="5929313"/>
            <a:ext cx="381000" cy="0"/>
          </a:xfrm>
          <a:prstGeom prst="line">
            <a:avLst/>
          </a:prstGeom>
          <a:noFill/>
          <a:ln w="34925">
            <a:solidFill>
              <a:schemeClr val="tx1"/>
            </a:solidFill>
            <a:round/>
            <a:headEnd/>
            <a:tailEnd/>
          </a:ln>
          <a:effectLst/>
        </p:spPr>
        <p:txBody>
          <a:bodyPr/>
          <a:lstStyle/>
          <a:p>
            <a:endParaRPr lang="en-US"/>
          </a:p>
        </p:txBody>
      </p:sp>
      <p:sp>
        <p:nvSpPr>
          <p:cNvPr id="64554" name="WordArt 42" descr="Stationery"/>
          <p:cNvSpPr>
            <a:spLocks noChangeArrowheads="1" noChangeShapeType="1" noTextEdit="1"/>
          </p:cNvSpPr>
          <p:nvPr/>
        </p:nvSpPr>
        <p:spPr bwMode="auto">
          <a:xfrm>
            <a:off x="5791200" y="4572000"/>
            <a:ext cx="1625600" cy="609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lago</a:t>
            </a:r>
          </a:p>
        </p:txBody>
      </p:sp>
      <p:sp>
        <p:nvSpPr>
          <p:cNvPr id="64555" name="Line 43"/>
          <p:cNvSpPr>
            <a:spLocks noChangeShapeType="1"/>
          </p:cNvSpPr>
          <p:nvPr/>
        </p:nvSpPr>
        <p:spPr bwMode="auto">
          <a:xfrm>
            <a:off x="6143625" y="5124450"/>
            <a:ext cx="381000" cy="0"/>
          </a:xfrm>
          <a:prstGeom prst="line">
            <a:avLst/>
          </a:prstGeom>
          <a:noFill/>
          <a:ln w="34925">
            <a:solidFill>
              <a:schemeClr val="tx1"/>
            </a:solidFill>
            <a:round/>
            <a:headEnd/>
            <a:tailEnd/>
          </a:ln>
          <a:effectLst/>
        </p:spPr>
        <p:txBody>
          <a:bodyPr/>
          <a:lstStyle/>
          <a:p>
            <a:endParaRPr lang="en-US"/>
          </a:p>
        </p:txBody>
      </p:sp>
      <p:sp>
        <p:nvSpPr>
          <p:cNvPr id="64556" name="Line 44"/>
          <p:cNvSpPr>
            <a:spLocks noChangeShapeType="1"/>
          </p:cNvSpPr>
          <p:nvPr/>
        </p:nvSpPr>
        <p:spPr bwMode="auto">
          <a:xfrm>
            <a:off x="7043738" y="5119688"/>
            <a:ext cx="381000" cy="0"/>
          </a:xfrm>
          <a:prstGeom prst="line">
            <a:avLst/>
          </a:prstGeom>
          <a:noFill/>
          <a:ln w="34925">
            <a:solidFill>
              <a:schemeClr val="tx1"/>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left)">
                                      <p:cBhvr>
                                        <p:cTn id="7" dur="300"/>
                                        <p:tgtEl>
                                          <p:spTgt spid="645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4528"/>
                                        </p:tgtEl>
                                        <p:attrNameLst>
                                          <p:attrName>style.visibility</p:attrName>
                                        </p:attrNameLst>
                                      </p:cBhvr>
                                      <p:to>
                                        <p:strVal val="visible"/>
                                      </p:to>
                                    </p:set>
                                    <p:animEffect transition="in" filter="dissolve">
                                      <p:cBhvr>
                                        <p:cTn id="12" dur="400"/>
                                        <p:tgtEl>
                                          <p:spTgt spid="64528"/>
                                        </p:tgtEl>
                                      </p:cBhvr>
                                    </p:animEffect>
                                  </p:childTnLst>
                                </p:cTn>
                              </p:par>
                            </p:childTnLst>
                          </p:cTn>
                        </p:par>
                        <p:par>
                          <p:cTn id="13" fill="hold">
                            <p:stCondLst>
                              <p:cond delay="400"/>
                            </p:stCondLst>
                            <p:childTnLst>
                              <p:par>
                                <p:cTn id="14" presetID="22" presetClass="entr" presetSubtype="8" fill="hold" grpId="0" nodeType="afterEffect">
                                  <p:stCondLst>
                                    <p:cond delay="0"/>
                                  </p:stCondLst>
                                  <p:childTnLst>
                                    <p:set>
                                      <p:cBhvr>
                                        <p:cTn id="15" dur="1" fill="hold">
                                          <p:stCondLst>
                                            <p:cond delay="0"/>
                                          </p:stCondLst>
                                        </p:cTn>
                                        <p:tgtEl>
                                          <p:spTgt spid="64526"/>
                                        </p:tgtEl>
                                        <p:attrNameLst>
                                          <p:attrName>style.visibility</p:attrName>
                                        </p:attrNameLst>
                                      </p:cBhvr>
                                      <p:to>
                                        <p:strVal val="visible"/>
                                      </p:to>
                                    </p:set>
                                    <p:animEffect transition="in" filter="wipe(left)">
                                      <p:cBhvr>
                                        <p:cTn id="16" dur="300"/>
                                        <p:tgtEl>
                                          <p:spTgt spid="645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4515"/>
                                        </p:tgtEl>
                                        <p:attrNameLst>
                                          <p:attrName>style.visibility</p:attrName>
                                        </p:attrNameLst>
                                      </p:cBhvr>
                                      <p:to>
                                        <p:strVal val="visible"/>
                                      </p:to>
                                    </p:set>
                                    <p:animEffect transition="in" filter="wipe(left)">
                                      <p:cBhvr>
                                        <p:cTn id="21" dur="300"/>
                                        <p:tgtEl>
                                          <p:spTgt spid="645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4517"/>
                                        </p:tgtEl>
                                        <p:attrNameLst>
                                          <p:attrName>style.visibility</p:attrName>
                                        </p:attrNameLst>
                                      </p:cBhvr>
                                      <p:to>
                                        <p:strVal val="visible"/>
                                      </p:to>
                                    </p:set>
                                    <p:animEffect transition="in" filter="wipe(left)">
                                      <p:cBhvr>
                                        <p:cTn id="26" dur="300"/>
                                        <p:tgtEl>
                                          <p:spTgt spid="645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4518"/>
                                        </p:tgtEl>
                                        <p:attrNameLst>
                                          <p:attrName>style.visibility</p:attrName>
                                        </p:attrNameLst>
                                      </p:cBhvr>
                                      <p:to>
                                        <p:strVal val="visible"/>
                                      </p:to>
                                    </p:set>
                                    <p:animEffect transition="in" filter="wipe(left)">
                                      <p:cBhvr>
                                        <p:cTn id="31" dur="300"/>
                                        <p:tgtEl>
                                          <p:spTgt spid="645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4530"/>
                                        </p:tgtEl>
                                        <p:attrNameLst>
                                          <p:attrName>style.visibility</p:attrName>
                                        </p:attrNameLst>
                                      </p:cBhvr>
                                      <p:to>
                                        <p:strVal val="visible"/>
                                      </p:to>
                                    </p:set>
                                    <p:animEffect transition="in" filter="wipe(left)">
                                      <p:cBhvr>
                                        <p:cTn id="36" dur="300"/>
                                        <p:tgtEl>
                                          <p:spTgt spid="64530"/>
                                        </p:tgtEl>
                                      </p:cBhvr>
                                    </p:animEffect>
                                  </p:childTnLst>
                                </p:cTn>
                              </p:par>
                            </p:childTnLst>
                          </p:cTn>
                        </p:par>
                        <p:par>
                          <p:cTn id="37" fill="hold">
                            <p:stCondLst>
                              <p:cond delay="300"/>
                            </p:stCondLst>
                            <p:childTnLst>
                              <p:par>
                                <p:cTn id="38" presetID="22" presetClass="entr" presetSubtype="8" fill="hold" grpId="0" nodeType="afterEffect">
                                  <p:stCondLst>
                                    <p:cond delay="0"/>
                                  </p:stCondLst>
                                  <p:childTnLst>
                                    <p:set>
                                      <p:cBhvr>
                                        <p:cTn id="39" dur="1" fill="hold">
                                          <p:stCondLst>
                                            <p:cond delay="0"/>
                                          </p:stCondLst>
                                        </p:cTn>
                                        <p:tgtEl>
                                          <p:spTgt spid="64519"/>
                                        </p:tgtEl>
                                        <p:attrNameLst>
                                          <p:attrName>style.visibility</p:attrName>
                                        </p:attrNameLst>
                                      </p:cBhvr>
                                      <p:to>
                                        <p:strVal val="visible"/>
                                      </p:to>
                                    </p:set>
                                    <p:animEffect transition="in" filter="wipe(left)">
                                      <p:cBhvr>
                                        <p:cTn id="40" dur="300"/>
                                        <p:tgtEl>
                                          <p:spTgt spid="6451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64520"/>
                                        </p:tgtEl>
                                        <p:attrNameLst>
                                          <p:attrName>style.visibility</p:attrName>
                                        </p:attrNameLst>
                                      </p:cBhvr>
                                      <p:to>
                                        <p:strVal val="visible"/>
                                      </p:to>
                                    </p:set>
                                    <p:animEffect transition="in" filter="wipe(left)">
                                      <p:cBhvr>
                                        <p:cTn id="43" dur="300"/>
                                        <p:tgtEl>
                                          <p:spTgt spid="645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64531"/>
                                        </p:tgtEl>
                                        <p:attrNameLst>
                                          <p:attrName>style.visibility</p:attrName>
                                        </p:attrNameLst>
                                      </p:cBhvr>
                                      <p:to>
                                        <p:strVal val="visible"/>
                                      </p:to>
                                    </p:set>
                                    <p:animEffect transition="in" filter="wipe(left)">
                                      <p:cBhvr>
                                        <p:cTn id="46" dur="300"/>
                                        <p:tgtEl>
                                          <p:spTgt spid="64531"/>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64551"/>
                                        </p:tgtEl>
                                        <p:attrNameLst>
                                          <p:attrName>style.visibility</p:attrName>
                                        </p:attrNameLst>
                                      </p:cBhvr>
                                      <p:to>
                                        <p:strVal val="visible"/>
                                      </p:to>
                                    </p:set>
                                    <p:animEffect transition="in" filter="wipe(left)">
                                      <p:cBhvr>
                                        <p:cTn id="49" dur="300"/>
                                        <p:tgtEl>
                                          <p:spTgt spid="64551"/>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4540"/>
                                        </p:tgtEl>
                                        <p:attrNameLst>
                                          <p:attrName>style.visibility</p:attrName>
                                        </p:attrNameLst>
                                      </p:cBhvr>
                                      <p:to>
                                        <p:strVal val="visible"/>
                                      </p:to>
                                    </p:set>
                                    <p:animEffect transition="in" filter="dissolve">
                                      <p:cBhvr>
                                        <p:cTn id="54" dur="400"/>
                                        <p:tgtEl>
                                          <p:spTgt spid="64540"/>
                                        </p:tgtEl>
                                      </p:cBhvr>
                                    </p:animEffect>
                                  </p:childTnLst>
                                </p:cTn>
                              </p:par>
                            </p:childTnLst>
                          </p:cTn>
                        </p:par>
                        <p:par>
                          <p:cTn id="55" fill="hold">
                            <p:stCondLst>
                              <p:cond delay="400"/>
                            </p:stCondLst>
                            <p:childTnLst>
                              <p:par>
                                <p:cTn id="56" presetID="22" presetClass="entr" presetSubtype="8" fill="hold" grpId="0" nodeType="afterEffect">
                                  <p:stCondLst>
                                    <p:cond delay="0"/>
                                  </p:stCondLst>
                                  <p:childTnLst>
                                    <p:set>
                                      <p:cBhvr>
                                        <p:cTn id="57" dur="1" fill="hold">
                                          <p:stCondLst>
                                            <p:cond delay="0"/>
                                          </p:stCondLst>
                                        </p:cTn>
                                        <p:tgtEl>
                                          <p:spTgt spid="64547"/>
                                        </p:tgtEl>
                                        <p:attrNameLst>
                                          <p:attrName>style.visibility</p:attrName>
                                        </p:attrNameLst>
                                      </p:cBhvr>
                                      <p:to>
                                        <p:strVal val="visible"/>
                                      </p:to>
                                    </p:set>
                                    <p:animEffect transition="in" filter="wipe(left)">
                                      <p:cBhvr>
                                        <p:cTn id="58" dur="300"/>
                                        <p:tgtEl>
                                          <p:spTgt spid="645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4542"/>
                                        </p:tgtEl>
                                        <p:attrNameLst>
                                          <p:attrName>style.visibility</p:attrName>
                                        </p:attrNameLst>
                                      </p:cBhvr>
                                      <p:to>
                                        <p:strVal val="visible"/>
                                      </p:to>
                                    </p:set>
                                    <p:animEffect transition="in" filter="wipe(left)">
                                      <p:cBhvr>
                                        <p:cTn id="63" dur="300"/>
                                        <p:tgtEl>
                                          <p:spTgt spid="6454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64554"/>
                                        </p:tgtEl>
                                        <p:attrNameLst>
                                          <p:attrName>style.visibility</p:attrName>
                                        </p:attrNameLst>
                                      </p:cBhvr>
                                      <p:to>
                                        <p:strVal val="visible"/>
                                      </p:to>
                                    </p:set>
                                    <p:animEffect transition="in" filter="wipe(left)">
                                      <p:cBhvr>
                                        <p:cTn id="68" dur="300"/>
                                        <p:tgtEl>
                                          <p:spTgt spid="6455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64541"/>
                                        </p:tgtEl>
                                        <p:attrNameLst>
                                          <p:attrName>style.visibility</p:attrName>
                                        </p:attrNameLst>
                                      </p:cBhvr>
                                      <p:to>
                                        <p:strVal val="visible"/>
                                      </p:to>
                                    </p:set>
                                    <p:animEffect transition="in" filter="wipe(left)">
                                      <p:cBhvr>
                                        <p:cTn id="73" dur="300"/>
                                        <p:tgtEl>
                                          <p:spTgt spid="64541"/>
                                        </p:tgtEl>
                                      </p:cBhvr>
                                    </p:animEffect>
                                  </p:childTnLst>
                                </p:cTn>
                              </p:par>
                            </p:childTnLst>
                          </p:cTn>
                        </p:par>
                        <p:par>
                          <p:cTn id="74" fill="hold">
                            <p:stCondLst>
                              <p:cond delay="300"/>
                            </p:stCondLst>
                            <p:childTnLst>
                              <p:par>
                                <p:cTn id="75" presetID="22" presetClass="entr" presetSubtype="8" fill="hold" grpId="0" nodeType="afterEffect">
                                  <p:stCondLst>
                                    <p:cond delay="0"/>
                                  </p:stCondLst>
                                  <p:childTnLst>
                                    <p:set>
                                      <p:cBhvr>
                                        <p:cTn id="76" dur="1" fill="hold">
                                          <p:stCondLst>
                                            <p:cond delay="0"/>
                                          </p:stCondLst>
                                        </p:cTn>
                                        <p:tgtEl>
                                          <p:spTgt spid="64544"/>
                                        </p:tgtEl>
                                        <p:attrNameLst>
                                          <p:attrName>style.visibility</p:attrName>
                                        </p:attrNameLst>
                                      </p:cBhvr>
                                      <p:to>
                                        <p:strVal val="visible"/>
                                      </p:to>
                                    </p:set>
                                    <p:animEffect transition="in" filter="wipe(left)">
                                      <p:cBhvr>
                                        <p:cTn id="77" dur="300"/>
                                        <p:tgtEl>
                                          <p:spTgt spid="64544"/>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64545"/>
                                        </p:tgtEl>
                                        <p:attrNameLst>
                                          <p:attrName>style.visibility</p:attrName>
                                        </p:attrNameLst>
                                      </p:cBhvr>
                                      <p:to>
                                        <p:strVal val="visible"/>
                                      </p:to>
                                    </p:set>
                                    <p:animEffect transition="in" filter="wipe(left)">
                                      <p:cBhvr>
                                        <p:cTn id="80" dur="300"/>
                                        <p:tgtEl>
                                          <p:spTgt spid="64545"/>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4552"/>
                                        </p:tgtEl>
                                        <p:attrNameLst>
                                          <p:attrName>style.visibility</p:attrName>
                                        </p:attrNameLst>
                                      </p:cBhvr>
                                      <p:to>
                                        <p:strVal val="visible"/>
                                      </p:to>
                                    </p:set>
                                    <p:animEffect transition="in" filter="wipe(left)">
                                      <p:cBhvr>
                                        <p:cTn id="83" dur="300"/>
                                        <p:tgtEl>
                                          <p:spTgt spid="64552"/>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64553"/>
                                        </p:tgtEl>
                                        <p:attrNameLst>
                                          <p:attrName>style.visibility</p:attrName>
                                        </p:attrNameLst>
                                      </p:cBhvr>
                                      <p:to>
                                        <p:strVal val="visible"/>
                                      </p:to>
                                    </p:set>
                                    <p:animEffect transition="in" filter="wipe(left)">
                                      <p:cBhvr>
                                        <p:cTn id="86" dur="300"/>
                                        <p:tgtEl>
                                          <p:spTgt spid="64553"/>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64555"/>
                                        </p:tgtEl>
                                        <p:attrNameLst>
                                          <p:attrName>style.visibility</p:attrName>
                                        </p:attrNameLst>
                                      </p:cBhvr>
                                      <p:to>
                                        <p:strVal val="visible"/>
                                      </p:to>
                                    </p:set>
                                    <p:animEffect transition="in" filter="wipe(left)">
                                      <p:cBhvr>
                                        <p:cTn id="89" dur="300"/>
                                        <p:tgtEl>
                                          <p:spTgt spid="6455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64556"/>
                                        </p:tgtEl>
                                        <p:attrNameLst>
                                          <p:attrName>style.visibility</p:attrName>
                                        </p:attrNameLst>
                                      </p:cBhvr>
                                      <p:to>
                                        <p:strVal val="visible"/>
                                      </p:to>
                                    </p:set>
                                    <p:animEffect transition="in" filter="wipe(left)">
                                      <p:cBhvr>
                                        <p:cTn id="92" dur="300"/>
                                        <p:tgtEl>
                                          <p:spTgt spid="64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4" grpId="0" animBg="1"/>
      <p:bldP spid="64514" grpId="0" animBg="1"/>
      <p:bldP spid="64515" grpId="0" animBg="1"/>
      <p:bldP spid="64517" grpId="0" animBg="1"/>
      <p:bldP spid="64518" grpId="0" animBg="1"/>
      <p:bldP spid="64519" grpId="0" animBg="1"/>
      <p:bldP spid="64520" grpId="0" animBg="1"/>
      <p:bldP spid="64526" grpId="0" animBg="1"/>
      <p:bldP spid="64528" grpId="0"/>
      <p:bldP spid="64530" grpId="0" animBg="1"/>
      <p:bldP spid="64531" grpId="0" animBg="1"/>
      <p:bldP spid="64540" grpId="0"/>
      <p:bldP spid="64541" grpId="0" animBg="1"/>
      <p:bldP spid="64542" grpId="0" animBg="1"/>
      <p:bldP spid="64545" grpId="0" animBg="1"/>
      <p:bldP spid="64547" grpId="0" animBg="1"/>
      <p:bldP spid="64551" grpId="0" animBg="1"/>
      <p:bldP spid="64552" grpId="0" animBg="1"/>
      <p:bldP spid="64553" grpId="0" animBg="1"/>
      <p:bldP spid="64554" grpId="0" animBg="1"/>
      <p:bldP spid="64555" grpId="0" animBg="1"/>
      <p:bldP spid="645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26" name="WordArt 18" descr="Woven mat"/>
          <p:cNvSpPr>
            <a:spLocks noChangeArrowheads="1" noChangeShapeType="1" noTextEdit="1"/>
          </p:cNvSpPr>
          <p:nvPr/>
        </p:nvSpPr>
        <p:spPr bwMode="auto">
          <a:xfrm>
            <a:off x="1066800" y="2133600"/>
            <a:ext cx="4292600" cy="9525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2800" kern="10">
                <a:ln w="9525">
                  <a:round/>
                  <a:headEnd/>
                  <a:tailEnd/>
                </a:ln>
                <a:blipFill dpi="0" rotWithShape="0">
                  <a:blip r:embed="rId2"/>
                  <a:srcRect/>
                  <a:tile tx="0" ty="0" sx="100000" sy="100000" flip="none" algn="tl"/>
                </a:blipFill>
                <a:latin typeface="Arial Black"/>
              </a:rPr>
              <a:t>g = h in "harp"</a:t>
            </a:r>
          </a:p>
        </p:txBody>
      </p:sp>
      <p:sp>
        <p:nvSpPr>
          <p:cNvPr id="68627" name="WordArt 19" descr="Stationery"/>
          <p:cNvSpPr>
            <a:spLocks noChangeArrowheads="1" noChangeShapeType="1" noTextEdit="1"/>
          </p:cNvSpPr>
          <p:nvPr/>
        </p:nvSpPr>
        <p:spPr bwMode="auto">
          <a:xfrm>
            <a:off x="5791200" y="1752600"/>
            <a:ext cx="2286000" cy="914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gemelo</a:t>
            </a:r>
          </a:p>
        </p:txBody>
      </p:sp>
      <p:sp>
        <p:nvSpPr>
          <p:cNvPr id="68628" name="WordArt 20" descr="Stationery"/>
          <p:cNvSpPr>
            <a:spLocks noChangeArrowheads="1" noChangeShapeType="1" noTextEdit="1"/>
          </p:cNvSpPr>
          <p:nvPr/>
        </p:nvSpPr>
        <p:spPr bwMode="auto">
          <a:xfrm>
            <a:off x="5791200" y="2705100"/>
            <a:ext cx="2362200" cy="8001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3"/>
                  <a:srcRect/>
                  <a:tile tx="0" ty="0" sx="100000" sy="100000" flip="none" algn="tl"/>
                </a:blipFill>
                <a:latin typeface="Modern No. 20"/>
              </a:rPr>
              <a:t>gitano</a:t>
            </a:r>
          </a:p>
        </p:txBody>
      </p:sp>
      <p:sp>
        <p:nvSpPr>
          <p:cNvPr id="68629" name="Line 21"/>
          <p:cNvSpPr>
            <a:spLocks noChangeShapeType="1"/>
          </p:cNvSpPr>
          <p:nvPr/>
        </p:nvSpPr>
        <p:spPr bwMode="auto">
          <a:xfrm>
            <a:off x="6223000" y="2540000"/>
            <a:ext cx="381000" cy="0"/>
          </a:xfrm>
          <a:prstGeom prst="line">
            <a:avLst/>
          </a:prstGeom>
          <a:noFill/>
          <a:ln w="34925">
            <a:solidFill>
              <a:schemeClr val="tx1"/>
            </a:solidFill>
            <a:round/>
            <a:headEnd/>
            <a:tailEnd/>
          </a:ln>
          <a:effectLst/>
        </p:spPr>
        <p:txBody>
          <a:bodyPr/>
          <a:lstStyle/>
          <a:p>
            <a:endParaRPr lang="en-US"/>
          </a:p>
        </p:txBody>
      </p:sp>
      <p:sp>
        <p:nvSpPr>
          <p:cNvPr id="68630" name="Line 22"/>
          <p:cNvSpPr>
            <a:spLocks noChangeShapeType="1"/>
          </p:cNvSpPr>
          <p:nvPr/>
        </p:nvSpPr>
        <p:spPr bwMode="auto">
          <a:xfrm>
            <a:off x="6235700" y="3416300"/>
            <a:ext cx="381000" cy="0"/>
          </a:xfrm>
          <a:prstGeom prst="line">
            <a:avLst/>
          </a:prstGeom>
          <a:noFill/>
          <a:ln w="34925">
            <a:solidFill>
              <a:schemeClr val="tx1"/>
            </a:solidFill>
            <a:round/>
            <a:headEnd/>
            <a:tailEnd/>
          </a:ln>
          <a:effectLst/>
        </p:spPr>
        <p:txBody>
          <a:bodyPr/>
          <a:lstStyle/>
          <a:p>
            <a:endParaRPr lang="en-US"/>
          </a:p>
        </p:txBody>
      </p:sp>
      <p:sp>
        <p:nvSpPr>
          <p:cNvPr id="68631" name="AutoShape 23"/>
          <p:cNvSpPr>
            <a:spLocks/>
          </p:cNvSpPr>
          <p:nvPr/>
        </p:nvSpPr>
        <p:spPr bwMode="auto">
          <a:xfrm>
            <a:off x="5346700" y="1816100"/>
            <a:ext cx="533400" cy="1828800"/>
          </a:xfrm>
          <a:prstGeom prst="leftBrace">
            <a:avLst>
              <a:gd name="adj1" fmla="val 28571"/>
              <a:gd name="adj2" fmla="val 50000"/>
            </a:avLst>
          </a:prstGeom>
          <a:noFill/>
          <a:ln w="19050">
            <a:solidFill>
              <a:schemeClr val="tx1"/>
            </a:solidFill>
            <a:round/>
            <a:headEnd/>
            <a:tailEnd/>
          </a:ln>
          <a:effectLst/>
        </p:spPr>
        <p:txBody>
          <a:bodyPr wrap="none" anchor="ctr"/>
          <a:lstStyle/>
          <a:p>
            <a:endParaRPr lang="en-US"/>
          </a:p>
        </p:txBody>
      </p:sp>
      <p:sp>
        <p:nvSpPr>
          <p:cNvPr id="68632" name="Text Box 24"/>
          <p:cNvSpPr txBox="1">
            <a:spLocks noChangeArrowheads="1"/>
          </p:cNvSpPr>
          <p:nvPr/>
        </p:nvSpPr>
        <p:spPr bwMode="auto">
          <a:xfrm>
            <a:off x="762000" y="3035300"/>
            <a:ext cx="44958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 . . before the following two vowels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8626"/>
                                        </p:tgtEl>
                                        <p:attrNameLst>
                                          <p:attrName>style.visibility</p:attrName>
                                        </p:attrNameLst>
                                      </p:cBhvr>
                                      <p:to>
                                        <p:strVal val="visible"/>
                                      </p:to>
                                    </p:set>
                                    <p:animEffect transition="in" filter="wipe(left)">
                                      <p:cBhvr>
                                        <p:cTn id="7" dur="300"/>
                                        <p:tgtEl>
                                          <p:spTgt spid="68626"/>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68631"/>
                                        </p:tgtEl>
                                        <p:attrNameLst>
                                          <p:attrName>style.visibility</p:attrName>
                                        </p:attrNameLst>
                                      </p:cBhvr>
                                      <p:to>
                                        <p:strVal val="visible"/>
                                      </p:to>
                                    </p:set>
                                    <p:animEffect transition="in" filter="wipe(left)">
                                      <p:cBhvr>
                                        <p:cTn id="11" dur="300"/>
                                        <p:tgtEl>
                                          <p:spTgt spid="6863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8632"/>
                                        </p:tgtEl>
                                        <p:attrNameLst>
                                          <p:attrName>style.visibility</p:attrName>
                                        </p:attrNameLst>
                                      </p:cBhvr>
                                      <p:to>
                                        <p:strVal val="visible"/>
                                      </p:to>
                                    </p:set>
                                    <p:animEffect transition="in" filter="dissolve">
                                      <p:cBhvr>
                                        <p:cTn id="16" dur="400"/>
                                        <p:tgtEl>
                                          <p:spTgt spid="686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8627"/>
                                        </p:tgtEl>
                                        <p:attrNameLst>
                                          <p:attrName>style.visibility</p:attrName>
                                        </p:attrNameLst>
                                      </p:cBhvr>
                                      <p:to>
                                        <p:strVal val="visible"/>
                                      </p:to>
                                    </p:set>
                                    <p:animEffect transition="in" filter="wipe(left)">
                                      <p:cBhvr>
                                        <p:cTn id="21" dur="300"/>
                                        <p:tgtEl>
                                          <p:spTgt spid="6862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28"/>
                                        </p:tgtEl>
                                        <p:attrNameLst>
                                          <p:attrName>style.visibility</p:attrName>
                                        </p:attrNameLst>
                                      </p:cBhvr>
                                      <p:to>
                                        <p:strVal val="visible"/>
                                      </p:to>
                                    </p:set>
                                    <p:animEffect transition="in" filter="wipe(left)">
                                      <p:cBhvr>
                                        <p:cTn id="26" dur="300"/>
                                        <p:tgtEl>
                                          <p:spTgt spid="68628"/>
                                        </p:tgtEl>
                                      </p:cBhvr>
                                    </p:animEffect>
                                  </p:childTnLst>
                                </p:cTn>
                              </p:par>
                            </p:childTnLst>
                          </p:cTn>
                        </p:par>
                        <p:par>
                          <p:cTn id="27" fill="hold">
                            <p:stCondLst>
                              <p:cond delay="300"/>
                            </p:stCondLst>
                            <p:childTnLst>
                              <p:par>
                                <p:cTn id="28" presetID="22" presetClass="entr" presetSubtype="8" fill="hold" grpId="0" nodeType="afterEffect">
                                  <p:stCondLst>
                                    <p:cond delay="0"/>
                                  </p:stCondLst>
                                  <p:childTnLst>
                                    <p:set>
                                      <p:cBhvr>
                                        <p:cTn id="29" dur="1" fill="hold">
                                          <p:stCondLst>
                                            <p:cond delay="0"/>
                                          </p:stCondLst>
                                        </p:cTn>
                                        <p:tgtEl>
                                          <p:spTgt spid="68629"/>
                                        </p:tgtEl>
                                        <p:attrNameLst>
                                          <p:attrName>style.visibility</p:attrName>
                                        </p:attrNameLst>
                                      </p:cBhvr>
                                      <p:to>
                                        <p:strVal val="visible"/>
                                      </p:to>
                                    </p:set>
                                    <p:animEffect transition="in" filter="wipe(left)">
                                      <p:cBhvr>
                                        <p:cTn id="30" dur="300"/>
                                        <p:tgtEl>
                                          <p:spTgt spid="6862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8630"/>
                                        </p:tgtEl>
                                        <p:attrNameLst>
                                          <p:attrName>style.visibility</p:attrName>
                                        </p:attrNameLst>
                                      </p:cBhvr>
                                      <p:to>
                                        <p:strVal val="visible"/>
                                      </p:to>
                                    </p:set>
                                    <p:animEffect transition="in" filter="wipe(left)">
                                      <p:cBhvr>
                                        <p:cTn id="33" dur="300"/>
                                        <p:tgtEl>
                                          <p:spTgt spid="68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6" grpId="0" animBg="1"/>
      <p:bldP spid="68627" grpId="0" animBg="1"/>
      <p:bldP spid="68628" grpId="0" animBg="1"/>
      <p:bldP spid="68629" grpId="0" animBg="1"/>
      <p:bldP spid="68630" grpId="0" animBg="1"/>
      <p:bldP spid="68631" grpId="0" animBg="1"/>
      <p:bldP spid="6863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WordArt 2" descr="Woven mat"/>
          <p:cNvSpPr>
            <a:spLocks noChangeArrowheads="1" noChangeShapeType="1" noTextEdit="1"/>
          </p:cNvSpPr>
          <p:nvPr/>
        </p:nvSpPr>
        <p:spPr bwMode="auto">
          <a:xfrm>
            <a:off x="1905000" y="1066800"/>
            <a:ext cx="11430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h</a:t>
            </a:r>
          </a:p>
        </p:txBody>
      </p:sp>
      <p:sp>
        <p:nvSpPr>
          <p:cNvPr id="39939" name="WordArt 3" descr="Stationery"/>
          <p:cNvSpPr>
            <a:spLocks noChangeArrowheads="1" noChangeShapeType="1" noTextEdit="1"/>
          </p:cNvSpPr>
          <p:nvPr/>
        </p:nvSpPr>
        <p:spPr bwMode="auto">
          <a:xfrm>
            <a:off x="3886200" y="1295400"/>
            <a:ext cx="3581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(hache)</a:t>
            </a:r>
          </a:p>
        </p:txBody>
      </p:sp>
      <p:sp>
        <p:nvSpPr>
          <p:cNvPr id="39940" name="Text Box 4"/>
          <p:cNvSpPr txBox="1">
            <a:spLocks noChangeArrowheads="1"/>
          </p:cNvSpPr>
          <p:nvPr/>
        </p:nvSpPr>
        <p:spPr bwMode="auto">
          <a:xfrm>
            <a:off x="1676400" y="3352800"/>
            <a:ext cx="6400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The “h” is always completely silent.</a:t>
            </a:r>
          </a:p>
        </p:txBody>
      </p:sp>
      <p:sp>
        <p:nvSpPr>
          <p:cNvPr id="39941" name="Text Box 5"/>
          <p:cNvSpPr txBox="1">
            <a:spLocks noChangeArrowheads="1"/>
          </p:cNvSpPr>
          <p:nvPr/>
        </p:nvSpPr>
        <p:spPr bwMode="auto">
          <a:xfrm>
            <a:off x="3795713" y="4191000"/>
            <a:ext cx="18288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ospital</a:t>
            </a:r>
          </a:p>
        </p:txBody>
      </p:sp>
      <p:sp>
        <p:nvSpPr>
          <p:cNvPr id="39942" name="Text Box 6"/>
          <p:cNvSpPr txBox="1">
            <a:spLocks noChangeArrowheads="1"/>
          </p:cNvSpPr>
          <p:nvPr/>
        </p:nvSpPr>
        <p:spPr bwMode="auto">
          <a:xfrm>
            <a:off x="3505200" y="4191000"/>
            <a:ext cx="6096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h</a:t>
            </a:r>
          </a:p>
        </p:txBody>
      </p:sp>
      <p:sp>
        <p:nvSpPr>
          <p:cNvPr id="39943" name="Text Box 7"/>
          <p:cNvSpPr txBox="1">
            <a:spLocks noChangeArrowheads="1"/>
          </p:cNvSpPr>
          <p:nvPr/>
        </p:nvSpPr>
        <p:spPr bwMode="auto">
          <a:xfrm>
            <a:off x="7300913" y="4191000"/>
            <a:ext cx="776287"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ol</a:t>
            </a:r>
          </a:p>
        </p:txBody>
      </p:sp>
      <p:sp>
        <p:nvSpPr>
          <p:cNvPr id="39944" name="Text Box 8"/>
          <p:cNvSpPr txBox="1">
            <a:spLocks noChangeArrowheads="1"/>
          </p:cNvSpPr>
          <p:nvPr/>
        </p:nvSpPr>
        <p:spPr bwMode="auto">
          <a:xfrm>
            <a:off x="7010400" y="4191000"/>
            <a:ext cx="6096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h</a:t>
            </a:r>
          </a:p>
        </p:txBody>
      </p:sp>
      <p:sp>
        <p:nvSpPr>
          <p:cNvPr id="39945" name="Text Box 9"/>
          <p:cNvSpPr txBox="1">
            <a:spLocks noChangeArrowheads="1"/>
          </p:cNvSpPr>
          <p:nvPr/>
        </p:nvSpPr>
        <p:spPr bwMode="auto">
          <a:xfrm>
            <a:off x="6076950" y="4191000"/>
            <a:ext cx="11430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alco</a:t>
            </a:r>
          </a:p>
        </p:txBody>
      </p:sp>
      <p:sp>
        <p:nvSpPr>
          <p:cNvPr id="39946" name="Text Box 10"/>
          <p:cNvSpPr txBox="1">
            <a:spLocks noChangeArrowheads="1"/>
          </p:cNvSpPr>
          <p:nvPr/>
        </p:nvSpPr>
        <p:spPr bwMode="auto">
          <a:xfrm>
            <a:off x="1738313" y="4191000"/>
            <a:ext cx="1157287"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otel</a:t>
            </a:r>
          </a:p>
        </p:txBody>
      </p:sp>
      <p:sp>
        <p:nvSpPr>
          <p:cNvPr id="39947" name="Text Box 11"/>
          <p:cNvSpPr txBox="1">
            <a:spLocks noChangeArrowheads="1"/>
          </p:cNvSpPr>
          <p:nvPr/>
        </p:nvSpPr>
        <p:spPr bwMode="auto">
          <a:xfrm>
            <a:off x="1447800" y="4191000"/>
            <a:ext cx="6096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h</a:t>
            </a:r>
          </a:p>
        </p:txBody>
      </p:sp>
      <p:sp>
        <p:nvSpPr>
          <p:cNvPr id="39948" name="Text Box 12"/>
          <p:cNvSpPr txBox="1">
            <a:spLocks noChangeArrowheads="1"/>
          </p:cNvSpPr>
          <p:nvPr/>
        </p:nvSpPr>
        <p:spPr bwMode="auto">
          <a:xfrm>
            <a:off x="3414713" y="5029200"/>
            <a:ext cx="3748087"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ablo español.</a:t>
            </a:r>
          </a:p>
        </p:txBody>
      </p:sp>
      <p:sp>
        <p:nvSpPr>
          <p:cNvPr id="39949" name="Text Box 13"/>
          <p:cNvSpPr txBox="1">
            <a:spLocks noChangeArrowheads="1"/>
          </p:cNvSpPr>
          <p:nvPr/>
        </p:nvSpPr>
        <p:spPr bwMode="auto">
          <a:xfrm>
            <a:off x="3005138" y="5029200"/>
            <a:ext cx="609600" cy="762000"/>
          </a:xfrm>
          <a:prstGeom prst="rect">
            <a:avLst/>
          </a:prstGeom>
          <a:noFill/>
          <a:ln w="9525">
            <a:noFill/>
            <a:miter lim="800000"/>
            <a:headEnd/>
            <a:tailEnd/>
          </a:ln>
          <a:effectLst/>
        </p:spPr>
        <p:txBody>
          <a:bodyPr>
            <a:spAutoFit/>
          </a:bodyPr>
          <a:lstStyle/>
          <a:p>
            <a:pPr>
              <a:spcBef>
                <a:spcPct val="50000"/>
              </a:spcBef>
            </a:pPr>
            <a:r>
              <a:rPr lang="en-US" sz="4400">
                <a:solidFill>
                  <a:schemeClr val="bg1"/>
                </a:solidFill>
              </a:rPr>
              <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wipe(left)">
                                      <p:cBhvr>
                                        <p:cTn id="7" dur="200"/>
                                        <p:tgtEl>
                                          <p:spTgt spid="399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939"/>
                                        </p:tgtEl>
                                        <p:attrNameLst>
                                          <p:attrName>style.visibility</p:attrName>
                                        </p:attrNameLst>
                                      </p:cBhvr>
                                      <p:to>
                                        <p:strVal val="visible"/>
                                      </p:to>
                                    </p:set>
                                    <p:animEffect transition="in" filter="dissolve">
                                      <p:cBhvr>
                                        <p:cTn id="12" dur="500"/>
                                        <p:tgtEl>
                                          <p:spTgt spid="3993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940"/>
                                        </p:tgtEl>
                                        <p:attrNameLst>
                                          <p:attrName>style.visibility</p:attrName>
                                        </p:attrNameLst>
                                      </p:cBhvr>
                                      <p:to>
                                        <p:strVal val="visible"/>
                                      </p:to>
                                    </p:set>
                                    <p:animEffect transition="in" filter="dissolve">
                                      <p:cBhvr>
                                        <p:cTn id="17" dur="400"/>
                                        <p:tgtEl>
                                          <p:spTgt spid="399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947"/>
                                        </p:tgtEl>
                                        <p:attrNameLst>
                                          <p:attrName>style.visibility</p:attrName>
                                        </p:attrNameLst>
                                      </p:cBhvr>
                                      <p:to>
                                        <p:strVal val="visible"/>
                                      </p:to>
                                    </p:set>
                                    <p:animEffect transition="in" filter="wipe(left)">
                                      <p:cBhvr>
                                        <p:cTn id="22" dur="50"/>
                                        <p:tgtEl>
                                          <p:spTgt spid="39947"/>
                                        </p:tgtEl>
                                      </p:cBhvr>
                                    </p:animEffect>
                                  </p:childTnLst>
                                </p:cTn>
                              </p:par>
                            </p:childTnLst>
                          </p:cTn>
                        </p:par>
                        <p:par>
                          <p:cTn id="23" fill="hold">
                            <p:stCondLst>
                              <p:cond delay="50"/>
                            </p:stCondLst>
                            <p:childTnLst>
                              <p:par>
                                <p:cTn id="24" presetID="22" presetClass="entr" presetSubtype="8" fill="hold" grpId="0" nodeType="afterEffect">
                                  <p:stCondLst>
                                    <p:cond delay="0"/>
                                  </p:stCondLst>
                                  <p:iterate type="lt">
                                    <p:tmPct val="65000"/>
                                  </p:iterate>
                                  <p:childTnLst>
                                    <p:set>
                                      <p:cBhvr>
                                        <p:cTn id="25" dur="1" fill="hold">
                                          <p:stCondLst>
                                            <p:cond delay="0"/>
                                          </p:stCondLst>
                                        </p:cTn>
                                        <p:tgtEl>
                                          <p:spTgt spid="39946"/>
                                        </p:tgtEl>
                                        <p:attrNameLst>
                                          <p:attrName>style.visibility</p:attrName>
                                        </p:attrNameLst>
                                      </p:cBhvr>
                                      <p:to>
                                        <p:strVal val="visible"/>
                                      </p:to>
                                    </p:set>
                                    <p:animEffect transition="in" filter="wipe(left)">
                                      <p:cBhvr>
                                        <p:cTn id="26" dur="50"/>
                                        <p:tgtEl>
                                          <p:spTgt spid="3994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grpId="1" nodeType="clickEffect">
                                  <p:stCondLst>
                                    <p:cond delay="0"/>
                                  </p:stCondLst>
                                  <p:childTnLst>
                                    <p:animEffect transition="out" filter="dissolve">
                                      <p:cBhvr>
                                        <p:cTn id="30" dur="500"/>
                                        <p:tgtEl>
                                          <p:spTgt spid="39947"/>
                                        </p:tgtEl>
                                      </p:cBhvr>
                                    </p:animEffect>
                                    <p:set>
                                      <p:cBhvr>
                                        <p:cTn id="31" dur="1" fill="hold">
                                          <p:stCondLst>
                                            <p:cond delay="499"/>
                                          </p:stCondLst>
                                        </p:cTn>
                                        <p:tgtEl>
                                          <p:spTgt spid="3994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942"/>
                                        </p:tgtEl>
                                        <p:attrNameLst>
                                          <p:attrName>style.visibility</p:attrName>
                                        </p:attrNameLst>
                                      </p:cBhvr>
                                      <p:to>
                                        <p:strVal val="visible"/>
                                      </p:to>
                                    </p:set>
                                    <p:animEffect transition="in" filter="wipe(left)">
                                      <p:cBhvr>
                                        <p:cTn id="36" dur="50"/>
                                        <p:tgtEl>
                                          <p:spTgt spid="39942"/>
                                        </p:tgtEl>
                                      </p:cBhvr>
                                    </p:animEffect>
                                  </p:childTnLst>
                                </p:cTn>
                              </p:par>
                            </p:childTnLst>
                          </p:cTn>
                        </p:par>
                        <p:par>
                          <p:cTn id="37" fill="hold">
                            <p:stCondLst>
                              <p:cond delay="50"/>
                            </p:stCondLst>
                            <p:childTnLst>
                              <p:par>
                                <p:cTn id="38" presetID="22" presetClass="entr" presetSubtype="8" fill="hold" grpId="0" nodeType="afterEffect">
                                  <p:stCondLst>
                                    <p:cond delay="0"/>
                                  </p:stCondLst>
                                  <p:iterate type="lt">
                                    <p:tmPct val="65000"/>
                                  </p:iterate>
                                  <p:childTnLst>
                                    <p:set>
                                      <p:cBhvr>
                                        <p:cTn id="39" dur="1" fill="hold">
                                          <p:stCondLst>
                                            <p:cond delay="0"/>
                                          </p:stCondLst>
                                        </p:cTn>
                                        <p:tgtEl>
                                          <p:spTgt spid="39941"/>
                                        </p:tgtEl>
                                        <p:attrNameLst>
                                          <p:attrName>style.visibility</p:attrName>
                                        </p:attrNameLst>
                                      </p:cBhvr>
                                      <p:to>
                                        <p:strVal val="visible"/>
                                      </p:to>
                                    </p:set>
                                    <p:animEffect transition="in" filter="wipe(left)">
                                      <p:cBhvr>
                                        <p:cTn id="40" dur="50"/>
                                        <p:tgtEl>
                                          <p:spTgt spid="39941"/>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xit" presetSubtype="0" fill="hold" grpId="1" nodeType="clickEffect">
                                  <p:stCondLst>
                                    <p:cond delay="0"/>
                                  </p:stCondLst>
                                  <p:childTnLst>
                                    <p:animEffect transition="out" filter="dissolve">
                                      <p:cBhvr>
                                        <p:cTn id="44" dur="500"/>
                                        <p:tgtEl>
                                          <p:spTgt spid="39942"/>
                                        </p:tgtEl>
                                      </p:cBhvr>
                                    </p:animEffect>
                                    <p:set>
                                      <p:cBhvr>
                                        <p:cTn id="45" dur="1" fill="hold">
                                          <p:stCondLst>
                                            <p:cond delay="499"/>
                                          </p:stCondLst>
                                        </p:cTn>
                                        <p:tgtEl>
                                          <p:spTgt spid="3994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iterate type="lt">
                                    <p:tmPct val="65000"/>
                                  </p:iterate>
                                  <p:childTnLst>
                                    <p:set>
                                      <p:cBhvr>
                                        <p:cTn id="49" dur="1" fill="hold">
                                          <p:stCondLst>
                                            <p:cond delay="0"/>
                                          </p:stCondLst>
                                        </p:cTn>
                                        <p:tgtEl>
                                          <p:spTgt spid="39945"/>
                                        </p:tgtEl>
                                        <p:attrNameLst>
                                          <p:attrName>style.visibility</p:attrName>
                                        </p:attrNameLst>
                                      </p:cBhvr>
                                      <p:to>
                                        <p:strVal val="visible"/>
                                      </p:to>
                                    </p:set>
                                    <p:animEffect transition="in" filter="wipe(left)">
                                      <p:cBhvr>
                                        <p:cTn id="50" dur="50"/>
                                        <p:tgtEl>
                                          <p:spTgt spid="39945"/>
                                        </p:tgtEl>
                                      </p:cBhvr>
                                    </p:animEffect>
                                  </p:childTnLst>
                                </p:cTn>
                              </p:par>
                            </p:childTnLst>
                          </p:cTn>
                        </p:par>
                        <p:par>
                          <p:cTn id="51" fill="hold">
                            <p:stCondLst>
                              <p:cond delay="147"/>
                            </p:stCondLst>
                            <p:childTnLst>
                              <p:par>
                                <p:cTn id="52" presetID="22" presetClass="entr" presetSubtype="8" fill="hold" grpId="0" nodeType="afterEffect">
                                  <p:stCondLst>
                                    <p:cond delay="0"/>
                                  </p:stCondLst>
                                  <p:childTnLst>
                                    <p:set>
                                      <p:cBhvr>
                                        <p:cTn id="53" dur="1" fill="hold">
                                          <p:stCondLst>
                                            <p:cond delay="0"/>
                                          </p:stCondLst>
                                        </p:cTn>
                                        <p:tgtEl>
                                          <p:spTgt spid="39944"/>
                                        </p:tgtEl>
                                        <p:attrNameLst>
                                          <p:attrName>style.visibility</p:attrName>
                                        </p:attrNameLst>
                                      </p:cBhvr>
                                      <p:to>
                                        <p:strVal val="visible"/>
                                      </p:to>
                                    </p:set>
                                    <p:animEffect transition="in" filter="wipe(left)">
                                      <p:cBhvr>
                                        <p:cTn id="54" dur="50"/>
                                        <p:tgtEl>
                                          <p:spTgt spid="39944"/>
                                        </p:tgtEl>
                                      </p:cBhvr>
                                    </p:animEffect>
                                  </p:childTnLst>
                                </p:cTn>
                              </p:par>
                            </p:childTnLst>
                          </p:cTn>
                        </p:par>
                        <p:par>
                          <p:cTn id="55" fill="hold">
                            <p:stCondLst>
                              <p:cond delay="197"/>
                            </p:stCondLst>
                            <p:childTnLst>
                              <p:par>
                                <p:cTn id="56" presetID="22" presetClass="entr" presetSubtype="8" fill="hold" grpId="0" nodeType="afterEffect">
                                  <p:stCondLst>
                                    <p:cond delay="0"/>
                                  </p:stCondLst>
                                  <p:iterate type="lt">
                                    <p:tmPct val="65000"/>
                                  </p:iterate>
                                  <p:childTnLst>
                                    <p:set>
                                      <p:cBhvr>
                                        <p:cTn id="57" dur="1" fill="hold">
                                          <p:stCondLst>
                                            <p:cond delay="0"/>
                                          </p:stCondLst>
                                        </p:cTn>
                                        <p:tgtEl>
                                          <p:spTgt spid="39943"/>
                                        </p:tgtEl>
                                        <p:attrNameLst>
                                          <p:attrName>style.visibility</p:attrName>
                                        </p:attrNameLst>
                                      </p:cBhvr>
                                      <p:to>
                                        <p:strVal val="visible"/>
                                      </p:to>
                                    </p:set>
                                    <p:animEffect transition="in" filter="wipe(left)">
                                      <p:cBhvr>
                                        <p:cTn id="58" dur="50"/>
                                        <p:tgtEl>
                                          <p:spTgt spid="3994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xit" presetSubtype="0" fill="hold" grpId="1" nodeType="clickEffect">
                                  <p:stCondLst>
                                    <p:cond delay="0"/>
                                  </p:stCondLst>
                                  <p:childTnLst>
                                    <p:animEffect transition="out" filter="dissolve">
                                      <p:cBhvr>
                                        <p:cTn id="62" dur="500"/>
                                        <p:tgtEl>
                                          <p:spTgt spid="39944"/>
                                        </p:tgtEl>
                                      </p:cBhvr>
                                    </p:animEffect>
                                    <p:set>
                                      <p:cBhvr>
                                        <p:cTn id="63" dur="1" fill="hold">
                                          <p:stCondLst>
                                            <p:cond delay="499"/>
                                          </p:stCondLst>
                                        </p:cTn>
                                        <p:tgtEl>
                                          <p:spTgt spid="3994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9949"/>
                                        </p:tgtEl>
                                        <p:attrNameLst>
                                          <p:attrName>style.visibility</p:attrName>
                                        </p:attrNameLst>
                                      </p:cBhvr>
                                      <p:to>
                                        <p:strVal val="visible"/>
                                      </p:to>
                                    </p:set>
                                    <p:animEffect transition="in" filter="wipe(left)">
                                      <p:cBhvr>
                                        <p:cTn id="68" dur="50"/>
                                        <p:tgtEl>
                                          <p:spTgt spid="39949"/>
                                        </p:tgtEl>
                                      </p:cBhvr>
                                    </p:animEffect>
                                  </p:childTnLst>
                                </p:cTn>
                              </p:par>
                            </p:childTnLst>
                          </p:cTn>
                        </p:par>
                        <p:par>
                          <p:cTn id="69" fill="hold">
                            <p:stCondLst>
                              <p:cond delay="50"/>
                            </p:stCondLst>
                            <p:childTnLst>
                              <p:par>
                                <p:cTn id="70" presetID="22" presetClass="entr" presetSubtype="8" fill="hold" grpId="0" nodeType="afterEffect">
                                  <p:stCondLst>
                                    <p:cond delay="0"/>
                                  </p:stCondLst>
                                  <p:iterate type="lt">
                                    <p:tmPct val="65000"/>
                                  </p:iterate>
                                  <p:childTnLst>
                                    <p:set>
                                      <p:cBhvr>
                                        <p:cTn id="71" dur="1" fill="hold">
                                          <p:stCondLst>
                                            <p:cond delay="0"/>
                                          </p:stCondLst>
                                        </p:cTn>
                                        <p:tgtEl>
                                          <p:spTgt spid="39948"/>
                                        </p:tgtEl>
                                        <p:attrNameLst>
                                          <p:attrName>style.visibility</p:attrName>
                                        </p:attrNameLst>
                                      </p:cBhvr>
                                      <p:to>
                                        <p:strVal val="visible"/>
                                      </p:to>
                                    </p:set>
                                    <p:animEffect transition="in" filter="wipe(left)">
                                      <p:cBhvr>
                                        <p:cTn id="72" dur="50"/>
                                        <p:tgtEl>
                                          <p:spTgt spid="39948"/>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1" nodeType="clickEffect">
                                  <p:stCondLst>
                                    <p:cond delay="0"/>
                                  </p:stCondLst>
                                  <p:childTnLst>
                                    <p:animEffect transition="out" filter="dissolve">
                                      <p:cBhvr>
                                        <p:cTn id="76" dur="500"/>
                                        <p:tgtEl>
                                          <p:spTgt spid="39949"/>
                                        </p:tgtEl>
                                      </p:cBhvr>
                                    </p:animEffect>
                                    <p:set>
                                      <p:cBhvr>
                                        <p:cTn id="77" dur="1" fill="hold">
                                          <p:stCondLst>
                                            <p:cond delay="499"/>
                                          </p:stCondLst>
                                        </p:cTn>
                                        <p:tgtEl>
                                          <p:spTgt spid="399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39939" grpId="0" animBg="1"/>
      <p:bldP spid="39940" grpId="0"/>
      <p:bldP spid="39941" grpId="0"/>
      <p:bldP spid="39942" grpId="0"/>
      <p:bldP spid="39942" grpId="1"/>
      <p:bldP spid="39943" grpId="0"/>
      <p:bldP spid="39944" grpId="0"/>
      <p:bldP spid="39944" grpId="1"/>
      <p:bldP spid="39945" grpId="0"/>
      <p:bldP spid="39946" grpId="0"/>
      <p:bldP spid="39947" grpId="0"/>
      <p:bldP spid="39947" grpId="1"/>
      <p:bldP spid="39948" grpId="0"/>
      <p:bldP spid="39949" grpId="0"/>
      <p:bldP spid="3994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WordArt 2" descr="Woven mat"/>
          <p:cNvSpPr>
            <a:spLocks noChangeArrowheads="1" noChangeShapeType="1" noTextEdit="1"/>
          </p:cNvSpPr>
          <p:nvPr/>
        </p:nvSpPr>
        <p:spPr bwMode="auto">
          <a:xfrm>
            <a:off x="2971800" y="914400"/>
            <a:ext cx="457200" cy="19050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i</a:t>
            </a:r>
          </a:p>
        </p:txBody>
      </p:sp>
      <p:sp>
        <p:nvSpPr>
          <p:cNvPr id="40963" name="WordArt 3" descr="Stationery"/>
          <p:cNvSpPr>
            <a:spLocks noChangeArrowheads="1" noChangeShapeType="1" noTextEdit="1"/>
          </p:cNvSpPr>
          <p:nvPr/>
        </p:nvSpPr>
        <p:spPr bwMode="auto">
          <a:xfrm>
            <a:off x="4876800" y="1295400"/>
            <a:ext cx="1752600" cy="15240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(i)</a:t>
            </a:r>
          </a:p>
        </p:txBody>
      </p:sp>
      <p:sp>
        <p:nvSpPr>
          <p:cNvPr id="40964" name="Oval 4"/>
          <p:cNvSpPr>
            <a:spLocks noChangeArrowheads="1"/>
          </p:cNvSpPr>
          <p:nvPr/>
        </p:nvSpPr>
        <p:spPr bwMode="auto">
          <a:xfrm>
            <a:off x="1790700" y="609600"/>
            <a:ext cx="2743200" cy="2667000"/>
          </a:xfrm>
          <a:prstGeom prst="ellipse">
            <a:avLst/>
          </a:prstGeom>
          <a:noFill/>
          <a:ln w="25400">
            <a:solidFill>
              <a:schemeClr val="tx1"/>
            </a:solidFill>
            <a:round/>
            <a:headEnd/>
            <a:tailEnd/>
          </a:ln>
          <a:effectLst/>
        </p:spPr>
        <p:txBody>
          <a:bodyPr wrap="none" anchor="ctr"/>
          <a:lstStyle/>
          <a:p>
            <a:endParaRPr lang="en-US"/>
          </a:p>
        </p:txBody>
      </p:sp>
      <p:sp>
        <p:nvSpPr>
          <p:cNvPr id="40965" name="Line 5"/>
          <p:cNvSpPr>
            <a:spLocks noChangeShapeType="1"/>
          </p:cNvSpPr>
          <p:nvPr/>
        </p:nvSpPr>
        <p:spPr bwMode="auto">
          <a:xfrm>
            <a:off x="3171825" y="3267075"/>
            <a:ext cx="152400" cy="533400"/>
          </a:xfrm>
          <a:prstGeom prst="line">
            <a:avLst/>
          </a:prstGeom>
          <a:noFill/>
          <a:ln w="25400">
            <a:solidFill>
              <a:schemeClr val="tx1"/>
            </a:solidFill>
            <a:round/>
            <a:headEnd/>
            <a:tailEnd type="triangle" w="med" len="med"/>
          </a:ln>
          <a:effectLst/>
        </p:spPr>
        <p:txBody>
          <a:bodyPr/>
          <a:lstStyle/>
          <a:p>
            <a:endParaRPr lang="en-US"/>
          </a:p>
        </p:txBody>
      </p:sp>
      <p:sp>
        <p:nvSpPr>
          <p:cNvPr id="40966" name="Text Box 6"/>
          <p:cNvSpPr txBox="1">
            <a:spLocks noChangeArrowheads="1"/>
          </p:cNvSpPr>
          <p:nvPr/>
        </p:nvSpPr>
        <p:spPr bwMode="auto">
          <a:xfrm>
            <a:off x="1628775" y="3687763"/>
            <a:ext cx="7286625" cy="968375"/>
          </a:xfrm>
          <a:prstGeom prst="rect">
            <a:avLst/>
          </a:prstGeom>
          <a:noFill/>
          <a:ln w="9525">
            <a:noFill/>
            <a:miter lim="800000"/>
            <a:headEnd/>
            <a:tailEnd/>
          </a:ln>
          <a:effectLst/>
        </p:spPr>
        <p:txBody>
          <a:bodyPr>
            <a:spAutoFit/>
          </a:bodyPr>
          <a:lstStyle/>
          <a:p>
            <a:pPr>
              <a:lnSpc>
                <a:spcPct val="90000"/>
              </a:lnSpc>
              <a:spcBef>
                <a:spcPct val="50000"/>
              </a:spcBef>
            </a:pPr>
            <a:r>
              <a:rPr lang="en-US" sz="3200">
                <a:solidFill>
                  <a:schemeClr val="bg1"/>
                </a:solidFill>
              </a:rPr>
              <a:t>Like the ee in “t</a:t>
            </a:r>
            <a:r>
              <a:rPr lang="en-US" sz="3200" u="sng">
                <a:solidFill>
                  <a:schemeClr val="bg1"/>
                </a:solidFill>
              </a:rPr>
              <a:t>ee</a:t>
            </a:r>
            <a:r>
              <a:rPr lang="en-US" sz="3200">
                <a:solidFill>
                  <a:schemeClr val="bg1"/>
                </a:solidFill>
              </a:rPr>
              <a:t>th” or the i in “mach</a:t>
            </a:r>
            <a:r>
              <a:rPr lang="en-US" sz="3200" u="sng">
                <a:solidFill>
                  <a:schemeClr val="bg1"/>
                </a:solidFill>
              </a:rPr>
              <a:t>i</a:t>
            </a:r>
            <a:r>
              <a:rPr lang="en-US" sz="3200">
                <a:solidFill>
                  <a:schemeClr val="bg1"/>
                </a:solidFill>
              </a:rPr>
              <a:t>ne,” but shorter</a:t>
            </a:r>
          </a:p>
        </p:txBody>
      </p:sp>
      <p:sp>
        <p:nvSpPr>
          <p:cNvPr id="40967" name="Text Box 7"/>
          <p:cNvSpPr txBox="1">
            <a:spLocks noChangeArrowheads="1"/>
          </p:cNvSpPr>
          <p:nvPr/>
        </p:nvSpPr>
        <p:spPr bwMode="auto">
          <a:xfrm>
            <a:off x="1752600" y="4678363"/>
            <a:ext cx="7620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mi</a:t>
            </a:r>
          </a:p>
        </p:txBody>
      </p:sp>
      <p:sp>
        <p:nvSpPr>
          <p:cNvPr id="40968" name="Text Box 8"/>
          <p:cNvSpPr txBox="1">
            <a:spLocks noChangeArrowheads="1"/>
          </p:cNvSpPr>
          <p:nvPr/>
        </p:nvSpPr>
        <p:spPr bwMode="auto">
          <a:xfrm>
            <a:off x="1752600" y="5287963"/>
            <a:ext cx="1219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niño</a:t>
            </a:r>
          </a:p>
        </p:txBody>
      </p:sp>
      <p:sp>
        <p:nvSpPr>
          <p:cNvPr id="40969" name="Text Box 9"/>
          <p:cNvSpPr txBox="1">
            <a:spLocks noChangeArrowheads="1"/>
          </p:cNvSpPr>
          <p:nvPr/>
        </p:nvSpPr>
        <p:spPr bwMode="auto">
          <a:xfrm>
            <a:off x="3657600" y="4678363"/>
            <a:ext cx="1219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libro</a:t>
            </a:r>
          </a:p>
        </p:txBody>
      </p:sp>
      <p:sp>
        <p:nvSpPr>
          <p:cNvPr id="40970" name="Text Box 10"/>
          <p:cNvSpPr txBox="1">
            <a:spLocks noChangeArrowheads="1"/>
          </p:cNvSpPr>
          <p:nvPr/>
        </p:nvSpPr>
        <p:spPr bwMode="auto">
          <a:xfrm>
            <a:off x="3657600" y="52879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tímido</a:t>
            </a:r>
          </a:p>
        </p:txBody>
      </p:sp>
      <p:sp>
        <p:nvSpPr>
          <p:cNvPr id="40971" name="Text Box 11"/>
          <p:cNvSpPr txBox="1">
            <a:spLocks noChangeArrowheads="1"/>
          </p:cNvSpPr>
          <p:nvPr/>
        </p:nvSpPr>
        <p:spPr bwMode="auto">
          <a:xfrm>
            <a:off x="5791200" y="4678363"/>
            <a:ext cx="2133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inteligente</a:t>
            </a:r>
          </a:p>
        </p:txBody>
      </p:sp>
      <p:sp>
        <p:nvSpPr>
          <p:cNvPr id="40972" name="Text Box 12"/>
          <p:cNvSpPr txBox="1">
            <a:spLocks noChangeArrowheads="1"/>
          </p:cNvSpPr>
          <p:nvPr/>
        </p:nvSpPr>
        <p:spPr bwMode="auto">
          <a:xfrm>
            <a:off x="5791200" y="5287963"/>
            <a:ext cx="1066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rico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200"/>
                                        <p:tgtEl>
                                          <p:spTgt spid="409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963"/>
                                        </p:tgtEl>
                                        <p:attrNameLst>
                                          <p:attrName>style.visibility</p:attrName>
                                        </p:attrNameLst>
                                      </p:cBhvr>
                                      <p:to>
                                        <p:strVal val="visible"/>
                                      </p:to>
                                    </p:set>
                                    <p:animEffect transition="in" filter="dissolve">
                                      <p:cBhvr>
                                        <p:cTn id="12" dur="500"/>
                                        <p:tgtEl>
                                          <p:spTgt spid="409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64"/>
                                        </p:tgtEl>
                                        <p:attrNameLst>
                                          <p:attrName>style.visibility</p:attrName>
                                        </p:attrNameLst>
                                      </p:cBhvr>
                                      <p:to>
                                        <p:strVal val="visible"/>
                                      </p:to>
                                    </p:set>
                                    <p:animEffect transition="in" filter="wipe(up)">
                                      <p:cBhvr>
                                        <p:cTn id="17" dur="300"/>
                                        <p:tgtEl>
                                          <p:spTgt spid="40964"/>
                                        </p:tgtEl>
                                      </p:cBhvr>
                                    </p:animEffect>
                                  </p:childTnLst>
                                </p:cTn>
                              </p:par>
                            </p:childTnLst>
                          </p:cTn>
                        </p:par>
                        <p:par>
                          <p:cTn id="18" fill="hold">
                            <p:stCondLst>
                              <p:cond delay="300"/>
                            </p:stCondLst>
                            <p:childTnLst>
                              <p:par>
                                <p:cTn id="19" presetID="22" presetClass="entr" presetSubtype="1" fill="hold" grpId="0" nodeType="afterEffect">
                                  <p:stCondLst>
                                    <p:cond delay="0"/>
                                  </p:stCondLst>
                                  <p:childTnLst>
                                    <p:set>
                                      <p:cBhvr>
                                        <p:cTn id="20" dur="1" fill="hold">
                                          <p:stCondLst>
                                            <p:cond delay="0"/>
                                          </p:stCondLst>
                                        </p:cTn>
                                        <p:tgtEl>
                                          <p:spTgt spid="40965"/>
                                        </p:tgtEl>
                                        <p:attrNameLst>
                                          <p:attrName>style.visibility</p:attrName>
                                        </p:attrNameLst>
                                      </p:cBhvr>
                                      <p:to>
                                        <p:strVal val="visible"/>
                                      </p:to>
                                    </p:set>
                                    <p:animEffect transition="in" filter="wipe(up)">
                                      <p:cBhvr>
                                        <p:cTn id="21" dur="300"/>
                                        <p:tgtEl>
                                          <p:spTgt spid="40965"/>
                                        </p:tgtEl>
                                      </p:cBhvr>
                                    </p:animEffect>
                                  </p:childTnLst>
                                </p:cTn>
                              </p:par>
                            </p:childTnLst>
                          </p:cTn>
                        </p:par>
                        <p:par>
                          <p:cTn id="22" fill="hold">
                            <p:stCondLst>
                              <p:cond delay="600"/>
                            </p:stCondLst>
                            <p:childTnLst>
                              <p:par>
                                <p:cTn id="23" presetID="9" presetClass="entr" presetSubtype="0" fill="hold" grpId="0" nodeType="afterEffect">
                                  <p:stCondLst>
                                    <p:cond delay="0"/>
                                  </p:stCondLst>
                                  <p:childTnLst>
                                    <p:set>
                                      <p:cBhvr>
                                        <p:cTn id="24" dur="1" fill="hold">
                                          <p:stCondLst>
                                            <p:cond delay="0"/>
                                          </p:stCondLst>
                                        </p:cTn>
                                        <p:tgtEl>
                                          <p:spTgt spid="40966"/>
                                        </p:tgtEl>
                                        <p:attrNameLst>
                                          <p:attrName>style.visibility</p:attrName>
                                        </p:attrNameLst>
                                      </p:cBhvr>
                                      <p:to>
                                        <p:strVal val="visible"/>
                                      </p:to>
                                    </p:set>
                                    <p:animEffect transition="in" filter="dissolve">
                                      <p:cBhvr>
                                        <p:cTn id="25" dur="400"/>
                                        <p:tgtEl>
                                          <p:spTgt spid="4096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0967"/>
                                        </p:tgtEl>
                                        <p:attrNameLst>
                                          <p:attrName>style.visibility</p:attrName>
                                        </p:attrNameLst>
                                      </p:cBhvr>
                                      <p:to>
                                        <p:strVal val="visible"/>
                                      </p:to>
                                    </p:set>
                                    <p:animEffect transition="in" filter="fade">
                                      <p:cBhvr>
                                        <p:cTn id="30" dur="300"/>
                                        <p:tgtEl>
                                          <p:spTgt spid="4096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0968"/>
                                        </p:tgtEl>
                                        <p:attrNameLst>
                                          <p:attrName>style.visibility</p:attrName>
                                        </p:attrNameLst>
                                      </p:cBhvr>
                                      <p:to>
                                        <p:strVal val="visible"/>
                                      </p:to>
                                    </p:set>
                                    <p:animEffect transition="in" filter="fade">
                                      <p:cBhvr>
                                        <p:cTn id="35" dur="300"/>
                                        <p:tgtEl>
                                          <p:spTgt spid="4096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0969"/>
                                        </p:tgtEl>
                                        <p:attrNameLst>
                                          <p:attrName>style.visibility</p:attrName>
                                        </p:attrNameLst>
                                      </p:cBhvr>
                                      <p:to>
                                        <p:strVal val="visible"/>
                                      </p:to>
                                    </p:set>
                                    <p:animEffect transition="in" filter="fade">
                                      <p:cBhvr>
                                        <p:cTn id="40" dur="300"/>
                                        <p:tgtEl>
                                          <p:spTgt spid="4096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970"/>
                                        </p:tgtEl>
                                        <p:attrNameLst>
                                          <p:attrName>style.visibility</p:attrName>
                                        </p:attrNameLst>
                                      </p:cBhvr>
                                      <p:to>
                                        <p:strVal val="visible"/>
                                      </p:to>
                                    </p:set>
                                    <p:animEffect transition="in" filter="fade">
                                      <p:cBhvr>
                                        <p:cTn id="45" dur="300"/>
                                        <p:tgtEl>
                                          <p:spTgt spid="4097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0971"/>
                                        </p:tgtEl>
                                        <p:attrNameLst>
                                          <p:attrName>style.visibility</p:attrName>
                                        </p:attrNameLst>
                                      </p:cBhvr>
                                      <p:to>
                                        <p:strVal val="visible"/>
                                      </p:to>
                                    </p:set>
                                    <p:animEffect transition="in" filter="fade">
                                      <p:cBhvr>
                                        <p:cTn id="50" dur="300"/>
                                        <p:tgtEl>
                                          <p:spTgt spid="4097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0972"/>
                                        </p:tgtEl>
                                        <p:attrNameLst>
                                          <p:attrName>style.visibility</p:attrName>
                                        </p:attrNameLst>
                                      </p:cBhvr>
                                      <p:to>
                                        <p:strVal val="visible"/>
                                      </p:to>
                                    </p:set>
                                    <p:animEffect transition="in" filter="fade">
                                      <p:cBhvr>
                                        <p:cTn id="55" dur="300"/>
                                        <p:tgtEl>
                                          <p:spTgt spid="40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nimBg="1"/>
      <p:bldP spid="40963" grpId="0" animBg="1"/>
      <p:bldP spid="40964" grpId="0" animBg="1"/>
      <p:bldP spid="40965" grpId="0" animBg="1"/>
      <p:bldP spid="40966" grpId="0"/>
      <p:bldP spid="40967" grpId="0"/>
      <p:bldP spid="40968" grpId="0"/>
      <p:bldP spid="40969" grpId="0"/>
      <p:bldP spid="40970" grpId="0"/>
      <p:bldP spid="40971" grpId="0"/>
      <p:bldP spid="409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WordArt 2" descr="Woven mat"/>
          <p:cNvSpPr>
            <a:spLocks noChangeArrowheads="1" noChangeShapeType="1" noTextEdit="1"/>
          </p:cNvSpPr>
          <p:nvPr/>
        </p:nvSpPr>
        <p:spPr bwMode="auto">
          <a:xfrm>
            <a:off x="2438400" y="609600"/>
            <a:ext cx="633413"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j</a:t>
            </a:r>
          </a:p>
        </p:txBody>
      </p:sp>
      <p:sp>
        <p:nvSpPr>
          <p:cNvPr id="41987" name="WordArt 3" descr="Stationery"/>
          <p:cNvSpPr>
            <a:spLocks noChangeArrowheads="1" noChangeShapeType="1" noTextEdit="1"/>
          </p:cNvSpPr>
          <p:nvPr/>
        </p:nvSpPr>
        <p:spPr bwMode="auto">
          <a:xfrm>
            <a:off x="4038600" y="838200"/>
            <a:ext cx="3048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(jota)</a:t>
            </a:r>
          </a:p>
        </p:txBody>
      </p:sp>
      <p:sp>
        <p:nvSpPr>
          <p:cNvPr id="41988" name="Text Box 4"/>
          <p:cNvSpPr txBox="1">
            <a:spLocks noChangeArrowheads="1"/>
          </p:cNvSpPr>
          <p:nvPr/>
        </p:nvSpPr>
        <p:spPr bwMode="auto">
          <a:xfrm>
            <a:off x="1447800" y="2743200"/>
            <a:ext cx="6753225" cy="20129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“j” is pronounced in all cases like the “soft” g, that is, much like an h in English.  In some areas, particularly Spain, the jota is pronounced more crisply, with a somewhat harsh or guttural sound.</a:t>
            </a:r>
          </a:p>
        </p:txBody>
      </p:sp>
      <p:sp>
        <p:nvSpPr>
          <p:cNvPr id="41989" name="Text Box 5"/>
          <p:cNvSpPr txBox="1">
            <a:spLocks noChangeArrowheads="1"/>
          </p:cNvSpPr>
          <p:nvPr/>
        </p:nvSpPr>
        <p:spPr bwMode="auto">
          <a:xfrm>
            <a:off x="2743200" y="48768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José</a:t>
            </a:r>
          </a:p>
        </p:txBody>
      </p:sp>
      <p:sp>
        <p:nvSpPr>
          <p:cNvPr id="41990" name="Text Box 6"/>
          <p:cNvSpPr txBox="1">
            <a:spLocks noChangeArrowheads="1"/>
          </p:cNvSpPr>
          <p:nvPr/>
        </p:nvSpPr>
        <p:spPr bwMode="auto">
          <a:xfrm>
            <a:off x="2743200" y="5516563"/>
            <a:ext cx="1676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hijo</a:t>
            </a:r>
          </a:p>
        </p:txBody>
      </p:sp>
      <p:sp>
        <p:nvSpPr>
          <p:cNvPr id="41991" name="Text Box 7"/>
          <p:cNvSpPr txBox="1">
            <a:spLocks noChangeArrowheads="1"/>
          </p:cNvSpPr>
          <p:nvPr/>
        </p:nvSpPr>
        <p:spPr bwMode="auto">
          <a:xfrm>
            <a:off x="5410200" y="48768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jarra</a:t>
            </a:r>
          </a:p>
        </p:txBody>
      </p:sp>
      <p:sp>
        <p:nvSpPr>
          <p:cNvPr id="41992" name="Text Box 8"/>
          <p:cNvSpPr txBox="1">
            <a:spLocks noChangeArrowheads="1"/>
          </p:cNvSpPr>
          <p:nvPr/>
        </p:nvSpPr>
        <p:spPr bwMode="auto">
          <a:xfrm>
            <a:off x="5410200" y="54864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atajo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200"/>
                                        <p:tgtEl>
                                          <p:spTgt spid="419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987"/>
                                        </p:tgtEl>
                                        <p:attrNameLst>
                                          <p:attrName>style.visibility</p:attrName>
                                        </p:attrNameLst>
                                      </p:cBhvr>
                                      <p:to>
                                        <p:strVal val="visible"/>
                                      </p:to>
                                    </p:set>
                                    <p:animEffect transition="in" filter="dissolve">
                                      <p:cBhvr>
                                        <p:cTn id="12" dur="500"/>
                                        <p:tgtEl>
                                          <p:spTgt spid="4198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988"/>
                                        </p:tgtEl>
                                        <p:attrNameLst>
                                          <p:attrName>style.visibility</p:attrName>
                                        </p:attrNameLst>
                                      </p:cBhvr>
                                      <p:to>
                                        <p:strVal val="visible"/>
                                      </p:to>
                                    </p:set>
                                    <p:animEffect transition="in" filter="dissolve">
                                      <p:cBhvr>
                                        <p:cTn id="17" dur="400"/>
                                        <p:tgtEl>
                                          <p:spTgt spid="4198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989"/>
                                        </p:tgtEl>
                                        <p:attrNameLst>
                                          <p:attrName>style.visibility</p:attrName>
                                        </p:attrNameLst>
                                      </p:cBhvr>
                                      <p:to>
                                        <p:strVal val="visible"/>
                                      </p:to>
                                    </p:set>
                                    <p:animEffect transition="in" filter="fade">
                                      <p:cBhvr>
                                        <p:cTn id="22" dur="300"/>
                                        <p:tgtEl>
                                          <p:spTgt spid="4198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990"/>
                                        </p:tgtEl>
                                        <p:attrNameLst>
                                          <p:attrName>style.visibility</p:attrName>
                                        </p:attrNameLst>
                                      </p:cBhvr>
                                      <p:to>
                                        <p:strVal val="visible"/>
                                      </p:to>
                                    </p:set>
                                    <p:animEffect transition="in" filter="fade">
                                      <p:cBhvr>
                                        <p:cTn id="27" dur="300"/>
                                        <p:tgtEl>
                                          <p:spTgt spid="4199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1991"/>
                                        </p:tgtEl>
                                        <p:attrNameLst>
                                          <p:attrName>style.visibility</p:attrName>
                                        </p:attrNameLst>
                                      </p:cBhvr>
                                      <p:to>
                                        <p:strVal val="visible"/>
                                      </p:to>
                                    </p:set>
                                    <p:animEffect transition="in" filter="fade">
                                      <p:cBhvr>
                                        <p:cTn id="32" dur="300"/>
                                        <p:tgtEl>
                                          <p:spTgt spid="4199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1992"/>
                                        </p:tgtEl>
                                        <p:attrNameLst>
                                          <p:attrName>style.visibility</p:attrName>
                                        </p:attrNameLst>
                                      </p:cBhvr>
                                      <p:to>
                                        <p:strVal val="visible"/>
                                      </p:to>
                                    </p:set>
                                    <p:animEffect transition="in" filter="fade">
                                      <p:cBhvr>
                                        <p:cTn id="37" dur="300"/>
                                        <p:tgtEl>
                                          <p:spTgt spid="41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nimBg="1"/>
      <p:bldP spid="41987" grpId="0" animBg="1"/>
      <p:bldP spid="41988" grpId="0"/>
      <p:bldP spid="41989" grpId="0"/>
      <p:bldP spid="41990" grpId="0"/>
      <p:bldP spid="41991" grpId="0"/>
      <p:bldP spid="4199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WordArt 2" descr="Woven mat"/>
          <p:cNvSpPr>
            <a:spLocks noChangeArrowheads="1" noChangeShapeType="1" noTextEdit="1"/>
          </p:cNvSpPr>
          <p:nvPr/>
        </p:nvSpPr>
        <p:spPr bwMode="auto">
          <a:xfrm>
            <a:off x="2414588" y="762000"/>
            <a:ext cx="1166812"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k</a:t>
            </a:r>
          </a:p>
        </p:txBody>
      </p:sp>
      <p:sp>
        <p:nvSpPr>
          <p:cNvPr id="43011" name="WordArt 3" descr="Stationery"/>
          <p:cNvSpPr>
            <a:spLocks noChangeArrowheads="1" noChangeShapeType="1" noTextEdit="1"/>
          </p:cNvSpPr>
          <p:nvPr/>
        </p:nvSpPr>
        <p:spPr bwMode="auto">
          <a:xfrm>
            <a:off x="4419600" y="990600"/>
            <a:ext cx="2438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(ka)</a:t>
            </a:r>
          </a:p>
        </p:txBody>
      </p:sp>
      <p:sp>
        <p:nvSpPr>
          <p:cNvPr id="43012" name="Text Box 4"/>
          <p:cNvSpPr txBox="1">
            <a:spLocks noChangeArrowheads="1"/>
          </p:cNvSpPr>
          <p:nvPr/>
        </p:nvSpPr>
        <p:spPr bwMode="auto">
          <a:xfrm>
            <a:off x="1447800" y="3095625"/>
            <a:ext cx="6753225" cy="124460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“k” is a letter borrowed from Greek and is found only in words borrowed from other languages.  The k is not aspirated in Spanish.</a:t>
            </a:r>
          </a:p>
        </p:txBody>
      </p:sp>
      <p:sp>
        <p:nvSpPr>
          <p:cNvPr id="43013" name="Text Box 5"/>
          <p:cNvSpPr txBox="1">
            <a:spLocks noChangeArrowheads="1"/>
          </p:cNvSpPr>
          <p:nvPr/>
        </p:nvSpPr>
        <p:spPr bwMode="auto">
          <a:xfrm>
            <a:off x="1447800" y="4648200"/>
            <a:ext cx="19050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kilogramo</a:t>
            </a:r>
          </a:p>
        </p:txBody>
      </p:sp>
      <p:sp>
        <p:nvSpPr>
          <p:cNvPr id="43014" name="Text Box 6"/>
          <p:cNvSpPr txBox="1">
            <a:spLocks noChangeArrowheads="1"/>
          </p:cNvSpPr>
          <p:nvPr/>
        </p:nvSpPr>
        <p:spPr bwMode="auto">
          <a:xfrm>
            <a:off x="4114800" y="4648200"/>
            <a:ext cx="1295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karate</a:t>
            </a:r>
          </a:p>
        </p:txBody>
      </p:sp>
      <p:sp>
        <p:nvSpPr>
          <p:cNvPr id="43015" name="Text Box 7"/>
          <p:cNvSpPr txBox="1">
            <a:spLocks noChangeArrowheads="1"/>
          </p:cNvSpPr>
          <p:nvPr/>
        </p:nvSpPr>
        <p:spPr bwMode="auto">
          <a:xfrm>
            <a:off x="6248400" y="46482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whisky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200"/>
                                        <p:tgtEl>
                                          <p:spTgt spid="430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dissolve">
                                      <p:cBhvr>
                                        <p:cTn id="12" dur="500"/>
                                        <p:tgtEl>
                                          <p:spTgt spid="430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dissolve">
                                      <p:cBhvr>
                                        <p:cTn id="17" dur="400"/>
                                        <p:tgtEl>
                                          <p:spTgt spid="430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3013"/>
                                        </p:tgtEl>
                                        <p:attrNameLst>
                                          <p:attrName>style.visibility</p:attrName>
                                        </p:attrNameLst>
                                      </p:cBhvr>
                                      <p:to>
                                        <p:strVal val="visible"/>
                                      </p:to>
                                    </p:set>
                                    <p:animEffect transition="in" filter="fade">
                                      <p:cBhvr>
                                        <p:cTn id="22" dur="300"/>
                                        <p:tgtEl>
                                          <p:spTgt spid="430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3014"/>
                                        </p:tgtEl>
                                        <p:attrNameLst>
                                          <p:attrName>style.visibility</p:attrName>
                                        </p:attrNameLst>
                                      </p:cBhvr>
                                      <p:to>
                                        <p:strVal val="visible"/>
                                      </p:to>
                                    </p:set>
                                    <p:animEffect transition="in" filter="fade">
                                      <p:cBhvr>
                                        <p:cTn id="27" dur="300"/>
                                        <p:tgtEl>
                                          <p:spTgt spid="430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015"/>
                                        </p:tgtEl>
                                        <p:attrNameLst>
                                          <p:attrName>style.visibility</p:attrName>
                                        </p:attrNameLst>
                                      </p:cBhvr>
                                      <p:to>
                                        <p:strVal val="visible"/>
                                      </p:to>
                                    </p:set>
                                    <p:animEffect transition="in" filter="fade">
                                      <p:cBhvr>
                                        <p:cTn id="32" dur="3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nimBg="1"/>
      <p:bldP spid="43011" grpId="0" animBg="1"/>
      <p:bldP spid="43012" grpId="0"/>
      <p:bldP spid="43013" grpId="0"/>
      <p:bldP spid="43014" grpId="0"/>
      <p:bldP spid="430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WordArt 2" descr="Woven mat"/>
          <p:cNvSpPr>
            <a:spLocks noChangeArrowheads="1" noChangeShapeType="1" noTextEdit="1"/>
          </p:cNvSpPr>
          <p:nvPr/>
        </p:nvSpPr>
        <p:spPr bwMode="auto">
          <a:xfrm>
            <a:off x="2667000" y="457200"/>
            <a:ext cx="4572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l</a:t>
            </a:r>
          </a:p>
        </p:txBody>
      </p:sp>
      <p:sp>
        <p:nvSpPr>
          <p:cNvPr id="44035" name="WordArt 3" descr="Stationery"/>
          <p:cNvSpPr>
            <a:spLocks noChangeArrowheads="1" noChangeShapeType="1" noTextEdit="1"/>
          </p:cNvSpPr>
          <p:nvPr/>
        </p:nvSpPr>
        <p:spPr bwMode="auto">
          <a:xfrm>
            <a:off x="4267200" y="685800"/>
            <a:ext cx="2667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(ele)</a:t>
            </a:r>
          </a:p>
        </p:txBody>
      </p:sp>
      <p:sp>
        <p:nvSpPr>
          <p:cNvPr id="44036" name="Text Box 4"/>
          <p:cNvSpPr txBox="1">
            <a:spLocks noChangeArrowheads="1"/>
          </p:cNvSpPr>
          <p:nvPr/>
        </p:nvSpPr>
        <p:spPr bwMode="auto">
          <a:xfrm>
            <a:off x="1447800" y="2590800"/>
            <a:ext cx="69342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“l” is pronounced with the tip of the tongue against the alveolar ridge as in English; however, the tongue is held straight rather than slightly curled.</a:t>
            </a:r>
          </a:p>
        </p:txBody>
      </p:sp>
      <p:sp>
        <p:nvSpPr>
          <p:cNvPr id="44044" name="Freeform 12"/>
          <p:cNvSpPr>
            <a:spLocks/>
          </p:cNvSpPr>
          <p:nvPr/>
        </p:nvSpPr>
        <p:spPr bwMode="auto">
          <a:xfrm>
            <a:off x="3914775" y="5584825"/>
            <a:ext cx="527050" cy="292100"/>
          </a:xfrm>
          <a:custGeom>
            <a:avLst/>
            <a:gdLst/>
            <a:ahLst/>
            <a:cxnLst>
              <a:cxn ang="0">
                <a:pos x="440" y="112"/>
              </a:cxn>
              <a:cxn ang="0">
                <a:pos x="104" y="16"/>
              </a:cxn>
              <a:cxn ang="0">
                <a:pos x="56" y="16"/>
              </a:cxn>
              <a:cxn ang="0">
                <a:pos x="56" y="64"/>
              </a:cxn>
              <a:cxn ang="0">
                <a:pos x="392" y="208"/>
              </a:cxn>
            </a:cxnLst>
            <a:rect l="0" t="0" r="r" b="b"/>
            <a:pathLst>
              <a:path w="440" h="208">
                <a:moveTo>
                  <a:pt x="440" y="112"/>
                </a:moveTo>
                <a:cubicBezTo>
                  <a:pt x="304" y="72"/>
                  <a:pt x="168" y="32"/>
                  <a:pt x="104" y="16"/>
                </a:cubicBezTo>
                <a:cubicBezTo>
                  <a:pt x="40" y="0"/>
                  <a:pt x="64" y="8"/>
                  <a:pt x="56" y="16"/>
                </a:cubicBezTo>
                <a:cubicBezTo>
                  <a:pt x="48" y="24"/>
                  <a:pt x="0" y="32"/>
                  <a:pt x="56" y="64"/>
                </a:cubicBezTo>
                <a:cubicBezTo>
                  <a:pt x="112" y="96"/>
                  <a:pt x="336" y="184"/>
                  <a:pt x="392" y="208"/>
                </a:cubicBezTo>
              </a:path>
            </a:pathLst>
          </a:custGeom>
          <a:noFill/>
          <a:ln w="15875">
            <a:solidFill>
              <a:schemeClr val="tx1"/>
            </a:solidFill>
            <a:round/>
            <a:headEnd/>
            <a:tailEnd/>
          </a:ln>
          <a:effectLst/>
        </p:spPr>
        <p:txBody>
          <a:bodyPr/>
          <a:lstStyle/>
          <a:p>
            <a:endParaRPr lang="en-US"/>
          </a:p>
        </p:txBody>
      </p:sp>
      <p:grpSp>
        <p:nvGrpSpPr>
          <p:cNvPr id="44045" name="Group 13"/>
          <p:cNvGrpSpPr>
            <a:grpSpLocks/>
          </p:cNvGrpSpPr>
          <p:nvPr/>
        </p:nvGrpSpPr>
        <p:grpSpPr bwMode="auto">
          <a:xfrm>
            <a:off x="3429000" y="4267200"/>
            <a:ext cx="1981200" cy="2171700"/>
            <a:chOff x="1920" y="1992"/>
            <a:chExt cx="1584" cy="1704"/>
          </a:xfrm>
        </p:grpSpPr>
        <p:grpSp>
          <p:nvGrpSpPr>
            <p:cNvPr id="44046" name="Group 14"/>
            <p:cNvGrpSpPr>
              <a:grpSpLocks/>
            </p:cNvGrpSpPr>
            <p:nvPr/>
          </p:nvGrpSpPr>
          <p:grpSpPr bwMode="auto">
            <a:xfrm>
              <a:off x="1920" y="1992"/>
              <a:ext cx="1584" cy="1704"/>
              <a:chOff x="1920" y="2136"/>
              <a:chExt cx="1344" cy="1464"/>
            </a:xfrm>
          </p:grpSpPr>
          <p:sp>
            <p:nvSpPr>
              <p:cNvPr id="44047" name="Freeform 15"/>
              <p:cNvSpPr>
                <a:spLocks/>
              </p:cNvSpPr>
              <p:nvPr/>
            </p:nvSpPr>
            <p:spPr bwMode="auto">
              <a:xfrm>
                <a:off x="1920" y="2136"/>
                <a:ext cx="1344" cy="1464"/>
              </a:xfrm>
              <a:custGeom>
                <a:avLst/>
                <a:gdLst/>
                <a:ahLst/>
                <a:cxnLst>
                  <a:cxn ang="0">
                    <a:pos x="240" y="888"/>
                  </a:cxn>
                  <a:cxn ang="0">
                    <a:pos x="240" y="792"/>
                  </a:cxn>
                  <a:cxn ang="0">
                    <a:pos x="96" y="792"/>
                  </a:cxn>
                  <a:cxn ang="0">
                    <a:pos x="0" y="696"/>
                  </a:cxn>
                  <a:cxn ang="0">
                    <a:pos x="96" y="600"/>
                  </a:cxn>
                  <a:cxn ang="0">
                    <a:pos x="240" y="456"/>
                  </a:cxn>
                  <a:cxn ang="0">
                    <a:pos x="288" y="408"/>
                  </a:cxn>
                  <a:cxn ang="0">
                    <a:pos x="336" y="264"/>
                  </a:cxn>
                  <a:cxn ang="0">
                    <a:pos x="528" y="72"/>
                  </a:cxn>
                  <a:cxn ang="0">
                    <a:pos x="720" y="24"/>
                  </a:cxn>
                  <a:cxn ang="0">
                    <a:pos x="912" y="24"/>
                  </a:cxn>
                  <a:cxn ang="0">
                    <a:pos x="1200" y="168"/>
                  </a:cxn>
                  <a:cxn ang="0">
                    <a:pos x="1296" y="312"/>
                  </a:cxn>
                  <a:cxn ang="0">
                    <a:pos x="1344" y="552"/>
                  </a:cxn>
                  <a:cxn ang="0">
                    <a:pos x="1296" y="840"/>
                  </a:cxn>
                  <a:cxn ang="0">
                    <a:pos x="1104" y="1032"/>
                  </a:cxn>
                  <a:cxn ang="0">
                    <a:pos x="1056" y="1128"/>
                  </a:cxn>
                  <a:cxn ang="0">
                    <a:pos x="1008" y="1368"/>
                  </a:cxn>
                  <a:cxn ang="0">
                    <a:pos x="1008" y="1464"/>
                  </a:cxn>
                </a:cxnLst>
                <a:rect l="0" t="0" r="r" b="b"/>
                <a:pathLst>
                  <a:path w="1344" h="1464">
                    <a:moveTo>
                      <a:pt x="240" y="888"/>
                    </a:moveTo>
                    <a:cubicBezTo>
                      <a:pt x="252" y="848"/>
                      <a:pt x="264" y="808"/>
                      <a:pt x="240" y="792"/>
                    </a:cubicBezTo>
                    <a:cubicBezTo>
                      <a:pt x="216" y="776"/>
                      <a:pt x="136" y="808"/>
                      <a:pt x="96" y="792"/>
                    </a:cubicBezTo>
                    <a:cubicBezTo>
                      <a:pt x="56" y="776"/>
                      <a:pt x="0" y="728"/>
                      <a:pt x="0" y="696"/>
                    </a:cubicBezTo>
                    <a:cubicBezTo>
                      <a:pt x="0" y="664"/>
                      <a:pt x="56" y="640"/>
                      <a:pt x="96" y="600"/>
                    </a:cubicBezTo>
                    <a:cubicBezTo>
                      <a:pt x="136" y="560"/>
                      <a:pt x="208" y="488"/>
                      <a:pt x="240" y="456"/>
                    </a:cubicBezTo>
                    <a:cubicBezTo>
                      <a:pt x="272" y="424"/>
                      <a:pt x="272" y="440"/>
                      <a:pt x="288" y="408"/>
                    </a:cubicBezTo>
                    <a:cubicBezTo>
                      <a:pt x="304" y="376"/>
                      <a:pt x="296" y="320"/>
                      <a:pt x="336" y="264"/>
                    </a:cubicBezTo>
                    <a:cubicBezTo>
                      <a:pt x="376" y="208"/>
                      <a:pt x="464" y="112"/>
                      <a:pt x="528" y="72"/>
                    </a:cubicBezTo>
                    <a:cubicBezTo>
                      <a:pt x="592" y="32"/>
                      <a:pt x="656" y="32"/>
                      <a:pt x="720" y="24"/>
                    </a:cubicBezTo>
                    <a:cubicBezTo>
                      <a:pt x="784" y="16"/>
                      <a:pt x="832" y="0"/>
                      <a:pt x="912" y="24"/>
                    </a:cubicBezTo>
                    <a:cubicBezTo>
                      <a:pt x="992" y="48"/>
                      <a:pt x="1136" y="120"/>
                      <a:pt x="1200" y="168"/>
                    </a:cubicBezTo>
                    <a:cubicBezTo>
                      <a:pt x="1264" y="216"/>
                      <a:pt x="1272" y="248"/>
                      <a:pt x="1296" y="312"/>
                    </a:cubicBezTo>
                    <a:cubicBezTo>
                      <a:pt x="1320" y="376"/>
                      <a:pt x="1344" y="464"/>
                      <a:pt x="1344" y="552"/>
                    </a:cubicBezTo>
                    <a:cubicBezTo>
                      <a:pt x="1344" y="640"/>
                      <a:pt x="1336" y="760"/>
                      <a:pt x="1296" y="840"/>
                    </a:cubicBezTo>
                    <a:cubicBezTo>
                      <a:pt x="1256" y="920"/>
                      <a:pt x="1144" y="984"/>
                      <a:pt x="1104" y="1032"/>
                    </a:cubicBezTo>
                    <a:cubicBezTo>
                      <a:pt x="1064" y="1080"/>
                      <a:pt x="1072" y="1072"/>
                      <a:pt x="1056" y="1128"/>
                    </a:cubicBezTo>
                    <a:cubicBezTo>
                      <a:pt x="1040" y="1184"/>
                      <a:pt x="1016" y="1312"/>
                      <a:pt x="1008" y="1368"/>
                    </a:cubicBezTo>
                    <a:cubicBezTo>
                      <a:pt x="1000" y="1424"/>
                      <a:pt x="1008" y="1448"/>
                      <a:pt x="1008" y="1464"/>
                    </a:cubicBezTo>
                  </a:path>
                </a:pathLst>
              </a:custGeom>
              <a:noFill/>
              <a:ln w="25400">
                <a:solidFill>
                  <a:schemeClr val="tx1"/>
                </a:solidFill>
                <a:round/>
                <a:headEnd/>
                <a:tailEnd/>
              </a:ln>
              <a:effectLst/>
            </p:spPr>
            <p:txBody>
              <a:bodyPr/>
              <a:lstStyle/>
              <a:p>
                <a:endParaRPr lang="en-US"/>
              </a:p>
            </p:txBody>
          </p:sp>
          <p:sp>
            <p:nvSpPr>
              <p:cNvPr id="44048" name="Freeform 16"/>
              <p:cNvSpPr>
                <a:spLocks/>
              </p:cNvSpPr>
              <p:nvPr/>
            </p:nvSpPr>
            <p:spPr bwMode="auto">
              <a:xfrm>
                <a:off x="2160" y="2880"/>
                <a:ext cx="496" cy="720"/>
              </a:xfrm>
              <a:custGeom>
                <a:avLst/>
                <a:gdLst/>
                <a:ahLst/>
                <a:cxnLst>
                  <a:cxn ang="0">
                    <a:pos x="0" y="144"/>
                  </a:cxn>
                  <a:cxn ang="0">
                    <a:pos x="144" y="144"/>
                  </a:cxn>
                  <a:cxn ang="0">
                    <a:pos x="192" y="96"/>
                  </a:cxn>
                  <a:cxn ang="0">
                    <a:pos x="336" y="0"/>
                  </a:cxn>
                  <a:cxn ang="0">
                    <a:pos x="480" y="96"/>
                  </a:cxn>
                  <a:cxn ang="0">
                    <a:pos x="432" y="336"/>
                  </a:cxn>
                  <a:cxn ang="0">
                    <a:pos x="336" y="384"/>
                  </a:cxn>
                  <a:cxn ang="0">
                    <a:pos x="192" y="336"/>
                  </a:cxn>
                  <a:cxn ang="0">
                    <a:pos x="48" y="336"/>
                  </a:cxn>
                  <a:cxn ang="0">
                    <a:pos x="48" y="528"/>
                  </a:cxn>
                  <a:cxn ang="0">
                    <a:pos x="288" y="576"/>
                  </a:cxn>
                  <a:cxn ang="0">
                    <a:pos x="384" y="624"/>
                  </a:cxn>
                  <a:cxn ang="0">
                    <a:pos x="384" y="720"/>
                  </a:cxn>
                </a:cxnLst>
                <a:rect l="0" t="0" r="r" b="b"/>
                <a:pathLst>
                  <a:path w="496" h="720">
                    <a:moveTo>
                      <a:pt x="0" y="144"/>
                    </a:moveTo>
                    <a:cubicBezTo>
                      <a:pt x="56" y="148"/>
                      <a:pt x="112" y="152"/>
                      <a:pt x="144" y="144"/>
                    </a:cubicBezTo>
                    <a:cubicBezTo>
                      <a:pt x="176" y="136"/>
                      <a:pt x="160" y="120"/>
                      <a:pt x="192" y="96"/>
                    </a:cubicBezTo>
                    <a:cubicBezTo>
                      <a:pt x="224" y="72"/>
                      <a:pt x="288" y="0"/>
                      <a:pt x="336" y="0"/>
                    </a:cubicBezTo>
                    <a:cubicBezTo>
                      <a:pt x="384" y="0"/>
                      <a:pt x="464" y="40"/>
                      <a:pt x="480" y="96"/>
                    </a:cubicBezTo>
                    <a:cubicBezTo>
                      <a:pt x="496" y="152"/>
                      <a:pt x="456" y="288"/>
                      <a:pt x="432" y="336"/>
                    </a:cubicBezTo>
                    <a:cubicBezTo>
                      <a:pt x="408" y="384"/>
                      <a:pt x="376" y="384"/>
                      <a:pt x="336" y="384"/>
                    </a:cubicBezTo>
                    <a:cubicBezTo>
                      <a:pt x="296" y="384"/>
                      <a:pt x="240" y="344"/>
                      <a:pt x="192" y="336"/>
                    </a:cubicBezTo>
                    <a:cubicBezTo>
                      <a:pt x="144" y="328"/>
                      <a:pt x="72" y="304"/>
                      <a:pt x="48" y="336"/>
                    </a:cubicBezTo>
                    <a:cubicBezTo>
                      <a:pt x="24" y="368"/>
                      <a:pt x="8" y="488"/>
                      <a:pt x="48" y="528"/>
                    </a:cubicBezTo>
                    <a:cubicBezTo>
                      <a:pt x="88" y="568"/>
                      <a:pt x="232" y="560"/>
                      <a:pt x="288" y="576"/>
                    </a:cubicBezTo>
                    <a:cubicBezTo>
                      <a:pt x="344" y="592"/>
                      <a:pt x="368" y="600"/>
                      <a:pt x="384" y="624"/>
                    </a:cubicBezTo>
                    <a:cubicBezTo>
                      <a:pt x="400" y="648"/>
                      <a:pt x="384" y="704"/>
                      <a:pt x="384" y="720"/>
                    </a:cubicBezTo>
                  </a:path>
                </a:pathLst>
              </a:custGeom>
              <a:noFill/>
              <a:ln w="25400">
                <a:solidFill>
                  <a:schemeClr val="tx1"/>
                </a:solidFill>
                <a:round/>
                <a:headEnd/>
                <a:tailEnd/>
              </a:ln>
              <a:effectLst/>
            </p:spPr>
            <p:txBody>
              <a:bodyPr/>
              <a:lstStyle/>
              <a:p>
                <a:endParaRPr lang="en-US"/>
              </a:p>
            </p:txBody>
          </p:sp>
        </p:grpSp>
        <p:sp>
          <p:nvSpPr>
            <p:cNvPr id="44049" name="Freeform 17"/>
            <p:cNvSpPr>
              <a:spLocks/>
            </p:cNvSpPr>
            <p:nvPr/>
          </p:nvSpPr>
          <p:spPr bwMode="auto">
            <a:xfrm>
              <a:off x="2256" y="2312"/>
              <a:ext cx="144" cy="168"/>
            </a:xfrm>
            <a:custGeom>
              <a:avLst/>
              <a:gdLst/>
              <a:ahLst/>
              <a:cxnLst>
                <a:cxn ang="0">
                  <a:pos x="48" y="16"/>
                </a:cxn>
                <a:cxn ang="0">
                  <a:pos x="96" y="16"/>
                </a:cxn>
                <a:cxn ang="0">
                  <a:pos x="144" y="112"/>
                </a:cxn>
                <a:cxn ang="0">
                  <a:pos x="96" y="160"/>
                </a:cxn>
                <a:cxn ang="0">
                  <a:pos x="0" y="160"/>
                </a:cxn>
              </a:cxnLst>
              <a:rect l="0" t="0" r="r" b="b"/>
              <a:pathLst>
                <a:path w="144" h="168">
                  <a:moveTo>
                    <a:pt x="48" y="16"/>
                  </a:moveTo>
                  <a:cubicBezTo>
                    <a:pt x="64" y="8"/>
                    <a:pt x="80" y="0"/>
                    <a:pt x="96" y="16"/>
                  </a:cubicBezTo>
                  <a:cubicBezTo>
                    <a:pt x="112" y="32"/>
                    <a:pt x="144" y="88"/>
                    <a:pt x="144" y="112"/>
                  </a:cubicBezTo>
                  <a:cubicBezTo>
                    <a:pt x="144" y="136"/>
                    <a:pt x="120" y="152"/>
                    <a:pt x="96" y="160"/>
                  </a:cubicBezTo>
                  <a:cubicBezTo>
                    <a:pt x="72" y="168"/>
                    <a:pt x="16" y="160"/>
                    <a:pt x="0" y="160"/>
                  </a:cubicBezTo>
                </a:path>
              </a:pathLst>
            </a:custGeom>
            <a:noFill/>
            <a:ln w="9525">
              <a:solidFill>
                <a:schemeClr val="tx1"/>
              </a:solidFill>
              <a:round/>
              <a:headEnd/>
              <a:tailEnd/>
            </a:ln>
            <a:effectLst/>
          </p:spPr>
          <p:txBody>
            <a:bodyPr/>
            <a:lstStyle/>
            <a:p>
              <a:endParaRPr lang="en-US"/>
            </a:p>
          </p:txBody>
        </p:sp>
        <p:sp>
          <p:nvSpPr>
            <p:cNvPr id="44050" name="Oval 18"/>
            <p:cNvSpPr>
              <a:spLocks noChangeArrowheads="1"/>
            </p:cNvSpPr>
            <p:nvPr/>
          </p:nvSpPr>
          <p:spPr bwMode="auto">
            <a:xfrm>
              <a:off x="2274" y="2353"/>
              <a:ext cx="48" cy="86"/>
            </a:xfrm>
            <a:prstGeom prst="ellipse">
              <a:avLst/>
            </a:prstGeom>
            <a:solidFill>
              <a:schemeClr val="tx1"/>
            </a:solidFill>
            <a:ln w="9525">
              <a:solidFill>
                <a:schemeClr val="tx1"/>
              </a:solidFill>
              <a:round/>
              <a:headEnd/>
              <a:tailEnd/>
            </a:ln>
            <a:effectLst/>
          </p:spPr>
          <p:txBody>
            <a:bodyPr wrap="none" anchor="ctr"/>
            <a:lstStyle/>
            <a:p>
              <a:endParaRPr lang="en-US"/>
            </a:p>
          </p:txBody>
        </p:sp>
      </p:grpSp>
      <p:sp>
        <p:nvSpPr>
          <p:cNvPr id="44052" name="Text Box 20"/>
          <p:cNvSpPr txBox="1">
            <a:spLocks noChangeArrowheads="1"/>
          </p:cNvSpPr>
          <p:nvPr/>
        </p:nvSpPr>
        <p:spPr bwMode="auto">
          <a:xfrm>
            <a:off x="1524000" y="4495800"/>
            <a:ext cx="1981200" cy="384175"/>
          </a:xfrm>
          <a:prstGeom prst="rect">
            <a:avLst/>
          </a:prstGeom>
          <a:noFill/>
          <a:ln w="9525">
            <a:noFill/>
            <a:miter lim="800000"/>
            <a:headEnd/>
            <a:tailEnd/>
          </a:ln>
          <a:effectLst/>
        </p:spPr>
        <p:txBody>
          <a:bodyPr>
            <a:spAutoFit/>
          </a:bodyPr>
          <a:lstStyle/>
          <a:p>
            <a:pPr>
              <a:lnSpc>
                <a:spcPct val="80000"/>
              </a:lnSpc>
              <a:spcBef>
                <a:spcPct val="50000"/>
              </a:spcBef>
            </a:pPr>
            <a:r>
              <a:rPr lang="en-US">
                <a:solidFill>
                  <a:schemeClr val="bg1"/>
                </a:solidFill>
              </a:rPr>
              <a:t>alveolar ridge</a:t>
            </a:r>
          </a:p>
        </p:txBody>
      </p:sp>
      <p:sp>
        <p:nvSpPr>
          <p:cNvPr id="44053" name="Line 21"/>
          <p:cNvSpPr>
            <a:spLocks noChangeShapeType="1"/>
          </p:cNvSpPr>
          <p:nvPr/>
        </p:nvSpPr>
        <p:spPr bwMode="auto">
          <a:xfrm>
            <a:off x="3352800" y="4800600"/>
            <a:ext cx="603250" cy="717550"/>
          </a:xfrm>
          <a:prstGeom prst="line">
            <a:avLst/>
          </a:prstGeom>
          <a:noFill/>
          <a:ln w="12700">
            <a:solidFill>
              <a:schemeClr val="bg1"/>
            </a:solidFill>
            <a:round/>
            <a:headEnd/>
            <a:tailEnd type="triangle" w="med" len="med"/>
          </a:ln>
          <a:effectLst/>
        </p:spPr>
        <p:txBody>
          <a:bodyPr/>
          <a:lstStyle/>
          <a:p>
            <a:endParaRPr lang="en-US"/>
          </a:p>
        </p:txBody>
      </p:sp>
      <p:sp>
        <p:nvSpPr>
          <p:cNvPr id="44054" name="Text Box 22"/>
          <p:cNvSpPr txBox="1">
            <a:spLocks noChangeArrowheads="1"/>
          </p:cNvSpPr>
          <p:nvPr/>
        </p:nvSpPr>
        <p:spPr bwMode="auto">
          <a:xfrm>
            <a:off x="6324600" y="43434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lotería</a:t>
            </a:r>
          </a:p>
        </p:txBody>
      </p:sp>
      <p:sp>
        <p:nvSpPr>
          <p:cNvPr id="44055" name="Text Box 23"/>
          <p:cNvSpPr txBox="1">
            <a:spLocks noChangeArrowheads="1"/>
          </p:cNvSpPr>
          <p:nvPr/>
        </p:nvSpPr>
        <p:spPr bwMode="auto">
          <a:xfrm>
            <a:off x="6324600" y="48768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Lalo</a:t>
            </a:r>
          </a:p>
        </p:txBody>
      </p:sp>
      <p:sp>
        <p:nvSpPr>
          <p:cNvPr id="44056" name="Text Box 24"/>
          <p:cNvSpPr txBox="1">
            <a:spLocks noChangeArrowheads="1"/>
          </p:cNvSpPr>
          <p:nvPr/>
        </p:nvSpPr>
        <p:spPr bwMode="auto">
          <a:xfrm>
            <a:off x="6324600" y="54102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azul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200"/>
                                        <p:tgtEl>
                                          <p:spTgt spid="440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Effect transition="in" filter="dissolve">
                                      <p:cBhvr>
                                        <p:cTn id="12" dur="500"/>
                                        <p:tgtEl>
                                          <p:spTgt spid="440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036"/>
                                        </p:tgtEl>
                                        <p:attrNameLst>
                                          <p:attrName>style.visibility</p:attrName>
                                        </p:attrNameLst>
                                      </p:cBhvr>
                                      <p:to>
                                        <p:strVal val="visible"/>
                                      </p:to>
                                    </p:set>
                                    <p:animEffect transition="in" filter="dissolve">
                                      <p:cBhvr>
                                        <p:cTn id="17" dur="400"/>
                                        <p:tgtEl>
                                          <p:spTgt spid="44036"/>
                                        </p:tgtEl>
                                      </p:cBhvr>
                                    </p:animEffect>
                                  </p:childTnLst>
                                </p:cTn>
                              </p:par>
                            </p:childTnLst>
                          </p:cTn>
                        </p:par>
                        <p:par>
                          <p:cTn id="18" fill="hold">
                            <p:stCondLst>
                              <p:cond delay="400"/>
                            </p:stCondLst>
                            <p:childTnLst>
                              <p:par>
                                <p:cTn id="19" presetID="10" presetClass="entr" presetSubtype="0" fill="hold" nodeType="afterEffect">
                                  <p:stCondLst>
                                    <p:cond delay="0"/>
                                  </p:stCondLst>
                                  <p:childTnLst>
                                    <p:set>
                                      <p:cBhvr>
                                        <p:cTn id="20" dur="1" fill="hold">
                                          <p:stCondLst>
                                            <p:cond delay="0"/>
                                          </p:stCondLst>
                                        </p:cTn>
                                        <p:tgtEl>
                                          <p:spTgt spid="44045"/>
                                        </p:tgtEl>
                                        <p:attrNameLst>
                                          <p:attrName>style.visibility</p:attrName>
                                        </p:attrNameLst>
                                      </p:cBhvr>
                                      <p:to>
                                        <p:strVal val="visible"/>
                                      </p:to>
                                    </p:set>
                                    <p:animEffect transition="in" filter="fade">
                                      <p:cBhvr>
                                        <p:cTn id="21" dur="500"/>
                                        <p:tgtEl>
                                          <p:spTgt spid="44045"/>
                                        </p:tgtEl>
                                      </p:cBhvr>
                                    </p:animEffect>
                                  </p:childTnLst>
                                </p:cTn>
                              </p:par>
                            </p:childTnLst>
                          </p:cTn>
                        </p:par>
                        <p:par>
                          <p:cTn id="22" fill="hold">
                            <p:stCondLst>
                              <p:cond delay="900"/>
                            </p:stCondLst>
                            <p:childTnLst>
                              <p:par>
                                <p:cTn id="23" presetID="22" presetClass="entr" presetSubtype="2" fill="hold" grpId="0" nodeType="afterEffect">
                                  <p:stCondLst>
                                    <p:cond delay="0"/>
                                  </p:stCondLst>
                                  <p:childTnLst>
                                    <p:set>
                                      <p:cBhvr>
                                        <p:cTn id="24" dur="1" fill="hold">
                                          <p:stCondLst>
                                            <p:cond delay="0"/>
                                          </p:stCondLst>
                                        </p:cTn>
                                        <p:tgtEl>
                                          <p:spTgt spid="44044"/>
                                        </p:tgtEl>
                                        <p:attrNameLst>
                                          <p:attrName>style.visibility</p:attrName>
                                        </p:attrNameLst>
                                      </p:cBhvr>
                                      <p:to>
                                        <p:strVal val="visible"/>
                                      </p:to>
                                    </p:set>
                                    <p:animEffect transition="in" filter="wipe(right)">
                                      <p:cBhvr>
                                        <p:cTn id="25" dur="500"/>
                                        <p:tgtEl>
                                          <p:spTgt spid="44044"/>
                                        </p:tgtEl>
                                      </p:cBhvr>
                                    </p:animEffect>
                                  </p:childTnLst>
                                </p:cTn>
                              </p:par>
                            </p:childTnLst>
                          </p:cTn>
                        </p:par>
                        <p:par>
                          <p:cTn id="26" fill="hold">
                            <p:stCondLst>
                              <p:cond delay="1400"/>
                            </p:stCondLst>
                            <p:childTnLst>
                              <p:par>
                                <p:cTn id="27" presetID="10" presetClass="entr" presetSubtype="0" fill="hold" grpId="0" nodeType="afterEffect">
                                  <p:stCondLst>
                                    <p:cond delay="0"/>
                                  </p:stCondLst>
                                  <p:childTnLst>
                                    <p:set>
                                      <p:cBhvr>
                                        <p:cTn id="28" dur="1" fill="hold">
                                          <p:stCondLst>
                                            <p:cond delay="0"/>
                                          </p:stCondLst>
                                        </p:cTn>
                                        <p:tgtEl>
                                          <p:spTgt spid="44052"/>
                                        </p:tgtEl>
                                        <p:attrNameLst>
                                          <p:attrName>style.visibility</p:attrName>
                                        </p:attrNameLst>
                                      </p:cBhvr>
                                      <p:to>
                                        <p:strVal val="visible"/>
                                      </p:to>
                                    </p:set>
                                    <p:animEffect transition="in" filter="fade">
                                      <p:cBhvr>
                                        <p:cTn id="29" dur="300"/>
                                        <p:tgtEl>
                                          <p:spTgt spid="44052"/>
                                        </p:tgtEl>
                                      </p:cBhvr>
                                    </p:animEffect>
                                  </p:childTnLst>
                                </p:cTn>
                              </p:par>
                            </p:childTnLst>
                          </p:cTn>
                        </p:par>
                        <p:par>
                          <p:cTn id="30" fill="hold">
                            <p:stCondLst>
                              <p:cond delay="1700"/>
                            </p:stCondLst>
                            <p:childTnLst>
                              <p:par>
                                <p:cTn id="31" presetID="22" presetClass="entr" presetSubtype="1" fill="hold" grpId="0" nodeType="afterEffect">
                                  <p:stCondLst>
                                    <p:cond delay="0"/>
                                  </p:stCondLst>
                                  <p:childTnLst>
                                    <p:set>
                                      <p:cBhvr>
                                        <p:cTn id="32" dur="1" fill="hold">
                                          <p:stCondLst>
                                            <p:cond delay="0"/>
                                          </p:stCondLst>
                                        </p:cTn>
                                        <p:tgtEl>
                                          <p:spTgt spid="44053"/>
                                        </p:tgtEl>
                                        <p:attrNameLst>
                                          <p:attrName>style.visibility</p:attrName>
                                        </p:attrNameLst>
                                      </p:cBhvr>
                                      <p:to>
                                        <p:strVal val="visible"/>
                                      </p:to>
                                    </p:set>
                                    <p:animEffect transition="in" filter="wipe(up)">
                                      <p:cBhvr>
                                        <p:cTn id="33" dur="300"/>
                                        <p:tgtEl>
                                          <p:spTgt spid="4405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4054"/>
                                        </p:tgtEl>
                                        <p:attrNameLst>
                                          <p:attrName>style.visibility</p:attrName>
                                        </p:attrNameLst>
                                      </p:cBhvr>
                                      <p:to>
                                        <p:strVal val="visible"/>
                                      </p:to>
                                    </p:set>
                                    <p:animEffect transition="in" filter="fade">
                                      <p:cBhvr>
                                        <p:cTn id="38" dur="300"/>
                                        <p:tgtEl>
                                          <p:spTgt spid="4405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4055"/>
                                        </p:tgtEl>
                                        <p:attrNameLst>
                                          <p:attrName>style.visibility</p:attrName>
                                        </p:attrNameLst>
                                      </p:cBhvr>
                                      <p:to>
                                        <p:strVal val="visible"/>
                                      </p:to>
                                    </p:set>
                                    <p:animEffect transition="in" filter="fade">
                                      <p:cBhvr>
                                        <p:cTn id="43" dur="300"/>
                                        <p:tgtEl>
                                          <p:spTgt spid="4405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4056"/>
                                        </p:tgtEl>
                                        <p:attrNameLst>
                                          <p:attrName>style.visibility</p:attrName>
                                        </p:attrNameLst>
                                      </p:cBhvr>
                                      <p:to>
                                        <p:strVal val="visible"/>
                                      </p:to>
                                    </p:set>
                                    <p:animEffect transition="in" filter="fade">
                                      <p:cBhvr>
                                        <p:cTn id="48" dur="300"/>
                                        <p:tgtEl>
                                          <p:spTgt spid="44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nimBg="1"/>
      <p:bldP spid="44035" grpId="0" animBg="1"/>
      <p:bldP spid="44036" grpId="0"/>
      <p:bldP spid="44044" grpId="0" animBg="1"/>
      <p:bldP spid="44052" grpId="0"/>
      <p:bldP spid="44053" grpId="0" animBg="1"/>
      <p:bldP spid="44054" grpId="0"/>
      <p:bldP spid="44055" grpId="0"/>
      <p:bldP spid="440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WordArt 2" descr="Woven mat"/>
          <p:cNvSpPr>
            <a:spLocks noChangeArrowheads="1" noChangeShapeType="1" noTextEdit="1"/>
          </p:cNvSpPr>
          <p:nvPr/>
        </p:nvSpPr>
        <p:spPr bwMode="auto">
          <a:xfrm>
            <a:off x="2286000" y="800100"/>
            <a:ext cx="12954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ll</a:t>
            </a:r>
          </a:p>
        </p:txBody>
      </p:sp>
      <p:sp>
        <p:nvSpPr>
          <p:cNvPr id="45059" name="WordArt 3" descr="Stationery"/>
          <p:cNvSpPr>
            <a:spLocks noChangeArrowheads="1" noChangeShapeType="1" noTextEdit="1"/>
          </p:cNvSpPr>
          <p:nvPr/>
        </p:nvSpPr>
        <p:spPr bwMode="auto">
          <a:xfrm>
            <a:off x="4495800" y="1028700"/>
            <a:ext cx="28956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(elle)</a:t>
            </a:r>
          </a:p>
        </p:txBody>
      </p:sp>
      <p:sp>
        <p:nvSpPr>
          <p:cNvPr id="45060" name="WordArt 4" descr="Woven mat"/>
          <p:cNvSpPr>
            <a:spLocks noChangeArrowheads="1" noChangeShapeType="1" noTextEdit="1"/>
          </p:cNvSpPr>
          <p:nvPr/>
        </p:nvSpPr>
        <p:spPr bwMode="auto">
          <a:xfrm>
            <a:off x="1143000" y="533400"/>
            <a:ext cx="685800" cy="704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45061" name="Text Box 5"/>
          <p:cNvSpPr txBox="1">
            <a:spLocks noChangeArrowheads="1"/>
          </p:cNvSpPr>
          <p:nvPr/>
        </p:nvSpPr>
        <p:spPr bwMode="auto">
          <a:xfrm>
            <a:off x="1447800" y="3498850"/>
            <a:ext cx="71628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Until 1994, “ll,” like “ch,” was a separate letter in Spanish, and words that began with this letter were listed separately in the dictionary.  See the next slide for more information.</a:t>
            </a:r>
          </a:p>
        </p:txBody>
      </p:sp>
      <p:sp>
        <p:nvSpPr>
          <p:cNvPr id="45062" name="WordArt 6" descr="Woven mat"/>
          <p:cNvSpPr>
            <a:spLocks noChangeArrowheads="1" noChangeShapeType="1" noTextEdit="1"/>
          </p:cNvSpPr>
          <p:nvPr/>
        </p:nvSpPr>
        <p:spPr bwMode="auto">
          <a:xfrm>
            <a:off x="914400" y="3251200"/>
            <a:ext cx="457200" cy="4000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wipe(left)">
                                      <p:cBhvr>
                                        <p:cTn id="7" dur="2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059"/>
                                        </p:tgtEl>
                                        <p:attrNameLst>
                                          <p:attrName>style.visibility</p:attrName>
                                        </p:attrNameLst>
                                      </p:cBhvr>
                                      <p:to>
                                        <p:strVal val="visible"/>
                                      </p:to>
                                    </p:set>
                                    <p:animEffect transition="in" filter="dissolve">
                                      <p:cBhvr>
                                        <p:cTn id="12" dur="500"/>
                                        <p:tgtEl>
                                          <p:spTgt spid="45059"/>
                                        </p:tgtEl>
                                      </p:cBhvr>
                                    </p:animEffect>
                                  </p:childTnLst>
                                </p:cTn>
                              </p:par>
                            </p:childTnLst>
                          </p:cTn>
                        </p:par>
                        <p:par>
                          <p:cTn id="13" fill="hold">
                            <p:stCondLst>
                              <p:cond delay="500"/>
                            </p:stCondLst>
                            <p:childTnLst>
                              <p:par>
                                <p:cTn id="14" presetID="23" presetClass="entr" presetSubtype="288" fill="hold" grpId="0" nodeType="afterEffect">
                                  <p:stCondLst>
                                    <p:cond delay="0"/>
                                  </p:stCondLst>
                                  <p:childTnLst>
                                    <p:set>
                                      <p:cBhvr>
                                        <p:cTn id="15" dur="1" fill="hold">
                                          <p:stCondLst>
                                            <p:cond delay="0"/>
                                          </p:stCondLst>
                                        </p:cTn>
                                        <p:tgtEl>
                                          <p:spTgt spid="45060"/>
                                        </p:tgtEl>
                                        <p:attrNameLst>
                                          <p:attrName>style.visibility</p:attrName>
                                        </p:attrNameLst>
                                      </p:cBhvr>
                                      <p:to>
                                        <p:strVal val="visible"/>
                                      </p:to>
                                    </p:set>
                                    <p:anim calcmode="lin" valueType="num">
                                      <p:cBhvr>
                                        <p:cTn id="16" dur="300" fill="hold"/>
                                        <p:tgtEl>
                                          <p:spTgt spid="45060"/>
                                        </p:tgtEl>
                                        <p:attrNameLst>
                                          <p:attrName>ppt_w</p:attrName>
                                        </p:attrNameLst>
                                      </p:cBhvr>
                                      <p:tavLst>
                                        <p:tav tm="0">
                                          <p:val>
                                            <p:strVal val="4/3*#ppt_w"/>
                                          </p:val>
                                        </p:tav>
                                        <p:tav tm="100000">
                                          <p:val>
                                            <p:strVal val="#ppt_w"/>
                                          </p:val>
                                        </p:tav>
                                      </p:tavLst>
                                    </p:anim>
                                    <p:anim calcmode="lin" valueType="num">
                                      <p:cBhvr>
                                        <p:cTn id="17" dur="300" fill="hold"/>
                                        <p:tgtEl>
                                          <p:spTgt spid="45060"/>
                                        </p:tgtEl>
                                        <p:attrNameLst>
                                          <p:attrName>ppt_h</p:attrName>
                                        </p:attrNameLst>
                                      </p:cBhvr>
                                      <p:tavLst>
                                        <p:tav tm="0">
                                          <p:val>
                                            <p:strVal val="4/3*#ppt_h"/>
                                          </p:val>
                                        </p:tav>
                                        <p:tav tm="100000">
                                          <p:val>
                                            <p:strVal val="#ppt_h"/>
                                          </p:val>
                                        </p:tav>
                                      </p:tavLst>
                                    </p:anim>
                                  </p:childTnLst>
                                </p:cTn>
                              </p:par>
                            </p:childTnLst>
                          </p:cTn>
                        </p:par>
                        <p:par>
                          <p:cTn id="18" fill="hold">
                            <p:stCondLst>
                              <p:cond delay="800"/>
                            </p:stCondLst>
                            <p:childTnLst>
                              <p:par>
                                <p:cTn id="19" presetID="23" presetClass="entr" presetSubtype="288" fill="hold" grpId="0" nodeType="afterEffect">
                                  <p:stCondLst>
                                    <p:cond delay="0"/>
                                  </p:stCondLst>
                                  <p:childTnLst>
                                    <p:set>
                                      <p:cBhvr>
                                        <p:cTn id="20" dur="1" fill="hold">
                                          <p:stCondLst>
                                            <p:cond delay="0"/>
                                          </p:stCondLst>
                                        </p:cTn>
                                        <p:tgtEl>
                                          <p:spTgt spid="45062"/>
                                        </p:tgtEl>
                                        <p:attrNameLst>
                                          <p:attrName>style.visibility</p:attrName>
                                        </p:attrNameLst>
                                      </p:cBhvr>
                                      <p:to>
                                        <p:strVal val="visible"/>
                                      </p:to>
                                    </p:set>
                                    <p:anim calcmode="lin" valueType="num">
                                      <p:cBhvr>
                                        <p:cTn id="21" dur="300" fill="hold"/>
                                        <p:tgtEl>
                                          <p:spTgt spid="45062"/>
                                        </p:tgtEl>
                                        <p:attrNameLst>
                                          <p:attrName>ppt_w</p:attrName>
                                        </p:attrNameLst>
                                      </p:cBhvr>
                                      <p:tavLst>
                                        <p:tav tm="0">
                                          <p:val>
                                            <p:strVal val="4/3*#ppt_w"/>
                                          </p:val>
                                        </p:tav>
                                        <p:tav tm="100000">
                                          <p:val>
                                            <p:strVal val="#ppt_w"/>
                                          </p:val>
                                        </p:tav>
                                      </p:tavLst>
                                    </p:anim>
                                    <p:anim calcmode="lin" valueType="num">
                                      <p:cBhvr>
                                        <p:cTn id="22" dur="300" fill="hold"/>
                                        <p:tgtEl>
                                          <p:spTgt spid="45062"/>
                                        </p:tgtEl>
                                        <p:attrNameLst>
                                          <p:attrName>ppt_h</p:attrName>
                                        </p:attrNameLst>
                                      </p:cBhvr>
                                      <p:tavLst>
                                        <p:tav tm="0">
                                          <p:val>
                                            <p:strVal val="4/3*#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061"/>
                                        </p:tgtEl>
                                        <p:attrNameLst>
                                          <p:attrName>style.visibility</p:attrName>
                                        </p:attrNameLst>
                                      </p:cBhvr>
                                      <p:to>
                                        <p:strVal val="visible"/>
                                      </p:to>
                                    </p:set>
                                    <p:animEffect transition="in" filter="dissolve">
                                      <p:cBhvr>
                                        <p:cTn id="27" dur="4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nimBg="1"/>
      <p:bldP spid="45059" grpId="0" animBg="1"/>
      <p:bldP spid="45060" grpId="0" animBg="1"/>
      <p:bldP spid="45061" grpId="0"/>
      <p:bldP spid="4506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Text Box 5"/>
          <p:cNvSpPr txBox="1">
            <a:spLocks noChangeArrowheads="1"/>
          </p:cNvSpPr>
          <p:nvPr/>
        </p:nvSpPr>
        <p:spPr bwMode="auto">
          <a:xfrm>
            <a:off x="1676400" y="2971800"/>
            <a:ext cx="6324600" cy="4762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“ll” is pronounced like the English y.</a:t>
            </a:r>
          </a:p>
        </p:txBody>
      </p:sp>
      <p:sp>
        <p:nvSpPr>
          <p:cNvPr id="66567" name="Text Box 7"/>
          <p:cNvSpPr txBox="1">
            <a:spLocks noChangeArrowheads="1"/>
          </p:cNvSpPr>
          <p:nvPr/>
        </p:nvSpPr>
        <p:spPr bwMode="auto">
          <a:xfrm>
            <a:off x="3200400" y="3352800"/>
            <a:ext cx="3352800" cy="762000"/>
          </a:xfrm>
          <a:prstGeom prst="rect">
            <a:avLst/>
          </a:prstGeom>
          <a:noFill/>
          <a:ln w="9525">
            <a:noFill/>
            <a:miter lim="800000"/>
            <a:headEnd/>
            <a:tailEnd/>
          </a:ln>
          <a:effectLst/>
        </p:spPr>
        <p:txBody>
          <a:bodyPr>
            <a:spAutoFit/>
          </a:bodyPr>
          <a:lstStyle/>
          <a:p>
            <a:pPr algn="ctr">
              <a:spcBef>
                <a:spcPct val="50000"/>
              </a:spcBef>
            </a:pPr>
            <a:r>
              <a:rPr lang="en-US" sz="4400">
                <a:solidFill>
                  <a:schemeClr val="bg1"/>
                </a:solidFill>
              </a:rPr>
              <a:t>ca</a:t>
            </a:r>
            <a:r>
              <a:rPr lang="en-US" sz="4400" u="sng">
                <a:solidFill>
                  <a:schemeClr val="bg1"/>
                </a:solidFill>
              </a:rPr>
              <a:t>ll</a:t>
            </a:r>
            <a:r>
              <a:rPr lang="en-US" sz="4400">
                <a:solidFill>
                  <a:schemeClr val="bg1"/>
                </a:solidFill>
              </a:rPr>
              <a:t>e = ca</a:t>
            </a:r>
            <a:r>
              <a:rPr lang="en-US" sz="4400" u="sng">
                <a:solidFill>
                  <a:schemeClr val="bg1"/>
                </a:solidFill>
              </a:rPr>
              <a:t>y</a:t>
            </a:r>
            <a:r>
              <a:rPr lang="en-US" sz="4400">
                <a:solidFill>
                  <a:schemeClr val="bg1"/>
                </a:solidFill>
              </a:rPr>
              <a:t>e</a:t>
            </a:r>
          </a:p>
        </p:txBody>
      </p:sp>
      <p:sp>
        <p:nvSpPr>
          <p:cNvPr id="66568" name="Text Box 8"/>
          <p:cNvSpPr txBox="1">
            <a:spLocks noChangeArrowheads="1"/>
          </p:cNvSpPr>
          <p:nvPr/>
        </p:nvSpPr>
        <p:spPr bwMode="auto">
          <a:xfrm>
            <a:off x="1433513" y="4114800"/>
            <a:ext cx="7100887" cy="124460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In Spain, it was formerly pronounced as ly, and some conservative, older speakers still use this pronunciation.</a:t>
            </a:r>
          </a:p>
        </p:txBody>
      </p:sp>
      <p:sp>
        <p:nvSpPr>
          <p:cNvPr id="66569" name="Text Box 9"/>
          <p:cNvSpPr txBox="1">
            <a:spLocks noChangeArrowheads="1"/>
          </p:cNvSpPr>
          <p:nvPr/>
        </p:nvSpPr>
        <p:spPr bwMode="auto">
          <a:xfrm>
            <a:off x="3276600" y="5181600"/>
            <a:ext cx="3352800" cy="762000"/>
          </a:xfrm>
          <a:prstGeom prst="rect">
            <a:avLst/>
          </a:prstGeom>
          <a:noFill/>
          <a:ln w="9525">
            <a:noFill/>
            <a:miter lim="800000"/>
            <a:headEnd/>
            <a:tailEnd/>
          </a:ln>
          <a:effectLst/>
        </p:spPr>
        <p:txBody>
          <a:bodyPr>
            <a:spAutoFit/>
          </a:bodyPr>
          <a:lstStyle/>
          <a:p>
            <a:pPr algn="ctr">
              <a:spcBef>
                <a:spcPct val="50000"/>
              </a:spcBef>
            </a:pPr>
            <a:r>
              <a:rPr lang="en-US" sz="4400">
                <a:solidFill>
                  <a:schemeClr val="bg1"/>
                </a:solidFill>
              </a:rPr>
              <a:t>ca</a:t>
            </a:r>
            <a:r>
              <a:rPr lang="en-US" sz="4400" u="sng">
                <a:solidFill>
                  <a:schemeClr val="bg1"/>
                </a:solidFill>
              </a:rPr>
              <a:t>ll</a:t>
            </a:r>
            <a:r>
              <a:rPr lang="en-US" sz="4400">
                <a:solidFill>
                  <a:schemeClr val="bg1"/>
                </a:solidFill>
              </a:rPr>
              <a:t>e = ca</a:t>
            </a:r>
            <a:r>
              <a:rPr lang="en-US" sz="4400" u="sng">
                <a:solidFill>
                  <a:schemeClr val="bg1"/>
                </a:solidFill>
              </a:rPr>
              <a:t>ly</a:t>
            </a:r>
            <a:r>
              <a:rPr lang="en-US" sz="4400">
                <a:solidFill>
                  <a:schemeClr val="bg1"/>
                </a:solidFill>
              </a:rPr>
              <a:t>e</a:t>
            </a:r>
          </a:p>
        </p:txBody>
      </p:sp>
      <p:sp>
        <p:nvSpPr>
          <p:cNvPr id="66572" name="WordArt 12" descr="Woven mat"/>
          <p:cNvSpPr>
            <a:spLocks noChangeArrowheads="1" noChangeShapeType="1" noTextEdit="1"/>
          </p:cNvSpPr>
          <p:nvPr/>
        </p:nvSpPr>
        <p:spPr bwMode="auto">
          <a:xfrm>
            <a:off x="2286000" y="800100"/>
            <a:ext cx="12954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ll</a:t>
            </a:r>
          </a:p>
        </p:txBody>
      </p:sp>
      <p:sp>
        <p:nvSpPr>
          <p:cNvPr id="66573" name="WordArt 13" descr="Stationery"/>
          <p:cNvSpPr>
            <a:spLocks noChangeArrowheads="1" noChangeShapeType="1" noTextEdit="1"/>
          </p:cNvSpPr>
          <p:nvPr/>
        </p:nvSpPr>
        <p:spPr bwMode="auto">
          <a:xfrm>
            <a:off x="4495800" y="1028700"/>
            <a:ext cx="28956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65"/>
                                        </p:tgtEl>
                                        <p:attrNameLst>
                                          <p:attrName>style.visibility</p:attrName>
                                        </p:attrNameLst>
                                      </p:cBhvr>
                                      <p:to>
                                        <p:strVal val="visible"/>
                                      </p:to>
                                    </p:set>
                                    <p:animEffect transition="in" filter="dissolve">
                                      <p:cBhvr>
                                        <p:cTn id="7" dur="400"/>
                                        <p:tgtEl>
                                          <p:spTgt spid="665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567"/>
                                        </p:tgtEl>
                                        <p:attrNameLst>
                                          <p:attrName>style.visibility</p:attrName>
                                        </p:attrNameLst>
                                      </p:cBhvr>
                                      <p:to>
                                        <p:strVal val="visible"/>
                                      </p:to>
                                    </p:set>
                                    <p:animEffect transition="in" filter="fade">
                                      <p:cBhvr>
                                        <p:cTn id="12" dur="300"/>
                                        <p:tgtEl>
                                          <p:spTgt spid="6656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6568"/>
                                        </p:tgtEl>
                                        <p:attrNameLst>
                                          <p:attrName>style.visibility</p:attrName>
                                        </p:attrNameLst>
                                      </p:cBhvr>
                                      <p:to>
                                        <p:strVal val="visible"/>
                                      </p:to>
                                    </p:set>
                                    <p:animEffect transition="in" filter="dissolve">
                                      <p:cBhvr>
                                        <p:cTn id="17" dur="400"/>
                                        <p:tgtEl>
                                          <p:spTgt spid="665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6569"/>
                                        </p:tgtEl>
                                        <p:attrNameLst>
                                          <p:attrName>style.visibility</p:attrName>
                                        </p:attrNameLst>
                                      </p:cBhvr>
                                      <p:to>
                                        <p:strVal val="visible"/>
                                      </p:to>
                                    </p:set>
                                    <p:animEffect transition="in" filter="fade">
                                      <p:cBhvr>
                                        <p:cTn id="22" dur="300"/>
                                        <p:tgtEl>
                                          <p:spTgt spid="66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p:bldP spid="66567" grpId="0"/>
      <p:bldP spid="66568" grpId="0"/>
      <p:bldP spid="6656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WordArt 2" descr="Woven mat"/>
          <p:cNvSpPr>
            <a:spLocks noChangeArrowheads="1" noChangeShapeType="1" noTextEdit="1"/>
          </p:cNvSpPr>
          <p:nvPr/>
        </p:nvSpPr>
        <p:spPr bwMode="auto">
          <a:xfrm>
            <a:off x="1981200" y="990600"/>
            <a:ext cx="17526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m</a:t>
            </a:r>
          </a:p>
        </p:txBody>
      </p:sp>
      <p:sp>
        <p:nvSpPr>
          <p:cNvPr id="46083" name="WordArt 3" descr="Stationery"/>
          <p:cNvSpPr>
            <a:spLocks noChangeArrowheads="1" noChangeShapeType="1" noTextEdit="1"/>
          </p:cNvSpPr>
          <p:nvPr/>
        </p:nvSpPr>
        <p:spPr bwMode="auto">
          <a:xfrm>
            <a:off x="4648200" y="1219200"/>
            <a:ext cx="3048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(eme)</a:t>
            </a:r>
          </a:p>
        </p:txBody>
      </p:sp>
      <p:sp>
        <p:nvSpPr>
          <p:cNvPr id="46084" name="Text Box 4"/>
          <p:cNvSpPr txBox="1">
            <a:spLocks noChangeArrowheads="1"/>
          </p:cNvSpPr>
          <p:nvPr/>
        </p:nvSpPr>
        <p:spPr bwMode="auto">
          <a:xfrm>
            <a:off x="1676400" y="3251200"/>
            <a:ext cx="64770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“m” is pronounced essentially like its English counterpart.</a:t>
            </a:r>
          </a:p>
        </p:txBody>
      </p:sp>
      <p:sp>
        <p:nvSpPr>
          <p:cNvPr id="46086" name="Text Box 6"/>
          <p:cNvSpPr txBox="1">
            <a:spLocks noChangeArrowheads="1"/>
          </p:cNvSpPr>
          <p:nvPr/>
        </p:nvSpPr>
        <p:spPr bwMode="auto">
          <a:xfrm>
            <a:off x="2895600" y="43434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mamá</a:t>
            </a:r>
          </a:p>
        </p:txBody>
      </p:sp>
      <p:sp>
        <p:nvSpPr>
          <p:cNvPr id="46087" name="Text Box 7"/>
          <p:cNvSpPr txBox="1">
            <a:spLocks noChangeArrowheads="1"/>
          </p:cNvSpPr>
          <p:nvPr/>
        </p:nvSpPr>
        <p:spPr bwMode="auto">
          <a:xfrm>
            <a:off x="2895600" y="4983163"/>
            <a:ext cx="1295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amor</a:t>
            </a:r>
          </a:p>
        </p:txBody>
      </p:sp>
      <p:sp>
        <p:nvSpPr>
          <p:cNvPr id="46088" name="Text Box 8"/>
          <p:cNvSpPr txBox="1">
            <a:spLocks noChangeArrowheads="1"/>
          </p:cNvSpPr>
          <p:nvPr/>
        </p:nvSpPr>
        <p:spPr bwMode="auto">
          <a:xfrm>
            <a:off x="5105400" y="43434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mole</a:t>
            </a:r>
          </a:p>
        </p:txBody>
      </p:sp>
      <p:sp>
        <p:nvSpPr>
          <p:cNvPr id="46089" name="Text Box 9"/>
          <p:cNvSpPr txBox="1">
            <a:spLocks noChangeArrowheads="1"/>
          </p:cNvSpPr>
          <p:nvPr/>
        </p:nvSpPr>
        <p:spPr bwMode="auto">
          <a:xfrm>
            <a:off x="5105400" y="49530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mensaje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200"/>
                                        <p:tgtEl>
                                          <p:spTgt spid="4608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dissolve">
                                      <p:cBhvr>
                                        <p:cTn id="12" dur="500"/>
                                        <p:tgtEl>
                                          <p:spTgt spid="4608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084"/>
                                        </p:tgtEl>
                                        <p:attrNameLst>
                                          <p:attrName>style.visibility</p:attrName>
                                        </p:attrNameLst>
                                      </p:cBhvr>
                                      <p:to>
                                        <p:strVal val="visible"/>
                                      </p:to>
                                    </p:set>
                                    <p:animEffect transition="in" filter="dissolve">
                                      <p:cBhvr>
                                        <p:cTn id="17" dur="400"/>
                                        <p:tgtEl>
                                          <p:spTgt spid="460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fade">
                                      <p:cBhvr>
                                        <p:cTn id="22" dur="300"/>
                                        <p:tgtEl>
                                          <p:spTgt spid="4608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087"/>
                                        </p:tgtEl>
                                        <p:attrNameLst>
                                          <p:attrName>style.visibility</p:attrName>
                                        </p:attrNameLst>
                                      </p:cBhvr>
                                      <p:to>
                                        <p:strVal val="visible"/>
                                      </p:to>
                                    </p:set>
                                    <p:animEffect transition="in" filter="fade">
                                      <p:cBhvr>
                                        <p:cTn id="27" dur="300"/>
                                        <p:tgtEl>
                                          <p:spTgt spid="4608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fade">
                                      <p:cBhvr>
                                        <p:cTn id="32" dur="300"/>
                                        <p:tgtEl>
                                          <p:spTgt spid="4608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089"/>
                                        </p:tgtEl>
                                        <p:attrNameLst>
                                          <p:attrName>style.visibility</p:attrName>
                                        </p:attrNameLst>
                                      </p:cBhvr>
                                      <p:to>
                                        <p:strVal val="visible"/>
                                      </p:to>
                                    </p:set>
                                    <p:animEffect transition="in" filter="fade">
                                      <p:cBhvr>
                                        <p:cTn id="37" dur="300"/>
                                        <p:tgtEl>
                                          <p:spTgt spid="4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p:bldP spid="46083" grpId="0" animBg="1"/>
      <p:bldP spid="46084" grpId="0"/>
      <p:bldP spid="46086" grpId="0"/>
      <p:bldP spid="46087" grpId="0"/>
      <p:bldP spid="46088" grpId="0"/>
      <p:bldP spid="4608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WordArt 2" descr="Woven mat"/>
          <p:cNvSpPr>
            <a:spLocks noChangeArrowheads="1" noChangeShapeType="1" noTextEdit="1"/>
          </p:cNvSpPr>
          <p:nvPr/>
        </p:nvSpPr>
        <p:spPr bwMode="auto">
          <a:xfrm>
            <a:off x="2133600" y="609600"/>
            <a:ext cx="15240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n</a:t>
            </a:r>
          </a:p>
        </p:txBody>
      </p:sp>
      <p:sp>
        <p:nvSpPr>
          <p:cNvPr id="47107" name="WordArt 3" descr="Stationery"/>
          <p:cNvSpPr>
            <a:spLocks noChangeArrowheads="1" noChangeShapeType="1" noTextEdit="1"/>
          </p:cNvSpPr>
          <p:nvPr/>
        </p:nvSpPr>
        <p:spPr bwMode="auto">
          <a:xfrm>
            <a:off x="4648200" y="685800"/>
            <a:ext cx="2819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(ene)</a:t>
            </a:r>
          </a:p>
        </p:txBody>
      </p:sp>
      <p:sp>
        <p:nvSpPr>
          <p:cNvPr id="47108" name="Text Box 4"/>
          <p:cNvSpPr txBox="1">
            <a:spLocks noChangeArrowheads="1"/>
          </p:cNvSpPr>
          <p:nvPr/>
        </p:nvSpPr>
        <p:spPr bwMode="auto">
          <a:xfrm>
            <a:off x="1676400" y="2794000"/>
            <a:ext cx="64770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“n” is pronounced very much like its English counterpart.</a:t>
            </a:r>
          </a:p>
        </p:txBody>
      </p:sp>
      <p:sp>
        <p:nvSpPr>
          <p:cNvPr id="47109" name="Text Box 5"/>
          <p:cNvSpPr txBox="1">
            <a:spLocks noChangeArrowheads="1"/>
          </p:cNvSpPr>
          <p:nvPr/>
        </p:nvSpPr>
        <p:spPr bwMode="auto">
          <a:xfrm>
            <a:off x="2743200" y="35814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nada</a:t>
            </a:r>
          </a:p>
        </p:txBody>
      </p:sp>
      <p:sp>
        <p:nvSpPr>
          <p:cNvPr id="47110" name="Text Box 6"/>
          <p:cNvSpPr txBox="1">
            <a:spLocks noChangeArrowheads="1"/>
          </p:cNvSpPr>
          <p:nvPr/>
        </p:nvSpPr>
        <p:spPr bwMode="auto">
          <a:xfrm>
            <a:off x="2743200" y="4114800"/>
            <a:ext cx="1219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Nora</a:t>
            </a:r>
          </a:p>
        </p:txBody>
      </p:sp>
      <p:sp>
        <p:nvSpPr>
          <p:cNvPr id="47111" name="Text Box 7"/>
          <p:cNvSpPr txBox="1">
            <a:spLocks noChangeArrowheads="1"/>
          </p:cNvSpPr>
          <p:nvPr/>
        </p:nvSpPr>
        <p:spPr bwMode="auto">
          <a:xfrm>
            <a:off x="5410200" y="3581400"/>
            <a:ext cx="1295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Elena</a:t>
            </a:r>
          </a:p>
        </p:txBody>
      </p:sp>
      <p:sp>
        <p:nvSpPr>
          <p:cNvPr id="47112" name="Text Box 8"/>
          <p:cNvSpPr txBox="1">
            <a:spLocks noChangeArrowheads="1"/>
          </p:cNvSpPr>
          <p:nvPr/>
        </p:nvSpPr>
        <p:spPr bwMode="auto">
          <a:xfrm>
            <a:off x="5410200" y="4114800"/>
            <a:ext cx="1676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máquina</a:t>
            </a:r>
          </a:p>
        </p:txBody>
      </p:sp>
      <p:sp>
        <p:nvSpPr>
          <p:cNvPr id="47113" name="Text Box 9"/>
          <p:cNvSpPr txBox="1">
            <a:spLocks noChangeArrowheads="1"/>
          </p:cNvSpPr>
          <p:nvPr/>
        </p:nvSpPr>
        <p:spPr bwMode="auto">
          <a:xfrm>
            <a:off x="1371600" y="4724400"/>
            <a:ext cx="72390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Before the consonants “b”, “p”, and “v”, the “n” is pronounced like an “m.”</a:t>
            </a:r>
          </a:p>
        </p:txBody>
      </p:sp>
      <p:sp>
        <p:nvSpPr>
          <p:cNvPr id="47114" name="Text Box 10"/>
          <p:cNvSpPr txBox="1">
            <a:spLocks noChangeArrowheads="1"/>
          </p:cNvSpPr>
          <p:nvPr/>
        </p:nvSpPr>
        <p:spPr bwMode="auto">
          <a:xfrm>
            <a:off x="1371600" y="5592763"/>
            <a:ext cx="15240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 beso</a:t>
            </a:r>
          </a:p>
        </p:txBody>
      </p:sp>
      <p:sp>
        <p:nvSpPr>
          <p:cNvPr id="47116" name="Text Box 12"/>
          <p:cNvSpPr txBox="1">
            <a:spLocks noChangeArrowheads="1"/>
          </p:cNvSpPr>
          <p:nvPr/>
        </p:nvSpPr>
        <p:spPr bwMode="auto">
          <a:xfrm>
            <a:off x="3810000" y="55927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 vaso</a:t>
            </a:r>
          </a:p>
        </p:txBody>
      </p:sp>
      <p:sp>
        <p:nvSpPr>
          <p:cNvPr id="47118" name="Text Box 14"/>
          <p:cNvSpPr txBox="1">
            <a:spLocks noChangeArrowheads="1"/>
          </p:cNvSpPr>
          <p:nvPr/>
        </p:nvSpPr>
        <p:spPr bwMode="auto">
          <a:xfrm>
            <a:off x="6324600" y="5592763"/>
            <a:ext cx="1752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 perro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200"/>
                                        <p:tgtEl>
                                          <p:spTgt spid="47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dissolve">
                                      <p:cBhvr>
                                        <p:cTn id="12" dur="500"/>
                                        <p:tgtEl>
                                          <p:spTgt spid="4710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108"/>
                                        </p:tgtEl>
                                        <p:attrNameLst>
                                          <p:attrName>style.visibility</p:attrName>
                                        </p:attrNameLst>
                                      </p:cBhvr>
                                      <p:to>
                                        <p:strVal val="visible"/>
                                      </p:to>
                                    </p:set>
                                    <p:animEffect transition="in" filter="dissolve">
                                      <p:cBhvr>
                                        <p:cTn id="17" dur="400"/>
                                        <p:tgtEl>
                                          <p:spTgt spid="4710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7109"/>
                                        </p:tgtEl>
                                        <p:attrNameLst>
                                          <p:attrName>style.visibility</p:attrName>
                                        </p:attrNameLst>
                                      </p:cBhvr>
                                      <p:to>
                                        <p:strVal val="visible"/>
                                      </p:to>
                                    </p:set>
                                    <p:animEffect transition="in" filter="fade">
                                      <p:cBhvr>
                                        <p:cTn id="22" dur="300"/>
                                        <p:tgtEl>
                                          <p:spTgt spid="4710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7110"/>
                                        </p:tgtEl>
                                        <p:attrNameLst>
                                          <p:attrName>style.visibility</p:attrName>
                                        </p:attrNameLst>
                                      </p:cBhvr>
                                      <p:to>
                                        <p:strVal val="visible"/>
                                      </p:to>
                                    </p:set>
                                    <p:animEffect transition="in" filter="fade">
                                      <p:cBhvr>
                                        <p:cTn id="27" dur="300"/>
                                        <p:tgtEl>
                                          <p:spTgt spid="471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7111"/>
                                        </p:tgtEl>
                                        <p:attrNameLst>
                                          <p:attrName>style.visibility</p:attrName>
                                        </p:attrNameLst>
                                      </p:cBhvr>
                                      <p:to>
                                        <p:strVal val="visible"/>
                                      </p:to>
                                    </p:set>
                                    <p:animEffect transition="in" filter="fade">
                                      <p:cBhvr>
                                        <p:cTn id="32" dur="300"/>
                                        <p:tgtEl>
                                          <p:spTgt spid="471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7112"/>
                                        </p:tgtEl>
                                        <p:attrNameLst>
                                          <p:attrName>style.visibility</p:attrName>
                                        </p:attrNameLst>
                                      </p:cBhvr>
                                      <p:to>
                                        <p:strVal val="visible"/>
                                      </p:to>
                                    </p:set>
                                    <p:animEffect transition="in" filter="fade">
                                      <p:cBhvr>
                                        <p:cTn id="37" dur="300"/>
                                        <p:tgtEl>
                                          <p:spTgt spid="4711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7113"/>
                                        </p:tgtEl>
                                        <p:attrNameLst>
                                          <p:attrName>style.visibility</p:attrName>
                                        </p:attrNameLst>
                                      </p:cBhvr>
                                      <p:to>
                                        <p:strVal val="visible"/>
                                      </p:to>
                                    </p:set>
                                    <p:animEffect transition="in" filter="dissolve">
                                      <p:cBhvr>
                                        <p:cTn id="42" dur="400"/>
                                        <p:tgtEl>
                                          <p:spTgt spid="471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7114"/>
                                        </p:tgtEl>
                                        <p:attrNameLst>
                                          <p:attrName>style.visibility</p:attrName>
                                        </p:attrNameLst>
                                      </p:cBhvr>
                                      <p:to>
                                        <p:strVal val="visible"/>
                                      </p:to>
                                    </p:set>
                                    <p:animEffect transition="in" filter="fade">
                                      <p:cBhvr>
                                        <p:cTn id="47" dur="300"/>
                                        <p:tgtEl>
                                          <p:spTgt spid="471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7116"/>
                                        </p:tgtEl>
                                        <p:attrNameLst>
                                          <p:attrName>style.visibility</p:attrName>
                                        </p:attrNameLst>
                                      </p:cBhvr>
                                      <p:to>
                                        <p:strVal val="visible"/>
                                      </p:to>
                                    </p:set>
                                    <p:animEffect transition="in" filter="fade">
                                      <p:cBhvr>
                                        <p:cTn id="52" dur="300"/>
                                        <p:tgtEl>
                                          <p:spTgt spid="471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7118"/>
                                        </p:tgtEl>
                                        <p:attrNameLst>
                                          <p:attrName>style.visibility</p:attrName>
                                        </p:attrNameLst>
                                      </p:cBhvr>
                                      <p:to>
                                        <p:strVal val="visible"/>
                                      </p:to>
                                    </p:set>
                                    <p:animEffect transition="in" filter="fade">
                                      <p:cBhvr>
                                        <p:cTn id="57" dur="300"/>
                                        <p:tgtEl>
                                          <p:spTgt spid="47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nimBg="1"/>
      <p:bldP spid="47107" grpId="0" animBg="1"/>
      <p:bldP spid="47108" grpId="0"/>
      <p:bldP spid="47109" grpId="0"/>
      <p:bldP spid="47110" grpId="0"/>
      <p:bldP spid="47111" grpId="0"/>
      <p:bldP spid="47112" grpId="0"/>
      <p:bldP spid="47113" grpId="0"/>
      <p:bldP spid="47114" grpId="0"/>
      <p:bldP spid="47116" grpId="0"/>
      <p:bldP spid="471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WordArt 2" descr="Woven mat"/>
          <p:cNvSpPr>
            <a:spLocks noChangeArrowheads="1" noChangeShapeType="1" noTextEdit="1"/>
          </p:cNvSpPr>
          <p:nvPr/>
        </p:nvSpPr>
        <p:spPr bwMode="auto">
          <a:xfrm>
            <a:off x="2286000" y="533400"/>
            <a:ext cx="1524000" cy="2514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ñ</a:t>
            </a:r>
          </a:p>
        </p:txBody>
      </p:sp>
      <p:sp>
        <p:nvSpPr>
          <p:cNvPr id="61443" name="WordArt 3" descr="Stationery"/>
          <p:cNvSpPr>
            <a:spLocks noChangeArrowheads="1" noChangeShapeType="1" noTextEdit="1"/>
          </p:cNvSpPr>
          <p:nvPr/>
        </p:nvSpPr>
        <p:spPr bwMode="auto">
          <a:xfrm>
            <a:off x="4724400" y="1219200"/>
            <a:ext cx="2819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(eñe)</a:t>
            </a:r>
          </a:p>
        </p:txBody>
      </p:sp>
      <p:sp>
        <p:nvSpPr>
          <p:cNvPr id="61444" name="WordArt 4" descr="Woven mat"/>
          <p:cNvSpPr>
            <a:spLocks noChangeArrowheads="1" noChangeShapeType="1" noTextEdit="1"/>
          </p:cNvSpPr>
          <p:nvPr/>
        </p:nvSpPr>
        <p:spPr bwMode="auto">
          <a:xfrm>
            <a:off x="1371600" y="590550"/>
            <a:ext cx="685800" cy="704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61445" name="Text Box 5"/>
          <p:cNvSpPr txBox="1">
            <a:spLocks noChangeArrowheads="1"/>
          </p:cNvSpPr>
          <p:nvPr/>
        </p:nvSpPr>
        <p:spPr bwMode="auto">
          <a:xfrm>
            <a:off x="1524000" y="3200400"/>
            <a:ext cx="71628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After the changes to the Spanish alphabet in 1994, the “ñ” is the one letter that still does not appear in the English alphabet.  It is pronounced like the “ni” combination in the word </a:t>
            </a:r>
            <a:r>
              <a:rPr lang="en-US" sz="2800" i="1">
                <a:solidFill>
                  <a:schemeClr val="bg1"/>
                </a:solidFill>
              </a:rPr>
              <a:t>o</a:t>
            </a:r>
            <a:r>
              <a:rPr lang="en-US" sz="2800" i="1" u="sng">
                <a:solidFill>
                  <a:schemeClr val="bg1"/>
                </a:solidFill>
              </a:rPr>
              <a:t>ni</a:t>
            </a:r>
            <a:r>
              <a:rPr lang="en-US" sz="2800" i="1">
                <a:solidFill>
                  <a:schemeClr val="bg1"/>
                </a:solidFill>
              </a:rPr>
              <a:t>on</a:t>
            </a:r>
            <a:r>
              <a:rPr lang="en-US" sz="2800">
                <a:solidFill>
                  <a:schemeClr val="bg1"/>
                </a:solidFill>
              </a:rPr>
              <a:t>.</a:t>
            </a:r>
          </a:p>
        </p:txBody>
      </p:sp>
      <p:sp>
        <p:nvSpPr>
          <p:cNvPr id="61446" name="WordArt 6" descr="Woven mat"/>
          <p:cNvSpPr>
            <a:spLocks noChangeArrowheads="1" noChangeShapeType="1" noTextEdit="1"/>
          </p:cNvSpPr>
          <p:nvPr/>
        </p:nvSpPr>
        <p:spPr bwMode="auto">
          <a:xfrm>
            <a:off x="990600" y="3105150"/>
            <a:ext cx="457200" cy="4000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61447" name="Text Box 7"/>
          <p:cNvSpPr txBox="1">
            <a:spLocks noChangeArrowheads="1"/>
          </p:cNvSpPr>
          <p:nvPr/>
        </p:nvSpPr>
        <p:spPr bwMode="auto">
          <a:xfrm>
            <a:off x="2590800" y="48768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niño</a:t>
            </a:r>
          </a:p>
        </p:txBody>
      </p:sp>
      <p:sp>
        <p:nvSpPr>
          <p:cNvPr id="61448" name="Text Box 8"/>
          <p:cNvSpPr txBox="1">
            <a:spLocks noChangeArrowheads="1"/>
          </p:cNvSpPr>
          <p:nvPr/>
        </p:nvSpPr>
        <p:spPr bwMode="auto">
          <a:xfrm>
            <a:off x="2590800" y="54864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mañana</a:t>
            </a:r>
          </a:p>
        </p:txBody>
      </p:sp>
      <p:sp>
        <p:nvSpPr>
          <p:cNvPr id="61449" name="Text Box 9"/>
          <p:cNvSpPr txBox="1">
            <a:spLocks noChangeArrowheads="1"/>
          </p:cNvSpPr>
          <p:nvPr/>
        </p:nvSpPr>
        <p:spPr bwMode="auto">
          <a:xfrm>
            <a:off x="5410200" y="4876800"/>
            <a:ext cx="990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año</a:t>
            </a:r>
          </a:p>
        </p:txBody>
      </p:sp>
      <p:sp>
        <p:nvSpPr>
          <p:cNvPr id="61450" name="Text Box 10"/>
          <p:cNvSpPr txBox="1">
            <a:spLocks noChangeArrowheads="1"/>
          </p:cNvSpPr>
          <p:nvPr/>
        </p:nvSpPr>
        <p:spPr bwMode="auto">
          <a:xfrm>
            <a:off x="5410200" y="5486400"/>
            <a:ext cx="1676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baño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wipe(left)">
                                      <p:cBhvr>
                                        <p:cTn id="7" dur="200"/>
                                        <p:tgtEl>
                                          <p:spTgt spid="614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43"/>
                                        </p:tgtEl>
                                        <p:attrNameLst>
                                          <p:attrName>style.visibility</p:attrName>
                                        </p:attrNameLst>
                                      </p:cBhvr>
                                      <p:to>
                                        <p:strVal val="visible"/>
                                      </p:to>
                                    </p:set>
                                    <p:animEffect transition="in" filter="dissolve">
                                      <p:cBhvr>
                                        <p:cTn id="12" dur="500"/>
                                        <p:tgtEl>
                                          <p:spTgt spid="61443"/>
                                        </p:tgtEl>
                                      </p:cBhvr>
                                    </p:animEffect>
                                  </p:childTnLst>
                                </p:cTn>
                              </p:par>
                            </p:childTnLst>
                          </p:cTn>
                        </p:par>
                        <p:par>
                          <p:cTn id="13" fill="hold">
                            <p:stCondLst>
                              <p:cond delay="500"/>
                            </p:stCondLst>
                            <p:childTnLst>
                              <p:par>
                                <p:cTn id="14" presetID="23" presetClass="entr" presetSubtype="288" fill="hold" grpId="0" nodeType="afterEffect">
                                  <p:stCondLst>
                                    <p:cond delay="0"/>
                                  </p:stCondLst>
                                  <p:childTnLst>
                                    <p:set>
                                      <p:cBhvr>
                                        <p:cTn id="15" dur="1" fill="hold">
                                          <p:stCondLst>
                                            <p:cond delay="0"/>
                                          </p:stCondLst>
                                        </p:cTn>
                                        <p:tgtEl>
                                          <p:spTgt spid="61444"/>
                                        </p:tgtEl>
                                        <p:attrNameLst>
                                          <p:attrName>style.visibility</p:attrName>
                                        </p:attrNameLst>
                                      </p:cBhvr>
                                      <p:to>
                                        <p:strVal val="visible"/>
                                      </p:to>
                                    </p:set>
                                    <p:anim calcmode="lin" valueType="num">
                                      <p:cBhvr>
                                        <p:cTn id="16" dur="300" fill="hold"/>
                                        <p:tgtEl>
                                          <p:spTgt spid="61444"/>
                                        </p:tgtEl>
                                        <p:attrNameLst>
                                          <p:attrName>ppt_w</p:attrName>
                                        </p:attrNameLst>
                                      </p:cBhvr>
                                      <p:tavLst>
                                        <p:tav tm="0">
                                          <p:val>
                                            <p:strVal val="4/3*#ppt_w"/>
                                          </p:val>
                                        </p:tav>
                                        <p:tav tm="100000">
                                          <p:val>
                                            <p:strVal val="#ppt_w"/>
                                          </p:val>
                                        </p:tav>
                                      </p:tavLst>
                                    </p:anim>
                                    <p:anim calcmode="lin" valueType="num">
                                      <p:cBhvr>
                                        <p:cTn id="17" dur="300" fill="hold"/>
                                        <p:tgtEl>
                                          <p:spTgt spid="61444"/>
                                        </p:tgtEl>
                                        <p:attrNameLst>
                                          <p:attrName>ppt_h</p:attrName>
                                        </p:attrNameLst>
                                      </p:cBhvr>
                                      <p:tavLst>
                                        <p:tav tm="0">
                                          <p:val>
                                            <p:strVal val="4/3*#ppt_h"/>
                                          </p:val>
                                        </p:tav>
                                        <p:tav tm="100000">
                                          <p:val>
                                            <p:strVal val="#ppt_h"/>
                                          </p:val>
                                        </p:tav>
                                      </p:tavLst>
                                    </p:anim>
                                  </p:childTnLst>
                                </p:cTn>
                              </p:par>
                            </p:childTnLst>
                          </p:cTn>
                        </p:par>
                        <p:par>
                          <p:cTn id="18" fill="hold">
                            <p:stCondLst>
                              <p:cond delay="800"/>
                            </p:stCondLst>
                            <p:childTnLst>
                              <p:par>
                                <p:cTn id="19" presetID="23" presetClass="entr" presetSubtype="288" fill="hold" grpId="0" nodeType="afterEffect">
                                  <p:stCondLst>
                                    <p:cond delay="0"/>
                                  </p:stCondLst>
                                  <p:childTnLst>
                                    <p:set>
                                      <p:cBhvr>
                                        <p:cTn id="20" dur="1" fill="hold">
                                          <p:stCondLst>
                                            <p:cond delay="0"/>
                                          </p:stCondLst>
                                        </p:cTn>
                                        <p:tgtEl>
                                          <p:spTgt spid="61446"/>
                                        </p:tgtEl>
                                        <p:attrNameLst>
                                          <p:attrName>style.visibility</p:attrName>
                                        </p:attrNameLst>
                                      </p:cBhvr>
                                      <p:to>
                                        <p:strVal val="visible"/>
                                      </p:to>
                                    </p:set>
                                    <p:anim calcmode="lin" valueType="num">
                                      <p:cBhvr>
                                        <p:cTn id="21" dur="300" fill="hold"/>
                                        <p:tgtEl>
                                          <p:spTgt spid="61446"/>
                                        </p:tgtEl>
                                        <p:attrNameLst>
                                          <p:attrName>ppt_w</p:attrName>
                                        </p:attrNameLst>
                                      </p:cBhvr>
                                      <p:tavLst>
                                        <p:tav tm="0">
                                          <p:val>
                                            <p:strVal val="4/3*#ppt_w"/>
                                          </p:val>
                                        </p:tav>
                                        <p:tav tm="100000">
                                          <p:val>
                                            <p:strVal val="#ppt_w"/>
                                          </p:val>
                                        </p:tav>
                                      </p:tavLst>
                                    </p:anim>
                                    <p:anim calcmode="lin" valueType="num">
                                      <p:cBhvr>
                                        <p:cTn id="22" dur="300" fill="hold"/>
                                        <p:tgtEl>
                                          <p:spTgt spid="61446"/>
                                        </p:tgtEl>
                                        <p:attrNameLst>
                                          <p:attrName>ppt_h</p:attrName>
                                        </p:attrNameLst>
                                      </p:cBhvr>
                                      <p:tavLst>
                                        <p:tav tm="0">
                                          <p:val>
                                            <p:strVal val="4/3*#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1445"/>
                                        </p:tgtEl>
                                        <p:attrNameLst>
                                          <p:attrName>style.visibility</p:attrName>
                                        </p:attrNameLst>
                                      </p:cBhvr>
                                      <p:to>
                                        <p:strVal val="visible"/>
                                      </p:to>
                                    </p:set>
                                    <p:animEffect transition="in" filter="dissolve">
                                      <p:cBhvr>
                                        <p:cTn id="27" dur="400"/>
                                        <p:tgtEl>
                                          <p:spTgt spid="6144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47"/>
                                        </p:tgtEl>
                                        <p:attrNameLst>
                                          <p:attrName>style.visibility</p:attrName>
                                        </p:attrNameLst>
                                      </p:cBhvr>
                                      <p:to>
                                        <p:strVal val="visible"/>
                                      </p:to>
                                    </p:set>
                                    <p:animEffect transition="in" filter="fade">
                                      <p:cBhvr>
                                        <p:cTn id="32" dur="300"/>
                                        <p:tgtEl>
                                          <p:spTgt spid="6144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48"/>
                                        </p:tgtEl>
                                        <p:attrNameLst>
                                          <p:attrName>style.visibility</p:attrName>
                                        </p:attrNameLst>
                                      </p:cBhvr>
                                      <p:to>
                                        <p:strVal val="visible"/>
                                      </p:to>
                                    </p:set>
                                    <p:animEffect transition="in" filter="fade">
                                      <p:cBhvr>
                                        <p:cTn id="37" dur="300"/>
                                        <p:tgtEl>
                                          <p:spTgt spid="6144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49"/>
                                        </p:tgtEl>
                                        <p:attrNameLst>
                                          <p:attrName>style.visibility</p:attrName>
                                        </p:attrNameLst>
                                      </p:cBhvr>
                                      <p:to>
                                        <p:strVal val="visible"/>
                                      </p:to>
                                    </p:set>
                                    <p:animEffect transition="in" filter="fade">
                                      <p:cBhvr>
                                        <p:cTn id="42" dur="300"/>
                                        <p:tgtEl>
                                          <p:spTgt spid="6144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1450"/>
                                        </p:tgtEl>
                                        <p:attrNameLst>
                                          <p:attrName>style.visibility</p:attrName>
                                        </p:attrNameLst>
                                      </p:cBhvr>
                                      <p:to>
                                        <p:strVal val="visible"/>
                                      </p:to>
                                    </p:set>
                                    <p:animEffect transition="in" filter="fade">
                                      <p:cBhvr>
                                        <p:cTn id="47" dur="300"/>
                                        <p:tgtEl>
                                          <p:spTgt spid="61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nimBg="1"/>
      <p:bldP spid="61443" grpId="0" animBg="1"/>
      <p:bldP spid="61444" grpId="0" animBg="1"/>
      <p:bldP spid="61445" grpId="0"/>
      <p:bldP spid="61446" grpId="0" animBg="1"/>
      <p:bldP spid="61447" grpId="0"/>
      <p:bldP spid="61448" grpId="0"/>
      <p:bldP spid="61449" grpId="0"/>
      <p:bldP spid="614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WordArt 2" descr="Woven mat"/>
          <p:cNvSpPr>
            <a:spLocks noChangeArrowheads="1" noChangeShapeType="1" noTextEdit="1"/>
          </p:cNvSpPr>
          <p:nvPr/>
        </p:nvSpPr>
        <p:spPr bwMode="auto">
          <a:xfrm>
            <a:off x="2209800" y="990600"/>
            <a:ext cx="14478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o</a:t>
            </a:r>
          </a:p>
        </p:txBody>
      </p:sp>
      <p:sp>
        <p:nvSpPr>
          <p:cNvPr id="48131" name="WordArt 3" descr="Stationery"/>
          <p:cNvSpPr>
            <a:spLocks noChangeArrowheads="1" noChangeShapeType="1" noTextEdit="1"/>
          </p:cNvSpPr>
          <p:nvPr/>
        </p:nvSpPr>
        <p:spPr bwMode="auto">
          <a:xfrm>
            <a:off x="4953000" y="1066800"/>
            <a:ext cx="2133600" cy="1600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(o)</a:t>
            </a:r>
          </a:p>
        </p:txBody>
      </p:sp>
      <p:sp>
        <p:nvSpPr>
          <p:cNvPr id="48132" name="Oval 4"/>
          <p:cNvSpPr>
            <a:spLocks noChangeArrowheads="1"/>
          </p:cNvSpPr>
          <p:nvPr/>
        </p:nvSpPr>
        <p:spPr bwMode="auto">
          <a:xfrm>
            <a:off x="1524000" y="609600"/>
            <a:ext cx="2743200" cy="2667000"/>
          </a:xfrm>
          <a:prstGeom prst="ellipse">
            <a:avLst/>
          </a:prstGeom>
          <a:noFill/>
          <a:ln w="25400">
            <a:solidFill>
              <a:schemeClr val="tx1"/>
            </a:solidFill>
            <a:round/>
            <a:headEnd/>
            <a:tailEnd/>
          </a:ln>
          <a:effectLst/>
        </p:spPr>
        <p:txBody>
          <a:bodyPr wrap="none" anchor="ctr"/>
          <a:lstStyle/>
          <a:p>
            <a:endParaRPr lang="en-US"/>
          </a:p>
        </p:txBody>
      </p:sp>
      <p:sp>
        <p:nvSpPr>
          <p:cNvPr id="48133" name="Text Box 5"/>
          <p:cNvSpPr txBox="1">
            <a:spLocks noChangeArrowheads="1"/>
          </p:cNvSpPr>
          <p:nvPr/>
        </p:nvSpPr>
        <p:spPr bwMode="auto">
          <a:xfrm>
            <a:off x="1490663" y="3705225"/>
            <a:ext cx="7196137"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Like the o in “h</a:t>
            </a:r>
            <a:r>
              <a:rPr lang="en-US" sz="3200" u="sng">
                <a:solidFill>
                  <a:schemeClr val="bg1"/>
                </a:solidFill>
              </a:rPr>
              <a:t>o</a:t>
            </a:r>
            <a:r>
              <a:rPr lang="en-US" sz="3200">
                <a:solidFill>
                  <a:schemeClr val="bg1"/>
                </a:solidFill>
              </a:rPr>
              <a:t>pe,” but without the glide</a:t>
            </a:r>
          </a:p>
        </p:txBody>
      </p:sp>
      <p:sp>
        <p:nvSpPr>
          <p:cNvPr id="48134" name="Line 6"/>
          <p:cNvSpPr>
            <a:spLocks noChangeShapeType="1"/>
          </p:cNvSpPr>
          <p:nvPr/>
        </p:nvSpPr>
        <p:spPr bwMode="auto">
          <a:xfrm>
            <a:off x="2933700" y="3281363"/>
            <a:ext cx="152400" cy="533400"/>
          </a:xfrm>
          <a:prstGeom prst="line">
            <a:avLst/>
          </a:prstGeom>
          <a:noFill/>
          <a:ln w="25400">
            <a:solidFill>
              <a:schemeClr val="tx1"/>
            </a:solidFill>
            <a:round/>
            <a:headEnd/>
            <a:tailEnd type="triangle" w="med" len="med"/>
          </a:ln>
          <a:effectLst/>
        </p:spPr>
        <p:txBody>
          <a:bodyPr/>
          <a:lstStyle/>
          <a:p>
            <a:endParaRPr lang="en-US"/>
          </a:p>
        </p:txBody>
      </p:sp>
      <p:sp>
        <p:nvSpPr>
          <p:cNvPr id="48135" name="Text Box 7"/>
          <p:cNvSpPr txBox="1">
            <a:spLocks noChangeArrowheads="1"/>
          </p:cNvSpPr>
          <p:nvPr/>
        </p:nvSpPr>
        <p:spPr bwMode="auto">
          <a:xfrm>
            <a:off x="2895600" y="4419600"/>
            <a:ext cx="1295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mono</a:t>
            </a:r>
          </a:p>
        </p:txBody>
      </p:sp>
      <p:sp>
        <p:nvSpPr>
          <p:cNvPr id="48136" name="Text Box 8"/>
          <p:cNvSpPr txBox="1">
            <a:spLocks noChangeArrowheads="1"/>
          </p:cNvSpPr>
          <p:nvPr/>
        </p:nvSpPr>
        <p:spPr bwMode="auto">
          <a:xfrm>
            <a:off x="2895600" y="50292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perro</a:t>
            </a:r>
          </a:p>
        </p:txBody>
      </p:sp>
      <p:sp>
        <p:nvSpPr>
          <p:cNvPr id="48137" name="Text Box 9"/>
          <p:cNvSpPr txBox="1">
            <a:spLocks noChangeArrowheads="1"/>
          </p:cNvSpPr>
          <p:nvPr/>
        </p:nvSpPr>
        <p:spPr bwMode="auto">
          <a:xfrm>
            <a:off x="5562600" y="4419600"/>
            <a:ext cx="838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yo</a:t>
            </a:r>
          </a:p>
        </p:txBody>
      </p:sp>
      <p:sp>
        <p:nvSpPr>
          <p:cNvPr id="48138" name="Text Box 10"/>
          <p:cNvSpPr txBox="1">
            <a:spLocks noChangeArrowheads="1"/>
          </p:cNvSpPr>
          <p:nvPr/>
        </p:nvSpPr>
        <p:spPr bwMode="auto">
          <a:xfrm>
            <a:off x="5562600" y="5029200"/>
            <a:ext cx="9144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2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dissolve">
                                      <p:cBhvr>
                                        <p:cTn id="12" dur="500"/>
                                        <p:tgtEl>
                                          <p:spTgt spid="481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132"/>
                                        </p:tgtEl>
                                        <p:attrNameLst>
                                          <p:attrName>style.visibility</p:attrName>
                                        </p:attrNameLst>
                                      </p:cBhvr>
                                      <p:to>
                                        <p:strVal val="visible"/>
                                      </p:to>
                                    </p:set>
                                    <p:animEffect transition="in" filter="wipe(up)">
                                      <p:cBhvr>
                                        <p:cTn id="17" dur="300"/>
                                        <p:tgtEl>
                                          <p:spTgt spid="48132"/>
                                        </p:tgtEl>
                                      </p:cBhvr>
                                    </p:animEffect>
                                  </p:childTnLst>
                                </p:cTn>
                              </p:par>
                            </p:childTnLst>
                          </p:cTn>
                        </p:par>
                        <p:par>
                          <p:cTn id="18" fill="hold">
                            <p:stCondLst>
                              <p:cond delay="300"/>
                            </p:stCondLst>
                            <p:childTnLst>
                              <p:par>
                                <p:cTn id="19" presetID="22" presetClass="entr" presetSubtype="1" fill="hold" grpId="0" nodeType="afterEffect">
                                  <p:stCondLst>
                                    <p:cond delay="0"/>
                                  </p:stCondLst>
                                  <p:childTnLst>
                                    <p:set>
                                      <p:cBhvr>
                                        <p:cTn id="20" dur="1" fill="hold">
                                          <p:stCondLst>
                                            <p:cond delay="0"/>
                                          </p:stCondLst>
                                        </p:cTn>
                                        <p:tgtEl>
                                          <p:spTgt spid="48134"/>
                                        </p:tgtEl>
                                        <p:attrNameLst>
                                          <p:attrName>style.visibility</p:attrName>
                                        </p:attrNameLst>
                                      </p:cBhvr>
                                      <p:to>
                                        <p:strVal val="visible"/>
                                      </p:to>
                                    </p:set>
                                    <p:animEffect transition="in" filter="wipe(up)">
                                      <p:cBhvr>
                                        <p:cTn id="21" dur="300"/>
                                        <p:tgtEl>
                                          <p:spTgt spid="48134"/>
                                        </p:tgtEl>
                                      </p:cBhvr>
                                    </p:animEffect>
                                  </p:childTnLst>
                                </p:cTn>
                              </p:par>
                            </p:childTnLst>
                          </p:cTn>
                        </p:par>
                        <p:par>
                          <p:cTn id="22" fill="hold">
                            <p:stCondLst>
                              <p:cond delay="600"/>
                            </p:stCondLst>
                            <p:childTnLst>
                              <p:par>
                                <p:cTn id="23" presetID="9" presetClass="entr" presetSubtype="0" fill="hold" grpId="0" nodeType="afterEffect">
                                  <p:stCondLst>
                                    <p:cond delay="0"/>
                                  </p:stCondLst>
                                  <p:childTnLst>
                                    <p:set>
                                      <p:cBhvr>
                                        <p:cTn id="24" dur="1" fill="hold">
                                          <p:stCondLst>
                                            <p:cond delay="0"/>
                                          </p:stCondLst>
                                        </p:cTn>
                                        <p:tgtEl>
                                          <p:spTgt spid="48133"/>
                                        </p:tgtEl>
                                        <p:attrNameLst>
                                          <p:attrName>style.visibility</p:attrName>
                                        </p:attrNameLst>
                                      </p:cBhvr>
                                      <p:to>
                                        <p:strVal val="visible"/>
                                      </p:to>
                                    </p:set>
                                    <p:animEffect transition="in" filter="dissolve">
                                      <p:cBhvr>
                                        <p:cTn id="25" dur="400"/>
                                        <p:tgtEl>
                                          <p:spTgt spid="4813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8135"/>
                                        </p:tgtEl>
                                        <p:attrNameLst>
                                          <p:attrName>style.visibility</p:attrName>
                                        </p:attrNameLst>
                                      </p:cBhvr>
                                      <p:to>
                                        <p:strVal val="visible"/>
                                      </p:to>
                                    </p:set>
                                    <p:animEffect transition="in" filter="fade">
                                      <p:cBhvr>
                                        <p:cTn id="30" dur="300"/>
                                        <p:tgtEl>
                                          <p:spTgt spid="4813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8136"/>
                                        </p:tgtEl>
                                        <p:attrNameLst>
                                          <p:attrName>style.visibility</p:attrName>
                                        </p:attrNameLst>
                                      </p:cBhvr>
                                      <p:to>
                                        <p:strVal val="visible"/>
                                      </p:to>
                                    </p:set>
                                    <p:animEffect transition="in" filter="fade">
                                      <p:cBhvr>
                                        <p:cTn id="35" dur="300"/>
                                        <p:tgtEl>
                                          <p:spTgt spid="4813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137"/>
                                        </p:tgtEl>
                                        <p:attrNameLst>
                                          <p:attrName>style.visibility</p:attrName>
                                        </p:attrNameLst>
                                      </p:cBhvr>
                                      <p:to>
                                        <p:strVal val="visible"/>
                                      </p:to>
                                    </p:set>
                                    <p:animEffect transition="in" filter="fade">
                                      <p:cBhvr>
                                        <p:cTn id="40" dur="300"/>
                                        <p:tgtEl>
                                          <p:spTgt spid="4813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8138"/>
                                        </p:tgtEl>
                                        <p:attrNameLst>
                                          <p:attrName>style.visibility</p:attrName>
                                        </p:attrNameLst>
                                      </p:cBhvr>
                                      <p:to>
                                        <p:strVal val="visible"/>
                                      </p:to>
                                    </p:set>
                                    <p:animEffect transition="in" filter="fade">
                                      <p:cBhvr>
                                        <p:cTn id="45" dur="300"/>
                                        <p:tgtEl>
                                          <p:spTgt spid="48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nimBg="1"/>
      <p:bldP spid="48131" grpId="0" animBg="1"/>
      <p:bldP spid="48132" grpId="0" animBg="1"/>
      <p:bldP spid="48133" grpId="0"/>
      <p:bldP spid="48134" grpId="0" animBg="1"/>
      <p:bldP spid="48135" grpId="0"/>
      <p:bldP spid="48136" grpId="0"/>
      <p:bldP spid="48137" grpId="0"/>
      <p:bldP spid="4813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WordArt 2" descr="Woven mat"/>
          <p:cNvSpPr>
            <a:spLocks noChangeArrowheads="1" noChangeShapeType="1" noTextEdit="1"/>
          </p:cNvSpPr>
          <p:nvPr/>
        </p:nvSpPr>
        <p:spPr bwMode="auto">
          <a:xfrm>
            <a:off x="2133600" y="838200"/>
            <a:ext cx="15240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p</a:t>
            </a:r>
          </a:p>
        </p:txBody>
      </p:sp>
      <p:sp>
        <p:nvSpPr>
          <p:cNvPr id="49155" name="WordArt 3" descr="Stationery"/>
          <p:cNvSpPr>
            <a:spLocks noChangeArrowheads="1" noChangeShapeType="1" noTextEdit="1"/>
          </p:cNvSpPr>
          <p:nvPr/>
        </p:nvSpPr>
        <p:spPr bwMode="auto">
          <a:xfrm>
            <a:off x="4648200" y="1066800"/>
            <a:ext cx="2667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(pe)</a:t>
            </a:r>
          </a:p>
        </p:txBody>
      </p:sp>
      <p:sp>
        <p:nvSpPr>
          <p:cNvPr id="49156" name="Text Box 4"/>
          <p:cNvSpPr txBox="1">
            <a:spLocks noChangeArrowheads="1"/>
          </p:cNvSpPr>
          <p:nvPr/>
        </p:nvSpPr>
        <p:spPr bwMode="auto">
          <a:xfrm>
            <a:off x="1295400" y="3019425"/>
            <a:ext cx="72390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“p” is unlike the English p in that the latter is aspirated, that is, a puff of air is expelled after the lips separate.  In Spanish, we hold back the air, avoiding the “pop” that is heard in English.</a:t>
            </a:r>
          </a:p>
        </p:txBody>
      </p:sp>
      <p:sp>
        <p:nvSpPr>
          <p:cNvPr id="49157" name="Text Box 5"/>
          <p:cNvSpPr txBox="1">
            <a:spLocks noChangeArrowheads="1"/>
          </p:cNvSpPr>
          <p:nvPr/>
        </p:nvSpPr>
        <p:spPr bwMode="auto">
          <a:xfrm>
            <a:off x="2895600" y="4678363"/>
            <a:ext cx="1295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Pablo</a:t>
            </a:r>
          </a:p>
        </p:txBody>
      </p:sp>
      <p:sp>
        <p:nvSpPr>
          <p:cNvPr id="49158" name="Text Box 6"/>
          <p:cNvSpPr txBox="1">
            <a:spLocks noChangeArrowheads="1"/>
          </p:cNvSpPr>
          <p:nvPr/>
        </p:nvSpPr>
        <p:spPr bwMode="auto">
          <a:xfrm>
            <a:off x="2895600" y="52879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papá</a:t>
            </a:r>
          </a:p>
        </p:txBody>
      </p:sp>
      <p:sp>
        <p:nvSpPr>
          <p:cNvPr id="49159" name="Text Box 7"/>
          <p:cNvSpPr txBox="1">
            <a:spLocks noChangeArrowheads="1"/>
          </p:cNvSpPr>
          <p:nvPr/>
        </p:nvSpPr>
        <p:spPr bwMode="auto">
          <a:xfrm>
            <a:off x="5562600" y="46783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pata</a:t>
            </a:r>
          </a:p>
        </p:txBody>
      </p:sp>
      <p:sp>
        <p:nvSpPr>
          <p:cNvPr id="49160" name="Text Box 8"/>
          <p:cNvSpPr txBox="1">
            <a:spLocks noChangeArrowheads="1"/>
          </p:cNvSpPr>
          <p:nvPr/>
        </p:nvSpPr>
        <p:spPr bwMode="auto">
          <a:xfrm>
            <a:off x="5562600" y="5287963"/>
            <a:ext cx="1676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ropa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200"/>
                                        <p:tgtEl>
                                          <p:spTgt spid="491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dissolve">
                                      <p:cBhvr>
                                        <p:cTn id="12" dur="500"/>
                                        <p:tgtEl>
                                          <p:spTgt spid="491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156"/>
                                        </p:tgtEl>
                                        <p:attrNameLst>
                                          <p:attrName>style.visibility</p:attrName>
                                        </p:attrNameLst>
                                      </p:cBhvr>
                                      <p:to>
                                        <p:strVal val="visible"/>
                                      </p:to>
                                    </p:set>
                                    <p:animEffect transition="in" filter="dissolve">
                                      <p:cBhvr>
                                        <p:cTn id="17" dur="400"/>
                                        <p:tgtEl>
                                          <p:spTgt spid="4915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157"/>
                                        </p:tgtEl>
                                        <p:attrNameLst>
                                          <p:attrName>style.visibility</p:attrName>
                                        </p:attrNameLst>
                                      </p:cBhvr>
                                      <p:to>
                                        <p:strVal val="visible"/>
                                      </p:to>
                                    </p:set>
                                    <p:animEffect transition="in" filter="fade">
                                      <p:cBhvr>
                                        <p:cTn id="22" dur="300"/>
                                        <p:tgtEl>
                                          <p:spTgt spid="4915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158"/>
                                        </p:tgtEl>
                                        <p:attrNameLst>
                                          <p:attrName>style.visibility</p:attrName>
                                        </p:attrNameLst>
                                      </p:cBhvr>
                                      <p:to>
                                        <p:strVal val="visible"/>
                                      </p:to>
                                    </p:set>
                                    <p:animEffect transition="in" filter="fade">
                                      <p:cBhvr>
                                        <p:cTn id="27" dur="300"/>
                                        <p:tgtEl>
                                          <p:spTgt spid="4915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9159"/>
                                        </p:tgtEl>
                                        <p:attrNameLst>
                                          <p:attrName>style.visibility</p:attrName>
                                        </p:attrNameLst>
                                      </p:cBhvr>
                                      <p:to>
                                        <p:strVal val="visible"/>
                                      </p:to>
                                    </p:set>
                                    <p:animEffect transition="in" filter="fade">
                                      <p:cBhvr>
                                        <p:cTn id="32" dur="300"/>
                                        <p:tgtEl>
                                          <p:spTgt spid="491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9160"/>
                                        </p:tgtEl>
                                        <p:attrNameLst>
                                          <p:attrName>style.visibility</p:attrName>
                                        </p:attrNameLst>
                                      </p:cBhvr>
                                      <p:to>
                                        <p:strVal val="visible"/>
                                      </p:to>
                                    </p:set>
                                    <p:animEffect transition="in" filter="fade">
                                      <p:cBhvr>
                                        <p:cTn id="37" dur="300"/>
                                        <p:tgtEl>
                                          <p:spTgt spid="49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nimBg="1"/>
      <p:bldP spid="49155" grpId="0" animBg="1"/>
      <p:bldP spid="49156" grpId="0"/>
      <p:bldP spid="49157" grpId="0"/>
      <p:bldP spid="49158" grpId="0"/>
      <p:bldP spid="49159" grpId="0"/>
      <p:bldP spid="491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WordArt 2" descr="Woven mat"/>
          <p:cNvSpPr>
            <a:spLocks noChangeArrowheads="1" noChangeShapeType="1" noTextEdit="1"/>
          </p:cNvSpPr>
          <p:nvPr/>
        </p:nvSpPr>
        <p:spPr bwMode="auto">
          <a:xfrm>
            <a:off x="2133600" y="381000"/>
            <a:ext cx="15240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q</a:t>
            </a:r>
          </a:p>
        </p:txBody>
      </p:sp>
      <p:sp>
        <p:nvSpPr>
          <p:cNvPr id="50179" name="WordArt 3" descr="Stationery"/>
          <p:cNvSpPr>
            <a:spLocks noChangeArrowheads="1" noChangeShapeType="1" noTextEdit="1"/>
          </p:cNvSpPr>
          <p:nvPr/>
        </p:nvSpPr>
        <p:spPr bwMode="auto">
          <a:xfrm>
            <a:off x="4648200" y="609600"/>
            <a:ext cx="26670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(cu)</a:t>
            </a:r>
          </a:p>
        </p:txBody>
      </p:sp>
      <p:sp>
        <p:nvSpPr>
          <p:cNvPr id="50180" name="Text Box 4"/>
          <p:cNvSpPr txBox="1">
            <a:spLocks noChangeArrowheads="1"/>
          </p:cNvSpPr>
          <p:nvPr/>
        </p:nvSpPr>
        <p:spPr bwMode="auto">
          <a:xfrm>
            <a:off x="914400" y="2565400"/>
            <a:ext cx="7772400" cy="20129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“q” is always followed by “u,” as in English, except for a few foreign words such as </a:t>
            </a:r>
            <a:r>
              <a:rPr lang="en-US" sz="2800" i="1">
                <a:solidFill>
                  <a:schemeClr val="bg1"/>
                </a:solidFill>
              </a:rPr>
              <a:t>Iraq</a:t>
            </a:r>
            <a:r>
              <a:rPr lang="en-US" sz="2800">
                <a:solidFill>
                  <a:schemeClr val="bg1"/>
                </a:solidFill>
              </a:rPr>
              <a:t>, although this word can also be spelled </a:t>
            </a:r>
            <a:r>
              <a:rPr lang="en-US" sz="2800" i="1">
                <a:solidFill>
                  <a:schemeClr val="bg1"/>
                </a:solidFill>
              </a:rPr>
              <a:t>Irak</a:t>
            </a:r>
            <a:r>
              <a:rPr lang="en-US" sz="2800">
                <a:solidFill>
                  <a:schemeClr val="bg1"/>
                </a:solidFill>
              </a:rPr>
              <a:t>, since the sound  of “q” is essentially identical to that of “k.”  Like the p and [k] sounds, the q is not aspirated.</a:t>
            </a:r>
          </a:p>
        </p:txBody>
      </p:sp>
      <p:sp>
        <p:nvSpPr>
          <p:cNvPr id="50181" name="Text Box 5"/>
          <p:cNvSpPr txBox="1">
            <a:spLocks noChangeArrowheads="1"/>
          </p:cNvSpPr>
          <p:nvPr/>
        </p:nvSpPr>
        <p:spPr bwMode="auto">
          <a:xfrm>
            <a:off x="2438400" y="4754563"/>
            <a:ext cx="1295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queso</a:t>
            </a:r>
          </a:p>
        </p:txBody>
      </p:sp>
      <p:sp>
        <p:nvSpPr>
          <p:cNvPr id="50182" name="Text Box 6"/>
          <p:cNvSpPr txBox="1">
            <a:spLocks noChangeArrowheads="1"/>
          </p:cNvSpPr>
          <p:nvPr/>
        </p:nvSpPr>
        <p:spPr bwMode="auto">
          <a:xfrm>
            <a:off x="2438400" y="53641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pequeño</a:t>
            </a:r>
          </a:p>
        </p:txBody>
      </p:sp>
      <p:sp>
        <p:nvSpPr>
          <p:cNvPr id="50183" name="Text Box 7"/>
          <p:cNvSpPr txBox="1">
            <a:spLocks noChangeArrowheads="1"/>
          </p:cNvSpPr>
          <p:nvPr/>
        </p:nvSpPr>
        <p:spPr bwMode="auto">
          <a:xfrm>
            <a:off x="5105400" y="4754563"/>
            <a:ext cx="1752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quilate</a:t>
            </a:r>
          </a:p>
        </p:txBody>
      </p:sp>
      <p:sp>
        <p:nvSpPr>
          <p:cNvPr id="50184" name="Text Box 8"/>
          <p:cNvSpPr txBox="1">
            <a:spLocks noChangeArrowheads="1"/>
          </p:cNvSpPr>
          <p:nvPr/>
        </p:nvSpPr>
        <p:spPr bwMode="auto">
          <a:xfrm>
            <a:off x="5105400" y="5364163"/>
            <a:ext cx="1981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quien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wipe(left)">
                                      <p:cBhvr>
                                        <p:cTn id="7" dur="2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179"/>
                                        </p:tgtEl>
                                        <p:attrNameLst>
                                          <p:attrName>style.visibility</p:attrName>
                                        </p:attrNameLst>
                                      </p:cBhvr>
                                      <p:to>
                                        <p:strVal val="visible"/>
                                      </p:to>
                                    </p:set>
                                    <p:animEffect transition="in" filter="dissolve">
                                      <p:cBhvr>
                                        <p:cTn id="12" dur="500"/>
                                        <p:tgtEl>
                                          <p:spTgt spid="5017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0180"/>
                                        </p:tgtEl>
                                        <p:attrNameLst>
                                          <p:attrName>style.visibility</p:attrName>
                                        </p:attrNameLst>
                                      </p:cBhvr>
                                      <p:to>
                                        <p:strVal val="visible"/>
                                      </p:to>
                                    </p:set>
                                    <p:animEffect transition="in" filter="dissolve">
                                      <p:cBhvr>
                                        <p:cTn id="17" dur="400"/>
                                        <p:tgtEl>
                                          <p:spTgt spid="501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181"/>
                                        </p:tgtEl>
                                        <p:attrNameLst>
                                          <p:attrName>style.visibility</p:attrName>
                                        </p:attrNameLst>
                                      </p:cBhvr>
                                      <p:to>
                                        <p:strVal val="visible"/>
                                      </p:to>
                                    </p:set>
                                    <p:animEffect transition="in" filter="fade">
                                      <p:cBhvr>
                                        <p:cTn id="22" dur="300"/>
                                        <p:tgtEl>
                                          <p:spTgt spid="5018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182"/>
                                        </p:tgtEl>
                                        <p:attrNameLst>
                                          <p:attrName>style.visibility</p:attrName>
                                        </p:attrNameLst>
                                      </p:cBhvr>
                                      <p:to>
                                        <p:strVal val="visible"/>
                                      </p:to>
                                    </p:set>
                                    <p:animEffect transition="in" filter="fade">
                                      <p:cBhvr>
                                        <p:cTn id="27" dur="300"/>
                                        <p:tgtEl>
                                          <p:spTgt spid="501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183"/>
                                        </p:tgtEl>
                                        <p:attrNameLst>
                                          <p:attrName>style.visibility</p:attrName>
                                        </p:attrNameLst>
                                      </p:cBhvr>
                                      <p:to>
                                        <p:strVal val="visible"/>
                                      </p:to>
                                    </p:set>
                                    <p:animEffect transition="in" filter="fade">
                                      <p:cBhvr>
                                        <p:cTn id="32" dur="300"/>
                                        <p:tgtEl>
                                          <p:spTgt spid="5018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184"/>
                                        </p:tgtEl>
                                        <p:attrNameLst>
                                          <p:attrName>style.visibility</p:attrName>
                                        </p:attrNameLst>
                                      </p:cBhvr>
                                      <p:to>
                                        <p:strVal val="visible"/>
                                      </p:to>
                                    </p:set>
                                    <p:animEffect transition="in" filter="fade">
                                      <p:cBhvr>
                                        <p:cTn id="37" dur="3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nimBg="1"/>
      <p:bldP spid="50179" grpId="0" animBg="1"/>
      <p:bldP spid="50180" grpId="0"/>
      <p:bldP spid="50181" grpId="0"/>
      <p:bldP spid="50182" grpId="0"/>
      <p:bldP spid="50183" grpId="0"/>
      <p:bldP spid="5018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WordArt 2" descr="Woven mat"/>
          <p:cNvSpPr>
            <a:spLocks noChangeArrowheads="1" noChangeShapeType="1" noTextEdit="1"/>
          </p:cNvSpPr>
          <p:nvPr/>
        </p:nvSpPr>
        <p:spPr bwMode="auto">
          <a:xfrm>
            <a:off x="2362200" y="838200"/>
            <a:ext cx="12192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r</a:t>
            </a:r>
          </a:p>
        </p:txBody>
      </p:sp>
      <p:sp>
        <p:nvSpPr>
          <p:cNvPr id="51203" name="WordArt 3" descr="Stationery"/>
          <p:cNvSpPr>
            <a:spLocks noChangeArrowheads="1" noChangeShapeType="1" noTextEdit="1"/>
          </p:cNvSpPr>
          <p:nvPr/>
        </p:nvSpPr>
        <p:spPr bwMode="auto">
          <a:xfrm>
            <a:off x="4419600" y="914400"/>
            <a:ext cx="2819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(ere)</a:t>
            </a:r>
          </a:p>
        </p:txBody>
      </p:sp>
      <p:sp>
        <p:nvSpPr>
          <p:cNvPr id="51213" name="Freeform 13"/>
          <p:cNvSpPr>
            <a:spLocks/>
          </p:cNvSpPr>
          <p:nvPr/>
        </p:nvSpPr>
        <p:spPr bwMode="auto">
          <a:xfrm rot="-272074">
            <a:off x="4349750" y="4527550"/>
            <a:ext cx="698500" cy="330200"/>
          </a:xfrm>
          <a:custGeom>
            <a:avLst/>
            <a:gdLst/>
            <a:ahLst/>
            <a:cxnLst>
              <a:cxn ang="0">
                <a:pos x="440" y="112"/>
              </a:cxn>
              <a:cxn ang="0">
                <a:pos x="104" y="16"/>
              </a:cxn>
              <a:cxn ang="0">
                <a:pos x="56" y="16"/>
              </a:cxn>
              <a:cxn ang="0">
                <a:pos x="56" y="64"/>
              </a:cxn>
              <a:cxn ang="0">
                <a:pos x="392" y="208"/>
              </a:cxn>
            </a:cxnLst>
            <a:rect l="0" t="0" r="r" b="b"/>
            <a:pathLst>
              <a:path w="440" h="208">
                <a:moveTo>
                  <a:pt x="440" y="112"/>
                </a:moveTo>
                <a:cubicBezTo>
                  <a:pt x="304" y="72"/>
                  <a:pt x="168" y="32"/>
                  <a:pt x="104" y="16"/>
                </a:cubicBezTo>
                <a:cubicBezTo>
                  <a:pt x="40" y="0"/>
                  <a:pt x="64" y="8"/>
                  <a:pt x="56" y="16"/>
                </a:cubicBezTo>
                <a:cubicBezTo>
                  <a:pt x="48" y="24"/>
                  <a:pt x="0" y="32"/>
                  <a:pt x="56" y="64"/>
                </a:cubicBezTo>
                <a:cubicBezTo>
                  <a:pt x="112" y="96"/>
                  <a:pt x="336" y="184"/>
                  <a:pt x="392" y="208"/>
                </a:cubicBezTo>
              </a:path>
            </a:pathLst>
          </a:custGeom>
          <a:noFill/>
          <a:ln w="15875">
            <a:solidFill>
              <a:schemeClr val="tx1"/>
            </a:solidFill>
            <a:round/>
            <a:headEnd/>
            <a:tailEnd/>
          </a:ln>
          <a:effectLst/>
        </p:spPr>
        <p:txBody>
          <a:bodyPr/>
          <a:lstStyle/>
          <a:p>
            <a:endParaRPr lang="en-US"/>
          </a:p>
        </p:txBody>
      </p:sp>
      <p:sp>
        <p:nvSpPr>
          <p:cNvPr id="51221" name="Text Box 21"/>
          <p:cNvSpPr txBox="1">
            <a:spLocks noChangeArrowheads="1"/>
          </p:cNvSpPr>
          <p:nvPr/>
        </p:nvSpPr>
        <p:spPr bwMode="auto">
          <a:xfrm>
            <a:off x="381000" y="2819400"/>
            <a:ext cx="3429000" cy="35496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intervocalic, embedded (that is, non-word-initial) “r” involves a single tap of the tongue against the alveolar ridge.  The result is a sound much like the dd in the name “Eddie.”</a:t>
            </a:r>
          </a:p>
        </p:txBody>
      </p:sp>
      <p:grpSp>
        <p:nvGrpSpPr>
          <p:cNvPr id="51226" name="Group 26"/>
          <p:cNvGrpSpPr>
            <a:grpSpLocks/>
          </p:cNvGrpSpPr>
          <p:nvPr/>
        </p:nvGrpSpPr>
        <p:grpSpPr bwMode="auto">
          <a:xfrm>
            <a:off x="3733800" y="2857500"/>
            <a:ext cx="2514600" cy="2705100"/>
            <a:chOff x="2208" y="1800"/>
            <a:chExt cx="1584" cy="1704"/>
          </a:xfrm>
        </p:grpSpPr>
        <p:grpSp>
          <p:nvGrpSpPr>
            <p:cNvPr id="51207" name="Group 7"/>
            <p:cNvGrpSpPr>
              <a:grpSpLocks/>
            </p:cNvGrpSpPr>
            <p:nvPr/>
          </p:nvGrpSpPr>
          <p:grpSpPr bwMode="auto">
            <a:xfrm>
              <a:off x="2208" y="1800"/>
              <a:ext cx="1584" cy="1704"/>
              <a:chOff x="1920" y="2136"/>
              <a:chExt cx="1344" cy="1464"/>
            </a:xfrm>
          </p:grpSpPr>
          <p:sp>
            <p:nvSpPr>
              <p:cNvPr id="51204" name="Freeform 4"/>
              <p:cNvSpPr>
                <a:spLocks/>
              </p:cNvSpPr>
              <p:nvPr/>
            </p:nvSpPr>
            <p:spPr bwMode="auto">
              <a:xfrm>
                <a:off x="1920" y="2136"/>
                <a:ext cx="1344" cy="1464"/>
              </a:xfrm>
              <a:custGeom>
                <a:avLst/>
                <a:gdLst/>
                <a:ahLst/>
                <a:cxnLst>
                  <a:cxn ang="0">
                    <a:pos x="240" y="888"/>
                  </a:cxn>
                  <a:cxn ang="0">
                    <a:pos x="240" y="792"/>
                  </a:cxn>
                  <a:cxn ang="0">
                    <a:pos x="96" y="792"/>
                  </a:cxn>
                  <a:cxn ang="0">
                    <a:pos x="0" y="696"/>
                  </a:cxn>
                  <a:cxn ang="0">
                    <a:pos x="96" y="600"/>
                  </a:cxn>
                  <a:cxn ang="0">
                    <a:pos x="240" y="456"/>
                  </a:cxn>
                  <a:cxn ang="0">
                    <a:pos x="288" y="408"/>
                  </a:cxn>
                  <a:cxn ang="0">
                    <a:pos x="336" y="264"/>
                  </a:cxn>
                  <a:cxn ang="0">
                    <a:pos x="528" y="72"/>
                  </a:cxn>
                  <a:cxn ang="0">
                    <a:pos x="720" y="24"/>
                  </a:cxn>
                  <a:cxn ang="0">
                    <a:pos x="912" y="24"/>
                  </a:cxn>
                  <a:cxn ang="0">
                    <a:pos x="1200" y="168"/>
                  </a:cxn>
                  <a:cxn ang="0">
                    <a:pos x="1296" y="312"/>
                  </a:cxn>
                  <a:cxn ang="0">
                    <a:pos x="1344" y="552"/>
                  </a:cxn>
                  <a:cxn ang="0">
                    <a:pos x="1296" y="840"/>
                  </a:cxn>
                  <a:cxn ang="0">
                    <a:pos x="1104" y="1032"/>
                  </a:cxn>
                  <a:cxn ang="0">
                    <a:pos x="1056" y="1128"/>
                  </a:cxn>
                  <a:cxn ang="0">
                    <a:pos x="1008" y="1368"/>
                  </a:cxn>
                  <a:cxn ang="0">
                    <a:pos x="1008" y="1464"/>
                  </a:cxn>
                </a:cxnLst>
                <a:rect l="0" t="0" r="r" b="b"/>
                <a:pathLst>
                  <a:path w="1344" h="1464">
                    <a:moveTo>
                      <a:pt x="240" y="888"/>
                    </a:moveTo>
                    <a:cubicBezTo>
                      <a:pt x="252" y="848"/>
                      <a:pt x="264" y="808"/>
                      <a:pt x="240" y="792"/>
                    </a:cubicBezTo>
                    <a:cubicBezTo>
                      <a:pt x="216" y="776"/>
                      <a:pt x="136" y="808"/>
                      <a:pt x="96" y="792"/>
                    </a:cubicBezTo>
                    <a:cubicBezTo>
                      <a:pt x="56" y="776"/>
                      <a:pt x="0" y="728"/>
                      <a:pt x="0" y="696"/>
                    </a:cubicBezTo>
                    <a:cubicBezTo>
                      <a:pt x="0" y="664"/>
                      <a:pt x="56" y="640"/>
                      <a:pt x="96" y="600"/>
                    </a:cubicBezTo>
                    <a:cubicBezTo>
                      <a:pt x="136" y="560"/>
                      <a:pt x="208" y="488"/>
                      <a:pt x="240" y="456"/>
                    </a:cubicBezTo>
                    <a:cubicBezTo>
                      <a:pt x="272" y="424"/>
                      <a:pt x="272" y="440"/>
                      <a:pt x="288" y="408"/>
                    </a:cubicBezTo>
                    <a:cubicBezTo>
                      <a:pt x="304" y="376"/>
                      <a:pt x="296" y="320"/>
                      <a:pt x="336" y="264"/>
                    </a:cubicBezTo>
                    <a:cubicBezTo>
                      <a:pt x="376" y="208"/>
                      <a:pt x="464" y="112"/>
                      <a:pt x="528" y="72"/>
                    </a:cubicBezTo>
                    <a:cubicBezTo>
                      <a:pt x="592" y="32"/>
                      <a:pt x="656" y="32"/>
                      <a:pt x="720" y="24"/>
                    </a:cubicBezTo>
                    <a:cubicBezTo>
                      <a:pt x="784" y="16"/>
                      <a:pt x="832" y="0"/>
                      <a:pt x="912" y="24"/>
                    </a:cubicBezTo>
                    <a:cubicBezTo>
                      <a:pt x="992" y="48"/>
                      <a:pt x="1136" y="120"/>
                      <a:pt x="1200" y="168"/>
                    </a:cubicBezTo>
                    <a:cubicBezTo>
                      <a:pt x="1264" y="216"/>
                      <a:pt x="1272" y="248"/>
                      <a:pt x="1296" y="312"/>
                    </a:cubicBezTo>
                    <a:cubicBezTo>
                      <a:pt x="1320" y="376"/>
                      <a:pt x="1344" y="464"/>
                      <a:pt x="1344" y="552"/>
                    </a:cubicBezTo>
                    <a:cubicBezTo>
                      <a:pt x="1344" y="640"/>
                      <a:pt x="1336" y="760"/>
                      <a:pt x="1296" y="840"/>
                    </a:cubicBezTo>
                    <a:cubicBezTo>
                      <a:pt x="1256" y="920"/>
                      <a:pt x="1144" y="984"/>
                      <a:pt x="1104" y="1032"/>
                    </a:cubicBezTo>
                    <a:cubicBezTo>
                      <a:pt x="1064" y="1080"/>
                      <a:pt x="1072" y="1072"/>
                      <a:pt x="1056" y="1128"/>
                    </a:cubicBezTo>
                    <a:cubicBezTo>
                      <a:pt x="1040" y="1184"/>
                      <a:pt x="1016" y="1312"/>
                      <a:pt x="1008" y="1368"/>
                    </a:cubicBezTo>
                    <a:cubicBezTo>
                      <a:pt x="1000" y="1424"/>
                      <a:pt x="1008" y="1448"/>
                      <a:pt x="1008" y="1464"/>
                    </a:cubicBezTo>
                  </a:path>
                </a:pathLst>
              </a:custGeom>
              <a:noFill/>
              <a:ln w="25400">
                <a:solidFill>
                  <a:schemeClr val="tx1"/>
                </a:solidFill>
                <a:round/>
                <a:headEnd/>
                <a:tailEnd/>
              </a:ln>
              <a:effectLst/>
            </p:spPr>
            <p:txBody>
              <a:bodyPr/>
              <a:lstStyle/>
              <a:p>
                <a:endParaRPr lang="en-US"/>
              </a:p>
            </p:txBody>
          </p:sp>
          <p:sp>
            <p:nvSpPr>
              <p:cNvPr id="51206" name="Freeform 6"/>
              <p:cNvSpPr>
                <a:spLocks/>
              </p:cNvSpPr>
              <p:nvPr/>
            </p:nvSpPr>
            <p:spPr bwMode="auto">
              <a:xfrm>
                <a:off x="2160" y="2880"/>
                <a:ext cx="496" cy="720"/>
              </a:xfrm>
              <a:custGeom>
                <a:avLst/>
                <a:gdLst/>
                <a:ahLst/>
                <a:cxnLst>
                  <a:cxn ang="0">
                    <a:pos x="0" y="144"/>
                  </a:cxn>
                  <a:cxn ang="0">
                    <a:pos x="144" y="144"/>
                  </a:cxn>
                  <a:cxn ang="0">
                    <a:pos x="192" y="96"/>
                  </a:cxn>
                  <a:cxn ang="0">
                    <a:pos x="336" y="0"/>
                  </a:cxn>
                  <a:cxn ang="0">
                    <a:pos x="480" y="96"/>
                  </a:cxn>
                  <a:cxn ang="0">
                    <a:pos x="432" y="336"/>
                  </a:cxn>
                  <a:cxn ang="0">
                    <a:pos x="336" y="384"/>
                  </a:cxn>
                  <a:cxn ang="0">
                    <a:pos x="192" y="336"/>
                  </a:cxn>
                  <a:cxn ang="0">
                    <a:pos x="48" y="336"/>
                  </a:cxn>
                  <a:cxn ang="0">
                    <a:pos x="48" y="528"/>
                  </a:cxn>
                  <a:cxn ang="0">
                    <a:pos x="288" y="576"/>
                  </a:cxn>
                  <a:cxn ang="0">
                    <a:pos x="384" y="624"/>
                  </a:cxn>
                  <a:cxn ang="0">
                    <a:pos x="384" y="720"/>
                  </a:cxn>
                </a:cxnLst>
                <a:rect l="0" t="0" r="r" b="b"/>
                <a:pathLst>
                  <a:path w="496" h="720">
                    <a:moveTo>
                      <a:pt x="0" y="144"/>
                    </a:moveTo>
                    <a:cubicBezTo>
                      <a:pt x="56" y="148"/>
                      <a:pt x="112" y="152"/>
                      <a:pt x="144" y="144"/>
                    </a:cubicBezTo>
                    <a:cubicBezTo>
                      <a:pt x="176" y="136"/>
                      <a:pt x="160" y="120"/>
                      <a:pt x="192" y="96"/>
                    </a:cubicBezTo>
                    <a:cubicBezTo>
                      <a:pt x="224" y="72"/>
                      <a:pt x="288" y="0"/>
                      <a:pt x="336" y="0"/>
                    </a:cubicBezTo>
                    <a:cubicBezTo>
                      <a:pt x="384" y="0"/>
                      <a:pt x="464" y="40"/>
                      <a:pt x="480" y="96"/>
                    </a:cubicBezTo>
                    <a:cubicBezTo>
                      <a:pt x="496" y="152"/>
                      <a:pt x="456" y="288"/>
                      <a:pt x="432" y="336"/>
                    </a:cubicBezTo>
                    <a:cubicBezTo>
                      <a:pt x="408" y="384"/>
                      <a:pt x="376" y="384"/>
                      <a:pt x="336" y="384"/>
                    </a:cubicBezTo>
                    <a:cubicBezTo>
                      <a:pt x="296" y="384"/>
                      <a:pt x="240" y="344"/>
                      <a:pt x="192" y="336"/>
                    </a:cubicBezTo>
                    <a:cubicBezTo>
                      <a:pt x="144" y="328"/>
                      <a:pt x="72" y="304"/>
                      <a:pt x="48" y="336"/>
                    </a:cubicBezTo>
                    <a:cubicBezTo>
                      <a:pt x="24" y="368"/>
                      <a:pt x="8" y="488"/>
                      <a:pt x="48" y="528"/>
                    </a:cubicBezTo>
                    <a:cubicBezTo>
                      <a:pt x="88" y="568"/>
                      <a:pt x="232" y="560"/>
                      <a:pt x="288" y="576"/>
                    </a:cubicBezTo>
                    <a:cubicBezTo>
                      <a:pt x="344" y="592"/>
                      <a:pt x="368" y="600"/>
                      <a:pt x="384" y="624"/>
                    </a:cubicBezTo>
                    <a:cubicBezTo>
                      <a:pt x="400" y="648"/>
                      <a:pt x="384" y="704"/>
                      <a:pt x="384" y="720"/>
                    </a:cubicBezTo>
                  </a:path>
                </a:pathLst>
              </a:custGeom>
              <a:noFill/>
              <a:ln w="25400">
                <a:solidFill>
                  <a:schemeClr val="tx1"/>
                </a:solidFill>
                <a:round/>
                <a:headEnd/>
                <a:tailEnd/>
              </a:ln>
              <a:effectLst/>
            </p:spPr>
            <p:txBody>
              <a:bodyPr/>
              <a:lstStyle/>
              <a:p>
                <a:endParaRPr lang="en-US"/>
              </a:p>
            </p:txBody>
          </p:sp>
        </p:grpSp>
        <p:sp>
          <p:nvSpPr>
            <p:cNvPr id="51215" name="Freeform 15"/>
            <p:cNvSpPr>
              <a:spLocks/>
            </p:cNvSpPr>
            <p:nvPr/>
          </p:nvSpPr>
          <p:spPr bwMode="auto">
            <a:xfrm>
              <a:off x="2592" y="2136"/>
              <a:ext cx="144" cy="168"/>
            </a:xfrm>
            <a:custGeom>
              <a:avLst/>
              <a:gdLst/>
              <a:ahLst/>
              <a:cxnLst>
                <a:cxn ang="0">
                  <a:pos x="48" y="16"/>
                </a:cxn>
                <a:cxn ang="0">
                  <a:pos x="96" y="16"/>
                </a:cxn>
                <a:cxn ang="0">
                  <a:pos x="144" y="112"/>
                </a:cxn>
                <a:cxn ang="0">
                  <a:pos x="96" y="160"/>
                </a:cxn>
                <a:cxn ang="0">
                  <a:pos x="0" y="160"/>
                </a:cxn>
              </a:cxnLst>
              <a:rect l="0" t="0" r="r" b="b"/>
              <a:pathLst>
                <a:path w="144" h="168">
                  <a:moveTo>
                    <a:pt x="48" y="16"/>
                  </a:moveTo>
                  <a:cubicBezTo>
                    <a:pt x="64" y="8"/>
                    <a:pt x="80" y="0"/>
                    <a:pt x="96" y="16"/>
                  </a:cubicBezTo>
                  <a:cubicBezTo>
                    <a:pt x="112" y="32"/>
                    <a:pt x="144" y="88"/>
                    <a:pt x="144" y="112"/>
                  </a:cubicBezTo>
                  <a:cubicBezTo>
                    <a:pt x="144" y="136"/>
                    <a:pt x="120" y="152"/>
                    <a:pt x="96" y="160"/>
                  </a:cubicBezTo>
                  <a:cubicBezTo>
                    <a:pt x="72" y="168"/>
                    <a:pt x="16" y="160"/>
                    <a:pt x="0" y="160"/>
                  </a:cubicBezTo>
                </a:path>
              </a:pathLst>
            </a:custGeom>
            <a:noFill/>
            <a:ln w="9525">
              <a:solidFill>
                <a:schemeClr val="tx1"/>
              </a:solidFill>
              <a:round/>
              <a:headEnd/>
              <a:tailEnd/>
            </a:ln>
            <a:effectLst/>
          </p:spPr>
          <p:txBody>
            <a:bodyPr/>
            <a:lstStyle/>
            <a:p>
              <a:endParaRPr lang="en-US"/>
            </a:p>
          </p:txBody>
        </p:sp>
        <p:sp>
          <p:nvSpPr>
            <p:cNvPr id="51219" name="Oval 19"/>
            <p:cNvSpPr>
              <a:spLocks noChangeArrowheads="1"/>
            </p:cNvSpPr>
            <p:nvPr/>
          </p:nvSpPr>
          <p:spPr bwMode="auto">
            <a:xfrm>
              <a:off x="2640" y="2183"/>
              <a:ext cx="48" cy="86"/>
            </a:xfrm>
            <a:prstGeom prst="ellipse">
              <a:avLst/>
            </a:prstGeom>
            <a:solidFill>
              <a:schemeClr val="tx1"/>
            </a:solidFill>
            <a:ln w="9525">
              <a:solidFill>
                <a:schemeClr val="tx1"/>
              </a:solidFill>
              <a:round/>
              <a:headEnd/>
              <a:tailEnd/>
            </a:ln>
            <a:effectLst/>
          </p:spPr>
          <p:txBody>
            <a:bodyPr wrap="none" anchor="ctr"/>
            <a:lstStyle/>
            <a:p>
              <a:endParaRPr lang="en-US"/>
            </a:p>
          </p:txBody>
        </p:sp>
        <p:sp>
          <p:nvSpPr>
            <p:cNvPr id="51224" name="Freeform 24"/>
            <p:cNvSpPr>
              <a:spLocks/>
            </p:cNvSpPr>
            <p:nvPr/>
          </p:nvSpPr>
          <p:spPr bwMode="auto">
            <a:xfrm rot="-589576">
              <a:off x="2284" y="2680"/>
              <a:ext cx="96" cy="52"/>
            </a:xfrm>
            <a:custGeom>
              <a:avLst/>
              <a:gdLst/>
              <a:ahLst/>
              <a:cxnLst>
                <a:cxn ang="0">
                  <a:pos x="0" y="4"/>
                </a:cxn>
                <a:cxn ang="0">
                  <a:pos x="48" y="4"/>
                </a:cxn>
                <a:cxn ang="0">
                  <a:pos x="75" y="31"/>
                </a:cxn>
                <a:cxn ang="0">
                  <a:pos x="96" y="52"/>
                </a:cxn>
              </a:cxnLst>
              <a:rect l="0" t="0" r="r" b="b"/>
              <a:pathLst>
                <a:path w="96" h="52">
                  <a:moveTo>
                    <a:pt x="0" y="4"/>
                  </a:moveTo>
                  <a:cubicBezTo>
                    <a:pt x="18" y="2"/>
                    <a:pt x="36" y="0"/>
                    <a:pt x="48" y="4"/>
                  </a:cubicBezTo>
                  <a:cubicBezTo>
                    <a:pt x="60" y="8"/>
                    <a:pt x="67" y="23"/>
                    <a:pt x="75" y="31"/>
                  </a:cubicBezTo>
                  <a:lnTo>
                    <a:pt x="96" y="52"/>
                  </a:lnTo>
                </a:path>
              </a:pathLst>
            </a:custGeom>
            <a:noFill/>
            <a:ln w="15875">
              <a:solidFill>
                <a:schemeClr val="tx1"/>
              </a:solidFill>
              <a:round/>
              <a:headEnd/>
              <a:tailEnd/>
            </a:ln>
            <a:effectLst/>
          </p:spPr>
          <p:txBody>
            <a:bodyPr/>
            <a:lstStyle/>
            <a:p>
              <a:endParaRPr lang="en-US"/>
            </a:p>
          </p:txBody>
        </p:sp>
        <p:sp>
          <p:nvSpPr>
            <p:cNvPr id="51225" name="Freeform 25"/>
            <p:cNvSpPr>
              <a:spLocks/>
            </p:cNvSpPr>
            <p:nvPr/>
          </p:nvSpPr>
          <p:spPr bwMode="auto">
            <a:xfrm rot="-1817858">
              <a:off x="2620" y="2040"/>
              <a:ext cx="144" cy="144"/>
            </a:xfrm>
            <a:custGeom>
              <a:avLst/>
              <a:gdLst/>
              <a:ahLst/>
              <a:cxnLst>
                <a:cxn ang="0">
                  <a:pos x="0" y="0"/>
                </a:cxn>
                <a:cxn ang="0">
                  <a:pos x="96" y="48"/>
                </a:cxn>
                <a:cxn ang="0">
                  <a:pos x="144" y="144"/>
                </a:cxn>
              </a:cxnLst>
              <a:rect l="0" t="0" r="r" b="b"/>
              <a:pathLst>
                <a:path w="144" h="144">
                  <a:moveTo>
                    <a:pt x="0" y="0"/>
                  </a:moveTo>
                  <a:cubicBezTo>
                    <a:pt x="36" y="12"/>
                    <a:pt x="72" y="24"/>
                    <a:pt x="96" y="48"/>
                  </a:cubicBezTo>
                  <a:cubicBezTo>
                    <a:pt x="120" y="72"/>
                    <a:pt x="136" y="128"/>
                    <a:pt x="144" y="144"/>
                  </a:cubicBezTo>
                </a:path>
              </a:pathLst>
            </a:custGeom>
            <a:noFill/>
            <a:ln w="22225">
              <a:solidFill>
                <a:schemeClr val="tx1"/>
              </a:solidFill>
              <a:round/>
              <a:headEnd/>
              <a:tailEnd/>
            </a:ln>
            <a:effectLst/>
          </p:spPr>
          <p:txBody>
            <a:bodyPr/>
            <a:lstStyle/>
            <a:p>
              <a:endParaRPr lang="en-US"/>
            </a:p>
          </p:txBody>
        </p:sp>
      </p:grpSp>
      <p:sp>
        <p:nvSpPr>
          <p:cNvPr id="51227" name="Text Box 27"/>
          <p:cNvSpPr txBox="1">
            <a:spLocks noChangeArrowheads="1"/>
          </p:cNvSpPr>
          <p:nvPr/>
        </p:nvSpPr>
        <p:spPr bwMode="auto">
          <a:xfrm>
            <a:off x="4495800" y="5619750"/>
            <a:ext cx="1447800" cy="476250"/>
          </a:xfrm>
          <a:prstGeom prst="rect">
            <a:avLst/>
          </a:prstGeom>
          <a:noFill/>
          <a:ln w="9525">
            <a:noFill/>
            <a:miter lim="800000"/>
            <a:headEnd/>
            <a:tailEnd/>
          </a:ln>
          <a:effectLst/>
        </p:spPr>
        <p:txBody>
          <a:bodyPr>
            <a:spAutoFit/>
          </a:bodyPr>
          <a:lstStyle/>
          <a:p>
            <a:pPr algn="ctr">
              <a:lnSpc>
                <a:spcPct val="90000"/>
              </a:lnSpc>
              <a:spcBef>
                <a:spcPct val="50000"/>
              </a:spcBef>
            </a:pPr>
            <a:r>
              <a:rPr lang="en-US" sz="2800">
                <a:solidFill>
                  <a:schemeClr val="bg1"/>
                </a:solidFill>
              </a:rPr>
              <a:t>Eddie</a:t>
            </a:r>
          </a:p>
        </p:txBody>
      </p:sp>
      <p:sp>
        <p:nvSpPr>
          <p:cNvPr id="51228" name="Text Box 28"/>
          <p:cNvSpPr txBox="1">
            <a:spLocks noChangeArrowheads="1"/>
          </p:cNvSpPr>
          <p:nvPr/>
        </p:nvSpPr>
        <p:spPr bwMode="auto">
          <a:xfrm>
            <a:off x="6858000" y="4602163"/>
            <a:ext cx="1828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arena</a:t>
            </a:r>
          </a:p>
        </p:txBody>
      </p:sp>
      <p:sp>
        <p:nvSpPr>
          <p:cNvPr id="51230" name="Text Box 30"/>
          <p:cNvSpPr txBox="1">
            <a:spLocks noChangeArrowheads="1"/>
          </p:cNvSpPr>
          <p:nvPr/>
        </p:nvSpPr>
        <p:spPr bwMode="auto">
          <a:xfrm>
            <a:off x="6858000" y="3382963"/>
            <a:ext cx="1371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pero</a:t>
            </a:r>
          </a:p>
        </p:txBody>
      </p:sp>
      <p:sp>
        <p:nvSpPr>
          <p:cNvPr id="51231" name="Text Box 31"/>
          <p:cNvSpPr txBox="1">
            <a:spLocks noChangeArrowheads="1"/>
          </p:cNvSpPr>
          <p:nvPr/>
        </p:nvSpPr>
        <p:spPr bwMode="auto">
          <a:xfrm>
            <a:off x="6858000" y="3992563"/>
            <a:ext cx="1447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María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200"/>
                                        <p:tgtEl>
                                          <p:spTgt spid="512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dissolve">
                                      <p:cBhvr>
                                        <p:cTn id="12" dur="500"/>
                                        <p:tgtEl>
                                          <p:spTgt spid="5120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1221"/>
                                        </p:tgtEl>
                                        <p:attrNameLst>
                                          <p:attrName>style.visibility</p:attrName>
                                        </p:attrNameLst>
                                      </p:cBhvr>
                                      <p:to>
                                        <p:strVal val="visible"/>
                                      </p:to>
                                    </p:set>
                                    <p:animEffect transition="in" filter="dissolve">
                                      <p:cBhvr>
                                        <p:cTn id="17" dur="400"/>
                                        <p:tgtEl>
                                          <p:spTgt spid="512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26"/>
                                        </p:tgtEl>
                                        <p:attrNameLst>
                                          <p:attrName>style.visibility</p:attrName>
                                        </p:attrNameLst>
                                      </p:cBhvr>
                                      <p:to>
                                        <p:strVal val="visible"/>
                                      </p:to>
                                    </p:set>
                                    <p:animEffect transition="in" filter="fade">
                                      <p:cBhvr>
                                        <p:cTn id="22" dur="400"/>
                                        <p:tgtEl>
                                          <p:spTgt spid="5122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1227"/>
                                        </p:tgtEl>
                                        <p:attrNameLst>
                                          <p:attrName>style.visibility</p:attrName>
                                        </p:attrNameLst>
                                      </p:cBhvr>
                                      <p:to>
                                        <p:strVal val="visible"/>
                                      </p:to>
                                    </p:set>
                                    <p:animEffect transition="in" filter="dissolve">
                                      <p:cBhvr>
                                        <p:cTn id="25" dur="400"/>
                                        <p:tgtEl>
                                          <p:spTgt spid="512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51213"/>
                                        </p:tgtEl>
                                        <p:attrNameLst>
                                          <p:attrName>style.visibility</p:attrName>
                                        </p:attrNameLst>
                                      </p:cBhvr>
                                      <p:to>
                                        <p:strVal val="visible"/>
                                      </p:to>
                                    </p:set>
                                    <p:animEffect transition="in" filter="wipe(right)">
                                      <p:cBhvr>
                                        <p:cTn id="30" dur="500"/>
                                        <p:tgtEl>
                                          <p:spTgt spid="51213"/>
                                        </p:tgtEl>
                                      </p:cBhvr>
                                    </p:animEffect>
                                  </p:childTnLst>
                                </p:cTn>
                              </p:par>
                            </p:childTnLst>
                          </p:cTn>
                        </p:par>
                      </p:childTnLst>
                    </p:cTn>
                  </p:par>
                  <p:par>
                    <p:cTn id="31" fill="hold">
                      <p:stCondLst>
                        <p:cond delay="indefinite"/>
                      </p:stCondLst>
                      <p:childTnLst>
                        <p:par>
                          <p:cTn id="32" fill="hold">
                            <p:stCondLst>
                              <p:cond delay="0"/>
                            </p:stCondLst>
                            <p:childTnLst>
                              <p:par>
                                <p:cTn id="33" presetID="33" presetClass="emph" presetSubtype="0" fill="remove" grpId="1" nodeType="clickEffect">
                                  <p:stCondLst>
                                    <p:cond delay="0"/>
                                  </p:stCondLst>
                                  <p:childTnLst>
                                    <p:animClr clrSpc="rgb" dir="cw">
                                      <p:cBhvr override="childStyle">
                                        <p:cTn id="34" dur="250" accel="50000" autoRev="1" fill="hold" tmFilter="0, 0; .33333, 1; 1, 1">
                                          <p:stCondLst>
                                            <p:cond delay="0"/>
                                          </p:stCondLst>
                                        </p:cTn>
                                        <p:tgtEl>
                                          <p:spTgt spid="51213"/>
                                        </p:tgtEl>
                                        <p:attrNameLst>
                                          <p:attrName>style.color</p:attrName>
                                        </p:attrNameLst>
                                      </p:cBhvr>
                                      <p:to>
                                        <a:schemeClr val="accent2"/>
                                      </p:to>
                                    </p:animClr>
                                    <p:animClr clrSpc="rgb" dir="cw">
                                      <p:cBhvr>
                                        <p:cTn id="35" dur="250" accel="50000" autoRev="1" fill="hold" tmFilter="0, 0; .33333, 1; 1, 1">
                                          <p:stCondLst>
                                            <p:cond delay="0"/>
                                          </p:stCondLst>
                                        </p:cTn>
                                        <p:tgtEl>
                                          <p:spTgt spid="51213"/>
                                        </p:tgtEl>
                                        <p:attrNameLst>
                                          <p:attrName>fillcolor</p:attrName>
                                        </p:attrNameLst>
                                      </p:cBhvr>
                                      <p:to>
                                        <a:schemeClr val="accent2"/>
                                      </p:to>
                                    </p:animClr>
                                    <p:set>
                                      <p:cBhvr>
                                        <p:cTn id="36" dur="500" fill="hold"/>
                                        <p:tgtEl>
                                          <p:spTgt spid="51213"/>
                                        </p:tgtEl>
                                        <p:attrNameLst>
                                          <p:attrName>fill.type</p:attrName>
                                        </p:attrNameLst>
                                      </p:cBhvr>
                                      <p:to>
                                        <p:strVal val="solid"/>
                                      </p:to>
                                    </p:set>
                                    <p:set>
                                      <p:cBhvr>
                                        <p:cTn id="37" dur="500" fill="hold"/>
                                        <p:tgtEl>
                                          <p:spTgt spid="51213"/>
                                        </p:tgtEl>
                                        <p:attrNameLst>
                                          <p:attrName>fill.on</p:attrName>
                                        </p:attrNameLst>
                                      </p:cBhvr>
                                      <p:to>
                                        <p:strVal val="true"/>
                                      </p:to>
                                    </p:set>
                                    <p:animScale>
                                      <p:cBhvr>
                                        <p:cTn id="38" dur="250" accel="50000" autoRev="1" fill="hold" tmFilter="0, 0; .33333, 1; 1, 1">
                                          <p:stCondLst>
                                            <p:cond delay="0"/>
                                          </p:stCondLst>
                                        </p:cTn>
                                        <p:tgtEl>
                                          <p:spTgt spid="51213"/>
                                        </p:tgtEl>
                                      </p:cBhvr>
                                      <p:from x="100000" y="100000"/>
                                      <p:to x="100000" y="140000"/>
                                    </p:animScale>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1230"/>
                                        </p:tgtEl>
                                        <p:attrNameLst>
                                          <p:attrName>style.visibility</p:attrName>
                                        </p:attrNameLst>
                                      </p:cBhvr>
                                      <p:to>
                                        <p:strVal val="visible"/>
                                      </p:to>
                                    </p:set>
                                    <p:animEffect transition="in" filter="fade">
                                      <p:cBhvr>
                                        <p:cTn id="43" dur="300"/>
                                        <p:tgtEl>
                                          <p:spTgt spid="512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1231"/>
                                        </p:tgtEl>
                                        <p:attrNameLst>
                                          <p:attrName>style.visibility</p:attrName>
                                        </p:attrNameLst>
                                      </p:cBhvr>
                                      <p:to>
                                        <p:strVal val="visible"/>
                                      </p:to>
                                    </p:set>
                                    <p:animEffect transition="in" filter="fade">
                                      <p:cBhvr>
                                        <p:cTn id="48" dur="300"/>
                                        <p:tgtEl>
                                          <p:spTgt spid="512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51228"/>
                                        </p:tgtEl>
                                        <p:attrNameLst>
                                          <p:attrName>style.visibility</p:attrName>
                                        </p:attrNameLst>
                                      </p:cBhvr>
                                      <p:to>
                                        <p:strVal val="visible"/>
                                      </p:to>
                                    </p:set>
                                    <p:animEffect transition="in" filter="fade">
                                      <p:cBhvr>
                                        <p:cTn id="53" dur="300"/>
                                        <p:tgtEl>
                                          <p:spTgt spid="51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p:bldP spid="51203" grpId="0" animBg="1"/>
      <p:bldP spid="51213" grpId="0" animBg="1"/>
      <p:bldP spid="51213" grpId="1" animBg="1"/>
      <p:bldP spid="51221" grpId="0"/>
      <p:bldP spid="51227" grpId="0"/>
      <p:bldP spid="51228" grpId="0"/>
      <p:bldP spid="51230" grpId="0"/>
      <p:bldP spid="512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WordArt 2" descr="Woven mat"/>
          <p:cNvSpPr>
            <a:spLocks noChangeArrowheads="1" noChangeShapeType="1" noTextEdit="1"/>
          </p:cNvSpPr>
          <p:nvPr/>
        </p:nvSpPr>
        <p:spPr bwMode="auto">
          <a:xfrm>
            <a:off x="1752600" y="647700"/>
            <a:ext cx="25908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rr</a:t>
            </a:r>
          </a:p>
        </p:txBody>
      </p:sp>
      <p:sp>
        <p:nvSpPr>
          <p:cNvPr id="52227" name="WordArt 3" descr="Stationery"/>
          <p:cNvSpPr>
            <a:spLocks noChangeArrowheads="1" noChangeShapeType="1" noTextEdit="1"/>
          </p:cNvSpPr>
          <p:nvPr/>
        </p:nvSpPr>
        <p:spPr bwMode="auto">
          <a:xfrm>
            <a:off x="4876800" y="723900"/>
            <a:ext cx="32004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(erre)</a:t>
            </a:r>
          </a:p>
        </p:txBody>
      </p:sp>
      <p:sp>
        <p:nvSpPr>
          <p:cNvPr id="52228" name="WordArt 4" descr="Woven mat"/>
          <p:cNvSpPr>
            <a:spLocks noChangeArrowheads="1" noChangeShapeType="1" noTextEdit="1"/>
          </p:cNvSpPr>
          <p:nvPr/>
        </p:nvSpPr>
        <p:spPr bwMode="auto">
          <a:xfrm>
            <a:off x="762000" y="361950"/>
            <a:ext cx="685800" cy="704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52243" name="Freeform 19"/>
          <p:cNvSpPr>
            <a:spLocks/>
          </p:cNvSpPr>
          <p:nvPr/>
        </p:nvSpPr>
        <p:spPr bwMode="auto">
          <a:xfrm>
            <a:off x="4349750" y="4360863"/>
            <a:ext cx="698500" cy="330200"/>
          </a:xfrm>
          <a:custGeom>
            <a:avLst/>
            <a:gdLst/>
            <a:ahLst/>
            <a:cxnLst>
              <a:cxn ang="0">
                <a:pos x="440" y="112"/>
              </a:cxn>
              <a:cxn ang="0">
                <a:pos x="104" y="16"/>
              </a:cxn>
              <a:cxn ang="0">
                <a:pos x="56" y="16"/>
              </a:cxn>
              <a:cxn ang="0">
                <a:pos x="56" y="64"/>
              </a:cxn>
              <a:cxn ang="0">
                <a:pos x="392" y="208"/>
              </a:cxn>
            </a:cxnLst>
            <a:rect l="0" t="0" r="r" b="b"/>
            <a:pathLst>
              <a:path w="440" h="208">
                <a:moveTo>
                  <a:pt x="440" y="112"/>
                </a:moveTo>
                <a:cubicBezTo>
                  <a:pt x="304" y="72"/>
                  <a:pt x="168" y="32"/>
                  <a:pt x="104" y="16"/>
                </a:cubicBezTo>
                <a:cubicBezTo>
                  <a:pt x="40" y="0"/>
                  <a:pt x="64" y="8"/>
                  <a:pt x="56" y="16"/>
                </a:cubicBezTo>
                <a:cubicBezTo>
                  <a:pt x="48" y="24"/>
                  <a:pt x="0" y="32"/>
                  <a:pt x="56" y="64"/>
                </a:cubicBezTo>
                <a:cubicBezTo>
                  <a:pt x="112" y="96"/>
                  <a:pt x="336" y="184"/>
                  <a:pt x="392" y="208"/>
                </a:cubicBezTo>
              </a:path>
            </a:pathLst>
          </a:custGeom>
          <a:noFill/>
          <a:ln w="15875">
            <a:solidFill>
              <a:schemeClr val="tx1"/>
            </a:solidFill>
            <a:round/>
            <a:headEnd/>
            <a:tailEnd/>
          </a:ln>
          <a:effectLst/>
        </p:spPr>
        <p:txBody>
          <a:bodyPr/>
          <a:lstStyle/>
          <a:p>
            <a:endParaRPr lang="en-US"/>
          </a:p>
        </p:txBody>
      </p:sp>
      <p:grpSp>
        <p:nvGrpSpPr>
          <p:cNvPr id="52266" name="Group 42"/>
          <p:cNvGrpSpPr>
            <a:grpSpLocks/>
          </p:cNvGrpSpPr>
          <p:nvPr/>
        </p:nvGrpSpPr>
        <p:grpSpPr bwMode="auto">
          <a:xfrm>
            <a:off x="3733800" y="2709863"/>
            <a:ext cx="2514600" cy="2705100"/>
            <a:chOff x="2352" y="1707"/>
            <a:chExt cx="1584" cy="1704"/>
          </a:xfrm>
        </p:grpSpPr>
        <p:grpSp>
          <p:nvGrpSpPr>
            <p:cNvPr id="52245" name="Group 21"/>
            <p:cNvGrpSpPr>
              <a:grpSpLocks/>
            </p:cNvGrpSpPr>
            <p:nvPr/>
          </p:nvGrpSpPr>
          <p:grpSpPr bwMode="auto">
            <a:xfrm>
              <a:off x="2352" y="1707"/>
              <a:ext cx="1584" cy="1704"/>
              <a:chOff x="1920" y="2136"/>
              <a:chExt cx="1344" cy="1464"/>
            </a:xfrm>
          </p:grpSpPr>
          <p:sp>
            <p:nvSpPr>
              <p:cNvPr id="52246" name="Freeform 22"/>
              <p:cNvSpPr>
                <a:spLocks/>
              </p:cNvSpPr>
              <p:nvPr/>
            </p:nvSpPr>
            <p:spPr bwMode="auto">
              <a:xfrm>
                <a:off x="1920" y="2136"/>
                <a:ext cx="1344" cy="1464"/>
              </a:xfrm>
              <a:custGeom>
                <a:avLst/>
                <a:gdLst/>
                <a:ahLst/>
                <a:cxnLst>
                  <a:cxn ang="0">
                    <a:pos x="240" y="888"/>
                  </a:cxn>
                  <a:cxn ang="0">
                    <a:pos x="240" y="792"/>
                  </a:cxn>
                  <a:cxn ang="0">
                    <a:pos x="96" y="792"/>
                  </a:cxn>
                  <a:cxn ang="0">
                    <a:pos x="0" y="696"/>
                  </a:cxn>
                  <a:cxn ang="0">
                    <a:pos x="96" y="600"/>
                  </a:cxn>
                  <a:cxn ang="0">
                    <a:pos x="240" y="456"/>
                  </a:cxn>
                  <a:cxn ang="0">
                    <a:pos x="288" y="408"/>
                  </a:cxn>
                  <a:cxn ang="0">
                    <a:pos x="336" y="264"/>
                  </a:cxn>
                  <a:cxn ang="0">
                    <a:pos x="528" y="72"/>
                  </a:cxn>
                  <a:cxn ang="0">
                    <a:pos x="720" y="24"/>
                  </a:cxn>
                  <a:cxn ang="0">
                    <a:pos x="912" y="24"/>
                  </a:cxn>
                  <a:cxn ang="0">
                    <a:pos x="1200" y="168"/>
                  </a:cxn>
                  <a:cxn ang="0">
                    <a:pos x="1296" y="312"/>
                  </a:cxn>
                  <a:cxn ang="0">
                    <a:pos x="1344" y="552"/>
                  </a:cxn>
                  <a:cxn ang="0">
                    <a:pos x="1296" y="840"/>
                  </a:cxn>
                  <a:cxn ang="0">
                    <a:pos x="1104" y="1032"/>
                  </a:cxn>
                  <a:cxn ang="0">
                    <a:pos x="1056" y="1128"/>
                  </a:cxn>
                  <a:cxn ang="0">
                    <a:pos x="1008" y="1368"/>
                  </a:cxn>
                  <a:cxn ang="0">
                    <a:pos x="1008" y="1464"/>
                  </a:cxn>
                </a:cxnLst>
                <a:rect l="0" t="0" r="r" b="b"/>
                <a:pathLst>
                  <a:path w="1344" h="1464">
                    <a:moveTo>
                      <a:pt x="240" y="888"/>
                    </a:moveTo>
                    <a:cubicBezTo>
                      <a:pt x="252" y="848"/>
                      <a:pt x="264" y="808"/>
                      <a:pt x="240" y="792"/>
                    </a:cubicBezTo>
                    <a:cubicBezTo>
                      <a:pt x="216" y="776"/>
                      <a:pt x="136" y="808"/>
                      <a:pt x="96" y="792"/>
                    </a:cubicBezTo>
                    <a:cubicBezTo>
                      <a:pt x="56" y="776"/>
                      <a:pt x="0" y="728"/>
                      <a:pt x="0" y="696"/>
                    </a:cubicBezTo>
                    <a:cubicBezTo>
                      <a:pt x="0" y="664"/>
                      <a:pt x="56" y="640"/>
                      <a:pt x="96" y="600"/>
                    </a:cubicBezTo>
                    <a:cubicBezTo>
                      <a:pt x="136" y="560"/>
                      <a:pt x="208" y="488"/>
                      <a:pt x="240" y="456"/>
                    </a:cubicBezTo>
                    <a:cubicBezTo>
                      <a:pt x="272" y="424"/>
                      <a:pt x="272" y="440"/>
                      <a:pt x="288" y="408"/>
                    </a:cubicBezTo>
                    <a:cubicBezTo>
                      <a:pt x="304" y="376"/>
                      <a:pt x="296" y="320"/>
                      <a:pt x="336" y="264"/>
                    </a:cubicBezTo>
                    <a:cubicBezTo>
                      <a:pt x="376" y="208"/>
                      <a:pt x="464" y="112"/>
                      <a:pt x="528" y="72"/>
                    </a:cubicBezTo>
                    <a:cubicBezTo>
                      <a:pt x="592" y="32"/>
                      <a:pt x="656" y="32"/>
                      <a:pt x="720" y="24"/>
                    </a:cubicBezTo>
                    <a:cubicBezTo>
                      <a:pt x="784" y="16"/>
                      <a:pt x="832" y="0"/>
                      <a:pt x="912" y="24"/>
                    </a:cubicBezTo>
                    <a:cubicBezTo>
                      <a:pt x="992" y="48"/>
                      <a:pt x="1136" y="120"/>
                      <a:pt x="1200" y="168"/>
                    </a:cubicBezTo>
                    <a:cubicBezTo>
                      <a:pt x="1264" y="216"/>
                      <a:pt x="1272" y="248"/>
                      <a:pt x="1296" y="312"/>
                    </a:cubicBezTo>
                    <a:cubicBezTo>
                      <a:pt x="1320" y="376"/>
                      <a:pt x="1344" y="464"/>
                      <a:pt x="1344" y="552"/>
                    </a:cubicBezTo>
                    <a:cubicBezTo>
                      <a:pt x="1344" y="640"/>
                      <a:pt x="1336" y="760"/>
                      <a:pt x="1296" y="840"/>
                    </a:cubicBezTo>
                    <a:cubicBezTo>
                      <a:pt x="1256" y="920"/>
                      <a:pt x="1144" y="984"/>
                      <a:pt x="1104" y="1032"/>
                    </a:cubicBezTo>
                    <a:cubicBezTo>
                      <a:pt x="1064" y="1080"/>
                      <a:pt x="1072" y="1072"/>
                      <a:pt x="1056" y="1128"/>
                    </a:cubicBezTo>
                    <a:cubicBezTo>
                      <a:pt x="1040" y="1184"/>
                      <a:pt x="1016" y="1312"/>
                      <a:pt x="1008" y="1368"/>
                    </a:cubicBezTo>
                    <a:cubicBezTo>
                      <a:pt x="1000" y="1424"/>
                      <a:pt x="1008" y="1448"/>
                      <a:pt x="1008" y="1464"/>
                    </a:cubicBezTo>
                  </a:path>
                </a:pathLst>
              </a:custGeom>
              <a:noFill/>
              <a:ln w="25400">
                <a:solidFill>
                  <a:schemeClr val="tx1"/>
                </a:solidFill>
                <a:round/>
                <a:headEnd/>
                <a:tailEnd/>
              </a:ln>
              <a:effectLst/>
            </p:spPr>
            <p:txBody>
              <a:bodyPr/>
              <a:lstStyle/>
              <a:p>
                <a:endParaRPr lang="en-US"/>
              </a:p>
            </p:txBody>
          </p:sp>
          <p:sp>
            <p:nvSpPr>
              <p:cNvPr id="52247" name="Freeform 23"/>
              <p:cNvSpPr>
                <a:spLocks/>
              </p:cNvSpPr>
              <p:nvPr/>
            </p:nvSpPr>
            <p:spPr bwMode="auto">
              <a:xfrm>
                <a:off x="2160" y="2880"/>
                <a:ext cx="496" cy="720"/>
              </a:xfrm>
              <a:custGeom>
                <a:avLst/>
                <a:gdLst/>
                <a:ahLst/>
                <a:cxnLst>
                  <a:cxn ang="0">
                    <a:pos x="0" y="144"/>
                  </a:cxn>
                  <a:cxn ang="0">
                    <a:pos x="144" y="144"/>
                  </a:cxn>
                  <a:cxn ang="0">
                    <a:pos x="192" y="96"/>
                  </a:cxn>
                  <a:cxn ang="0">
                    <a:pos x="336" y="0"/>
                  </a:cxn>
                  <a:cxn ang="0">
                    <a:pos x="480" y="96"/>
                  </a:cxn>
                  <a:cxn ang="0">
                    <a:pos x="432" y="336"/>
                  </a:cxn>
                  <a:cxn ang="0">
                    <a:pos x="336" y="384"/>
                  </a:cxn>
                  <a:cxn ang="0">
                    <a:pos x="192" y="336"/>
                  </a:cxn>
                  <a:cxn ang="0">
                    <a:pos x="48" y="336"/>
                  </a:cxn>
                  <a:cxn ang="0">
                    <a:pos x="48" y="528"/>
                  </a:cxn>
                  <a:cxn ang="0">
                    <a:pos x="288" y="576"/>
                  </a:cxn>
                  <a:cxn ang="0">
                    <a:pos x="384" y="624"/>
                  </a:cxn>
                  <a:cxn ang="0">
                    <a:pos x="384" y="720"/>
                  </a:cxn>
                </a:cxnLst>
                <a:rect l="0" t="0" r="r" b="b"/>
                <a:pathLst>
                  <a:path w="496" h="720">
                    <a:moveTo>
                      <a:pt x="0" y="144"/>
                    </a:moveTo>
                    <a:cubicBezTo>
                      <a:pt x="56" y="148"/>
                      <a:pt x="112" y="152"/>
                      <a:pt x="144" y="144"/>
                    </a:cubicBezTo>
                    <a:cubicBezTo>
                      <a:pt x="176" y="136"/>
                      <a:pt x="160" y="120"/>
                      <a:pt x="192" y="96"/>
                    </a:cubicBezTo>
                    <a:cubicBezTo>
                      <a:pt x="224" y="72"/>
                      <a:pt x="288" y="0"/>
                      <a:pt x="336" y="0"/>
                    </a:cubicBezTo>
                    <a:cubicBezTo>
                      <a:pt x="384" y="0"/>
                      <a:pt x="464" y="40"/>
                      <a:pt x="480" y="96"/>
                    </a:cubicBezTo>
                    <a:cubicBezTo>
                      <a:pt x="496" y="152"/>
                      <a:pt x="456" y="288"/>
                      <a:pt x="432" y="336"/>
                    </a:cubicBezTo>
                    <a:cubicBezTo>
                      <a:pt x="408" y="384"/>
                      <a:pt x="376" y="384"/>
                      <a:pt x="336" y="384"/>
                    </a:cubicBezTo>
                    <a:cubicBezTo>
                      <a:pt x="296" y="384"/>
                      <a:pt x="240" y="344"/>
                      <a:pt x="192" y="336"/>
                    </a:cubicBezTo>
                    <a:cubicBezTo>
                      <a:pt x="144" y="328"/>
                      <a:pt x="72" y="304"/>
                      <a:pt x="48" y="336"/>
                    </a:cubicBezTo>
                    <a:cubicBezTo>
                      <a:pt x="24" y="368"/>
                      <a:pt x="8" y="488"/>
                      <a:pt x="48" y="528"/>
                    </a:cubicBezTo>
                    <a:cubicBezTo>
                      <a:pt x="88" y="568"/>
                      <a:pt x="232" y="560"/>
                      <a:pt x="288" y="576"/>
                    </a:cubicBezTo>
                    <a:cubicBezTo>
                      <a:pt x="344" y="592"/>
                      <a:pt x="368" y="600"/>
                      <a:pt x="384" y="624"/>
                    </a:cubicBezTo>
                    <a:cubicBezTo>
                      <a:pt x="400" y="648"/>
                      <a:pt x="384" y="704"/>
                      <a:pt x="384" y="720"/>
                    </a:cubicBezTo>
                  </a:path>
                </a:pathLst>
              </a:custGeom>
              <a:noFill/>
              <a:ln w="25400">
                <a:solidFill>
                  <a:schemeClr val="tx1"/>
                </a:solidFill>
                <a:round/>
                <a:headEnd/>
                <a:tailEnd/>
              </a:ln>
              <a:effectLst/>
            </p:spPr>
            <p:txBody>
              <a:bodyPr/>
              <a:lstStyle/>
              <a:p>
                <a:endParaRPr lang="en-US"/>
              </a:p>
            </p:txBody>
          </p:sp>
        </p:grpSp>
        <p:sp>
          <p:nvSpPr>
            <p:cNvPr id="52250" name="Freeform 26"/>
            <p:cNvSpPr>
              <a:spLocks/>
            </p:cNvSpPr>
            <p:nvPr/>
          </p:nvSpPr>
          <p:spPr bwMode="auto">
            <a:xfrm>
              <a:off x="2738" y="2041"/>
              <a:ext cx="144" cy="168"/>
            </a:xfrm>
            <a:custGeom>
              <a:avLst/>
              <a:gdLst/>
              <a:ahLst/>
              <a:cxnLst>
                <a:cxn ang="0">
                  <a:pos x="48" y="16"/>
                </a:cxn>
                <a:cxn ang="0">
                  <a:pos x="96" y="16"/>
                </a:cxn>
                <a:cxn ang="0">
                  <a:pos x="144" y="112"/>
                </a:cxn>
                <a:cxn ang="0">
                  <a:pos x="96" y="160"/>
                </a:cxn>
                <a:cxn ang="0">
                  <a:pos x="0" y="160"/>
                </a:cxn>
              </a:cxnLst>
              <a:rect l="0" t="0" r="r" b="b"/>
              <a:pathLst>
                <a:path w="144" h="168">
                  <a:moveTo>
                    <a:pt x="48" y="16"/>
                  </a:moveTo>
                  <a:cubicBezTo>
                    <a:pt x="64" y="8"/>
                    <a:pt x="80" y="0"/>
                    <a:pt x="96" y="16"/>
                  </a:cubicBezTo>
                  <a:cubicBezTo>
                    <a:pt x="112" y="32"/>
                    <a:pt x="144" y="88"/>
                    <a:pt x="144" y="112"/>
                  </a:cubicBezTo>
                  <a:cubicBezTo>
                    <a:pt x="144" y="136"/>
                    <a:pt x="120" y="152"/>
                    <a:pt x="96" y="160"/>
                  </a:cubicBezTo>
                  <a:cubicBezTo>
                    <a:pt x="72" y="168"/>
                    <a:pt x="16" y="160"/>
                    <a:pt x="0" y="160"/>
                  </a:cubicBezTo>
                </a:path>
              </a:pathLst>
            </a:custGeom>
            <a:noFill/>
            <a:ln w="9525">
              <a:solidFill>
                <a:schemeClr val="tx1"/>
              </a:solidFill>
              <a:round/>
              <a:headEnd/>
              <a:tailEnd/>
            </a:ln>
            <a:effectLst/>
          </p:spPr>
          <p:txBody>
            <a:bodyPr/>
            <a:lstStyle/>
            <a:p>
              <a:endParaRPr lang="en-US"/>
            </a:p>
          </p:txBody>
        </p:sp>
        <p:sp>
          <p:nvSpPr>
            <p:cNvPr id="52251" name="Oval 27"/>
            <p:cNvSpPr>
              <a:spLocks noChangeArrowheads="1"/>
            </p:cNvSpPr>
            <p:nvPr/>
          </p:nvSpPr>
          <p:spPr bwMode="auto">
            <a:xfrm>
              <a:off x="2786" y="2088"/>
              <a:ext cx="48" cy="86"/>
            </a:xfrm>
            <a:prstGeom prst="ellipse">
              <a:avLst/>
            </a:prstGeom>
            <a:solidFill>
              <a:schemeClr val="tx1"/>
            </a:solidFill>
            <a:ln w="9525">
              <a:solidFill>
                <a:schemeClr val="tx1"/>
              </a:solidFill>
              <a:round/>
              <a:headEnd/>
              <a:tailEnd/>
            </a:ln>
            <a:effectLst/>
          </p:spPr>
          <p:txBody>
            <a:bodyPr wrap="none" anchor="ctr"/>
            <a:lstStyle/>
            <a:p>
              <a:endParaRPr lang="en-US"/>
            </a:p>
          </p:txBody>
        </p:sp>
        <p:sp>
          <p:nvSpPr>
            <p:cNvPr id="52252" name="Freeform 28"/>
            <p:cNvSpPr>
              <a:spLocks/>
            </p:cNvSpPr>
            <p:nvPr/>
          </p:nvSpPr>
          <p:spPr bwMode="auto">
            <a:xfrm rot="-589576">
              <a:off x="2430" y="2585"/>
              <a:ext cx="96" cy="52"/>
            </a:xfrm>
            <a:custGeom>
              <a:avLst/>
              <a:gdLst/>
              <a:ahLst/>
              <a:cxnLst>
                <a:cxn ang="0">
                  <a:pos x="0" y="4"/>
                </a:cxn>
                <a:cxn ang="0">
                  <a:pos x="48" y="4"/>
                </a:cxn>
                <a:cxn ang="0">
                  <a:pos x="75" y="31"/>
                </a:cxn>
                <a:cxn ang="0">
                  <a:pos x="96" y="52"/>
                </a:cxn>
              </a:cxnLst>
              <a:rect l="0" t="0" r="r" b="b"/>
              <a:pathLst>
                <a:path w="96" h="52">
                  <a:moveTo>
                    <a:pt x="0" y="4"/>
                  </a:moveTo>
                  <a:cubicBezTo>
                    <a:pt x="18" y="2"/>
                    <a:pt x="36" y="0"/>
                    <a:pt x="48" y="4"/>
                  </a:cubicBezTo>
                  <a:cubicBezTo>
                    <a:pt x="60" y="8"/>
                    <a:pt x="67" y="23"/>
                    <a:pt x="75" y="31"/>
                  </a:cubicBezTo>
                  <a:lnTo>
                    <a:pt x="96" y="52"/>
                  </a:lnTo>
                </a:path>
              </a:pathLst>
            </a:custGeom>
            <a:noFill/>
            <a:ln w="15875">
              <a:solidFill>
                <a:schemeClr val="tx1"/>
              </a:solidFill>
              <a:round/>
              <a:headEnd/>
              <a:tailEnd/>
            </a:ln>
            <a:effectLst/>
          </p:spPr>
          <p:txBody>
            <a:bodyPr/>
            <a:lstStyle/>
            <a:p>
              <a:endParaRPr lang="en-US"/>
            </a:p>
          </p:txBody>
        </p:sp>
        <p:sp>
          <p:nvSpPr>
            <p:cNvPr id="52253" name="Freeform 29"/>
            <p:cNvSpPr>
              <a:spLocks/>
            </p:cNvSpPr>
            <p:nvPr/>
          </p:nvSpPr>
          <p:spPr bwMode="auto">
            <a:xfrm rot="-1817858">
              <a:off x="2766" y="1945"/>
              <a:ext cx="144" cy="144"/>
            </a:xfrm>
            <a:custGeom>
              <a:avLst/>
              <a:gdLst/>
              <a:ahLst/>
              <a:cxnLst>
                <a:cxn ang="0">
                  <a:pos x="0" y="0"/>
                </a:cxn>
                <a:cxn ang="0">
                  <a:pos x="96" y="48"/>
                </a:cxn>
                <a:cxn ang="0">
                  <a:pos x="144" y="144"/>
                </a:cxn>
              </a:cxnLst>
              <a:rect l="0" t="0" r="r" b="b"/>
              <a:pathLst>
                <a:path w="144" h="144">
                  <a:moveTo>
                    <a:pt x="0" y="0"/>
                  </a:moveTo>
                  <a:cubicBezTo>
                    <a:pt x="36" y="12"/>
                    <a:pt x="72" y="24"/>
                    <a:pt x="96" y="48"/>
                  </a:cubicBezTo>
                  <a:cubicBezTo>
                    <a:pt x="120" y="72"/>
                    <a:pt x="136" y="128"/>
                    <a:pt x="144" y="144"/>
                  </a:cubicBezTo>
                </a:path>
              </a:pathLst>
            </a:custGeom>
            <a:noFill/>
            <a:ln w="22225">
              <a:solidFill>
                <a:schemeClr val="tx1"/>
              </a:solidFill>
              <a:round/>
              <a:headEnd/>
              <a:tailEnd/>
            </a:ln>
            <a:effectLst/>
          </p:spPr>
          <p:txBody>
            <a:bodyPr/>
            <a:lstStyle/>
            <a:p>
              <a:endParaRPr lang="en-US"/>
            </a:p>
          </p:txBody>
        </p:sp>
      </p:grpSp>
      <p:sp>
        <p:nvSpPr>
          <p:cNvPr id="52254" name="Text Box 30"/>
          <p:cNvSpPr txBox="1">
            <a:spLocks noChangeArrowheads="1"/>
          </p:cNvSpPr>
          <p:nvPr/>
        </p:nvSpPr>
        <p:spPr bwMode="auto">
          <a:xfrm>
            <a:off x="990600" y="2667000"/>
            <a:ext cx="3733800" cy="366713"/>
          </a:xfrm>
          <a:prstGeom prst="rect">
            <a:avLst/>
          </a:prstGeom>
          <a:noFill/>
          <a:ln w="9525">
            <a:noFill/>
            <a:miter lim="800000"/>
            <a:headEnd/>
            <a:tailEnd/>
          </a:ln>
          <a:effectLst/>
        </p:spPr>
        <p:txBody>
          <a:bodyPr>
            <a:spAutoFit/>
          </a:bodyPr>
          <a:lstStyle/>
          <a:p>
            <a:pPr>
              <a:lnSpc>
                <a:spcPct val="90000"/>
              </a:lnSpc>
              <a:spcBef>
                <a:spcPct val="50000"/>
              </a:spcBef>
            </a:pPr>
            <a:r>
              <a:rPr lang="en-US" sz="2000">
                <a:solidFill>
                  <a:schemeClr val="bg1"/>
                </a:solidFill>
              </a:rPr>
              <a:t>(A single letter previous to 1994)</a:t>
            </a:r>
          </a:p>
        </p:txBody>
      </p:sp>
      <p:sp>
        <p:nvSpPr>
          <p:cNvPr id="52255" name="WordArt 31" descr="Woven mat"/>
          <p:cNvSpPr>
            <a:spLocks noChangeArrowheads="1" noChangeShapeType="1" noTextEdit="1"/>
          </p:cNvSpPr>
          <p:nvPr/>
        </p:nvSpPr>
        <p:spPr bwMode="auto">
          <a:xfrm>
            <a:off x="762000" y="2628900"/>
            <a:ext cx="215900" cy="1905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6000" kern="10">
                <a:ln w="9525">
                  <a:round/>
                  <a:headEnd/>
                  <a:tailEnd/>
                </a:ln>
                <a:blipFill dpi="0" rotWithShape="0">
                  <a:blip r:embed="rId2"/>
                  <a:srcRect/>
                  <a:tile tx="0" ty="0" sx="100000" sy="100000" flip="none" algn="tl"/>
                </a:blipFill>
                <a:latin typeface="Arial Black"/>
              </a:rPr>
              <a:t>*</a:t>
            </a:r>
          </a:p>
        </p:txBody>
      </p:sp>
      <p:sp>
        <p:nvSpPr>
          <p:cNvPr id="52256" name="Text Box 32"/>
          <p:cNvSpPr txBox="1">
            <a:spLocks noChangeArrowheads="1"/>
          </p:cNvSpPr>
          <p:nvPr/>
        </p:nvSpPr>
        <p:spPr bwMode="auto">
          <a:xfrm>
            <a:off x="304800" y="3124200"/>
            <a:ext cx="3581400" cy="2392363"/>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With the “rr,” or double “r,” the tongue is positioned just as with the single “r,” except that it is held there briefly and allowed to “flap,” creating the “rolling” effect.</a:t>
            </a:r>
          </a:p>
        </p:txBody>
      </p:sp>
      <p:sp>
        <p:nvSpPr>
          <p:cNvPr id="52258" name="Text Box 34"/>
          <p:cNvSpPr txBox="1">
            <a:spLocks noChangeArrowheads="1"/>
          </p:cNvSpPr>
          <p:nvPr/>
        </p:nvSpPr>
        <p:spPr bwMode="auto">
          <a:xfrm>
            <a:off x="6781800" y="2514600"/>
            <a:ext cx="1371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perro</a:t>
            </a:r>
          </a:p>
        </p:txBody>
      </p:sp>
      <p:sp>
        <p:nvSpPr>
          <p:cNvPr id="52259" name="Text Box 35"/>
          <p:cNvSpPr txBox="1">
            <a:spLocks noChangeArrowheads="1"/>
          </p:cNvSpPr>
          <p:nvPr/>
        </p:nvSpPr>
        <p:spPr bwMode="auto">
          <a:xfrm>
            <a:off x="6781800" y="3001963"/>
            <a:ext cx="1752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barrio</a:t>
            </a:r>
          </a:p>
        </p:txBody>
      </p:sp>
      <p:sp>
        <p:nvSpPr>
          <p:cNvPr id="52260" name="Text Box 36"/>
          <p:cNvSpPr txBox="1">
            <a:spLocks noChangeArrowheads="1"/>
          </p:cNvSpPr>
          <p:nvPr/>
        </p:nvSpPr>
        <p:spPr bwMode="auto">
          <a:xfrm>
            <a:off x="6781800" y="3506788"/>
            <a:ext cx="17526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derrota</a:t>
            </a:r>
          </a:p>
        </p:txBody>
      </p:sp>
      <p:sp>
        <p:nvSpPr>
          <p:cNvPr id="52261" name="Text Box 37"/>
          <p:cNvSpPr txBox="1">
            <a:spLocks noChangeArrowheads="1"/>
          </p:cNvSpPr>
          <p:nvPr/>
        </p:nvSpPr>
        <p:spPr bwMode="auto">
          <a:xfrm>
            <a:off x="457200" y="5637213"/>
            <a:ext cx="6553200" cy="366712"/>
          </a:xfrm>
          <a:prstGeom prst="rect">
            <a:avLst/>
          </a:prstGeom>
          <a:noFill/>
          <a:ln w="9525">
            <a:noFill/>
            <a:miter lim="800000"/>
            <a:headEnd/>
            <a:tailEnd/>
          </a:ln>
          <a:effectLst/>
        </p:spPr>
        <p:txBody>
          <a:bodyPr>
            <a:spAutoFit/>
          </a:bodyPr>
          <a:lstStyle/>
          <a:p>
            <a:pPr>
              <a:lnSpc>
                <a:spcPct val="90000"/>
              </a:lnSpc>
              <a:spcBef>
                <a:spcPct val="50000"/>
              </a:spcBef>
            </a:pPr>
            <a:r>
              <a:rPr lang="en-US" sz="2000">
                <a:solidFill>
                  <a:schemeClr val="bg1"/>
                </a:solidFill>
              </a:rPr>
              <a:t>Note:  The single “r” is rolled more like the “rr” after l and n.</a:t>
            </a:r>
          </a:p>
        </p:txBody>
      </p:sp>
      <p:sp>
        <p:nvSpPr>
          <p:cNvPr id="52262" name="Text Box 38"/>
          <p:cNvSpPr txBox="1">
            <a:spLocks noChangeArrowheads="1"/>
          </p:cNvSpPr>
          <p:nvPr/>
        </p:nvSpPr>
        <p:spPr bwMode="auto">
          <a:xfrm>
            <a:off x="6781800" y="4267200"/>
            <a:ext cx="1828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alrededor</a:t>
            </a:r>
          </a:p>
        </p:txBody>
      </p:sp>
      <p:sp>
        <p:nvSpPr>
          <p:cNvPr id="52263" name="Text Box 39"/>
          <p:cNvSpPr txBox="1">
            <a:spLocks noChangeArrowheads="1"/>
          </p:cNvSpPr>
          <p:nvPr/>
        </p:nvSpPr>
        <p:spPr bwMode="auto">
          <a:xfrm>
            <a:off x="6781800" y="4754563"/>
            <a:ext cx="2057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en realidad</a:t>
            </a:r>
          </a:p>
        </p:txBody>
      </p:sp>
      <p:sp>
        <p:nvSpPr>
          <p:cNvPr id="52264" name="Text Box 40"/>
          <p:cNvSpPr txBox="1">
            <a:spLocks noChangeArrowheads="1"/>
          </p:cNvSpPr>
          <p:nvPr/>
        </p:nvSpPr>
        <p:spPr bwMode="auto">
          <a:xfrm>
            <a:off x="7239000" y="53340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rosa</a:t>
            </a:r>
          </a:p>
        </p:txBody>
      </p:sp>
      <p:sp>
        <p:nvSpPr>
          <p:cNvPr id="52265" name="Text Box 41"/>
          <p:cNvSpPr txBox="1">
            <a:spLocks noChangeArrowheads="1"/>
          </p:cNvSpPr>
          <p:nvPr/>
        </p:nvSpPr>
        <p:spPr bwMode="auto">
          <a:xfrm>
            <a:off x="1171575" y="5957888"/>
            <a:ext cx="5486400" cy="366712"/>
          </a:xfrm>
          <a:prstGeom prst="rect">
            <a:avLst/>
          </a:prstGeom>
          <a:noFill/>
          <a:ln w="9525">
            <a:noFill/>
            <a:miter lim="800000"/>
            <a:headEnd/>
            <a:tailEnd/>
          </a:ln>
          <a:effectLst/>
        </p:spPr>
        <p:txBody>
          <a:bodyPr>
            <a:spAutoFit/>
          </a:bodyPr>
          <a:lstStyle/>
          <a:p>
            <a:pPr>
              <a:lnSpc>
                <a:spcPct val="90000"/>
              </a:lnSpc>
              <a:spcBef>
                <a:spcPct val="50000"/>
              </a:spcBef>
            </a:pPr>
            <a:r>
              <a:rPr lang="en-US" sz="2000">
                <a:solidFill>
                  <a:schemeClr val="bg1"/>
                </a:solidFill>
              </a:rPr>
              <a:t>When initial, the “r” is rolled exactly like the “rr.”</a:t>
            </a:r>
          </a:p>
        </p:txBody>
      </p:sp>
      <p:sp>
        <p:nvSpPr>
          <p:cNvPr id="52267" name="Text Box 43"/>
          <p:cNvSpPr txBox="1">
            <a:spLocks noChangeArrowheads="1"/>
          </p:cNvSpPr>
          <p:nvPr/>
        </p:nvSpPr>
        <p:spPr bwMode="auto">
          <a:xfrm>
            <a:off x="7239000" y="5821363"/>
            <a:ext cx="12954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rubio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200"/>
                                        <p:tgtEl>
                                          <p:spTgt spid="522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227"/>
                                        </p:tgtEl>
                                        <p:attrNameLst>
                                          <p:attrName>style.visibility</p:attrName>
                                        </p:attrNameLst>
                                      </p:cBhvr>
                                      <p:to>
                                        <p:strVal val="visible"/>
                                      </p:to>
                                    </p:set>
                                    <p:animEffect transition="in" filter="dissolve">
                                      <p:cBhvr>
                                        <p:cTn id="12" dur="500"/>
                                        <p:tgtEl>
                                          <p:spTgt spid="52227"/>
                                        </p:tgtEl>
                                      </p:cBhvr>
                                    </p:animEffect>
                                  </p:childTnLst>
                                </p:cTn>
                              </p:par>
                            </p:childTnLst>
                          </p:cTn>
                        </p:par>
                        <p:par>
                          <p:cTn id="13" fill="hold">
                            <p:stCondLst>
                              <p:cond delay="500"/>
                            </p:stCondLst>
                            <p:childTnLst>
                              <p:par>
                                <p:cTn id="14" presetID="23" presetClass="entr" presetSubtype="288" fill="hold" grpId="0" nodeType="afterEffect">
                                  <p:stCondLst>
                                    <p:cond delay="0"/>
                                  </p:stCondLst>
                                  <p:childTnLst>
                                    <p:set>
                                      <p:cBhvr>
                                        <p:cTn id="15" dur="1" fill="hold">
                                          <p:stCondLst>
                                            <p:cond delay="0"/>
                                          </p:stCondLst>
                                        </p:cTn>
                                        <p:tgtEl>
                                          <p:spTgt spid="52228"/>
                                        </p:tgtEl>
                                        <p:attrNameLst>
                                          <p:attrName>style.visibility</p:attrName>
                                        </p:attrNameLst>
                                      </p:cBhvr>
                                      <p:to>
                                        <p:strVal val="visible"/>
                                      </p:to>
                                    </p:set>
                                    <p:anim calcmode="lin" valueType="num">
                                      <p:cBhvr>
                                        <p:cTn id="16" dur="300" fill="hold"/>
                                        <p:tgtEl>
                                          <p:spTgt spid="52228"/>
                                        </p:tgtEl>
                                        <p:attrNameLst>
                                          <p:attrName>ppt_w</p:attrName>
                                        </p:attrNameLst>
                                      </p:cBhvr>
                                      <p:tavLst>
                                        <p:tav tm="0">
                                          <p:val>
                                            <p:strVal val="4/3*#ppt_w"/>
                                          </p:val>
                                        </p:tav>
                                        <p:tav tm="100000">
                                          <p:val>
                                            <p:strVal val="#ppt_w"/>
                                          </p:val>
                                        </p:tav>
                                      </p:tavLst>
                                    </p:anim>
                                    <p:anim calcmode="lin" valueType="num">
                                      <p:cBhvr>
                                        <p:cTn id="17" dur="300" fill="hold"/>
                                        <p:tgtEl>
                                          <p:spTgt spid="52228"/>
                                        </p:tgtEl>
                                        <p:attrNameLst>
                                          <p:attrName>ppt_h</p:attrName>
                                        </p:attrNameLst>
                                      </p:cBhvr>
                                      <p:tavLst>
                                        <p:tav tm="0">
                                          <p:val>
                                            <p:strVal val="4/3*#ppt_h"/>
                                          </p:val>
                                        </p:tav>
                                        <p:tav tm="100000">
                                          <p:val>
                                            <p:strVal val="#ppt_h"/>
                                          </p:val>
                                        </p:tav>
                                      </p:tavLst>
                                    </p:anim>
                                  </p:childTnLst>
                                </p:cTn>
                              </p:par>
                            </p:childTnLst>
                          </p:cTn>
                        </p:par>
                        <p:par>
                          <p:cTn id="18" fill="hold">
                            <p:stCondLst>
                              <p:cond delay="800"/>
                            </p:stCondLst>
                            <p:childTnLst>
                              <p:par>
                                <p:cTn id="19" presetID="23" presetClass="entr" presetSubtype="288" fill="hold" grpId="0" nodeType="afterEffect">
                                  <p:stCondLst>
                                    <p:cond delay="0"/>
                                  </p:stCondLst>
                                  <p:childTnLst>
                                    <p:set>
                                      <p:cBhvr>
                                        <p:cTn id="20" dur="1" fill="hold">
                                          <p:stCondLst>
                                            <p:cond delay="0"/>
                                          </p:stCondLst>
                                        </p:cTn>
                                        <p:tgtEl>
                                          <p:spTgt spid="52255"/>
                                        </p:tgtEl>
                                        <p:attrNameLst>
                                          <p:attrName>style.visibility</p:attrName>
                                        </p:attrNameLst>
                                      </p:cBhvr>
                                      <p:to>
                                        <p:strVal val="visible"/>
                                      </p:to>
                                    </p:set>
                                    <p:anim calcmode="lin" valueType="num">
                                      <p:cBhvr>
                                        <p:cTn id="21" dur="300" fill="hold"/>
                                        <p:tgtEl>
                                          <p:spTgt spid="52255"/>
                                        </p:tgtEl>
                                        <p:attrNameLst>
                                          <p:attrName>ppt_w</p:attrName>
                                        </p:attrNameLst>
                                      </p:cBhvr>
                                      <p:tavLst>
                                        <p:tav tm="0">
                                          <p:val>
                                            <p:strVal val="4/3*#ppt_w"/>
                                          </p:val>
                                        </p:tav>
                                        <p:tav tm="100000">
                                          <p:val>
                                            <p:strVal val="#ppt_w"/>
                                          </p:val>
                                        </p:tav>
                                      </p:tavLst>
                                    </p:anim>
                                    <p:anim calcmode="lin" valueType="num">
                                      <p:cBhvr>
                                        <p:cTn id="22" dur="300" fill="hold"/>
                                        <p:tgtEl>
                                          <p:spTgt spid="52255"/>
                                        </p:tgtEl>
                                        <p:attrNameLst>
                                          <p:attrName>ppt_h</p:attrName>
                                        </p:attrNameLst>
                                      </p:cBhvr>
                                      <p:tavLst>
                                        <p:tav tm="0">
                                          <p:val>
                                            <p:strVal val="4/3*#ppt_h"/>
                                          </p:val>
                                        </p:tav>
                                        <p:tav tm="100000">
                                          <p:val>
                                            <p:strVal val="#ppt_h"/>
                                          </p:val>
                                        </p:tav>
                                      </p:tavLst>
                                    </p:anim>
                                  </p:childTnLst>
                                </p:cTn>
                              </p:par>
                            </p:childTnLst>
                          </p:cTn>
                        </p:par>
                        <p:par>
                          <p:cTn id="23" fill="hold">
                            <p:stCondLst>
                              <p:cond delay="1100"/>
                            </p:stCondLst>
                            <p:childTnLst>
                              <p:par>
                                <p:cTn id="24" presetID="9" presetClass="entr" presetSubtype="0" fill="hold" grpId="0" nodeType="afterEffect">
                                  <p:stCondLst>
                                    <p:cond delay="0"/>
                                  </p:stCondLst>
                                  <p:childTnLst>
                                    <p:set>
                                      <p:cBhvr>
                                        <p:cTn id="25" dur="1" fill="hold">
                                          <p:stCondLst>
                                            <p:cond delay="0"/>
                                          </p:stCondLst>
                                        </p:cTn>
                                        <p:tgtEl>
                                          <p:spTgt spid="52254"/>
                                        </p:tgtEl>
                                        <p:attrNameLst>
                                          <p:attrName>style.visibility</p:attrName>
                                        </p:attrNameLst>
                                      </p:cBhvr>
                                      <p:to>
                                        <p:strVal val="visible"/>
                                      </p:to>
                                    </p:set>
                                    <p:animEffect transition="in" filter="dissolve">
                                      <p:cBhvr>
                                        <p:cTn id="26" dur="400"/>
                                        <p:tgtEl>
                                          <p:spTgt spid="522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2256"/>
                                        </p:tgtEl>
                                        <p:attrNameLst>
                                          <p:attrName>style.visibility</p:attrName>
                                        </p:attrNameLst>
                                      </p:cBhvr>
                                      <p:to>
                                        <p:strVal val="visible"/>
                                      </p:to>
                                    </p:set>
                                    <p:animEffect transition="in" filter="dissolve">
                                      <p:cBhvr>
                                        <p:cTn id="31" dur="400"/>
                                        <p:tgtEl>
                                          <p:spTgt spid="5225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266"/>
                                        </p:tgtEl>
                                        <p:attrNameLst>
                                          <p:attrName>style.visibility</p:attrName>
                                        </p:attrNameLst>
                                      </p:cBhvr>
                                      <p:to>
                                        <p:strVal val="visible"/>
                                      </p:to>
                                    </p:set>
                                    <p:animEffect transition="in" filter="fade">
                                      <p:cBhvr>
                                        <p:cTn id="36" dur="500"/>
                                        <p:tgtEl>
                                          <p:spTgt spid="5226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52243"/>
                                        </p:tgtEl>
                                        <p:attrNameLst>
                                          <p:attrName>style.visibility</p:attrName>
                                        </p:attrNameLst>
                                      </p:cBhvr>
                                      <p:to>
                                        <p:strVal val="visible"/>
                                      </p:to>
                                    </p:set>
                                    <p:animEffect transition="in" filter="wipe(right)">
                                      <p:cBhvr>
                                        <p:cTn id="41" dur="500"/>
                                        <p:tgtEl>
                                          <p:spTgt spid="52243"/>
                                        </p:tgtEl>
                                      </p:cBhvr>
                                    </p:animEffect>
                                  </p:childTnLst>
                                </p:cTn>
                              </p:par>
                            </p:childTnLst>
                          </p:cTn>
                        </p:par>
                      </p:childTnLst>
                    </p:cTn>
                  </p:par>
                  <p:par>
                    <p:cTn id="42" fill="hold">
                      <p:stCondLst>
                        <p:cond delay="indefinite"/>
                      </p:stCondLst>
                      <p:childTnLst>
                        <p:par>
                          <p:cTn id="43" fill="hold">
                            <p:stCondLst>
                              <p:cond delay="0"/>
                            </p:stCondLst>
                            <p:childTnLst>
                              <p:par>
                                <p:cTn id="44" presetID="32" presetClass="emph" presetSubtype="0" fill="hold" grpId="1" nodeType="clickEffect">
                                  <p:stCondLst>
                                    <p:cond delay="0"/>
                                  </p:stCondLst>
                                  <p:childTnLst>
                                    <p:animClr clrSpc="rgb" dir="cw">
                                      <p:cBhvr override="childStyle">
                                        <p:cTn id="45" dur="50" fill="hold"/>
                                        <p:tgtEl>
                                          <p:spTgt spid="52243"/>
                                        </p:tgtEl>
                                        <p:attrNameLst>
                                          <p:attrName>style.color</p:attrName>
                                        </p:attrNameLst>
                                      </p:cBhvr>
                                      <p:to>
                                        <a:srgbClr val="006666"/>
                                      </p:to>
                                    </p:animClr>
                                    <p:animClr clrSpc="rgb" dir="cw">
                                      <p:cBhvr>
                                        <p:cTn id="46" dur="50" fill="hold"/>
                                        <p:tgtEl>
                                          <p:spTgt spid="52243"/>
                                        </p:tgtEl>
                                        <p:attrNameLst>
                                          <p:attrName>fillcolor</p:attrName>
                                        </p:attrNameLst>
                                      </p:cBhvr>
                                      <p:to>
                                        <a:srgbClr val="006666"/>
                                      </p:to>
                                    </p:animClr>
                                    <p:set>
                                      <p:cBhvr>
                                        <p:cTn id="47" dur="50" fill="hold"/>
                                        <p:tgtEl>
                                          <p:spTgt spid="52243"/>
                                        </p:tgtEl>
                                        <p:attrNameLst>
                                          <p:attrName>fill.type</p:attrName>
                                        </p:attrNameLst>
                                      </p:cBhvr>
                                      <p:to>
                                        <p:strVal val="solid"/>
                                      </p:to>
                                    </p:set>
                                    <p:set>
                                      <p:cBhvr>
                                        <p:cTn id="48" dur="50" fill="hold"/>
                                        <p:tgtEl>
                                          <p:spTgt spid="52243"/>
                                        </p:tgtEl>
                                        <p:attrNameLst>
                                          <p:attrName>fill.on</p:attrName>
                                        </p:attrNameLst>
                                      </p:cBhvr>
                                      <p:to>
                                        <p:strVal val="true"/>
                                      </p:to>
                                    </p:set>
                                    <p:animRot by="120000">
                                      <p:cBhvr>
                                        <p:cTn id="49" dur="50" fill="hold">
                                          <p:stCondLst>
                                            <p:cond delay="0"/>
                                          </p:stCondLst>
                                        </p:cTn>
                                        <p:tgtEl>
                                          <p:spTgt spid="52243"/>
                                        </p:tgtEl>
                                        <p:attrNameLst>
                                          <p:attrName>r</p:attrName>
                                        </p:attrNameLst>
                                      </p:cBhvr>
                                    </p:animRot>
                                    <p:animRot by="-240000">
                                      <p:cBhvr>
                                        <p:cTn id="50" dur="100" fill="hold">
                                          <p:stCondLst>
                                            <p:cond delay="100"/>
                                          </p:stCondLst>
                                        </p:cTn>
                                        <p:tgtEl>
                                          <p:spTgt spid="52243"/>
                                        </p:tgtEl>
                                        <p:attrNameLst>
                                          <p:attrName>r</p:attrName>
                                        </p:attrNameLst>
                                      </p:cBhvr>
                                    </p:animRot>
                                    <p:animRot by="240000">
                                      <p:cBhvr>
                                        <p:cTn id="51" dur="100" fill="hold">
                                          <p:stCondLst>
                                            <p:cond delay="200"/>
                                          </p:stCondLst>
                                        </p:cTn>
                                        <p:tgtEl>
                                          <p:spTgt spid="52243"/>
                                        </p:tgtEl>
                                        <p:attrNameLst>
                                          <p:attrName>r</p:attrName>
                                        </p:attrNameLst>
                                      </p:cBhvr>
                                    </p:animRot>
                                    <p:animRot by="-240000">
                                      <p:cBhvr>
                                        <p:cTn id="52" dur="100" fill="hold">
                                          <p:stCondLst>
                                            <p:cond delay="300"/>
                                          </p:stCondLst>
                                        </p:cTn>
                                        <p:tgtEl>
                                          <p:spTgt spid="52243"/>
                                        </p:tgtEl>
                                        <p:attrNameLst>
                                          <p:attrName>r</p:attrName>
                                        </p:attrNameLst>
                                      </p:cBhvr>
                                    </p:animRot>
                                    <p:animRot by="120000">
                                      <p:cBhvr>
                                        <p:cTn id="53" dur="100" fill="hold">
                                          <p:stCondLst>
                                            <p:cond delay="400"/>
                                          </p:stCondLst>
                                        </p:cTn>
                                        <p:tgtEl>
                                          <p:spTgt spid="52243"/>
                                        </p:tgtEl>
                                        <p:attrNameLst>
                                          <p:attrName>r</p:attrName>
                                        </p:attrNameLst>
                                      </p:cBhvr>
                                    </p:animRot>
                                  </p:childTnLst>
                                </p:cTn>
                              </p:par>
                            </p:childTnLst>
                          </p:cTn>
                        </p:par>
                        <p:par>
                          <p:cTn id="54" fill="hold">
                            <p:stCondLst>
                              <p:cond delay="500"/>
                            </p:stCondLst>
                            <p:childTnLst>
                              <p:par>
                                <p:cTn id="55" presetID="32" presetClass="emph" presetSubtype="0" fill="hold" grpId="2" nodeType="afterEffect">
                                  <p:stCondLst>
                                    <p:cond delay="0"/>
                                  </p:stCondLst>
                                  <p:childTnLst>
                                    <p:animClr clrSpc="rgb" dir="cw">
                                      <p:cBhvr override="childStyle">
                                        <p:cTn id="56" dur="50" fill="hold"/>
                                        <p:tgtEl>
                                          <p:spTgt spid="52243"/>
                                        </p:tgtEl>
                                        <p:attrNameLst>
                                          <p:attrName>style.color</p:attrName>
                                        </p:attrNameLst>
                                      </p:cBhvr>
                                      <p:to>
                                        <a:schemeClr val="accent2"/>
                                      </p:to>
                                    </p:animClr>
                                    <p:animClr clrSpc="rgb" dir="cw">
                                      <p:cBhvr>
                                        <p:cTn id="57" dur="50" fill="hold"/>
                                        <p:tgtEl>
                                          <p:spTgt spid="52243"/>
                                        </p:tgtEl>
                                        <p:attrNameLst>
                                          <p:attrName>fillcolor</p:attrName>
                                        </p:attrNameLst>
                                      </p:cBhvr>
                                      <p:to>
                                        <a:schemeClr val="accent2"/>
                                      </p:to>
                                    </p:animClr>
                                    <p:set>
                                      <p:cBhvr>
                                        <p:cTn id="58" dur="50" fill="hold"/>
                                        <p:tgtEl>
                                          <p:spTgt spid="52243"/>
                                        </p:tgtEl>
                                        <p:attrNameLst>
                                          <p:attrName>fill.type</p:attrName>
                                        </p:attrNameLst>
                                      </p:cBhvr>
                                      <p:to>
                                        <p:strVal val="solid"/>
                                      </p:to>
                                    </p:set>
                                    <p:set>
                                      <p:cBhvr>
                                        <p:cTn id="59" dur="50" fill="hold"/>
                                        <p:tgtEl>
                                          <p:spTgt spid="52243"/>
                                        </p:tgtEl>
                                        <p:attrNameLst>
                                          <p:attrName>fill.on</p:attrName>
                                        </p:attrNameLst>
                                      </p:cBhvr>
                                      <p:to>
                                        <p:strVal val="true"/>
                                      </p:to>
                                    </p:set>
                                    <p:animRot by="120000">
                                      <p:cBhvr>
                                        <p:cTn id="60" dur="50" fill="hold">
                                          <p:stCondLst>
                                            <p:cond delay="0"/>
                                          </p:stCondLst>
                                        </p:cTn>
                                        <p:tgtEl>
                                          <p:spTgt spid="52243"/>
                                        </p:tgtEl>
                                        <p:attrNameLst>
                                          <p:attrName>r</p:attrName>
                                        </p:attrNameLst>
                                      </p:cBhvr>
                                    </p:animRot>
                                    <p:animRot by="-240000">
                                      <p:cBhvr>
                                        <p:cTn id="61" dur="100" fill="hold">
                                          <p:stCondLst>
                                            <p:cond delay="100"/>
                                          </p:stCondLst>
                                        </p:cTn>
                                        <p:tgtEl>
                                          <p:spTgt spid="52243"/>
                                        </p:tgtEl>
                                        <p:attrNameLst>
                                          <p:attrName>r</p:attrName>
                                        </p:attrNameLst>
                                      </p:cBhvr>
                                    </p:animRot>
                                    <p:animRot by="240000">
                                      <p:cBhvr>
                                        <p:cTn id="62" dur="100" fill="hold">
                                          <p:stCondLst>
                                            <p:cond delay="200"/>
                                          </p:stCondLst>
                                        </p:cTn>
                                        <p:tgtEl>
                                          <p:spTgt spid="52243"/>
                                        </p:tgtEl>
                                        <p:attrNameLst>
                                          <p:attrName>r</p:attrName>
                                        </p:attrNameLst>
                                      </p:cBhvr>
                                    </p:animRot>
                                    <p:animRot by="-240000">
                                      <p:cBhvr>
                                        <p:cTn id="63" dur="100" fill="hold">
                                          <p:stCondLst>
                                            <p:cond delay="300"/>
                                          </p:stCondLst>
                                        </p:cTn>
                                        <p:tgtEl>
                                          <p:spTgt spid="52243"/>
                                        </p:tgtEl>
                                        <p:attrNameLst>
                                          <p:attrName>r</p:attrName>
                                        </p:attrNameLst>
                                      </p:cBhvr>
                                    </p:animRot>
                                    <p:animRot by="120000">
                                      <p:cBhvr>
                                        <p:cTn id="64" dur="100" fill="hold">
                                          <p:stCondLst>
                                            <p:cond delay="400"/>
                                          </p:stCondLst>
                                        </p:cTn>
                                        <p:tgtEl>
                                          <p:spTgt spid="52243"/>
                                        </p:tgtEl>
                                        <p:attrNameLst>
                                          <p:attrName>r</p:attrName>
                                        </p:attrNameLst>
                                      </p:cBhvr>
                                    </p:animRot>
                                  </p:childTnLst>
                                </p:cTn>
                              </p:par>
                            </p:childTnLst>
                          </p:cTn>
                        </p:par>
                        <p:par>
                          <p:cTn id="65" fill="hold">
                            <p:stCondLst>
                              <p:cond delay="1000"/>
                            </p:stCondLst>
                            <p:childTnLst>
                              <p:par>
                                <p:cTn id="66" presetID="32" presetClass="emph" presetSubtype="0" fill="hold" grpId="3" nodeType="afterEffect">
                                  <p:stCondLst>
                                    <p:cond delay="0"/>
                                  </p:stCondLst>
                                  <p:childTnLst>
                                    <p:animClr clrSpc="rgb" dir="cw">
                                      <p:cBhvr override="childStyle">
                                        <p:cTn id="67" dur="50" fill="hold"/>
                                        <p:tgtEl>
                                          <p:spTgt spid="52243"/>
                                        </p:tgtEl>
                                        <p:attrNameLst>
                                          <p:attrName>style.color</p:attrName>
                                        </p:attrNameLst>
                                      </p:cBhvr>
                                      <p:to>
                                        <a:schemeClr val="accent2"/>
                                      </p:to>
                                    </p:animClr>
                                    <p:animClr clrSpc="rgb" dir="cw">
                                      <p:cBhvr>
                                        <p:cTn id="68" dur="50" fill="hold"/>
                                        <p:tgtEl>
                                          <p:spTgt spid="52243"/>
                                        </p:tgtEl>
                                        <p:attrNameLst>
                                          <p:attrName>fillcolor</p:attrName>
                                        </p:attrNameLst>
                                      </p:cBhvr>
                                      <p:to>
                                        <a:schemeClr val="accent2"/>
                                      </p:to>
                                    </p:animClr>
                                    <p:set>
                                      <p:cBhvr>
                                        <p:cTn id="69" dur="50" fill="hold"/>
                                        <p:tgtEl>
                                          <p:spTgt spid="52243"/>
                                        </p:tgtEl>
                                        <p:attrNameLst>
                                          <p:attrName>fill.type</p:attrName>
                                        </p:attrNameLst>
                                      </p:cBhvr>
                                      <p:to>
                                        <p:strVal val="solid"/>
                                      </p:to>
                                    </p:set>
                                    <p:set>
                                      <p:cBhvr>
                                        <p:cTn id="70" dur="50" fill="hold"/>
                                        <p:tgtEl>
                                          <p:spTgt spid="52243"/>
                                        </p:tgtEl>
                                        <p:attrNameLst>
                                          <p:attrName>fill.on</p:attrName>
                                        </p:attrNameLst>
                                      </p:cBhvr>
                                      <p:to>
                                        <p:strVal val="true"/>
                                      </p:to>
                                    </p:set>
                                    <p:animRot by="120000">
                                      <p:cBhvr>
                                        <p:cTn id="71" dur="50" fill="hold">
                                          <p:stCondLst>
                                            <p:cond delay="0"/>
                                          </p:stCondLst>
                                        </p:cTn>
                                        <p:tgtEl>
                                          <p:spTgt spid="52243"/>
                                        </p:tgtEl>
                                        <p:attrNameLst>
                                          <p:attrName>r</p:attrName>
                                        </p:attrNameLst>
                                      </p:cBhvr>
                                    </p:animRot>
                                    <p:animRot by="-240000">
                                      <p:cBhvr>
                                        <p:cTn id="72" dur="100" fill="hold">
                                          <p:stCondLst>
                                            <p:cond delay="100"/>
                                          </p:stCondLst>
                                        </p:cTn>
                                        <p:tgtEl>
                                          <p:spTgt spid="52243"/>
                                        </p:tgtEl>
                                        <p:attrNameLst>
                                          <p:attrName>r</p:attrName>
                                        </p:attrNameLst>
                                      </p:cBhvr>
                                    </p:animRot>
                                    <p:animRot by="240000">
                                      <p:cBhvr>
                                        <p:cTn id="73" dur="100" fill="hold">
                                          <p:stCondLst>
                                            <p:cond delay="200"/>
                                          </p:stCondLst>
                                        </p:cTn>
                                        <p:tgtEl>
                                          <p:spTgt spid="52243"/>
                                        </p:tgtEl>
                                        <p:attrNameLst>
                                          <p:attrName>r</p:attrName>
                                        </p:attrNameLst>
                                      </p:cBhvr>
                                    </p:animRot>
                                    <p:animRot by="-240000">
                                      <p:cBhvr>
                                        <p:cTn id="74" dur="100" fill="hold">
                                          <p:stCondLst>
                                            <p:cond delay="300"/>
                                          </p:stCondLst>
                                        </p:cTn>
                                        <p:tgtEl>
                                          <p:spTgt spid="52243"/>
                                        </p:tgtEl>
                                        <p:attrNameLst>
                                          <p:attrName>r</p:attrName>
                                        </p:attrNameLst>
                                      </p:cBhvr>
                                    </p:animRot>
                                    <p:animRot by="120000">
                                      <p:cBhvr>
                                        <p:cTn id="75" dur="100" fill="hold">
                                          <p:stCondLst>
                                            <p:cond delay="400"/>
                                          </p:stCondLst>
                                        </p:cTn>
                                        <p:tgtEl>
                                          <p:spTgt spid="52243"/>
                                        </p:tgtEl>
                                        <p:attrNameLst>
                                          <p:attrName>r</p:attrName>
                                        </p:attrNameLst>
                                      </p:cBhvr>
                                    </p:animRot>
                                  </p:childTnLst>
                                </p:cTn>
                              </p:par>
                            </p:childTnLst>
                          </p:cTn>
                        </p:par>
                        <p:par>
                          <p:cTn id="76" fill="hold">
                            <p:stCondLst>
                              <p:cond delay="1500"/>
                            </p:stCondLst>
                            <p:childTnLst>
                              <p:par>
                                <p:cTn id="77" presetID="32" presetClass="emph" presetSubtype="0" fill="hold" grpId="4" nodeType="afterEffect">
                                  <p:stCondLst>
                                    <p:cond delay="0"/>
                                  </p:stCondLst>
                                  <p:childTnLst>
                                    <p:animClr clrSpc="rgb" dir="cw">
                                      <p:cBhvr override="childStyle">
                                        <p:cTn id="78" dur="50" fill="hold"/>
                                        <p:tgtEl>
                                          <p:spTgt spid="52243"/>
                                        </p:tgtEl>
                                        <p:attrNameLst>
                                          <p:attrName>style.color</p:attrName>
                                        </p:attrNameLst>
                                      </p:cBhvr>
                                      <p:to>
                                        <a:schemeClr val="accent2"/>
                                      </p:to>
                                    </p:animClr>
                                    <p:animClr clrSpc="rgb" dir="cw">
                                      <p:cBhvr>
                                        <p:cTn id="79" dur="50" fill="hold"/>
                                        <p:tgtEl>
                                          <p:spTgt spid="52243"/>
                                        </p:tgtEl>
                                        <p:attrNameLst>
                                          <p:attrName>fillcolor</p:attrName>
                                        </p:attrNameLst>
                                      </p:cBhvr>
                                      <p:to>
                                        <a:schemeClr val="accent2"/>
                                      </p:to>
                                    </p:animClr>
                                    <p:set>
                                      <p:cBhvr>
                                        <p:cTn id="80" dur="50" fill="hold"/>
                                        <p:tgtEl>
                                          <p:spTgt spid="52243"/>
                                        </p:tgtEl>
                                        <p:attrNameLst>
                                          <p:attrName>fill.type</p:attrName>
                                        </p:attrNameLst>
                                      </p:cBhvr>
                                      <p:to>
                                        <p:strVal val="solid"/>
                                      </p:to>
                                    </p:set>
                                    <p:set>
                                      <p:cBhvr>
                                        <p:cTn id="81" dur="50" fill="hold"/>
                                        <p:tgtEl>
                                          <p:spTgt spid="52243"/>
                                        </p:tgtEl>
                                        <p:attrNameLst>
                                          <p:attrName>fill.on</p:attrName>
                                        </p:attrNameLst>
                                      </p:cBhvr>
                                      <p:to>
                                        <p:strVal val="true"/>
                                      </p:to>
                                    </p:set>
                                    <p:animRot by="120000">
                                      <p:cBhvr>
                                        <p:cTn id="82" dur="50" fill="hold">
                                          <p:stCondLst>
                                            <p:cond delay="0"/>
                                          </p:stCondLst>
                                        </p:cTn>
                                        <p:tgtEl>
                                          <p:spTgt spid="52243"/>
                                        </p:tgtEl>
                                        <p:attrNameLst>
                                          <p:attrName>r</p:attrName>
                                        </p:attrNameLst>
                                      </p:cBhvr>
                                    </p:animRot>
                                    <p:animRot by="-240000">
                                      <p:cBhvr>
                                        <p:cTn id="83" dur="100" fill="hold">
                                          <p:stCondLst>
                                            <p:cond delay="100"/>
                                          </p:stCondLst>
                                        </p:cTn>
                                        <p:tgtEl>
                                          <p:spTgt spid="52243"/>
                                        </p:tgtEl>
                                        <p:attrNameLst>
                                          <p:attrName>r</p:attrName>
                                        </p:attrNameLst>
                                      </p:cBhvr>
                                    </p:animRot>
                                    <p:animRot by="240000">
                                      <p:cBhvr>
                                        <p:cTn id="84" dur="100" fill="hold">
                                          <p:stCondLst>
                                            <p:cond delay="200"/>
                                          </p:stCondLst>
                                        </p:cTn>
                                        <p:tgtEl>
                                          <p:spTgt spid="52243"/>
                                        </p:tgtEl>
                                        <p:attrNameLst>
                                          <p:attrName>r</p:attrName>
                                        </p:attrNameLst>
                                      </p:cBhvr>
                                    </p:animRot>
                                    <p:animRot by="-240000">
                                      <p:cBhvr>
                                        <p:cTn id="85" dur="100" fill="hold">
                                          <p:stCondLst>
                                            <p:cond delay="300"/>
                                          </p:stCondLst>
                                        </p:cTn>
                                        <p:tgtEl>
                                          <p:spTgt spid="52243"/>
                                        </p:tgtEl>
                                        <p:attrNameLst>
                                          <p:attrName>r</p:attrName>
                                        </p:attrNameLst>
                                      </p:cBhvr>
                                    </p:animRot>
                                    <p:animRot by="120000">
                                      <p:cBhvr>
                                        <p:cTn id="86" dur="100" fill="hold">
                                          <p:stCondLst>
                                            <p:cond delay="400"/>
                                          </p:stCondLst>
                                        </p:cTn>
                                        <p:tgtEl>
                                          <p:spTgt spid="52243"/>
                                        </p:tgtEl>
                                        <p:attrNameLst>
                                          <p:attrName>r</p:attrName>
                                        </p:attrNameLst>
                                      </p:cBhvr>
                                    </p:animRot>
                                  </p:childTnLst>
                                </p:cTn>
                              </p:par>
                            </p:childTnLst>
                          </p:cTn>
                        </p:par>
                        <p:par>
                          <p:cTn id="87" fill="hold">
                            <p:stCondLst>
                              <p:cond delay="2000"/>
                            </p:stCondLst>
                            <p:childTnLst>
                              <p:par>
                                <p:cTn id="88" presetID="32" presetClass="emph" presetSubtype="0" fill="hold" grpId="5" nodeType="afterEffect">
                                  <p:stCondLst>
                                    <p:cond delay="0"/>
                                  </p:stCondLst>
                                  <p:childTnLst>
                                    <p:animClr clrSpc="rgb" dir="cw">
                                      <p:cBhvr override="childStyle">
                                        <p:cTn id="89" dur="50" fill="hold"/>
                                        <p:tgtEl>
                                          <p:spTgt spid="52243"/>
                                        </p:tgtEl>
                                        <p:attrNameLst>
                                          <p:attrName>style.color</p:attrName>
                                        </p:attrNameLst>
                                      </p:cBhvr>
                                      <p:to>
                                        <a:schemeClr val="accent2"/>
                                      </p:to>
                                    </p:animClr>
                                    <p:animClr clrSpc="rgb" dir="cw">
                                      <p:cBhvr>
                                        <p:cTn id="90" dur="50" fill="hold"/>
                                        <p:tgtEl>
                                          <p:spTgt spid="52243"/>
                                        </p:tgtEl>
                                        <p:attrNameLst>
                                          <p:attrName>fillcolor</p:attrName>
                                        </p:attrNameLst>
                                      </p:cBhvr>
                                      <p:to>
                                        <a:schemeClr val="accent2"/>
                                      </p:to>
                                    </p:animClr>
                                    <p:set>
                                      <p:cBhvr>
                                        <p:cTn id="91" dur="50" fill="hold"/>
                                        <p:tgtEl>
                                          <p:spTgt spid="52243"/>
                                        </p:tgtEl>
                                        <p:attrNameLst>
                                          <p:attrName>fill.type</p:attrName>
                                        </p:attrNameLst>
                                      </p:cBhvr>
                                      <p:to>
                                        <p:strVal val="solid"/>
                                      </p:to>
                                    </p:set>
                                    <p:set>
                                      <p:cBhvr>
                                        <p:cTn id="92" dur="50" fill="hold"/>
                                        <p:tgtEl>
                                          <p:spTgt spid="52243"/>
                                        </p:tgtEl>
                                        <p:attrNameLst>
                                          <p:attrName>fill.on</p:attrName>
                                        </p:attrNameLst>
                                      </p:cBhvr>
                                      <p:to>
                                        <p:strVal val="true"/>
                                      </p:to>
                                    </p:set>
                                    <p:animRot by="120000">
                                      <p:cBhvr>
                                        <p:cTn id="93" dur="50" fill="hold">
                                          <p:stCondLst>
                                            <p:cond delay="0"/>
                                          </p:stCondLst>
                                        </p:cTn>
                                        <p:tgtEl>
                                          <p:spTgt spid="52243"/>
                                        </p:tgtEl>
                                        <p:attrNameLst>
                                          <p:attrName>r</p:attrName>
                                        </p:attrNameLst>
                                      </p:cBhvr>
                                    </p:animRot>
                                    <p:animRot by="-240000">
                                      <p:cBhvr>
                                        <p:cTn id="94" dur="100" fill="hold">
                                          <p:stCondLst>
                                            <p:cond delay="100"/>
                                          </p:stCondLst>
                                        </p:cTn>
                                        <p:tgtEl>
                                          <p:spTgt spid="52243"/>
                                        </p:tgtEl>
                                        <p:attrNameLst>
                                          <p:attrName>r</p:attrName>
                                        </p:attrNameLst>
                                      </p:cBhvr>
                                    </p:animRot>
                                    <p:animRot by="240000">
                                      <p:cBhvr>
                                        <p:cTn id="95" dur="100" fill="hold">
                                          <p:stCondLst>
                                            <p:cond delay="200"/>
                                          </p:stCondLst>
                                        </p:cTn>
                                        <p:tgtEl>
                                          <p:spTgt spid="52243"/>
                                        </p:tgtEl>
                                        <p:attrNameLst>
                                          <p:attrName>r</p:attrName>
                                        </p:attrNameLst>
                                      </p:cBhvr>
                                    </p:animRot>
                                    <p:animRot by="-240000">
                                      <p:cBhvr>
                                        <p:cTn id="96" dur="100" fill="hold">
                                          <p:stCondLst>
                                            <p:cond delay="300"/>
                                          </p:stCondLst>
                                        </p:cTn>
                                        <p:tgtEl>
                                          <p:spTgt spid="52243"/>
                                        </p:tgtEl>
                                        <p:attrNameLst>
                                          <p:attrName>r</p:attrName>
                                        </p:attrNameLst>
                                      </p:cBhvr>
                                    </p:animRot>
                                    <p:animRot by="120000">
                                      <p:cBhvr>
                                        <p:cTn id="97" dur="100" fill="hold">
                                          <p:stCondLst>
                                            <p:cond delay="400"/>
                                          </p:stCondLst>
                                        </p:cTn>
                                        <p:tgtEl>
                                          <p:spTgt spid="52243"/>
                                        </p:tgtEl>
                                        <p:attrNameLst>
                                          <p:attrName>r</p:attrName>
                                        </p:attrNameLst>
                                      </p:cBhvr>
                                    </p:animRo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2258"/>
                                        </p:tgtEl>
                                        <p:attrNameLst>
                                          <p:attrName>style.visibility</p:attrName>
                                        </p:attrNameLst>
                                      </p:cBhvr>
                                      <p:to>
                                        <p:strVal val="visible"/>
                                      </p:to>
                                    </p:set>
                                    <p:animEffect transition="in" filter="fade">
                                      <p:cBhvr>
                                        <p:cTn id="102" dur="300"/>
                                        <p:tgtEl>
                                          <p:spTgt spid="52258"/>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52259"/>
                                        </p:tgtEl>
                                        <p:attrNameLst>
                                          <p:attrName>style.visibility</p:attrName>
                                        </p:attrNameLst>
                                      </p:cBhvr>
                                      <p:to>
                                        <p:strVal val="visible"/>
                                      </p:to>
                                    </p:set>
                                    <p:animEffect transition="in" filter="fade">
                                      <p:cBhvr>
                                        <p:cTn id="107" dur="300"/>
                                        <p:tgtEl>
                                          <p:spTgt spid="52259"/>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52260"/>
                                        </p:tgtEl>
                                        <p:attrNameLst>
                                          <p:attrName>style.visibility</p:attrName>
                                        </p:attrNameLst>
                                      </p:cBhvr>
                                      <p:to>
                                        <p:strVal val="visible"/>
                                      </p:to>
                                    </p:set>
                                    <p:animEffect transition="in" filter="fade">
                                      <p:cBhvr>
                                        <p:cTn id="112" dur="300"/>
                                        <p:tgtEl>
                                          <p:spTgt spid="52260"/>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52261"/>
                                        </p:tgtEl>
                                        <p:attrNameLst>
                                          <p:attrName>style.visibility</p:attrName>
                                        </p:attrNameLst>
                                      </p:cBhvr>
                                      <p:to>
                                        <p:strVal val="visible"/>
                                      </p:to>
                                    </p:set>
                                    <p:animEffect transition="in" filter="dissolve">
                                      <p:cBhvr>
                                        <p:cTn id="117" dur="400"/>
                                        <p:tgtEl>
                                          <p:spTgt spid="52261"/>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2262"/>
                                        </p:tgtEl>
                                        <p:attrNameLst>
                                          <p:attrName>style.visibility</p:attrName>
                                        </p:attrNameLst>
                                      </p:cBhvr>
                                      <p:to>
                                        <p:strVal val="visible"/>
                                      </p:to>
                                    </p:set>
                                    <p:animEffect transition="in" filter="fade">
                                      <p:cBhvr>
                                        <p:cTn id="122" dur="300"/>
                                        <p:tgtEl>
                                          <p:spTgt spid="5226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52263"/>
                                        </p:tgtEl>
                                        <p:attrNameLst>
                                          <p:attrName>style.visibility</p:attrName>
                                        </p:attrNameLst>
                                      </p:cBhvr>
                                      <p:to>
                                        <p:strVal val="visible"/>
                                      </p:to>
                                    </p:set>
                                    <p:animEffect transition="in" filter="fade">
                                      <p:cBhvr>
                                        <p:cTn id="127" dur="300"/>
                                        <p:tgtEl>
                                          <p:spTgt spid="52263"/>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52265"/>
                                        </p:tgtEl>
                                        <p:attrNameLst>
                                          <p:attrName>style.visibility</p:attrName>
                                        </p:attrNameLst>
                                      </p:cBhvr>
                                      <p:to>
                                        <p:strVal val="visible"/>
                                      </p:to>
                                    </p:set>
                                    <p:animEffect transition="in" filter="dissolve">
                                      <p:cBhvr>
                                        <p:cTn id="132" dur="400"/>
                                        <p:tgtEl>
                                          <p:spTgt spid="52265"/>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2264"/>
                                        </p:tgtEl>
                                        <p:attrNameLst>
                                          <p:attrName>style.visibility</p:attrName>
                                        </p:attrNameLst>
                                      </p:cBhvr>
                                      <p:to>
                                        <p:strVal val="visible"/>
                                      </p:to>
                                    </p:set>
                                    <p:animEffect transition="in" filter="fade">
                                      <p:cBhvr>
                                        <p:cTn id="137" dur="300"/>
                                        <p:tgtEl>
                                          <p:spTgt spid="52264"/>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52267"/>
                                        </p:tgtEl>
                                        <p:attrNameLst>
                                          <p:attrName>style.visibility</p:attrName>
                                        </p:attrNameLst>
                                      </p:cBhvr>
                                      <p:to>
                                        <p:strVal val="visible"/>
                                      </p:to>
                                    </p:set>
                                    <p:animEffect transition="in" filter="fade">
                                      <p:cBhvr>
                                        <p:cTn id="142" dur="300"/>
                                        <p:tgtEl>
                                          <p:spTgt spid="52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nimBg="1"/>
      <p:bldP spid="52227" grpId="0" animBg="1"/>
      <p:bldP spid="52228" grpId="0" animBg="1"/>
      <p:bldP spid="52243" grpId="0" animBg="1"/>
      <p:bldP spid="52243" grpId="1" animBg="1"/>
      <p:bldP spid="52243" grpId="2" animBg="1"/>
      <p:bldP spid="52243" grpId="3" animBg="1"/>
      <p:bldP spid="52243" grpId="4" animBg="1"/>
      <p:bldP spid="52243" grpId="5" animBg="1"/>
      <p:bldP spid="52254" grpId="0"/>
      <p:bldP spid="52255" grpId="0" animBg="1"/>
      <p:bldP spid="52256" grpId="0"/>
      <p:bldP spid="52258" grpId="0"/>
      <p:bldP spid="52259" grpId="0"/>
      <p:bldP spid="52260" grpId="0"/>
      <p:bldP spid="52261" grpId="0"/>
      <p:bldP spid="52262" grpId="0"/>
      <p:bldP spid="52263" grpId="0"/>
      <p:bldP spid="52264" grpId="0"/>
      <p:bldP spid="52265" grpId="0"/>
      <p:bldP spid="5226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WordArt 2" descr="Woven mat"/>
          <p:cNvSpPr>
            <a:spLocks noChangeArrowheads="1" noChangeShapeType="1" noTextEdit="1"/>
          </p:cNvSpPr>
          <p:nvPr/>
        </p:nvSpPr>
        <p:spPr bwMode="auto">
          <a:xfrm>
            <a:off x="2057400" y="838200"/>
            <a:ext cx="14478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s</a:t>
            </a:r>
          </a:p>
        </p:txBody>
      </p:sp>
      <p:sp>
        <p:nvSpPr>
          <p:cNvPr id="53251" name="WordArt 3" descr="Stationery"/>
          <p:cNvSpPr>
            <a:spLocks noChangeArrowheads="1" noChangeShapeType="1" noTextEdit="1"/>
          </p:cNvSpPr>
          <p:nvPr/>
        </p:nvSpPr>
        <p:spPr bwMode="auto">
          <a:xfrm>
            <a:off x="4495800" y="914400"/>
            <a:ext cx="2743200" cy="17240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(ese)</a:t>
            </a:r>
          </a:p>
        </p:txBody>
      </p:sp>
      <p:sp>
        <p:nvSpPr>
          <p:cNvPr id="53252" name="Text Box 4"/>
          <p:cNvSpPr txBox="1">
            <a:spLocks noChangeArrowheads="1"/>
          </p:cNvSpPr>
          <p:nvPr/>
        </p:nvSpPr>
        <p:spPr bwMode="auto">
          <a:xfrm>
            <a:off x="1371600" y="3022600"/>
            <a:ext cx="72390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“s” is essentially like the English s in most of the Spanish-speaking world.</a:t>
            </a:r>
          </a:p>
        </p:txBody>
      </p:sp>
      <p:sp>
        <p:nvSpPr>
          <p:cNvPr id="53253" name="Text Box 5"/>
          <p:cNvSpPr txBox="1">
            <a:spLocks noChangeArrowheads="1"/>
          </p:cNvSpPr>
          <p:nvPr/>
        </p:nvSpPr>
        <p:spPr bwMode="auto">
          <a:xfrm>
            <a:off x="2590800" y="41148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sí</a:t>
            </a:r>
          </a:p>
        </p:txBody>
      </p:sp>
      <p:sp>
        <p:nvSpPr>
          <p:cNvPr id="53254" name="Text Box 6"/>
          <p:cNvSpPr txBox="1">
            <a:spLocks noChangeArrowheads="1"/>
          </p:cNvSpPr>
          <p:nvPr/>
        </p:nvSpPr>
        <p:spPr bwMode="auto">
          <a:xfrm>
            <a:off x="2590800" y="47244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peso</a:t>
            </a:r>
          </a:p>
        </p:txBody>
      </p:sp>
      <p:sp>
        <p:nvSpPr>
          <p:cNvPr id="53255" name="Text Box 7"/>
          <p:cNvSpPr txBox="1">
            <a:spLocks noChangeArrowheads="1"/>
          </p:cNvSpPr>
          <p:nvPr/>
        </p:nvSpPr>
        <p:spPr bwMode="auto">
          <a:xfrm>
            <a:off x="5257800" y="4114800"/>
            <a:ext cx="1066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casa</a:t>
            </a:r>
          </a:p>
        </p:txBody>
      </p:sp>
      <p:sp>
        <p:nvSpPr>
          <p:cNvPr id="53256" name="Text Box 8"/>
          <p:cNvSpPr txBox="1">
            <a:spLocks noChangeArrowheads="1"/>
          </p:cNvSpPr>
          <p:nvPr/>
        </p:nvSpPr>
        <p:spPr bwMode="auto">
          <a:xfrm>
            <a:off x="5257800" y="4724400"/>
            <a:ext cx="1981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sabroso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2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dissolve">
                                      <p:cBhvr>
                                        <p:cTn id="12" dur="500"/>
                                        <p:tgtEl>
                                          <p:spTgt spid="532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252"/>
                                        </p:tgtEl>
                                        <p:attrNameLst>
                                          <p:attrName>style.visibility</p:attrName>
                                        </p:attrNameLst>
                                      </p:cBhvr>
                                      <p:to>
                                        <p:strVal val="visible"/>
                                      </p:to>
                                    </p:set>
                                    <p:animEffect transition="in" filter="dissolve">
                                      <p:cBhvr>
                                        <p:cTn id="17" dur="400"/>
                                        <p:tgtEl>
                                          <p:spTgt spid="532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253"/>
                                        </p:tgtEl>
                                        <p:attrNameLst>
                                          <p:attrName>style.visibility</p:attrName>
                                        </p:attrNameLst>
                                      </p:cBhvr>
                                      <p:to>
                                        <p:strVal val="visible"/>
                                      </p:to>
                                    </p:set>
                                    <p:animEffect transition="in" filter="fade">
                                      <p:cBhvr>
                                        <p:cTn id="22" dur="300"/>
                                        <p:tgtEl>
                                          <p:spTgt spid="532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254"/>
                                        </p:tgtEl>
                                        <p:attrNameLst>
                                          <p:attrName>style.visibility</p:attrName>
                                        </p:attrNameLst>
                                      </p:cBhvr>
                                      <p:to>
                                        <p:strVal val="visible"/>
                                      </p:to>
                                    </p:set>
                                    <p:animEffect transition="in" filter="fade">
                                      <p:cBhvr>
                                        <p:cTn id="27" dur="300"/>
                                        <p:tgtEl>
                                          <p:spTgt spid="5325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3255"/>
                                        </p:tgtEl>
                                        <p:attrNameLst>
                                          <p:attrName>style.visibility</p:attrName>
                                        </p:attrNameLst>
                                      </p:cBhvr>
                                      <p:to>
                                        <p:strVal val="visible"/>
                                      </p:to>
                                    </p:set>
                                    <p:animEffect transition="in" filter="fade">
                                      <p:cBhvr>
                                        <p:cTn id="32" dur="300"/>
                                        <p:tgtEl>
                                          <p:spTgt spid="5325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3256"/>
                                        </p:tgtEl>
                                        <p:attrNameLst>
                                          <p:attrName>style.visibility</p:attrName>
                                        </p:attrNameLst>
                                      </p:cBhvr>
                                      <p:to>
                                        <p:strVal val="visible"/>
                                      </p:to>
                                    </p:set>
                                    <p:animEffect transition="in" filter="fade">
                                      <p:cBhvr>
                                        <p:cTn id="37" dur="300"/>
                                        <p:tgtEl>
                                          <p:spTgt spid="53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nimBg="1"/>
      <p:bldP spid="53251" grpId="0" animBg="1"/>
      <p:bldP spid="53252" grpId="0"/>
      <p:bldP spid="53253" grpId="0"/>
      <p:bldP spid="53254" grpId="0"/>
      <p:bldP spid="53255" grpId="0"/>
      <p:bldP spid="5325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WordArt 2" descr="Woven mat"/>
          <p:cNvSpPr>
            <a:spLocks noChangeArrowheads="1" noChangeShapeType="1" noTextEdit="1"/>
          </p:cNvSpPr>
          <p:nvPr/>
        </p:nvSpPr>
        <p:spPr bwMode="auto">
          <a:xfrm>
            <a:off x="2438400" y="457200"/>
            <a:ext cx="1066800" cy="1981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t</a:t>
            </a:r>
          </a:p>
        </p:txBody>
      </p:sp>
      <p:sp>
        <p:nvSpPr>
          <p:cNvPr id="54275" name="WordArt 3" descr="Stationery"/>
          <p:cNvSpPr>
            <a:spLocks noChangeArrowheads="1" noChangeShapeType="1" noTextEdit="1"/>
          </p:cNvSpPr>
          <p:nvPr/>
        </p:nvSpPr>
        <p:spPr bwMode="auto">
          <a:xfrm>
            <a:off x="4495800" y="685800"/>
            <a:ext cx="2590800" cy="15240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(te)</a:t>
            </a:r>
          </a:p>
        </p:txBody>
      </p:sp>
      <p:sp>
        <p:nvSpPr>
          <p:cNvPr id="54276" name="Text Box 4"/>
          <p:cNvSpPr txBox="1">
            <a:spLocks noChangeArrowheads="1"/>
          </p:cNvSpPr>
          <p:nvPr/>
        </p:nvSpPr>
        <p:spPr bwMode="auto">
          <a:xfrm>
            <a:off x="1066800" y="2514600"/>
            <a:ext cx="7620000" cy="162877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“t” is similar to the English t except that it is, again, more dental.  The tongue is brought forward against the upper teeth much as with the “d.”  Like the p and [k] sounds, the t is not aspirated.</a:t>
            </a:r>
          </a:p>
        </p:txBody>
      </p:sp>
      <p:sp>
        <p:nvSpPr>
          <p:cNvPr id="54277" name="Text Box 5"/>
          <p:cNvSpPr txBox="1">
            <a:spLocks noChangeArrowheads="1"/>
          </p:cNvSpPr>
          <p:nvPr/>
        </p:nvSpPr>
        <p:spPr bwMode="auto">
          <a:xfrm>
            <a:off x="2590800" y="45259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té</a:t>
            </a:r>
          </a:p>
        </p:txBody>
      </p:sp>
      <p:sp>
        <p:nvSpPr>
          <p:cNvPr id="54278" name="Text Box 6"/>
          <p:cNvSpPr txBox="1">
            <a:spLocks noChangeArrowheads="1"/>
          </p:cNvSpPr>
          <p:nvPr/>
        </p:nvSpPr>
        <p:spPr bwMode="auto">
          <a:xfrm>
            <a:off x="2590800" y="51355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Tito</a:t>
            </a:r>
          </a:p>
        </p:txBody>
      </p:sp>
      <p:sp>
        <p:nvSpPr>
          <p:cNvPr id="54279" name="Text Box 7"/>
          <p:cNvSpPr txBox="1">
            <a:spLocks noChangeArrowheads="1"/>
          </p:cNvSpPr>
          <p:nvPr/>
        </p:nvSpPr>
        <p:spPr bwMode="auto">
          <a:xfrm>
            <a:off x="5257800" y="45259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tamal</a:t>
            </a:r>
          </a:p>
        </p:txBody>
      </p:sp>
      <p:sp>
        <p:nvSpPr>
          <p:cNvPr id="54280" name="Text Box 8"/>
          <p:cNvSpPr txBox="1">
            <a:spLocks noChangeArrowheads="1"/>
          </p:cNvSpPr>
          <p:nvPr/>
        </p:nvSpPr>
        <p:spPr bwMode="auto">
          <a:xfrm>
            <a:off x="5257800" y="5135563"/>
            <a:ext cx="1981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patata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200"/>
                                        <p:tgtEl>
                                          <p:spTgt spid="5427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75"/>
                                        </p:tgtEl>
                                        <p:attrNameLst>
                                          <p:attrName>style.visibility</p:attrName>
                                        </p:attrNameLst>
                                      </p:cBhvr>
                                      <p:to>
                                        <p:strVal val="visible"/>
                                      </p:to>
                                    </p:set>
                                    <p:animEffect transition="in" filter="dissolve">
                                      <p:cBhvr>
                                        <p:cTn id="12" dur="500"/>
                                        <p:tgtEl>
                                          <p:spTgt spid="542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276"/>
                                        </p:tgtEl>
                                        <p:attrNameLst>
                                          <p:attrName>style.visibility</p:attrName>
                                        </p:attrNameLst>
                                      </p:cBhvr>
                                      <p:to>
                                        <p:strVal val="visible"/>
                                      </p:to>
                                    </p:set>
                                    <p:animEffect transition="in" filter="dissolve">
                                      <p:cBhvr>
                                        <p:cTn id="17" dur="400"/>
                                        <p:tgtEl>
                                          <p:spTgt spid="5427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4277"/>
                                        </p:tgtEl>
                                        <p:attrNameLst>
                                          <p:attrName>style.visibility</p:attrName>
                                        </p:attrNameLst>
                                      </p:cBhvr>
                                      <p:to>
                                        <p:strVal val="visible"/>
                                      </p:to>
                                    </p:set>
                                    <p:animEffect transition="in" filter="fade">
                                      <p:cBhvr>
                                        <p:cTn id="22" dur="300"/>
                                        <p:tgtEl>
                                          <p:spTgt spid="5427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4278"/>
                                        </p:tgtEl>
                                        <p:attrNameLst>
                                          <p:attrName>style.visibility</p:attrName>
                                        </p:attrNameLst>
                                      </p:cBhvr>
                                      <p:to>
                                        <p:strVal val="visible"/>
                                      </p:to>
                                    </p:set>
                                    <p:animEffect transition="in" filter="fade">
                                      <p:cBhvr>
                                        <p:cTn id="27" dur="300"/>
                                        <p:tgtEl>
                                          <p:spTgt spid="5427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4279"/>
                                        </p:tgtEl>
                                        <p:attrNameLst>
                                          <p:attrName>style.visibility</p:attrName>
                                        </p:attrNameLst>
                                      </p:cBhvr>
                                      <p:to>
                                        <p:strVal val="visible"/>
                                      </p:to>
                                    </p:set>
                                    <p:animEffect transition="in" filter="fade">
                                      <p:cBhvr>
                                        <p:cTn id="32" dur="300"/>
                                        <p:tgtEl>
                                          <p:spTgt spid="5427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4280"/>
                                        </p:tgtEl>
                                        <p:attrNameLst>
                                          <p:attrName>style.visibility</p:attrName>
                                        </p:attrNameLst>
                                      </p:cBhvr>
                                      <p:to>
                                        <p:strVal val="visible"/>
                                      </p:to>
                                    </p:set>
                                    <p:animEffect transition="in" filter="fade">
                                      <p:cBhvr>
                                        <p:cTn id="37" dur="300"/>
                                        <p:tgtEl>
                                          <p:spTgt spid="54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nimBg="1"/>
      <p:bldP spid="54275" grpId="0" animBg="1"/>
      <p:bldP spid="54276" grpId="0"/>
      <p:bldP spid="54277" grpId="0"/>
      <p:bldP spid="54278" grpId="0"/>
      <p:bldP spid="54279" grpId="0"/>
      <p:bldP spid="5428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WordArt 2" descr="Woven mat"/>
          <p:cNvSpPr>
            <a:spLocks noChangeArrowheads="1" noChangeShapeType="1" noTextEdit="1"/>
          </p:cNvSpPr>
          <p:nvPr/>
        </p:nvSpPr>
        <p:spPr bwMode="auto">
          <a:xfrm>
            <a:off x="2590800" y="685800"/>
            <a:ext cx="12192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u</a:t>
            </a:r>
          </a:p>
        </p:txBody>
      </p:sp>
      <p:sp>
        <p:nvSpPr>
          <p:cNvPr id="55299" name="WordArt 3" descr="Stationery"/>
          <p:cNvSpPr>
            <a:spLocks noChangeArrowheads="1" noChangeShapeType="1" noTextEdit="1"/>
          </p:cNvSpPr>
          <p:nvPr/>
        </p:nvSpPr>
        <p:spPr bwMode="auto">
          <a:xfrm>
            <a:off x="5029200" y="762000"/>
            <a:ext cx="2209800" cy="1600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(u)</a:t>
            </a:r>
          </a:p>
        </p:txBody>
      </p:sp>
      <p:sp>
        <p:nvSpPr>
          <p:cNvPr id="55300" name="Oval 4"/>
          <p:cNvSpPr>
            <a:spLocks noChangeArrowheads="1"/>
          </p:cNvSpPr>
          <p:nvPr/>
        </p:nvSpPr>
        <p:spPr bwMode="auto">
          <a:xfrm>
            <a:off x="1828800" y="304800"/>
            <a:ext cx="2743200" cy="2667000"/>
          </a:xfrm>
          <a:prstGeom prst="ellipse">
            <a:avLst/>
          </a:prstGeom>
          <a:noFill/>
          <a:ln w="25400">
            <a:solidFill>
              <a:schemeClr val="tx1"/>
            </a:solidFill>
            <a:round/>
            <a:headEnd/>
            <a:tailEnd/>
          </a:ln>
          <a:effectLst/>
        </p:spPr>
        <p:txBody>
          <a:bodyPr wrap="none" anchor="ctr"/>
          <a:lstStyle/>
          <a:p>
            <a:endParaRPr lang="en-US"/>
          </a:p>
        </p:txBody>
      </p:sp>
      <p:sp>
        <p:nvSpPr>
          <p:cNvPr id="55301" name="Text Box 5"/>
          <p:cNvSpPr txBox="1">
            <a:spLocks noChangeArrowheads="1"/>
          </p:cNvSpPr>
          <p:nvPr/>
        </p:nvSpPr>
        <p:spPr bwMode="auto">
          <a:xfrm>
            <a:off x="1771650" y="3400425"/>
            <a:ext cx="714375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Like the u in the name “L</a:t>
            </a:r>
            <a:r>
              <a:rPr lang="en-US" sz="3200" u="sng">
                <a:solidFill>
                  <a:schemeClr val="bg1"/>
                </a:solidFill>
              </a:rPr>
              <a:t>u</a:t>
            </a:r>
            <a:r>
              <a:rPr lang="en-US" sz="3200">
                <a:solidFill>
                  <a:schemeClr val="bg1"/>
                </a:solidFill>
              </a:rPr>
              <a:t>lu,” but shorter</a:t>
            </a:r>
          </a:p>
        </p:txBody>
      </p:sp>
      <p:sp>
        <p:nvSpPr>
          <p:cNvPr id="55302" name="Line 6"/>
          <p:cNvSpPr>
            <a:spLocks noChangeShapeType="1"/>
          </p:cNvSpPr>
          <p:nvPr/>
        </p:nvSpPr>
        <p:spPr bwMode="auto">
          <a:xfrm>
            <a:off x="3214688" y="2976563"/>
            <a:ext cx="152400" cy="533400"/>
          </a:xfrm>
          <a:prstGeom prst="line">
            <a:avLst/>
          </a:prstGeom>
          <a:noFill/>
          <a:ln w="25400">
            <a:solidFill>
              <a:schemeClr val="tx1"/>
            </a:solidFill>
            <a:round/>
            <a:headEnd/>
            <a:tailEnd type="triangle" w="med" len="med"/>
          </a:ln>
          <a:effectLst/>
        </p:spPr>
        <p:txBody>
          <a:bodyPr/>
          <a:lstStyle/>
          <a:p>
            <a:endParaRPr lang="en-US"/>
          </a:p>
        </p:txBody>
      </p:sp>
      <p:sp>
        <p:nvSpPr>
          <p:cNvPr id="55303" name="Text Box 7"/>
          <p:cNvSpPr txBox="1">
            <a:spLocks noChangeArrowheads="1"/>
          </p:cNvSpPr>
          <p:nvPr/>
        </p:nvSpPr>
        <p:spPr bwMode="auto">
          <a:xfrm>
            <a:off x="533400" y="3962400"/>
            <a:ext cx="8382000" cy="996950"/>
          </a:xfrm>
          <a:prstGeom prst="rect">
            <a:avLst/>
          </a:prstGeom>
          <a:noFill/>
          <a:ln w="9525">
            <a:noFill/>
            <a:miter lim="800000"/>
            <a:headEnd/>
            <a:tailEnd/>
          </a:ln>
          <a:effectLst/>
        </p:spPr>
        <p:txBody>
          <a:bodyPr>
            <a:spAutoFit/>
          </a:bodyPr>
          <a:lstStyle/>
          <a:p>
            <a:pPr>
              <a:lnSpc>
                <a:spcPct val="90000"/>
              </a:lnSpc>
              <a:spcBef>
                <a:spcPct val="50000"/>
              </a:spcBef>
            </a:pPr>
            <a:r>
              <a:rPr lang="en-US" sz="2200">
                <a:solidFill>
                  <a:schemeClr val="bg1"/>
                </a:solidFill>
              </a:rPr>
              <a:t>The important thing to remember about the “u” is that it has no initial “y” sound as in English.  When we pronounce the word </a:t>
            </a:r>
            <a:r>
              <a:rPr lang="en-US" sz="2200" i="1">
                <a:solidFill>
                  <a:schemeClr val="bg1"/>
                </a:solidFill>
              </a:rPr>
              <a:t>union</a:t>
            </a:r>
            <a:r>
              <a:rPr lang="en-US" sz="2200">
                <a:solidFill>
                  <a:schemeClr val="bg1"/>
                </a:solidFill>
              </a:rPr>
              <a:t>, for instance, we actually say </a:t>
            </a:r>
            <a:r>
              <a:rPr lang="en-US" sz="2200" i="1">
                <a:solidFill>
                  <a:schemeClr val="bg1"/>
                </a:solidFill>
              </a:rPr>
              <a:t>yunion</a:t>
            </a:r>
            <a:r>
              <a:rPr lang="en-US" sz="2200">
                <a:solidFill>
                  <a:schemeClr val="bg1"/>
                </a:solidFill>
              </a:rPr>
              <a:t>.  Leave the “y” sound off in Spanish.</a:t>
            </a:r>
          </a:p>
        </p:txBody>
      </p:sp>
      <p:sp>
        <p:nvSpPr>
          <p:cNvPr id="55304" name="Text Box 8"/>
          <p:cNvSpPr txBox="1">
            <a:spLocks noChangeArrowheads="1"/>
          </p:cNvSpPr>
          <p:nvPr/>
        </p:nvSpPr>
        <p:spPr bwMode="auto">
          <a:xfrm>
            <a:off x="2514600" y="49530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unión</a:t>
            </a:r>
          </a:p>
        </p:txBody>
      </p:sp>
      <p:sp>
        <p:nvSpPr>
          <p:cNvPr id="55305" name="Text Box 9"/>
          <p:cNvSpPr txBox="1">
            <a:spLocks noChangeArrowheads="1"/>
          </p:cNvSpPr>
          <p:nvPr/>
        </p:nvSpPr>
        <p:spPr bwMode="auto">
          <a:xfrm>
            <a:off x="2514600" y="55626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inusual</a:t>
            </a:r>
          </a:p>
        </p:txBody>
      </p:sp>
      <p:sp>
        <p:nvSpPr>
          <p:cNvPr id="55306" name="Text Box 10"/>
          <p:cNvSpPr txBox="1">
            <a:spLocks noChangeArrowheads="1"/>
          </p:cNvSpPr>
          <p:nvPr/>
        </p:nvSpPr>
        <p:spPr bwMode="auto">
          <a:xfrm>
            <a:off x="5181600" y="4953000"/>
            <a:ext cx="2209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universidad</a:t>
            </a:r>
          </a:p>
        </p:txBody>
      </p:sp>
      <p:sp>
        <p:nvSpPr>
          <p:cNvPr id="55307" name="Text Box 11"/>
          <p:cNvSpPr txBox="1">
            <a:spLocks noChangeArrowheads="1"/>
          </p:cNvSpPr>
          <p:nvPr/>
        </p:nvSpPr>
        <p:spPr bwMode="auto">
          <a:xfrm>
            <a:off x="5181600" y="5562600"/>
            <a:ext cx="2209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comunidad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wipe(left)">
                                      <p:cBhvr>
                                        <p:cTn id="7" dur="200"/>
                                        <p:tgtEl>
                                          <p:spTgt spid="552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dissolve">
                                      <p:cBhvr>
                                        <p:cTn id="12" dur="500"/>
                                        <p:tgtEl>
                                          <p:spTgt spid="552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300"/>
                                        </p:tgtEl>
                                        <p:attrNameLst>
                                          <p:attrName>style.visibility</p:attrName>
                                        </p:attrNameLst>
                                      </p:cBhvr>
                                      <p:to>
                                        <p:strVal val="visible"/>
                                      </p:to>
                                    </p:set>
                                    <p:animEffect transition="in" filter="wipe(up)">
                                      <p:cBhvr>
                                        <p:cTn id="17" dur="300"/>
                                        <p:tgtEl>
                                          <p:spTgt spid="55300"/>
                                        </p:tgtEl>
                                      </p:cBhvr>
                                    </p:animEffect>
                                  </p:childTnLst>
                                </p:cTn>
                              </p:par>
                            </p:childTnLst>
                          </p:cTn>
                        </p:par>
                        <p:par>
                          <p:cTn id="18" fill="hold">
                            <p:stCondLst>
                              <p:cond delay="300"/>
                            </p:stCondLst>
                            <p:childTnLst>
                              <p:par>
                                <p:cTn id="19" presetID="22" presetClass="entr" presetSubtype="1" fill="hold" grpId="0" nodeType="afterEffect">
                                  <p:stCondLst>
                                    <p:cond delay="0"/>
                                  </p:stCondLst>
                                  <p:childTnLst>
                                    <p:set>
                                      <p:cBhvr>
                                        <p:cTn id="20" dur="1" fill="hold">
                                          <p:stCondLst>
                                            <p:cond delay="0"/>
                                          </p:stCondLst>
                                        </p:cTn>
                                        <p:tgtEl>
                                          <p:spTgt spid="55302"/>
                                        </p:tgtEl>
                                        <p:attrNameLst>
                                          <p:attrName>style.visibility</p:attrName>
                                        </p:attrNameLst>
                                      </p:cBhvr>
                                      <p:to>
                                        <p:strVal val="visible"/>
                                      </p:to>
                                    </p:set>
                                    <p:animEffect transition="in" filter="wipe(up)">
                                      <p:cBhvr>
                                        <p:cTn id="21" dur="300"/>
                                        <p:tgtEl>
                                          <p:spTgt spid="55302"/>
                                        </p:tgtEl>
                                      </p:cBhvr>
                                    </p:animEffect>
                                  </p:childTnLst>
                                </p:cTn>
                              </p:par>
                            </p:childTnLst>
                          </p:cTn>
                        </p:par>
                        <p:par>
                          <p:cTn id="22" fill="hold">
                            <p:stCondLst>
                              <p:cond delay="600"/>
                            </p:stCondLst>
                            <p:childTnLst>
                              <p:par>
                                <p:cTn id="23" presetID="9" presetClass="entr" presetSubtype="0" fill="hold" grpId="0" nodeType="afterEffect">
                                  <p:stCondLst>
                                    <p:cond delay="0"/>
                                  </p:stCondLst>
                                  <p:childTnLst>
                                    <p:set>
                                      <p:cBhvr>
                                        <p:cTn id="24" dur="1" fill="hold">
                                          <p:stCondLst>
                                            <p:cond delay="0"/>
                                          </p:stCondLst>
                                        </p:cTn>
                                        <p:tgtEl>
                                          <p:spTgt spid="55301"/>
                                        </p:tgtEl>
                                        <p:attrNameLst>
                                          <p:attrName>style.visibility</p:attrName>
                                        </p:attrNameLst>
                                      </p:cBhvr>
                                      <p:to>
                                        <p:strVal val="visible"/>
                                      </p:to>
                                    </p:set>
                                    <p:animEffect transition="in" filter="dissolve">
                                      <p:cBhvr>
                                        <p:cTn id="25" dur="400"/>
                                        <p:tgtEl>
                                          <p:spTgt spid="5530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5303"/>
                                        </p:tgtEl>
                                        <p:attrNameLst>
                                          <p:attrName>style.visibility</p:attrName>
                                        </p:attrNameLst>
                                      </p:cBhvr>
                                      <p:to>
                                        <p:strVal val="visible"/>
                                      </p:to>
                                    </p:set>
                                    <p:animEffect transition="in" filter="dissolve">
                                      <p:cBhvr>
                                        <p:cTn id="30" dur="400"/>
                                        <p:tgtEl>
                                          <p:spTgt spid="5530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5304"/>
                                        </p:tgtEl>
                                        <p:attrNameLst>
                                          <p:attrName>style.visibility</p:attrName>
                                        </p:attrNameLst>
                                      </p:cBhvr>
                                      <p:to>
                                        <p:strVal val="visible"/>
                                      </p:to>
                                    </p:set>
                                    <p:animEffect transition="in" filter="fade">
                                      <p:cBhvr>
                                        <p:cTn id="35" dur="300"/>
                                        <p:tgtEl>
                                          <p:spTgt spid="5530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5305"/>
                                        </p:tgtEl>
                                        <p:attrNameLst>
                                          <p:attrName>style.visibility</p:attrName>
                                        </p:attrNameLst>
                                      </p:cBhvr>
                                      <p:to>
                                        <p:strVal val="visible"/>
                                      </p:to>
                                    </p:set>
                                    <p:animEffect transition="in" filter="fade">
                                      <p:cBhvr>
                                        <p:cTn id="40" dur="300"/>
                                        <p:tgtEl>
                                          <p:spTgt spid="5530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5306"/>
                                        </p:tgtEl>
                                        <p:attrNameLst>
                                          <p:attrName>style.visibility</p:attrName>
                                        </p:attrNameLst>
                                      </p:cBhvr>
                                      <p:to>
                                        <p:strVal val="visible"/>
                                      </p:to>
                                    </p:set>
                                    <p:animEffect transition="in" filter="fade">
                                      <p:cBhvr>
                                        <p:cTn id="45" dur="300"/>
                                        <p:tgtEl>
                                          <p:spTgt spid="5530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5307"/>
                                        </p:tgtEl>
                                        <p:attrNameLst>
                                          <p:attrName>style.visibility</p:attrName>
                                        </p:attrNameLst>
                                      </p:cBhvr>
                                      <p:to>
                                        <p:strVal val="visible"/>
                                      </p:to>
                                    </p:set>
                                    <p:animEffect transition="in" filter="fade">
                                      <p:cBhvr>
                                        <p:cTn id="50" dur="300"/>
                                        <p:tgtEl>
                                          <p:spTgt spid="55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nimBg="1"/>
      <p:bldP spid="55299" grpId="0" animBg="1"/>
      <p:bldP spid="55300" grpId="0" animBg="1"/>
      <p:bldP spid="55301" grpId="0"/>
      <p:bldP spid="55302" grpId="0" animBg="1"/>
      <p:bldP spid="55303" grpId="0"/>
      <p:bldP spid="55304" grpId="0"/>
      <p:bldP spid="55305" grpId="0"/>
      <p:bldP spid="55306" grpId="0"/>
      <p:bldP spid="5530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WordArt 2" descr="Woven mat"/>
          <p:cNvSpPr>
            <a:spLocks noChangeArrowheads="1" noChangeShapeType="1" noTextEdit="1"/>
          </p:cNvSpPr>
          <p:nvPr/>
        </p:nvSpPr>
        <p:spPr bwMode="auto">
          <a:xfrm>
            <a:off x="2286000" y="1066800"/>
            <a:ext cx="13716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v</a:t>
            </a:r>
          </a:p>
        </p:txBody>
      </p:sp>
      <p:sp>
        <p:nvSpPr>
          <p:cNvPr id="56323" name="WordArt 3" descr="Stationery"/>
          <p:cNvSpPr>
            <a:spLocks noChangeArrowheads="1" noChangeShapeType="1" noTextEdit="1"/>
          </p:cNvSpPr>
          <p:nvPr/>
        </p:nvSpPr>
        <p:spPr bwMode="auto">
          <a:xfrm>
            <a:off x="4495800" y="381000"/>
            <a:ext cx="2133600" cy="1447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(ve)</a:t>
            </a:r>
          </a:p>
        </p:txBody>
      </p:sp>
      <p:sp>
        <p:nvSpPr>
          <p:cNvPr id="56324" name="WordArt 4" descr="Stationery"/>
          <p:cNvSpPr>
            <a:spLocks noChangeArrowheads="1" noChangeShapeType="1" noTextEdit="1"/>
          </p:cNvSpPr>
          <p:nvPr/>
        </p:nvSpPr>
        <p:spPr bwMode="auto">
          <a:xfrm>
            <a:off x="4495800" y="2085975"/>
            <a:ext cx="2667000" cy="141922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(uve)</a:t>
            </a:r>
          </a:p>
        </p:txBody>
      </p:sp>
      <p:sp>
        <p:nvSpPr>
          <p:cNvPr id="56325" name="Text Box 5"/>
          <p:cNvSpPr txBox="1">
            <a:spLocks noChangeArrowheads="1"/>
          </p:cNvSpPr>
          <p:nvPr/>
        </p:nvSpPr>
        <p:spPr bwMode="auto">
          <a:xfrm>
            <a:off x="1828800" y="3581400"/>
            <a:ext cx="61722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In all environments, the “v” is identical in pronunciation to the “b.”</a:t>
            </a:r>
          </a:p>
        </p:txBody>
      </p:sp>
      <p:sp>
        <p:nvSpPr>
          <p:cNvPr id="56326" name="Text Box 6"/>
          <p:cNvSpPr txBox="1">
            <a:spLocks noChangeArrowheads="1"/>
          </p:cNvSpPr>
          <p:nvPr/>
        </p:nvSpPr>
        <p:spPr bwMode="auto">
          <a:xfrm>
            <a:off x="2514600" y="4495800"/>
            <a:ext cx="2209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Voy contigo</a:t>
            </a:r>
          </a:p>
        </p:txBody>
      </p:sp>
      <p:sp>
        <p:nvSpPr>
          <p:cNvPr id="56327" name="Text Box 7"/>
          <p:cNvSpPr txBox="1">
            <a:spLocks noChangeArrowheads="1"/>
          </p:cNvSpPr>
          <p:nvPr/>
        </p:nvSpPr>
        <p:spPr bwMode="auto">
          <a:xfrm>
            <a:off x="2590800" y="5211763"/>
            <a:ext cx="1600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Eva</a:t>
            </a:r>
          </a:p>
        </p:txBody>
      </p:sp>
      <p:sp>
        <p:nvSpPr>
          <p:cNvPr id="56328" name="Text Box 8"/>
          <p:cNvSpPr txBox="1">
            <a:spLocks noChangeArrowheads="1"/>
          </p:cNvSpPr>
          <p:nvPr/>
        </p:nvSpPr>
        <p:spPr bwMode="auto">
          <a:xfrm>
            <a:off x="5410200" y="4495800"/>
            <a:ext cx="1752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envidia</a:t>
            </a:r>
          </a:p>
        </p:txBody>
      </p:sp>
      <p:sp>
        <p:nvSpPr>
          <p:cNvPr id="56329" name="Text Box 9"/>
          <p:cNvSpPr txBox="1">
            <a:spLocks noChangeArrowheads="1"/>
          </p:cNvSpPr>
          <p:nvPr/>
        </p:nvSpPr>
        <p:spPr bwMode="auto">
          <a:xfrm>
            <a:off x="5410200" y="5211763"/>
            <a:ext cx="1981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lavar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2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323"/>
                                        </p:tgtEl>
                                        <p:attrNameLst>
                                          <p:attrName>style.visibility</p:attrName>
                                        </p:attrNameLst>
                                      </p:cBhvr>
                                      <p:to>
                                        <p:strVal val="visible"/>
                                      </p:to>
                                    </p:set>
                                    <p:animEffect transition="in" filter="dissolve">
                                      <p:cBhvr>
                                        <p:cTn id="12" dur="500"/>
                                        <p:tgtEl>
                                          <p:spTgt spid="563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6324"/>
                                        </p:tgtEl>
                                        <p:attrNameLst>
                                          <p:attrName>style.visibility</p:attrName>
                                        </p:attrNameLst>
                                      </p:cBhvr>
                                      <p:to>
                                        <p:strVal val="visible"/>
                                      </p:to>
                                    </p:set>
                                    <p:animEffect transition="in" filter="dissolve">
                                      <p:cBhvr>
                                        <p:cTn id="17" dur="500"/>
                                        <p:tgtEl>
                                          <p:spTgt spid="563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325"/>
                                        </p:tgtEl>
                                        <p:attrNameLst>
                                          <p:attrName>style.visibility</p:attrName>
                                        </p:attrNameLst>
                                      </p:cBhvr>
                                      <p:to>
                                        <p:strVal val="visible"/>
                                      </p:to>
                                    </p:set>
                                    <p:animEffect transition="in" filter="dissolve">
                                      <p:cBhvr>
                                        <p:cTn id="22" dur="400"/>
                                        <p:tgtEl>
                                          <p:spTgt spid="563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6326"/>
                                        </p:tgtEl>
                                        <p:attrNameLst>
                                          <p:attrName>style.visibility</p:attrName>
                                        </p:attrNameLst>
                                      </p:cBhvr>
                                      <p:to>
                                        <p:strVal val="visible"/>
                                      </p:to>
                                    </p:set>
                                    <p:animEffect transition="in" filter="fade">
                                      <p:cBhvr>
                                        <p:cTn id="27" dur="300"/>
                                        <p:tgtEl>
                                          <p:spTgt spid="563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6328"/>
                                        </p:tgtEl>
                                        <p:attrNameLst>
                                          <p:attrName>style.visibility</p:attrName>
                                        </p:attrNameLst>
                                      </p:cBhvr>
                                      <p:to>
                                        <p:strVal val="visible"/>
                                      </p:to>
                                    </p:set>
                                    <p:animEffect transition="in" filter="fade">
                                      <p:cBhvr>
                                        <p:cTn id="32" dur="300"/>
                                        <p:tgtEl>
                                          <p:spTgt spid="563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6327"/>
                                        </p:tgtEl>
                                        <p:attrNameLst>
                                          <p:attrName>style.visibility</p:attrName>
                                        </p:attrNameLst>
                                      </p:cBhvr>
                                      <p:to>
                                        <p:strVal val="visible"/>
                                      </p:to>
                                    </p:set>
                                    <p:animEffect transition="in" filter="fade">
                                      <p:cBhvr>
                                        <p:cTn id="37" dur="300"/>
                                        <p:tgtEl>
                                          <p:spTgt spid="563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6329"/>
                                        </p:tgtEl>
                                        <p:attrNameLst>
                                          <p:attrName>style.visibility</p:attrName>
                                        </p:attrNameLst>
                                      </p:cBhvr>
                                      <p:to>
                                        <p:strVal val="visible"/>
                                      </p:to>
                                    </p:set>
                                    <p:animEffect transition="in" filter="fade">
                                      <p:cBhvr>
                                        <p:cTn id="42" dur="300"/>
                                        <p:tgtEl>
                                          <p:spTgt spid="56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nimBg="1"/>
      <p:bldP spid="56323" grpId="0" animBg="1"/>
      <p:bldP spid="56324" grpId="0" animBg="1"/>
      <p:bldP spid="56325" grpId="0"/>
      <p:bldP spid="56326" grpId="0"/>
      <p:bldP spid="56327" grpId="0"/>
      <p:bldP spid="56328" grpId="0"/>
      <p:bldP spid="563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WordArt 2" descr="Woven mat"/>
          <p:cNvSpPr>
            <a:spLocks noChangeArrowheads="1" noChangeShapeType="1" noTextEdit="1"/>
          </p:cNvSpPr>
          <p:nvPr/>
        </p:nvSpPr>
        <p:spPr bwMode="auto">
          <a:xfrm>
            <a:off x="1676400" y="4267200"/>
            <a:ext cx="1143000" cy="1295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2"/>
                  <a:srcRect/>
                  <a:tile tx="0" ty="0" sx="100000" sy="100000" flip="none" algn="tl"/>
                </a:blipFill>
                <a:latin typeface="Arial Black"/>
              </a:rPr>
              <a:t>v</a:t>
            </a:r>
          </a:p>
        </p:txBody>
      </p:sp>
      <p:sp>
        <p:nvSpPr>
          <p:cNvPr id="62467" name="WordArt 3" descr="Stationery"/>
          <p:cNvSpPr>
            <a:spLocks noChangeArrowheads="1" noChangeShapeType="1" noTextEdit="1"/>
          </p:cNvSpPr>
          <p:nvPr/>
        </p:nvSpPr>
        <p:spPr bwMode="auto">
          <a:xfrm>
            <a:off x="3429000" y="3962400"/>
            <a:ext cx="3733800" cy="9334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3"/>
                  <a:srcRect/>
                  <a:tile tx="0" ty="0" sx="100000" sy="100000" flip="none" algn="tl"/>
                </a:blipFill>
                <a:latin typeface="Modern No. 20"/>
              </a:rPr>
              <a:t>(ve chica)</a:t>
            </a:r>
          </a:p>
        </p:txBody>
      </p:sp>
      <p:sp>
        <p:nvSpPr>
          <p:cNvPr id="62469" name="WordArt 5" descr="Stationery"/>
          <p:cNvSpPr>
            <a:spLocks noChangeArrowheads="1" noChangeShapeType="1" noTextEdit="1"/>
          </p:cNvSpPr>
          <p:nvPr/>
        </p:nvSpPr>
        <p:spPr bwMode="auto">
          <a:xfrm>
            <a:off x="3429000" y="5010150"/>
            <a:ext cx="3810000" cy="9334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3"/>
                  <a:srcRect/>
                  <a:tile tx="0" ty="0" sx="100000" sy="100000" flip="none" algn="tl"/>
                </a:blipFill>
                <a:latin typeface="Modern No. 20"/>
              </a:rPr>
              <a:t>(v de vaca)</a:t>
            </a:r>
          </a:p>
        </p:txBody>
      </p:sp>
      <p:sp>
        <p:nvSpPr>
          <p:cNvPr id="62470" name="WordArt 6" descr="Woven mat"/>
          <p:cNvSpPr>
            <a:spLocks noChangeArrowheads="1" noChangeShapeType="1" noTextEdit="1"/>
          </p:cNvSpPr>
          <p:nvPr/>
        </p:nvSpPr>
        <p:spPr bwMode="auto">
          <a:xfrm>
            <a:off x="1676400" y="1600200"/>
            <a:ext cx="1143000" cy="1676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2"/>
                  <a:srcRect/>
                  <a:tile tx="0" ty="0" sx="100000" sy="100000" flip="none" algn="tl"/>
                </a:blipFill>
                <a:latin typeface="Arial Black"/>
              </a:rPr>
              <a:t>b</a:t>
            </a:r>
          </a:p>
        </p:txBody>
      </p:sp>
      <p:sp>
        <p:nvSpPr>
          <p:cNvPr id="62471" name="WordArt 7" descr="Stationery"/>
          <p:cNvSpPr>
            <a:spLocks noChangeArrowheads="1" noChangeShapeType="1" noTextEdit="1"/>
          </p:cNvSpPr>
          <p:nvPr/>
        </p:nvSpPr>
        <p:spPr bwMode="auto">
          <a:xfrm>
            <a:off x="3438525" y="1447800"/>
            <a:ext cx="3724275" cy="9334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3"/>
                  <a:srcRect/>
                  <a:tile tx="0" ty="0" sx="100000" sy="100000" flip="none" algn="tl"/>
                </a:blipFill>
                <a:latin typeface="Modern No. 20"/>
              </a:rPr>
              <a:t>(be grande)</a:t>
            </a:r>
          </a:p>
        </p:txBody>
      </p:sp>
      <p:sp>
        <p:nvSpPr>
          <p:cNvPr id="62472" name="WordArt 8" descr="Stationery"/>
          <p:cNvSpPr>
            <a:spLocks noChangeArrowheads="1" noChangeShapeType="1" noTextEdit="1"/>
          </p:cNvSpPr>
          <p:nvPr/>
        </p:nvSpPr>
        <p:spPr bwMode="auto">
          <a:xfrm>
            <a:off x="3438525" y="2514600"/>
            <a:ext cx="3952875" cy="9334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7200" kern="10">
                <a:ln w="9525">
                  <a:round/>
                  <a:headEnd/>
                  <a:tailEnd/>
                </a:ln>
                <a:blipFill dpi="0" rotWithShape="0">
                  <a:blip r:embed="rId3"/>
                  <a:srcRect/>
                  <a:tile tx="0" ty="0" sx="100000" sy="100000" flip="none" algn="tl"/>
                </a:blipFill>
                <a:latin typeface="Modern No. 20"/>
              </a:rPr>
              <a:t>(b de burro)</a:t>
            </a:r>
          </a:p>
        </p:txBody>
      </p:sp>
      <p:sp>
        <p:nvSpPr>
          <p:cNvPr id="62473" name="Line 9"/>
          <p:cNvSpPr>
            <a:spLocks noChangeShapeType="1"/>
          </p:cNvSpPr>
          <p:nvPr/>
        </p:nvSpPr>
        <p:spPr bwMode="auto">
          <a:xfrm>
            <a:off x="685800" y="3733800"/>
            <a:ext cx="7772400" cy="0"/>
          </a:xfrm>
          <a:prstGeom prst="line">
            <a:avLst/>
          </a:prstGeom>
          <a:noFill/>
          <a:ln w="38100">
            <a:solidFill>
              <a:srgbClr val="FFFFFF"/>
            </a:solidFill>
            <a:round/>
            <a:headEnd/>
            <a:tailEnd/>
          </a:ln>
          <a:effectLst/>
        </p:spPr>
        <p:txBody>
          <a:bodyPr/>
          <a:lstStyle/>
          <a:p>
            <a:endParaRPr lang="en-US"/>
          </a:p>
        </p:txBody>
      </p:sp>
      <p:sp>
        <p:nvSpPr>
          <p:cNvPr id="62474" name="Line 10"/>
          <p:cNvSpPr>
            <a:spLocks noChangeShapeType="1"/>
          </p:cNvSpPr>
          <p:nvPr/>
        </p:nvSpPr>
        <p:spPr bwMode="auto">
          <a:xfrm>
            <a:off x="5257800" y="3352800"/>
            <a:ext cx="457200" cy="0"/>
          </a:xfrm>
          <a:prstGeom prst="line">
            <a:avLst/>
          </a:prstGeom>
          <a:noFill/>
          <a:ln w="34925">
            <a:solidFill>
              <a:schemeClr val="tx1"/>
            </a:solidFill>
            <a:round/>
            <a:headEnd/>
            <a:tailEnd/>
          </a:ln>
          <a:effectLst/>
        </p:spPr>
        <p:txBody>
          <a:bodyPr/>
          <a:lstStyle/>
          <a:p>
            <a:endParaRPr lang="en-US"/>
          </a:p>
        </p:txBody>
      </p:sp>
      <p:sp>
        <p:nvSpPr>
          <p:cNvPr id="62475" name="Line 11"/>
          <p:cNvSpPr>
            <a:spLocks noChangeShapeType="1"/>
          </p:cNvSpPr>
          <p:nvPr/>
        </p:nvSpPr>
        <p:spPr bwMode="auto">
          <a:xfrm>
            <a:off x="5391150" y="5842000"/>
            <a:ext cx="409575" cy="0"/>
          </a:xfrm>
          <a:prstGeom prst="line">
            <a:avLst/>
          </a:prstGeom>
          <a:noFill/>
          <a:ln w="34925">
            <a:solidFill>
              <a:schemeClr val="tx1"/>
            </a:solidFill>
            <a:round/>
            <a:headEnd/>
            <a:tailEnd/>
          </a:ln>
          <a:effectLst/>
        </p:spPr>
        <p:txBody>
          <a:bodyPr/>
          <a:lstStyle/>
          <a:p>
            <a:endParaRPr lang="en-US"/>
          </a:p>
        </p:txBody>
      </p:sp>
      <p:sp>
        <p:nvSpPr>
          <p:cNvPr id="62476" name="Text Box 12"/>
          <p:cNvSpPr txBox="1">
            <a:spLocks noChangeArrowheads="1"/>
          </p:cNvSpPr>
          <p:nvPr/>
        </p:nvSpPr>
        <p:spPr bwMode="auto">
          <a:xfrm>
            <a:off x="304800" y="381000"/>
            <a:ext cx="8686800" cy="860425"/>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Since the “b” and the “v” sound exactly alike, we often distinguish between them by one of the following methods.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2476"/>
                                        </p:tgtEl>
                                        <p:attrNameLst>
                                          <p:attrName>style.visibility</p:attrName>
                                        </p:attrNameLst>
                                      </p:cBhvr>
                                      <p:to>
                                        <p:strVal val="visible"/>
                                      </p:to>
                                    </p:set>
                                    <p:animEffect transition="in" filter="dissolve">
                                      <p:cBhvr>
                                        <p:cTn id="7" dur="400"/>
                                        <p:tgtEl>
                                          <p:spTgt spid="624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470"/>
                                        </p:tgtEl>
                                        <p:attrNameLst>
                                          <p:attrName>style.visibility</p:attrName>
                                        </p:attrNameLst>
                                      </p:cBhvr>
                                      <p:to>
                                        <p:strVal val="visible"/>
                                      </p:to>
                                    </p:set>
                                    <p:animEffect transition="in" filter="dissolve">
                                      <p:cBhvr>
                                        <p:cTn id="12" dur="300"/>
                                        <p:tgtEl>
                                          <p:spTgt spid="624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71"/>
                                        </p:tgtEl>
                                        <p:attrNameLst>
                                          <p:attrName>style.visibility</p:attrName>
                                        </p:attrNameLst>
                                      </p:cBhvr>
                                      <p:to>
                                        <p:strVal val="visible"/>
                                      </p:to>
                                    </p:set>
                                    <p:animEffect transition="in" filter="wipe(left)">
                                      <p:cBhvr>
                                        <p:cTn id="17" dur="300"/>
                                        <p:tgtEl>
                                          <p:spTgt spid="624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72"/>
                                        </p:tgtEl>
                                        <p:attrNameLst>
                                          <p:attrName>style.visibility</p:attrName>
                                        </p:attrNameLst>
                                      </p:cBhvr>
                                      <p:to>
                                        <p:strVal val="visible"/>
                                      </p:to>
                                    </p:set>
                                    <p:animEffect transition="in" filter="wipe(left)">
                                      <p:cBhvr>
                                        <p:cTn id="22" dur="300"/>
                                        <p:tgtEl>
                                          <p:spTgt spid="62472"/>
                                        </p:tgtEl>
                                      </p:cBhvr>
                                    </p:animEffect>
                                  </p:childTnLst>
                                </p:cTn>
                              </p:par>
                            </p:childTnLst>
                          </p:cTn>
                        </p:par>
                        <p:par>
                          <p:cTn id="23" fill="hold">
                            <p:stCondLst>
                              <p:cond delay="300"/>
                            </p:stCondLst>
                            <p:childTnLst>
                              <p:par>
                                <p:cTn id="24" presetID="22" presetClass="entr" presetSubtype="8" fill="hold" grpId="0" nodeType="afterEffect">
                                  <p:stCondLst>
                                    <p:cond delay="0"/>
                                  </p:stCondLst>
                                  <p:childTnLst>
                                    <p:set>
                                      <p:cBhvr>
                                        <p:cTn id="25" dur="1" fill="hold">
                                          <p:stCondLst>
                                            <p:cond delay="0"/>
                                          </p:stCondLst>
                                        </p:cTn>
                                        <p:tgtEl>
                                          <p:spTgt spid="62474"/>
                                        </p:tgtEl>
                                        <p:attrNameLst>
                                          <p:attrName>style.visibility</p:attrName>
                                        </p:attrNameLst>
                                      </p:cBhvr>
                                      <p:to>
                                        <p:strVal val="visible"/>
                                      </p:to>
                                    </p:set>
                                    <p:animEffect transition="in" filter="wipe(left)">
                                      <p:cBhvr>
                                        <p:cTn id="26" dur="300"/>
                                        <p:tgtEl>
                                          <p:spTgt spid="6247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2473"/>
                                        </p:tgtEl>
                                        <p:attrNameLst>
                                          <p:attrName>style.visibility</p:attrName>
                                        </p:attrNameLst>
                                      </p:cBhvr>
                                      <p:to>
                                        <p:strVal val="visible"/>
                                      </p:to>
                                    </p:set>
                                    <p:animEffect transition="in" filter="wipe(left)">
                                      <p:cBhvr>
                                        <p:cTn id="31" dur="500"/>
                                        <p:tgtEl>
                                          <p:spTgt spid="6247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62466"/>
                                        </p:tgtEl>
                                        <p:attrNameLst>
                                          <p:attrName>style.visibility</p:attrName>
                                        </p:attrNameLst>
                                      </p:cBhvr>
                                      <p:to>
                                        <p:strVal val="visible"/>
                                      </p:to>
                                    </p:set>
                                    <p:animEffect transition="in" filter="dissolve">
                                      <p:cBhvr>
                                        <p:cTn id="36" dur="300"/>
                                        <p:tgtEl>
                                          <p:spTgt spid="6246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2467"/>
                                        </p:tgtEl>
                                        <p:attrNameLst>
                                          <p:attrName>style.visibility</p:attrName>
                                        </p:attrNameLst>
                                      </p:cBhvr>
                                      <p:to>
                                        <p:strVal val="visible"/>
                                      </p:to>
                                    </p:set>
                                    <p:animEffect transition="in" filter="wipe(left)">
                                      <p:cBhvr>
                                        <p:cTn id="41" dur="300"/>
                                        <p:tgtEl>
                                          <p:spTgt spid="6246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2469"/>
                                        </p:tgtEl>
                                        <p:attrNameLst>
                                          <p:attrName>style.visibility</p:attrName>
                                        </p:attrNameLst>
                                      </p:cBhvr>
                                      <p:to>
                                        <p:strVal val="visible"/>
                                      </p:to>
                                    </p:set>
                                    <p:animEffect transition="in" filter="wipe(left)">
                                      <p:cBhvr>
                                        <p:cTn id="46" dur="300"/>
                                        <p:tgtEl>
                                          <p:spTgt spid="62469"/>
                                        </p:tgtEl>
                                      </p:cBhvr>
                                    </p:animEffect>
                                  </p:childTnLst>
                                </p:cTn>
                              </p:par>
                            </p:childTnLst>
                          </p:cTn>
                        </p:par>
                        <p:par>
                          <p:cTn id="47" fill="hold">
                            <p:stCondLst>
                              <p:cond delay="300"/>
                            </p:stCondLst>
                            <p:childTnLst>
                              <p:par>
                                <p:cTn id="48" presetID="22" presetClass="entr" presetSubtype="8" fill="hold" grpId="0" nodeType="afterEffect">
                                  <p:stCondLst>
                                    <p:cond delay="0"/>
                                  </p:stCondLst>
                                  <p:childTnLst>
                                    <p:set>
                                      <p:cBhvr>
                                        <p:cTn id="49" dur="1" fill="hold">
                                          <p:stCondLst>
                                            <p:cond delay="0"/>
                                          </p:stCondLst>
                                        </p:cTn>
                                        <p:tgtEl>
                                          <p:spTgt spid="62475"/>
                                        </p:tgtEl>
                                        <p:attrNameLst>
                                          <p:attrName>style.visibility</p:attrName>
                                        </p:attrNameLst>
                                      </p:cBhvr>
                                      <p:to>
                                        <p:strVal val="visible"/>
                                      </p:to>
                                    </p:set>
                                    <p:animEffect transition="in" filter="wipe(left)">
                                      <p:cBhvr>
                                        <p:cTn id="50" dur="300"/>
                                        <p:tgtEl>
                                          <p:spTgt spid="62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nimBg="1"/>
      <p:bldP spid="62467" grpId="0" animBg="1"/>
      <p:bldP spid="62469" grpId="0" animBg="1"/>
      <p:bldP spid="62470" grpId="0" animBg="1"/>
      <p:bldP spid="62471" grpId="0" animBg="1"/>
      <p:bldP spid="62472" grpId="0" animBg="1"/>
      <p:bldP spid="62473" grpId="0" animBg="1"/>
      <p:bldP spid="62474" grpId="0" animBg="1"/>
      <p:bldP spid="62475" grpId="0" animBg="1"/>
      <p:bldP spid="6247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WordArt 2" descr="Woven mat"/>
          <p:cNvSpPr>
            <a:spLocks noChangeArrowheads="1" noChangeShapeType="1" noTextEdit="1"/>
          </p:cNvSpPr>
          <p:nvPr/>
        </p:nvSpPr>
        <p:spPr bwMode="auto">
          <a:xfrm>
            <a:off x="1295400" y="1219200"/>
            <a:ext cx="19050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w</a:t>
            </a:r>
          </a:p>
        </p:txBody>
      </p:sp>
      <p:sp>
        <p:nvSpPr>
          <p:cNvPr id="57347" name="WordArt 3" descr="Stationery"/>
          <p:cNvSpPr>
            <a:spLocks noChangeArrowheads="1" noChangeShapeType="1" noTextEdit="1"/>
          </p:cNvSpPr>
          <p:nvPr/>
        </p:nvSpPr>
        <p:spPr bwMode="auto">
          <a:xfrm>
            <a:off x="3810000" y="381000"/>
            <a:ext cx="3733800" cy="1066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(doble ve)</a:t>
            </a:r>
          </a:p>
        </p:txBody>
      </p:sp>
      <p:sp>
        <p:nvSpPr>
          <p:cNvPr id="57348" name="WordArt 4" descr="Stationery"/>
          <p:cNvSpPr>
            <a:spLocks noChangeArrowheads="1" noChangeShapeType="1" noTextEdit="1"/>
          </p:cNvSpPr>
          <p:nvPr/>
        </p:nvSpPr>
        <p:spPr bwMode="auto">
          <a:xfrm>
            <a:off x="3810000" y="1600200"/>
            <a:ext cx="3810000" cy="1066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(uve doble)</a:t>
            </a:r>
          </a:p>
        </p:txBody>
      </p:sp>
      <p:sp>
        <p:nvSpPr>
          <p:cNvPr id="57349" name="WordArt 5" descr="Stationery"/>
          <p:cNvSpPr>
            <a:spLocks noChangeArrowheads="1" noChangeShapeType="1" noTextEdit="1"/>
          </p:cNvSpPr>
          <p:nvPr/>
        </p:nvSpPr>
        <p:spPr bwMode="auto">
          <a:xfrm>
            <a:off x="3810000" y="2895600"/>
            <a:ext cx="3276600" cy="1066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(doble u)</a:t>
            </a:r>
          </a:p>
        </p:txBody>
      </p:sp>
      <p:sp>
        <p:nvSpPr>
          <p:cNvPr id="57351" name="Text Box 7"/>
          <p:cNvSpPr txBox="1">
            <a:spLocks noChangeArrowheads="1"/>
          </p:cNvSpPr>
          <p:nvPr/>
        </p:nvSpPr>
        <p:spPr bwMode="auto">
          <a:xfrm>
            <a:off x="1447800" y="4114800"/>
            <a:ext cx="7239000" cy="749300"/>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The “w” is a letter borrowed from English and is found only in words borrowed from other languages.</a:t>
            </a:r>
          </a:p>
        </p:txBody>
      </p:sp>
      <p:sp>
        <p:nvSpPr>
          <p:cNvPr id="57352" name="Text Box 8"/>
          <p:cNvSpPr txBox="1">
            <a:spLocks noChangeArrowheads="1"/>
          </p:cNvSpPr>
          <p:nvPr/>
        </p:nvSpPr>
        <p:spPr bwMode="auto">
          <a:xfrm>
            <a:off x="1371600" y="5105400"/>
            <a:ext cx="15240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whisky</a:t>
            </a:r>
          </a:p>
        </p:txBody>
      </p:sp>
      <p:sp>
        <p:nvSpPr>
          <p:cNvPr id="57353" name="Text Box 9"/>
          <p:cNvSpPr txBox="1">
            <a:spLocks noChangeArrowheads="1"/>
          </p:cNvSpPr>
          <p:nvPr/>
        </p:nvSpPr>
        <p:spPr bwMode="auto">
          <a:xfrm>
            <a:off x="3657600" y="51054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wélter</a:t>
            </a:r>
          </a:p>
        </p:txBody>
      </p:sp>
      <p:sp>
        <p:nvSpPr>
          <p:cNvPr id="57354" name="Text Box 10"/>
          <p:cNvSpPr txBox="1">
            <a:spLocks noChangeArrowheads="1"/>
          </p:cNvSpPr>
          <p:nvPr/>
        </p:nvSpPr>
        <p:spPr bwMode="auto">
          <a:xfrm>
            <a:off x="5867400" y="5105400"/>
            <a:ext cx="2514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wáter (closet)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200"/>
                                        <p:tgtEl>
                                          <p:spTgt spid="573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347"/>
                                        </p:tgtEl>
                                        <p:attrNameLst>
                                          <p:attrName>style.visibility</p:attrName>
                                        </p:attrNameLst>
                                      </p:cBhvr>
                                      <p:to>
                                        <p:strVal val="visible"/>
                                      </p:to>
                                    </p:set>
                                    <p:animEffect transition="in" filter="dissolve">
                                      <p:cBhvr>
                                        <p:cTn id="12" dur="500"/>
                                        <p:tgtEl>
                                          <p:spTgt spid="573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dissolve">
                                      <p:cBhvr>
                                        <p:cTn id="17" dur="500"/>
                                        <p:tgtEl>
                                          <p:spTgt spid="5734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7349"/>
                                        </p:tgtEl>
                                        <p:attrNameLst>
                                          <p:attrName>style.visibility</p:attrName>
                                        </p:attrNameLst>
                                      </p:cBhvr>
                                      <p:to>
                                        <p:strVal val="visible"/>
                                      </p:to>
                                    </p:set>
                                    <p:animEffect transition="in" filter="dissolve">
                                      <p:cBhvr>
                                        <p:cTn id="22" dur="500"/>
                                        <p:tgtEl>
                                          <p:spTgt spid="5734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7351"/>
                                        </p:tgtEl>
                                        <p:attrNameLst>
                                          <p:attrName>style.visibility</p:attrName>
                                        </p:attrNameLst>
                                      </p:cBhvr>
                                      <p:to>
                                        <p:strVal val="visible"/>
                                      </p:to>
                                    </p:set>
                                    <p:animEffect transition="in" filter="dissolve">
                                      <p:cBhvr>
                                        <p:cTn id="27" dur="400"/>
                                        <p:tgtEl>
                                          <p:spTgt spid="573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7352"/>
                                        </p:tgtEl>
                                        <p:attrNameLst>
                                          <p:attrName>style.visibility</p:attrName>
                                        </p:attrNameLst>
                                      </p:cBhvr>
                                      <p:to>
                                        <p:strVal val="visible"/>
                                      </p:to>
                                    </p:set>
                                    <p:animEffect transition="in" filter="fade">
                                      <p:cBhvr>
                                        <p:cTn id="32" dur="300"/>
                                        <p:tgtEl>
                                          <p:spTgt spid="573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7353"/>
                                        </p:tgtEl>
                                        <p:attrNameLst>
                                          <p:attrName>style.visibility</p:attrName>
                                        </p:attrNameLst>
                                      </p:cBhvr>
                                      <p:to>
                                        <p:strVal val="visible"/>
                                      </p:to>
                                    </p:set>
                                    <p:animEffect transition="in" filter="fade">
                                      <p:cBhvr>
                                        <p:cTn id="37" dur="300"/>
                                        <p:tgtEl>
                                          <p:spTgt spid="5735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7354"/>
                                        </p:tgtEl>
                                        <p:attrNameLst>
                                          <p:attrName>style.visibility</p:attrName>
                                        </p:attrNameLst>
                                      </p:cBhvr>
                                      <p:to>
                                        <p:strVal val="visible"/>
                                      </p:to>
                                    </p:set>
                                    <p:animEffect transition="in" filter="fade">
                                      <p:cBhvr>
                                        <p:cTn id="42" dur="300"/>
                                        <p:tgtEl>
                                          <p:spTgt spid="57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nimBg="1"/>
      <p:bldP spid="57347" grpId="0" animBg="1"/>
      <p:bldP spid="57348" grpId="0" animBg="1"/>
      <p:bldP spid="57349" grpId="0" animBg="1"/>
      <p:bldP spid="57351" grpId="0"/>
      <p:bldP spid="57352" grpId="0"/>
      <p:bldP spid="57353" grpId="0"/>
      <p:bldP spid="5735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WordArt 2" descr="Woven mat"/>
          <p:cNvSpPr>
            <a:spLocks noChangeArrowheads="1" noChangeShapeType="1" noTextEdit="1"/>
          </p:cNvSpPr>
          <p:nvPr/>
        </p:nvSpPr>
        <p:spPr bwMode="auto">
          <a:xfrm>
            <a:off x="2209800" y="838200"/>
            <a:ext cx="14478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x</a:t>
            </a:r>
          </a:p>
        </p:txBody>
      </p:sp>
      <p:sp>
        <p:nvSpPr>
          <p:cNvPr id="58371" name="WordArt 3" descr="Stationery"/>
          <p:cNvSpPr>
            <a:spLocks noChangeArrowheads="1" noChangeShapeType="1" noTextEdit="1"/>
          </p:cNvSpPr>
          <p:nvPr/>
        </p:nvSpPr>
        <p:spPr bwMode="auto">
          <a:xfrm>
            <a:off x="4419600" y="1143000"/>
            <a:ext cx="2971800" cy="1295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(equis)</a:t>
            </a:r>
          </a:p>
        </p:txBody>
      </p:sp>
      <p:sp>
        <p:nvSpPr>
          <p:cNvPr id="58376" name="Text Box 8"/>
          <p:cNvSpPr txBox="1">
            <a:spLocks noChangeArrowheads="1"/>
          </p:cNvSpPr>
          <p:nvPr/>
        </p:nvSpPr>
        <p:spPr bwMode="auto">
          <a:xfrm>
            <a:off x="2057400" y="2743200"/>
            <a:ext cx="5638800" cy="47625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“x” is pretty much as in English.</a:t>
            </a:r>
          </a:p>
        </p:txBody>
      </p:sp>
      <p:sp>
        <p:nvSpPr>
          <p:cNvPr id="58377" name="Text Box 9"/>
          <p:cNvSpPr txBox="1">
            <a:spLocks noChangeArrowheads="1"/>
          </p:cNvSpPr>
          <p:nvPr/>
        </p:nvSpPr>
        <p:spPr bwMode="auto">
          <a:xfrm>
            <a:off x="1447800" y="32766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examen</a:t>
            </a:r>
          </a:p>
        </p:txBody>
      </p:sp>
      <p:sp>
        <p:nvSpPr>
          <p:cNvPr id="58378" name="Text Box 10"/>
          <p:cNvSpPr txBox="1">
            <a:spLocks noChangeArrowheads="1"/>
          </p:cNvSpPr>
          <p:nvPr/>
        </p:nvSpPr>
        <p:spPr bwMode="auto">
          <a:xfrm>
            <a:off x="3965575" y="3276600"/>
            <a:ext cx="1474788"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exacto</a:t>
            </a:r>
          </a:p>
        </p:txBody>
      </p:sp>
      <p:sp>
        <p:nvSpPr>
          <p:cNvPr id="58379" name="Text Box 11"/>
          <p:cNvSpPr txBox="1">
            <a:spLocks noChangeArrowheads="1"/>
          </p:cNvSpPr>
          <p:nvPr/>
        </p:nvSpPr>
        <p:spPr bwMode="auto">
          <a:xfrm>
            <a:off x="6359525" y="3276600"/>
            <a:ext cx="1489075"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auxilio</a:t>
            </a:r>
          </a:p>
        </p:txBody>
      </p:sp>
      <p:sp>
        <p:nvSpPr>
          <p:cNvPr id="58380" name="Text Box 12"/>
          <p:cNvSpPr txBox="1">
            <a:spLocks noChangeArrowheads="1"/>
          </p:cNvSpPr>
          <p:nvPr/>
        </p:nvSpPr>
        <p:spPr bwMode="auto">
          <a:xfrm>
            <a:off x="990600" y="3886200"/>
            <a:ext cx="7924800" cy="749300"/>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However, in words derived from indigenous languages, it is like a “j” when intervocalic . . .</a:t>
            </a:r>
          </a:p>
        </p:txBody>
      </p:sp>
      <p:sp>
        <p:nvSpPr>
          <p:cNvPr id="58381" name="Text Box 13"/>
          <p:cNvSpPr txBox="1">
            <a:spLocks noChangeArrowheads="1"/>
          </p:cNvSpPr>
          <p:nvPr/>
        </p:nvSpPr>
        <p:spPr bwMode="auto">
          <a:xfrm>
            <a:off x="2971800" y="4559300"/>
            <a:ext cx="16002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México</a:t>
            </a:r>
          </a:p>
        </p:txBody>
      </p:sp>
      <p:sp>
        <p:nvSpPr>
          <p:cNvPr id="58382" name="Text Box 14"/>
          <p:cNvSpPr txBox="1">
            <a:spLocks noChangeArrowheads="1"/>
          </p:cNvSpPr>
          <p:nvPr/>
        </p:nvSpPr>
        <p:spPr bwMode="auto">
          <a:xfrm>
            <a:off x="5489575" y="4559300"/>
            <a:ext cx="1246188"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mixe</a:t>
            </a:r>
          </a:p>
        </p:txBody>
      </p:sp>
      <p:sp>
        <p:nvSpPr>
          <p:cNvPr id="58383" name="Text Box 15"/>
          <p:cNvSpPr txBox="1">
            <a:spLocks noChangeArrowheads="1"/>
          </p:cNvSpPr>
          <p:nvPr/>
        </p:nvSpPr>
        <p:spPr bwMode="auto">
          <a:xfrm>
            <a:off x="990600" y="5105400"/>
            <a:ext cx="4572000" cy="420688"/>
          </a:xfrm>
          <a:prstGeom prst="rect">
            <a:avLst/>
          </a:prstGeom>
          <a:noFill/>
          <a:ln w="9525">
            <a:noFill/>
            <a:miter lim="800000"/>
            <a:headEnd/>
            <a:tailEnd/>
          </a:ln>
          <a:effectLst/>
        </p:spPr>
        <p:txBody>
          <a:bodyPr>
            <a:spAutoFit/>
          </a:bodyPr>
          <a:lstStyle/>
          <a:p>
            <a:pPr>
              <a:lnSpc>
                <a:spcPct val="90000"/>
              </a:lnSpc>
              <a:spcBef>
                <a:spcPct val="50000"/>
              </a:spcBef>
            </a:pPr>
            <a:r>
              <a:rPr lang="en-US">
                <a:solidFill>
                  <a:schemeClr val="bg1"/>
                </a:solidFill>
              </a:rPr>
              <a:t>. . . and like an “s” when initial.</a:t>
            </a:r>
          </a:p>
        </p:txBody>
      </p:sp>
      <p:sp>
        <p:nvSpPr>
          <p:cNvPr id="58384" name="Text Box 16"/>
          <p:cNvSpPr txBox="1">
            <a:spLocks noChangeArrowheads="1"/>
          </p:cNvSpPr>
          <p:nvPr/>
        </p:nvSpPr>
        <p:spPr bwMode="auto">
          <a:xfrm>
            <a:off x="3886200" y="5503863"/>
            <a:ext cx="2209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Xochimilco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wipe(left)">
                                      <p:cBhvr>
                                        <p:cTn id="7" dur="2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71"/>
                                        </p:tgtEl>
                                        <p:attrNameLst>
                                          <p:attrName>style.visibility</p:attrName>
                                        </p:attrNameLst>
                                      </p:cBhvr>
                                      <p:to>
                                        <p:strVal val="visible"/>
                                      </p:to>
                                    </p:set>
                                    <p:animEffect transition="in" filter="dissolve">
                                      <p:cBhvr>
                                        <p:cTn id="12" dur="500"/>
                                        <p:tgtEl>
                                          <p:spTgt spid="5837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76"/>
                                        </p:tgtEl>
                                        <p:attrNameLst>
                                          <p:attrName>style.visibility</p:attrName>
                                        </p:attrNameLst>
                                      </p:cBhvr>
                                      <p:to>
                                        <p:strVal val="visible"/>
                                      </p:to>
                                    </p:set>
                                    <p:animEffect transition="in" filter="dissolve">
                                      <p:cBhvr>
                                        <p:cTn id="17" dur="400"/>
                                        <p:tgtEl>
                                          <p:spTgt spid="5837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8377"/>
                                        </p:tgtEl>
                                        <p:attrNameLst>
                                          <p:attrName>style.visibility</p:attrName>
                                        </p:attrNameLst>
                                      </p:cBhvr>
                                      <p:to>
                                        <p:strVal val="visible"/>
                                      </p:to>
                                    </p:set>
                                    <p:animEffect transition="in" filter="fade">
                                      <p:cBhvr>
                                        <p:cTn id="22" dur="300"/>
                                        <p:tgtEl>
                                          <p:spTgt spid="5837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8378"/>
                                        </p:tgtEl>
                                        <p:attrNameLst>
                                          <p:attrName>style.visibility</p:attrName>
                                        </p:attrNameLst>
                                      </p:cBhvr>
                                      <p:to>
                                        <p:strVal val="visible"/>
                                      </p:to>
                                    </p:set>
                                    <p:animEffect transition="in" filter="fade">
                                      <p:cBhvr>
                                        <p:cTn id="27" dur="300"/>
                                        <p:tgtEl>
                                          <p:spTgt spid="5837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8379"/>
                                        </p:tgtEl>
                                        <p:attrNameLst>
                                          <p:attrName>style.visibility</p:attrName>
                                        </p:attrNameLst>
                                      </p:cBhvr>
                                      <p:to>
                                        <p:strVal val="visible"/>
                                      </p:to>
                                    </p:set>
                                    <p:animEffect transition="in" filter="fade">
                                      <p:cBhvr>
                                        <p:cTn id="32" dur="300"/>
                                        <p:tgtEl>
                                          <p:spTgt spid="5837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8380"/>
                                        </p:tgtEl>
                                        <p:attrNameLst>
                                          <p:attrName>style.visibility</p:attrName>
                                        </p:attrNameLst>
                                      </p:cBhvr>
                                      <p:to>
                                        <p:strVal val="visible"/>
                                      </p:to>
                                    </p:set>
                                    <p:animEffect transition="in" filter="dissolve">
                                      <p:cBhvr>
                                        <p:cTn id="37" dur="400"/>
                                        <p:tgtEl>
                                          <p:spTgt spid="5838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8381"/>
                                        </p:tgtEl>
                                        <p:attrNameLst>
                                          <p:attrName>style.visibility</p:attrName>
                                        </p:attrNameLst>
                                      </p:cBhvr>
                                      <p:to>
                                        <p:strVal val="visible"/>
                                      </p:to>
                                    </p:set>
                                    <p:animEffect transition="in" filter="fade">
                                      <p:cBhvr>
                                        <p:cTn id="42" dur="300"/>
                                        <p:tgtEl>
                                          <p:spTgt spid="5838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8382"/>
                                        </p:tgtEl>
                                        <p:attrNameLst>
                                          <p:attrName>style.visibility</p:attrName>
                                        </p:attrNameLst>
                                      </p:cBhvr>
                                      <p:to>
                                        <p:strVal val="visible"/>
                                      </p:to>
                                    </p:set>
                                    <p:animEffect transition="in" filter="fade">
                                      <p:cBhvr>
                                        <p:cTn id="47" dur="300"/>
                                        <p:tgtEl>
                                          <p:spTgt spid="5838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8383"/>
                                        </p:tgtEl>
                                        <p:attrNameLst>
                                          <p:attrName>style.visibility</p:attrName>
                                        </p:attrNameLst>
                                      </p:cBhvr>
                                      <p:to>
                                        <p:strVal val="visible"/>
                                      </p:to>
                                    </p:set>
                                    <p:animEffect transition="in" filter="dissolve">
                                      <p:cBhvr>
                                        <p:cTn id="52" dur="400"/>
                                        <p:tgtEl>
                                          <p:spTgt spid="5838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8384"/>
                                        </p:tgtEl>
                                        <p:attrNameLst>
                                          <p:attrName>style.visibility</p:attrName>
                                        </p:attrNameLst>
                                      </p:cBhvr>
                                      <p:to>
                                        <p:strVal val="visible"/>
                                      </p:to>
                                    </p:set>
                                    <p:animEffect transition="in" filter="fade">
                                      <p:cBhvr>
                                        <p:cTn id="57" dur="300"/>
                                        <p:tgtEl>
                                          <p:spTgt spid="58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1" grpId="0" animBg="1"/>
      <p:bldP spid="58376" grpId="0"/>
      <p:bldP spid="58377" grpId="0"/>
      <p:bldP spid="58378" grpId="0"/>
      <p:bldP spid="58379" grpId="0"/>
      <p:bldP spid="58380" grpId="0"/>
      <p:bldP spid="58381" grpId="0"/>
      <p:bldP spid="58382" grpId="0"/>
      <p:bldP spid="58383" grpId="0"/>
      <p:bldP spid="5838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WordArt 2" descr="Woven mat"/>
          <p:cNvSpPr>
            <a:spLocks noChangeArrowheads="1" noChangeShapeType="1" noTextEdit="1"/>
          </p:cNvSpPr>
          <p:nvPr/>
        </p:nvSpPr>
        <p:spPr bwMode="auto">
          <a:xfrm>
            <a:off x="1676400" y="914400"/>
            <a:ext cx="1524000" cy="1828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y</a:t>
            </a:r>
          </a:p>
        </p:txBody>
      </p:sp>
      <p:sp>
        <p:nvSpPr>
          <p:cNvPr id="59395" name="WordArt 3" descr="Stationery"/>
          <p:cNvSpPr>
            <a:spLocks noChangeArrowheads="1" noChangeShapeType="1" noTextEdit="1"/>
          </p:cNvSpPr>
          <p:nvPr/>
        </p:nvSpPr>
        <p:spPr bwMode="auto">
          <a:xfrm>
            <a:off x="3733800" y="1219200"/>
            <a:ext cx="3962400" cy="1295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(i griega)</a:t>
            </a:r>
          </a:p>
        </p:txBody>
      </p:sp>
      <p:sp>
        <p:nvSpPr>
          <p:cNvPr id="59396" name="Text Box 4"/>
          <p:cNvSpPr txBox="1">
            <a:spLocks noChangeArrowheads="1"/>
          </p:cNvSpPr>
          <p:nvPr/>
        </p:nvSpPr>
        <p:spPr bwMode="auto">
          <a:xfrm>
            <a:off x="533400" y="2971800"/>
            <a:ext cx="8305800" cy="806450"/>
          </a:xfrm>
          <a:prstGeom prst="rect">
            <a:avLst/>
          </a:prstGeom>
          <a:noFill/>
          <a:ln w="9525">
            <a:noFill/>
            <a:miter lim="800000"/>
            <a:headEnd/>
            <a:tailEnd/>
          </a:ln>
          <a:effectLst/>
        </p:spPr>
        <p:txBody>
          <a:bodyPr>
            <a:spAutoFit/>
          </a:bodyPr>
          <a:lstStyle/>
          <a:p>
            <a:pPr>
              <a:lnSpc>
                <a:spcPct val="90000"/>
              </a:lnSpc>
              <a:spcBef>
                <a:spcPct val="50000"/>
              </a:spcBef>
            </a:pPr>
            <a:r>
              <a:rPr lang="en-US" sz="2600">
                <a:solidFill>
                  <a:schemeClr val="bg1"/>
                </a:solidFill>
              </a:rPr>
              <a:t>The “y,” when word-final, acts as a semivowel, that is, it has a sound similar to the vowel “i.”</a:t>
            </a:r>
          </a:p>
        </p:txBody>
      </p:sp>
      <p:sp>
        <p:nvSpPr>
          <p:cNvPr id="59397" name="Text Box 5"/>
          <p:cNvSpPr txBox="1">
            <a:spLocks noChangeArrowheads="1"/>
          </p:cNvSpPr>
          <p:nvPr/>
        </p:nvSpPr>
        <p:spPr bwMode="auto">
          <a:xfrm>
            <a:off x="2514600" y="3810000"/>
            <a:ext cx="22098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Voy</a:t>
            </a:r>
          </a:p>
        </p:txBody>
      </p:sp>
      <p:sp>
        <p:nvSpPr>
          <p:cNvPr id="59398" name="Text Box 6"/>
          <p:cNvSpPr txBox="1">
            <a:spLocks noChangeArrowheads="1"/>
          </p:cNvSpPr>
          <p:nvPr/>
        </p:nvSpPr>
        <p:spPr bwMode="auto">
          <a:xfrm>
            <a:off x="2590800" y="5364163"/>
            <a:ext cx="8382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ya</a:t>
            </a:r>
          </a:p>
        </p:txBody>
      </p:sp>
      <p:sp>
        <p:nvSpPr>
          <p:cNvPr id="59399" name="Text Box 7"/>
          <p:cNvSpPr txBox="1">
            <a:spLocks noChangeArrowheads="1"/>
          </p:cNvSpPr>
          <p:nvPr/>
        </p:nvSpPr>
        <p:spPr bwMode="auto">
          <a:xfrm>
            <a:off x="5486400" y="3810000"/>
            <a:ext cx="1752600" cy="579438"/>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rey</a:t>
            </a:r>
          </a:p>
        </p:txBody>
      </p:sp>
      <p:sp>
        <p:nvSpPr>
          <p:cNvPr id="59400" name="Text Box 8"/>
          <p:cNvSpPr txBox="1">
            <a:spLocks noChangeArrowheads="1"/>
          </p:cNvSpPr>
          <p:nvPr/>
        </p:nvSpPr>
        <p:spPr bwMode="auto">
          <a:xfrm>
            <a:off x="5562600" y="5364163"/>
            <a:ext cx="1066800" cy="579437"/>
          </a:xfrm>
          <a:prstGeom prst="rect">
            <a:avLst/>
          </a:prstGeom>
          <a:noFill/>
          <a:ln w="9525">
            <a:noFill/>
            <a:miter lim="800000"/>
            <a:headEnd/>
            <a:tailEnd/>
          </a:ln>
          <a:effectLst/>
        </p:spPr>
        <p:txBody>
          <a:bodyPr>
            <a:spAutoFit/>
          </a:bodyPr>
          <a:lstStyle/>
          <a:p>
            <a:pPr>
              <a:spcBef>
                <a:spcPct val="50000"/>
              </a:spcBef>
            </a:pPr>
            <a:r>
              <a:rPr lang="en-US" sz="3200">
                <a:solidFill>
                  <a:schemeClr val="bg1"/>
                </a:solidFill>
              </a:rPr>
              <a:t>rayo</a:t>
            </a:r>
          </a:p>
        </p:txBody>
      </p:sp>
      <p:sp>
        <p:nvSpPr>
          <p:cNvPr id="59401" name="Text Box 9"/>
          <p:cNvSpPr txBox="1">
            <a:spLocks noChangeArrowheads="1"/>
          </p:cNvSpPr>
          <p:nvPr/>
        </p:nvSpPr>
        <p:spPr bwMode="auto">
          <a:xfrm>
            <a:off x="533400" y="4481513"/>
            <a:ext cx="8305800" cy="806450"/>
          </a:xfrm>
          <a:prstGeom prst="rect">
            <a:avLst/>
          </a:prstGeom>
          <a:noFill/>
          <a:ln w="9525">
            <a:noFill/>
            <a:miter lim="800000"/>
            <a:headEnd/>
            <a:tailEnd/>
          </a:ln>
          <a:effectLst/>
        </p:spPr>
        <p:txBody>
          <a:bodyPr>
            <a:spAutoFit/>
          </a:bodyPr>
          <a:lstStyle/>
          <a:p>
            <a:pPr>
              <a:lnSpc>
                <a:spcPct val="90000"/>
              </a:lnSpc>
              <a:spcBef>
                <a:spcPct val="50000"/>
              </a:spcBef>
            </a:pPr>
            <a:r>
              <a:rPr lang="en-US" sz="2600">
                <a:solidFill>
                  <a:schemeClr val="bg1"/>
                </a:solidFill>
              </a:rPr>
              <a:t>When word-initial or intervocalic, it functions as a consonant and sounds like the y in English.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wipe(left)">
                                      <p:cBhvr>
                                        <p:cTn id="7" dur="200"/>
                                        <p:tgtEl>
                                          <p:spTgt spid="593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395"/>
                                        </p:tgtEl>
                                        <p:attrNameLst>
                                          <p:attrName>style.visibility</p:attrName>
                                        </p:attrNameLst>
                                      </p:cBhvr>
                                      <p:to>
                                        <p:strVal val="visible"/>
                                      </p:to>
                                    </p:set>
                                    <p:animEffect transition="in" filter="dissolve">
                                      <p:cBhvr>
                                        <p:cTn id="12" dur="500"/>
                                        <p:tgtEl>
                                          <p:spTgt spid="5939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396"/>
                                        </p:tgtEl>
                                        <p:attrNameLst>
                                          <p:attrName>style.visibility</p:attrName>
                                        </p:attrNameLst>
                                      </p:cBhvr>
                                      <p:to>
                                        <p:strVal val="visible"/>
                                      </p:to>
                                    </p:set>
                                    <p:animEffect transition="in" filter="dissolve">
                                      <p:cBhvr>
                                        <p:cTn id="17" dur="400"/>
                                        <p:tgtEl>
                                          <p:spTgt spid="593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9397"/>
                                        </p:tgtEl>
                                        <p:attrNameLst>
                                          <p:attrName>style.visibility</p:attrName>
                                        </p:attrNameLst>
                                      </p:cBhvr>
                                      <p:to>
                                        <p:strVal val="visible"/>
                                      </p:to>
                                    </p:set>
                                    <p:animEffect transition="in" filter="fade">
                                      <p:cBhvr>
                                        <p:cTn id="22" dur="300"/>
                                        <p:tgtEl>
                                          <p:spTgt spid="5939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9399"/>
                                        </p:tgtEl>
                                        <p:attrNameLst>
                                          <p:attrName>style.visibility</p:attrName>
                                        </p:attrNameLst>
                                      </p:cBhvr>
                                      <p:to>
                                        <p:strVal val="visible"/>
                                      </p:to>
                                    </p:set>
                                    <p:animEffect transition="in" filter="fade">
                                      <p:cBhvr>
                                        <p:cTn id="27" dur="300"/>
                                        <p:tgtEl>
                                          <p:spTgt spid="5939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9401"/>
                                        </p:tgtEl>
                                        <p:attrNameLst>
                                          <p:attrName>style.visibility</p:attrName>
                                        </p:attrNameLst>
                                      </p:cBhvr>
                                      <p:to>
                                        <p:strVal val="visible"/>
                                      </p:to>
                                    </p:set>
                                    <p:animEffect transition="in" filter="dissolve">
                                      <p:cBhvr>
                                        <p:cTn id="32" dur="400"/>
                                        <p:tgtEl>
                                          <p:spTgt spid="5940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9398"/>
                                        </p:tgtEl>
                                        <p:attrNameLst>
                                          <p:attrName>style.visibility</p:attrName>
                                        </p:attrNameLst>
                                      </p:cBhvr>
                                      <p:to>
                                        <p:strVal val="visible"/>
                                      </p:to>
                                    </p:set>
                                    <p:animEffect transition="in" filter="fade">
                                      <p:cBhvr>
                                        <p:cTn id="37" dur="300"/>
                                        <p:tgtEl>
                                          <p:spTgt spid="5939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9400"/>
                                        </p:tgtEl>
                                        <p:attrNameLst>
                                          <p:attrName>style.visibility</p:attrName>
                                        </p:attrNameLst>
                                      </p:cBhvr>
                                      <p:to>
                                        <p:strVal val="visible"/>
                                      </p:to>
                                    </p:set>
                                    <p:animEffect transition="in" filter="fade">
                                      <p:cBhvr>
                                        <p:cTn id="42" dur="3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nimBg="1"/>
      <p:bldP spid="59395" grpId="0" animBg="1"/>
      <p:bldP spid="59396" grpId="0"/>
      <p:bldP spid="59397" grpId="0"/>
      <p:bldP spid="59398" grpId="0"/>
      <p:bldP spid="59399" grpId="0"/>
      <p:bldP spid="59400" grpId="0"/>
      <p:bldP spid="5940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WordArt 2" descr="Woven mat"/>
          <p:cNvSpPr>
            <a:spLocks noChangeArrowheads="1" noChangeShapeType="1" noTextEdit="1"/>
          </p:cNvSpPr>
          <p:nvPr/>
        </p:nvSpPr>
        <p:spPr bwMode="auto">
          <a:xfrm>
            <a:off x="1981200" y="1676400"/>
            <a:ext cx="1447800" cy="1676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2"/>
                  <a:srcRect/>
                  <a:tile tx="0" ty="0" sx="100000" sy="100000" flip="none" algn="tl"/>
                </a:blipFill>
                <a:latin typeface="Arial Black"/>
              </a:rPr>
              <a:t>z</a:t>
            </a:r>
          </a:p>
        </p:txBody>
      </p:sp>
      <p:sp>
        <p:nvSpPr>
          <p:cNvPr id="60419" name="WordArt 3" descr="Stationery"/>
          <p:cNvSpPr>
            <a:spLocks noChangeArrowheads="1" noChangeShapeType="1" noTextEdit="1"/>
          </p:cNvSpPr>
          <p:nvPr/>
        </p:nvSpPr>
        <p:spPr bwMode="auto">
          <a:xfrm>
            <a:off x="4191000" y="1981200"/>
            <a:ext cx="3048000" cy="12954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(zeta)</a:t>
            </a:r>
          </a:p>
        </p:txBody>
      </p:sp>
      <p:sp>
        <p:nvSpPr>
          <p:cNvPr id="60420" name="Text Box 4"/>
          <p:cNvSpPr txBox="1">
            <a:spLocks noChangeArrowheads="1"/>
          </p:cNvSpPr>
          <p:nvPr/>
        </p:nvSpPr>
        <p:spPr bwMode="auto">
          <a:xfrm>
            <a:off x="1447800" y="3708400"/>
            <a:ext cx="6753225" cy="1244600"/>
          </a:xfrm>
          <a:prstGeom prst="rect">
            <a:avLst/>
          </a:prstGeom>
          <a:noFill/>
          <a:ln w="9525">
            <a:noFill/>
            <a:miter lim="800000"/>
            <a:headEnd/>
            <a:tailEnd/>
          </a:ln>
          <a:effectLst/>
        </p:spPr>
        <p:txBody>
          <a:bodyPr>
            <a:spAutoFit/>
          </a:bodyPr>
          <a:lstStyle/>
          <a:p>
            <a:pPr>
              <a:lnSpc>
                <a:spcPct val="90000"/>
              </a:lnSpc>
              <a:spcBef>
                <a:spcPct val="50000"/>
              </a:spcBef>
            </a:pPr>
            <a:r>
              <a:rPr lang="en-US" sz="2800">
                <a:solidFill>
                  <a:schemeClr val="bg1"/>
                </a:solidFill>
              </a:rPr>
              <a:t>The “z” has two distinct sounds, depending on geography.  The next slide provides more details.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200"/>
                                        <p:tgtEl>
                                          <p:spTgt spid="604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dissolve">
                                      <p:cBhvr>
                                        <p:cTn id="12" dur="500"/>
                                        <p:tgtEl>
                                          <p:spTgt spid="60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420"/>
                                        </p:tgtEl>
                                        <p:attrNameLst>
                                          <p:attrName>style.visibility</p:attrName>
                                        </p:attrNameLst>
                                      </p:cBhvr>
                                      <p:to>
                                        <p:strVal val="visible"/>
                                      </p:to>
                                    </p:set>
                                    <p:animEffect transition="in" filter="dissolve">
                                      <p:cBhvr>
                                        <p:cTn id="17" dur="4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nimBg="1"/>
      <p:bldP spid="60419" grpId="0" animBg="1"/>
      <p:bldP spid="604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6" name="Line 10"/>
          <p:cNvSpPr>
            <a:spLocks noChangeShapeType="1"/>
          </p:cNvSpPr>
          <p:nvPr/>
        </p:nvSpPr>
        <p:spPr bwMode="auto">
          <a:xfrm>
            <a:off x="5105400" y="1219200"/>
            <a:ext cx="2362200" cy="0"/>
          </a:xfrm>
          <a:prstGeom prst="line">
            <a:avLst/>
          </a:prstGeom>
          <a:noFill/>
          <a:ln w="31750">
            <a:solidFill>
              <a:schemeClr val="tx1"/>
            </a:solidFill>
            <a:round/>
            <a:headEnd/>
            <a:tailEnd/>
          </a:ln>
          <a:effectLst/>
        </p:spPr>
        <p:txBody>
          <a:bodyPr/>
          <a:lstStyle/>
          <a:p>
            <a:endParaRPr lang="en-US"/>
          </a:p>
        </p:txBody>
      </p:sp>
      <p:sp>
        <p:nvSpPr>
          <p:cNvPr id="65538" name="WordArt 2" descr="Woven mat"/>
          <p:cNvSpPr>
            <a:spLocks noChangeArrowheads="1" noChangeShapeType="1" noTextEdit="1"/>
          </p:cNvSpPr>
          <p:nvPr/>
        </p:nvSpPr>
        <p:spPr bwMode="auto">
          <a:xfrm>
            <a:off x="1600200" y="1676400"/>
            <a:ext cx="2343150" cy="8572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4400" kern="10">
                <a:ln w="9525">
                  <a:round/>
                  <a:headEnd/>
                  <a:tailEnd/>
                </a:ln>
                <a:blipFill dpi="0" rotWithShape="0">
                  <a:blip r:embed="rId2"/>
                  <a:srcRect/>
                  <a:tile tx="0" ty="0" sx="100000" sy="100000" flip="none" algn="tl"/>
                </a:blipFill>
                <a:latin typeface="Arial Black"/>
              </a:rPr>
              <a:t>z = s</a:t>
            </a:r>
          </a:p>
        </p:txBody>
      </p:sp>
      <p:sp>
        <p:nvSpPr>
          <p:cNvPr id="65539" name="WordArt 3" descr="Stationery"/>
          <p:cNvSpPr>
            <a:spLocks noChangeArrowheads="1" noChangeShapeType="1" noTextEdit="1"/>
          </p:cNvSpPr>
          <p:nvPr/>
        </p:nvSpPr>
        <p:spPr bwMode="auto">
          <a:xfrm>
            <a:off x="5124450" y="381000"/>
            <a:ext cx="2276475" cy="982663"/>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zapato</a:t>
            </a:r>
          </a:p>
        </p:txBody>
      </p:sp>
      <p:sp>
        <p:nvSpPr>
          <p:cNvPr id="65540" name="WordArt 4" descr="Stationery"/>
          <p:cNvSpPr>
            <a:spLocks noChangeArrowheads="1" noChangeShapeType="1" noTextEdit="1"/>
          </p:cNvSpPr>
          <p:nvPr/>
        </p:nvSpPr>
        <p:spPr bwMode="auto">
          <a:xfrm>
            <a:off x="4819650" y="1600200"/>
            <a:ext cx="2800350" cy="10477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("sapato")</a:t>
            </a:r>
          </a:p>
        </p:txBody>
      </p:sp>
      <p:sp>
        <p:nvSpPr>
          <p:cNvPr id="65541" name="Text Box 5"/>
          <p:cNvSpPr txBox="1">
            <a:spLocks noChangeArrowheads="1"/>
          </p:cNvSpPr>
          <p:nvPr/>
        </p:nvSpPr>
        <p:spPr bwMode="auto">
          <a:xfrm>
            <a:off x="1143000" y="882650"/>
            <a:ext cx="3429000" cy="641350"/>
          </a:xfrm>
          <a:prstGeom prst="rect">
            <a:avLst/>
          </a:prstGeom>
          <a:noFill/>
          <a:ln w="9525">
            <a:noFill/>
            <a:miter lim="800000"/>
            <a:headEnd/>
            <a:tailEnd/>
          </a:ln>
          <a:effectLst/>
        </p:spPr>
        <p:txBody>
          <a:bodyPr>
            <a:spAutoFit/>
          </a:bodyPr>
          <a:lstStyle/>
          <a:p>
            <a:pPr>
              <a:spcBef>
                <a:spcPct val="50000"/>
              </a:spcBef>
            </a:pPr>
            <a:r>
              <a:rPr lang="en-US" sz="3600">
                <a:solidFill>
                  <a:schemeClr val="bg1"/>
                </a:solidFill>
              </a:rPr>
              <a:t>I</a:t>
            </a:r>
            <a:r>
              <a:rPr lang="en-US" sz="3600" noProof="1">
                <a:solidFill>
                  <a:schemeClr val="bg1"/>
                </a:solidFill>
              </a:rPr>
              <a:t>n </a:t>
            </a:r>
            <a:r>
              <a:rPr lang="en-US" sz="3600">
                <a:solidFill>
                  <a:schemeClr val="bg1"/>
                </a:solidFill>
              </a:rPr>
              <a:t>the</a:t>
            </a:r>
            <a:r>
              <a:rPr lang="en-US" sz="3600" noProof="1">
                <a:solidFill>
                  <a:schemeClr val="bg1"/>
                </a:solidFill>
              </a:rPr>
              <a:t> Am</a:t>
            </a:r>
            <a:r>
              <a:rPr lang="en-US" sz="3600">
                <a:solidFill>
                  <a:schemeClr val="bg1"/>
                </a:solidFill>
              </a:rPr>
              <a:t>e</a:t>
            </a:r>
            <a:r>
              <a:rPr lang="en-US" sz="3600" noProof="1">
                <a:solidFill>
                  <a:schemeClr val="bg1"/>
                </a:solidFill>
              </a:rPr>
              <a:t>r</a:t>
            </a:r>
            <a:r>
              <a:rPr lang="en-US" sz="3600">
                <a:solidFill>
                  <a:schemeClr val="bg1"/>
                </a:solidFill>
              </a:rPr>
              <a:t>i</a:t>
            </a:r>
            <a:r>
              <a:rPr lang="en-US" sz="3600" noProof="1">
                <a:solidFill>
                  <a:schemeClr val="bg1"/>
                </a:solidFill>
              </a:rPr>
              <a:t>cas</a:t>
            </a:r>
          </a:p>
        </p:txBody>
      </p:sp>
      <p:sp>
        <p:nvSpPr>
          <p:cNvPr id="65542" name="WordArt 6" descr="Woven mat"/>
          <p:cNvSpPr>
            <a:spLocks noChangeArrowheads="1" noChangeShapeType="1" noTextEdit="1"/>
          </p:cNvSpPr>
          <p:nvPr/>
        </p:nvSpPr>
        <p:spPr bwMode="auto">
          <a:xfrm>
            <a:off x="1371600" y="4133850"/>
            <a:ext cx="2952750" cy="11049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4400" kern="10">
                <a:ln w="9525">
                  <a:round/>
                  <a:headEnd/>
                  <a:tailEnd/>
                </a:ln>
                <a:blipFill dpi="0" rotWithShape="0">
                  <a:blip r:embed="rId2"/>
                  <a:srcRect/>
                  <a:tile tx="0" ty="0" sx="100000" sy="100000" flip="none" algn="tl"/>
                </a:blipFill>
                <a:latin typeface="Arial Black"/>
              </a:rPr>
              <a:t>z = th</a:t>
            </a:r>
          </a:p>
        </p:txBody>
      </p:sp>
      <p:sp>
        <p:nvSpPr>
          <p:cNvPr id="65544" name="WordArt 8" descr="Stationery"/>
          <p:cNvSpPr>
            <a:spLocks noChangeArrowheads="1" noChangeShapeType="1" noTextEdit="1"/>
          </p:cNvSpPr>
          <p:nvPr/>
        </p:nvSpPr>
        <p:spPr bwMode="auto">
          <a:xfrm>
            <a:off x="4819650" y="4191000"/>
            <a:ext cx="3105150" cy="1066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9600" kern="10">
                <a:ln w="9525">
                  <a:round/>
                  <a:headEnd/>
                  <a:tailEnd/>
                </a:ln>
                <a:blipFill dpi="0" rotWithShape="0">
                  <a:blip r:embed="rId3"/>
                  <a:srcRect/>
                  <a:tile tx="0" ty="0" sx="100000" sy="100000" flip="none" algn="tl"/>
                </a:blipFill>
                <a:latin typeface="Modern No. 20"/>
              </a:rPr>
              <a:t>("thapato")</a:t>
            </a:r>
          </a:p>
        </p:txBody>
      </p:sp>
      <p:sp>
        <p:nvSpPr>
          <p:cNvPr id="65545" name="Text Box 9"/>
          <p:cNvSpPr txBox="1">
            <a:spLocks noChangeArrowheads="1"/>
          </p:cNvSpPr>
          <p:nvPr/>
        </p:nvSpPr>
        <p:spPr bwMode="auto">
          <a:xfrm>
            <a:off x="1752600" y="3505200"/>
            <a:ext cx="1981200" cy="641350"/>
          </a:xfrm>
          <a:prstGeom prst="rect">
            <a:avLst/>
          </a:prstGeom>
          <a:noFill/>
          <a:ln w="9525">
            <a:noFill/>
            <a:miter lim="800000"/>
            <a:headEnd/>
            <a:tailEnd/>
          </a:ln>
          <a:effectLst/>
        </p:spPr>
        <p:txBody>
          <a:bodyPr>
            <a:spAutoFit/>
          </a:bodyPr>
          <a:lstStyle/>
          <a:p>
            <a:pPr>
              <a:spcBef>
                <a:spcPct val="50000"/>
              </a:spcBef>
            </a:pPr>
            <a:r>
              <a:rPr lang="en-US" sz="3600">
                <a:solidFill>
                  <a:schemeClr val="bg1"/>
                </a:solidFill>
              </a:rPr>
              <a:t>I</a:t>
            </a:r>
            <a:r>
              <a:rPr lang="en-US" sz="3600" noProof="1">
                <a:solidFill>
                  <a:schemeClr val="bg1"/>
                </a:solidFill>
              </a:rPr>
              <a:t>n </a:t>
            </a:r>
            <a:r>
              <a:rPr lang="en-US" sz="3600">
                <a:solidFill>
                  <a:schemeClr val="bg1"/>
                </a:solidFill>
              </a:rPr>
              <a:t>Spain</a:t>
            </a:r>
            <a:endParaRPr lang="en-US" sz="3600" noProof="1">
              <a:solidFill>
                <a:schemeClr val="bg1"/>
              </a:solidFill>
            </a:endParaRPr>
          </a:p>
        </p:txBody>
      </p:sp>
      <p:sp>
        <p:nvSpPr>
          <p:cNvPr id="65547" name="Text Box 11"/>
          <p:cNvSpPr txBox="1">
            <a:spLocks noChangeArrowheads="1"/>
          </p:cNvSpPr>
          <p:nvPr/>
        </p:nvSpPr>
        <p:spPr bwMode="auto">
          <a:xfrm>
            <a:off x="1905000" y="2543175"/>
            <a:ext cx="1981200" cy="519113"/>
          </a:xfrm>
          <a:prstGeom prst="rect">
            <a:avLst/>
          </a:prstGeom>
          <a:noFill/>
          <a:ln w="9525">
            <a:noFill/>
            <a:miter lim="800000"/>
            <a:headEnd/>
            <a:tailEnd/>
          </a:ln>
          <a:effectLst/>
        </p:spPr>
        <p:txBody>
          <a:bodyPr>
            <a:spAutoFit/>
          </a:bodyPr>
          <a:lstStyle/>
          <a:p>
            <a:pPr>
              <a:spcBef>
                <a:spcPct val="50000"/>
              </a:spcBef>
            </a:pPr>
            <a:r>
              <a:rPr lang="en-US" sz="2800">
                <a:solidFill>
                  <a:schemeClr val="bg1"/>
                </a:solidFill>
              </a:rPr>
              <a:t>I</a:t>
            </a:r>
            <a:r>
              <a:rPr lang="en-US" sz="2800" noProof="1">
                <a:solidFill>
                  <a:schemeClr val="bg1"/>
                </a:solidFill>
              </a:rPr>
              <a:t>n </a:t>
            </a:r>
            <a:r>
              <a:rPr lang="en-US" sz="2800">
                <a:solidFill>
                  <a:schemeClr val="bg1"/>
                </a:solidFill>
              </a:rPr>
              <a:t>all cases</a:t>
            </a:r>
            <a:endParaRPr lang="en-US" sz="2800" noProof="1">
              <a:solidFill>
                <a:schemeClr val="bg1"/>
              </a:solidFill>
            </a:endParaRPr>
          </a:p>
        </p:txBody>
      </p:sp>
      <p:sp>
        <p:nvSpPr>
          <p:cNvPr id="65548" name="Text Box 12"/>
          <p:cNvSpPr txBox="1">
            <a:spLocks noChangeArrowheads="1"/>
          </p:cNvSpPr>
          <p:nvPr/>
        </p:nvSpPr>
        <p:spPr bwMode="auto">
          <a:xfrm>
            <a:off x="1828800" y="5224463"/>
            <a:ext cx="1981200" cy="519112"/>
          </a:xfrm>
          <a:prstGeom prst="rect">
            <a:avLst/>
          </a:prstGeom>
          <a:noFill/>
          <a:ln w="9525">
            <a:noFill/>
            <a:miter lim="800000"/>
            <a:headEnd/>
            <a:tailEnd/>
          </a:ln>
          <a:effectLst/>
        </p:spPr>
        <p:txBody>
          <a:bodyPr>
            <a:spAutoFit/>
          </a:bodyPr>
          <a:lstStyle/>
          <a:p>
            <a:pPr>
              <a:spcBef>
                <a:spcPct val="50000"/>
              </a:spcBef>
            </a:pPr>
            <a:r>
              <a:rPr lang="en-US" sz="2800">
                <a:solidFill>
                  <a:schemeClr val="bg1"/>
                </a:solidFill>
              </a:rPr>
              <a:t>I</a:t>
            </a:r>
            <a:r>
              <a:rPr lang="en-US" sz="2800" noProof="1">
                <a:solidFill>
                  <a:schemeClr val="bg1"/>
                </a:solidFill>
              </a:rPr>
              <a:t>n </a:t>
            </a:r>
            <a:r>
              <a:rPr lang="en-US" sz="2800">
                <a:solidFill>
                  <a:schemeClr val="bg1"/>
                </a:solidFill>
              </a:rPr>
              <a:t>all cases</a:t>
            </a:r>
            <a:endParaRPr lang="en-US" sz="2800" noProof="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5541"/>
                                        </p:tgtEl>
                                        <p:attrNameLst>
                                          <p:attrName>style.visibility</p:attrName>
                                        </p:attrNameLst>
                                      </p:cBhvr>
                                      <p:to>
                                        <p:strVal val="visible"/>
                                      </p:to>
                                    </p:set>
                                    <p:animEffect transition="in" filter="dissolve">
                                      <p:cBhvr>
                                        <p:cTn id="7" dur="400"/>
                                        <p:tgtEl>
                                          <p:spTgt spid="655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wipe(left)">
                                      <p:cBhvr>
                                        <p:cTn id="12" dur="300"/>
                                        <p:tgtEl>
                                          <p:spTgt spid="6553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5547"/>
                                        </p:tgtEl>
                                        <p:attrNameLst>
                                          <p:attrName>style.visibility</p:attrName>
                                        </p:attrNameLst>
                                      </p:cBhvr>
                                      <p:to>
                                        <p:strVal val="visible"/>
                                      </p:to>
                                    </p:set>
                                    <p:animEffect transition="in" filter="dissolve">
                                      <p:cBhvr>
                                        <p:cTn id="15" dur="400"/>
                                        <p:tgtEl>
                                          <p:spTgt spid="6554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5539"/>
                                        </p:tgtEl>
                                        <p:attrNameLst>
                                          <p:attrName>style.visibility</p:attrName>
                                        </p:attrNameLst>
                                      </p:cBhvr>
                                      <p:to>
                                        <p:strVal val="visible"/>
                                      </p:to>
                                    </p:set>
                                    <p:animEffect transition="in" filter="dissolve">
                                      <p:cBhvr>
                                        <p:cTn id="20" dur="500"/>
                                        <p:tgtEl>
                                          <p:spTgt spid="65539"/>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5546"/>
                                        </p:tgtEl>
                                        <p:attrNameLst>
                                          <p:attrName>style.visibility</p:attrName>
                                        </p:attrNameLst>
                                      </p:cBhvr>
                                      <p:to>
                                        <p:strVal val="visible"/>
                                      </p:to>
                                    </p:set>
                                    <p:animEffect transition="in" filter="wipe(left)">
                                      <p:cBhvr>
                                        <p:cTn id="24" dur="500"/>
                                        <p:tgtEl>
                                          <p:spTgt spid="6554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65540"/>
                                        </p:tgtEl>
                                        <p:attrNameLst>
                                          <p:attrName>style.visibility</p:attrName>
                                        </p:attrNameLst>
                                      </p:cBhvr>
                                      <p:to>
                                        <p:strVal val="visible"/>
                                      </p:to>
                                    </p:set>
                                    <p:animEffect transition="in" filter="dissolve">
                                      <p:cBhvr>
                                        <p:cTn id="29" dur="500"/>
                                        <p:tgtEl>
                                          <p:spTgt spid="6554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5545"/>
                                        </p:tgtEl>
                                        <p:attrNameLst>
                                          <p:attrName>style.visibility</p:attrName>
                                        </p:attrNameLst>
                                      </p:cBhvr>
                                      <p:to>
                                        <p:strVal val="visible"/>
                                      </p:to>
                                    </p:set>
                                    <p:animEffect transition="in" filter="dissolve">
                                      <p:cBhvr>
                                        <p:cTn id="34" dur="400"/>
                                        <p:tgtEl>
                                          <p:spTgt spid="6554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5542"/>
                                        </p:tgtEl>
                                        <p:attrNameLst>
                                          <p:attrName>style.visibility</p:attrName>
                                        </p:attrNameLst>
                                      </p:cBhvr>
                                      <p:to>
                                        <p:strVal val="visible"/>
                                      </p:to>
                                    </p:set>
                                    <p:animEffect transition="in" filter="wipe(left)">
                                      <p:cBhvr>
                                        <p:cTn id="39" dur="300"/>
                                        <p:tgtEl>
                                          <p:spTgt spid="6554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5548"/>
                                        </p:tgtEl>
                                        <p:attrNameLst>
                                          <p:attrName>style.visibility</p:attrName>
                                        </p:attrNameLst>
                                      </p:cBhvr>
                                      <p:to>
                                        <p:strVal val="visible"/>
                                      </p:to>
                                    </p:set>
                                    <p:animEffect transition="in" filter="dissolve">
                                      <p:cBhvr>
                                        <p:cTn id="42" dur="400"/>
                                        <p:tgtEl>
                                          <p:spTgt spid="6554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5544"/>
                                        </p:tgtEl>
                                        <p:attrNameLst>
                                          <p:attrName>style.visibility</p:attrName>
                                        </p:attrNameLst>
                                      </p:cBhvr>
                                      <p:to>
                                        <p:strVal val="visible"/>
                                      </p:to>
                                    </p:set>
                                    <p:animEffect transition="in" filter="dissolve">
                                      <p:cBhvr>
                                        <p:cTn id="47" dur="500"/>
                                        <p:tgtEl>
                                          <p:spTgt spid="65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6" grpId="0" animBg="1"/>
      <p:bldP spid="65538" grpId="0" animBg="1"/>
      <p:bldP spid="65539" grpId="0" animBg="1"/>
      <p:bldP spid="65540" grpId="0" animBg="1"/>
      <p:bldP spid="65541" grpId="0" autoUpdateAnimBg="0"/>
      <p:bldP spid="65542" grpId="0" animBg="1"/>
      <p:bldP spid="65544" grpId="0" animBg="1"/>
      <p:bldP spid="65545" grpId="0" autoUpdateAnimBg="0"/>
      <p:bldP spid="65547" grpId="0" autoUpdateAnimBg="0"/>
      <p:bldP spid="6554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WordArt 3" descr="Woven mat"/>
          <p:cNvSpPr>
            <a:spLocks noChangeArrowheads="1" noChangeShapeType="1" noTextEdit="1"/>
          </p:cNvSpPr>
          <p:nvPr/>
        </p:nvSpPr>
        <p:spPr bwMode="auto">
          <a:xfrm>
            <a:off x="3724275" y="1914525"/>
            <a:ext cx="1695450" cy="143827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en-US" sz="8000" kern="10">
                <a:ln w="9525">
                  <a:round/>
                  <a:headEnd/>
                  <a:tailEnd/>
                </a:ln>
                <a:blipFill dpi="0" rotWithShape="0">
                  <a:blip r:embed="rId2"/>
                  <a:srcRect/>
                  <a:tile tx="0" ty="0" sx="100000" sy="100000" flip="none" algn="tl"/>
                </a:blipFill>
                <a:latin typeface="Arial Black"/>
              </a:rPr>
              <a:t>Fin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dissolve">
                                      <p:cBhvr>
                                        <p:cTn id="7" dur="3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noProof="1"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noProof="1"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2099</TotalTime>
  <Words>1653</Words>
  <Application>Microsoft Office PowerPoint</Application>
  <PresentationFormat>On-screen Show (4:3)</PresentationFormat>
  <Paragraphs>306</Paragraphs>
  <Slides>38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Times New Roman</vt:lpstr>
      <vt:lpstr>Comic Sans MS</vt:lpstr>
      <vt:lpstr>Default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OCC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Spanish alphabet</dc:title>
  <dc:creator>WR Cisco</dc:creator>
  <cp:lastModifiedBy>Administrator</cp:lastModifiedBy>
  <cp:revision>467</cp:revision>
  <cp:lastPrinted>2000-03-28T13:41:54Z</cp:lastPrinted>
  <dcterms:created xsi:type="dcterms:W3CDTF">1999-11-10T00:07:31Z</dcterms:created>
  <dcterms:modified xsi:type="dcterms:W3CDTF">2013-09-11T15:06:18Z</dcterms:modified>
</cp:coreProperties>
</file>