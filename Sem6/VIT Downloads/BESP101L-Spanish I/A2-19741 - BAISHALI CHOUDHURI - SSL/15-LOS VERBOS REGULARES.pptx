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7" r:id="rId13"/>
    <p:sldId id="274" r:id="rId14"/>
    <p:sldId id="273" r:id="rId15"/>
    <p:sldId id="272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B6B95-0B1D-4CBB-BAB1-215807EDCFCD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7E6A5-846B-4D1D-AFDD-F9913D2B41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94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liveworksheets.com/def_files/2020/4/26/4261806072544/4261806072544001.jpg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4261806072544001.jpg (1000×1413) (liveworksheets.com)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7E6A5-846B-4D1D-AFDD-F9913D2B414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4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6D5B-6B94-4BE1-A623-A8827E495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729B-F6DB-4801-BEBF-F0F1BFB68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C0E4-CD39-470D-968A-68BD71C8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9F5D-71D5-4D4B-9589-F0E660A3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9436-117F-4822-9345-AB1BD35C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362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6B75-D1EE-4C53-9D8C-279D4B72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211D-5FFC-49B2-917C-EA097F9F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43102-1E38-4F19-B9B9-7387AB9E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52212-270C-40EA-AD7D-4D960E43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2D90-4354-45D8-A775-2383AD1F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25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1E96-C8C2-460A-9E06-B4BE7D8C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EC742-A086-4EB5-878B-490F5F379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774BB-A67D-49C9-AD24-13490F9E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65311-7FAF-4ACA-93D8-FD31A8AE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0F0B-7967-4810-B2B9-44CFE08D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17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7AEF-7ADF-4E81-BD36-5020E8A4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E9A79-BC3D-4B12-9E7A-406A6B991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C07A9-5C82-4651-9EAA-72D95159F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CCBA1-80C5-4B38-B5F3-1F0C8DFD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834E4-E6AD-4B7A-A5AB-8EBB4C5C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C82D9-86D8-468D-8478-C0A8F9BA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3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C0FE-CCC3-43A9-872C-F9AA5F2B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38296-DDF0-4D1D-BE97-8688D9F4F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8A15C-703B-49DB-9F66-C242258E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17B21-C40A-4DF3-BF46-F61AEF1B6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41BE3-3137-4063-855D-5B2AAAD34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7073E-FDE8-4720-82C7-9EE08307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40228-99B6-45D4-820D-547F8033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71E5F-647F-45C3-9C96-DEC49037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84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3549-A076-4476-B556-A59ED824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DAD1E-3442-404C-BB62-249B409D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CE17E-968C-4223-8D36-F676A47E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022A7-0CB0-428D-B7BF-D6EFA8AB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53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12C86-3ACC-4AF8-8CB9-8E094096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7DC8B-14D2-41D2-A085-7F707459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D26F6-326B-49BA-A035-D76F52C6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53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D3C5-6DA2-47A9-B543-3B7CE55F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7F19-348C-476D-BCDD-53F737F5A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2EF0E-EB78-4C0B-9E72-1183532F5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4B9F5-28E5-4A7E-B60D-334973AC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BEFEA-FF3D-4A9E-96F4-75E761AD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55863-B020-4C0F-9C33-633C0BE7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31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BC76-FD13-46A1-8C86-083192B6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BBD35-4435-42F4-9186-D4A8F70DB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8B8AE-6CC0-4E99-B0C7-B5B2BF193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7311E-D85B-4E61-95A3-14792CCE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F0A2B-E1F3-4A6D-B783-514A8443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3DB07-CDBF-48E1-9E56-203813EC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65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2469-64BF-48B4-B34D-349F5134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EAC88-0A78-4FC1-B689-B93B8556A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C75DE-57C6-47A6-B833-D801FFE2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C7E4C-D23E-4CCD-9D73-5A40A548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BD5F-3CD5-46B9-A59A-9A9B2F3A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43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AF522-D2CF-4F77-9A9E-612DFB34A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D300E-75F1-4071-9FDC-0B64A7246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21DA3-75C8-4A12-85C9-41B0F384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FD7D-0554-4191-A4EB-A8D425D7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3CAD-4249-4727-AB14-09735E91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80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B519F-244A-4070-818B-1EBD8079F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CA51E-F234-4C31-A948-45F7F1A3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175F6-073C-41B6-854D-B558F5393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F9B64-A783-4293-BCD2-ED4B87CE5995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65DF2-0DCC-42DF-927A-7F7EB2E8D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973C8-289A-4FCF-95D7-CB7336B14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16C3A-6D4B-42B1-8366-23493DB50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237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290C-840B-4B87-93CC-E0A107B6D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Arial Black" panose="020B0A04020102020204" pitchFamily="34" charset="0"/>
              </a:rPr>
              <a:t>LOS VERBOS REGULARES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FE04E-6006-4AE5-B84F-D348647D8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5960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4F9B-F8EE-4C1D-BF70-47A91A80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 Black" panose="020B0A04020102020204" pitchFamily="34" charset="0"/>
              </a:rPr>
              <a:t>LOS 3 TIPOS DE VERBOS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6FC4-5405-4F76-88D7-BAD71E29F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err="1">
                <a:latin typeface="Arial Black" panose="020B0A04020102020204" pitchFamily="34" charset="0"/>
              </a:rPr>
              <a:t>Spanish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verbs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have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usually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three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kind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of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endings</a:t>
            </a:r>
            <a:endParaRPr lang="es-ES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			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		</a:t>
            </a:r>
            <a:r>
              <a:rPr lang="es-ES" dirty="0">
                <a:highlight>
                  <a:srgbClr val="00FFFF"/>
                </a:highlight>
                <a:latin typeface="Arial Black" panose="020B0A04020102020204" pitchFamily="34" charset="0"/>
              </a:rPr>
              <a:t>AR, ER, IR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Hablar, Comer, Vivir, Escribir, Beber, </a:t>
            </a:r>
            <a:r>
              <a:rPr lang="es-ES" dirty="0">
                <a:highlight>
                  <a:srgbClr val="FFFF00"/>
                </a:highlight>
                <a:latin typeface="Arial Black" panose="020B0A04020102020204" pitchFamily="34" charset="0"/>
              </a:rPr>
              <a:t>Trabajar</a:t>
            </a:r>
            <a:r>
              <a:rPr lang="es-ES" dirty="0">
                <a:latin typeface="Arial Black" panose="020B0A04020102020204" pitchFamily="34" charset="0"/>
              </a:rPr>
              <a:t> (infinitive </a:t>
            </a:r>
            <a:r>
              <a:rPr lang="es-ES" dirty="0" err="1">
                <a:latin typeface="Arial Black" panose="020B0A04020102020204" pitchFamily="34" charset="0"/>
              </a:rPr>
              <a:t>form</a:t>
            </a:r>
            <a:r>
              <a:rPr lang="es-ES" dirty="0">
                <a:latin typeface="Arial Black" panose="020B0A04020102020204" pitchFamily="34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Ramon </a:t>
            </a:r>
            <a:r>
              <a:rPr lang="es-ES" dirty="0">
                <a:highlight>
                  <a:srgbClr val="FFFF00"/>
                </a:highlight>
                <a:latin typeface="Arial Black" panose="020B0A04020102020204" pitchFamily="34" charset="0"/>
              </a:rPr>
              <a:t>trabaja</a:t>
            </a:r>
            <a:r>
              <a:rPr lang="es-ES" dirty="0">
                <a:latin typeface="Arial Black" panose="020B0A04020102020204" pitchFamily="34" charset="0"/>
              </a:rPr>
              <a:t> mucho. </a:t>
            </a:r>
          </a:p>
          <a:p>
            <a:pPr marL="0" indent="0">
              <a:buNone/>
            </a:pPr>
            <a:endParaRPr lang="es-ES" dirty="0">
              <a:latin typeface="Arial Black" panose="020B0A04020102020204" pitchFamily="34" charset="0"/>
            </a:endParaRPr>
          </a:p>
          <a:p>
            <a:r>
              <a:rPr lang="es-ES" dirty="0" err="1">
                <a:latin typeface="Arial Black" panose="020B0A04020102020204" pitchFamily="34" charset="0"/>
              </a:rPr>
              <a:t>Verbs</a:t>
            </a:r>
            <a:r>
              <a:rPr lang="es-ES" dirty="0">
                <a:latin typeface="Arial Black" panose="020B0A04020102020204" pitchFamily="34" charset="0"/>
              </a:rPr>
              <a:t> can be </a:t>
            </a:r>
            <a:r>
              <a:rPr lang="es-ES" dirty="0" err="1">
                <a:latin typeface="Arial Black" panose="020B0A04020102020204" pitchFamily="34" charset="0"/>
              </a:rPr>
              <a:t>divided</a:t>
            </a:r>
            <a:r>
              <a:rPr lang="es-ES" dirty="0">
                <a:latin typeface="Arial Black" panose="020B0A04020102020204" pitchFamily="34" charset="0"/>
              </a:rPr>
              <a:t> in 2 </a:t>
            </a:r>
            <a:r>
              <a:rPr lang="es-ES" dirty="0" err="1">
                <a:latin typeface="Arial Black" panose="020B0A04020102020204" pitchFamily="34" charset="0"/>
              </a:rPr>
              <a:t>broad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 err="1">
                <a:latin typeface="Arial Black" panose="020B0A04020102020204" pitchFamily="34" charset="0"/>
              </a:rPr>
              <a:t>categories</a:t>
            </a:r>
            <a:endParaRPr lang="es-ES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s-ES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		Regulares y Irregulares</a:t>
            </a:r>
          </a:p>
        </p:txBody>
      </p:sp>
    </p:spTree>
    <p:extLst>
      <p:ext uri="{BB962C8B-B14F-4D97-AF65-F5344CB8AC3E}">
        <p14:creationId xmlns:p14="http://schemas.microsoft.com/office/powerpoint/2010/main" val="292256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3F39-EE5A-4D7D-8C91-7BC82C91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		</a:t>
            </a:r>
            <a:r>
              <a:rPr lang="en-IN" dirty="0" err="1"/>
              <a:t>Pronombres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0DCF58-2E02-4F3E-A77E-A22EAA8A56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29" y="304800"/>
            <a:ext cx="5363171" cy="715089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CBFD3-6961-4B6D-BB7F-C5966C8F3E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Elena y </a:t>
            </a:r>
            <a:r>
              <a:rPr lang="es-ES" dirty="0">
                <a:highlight>
                  <a:srgbClr val="FFFF00"/>
                </a:highlight>
              </a:rPr>
              <a:t>yo (</a:t>
            </a:r>
            <a:r>
              <a:rPr lang="es-ES" dirty="0" err="1">
                <a:highlight>
                  <a:srgbClr val="FFFF00"/>
                </a:highlight>
              </a:rPr>
              <a:t>fem</a:t>
            </a:r>
            <a:r>
              <a:rPr lang="es-ES" dirty="0">
                <a:highlight>
                  <a:srgbClr val="FFFF00"/>
                </a:highlight>
              </a:rPr>
              <a:t>.)= nosotras </a:t>
            </a:r>
            <a:r>
              <a:rPr lang="es-ES" dirty="0"/>
              <a:t>_hablamos_______ (hablar) español</a:t>
            </a:r>
            <a:r>
              <a:rPr lang="en-IN" dirty="0"/>
              <a:t>.</a:t>
            </a:r>
          </a:p>
          <a:p>
            <a:r>
              <a:rPr lang="es-ES" dirty="0"/>
              <a:t>Tu y </a:t>
            </a:r>
            <a:r>
              <a:rPr lang="es-ES" dirty="0">
                <a:highlight>
                  <a:srgbClr val="FFFF00"/>
                </a:highlight>
              </a:rPr>
              <a:t>yo</a:t>
            </a:r>
            <a:r>
              <a:rPr lang="es-ES" dirty="0"/>
              <a:t> = nosotros (</a:t>
            </a:r>
            <a:r>
              <a:rPr lang="es-ES" dirty="0" err="1"/>
              <a:t>masc</a:t>
            </a:r>
            <a:r>
              <a:rPr lang="es-ES" dirty="0"/>
              <a:t>.) __leemos____ (le-</a:t>
            </a:r>
            <a:r>
              <a:rPr lang="es-ES" dirty="0" err="1"/>
              <a:t>er</a:t>
            </a:r>
            <a:r>
              <a:rPr lang="es-ES" dirty="0"/>
              <a:t>) los libros</a:t>
            </a:r>
          </a:p>
          <a:p>
            <a:r>
              <a:rPr lang="es-ES" u="sng" dirty="0"/>
              <a:t>Vosotros y </a:t>
            </a:r>
            <a:r>
              <a:rPr lang="es-ES" u="sng" dirty="0">
                <a:highlight>
                  <a:srgbClr val="FFFF00"/>
                </a:highlight>
              </a:rPr>
              <a:t>yo</a:t>
            </a:r>
            <a:r>
              <a:rPr lang="es-ES" u="sng" dirty="0"/>
              <a:t> = nosotros </a:t>
            </a:r>
            <a:r>
              <a:rPr lang="es-ES" dirty="0"/>
              <a:t>__vivimos_____ (vivir) en la ciudad</a:t>
            </a:r>
          </a:p>
          <a:p>
            <a:r>
              <a:rPr lang="es-ES" dirty="0"/>
              <a:t>Tú y José =vosotros _comprendéis_______ (comprender) ingles</a:t>
            </a:r>
          </a:p>
          <a:p>
            <a:r>
              <a:rPr lang="es-ES" dirty="0">
                <a:highlight>
                  <a:srgbClr val="FFFF00"/>
                </a:highlight>
              </a:rPr>
              <a:t>Mi/Tu/nuestro/su/vuestro abuelo </a:t>
            </a:r>
            <a:r>
              <a:rPr lang="es-ES" dirty="0"/>
              <a:t>canta las canciones</a:t>
            </a:r>
          </a:p>
          <a:p>
            <a:r>
              <a:rPr lang="es-ES" dirty="0"/>
              <a:t>María y su mamá = ellas</a:t>
            </a:r>
          </a:p>
          <a:p>
            <a:r>
              <a:rPr lang="es-ES" dirty="0"/>
              <a:t>Mis hermanos= ellos</a:t>
            </a:r>
          </a:p>
          <a:p>
            <a:endParaRPr lang="es-E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24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3F6408-E1FB-40EE-933F-488D38CC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 23">
            <a:extLst>
              <a:ext uri="{FF2B5EF4-FFF2-40B4-BE49-F238E27FC236}">
                <a16:creationId xmlns:a16="http://schemas.microsoft.com/office/drawing/2014/main" id="{F055C0C5-567C-4C02-83F3-B427BC74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EA08-AB30-47A5-A909-A3CBD83D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latin typeface="Arial Black" panose="020B0A04020102020204" pitchFamily="34" charset="0"/>
              </a:rPr>
              <a:t>Ar </a:t>
            </a:r>
            <a:r>
              <a:rPr lang="es-ES" sz="3200" dirty="0" err="1">
                <a:latin typeface="Arial Black" panose="020B0A04020102020204" pitchFamily="34" charset="0"/>
              </a:rPr>
              <a:t>ending</a:t>
            </a:r>
            <a:r>
              <a:rPr lang="es-ES" sz="3200" dirty="0">
                <a:latin typeface="Arial Black" panose="020B0A04020102020204" pitchFamily="34" charset="0"/>
              </a:rPr>
              <a:t> regular </a:t>
            </a:r>
            <a:r>
              <a:rPr lang="es-ES" sz="3200" dirty="0" err="1">
                <a:latin typeface="Arial Black" panose="020B0A04020102020204" pitchFamily="34" charset="0"/>
              </a:rPr>
              <a:t>verbs</a:t>
            </a:r>
            <a:endParaRPr lang="es-ES" sz="3200" dirty="0">
              <a:latin typeface="Arial Black" panose="020B0A040201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E0C63F-A926-44F5-9760-F0FD8E62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2004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Arial Black" panose="020B0A04020102020204" pitchFamily="34" charset="0"/>
              </a:rPr>
              <a:t>Endings are like this</a:t>
            </a:r>
          </a:p>
          <a:p>
            <a:pPr marL="0" indent="0">
              <a:buNone/>
            </a:pPr>
            <a:r>
              <a:rPr lang="en-US" sz="1800" dirty="0" err="1">
                <a:latin typeface="Arial Black" panose="020B0A04020102020204" pitchFamily="34" charset="0"/>
              </a:rPr>
              <a:t>yo</a:t>
            </a:r>
            <a:r>
              <a:rPr lang="en-US" sz="1800" dirty="0">
                <a:latin typeface="Arial Black" panose="020B0A04020102020204" pitchFamily="34" charset="0"/>
              </a:rPr>
              <a:t>	         	-o</a:t>
            </a:r>
          </a:p>
          <a:p>
            <a:pPr marL="0" indent="0">
              <a:buNone/>
            </a:pPr>
            <a:r>
              <a:rPr lang="en-US" sz="1800" dirty="0" err="1">
                <a:latin typeface="Arial Black" panose="020B0A04020102020204" pitchFamily="34" charset="0"/>
              </a:rPr>
              <a:t>tu</a:t>
            </a:r>
            <a:r>
              <a:rPr lang="en-US" sz="1800" dirty="0">
                <a:latin typeface="Arial Black" panose="020B0A04020102020204" pitchFamily="34" charset="0"/>
              </a:rPr>
              <a:t>		-as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El/</a:t>
            </a:r>
            <a:r>
              <a:rPr lang="en-US" sz="1800" dirty="0" err="1">
                <a:latin typeface="Arial Black" panose="020B0A04020102020204" pitchFamily="34" charset="0"/>
              </a:rPr>
              <a:t>ella</a:t>
            </a:r>
            <a:r>
              <a:rPr lang="en-US" sz="1800" dirty="0">
                <a:latin typeface="Arial Black" panose="020B0A04020102020204" pitchFamily="34" charset="0"/>
              </a:rPr>
              <a:t>/</a:t>
            </a:r>
            <a:r>
              <a:rPr lang="en-US" sz="1800" dirty="0" err="1">
                <a:latin typeface="Arial Black" panose="020B0A04020102020204" pitchFamily="34" charset="0"/>
              </a:rPr>
              <a:t>ud</a:t>
            </a:r>
            <a:r>
              <a:rPr lang="en-US" sz="1800" dirty="0">
                <a:latin typeface="Arial Black" panose="020B0A04020102020204" pitchFamily="34" charset="0"/>
              </a:rPr>
              <a:t>.	-a</a:t>
            </a:r>
          </a:p>
          <a:p>
            <a:pPr marL="0" indent="0">
              <a:buNone/>
            </a:pPr>
            <a:r>
              <a:rPr lang="en-US" sz="1800" dirty="0" err="1">
                <a:latin typeface="Arial Black" panose="020B0A04020102020204" pitchFamily="34" charset="0"/>
              </a:rPr>
              <a:t>Nosotros</a:t>
            </a:r>
            <a:r>
              <a:rPr lang="en-US" sz="1800" dirty="0">
                <a:latin typeface="Arial Black" panose="020B0A04020102020204" pitchFamily="34" charset="0"/>
              </a:rPr>
              <a:t>/-as	-</a:t>
            </a:r>
            <a:r>
              <a:rPr lang="en-US" sz="1800" dirty="0" err="1">
                <a:latin typeface="Arial Black" panose="020B0A04020102020204" pitchFamily="34" charset="0"/>
              </a:rPr>
              <a:t>amos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Arial Black" panose="020B0A04020102020204" pitchFamily="34" charset="0"/>
              </a:rPr>
              <a:t>Vosotros</a:t>
            </a:r>
            <a:r>
              <a:rPr lang="en-US" sz="1800" dirty="0">
                <a:latin typeface="Arial Black" panose="020B0A04020102020204" pitchFamily="34" charset="0"/>
              </a:rPr>
              <a:t>/-as	-ais</a:t>
            </a:r>
          </a:p>
          <a:p>
            <a:pPr marL="0" indent="0">
              <a:buNone/>
            </a:pPr>
            <a:r>
              <a:rPr lang="en-US" sz="1800" dirty="0" err="1">
                <a:latin typeface="Arial Black" panose="020B0A04020102020204" pitchFamily="34" charset="0"/>
              </a:rPr>
              <a:t>Ellos</a:t>
            </a:r>
            <a:r>
              <a:rPr lang="en-US" sz="1800" dirty="0">
                <a:latin typeface="Arial Black" panose="020B0A04020102020204" pitchFamily="34" charset="0"/>
              </a:rPr>
              <a:t>/ </a:t>
            </a:r>
            <a:r>
              <a:rPr lang="en-US" sz="1800" dirty="0" err="1">
                <a:latin typeface="Arial Black" panose="020B0A04020102020204" pitchFamily="34" charset="0"/>
              </a:rPr>
              <a:t>ellas</a:t>
            </a:r>
            <a:r>
              <a:rPr lang="en-US" sz="1800" dirty="0">
                <a:latin typeface="Arial Black" panose="020B0A04020102020204" pitchFamily="34" charset="0"/>
              </a:rPr>
              <a:t>/ </a:t>
            </a:r>
            <a:r>
              <a:rPr lang="en-US" sz="1800" dirty="0" err="1">
                <a:latin typeface="Arial Black" panose="020B0A04020102020204" pitchFamily="34" charset="0"/>
              </a:rPr>
              <a:t>uds</a:t>
            </a:r>
            <a:r>
              <a:rPr lang="en-US" sz="1800" dirty="0">
                <a:latin typeface="Arial Black" panose="020B0A04020102020204" pitchFamily="34" charset="0"/>
              </a:rPr>
              <a:t>.   -an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Habl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ar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Trabaj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ar</a:t>
            </a:r>
            <a:r>
              <a:rPr lang="en-US" sz="1800" dirty="0">
                <a:latin typeface="Arial Black" panose="020B0A04020102020204" pitchFamily="34" charset="0"/>
              </a:rPr>
              <a:t>, And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ar</a:t>
            </a:r>
          </a:p>
          <a:p>
            <a:pPr marL="0" indent="0">
              <a:buNone/>
            </a:pPr>
            <a:endParaRPr lang="en-US" sz="1800" dirty="0">
              <a:highlight>
                <a:srgbClr val="00FFFF"/>
              </a:highlight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Yo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-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hablo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trabajo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ando</a:t>
            </a:r>
            <a:endParaRPr lang="en-US" sz="1800" dirty="0">
              <a:highlight>
                <a:srgbClr val="00FFFF"/>
              </a:highlight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Tu-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hablas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trabajas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andas</a:t>
            </a:r>
            <a:endParaRPr lang="en-US" sz="1800" dirty="0">
              <a:highlight>
                <a:srgbClr val="00FFFF"/>
              </a:highlight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El/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ella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/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ud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.-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habla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trabaja</a:t>
            </a:r>
            <a:r>
              <a:rPr lang="en-US" sz="1800" dirty="0">
                <a:highlight>
                  <a:srgbClr val="00FFFF"/>
                </a:highlight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highlight>
                  <a:srgbClr val="00FFFF"/>
                </a:highlight>
                <a:latin typeface="Arial Black" panose="020B0A04020102020204" pitchFamily="34" charset="0"/>
              </a:rPr>
              <a:t>anda</a:t>
            </a:r>
            <a:endParaRPr lang="en-US" sz="1800" dirty="0">
              <a:highlight>
                <a:srgbClr val="00FFFF"/>
              </a:highlight>
              <a:latin typeface="Arial Black" panose="020B0A04020102020204" pitchFamily="34" charset="0"/>
            </a:endParaRP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E48B6BD6-5DED-4B86-A4B3-D35037F68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 w="15875">
            <a:solidFill>
              <a:srgbClr val="5458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0C123BB1-14CE-4579-B91C-939A65AD27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4"/>
          <a:stretch/>
        </p:blipFill>
        <p:spPr>
          <a:xfrm>
            <a:off x="5603706" y="1263897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6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3F6408-E1FB-40EE-933F-488D38CC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 23">
            <a:extLst>
              <a:ext uri="{FF2B5EF4-FFF2-40B4-BE49-F238E27FC236}">
                <a16:creationId xmlns:a16="http://schemas.microsoft.com/office/drawing/2014/main" id="{F055C0C5-567C-4C02-83F3-B427BC74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2B942-58BF-4BF5-BD33-5075470D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latin typeface="Arial Black" panose="020B0A04020102020204" pitchFamily="34" charset="0"/>
              </a:rPr>
              <a:t>ER </a:t>
            </a:r>
            <a:r>
              <a:rPr lang="es-ES" sz="3200" dirty="0" err="1">
                <a:latin typeface="Arial Black" panose="020B0A04020102020204" pitchFamily="34" charset="0"/>
              </a:rPr>
              <a:t>ending</a:t>
            </a:r>
            <a:r>
              <a:rPr lang="es-ES" sz="3200" dirty="0">
                <a:latin typeface="Arial Black" panose="020B0A04020102020204" pitchFamily="34" charset="0"/>
              </a:rPr>
              <a:t> regular </a:t>
            </a:r>
            <a:r>
              <a:rPr lang="es-ES" sz="3200" dirty="0" err="1">
                <a:latin typeface="Arial Black" panose="020B0A04020102020204" pitchFamily="34" charset="0"/>
              </a:rPr>
              <a:t>verbs</a:t>
            </a:r>
            <a:endParaRPr lang="es-ES" sz="3200" dirty="0">
              <a:latin typeface="Arial Black" panose="020B0A040201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452317-1578-433B-AEE5-318F6F93C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3" y="1797344"/>
            <a:ext cx="3766026" cy="5060655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latin typeface="Arial Black" panose="020B0A04020102020204" pitchFamily="34" charset="0"/>
              </a:rPr>
              <a:t>Endings are like this 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COMER- TO EAT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o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es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e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emos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eis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en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Com</a:t>
            </a: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er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Le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Leo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Lees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Lee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FF0000"/>
                </a:solidFill>
                <a:latin typeface="Arial Black" panose="020B0A04020102020204" pitchFamily="34" charset="0"/>
              </a:rPr>
              <a:t>Leemos</a:t>
            </a:r>
            <a:endParaRPr lang="en-US" sz="18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FF0000"/>
                </a:solidFill>
                <a:latin typeface="Arial Black" panose="020B0A04020102020204" pitchFamily="34" charset="0"/>
              </a:rPr>
              <a:t>Leeis</a:t>
            </a:r>
            <a:endParaRPr lang="en-US" sz="18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Leen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E48B6BD6-5DED-4B86-A4B3-D35037F68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 w="15875">
            <a:solidFill>
              <a:srgbClr val="67586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5853A5A8-3772-43B9-98A8-452D2C12F8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4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9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3F6408-E1FB-40EE-933F-488D38CC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 23">
            <a:extLst>
              <a:ext uri="{FF2B5EF4-FFF2-40B4-BE49-F238E27FC236}">
                <a16:creationId xmlns:a16="http://schemas.microsoft.com/office/drawing/2014/main" id="{F055C0C5-567C-4C02-83F3-B427BC74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365A7-CC6C-400B-BB8E-1E654167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95858"/>
            <a:ext cx="32004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latin typeface="Arial Black" panose="020B0A04020102020204" pitchFamily="34" charset="0"/>
              </a:rPr>
              <a:t>IR </a:t>
            </a:r>
            <a:r>
              <a:rPr lang="es-ES" sz="3200" dirty="0" err="1">
                <a:latin typeface="Arial Black" panose="020B0A04020102020204" pitchFamily="34" charset="0"/>
              </a:rPr>
              <a:t>ending</a:t>
            </a:r>
            <a:r>
              <a:rPr lang="es-ES" sz="3200" dirty="0">
                <a:latin typeface="Arial Black" panose="020B0A04020102020204" pitchFamily="34" charset="0"/>
              </a:rPr>
              <a:t> regular </a:t>
            </a:r>
            <a:r>
              <a:rPr lang="es-ES" sz="3200" dirty="0" err="1">
                <a:latin typeface="Arial Black" panose="020B0A04020102020204" pitchFamily="34" charset="0"/>
              </a:rPr>
              <a:t>verbs</a:t>
            </a:r>
            <a:endParaRPr lang="es-ES" sz="3200" dirty="0">
              <a:latin typeface="Arial Black" panose="020B0A040201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E7DA68-365B-4089-ADA0-647116B3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200400" cy="43513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 Black" panose="020B0A04020102020204" pitchFamily="34" charset="0"/>
              </a:rPr>
              <a:t>IR endings are like this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o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es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e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imos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ís</a:t>
            </a: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	</a:t>
            </a:r>
            <a:r>
              <a:rPr lang="en-US" sz="1800" dirty="0" err="1">
                <a:latin typeface="Arial Black" panose="020B0A04020102020204" pitchFamily="34" charset="0"/>
              </a:rPr>
              <a:t>en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E48B6BD6-5DED-4B86-A4B3-D35037F68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 w="15875">
            <a:solidFill>
              <a:srgbClr val="6852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1E395-43CE-4B97-B132-9671AF06B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313" y="1152939"/>
            <a:ext cx="6014853" cy="425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5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D463-D1EB-4961-A62E-12571313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 Black" panose="020B0A04020102020204" pitchFamily="34" charset="0"/>
              </a:rPr>
              <a:t>CONJUGATIONS OF ALL 3 ENDINGS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C68AFE-AB8F-417B-B6D8-B424A96E9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89" y="1825624"/>
            <a:ext cx="11107971" cy="5032375"/>
          </a:xfrm>
        </p:spPr>
      </p:pic>
    </p:spTree>
    <p:extLst>
      <p:ext uri="{BB962C8B-B14F-4D97-AF65-F5344CB8AC3E}">
        <p14:creationId xmlns:p14="http://schemas.microsoft.com/office/powerpoint/2010/main" val="303774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24EA-5E98-40D2-9068-24219B4E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800F-65CD-49CD-9F4E-F1062CA0E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r>
              <a:rPr lang="en-US" dirty="0"/>
              <a:t>               </a:t>
            </a:r>
            <a:r>
              <a:rPr lang="en-US" dirty="0" err="1"/>
              <a:t>Trabajar</a:t>
            </a:r>
            <a:r>
              <a:rPr lang="en-US" dirty="0"/>
              <a:t> – to work 	</a:t>
            </a:r>
            <a:r>
              <a:rPr lang="en-US" dirty="0" err="1"/>
              <a:t>Beber</a:t>
            </a:r>
            <a:r>
              <a:rPr lang="en-US" dirty="0"/>
              <a:t>- to drink		</a:t>
            </a:r>
            <a:r>
              <a:rPr lang="en-US" dirty="0" err="1"/>
              <a:t>Escribir</a:t>
            </a:r>
            <a:r>
              <a:rPr lang="en-US" dirty="0"/>
              <a:t>- to write</a:t>
            </a:r>
          </a:p>
          <a:p>
            <a:pPr marL="0" indent="0">
              <a:buNone/>
            </a:pPr>
            <a:r>
              <a:rPr lang="en-US" sz="1600" dirty="0" err="1"/>
              <a:t>Yo</a:t>
            </a:r>
            <a:r>
              <a:rPr lang="en-US" sz="1600" dirty="0"/>
              <a:t>		</a:t>
            </a:r>
            <a:r>
              <a:rPr lang="en-US" sz="1600" dirty="0" err="1"/>
              <a:t>Trabajo</a:t>
            </a:r>
            <a:r>
              <a:rPr lang="en-US" sz="1600" dirty="0"/>
              <a:t>			</a:t>
            </a:r>
            <a:r>
              <a:rPr lang="en-US" sz="1600" dirty="0" err="1"/>
              <a:t>Bebo</a:t>
            </a:r>
            <a:r>
              <a:rPr lang="en-US" sz="1600" dirty="0"/>
              <a:t>			</a:t>
            </a:r>
            <a:r>
              <a:rPr lang="en-US" sz="1600" dirty="0" err="1"/>
              <a:t>escribo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Tu		</a:t>
            </a:r>
            <a:r>
              <a:rPr lang="en-US" sz="1600" dirty="0" err="1"/>
              <a:t>Trabajas</a:t>
            </a:r>
            <a:r>
              <a:rPr lang="en-US" sz="1600" dirty="0"/>
              <a:t>			</a:t>
            </a:r>
            <a:r>
              <a:rPr lang="en-US" sz="1600" dirty="0" err="1"/>
              <a:t>bebes</a:t>
            </a:r>
            <a:r>
              <a:rPr lang="en-US" sz="1600" dirty="0"/>
              <a:t>			escribes</a:t>
            </a:r>
          </a:p>
          <a:p>
            <a:pPr marL="0" indent="0">
              <a:buNone/>
            </a:pPr>
            <a:r>
              <a:rPr lang="en-US" sz="1600" dirty="0"/>
              <a:t>El/</a:t>
            </a:r>
            <a:r>
              <a:rPr lang="en-US" sz="1600" dirty="0" err="1"/>
              <a:t>ella</a:t>
            </a:r>
            <a:r>
              <a:rPr lang="en-US" sz="1600" dirty="0"/>
              <a:t>/</a:t>
            </a:r>
            <a:r>
              <a:rPr lang="en-US" sz="1600" dirty="0" err="1"/>
              <a:t>usted</a:t>
            </a:r>
            <a:r>
              <a:rPr lang="en-US" sz="1600" dirty="0"/>
              <a:t>	</a:t>
            </a:r>
            <a:r>
              <a:rPr lang="en-US" sz="1600" dirty="0" err="1"/>
              <a:t>Trabaja</a:t>
            </a:r>
            <a:r>
              <a:rPr lang="en-US" sz="1600" dirty="0"/>
              <a:t>			</a:t>
            </a:r>
            <a:r>
              <a:rPr lang="en-US" sz="1600" dirty="0" err="1"/>
              <a:t>bebe</a:t>
            </a:r>
            <a:r>
              <a:rPr lang="en-US" sz="1600" dirty="0"/>
              <a:t>			escribe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Nosotros</a:t>
            </a:r>
            <a:r>
              <a:rPr lang="en-US" sz="1600" dirty="0"/>
              <a:t>/as	</a:t>
            </a:r>
            <a:r>
              <a:rPr lang="en-US" sz="1600" dirty="0" err="1"/>
              <a:t>Trabajamos</a:t>
            </a:r>
            <a:r>
              <a:rPr lang="en-US" sz="1600" dirty="0"/>
              <a:t>		</a:t>
            </a:r>
            <a:r>
              <a:rPr lang="en-US" sz="1600" dirty="0" err="1"/>
              <a:t>bebemos</a:t>
            </a:r>
            <a:r>
              <a:rPr lang="en-US" sz="1600" dirty="0"/>
              <a:t>			</a:t>
            </a:r>
            <a:r>
              <a:rPr lang="en-US" sz="1600" dirty="0" err="1"/>
              <a:t>escribimos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Vosotros</a:t>
            </a:r>
            <a:r>
              <a:rPr lang="en-US" sz="1600" dirty="0"/>
              <a:t>/as	</a:t>
            </a:r>
            <a:r>
              <a:rPr lang="en-US" sz="1600" dirty="0" err="1"/>
              <a:t>Trabajais</a:t>
            </a:r>
            <a:r>
              <a:rPr lang="en-US" sz="1600" dirty="0"/>
              <a:t>			</a:t>
            </a:r>
            <a:r>
              <a:rPr lang="en-US" sz="1600" dirty="0" err="1"/>
              <a:t>bebeis</a:t>
            </a:r>
            <a:r>
              <a:rPr lang="en-US" sz="1600" dirty="0"/>
              <a:t>			</a:t>
            </a:r>
            <a:r>
              <a:rPr lang="en-US" sz="1600" dirty="0" err="1"/>
              <a:t>escribis</a:t>
            </a:r>
            <a:r>
              <a:rPr lang="en-US" sz="1600" dirty="0"/>
              <a:t>	</a:t>
            </a:r>
          </a:p>
          <a:p>
            <a:pPr marL="0" indent="0">
              <a:buNone/>
            </a:pPr>
            <a:r>
              <a:rPr lang="en-US" sz="1600" dirty="0" err="1"/>
              <a:t>Ellos</a:t>
            </a:r>
            <a:r>
              <a:rPr lang="en-US" sz="1600" dirty="0"/>
              <a:t>/</a:t>
            </a:r>
            <a:r>
              <a:rPr lang="en-US" sz="1600" dirty="0" err="1"/>
              <a:t>ellas</a:t>
            </a:r>
            <a:r>
              <a:rPr lang="en-US" sz="1600" dirty="0"/>
              <a:t>/</a:t>
            </a:r>
            <a:r>
              <a:rPr lang="en-US" sz="1600" dirty="0" err="1"/>
              <a:t>ustedes</a:t>
            </a:r>
            <a:r>
              <a:rPr lang="en-US" sz="1600" dirty="0"/>
              <a:t>	</a:t>
            </a:r>
            <a:r>
              <a:rPr lang="en-US" sz="1600" dirty="0" err="1"/>
              <a:t>Trabajan</a:t>
            </a:r>
            <a:r>
              <a:rPr lang="en-US" sz="1600" dirty="0"/>
              <a:t>			</a:t>
            </a:r>
            <a:r>
              <a:rPr lang="en-US" sz="1600" dirty="0" err="1"/>
              <a:t>beben</a:t>
            </a:r>
            <a:r>
              <a:rPr lang="en-US" sz="1600" dirty="0"/>
              <a:t>			</a:t>
            </a:r>
            <a:r>
              <a:rPr lang="en-US" sz="1600" dirty="0" err="1"/>
              <a:t>escriben</a:t>
            </a:r>
            <a:endParaRPr lang="en-US" sz="16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33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0732-86C1-4D4D-8DA5-D70843E2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haroni" panose="020B0604020202020204" pitchFamily="2" charset="-79"/>
                <a:cs typeface="Aharoni" panose="020B0604020202020204" pitchFamily="2" charset="-79"/>
              </a:rPr>
              <a:t>MORE VERBS</a:t>
            </a:r>
            <a:br>
              <a:rPr lang="es-ES" dirty="0">
                <a:latin typeface="Aharoni" panose="020B0604020202020204" pitchFamily="2" charset="-79"/>
                <a:cs typeface="Aharoni" panose="020B0604020202020204" pitchFamily="2" charset="-79"/>
              </a:rPr>
            </a:br>
            <a:r>
              <a:rPr lang="es-ES" dirty="0">
                <a:latin typeface="+mn-lt"/>
                <a:cs typeface="Aharoni" panose="020B0604020202020204" pitchFamily="2" charset="-79"/>
              </a:rPr>
              <a:t>AR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0612-947E-4EC0-8EF6-916E52DB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GB" dirty="0" err="1"/>
              <a:t>amar</a:t>
            </a:r>
            <a:r>
              <a:rPr lang="en-GB" dirty="0"/>
              <a:t>: to love.  </a:t>
            </a:r>
            <a:r>
              <a:rPr lang="en-GB" dirty="0" err="1"/>
              <a:t>ayudar</a:t>
            </a:r>
            <a:r>
              <a:rPr lang="en-GB" dirty="0"/>
              <a:t>: to help, to assist, </a:t>
            </a:r>
            <a:r>
              <a:rPr lang="en-GB" dirty="0" err="1"/>
              <a:t>acabar</a:t>
            </a:r>
            <a:r>
              <a:rPr lang="en-GB" dirty="0"/>
              <a:t>: to finish</a:t>
            </a:r>
          </a:p>
          <a:p>
            <a:pPr fontAlgn="base"/>
            <a:r>
              <a:rPr lang="en-GB" dirty="0" err="1"/>
              <a:t>bailar</a:t>
            </a:r>
            <a:r>
              <a:rPr lang="en-GB" dirty="0"/>
              <a:t>: to dance. </a:t>
            </a:r>
            <a:r>
              <a:rPr lang="en-GB" dirty="0" err="1"/>
              <a:t>bañar</a:t>
            </a:r>
            <a:r>
              <a:rPr lang="en-GB" dirty="0"/>
              <a:t>: to bathe, to wash. </a:t>
            </a:r>
            <a:r>
              <a:rPr lang="en-GB" dirty="0" err="1"/>
              <a:t>besar</a:t>
            </a:r>
            <a:r>
              <a:rPr lang="en-GB" dirty="0"/>
              <a:t>: to kiss, </a:t>
            </a:r>
            <a:r>
              <a:rPr lang="en-GB" dirty="0" err="1"/>
              <a:t>buscar</a:t>
            </a:r>
            <a:r>
              <a:rPr lang="en-GB" dirty="0"/>
              <a:t>: to look for, </a:t>
            </a:r>
          </a:p>
          <a:p>
            <a:pPr fontAlgn="base"/>
            <a:r>
              <a:rPr lang="en-GB" dirty="0" err="1"/>
              <a:t>cambiar</a:t>
            </a:r>
            <a:r>
              <a:rPr lang="en-GB" dirty="0"/>
              <a:t>: to change. </a:t>
            </a:r>
            <a:r>
              <a:rPr lang="en-GB" dirty="0" err="1"/>
              <a:t>caminar</a:t>
            </a:r>
            <a:r>
              <a:rPr lang="en-GB" dirty="0"/>
              <a:t>: to walk. </a:t>
            </a:r>
            <a:r>
              <a:rPr lang="en-GB" dirty="0" err="1"/>
              <a:t>cantar</a:t>
            </a:r>
            <a:r>
              <a:rPr lang="en-GB" dirty="0"/>
              <a:t>: to sing. </a:t>
            </a:r>
            <a:r>
              <a:rPr lang="en-GB" dirty="0" err="1"/>
              <a:t>cenar</a:t>
            </a:r>
            <a:r>
              <a:rPr lang="en-GB" dirty="0"/>
              <a:t>: to eat dinner/supper. </a:t>
            </a:r>
            <a:r>
              <a:rPr lang="en-GB" dirty="0" err="1"/>
              <a:t>cocinar</a:t>
            </a:r>
            <a:r>
              <a:rPr lang="en-GB" dirty="0"/>
              <a:t>: to cook. </a:t>
            </a:r>
            <a:r>
              <a:rPr lang="en-GB" dirty="0" err="1"/>
              <a:t>comprar</a:t>
            </a:r>
            <a:r>
              <a:rPr lang="en-GB" dirty="0"/>
              <a:t>: to buy. </a:t>
            </a:r>
            <a:r>
              <a:rPr lang="en-GB" dirty="0" err="1"/>
              <a:t>Celebrar</a:t>
            </a:r>
            <a:r>
              <a:rPr lang="en-GB" dirty="0"/>
              <a:t>: to celebrate</a:t>
            </a:r>
          </a:p>
          <a:p>
            <a:pPr fontAlgn="base"/>
            <a:r>
              <a:rPr lang="en-GB" dirty="0" err="1"/>
              <a:t>desayunar</a:t>
            </a:r>
            <a:r>
              <a:rPr lang="en-GB" dirty="0"/>
              <a:t>: to eat breakfast. </a:t>
            </a:r>
            <a:r>
              <a:rPr lang="en-GB" dirty="0" err="1"/>
              <a:t>desear</a:t>
            </a:r>
            <a:r>
              <a:rPr lang="en-GB" dirty="0"/>
              <a:t>: to wish, desire. </a:t>
            </a:r>
            <a:r>
              <a:rPr lang="en-GB" dirty="0" err="1"/>
              <a:t>dibujar</a:t>
            </a:r>
            <a:r>
              <a:rPr lang="en-GB" dirty="0"/>
              <a:t>: to draw. </a:t>
            </a:r>
            <a:r>
              <a:rPr lang="en-GB" dirty="0" err="1"/>
              <a:t>disfrutar</a:t>
            </a:r>
            <a:r>
              <a:rPr lang="en-GB" dirty="0"/>
              <a:t>: to enjoy. </a:t>
            </a:r>
            <a:r>
              <a:rPr lang="en-GB" dirty="0" err="1"/>
              <a:t>Dibujar</a:t>
            </a:r>
            <a:r>
              <a:rPr lang="en-GB" dirty="0"/>
              <a:t>: to draw. </a:t>
            </a:r>
          </a:p>
          <a:p>
            <a:pPr fontAlgn="base"/>
            <a:r>
              <a:rPr lang="en-GB" dirty="0" err="1"/>
              <a:t>enseñar</a:t>
            </a:r>
            <a:r>
              <a:rPr lang="en-GB" dirty="0"/>
              <a:t>: to show, to teach. </a:t>
            </a:r>
            <a:r>
              <a:rPr lang="en-GB" dirty="0" err="1"/>
              <a:t>entrar</a:t>
            </a:r>
            <a:r>
              <a:rPr lang="en-GB" dirty="0"/>
              <a:t>: to enter. </a:t>
            </a:r>
            <a:r>
              <a:rPr lang="en-GB" dirty="0" err="1"/>
              <a:t>escuchar</a:t>
            </a:r>
            <a:r>
              <a:rPr lang="en-GB" dirty="0"/>
              <a:t>: to listen, to hear. </a:t>
            </a:r>
            <a:r>
              <a:rPr lang="en-GB" dirty="0" err="1"/>
              <a:t>estudiar</a:t>
            </a:r>
            <a:r>
              <a:rPr lang="en-GB" dirty="0"/>
              <a:t>: to study, </a:t>
            </a:r>
            <a:r>
              <a:rPr lang="en-GB" dirty="0" err="1"/>
              <a:t>escuchar</a:t>
            </a:r>
            <a:r>
              <a:rPr lang="en-GB" dirty="0"/>
              <a:t>: to listen to, </a:t>
            </a:r>
            <a:r>
              <a:rPr lang="en-GB" dirty="0" err="1"/>
              <a:t>enviar</a:t>
            </a:r>
            <a:r>
              <a:rPr lang="en-GB" dirty="0"/>
              <a:t>: to send</a:t>
            </a:r>
          </a:p>
          <a:p>
            <a:pPr fontAlgn="base"/>
            <a:r>
              <a:rPr lang="en-GB" dirty="0" err="1"/>
              <a:t>fumar</a:t>
            </a:r>
            <a:r>
              <a:rPr lang="en-GB" dirty="0"/>
              <a:t>: to smoke</a:t>
            </a:r>
          </a:p>
          <a:p>
            <a:pPr fontAlgn="base"/>
            <a:r>
              <a:rPr lang="en-GB" dirty="0" err="1"/>
              <a:t>ganar</a:t>
            </a:r>
            <a:r>
              <a:rPr lang="en-GB" dirty="0"/>
              <a:t>: to win, </a:t>
            </a:r>
            <a:r>
              <a:rPr lang="en-GB" dirty="0" err="1"/>
              <a:t>guardar</a:t>
            </a:r>
            <a:r>
              <a:rPr lang="en-GB" dirty="0"/>
              <a:t>: to guard,</a:t>
            </a:r>
          </a:p>
          <a:p>
            <a:pPr fontAlgn="base"/>
            <a:endParaRPr lang="en-GB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463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A96C-1769-4EDE-AF35-FCF9EEAC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96EB-E645-4692-B94F-6B61AD53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66" y="199443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GB" dirty="0" err="1"/>
              <a:t>lavar</a:t>
            </a:r>
            <a:r>
              <a:rPr lang="en-GB" dirty="0"/>
              <a:t>: to wash. </a:t>
            </a:r>
            <a:r>
              <a:rPr lang="en-GB" dirty="0" err="1"/>
              <a:t>limpiar</a:t>
            </a:r>
            <a:r>
              <a:rPr lang="en-GB" dirty="0"/>
              <a:t>: to clean</a:t>
            </a:r>
          </a:p>
          <a:p>
            <a:pPr fontAlgn="base"/>
            <a:r>
              <a:rPr lang="en-GB" dirty="0" err="1"/>
              <a:t>Llegar</a:t>
            </a:r>
            <a:r>
              <a:rPr lang="en-GB" dirty="0"/>
              <a:t>: to arrive, </a:t>
            </a:r>
            <a:r>
              <a:rPr lang="en-GB" dirty="0" err="1"/>
              <a:t>llevar</a:t>
            </a:r>
            <a:r>
              <a:rPr lang="en-GB" dirty="0"/>
              <a:t>: to carry</a:t>
            </a:r>
          </a:p>
          <a:p>
            <a:r>
              <a:rPr lang="en-GB" dirty="0" err="1"/>
              <a:t>mirar</a:t>
            </a:r>
            <a:r>
              <a:rPr lang="en-GB" dirty="0"/>
              <a:t>: to see, to look</a:t>
            </a:r>
            <a:endParaRPr lang="en-GB" sz="3700" dirty="0"/>
          </a:p>
          <a:p>
            <a:pPr fontAlgn="base"/>
            <a:r>
              <a:rPr lang="en-GB" dirty="0" err="1"/>
              <a:t>nadar</a:t>
            </a:r>
            <a:r>
              <a:rPr lang="en-GB" dirty="0"/>
              <a:t>: to swim. </a:t>
            </a:r>
            <a:r>
              <a:rPr lang="en-GB" dirty="0" err="1"/>
              <a:t>necesitar</a:t>
            </a:r>
            <a:r>
              <a:rPr lang="en-GB" dirty="0"/>
              <a:t>: to need</a:t>
            </a:r>
          </a:p>
          <a:p>
            <a:r>
              <a:rPr lang="en-US" dirty="0" err="1"/>
              <a:t>olvidar</a:t>
            </a:r>
            <a:r>
              <a:rPr lang="en-US" dirty="0"/>
              <a:t>: to forget</a:t>
            </a:r>
          </a:p>
          <a:p>
            <a:pPr fontAlgn="base"/>
            <a:r>
              <a:rPr lang="en-GB" dirty="0"/>
              <a:t>pasar: to pass time, to spend time. </a:t>
            </a:r>
            <a:r>
              <a:rPr lang="en-GB" dirty="0" err="1"/>
              <a:t>pintar</a:t>
            </a:r>
            <a:r>
              <a:rPr lang="en-GB" dirty="0"/>
              <a:t>: to paint. </a:t>
            </a:r>
            <a:r>
              <a:rPr lang="en-GB" dirty="0" err="1"/>
              <a:t>planchar</a:t>
            </a:r>
            <a:r>
              <a:rPr lang="en-GB" dirty="0"/>
              <a:t>: to iron. </a:t>
            </a:r>
            <a:r>
              <a:rPr lang="en-GB" dirty="0" err="1"/>
              <a:t>preguntar</a:t>
            </a:r>
            <a:r>
              <a:rPr lang="en-GB" dirty="0"/>
              <a:t>: to ask a question. </a:t>
            </a:r>
            <a:r>
              <a:rPr lang="en-GB" dirty="0" err="1"/>
              <a:t>preparar</a:t>
            </a:r>
            <a:r>
              <a:rPr lang="en-GB" dirty="0"/>
              <a:t>: to prepare. </a:t>
            </a:r>
          </a:p>
          <a:p>
            <a:pPr fontAlgn="base"/>
            <a:r>
              <a:rPr lang="en-GB" dirty="0" err="1"/>
              <a:t>terminar</a:t>
            </a:r>
            <a:r>
              <a:rPr lang="en-GB" dirty="0"/>
              <a:t>: to terminate, to end. </a:t>
            </a:r>
            <a:r>
              <a:rPr lang="en-GB" dirty="0" err="1"/>
              <a:t>tomar</a:t>
            </a:r>
            <a:r>
              <a:rPr lang="en-GB" dirty="0"/>
              <a:t>: to drink, to take. </a:t>
            </a:r>
            <a:r>
              <a:rPr lang="en-GB" dirty="0" err="1"/>
              <a:t>trabajar</a:t>
            </a:r>
            <a:r>
              <a:rPr lang="en-GB" dirty="0"/>
              <a:t>: to work</a:t>
            </a:r>
          </a:p>
          <a:p>
            <a:pPr fontAlgn="base"/>
            <a:r>
              <a:rPr lang="en-GB" dirty="0" err="1"/>
              <a:t>usar</a:t>
            </a:r>
            <a:r>
              <a:rPr lang="en-GB" dirty="0"/>
              <a:t>: to use</a:t>
            </a:r>
          </a:p>
          <a:p>
            <a:pPr fontAlgn="base"/>
            <a:r>
              <a:rPr lang="en-GB" dirty="0" err="1"/>
              <a:t>viajar</a:t>
            </a:r>
            <a:r>
              <a:rPr lang="en-GB" dirty="0"/>
              <a:t>: to travel. </a:t>
            </a:r>
            <a:r>
              <a:rPr lang="en-GB" dirty="0" err="1"/>
              <a:t>visitar</a:t>
            </a:r>
            <a:r>
              <a:rPr lang="en-GB" dirty="0"/>
              <a:t>: to visit</a:t>
            </a:r>
          </a:p>
          <a:p>
            <a:pPr marL="0" indent="0" fontAlgn="base">
              <a:buNone/>
            </a:pPr>
            <a:endParaRPr lang="en-GB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9587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F6AD-EC05-46D0-AD3C-28C0C7C5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ER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ACD0-69E8-4A61-9D30-90CC1052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dirty="0" err="1"/>
              <a:t>aprender</a:t>
            </a:r>
            <a:r>
              <a:rPr lang="en-GB" dirty="0"/>
              <a:t>: to learn</a:t>
            </a:r>
          </a:p>
          <a:p>
            <a:pPr fontAlgn="base"/>
            <a:r>
              <a:rPr lang="en-GB" dirty="0" err="1"/>
              <a:t>barrer</a:t>
            </a:r>
            <a:r>
              <a:rPr lang="en-GB" dirty="0"/>
              <a:t>: to sweep</a:t>
            </a:r>
          </a:p>
          <a:p>
            <a:pPr fontAlgn="base"/>
            <a:r>
              <a:rPr lang="en-GB" dirty="0" err="1"/>
              <a:t>beber</a:t>
            </a:r>
            <a:r>
              <a:rPr lang="en-GB" dirty="0"/>
              <a:t>: to drink</a:t>
            </a:r>
          </a:p>
          <a:p>
            <a:pPr fontAlgn="base"/>
            <a:r>
              <a:rPr lang="en-GB" dirty="0"/>
              <a:t>comer: to eat</a:t>
            </a:r>
          </a:p>
          <a:p>
            <a:pPr fontAlgn="base"/>
            <a:r>
              <a:rPr lang="en-GB" dirty="0" err="1"/>
              <a:t>comprender</a:t>
            </a:r>
            <a:r>
              <a:rPr lang="en-GB" dirty="0"/>
              <a:t>: to comprehend, to understand</a:t>
            </a:r>
          </a:p>
          <a:p>
            <a:pPr fontAlgn="base"/>
            <a:r>
              <a:rPr lang="en-GB" dirty="0" err="1"/>
              <a:t>correr</a:t>
            </a:r>
            <a:r>
              <a:rPr lang="en-GB" dirty="0"/>
              <a:t>: to run</a:t>
            </a:r>
          </a:p>
          <a:p>
            <a:pPr fontAlgn="base"/>
            <a:r>
              <a:rPr lang="en-GB" dirty="0" err="1"/>
              <a:t>Creer</a:t>
            </a:r>
            <a:r>
              <a:rPr lang="en-GB" dirty="0"/>
              <a:t>: to believe</a:t>
            </a:r>
          </a:p>
          <a:p>
            <a:pPr fontAlgn="base"/>
            <a:endParaRPr lang="en-GB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083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30EE-4888-4CA3-9B2B-B7B89CAB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B3D6F-60EF-4B81-9E61-5CB0DFAF1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sz="5400" dirty="0" err="1"/>
              <a:t>deber</a:t>
            </a:r>
            <a:r>
              <a:rPr lang="en-GB" sz="5400" dirty="0"/>
              <a:t>: to owe, to ought to, should</a:t>
            </a:r>
          </a:p>
          <a:p>
            <a:pPr fontAlgn="base"/>
            <a:r>
              <a:rPr lang="en-GB" sz="5400" dirty="0" err="1"/>
              <a:t>depender</a:t>
            </a:r>
            <a:r>
              <a:rPr lang="en-GB" sz="5400" dirty="0"/>
              <a:t>: to depend</a:t>
            </a:r>
          </a:p>
          <a:p>
            <a:pPr fontAlgn="base"/>
            <a:r>
              <a:rPr lang="en-GB" sz="5400" dirty="0" err="1"/>
              <a:t>esconder</a:t>
            </a:r>
            <a:r>
              <a:rPr lang="en-GB" sz="5400" dirty="0"/>
              <a:t>: to hide</a:t>
            </a:r>
          </a:p>
          <a:p>
            <a:pPr fontAlgn="base"/>
            <a:r>
              <a:rPr lang="en-GB" sz="5400" dirty="0"/>
              <a:t>Leer: to read</a:t>
            </a:r>
          </a:p>
          <a:p>
            <a:pPr fontAlgn="base"/>
            <a:r>
              <a:rPr lang="en-GB" sz="5400" dirty="0" err="1"/>
              <a:t>poseer</a:t>
            </a:r>
            <a:r>
              <a:rPr lang="en-GB" sz="5400" dirty="0"/>
              <a:t>: to own, to possess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49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AA5C-35B5-CE03-9F67-4E5696AD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06801-462E-834E-0C9C-63638162E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sz="6000" dirty="0" err="1">
                <a:solidFill>
                  <a:srgbClr val="555555"/>
                </a:solidFill>
                <a:effectLst/>
              </a:rPr>
              <a:t>Proteger</a:t>
            </a:r>
            <a:r>
              <a:rPr lang="en-IN" sz="6000" dirty="0">
                <a:solidFill>
                  <a:srgbClr val="555555"/>
                </a:solidFill>
                <a:effectLst/>
              </a:rPr>
              <a:t>: to protect</a:t>
            </a:r>
          </a:p>
          <a:p>
            <a:pPr fontAlgn="base"/>
            <a:r>
              <a:rPr lang="en-IN" sz="6000" dirty="0">
                <a:solidFill>
                  <a:srgbClr val="555555"/>
                </a:solidFill>
                <a:effectLst/>
              </a:rPr>
              <a:t>Responder: to respond</a:t>
            </a:r>
          </a:p>
          <a:p>
            <a:pPr fontAlgn="base"/>
            <a:r>
              <a:rPr lang="en-IN" sz="6000" dirty="0">
                <a:solidFill>
                  <a:srgbClr val="555555"/>
                </a:solidFill>
                <a:effectLst/>
              </a:rPr>
              <a:t>Temer: to fear</a:t>
            </a:r>
          </a:p>
          <a:p>
            <a:pPr fontAlgn="base"/>
            <a:r>
              <a:rPr lang="en-IN" sz="6000" dirty="0">
                <a:solidFill>
                  <a:srgbClr val="555555"/>
                </a:solidFill>
                <a:effectLst/>
              </a:rPr>
              <a:t>Vender</a:t>
            </a:r>
            <a:r>
              <a:rPr lang="en-IN" sz="6000" dirty="0">
                <a:solidFill>
                  <a:srgbClr val="555555"/>
                </a:solidFill>
              </a:rPr>
              <a:t>: </a:t>
            </a:r>
            <a:r>
              <a:rPr lang="en-IN" sz="6000" dirty="0">
                <a:solidFill>
                  <a:srgbClr val="555555"/>
                </a:solidFill>
                <a:effectLst/>
              </a:rPr>
              <a:t>to sell</a:t>
            </a:r>
            <a:endParaRPr lang="en-GB" sz="60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174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1945-667B-2681-BA85-C641933D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IR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FD17-915D-339B-A825-B01B06EF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4000" dirty="0"/>
              <a:t>Abrir:			</a:t>
            </a:r>
            <a:r>
              <a:rPr lang="es-ES" sz="4000" dirty="0" err="1"/>
              <a:t>to</a:t>
            </a:r>
            <a:r>
              <a:rPr lang="es-ES" sz="4000" dirty="0"/>
              <a:t> open</a:t>
            </a:r>
          </a:p>
          <a:p>
            <a:r>
              <a:rPr lang="es-ES" sz="4000" dirty="0"/>
              <a:t>Cumplir:		</a:t>
            </a:r>
            <a:r>
              <a:rPr lang="es-ES" sz="4000" dirty="0" err="1"/>
              <a:t>to</a:t>
            </a:r>
            <a:r>
              <a:rPr lang="es-ES" sz="4000" dirty="0"/>
              <a:t> complete</a:t>
            </a:r>
          </a:p>
          <a:p>
            <a:r>
              <a:rPr lang="es-ES" sz="4000" dirty="0"/>
              <a:t>Descubrir:		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discover</a:t>
            </a:r>
            <a:endParaRPr lang="es-ES" sz="4000" dirty="0"/>
          </a:p>
          <a:p>
            <a:r>
              <a:rPr lang="es-ES" sz="4000" dirty="0"/>
              <a:t>Escribir:		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write</a:t>
            </a:r>
            <a:endParaRPr lang="es-ES" sz="4000" dirty="0"/>
          </a:p>
          <a:p>
            <a:r>
              <a:rPr lang="es-ES" sz="4000" dirty="0"/>
              <a:t>Existir:			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exist</a:t>
            </a:r>
            <a:endParaRPr lang="es-ES" sz="4000" dirty="0"/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400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Ocurrir</a:t>
            </a:r>
            <a:r>
              <a:rPr lang="en-IN" sz="4000" dirty="0">
                <a:latin typeface="Arial" panose="020B0604020202020204" pitchFamily="34" charset="0"/>
              </a:rPr>
              <a:t>			</a:t>
            </a:r>
            <a:r>
              <a:rPr lang="en-IN" sz="400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occur/happen</a:t>
            </a:r>
            <a:endParaRPr lang="en-IN" sz="400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400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Partir</a:t>
            </a:r>
            <a:r>
              <a:rPr lang="en-IN" sz="4000" dirty="0">
                <a:latin typeface="Arial" panose="020B0604020202020204" pitchFamily="34" charset="0"/>
              </a:rPr>
              <a:t>			</a:t>
            </a:r>
            <a:r>
              <a:rPr lang="en-IN" sz="400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leave</a:t>
            </a:r>
            <a:endParaRPr lang="en-IN" sz="4000" u="none" strike="noStrike" dirty="0">
              <a:effectLst/>
              <a:latin typeface="Arial" panose="020B0604020202020204" pitchFamily="34" charset="0"/>
            </a:endParaRP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6783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F213-62AD-B2D8-9360-5039AF3F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73B4-C4EA-B4A7-27D6-56E044131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540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Permitir</a:t>
            </a:r>
            <a:r>
              <a:rPr lang="en-IN" sz="5400" dirty="0">
                <a:latin typeface="Arial" panose="020B0604020202020204" pitchFamily="34" charset="0"/>
              </a:rPr>
              <a:t>			</a:t>
            </a:r>
            <a:r>
              <a:rPr lang="en-IN" sz="540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permit/allow</a:t>
            </a: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5400" dirty="0" err="1">
                <a:solidFill>
                  <a:srgbClr val="000000"/>
                </a:solidFill>
                <a:latin typeface="Calibri" panose="020F0502020204030204" pitchFamily="34" charset="0"/>
              </a:rPr>
              <a:t>Insistir</a:t>
            </a:r>
            <a:r>
              <a:rPr lang="en-IN" sz="5400" dirty="0">
                <a:solidFill>
                  <a:srgbClr val="000000"/>
                </a:solidFill>
                <a:latin typeface="Calibri" panose="020F0502020204030204" pitchFamily="34" charset="0"/>
              </a:rPr>
              <a:t>			to insist</a:t>
            </a:r>
            <a:endParaRPr lang="en-IN" sz="540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5400" dirty="0" err="1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IN" sz="540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roducir</a:t>
            </a:r>
            <a:r>
              <a:rPr lang="en-IN" sz="540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			to produce</a:t>
            </a:r>
            <a:endParaRPr lang="en-IN" sz="540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5400" u="none" strike="noStrike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Recibir</a:t>
            </a:r>
            <a:r>
              <a:rPr lang="en-IN" sz="5400" dirty="0">
                <a:latin typeface="Arial" panose="020B0604020202020204" pitchFamily="34" charset="0"/>
              </a:rPr>
              <a:t>			</a:t>
            </a:r>
            <a:r>
              <a:rPr lang="en-IN" sz="540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receive</a:t>
            </a: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s-ES" sz="5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Discutir			</a:t>
            </a:r>
            <a:r>
              <a:rPr lang="es-ES" sz="5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</a:t>
            </a:r>
            <a:r>
              <a:rPr lang="es-ES" sz="5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ES" sz="5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discuss</a:t>
            </a:r>
            <a:endParaRPr lang="es-ES" sz="5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s-ES" sz="54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Subir		</a:t>
            </a:r>
            <a:r>
              <a:rPr lang="es-ES" sz="540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	to</a:t>
            </a:r>
            <a:r>
              <a:rPr lang="es-ES" sz="54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ES" sz="54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climb</a:t>
            </a:r>
            <a:endParaRPr lang="es-ES" sz="54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endParaRPr lang="en-IN" sz="3200" u="none" strike="noStrike" dirty="0">
              <a:effectLst/>
              <a:latin typeface="Arial" panose="020B060402020202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497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7F0E60-7740-4D73-901B-D47E0958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Tarea</a:t>
            </a:r>
            <a:r>
              <a:rPr lang="en-IN" dirty="0"/>
              <a:t>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9C7378-D207-4431-A578-E6CCC8904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3124" y="1212574"/>
            <a:ext cx="14287836" cy="5575852"/>
          </a:xfrm>
        </p:spPr>
      </p:pic>
    </p:spTree>
    <p:extLst>
      <p:ext uri="{BB962C8B-B14F-4D97-AF65-F5344CB8AC3E}">
        <p14:creationId xmlns:p14="http://schemas.microsoft.com/office/powerpoint/2010/main" val="1240784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8A05-E3CA-4C07-8E1C-00E0E31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Tarea</a:t>
            </a:r>
            <a:r>
              <a:rPr lang="en-IN" dirty="0"/>
              <a:t> 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814A78-5CA4-48E7-992D-9D0C2BACF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1" y="1825625"/>
            <a:ext cx="11485983" cy="4351338"/>
          </a:xfrm>
        </p:spPr>
      </p:pic>
    </p:spTree>
    <p:extLst>
      <p:ext uri="{BB962C8B-B14F-4D97-AF65-F5344CB8AC3E}">
        <p14:creationId xmlns:p14="http://schemas.microsoft.com/office/powerpoint/2010/main" val="1096776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ED97-508A-4353-989E-EA8C0F08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Tarea</a:t>
            </a:r>
            <a:r>
              <a:rPr lang="en-IN" dirty="0"/>
              <a:t>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92921-060A-44DB-A36C-3E723D473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25625"/>
            <a:ext cx="11896531" cy="4351338"/>
          </a:xfrm>
        </p:spPr>
      </p:pic>
    </p:spTree>
    <p:extLst>
      <p:ext uri="{BB962C8B-B14F-4D97-AF65-F5344CB8AC3E}">
        <p14:creationId xmlns:p14="http://schemas.microsoft.com/office/powerpoint/2010/main" val="92569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819</Words>
  <Application>Microsoft Office PowerPoint</Application>
  <PresentationFormat>Widescreen</PresentationFormat>
  <Paragraphs>124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Aharoni</vt:lpstr>
      <vt:lpstr>Arial</vt:lpstr>
      <vt:lpstr>Arial Black</vt:lpstr>
      <vt:lpstr>Calibri</vt:lpstr>
      <vt:lpstr>Calibri Light</vt:lpstr>
      <vt:lpstr>Times New Roman</vt:lpstr>
      <vt:lpstr>Office Theme</vt:lpstr>
      <vt:lpstr>LOS VERBOS REGULARES</vt:lpstr>
      <vt:lpstr>LOS 3 TIPOS DE VERBOS</vt:lpstr>
      <vt:lpstr>      Pronombres</vt:lpstr>
      <vt:lpstr>Ar ending regular verbs</vt:lpstr>
      <vt:lpstr>ER ending regular verbs</vt:lpstr>
      <vt:lpstr>IR ending regular verbs</vt:lpstr>
      <vt:lpstr>CONJUGATIONS OF ALL 3 ENDINGS</vt:lpstr>
      <vt:lpstr>PowerPoint Presentation</vt:lpstr>
      <vt:lpstr>MORE VERBS AR ENDING</vt:lpstr>
      <vt:lpstr>PowerPoint Presentation</vt:lpstr>
      <vt:lpstr>ER ENDING</vt:lpstr>
      <vt:lpstr>PowerPoint Presentation</vt:lpstr>
      <vt:lpstr>PowerPoint Presentation</vt:lpstr>
      <vt:lpstr>IR ENDING</vt:lpstr>
      <vt:lpstr>PowerPoint Presentation</vt:lpstr>
      <vt:lpstr>Tarea 1</vt:lpstr>
      <vt:lpstr>Tarea 2</vt:lpstr>
      <vt:lpstr>Tarea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VERBOS REGULARES</dc:title>
  <dc:creator>baishali choudhuri</dc:creator>
  <cp:lastModifiedBy>baishali choudhuri</cp:lastModifiedBy>
  <cp:revision>17</cp:revision>
  <dcterms:created xsi:type="dcterms:W3CDTF">2020-04-06T08:14:51Z</dcterms:created>
  <dcterms:modified xsi:type="dcterms:W3CDTF">2024-04-04T08:34:30Z</dcterms:modified>
</cp:coreProperties>
</file>