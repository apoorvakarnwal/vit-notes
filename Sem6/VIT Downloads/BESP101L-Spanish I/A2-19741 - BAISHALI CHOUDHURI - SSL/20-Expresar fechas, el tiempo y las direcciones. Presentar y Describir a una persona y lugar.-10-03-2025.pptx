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5" r:id="rId8"/>
    <p:sldId id="264" r:id="rId9"/>
    <p:sldId id="260" r:id="rId10"/>
    <p:sldId id="261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2E2DB-893A-D00B-27C6-AA47A5AAC8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4AABD-C136-76E0-1DE4-A415040B1B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885DA-3215-3B89-C8F6-9E809757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D02E-BB8B-4A55-8A09-418D892BD55A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951CE-4000-BE60-9D58-A3C8B8CA9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D276B-9EA7-8ED0-2401-5F6ACB6C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6579F-222C-4B39-B346-ED372E5EF4F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7279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9D7B-A4DE-DD93-3AE6-5C19D80A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E6677-9E5D-C29A-C3C2-E2E92D1A5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823A-DDB4-B021-992F-7C1254E92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D02E-BB8B-4A55-8A09-418D892BD55A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5F1BF-EC56-200F-C60E-1EB40B71C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406F1-4D58-5E86-6BC0-42C40B5F4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6579F-222C-4B39-B346-ED372E5EF4F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7602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BA85-A1CA-27F1-C9D1-240CA28B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D941A-6CF1-0583-5225-48CF752CC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40913-A564-42B5-080C-B8C771C01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D02E-BB8B-4A55-8A09-418D892BD55A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5F282-37CB-429D-763B-C1476DE36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34BEF-8DBA-9723-05CC-0B5280562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6579F-222C-4B39-B346-ED372E5EF4F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1047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A4F99-146C-28D7-73F5-27AB12A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140ED-5FF2-A8AD-E943-62FA8CE50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0BAE2-10C8-2D73-6590-91E6C53C1F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0C6FC-16A5-8641-F3F1-FE9039B6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D02E-BB8B-4A55-8A09-418D892BD55A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EDA39-4294-1487-3AA7-86FE9E59A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2F1E3-56C6-1F47-8C95-36CA8821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6579F-222C-4B39-B346-ED372E5EF4F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84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0E26-F4A5-8538-17C6-C665B6D9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22FA4-F6CC-01CA-A608-5DC7A9B41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928AB-07BF-2EF1-37A8-39CDE1C6B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66450A-0FBC-F571-38B4-A63174BFE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8F35FA-851F-011E-B3C6-D0EDF48EDD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0B4ED-72C6-D049-8BF1-7ED709C3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D02E-BB8B-4A55-8A09-418D892BD55A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9BB5D8-F5DA-9D4D-0794-E7B40E35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CFC4E3-AF72-034F-B5FB-433C9C0A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6579F-222C-4B39-B346-ED372E5EF4F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5274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E11F-A21A-FCD1-8692-9967C4B44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FF0BA5-56F2-0AE8-4197-716AFE36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D02E-BB8B-4A55-8A09-418D892BD55A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F703E-E761-6EF7-D687-D364089F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05E2B8-8EF3-453E-1316-844DD5D83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6579F-222C-4B39-B346-ED372E5EF4F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4901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CFAA2F-983D-261A-D4F3-1A6FCFD5F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D02E-BB8B-4A55-8A09-418D892BD55A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25CC90-B362-DC71-91FB-AAC6B377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AC549-DD05-51DA-2113-1CB35FB05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6579F-222C-4B39-B346-ED372E5EF4F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6686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171C-FC37-9498-4EE6-10E1654A8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90677-50BA-9F1D-74BB-DB8FCDD30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B3701-4370-33D0-085D-9BFB4C3C0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5E77BA-807F-FDFB-9365-7E9624B65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D02E-BB8B-4A55-8A09-418D892BD55A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99B43A-EF7B-73DE-6068-11D7525E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83B76-1492-8DED-C708-CD4058C6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6579F-222C-4B39-B346-ED372E5EF4F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6948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7E35-506C-25B6-5603-AAFCCB9D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02FF5-9D81-A638-23FA-EAA13AA48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E89040-704D-C055-DEED-956AAE963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4AFDF-4518-6A24-8D56-44E3E164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D02E-BB8B-4A55-8A09-418D892BD55A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2BF01-C521-07B3-BFC1-3DD8B7CCF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68D7B-932E-2952-57A2-5E872BB4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6579F-222C-4B39-B346-ED372E5EF4F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5329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F2CF-2CE6-F47D-F65B-584D11A25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FFA39-B87A-04EB-AC41-EE318E388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E19BD-6FF1-1ED3-BA02-4E24A03D8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D02E-BB8B-4A55-8A09-418D892BD55A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6C1041-0B41-6679-12E7-A6A091D28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77D6B-F765-AC36-67B2-B4CF49340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6579F-222C-4B39-B346-ED372E5EF4F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245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E56B81-36F3-B91E-C7FD-06D1F76EE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C8DE50-2C18-840F-FE09-61F4B3EF3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22001-9728-F965-36D3-105C9CEC7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DD02E-BB8B-4A55-8A09-418D892BD55A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3BEFE-9ABA-5E64-B267-50803DB02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2278F-FA9B-46F4-816F-BC9396EB8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6579F-222C-4B39-B346-ED372E5EF4F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0917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8F8BE8-8756-32CB-244A-8DD32130D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4FBDC-8A7C-3452-7294-0CF9151D0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D48FB-5D5A-61BC-5D1D-23D90E551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DD02E-BB8B-4A55-8A09-418D892BD55A}" type="datetimeFigureOut">
              <a:rPr lang="es-ES" smtClean="0"/>
              <a:t>21/10/2024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1BE66-3C67-5FB6-986A-90B990C025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CBB32-3410-5E70-85FD-71F83E5F2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6579F-222C-4B39-B346-ED372E5EF4F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2861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EE249-738A-7E0C-4785-CA62AC2CEF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El clima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DEB71C-F1AF-9C19-BD65-ABD7877DF9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El tiempo</a:t>
            </a:r>
          </a:p>
        </p:txBody>
      </p:sp>
    </p:spTree>
    <p:extLst>
      <p:ext uri="{BB962C8B-B14F-4D97-AF65-F5344CB8AC3E}">
        <p14:creationId xmlns:p14="http://schemas.microsoft.com/office/powerpoint/2010/main" val="247329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95A3C-03E0-70A2-C785-8A3B1CA03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0BDE4-CC55-6F8A-94FF-EBFD1E3D0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In Spanish, different verbs are used to discuss the weather. </a:t>
            </a:r>
          </a:p>
          <a:p>
            <a:pPr algn="l"/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Hace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calor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hoy; ¿no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sienten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?</a:t>
            </a:r>
            <a:b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It’s hot today, isn’t it?</a:t>
            </a:r>
          </a:p>
          <a:p>
            <a:pPr algn="l"/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El día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está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nublado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.</a:t>
            </a:r>
            <a:b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It’s cloudy today. </a:t>
            </a:r>
          </a:p>
          <a:p>
            <a:pPr algn="l"/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Hay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mucho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viento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hoy.</a:t>
            </a:r>
            <a:b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It’s very windy today.</a:t>
            </a:r>
          </a:p>
          <a:p>
            <a:pPr algn="l"/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El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clima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es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agradable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. </a:t>
            </a:r>
            <a:b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The weather is nice.</a:t>
            </a:r>
          </a:p>
          <a:p>
            <a:pPr algn="l"/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El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clima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es terrible. </a:t>
            </a:r>
            <a:b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The weather is terrible. 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276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3229-3379-5E45-F077-3F4C561AA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Hacer</a:t>
            </a:r>
            <a:r>
              <a:rPr lang="en-US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US" b="1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(to do or to make)</a:t>
            </a:r>
            <a:br>
              <a:rPr lang="en-US" b="1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D744C-872E-21E1-0995-2AA49BAB8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This verb is used to explain </a:t>
            </a:r>
            <a:r>
              <a:rPr lang="en-US" b="0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lo que </a:t>
            </a:r>
            <a:r>
              <a:rPr lang="en-US" b="0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el</a:t>
            </a:r>
            <a:r>
              <a:rPr lang="en-US" b="0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clima</a:t>
            </a:r>
            <a:r>
              <a:rPr lang="en-US" b="0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0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hace</a:t>
            </a:r>
            <a:r>
              <a:rPr lang="en-US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 (what the weather does).  </a:t>
            </a:r>
          </a:p>
          <a:p>
            <a:pPr algn="l"/>
            <a:r>
              <a:rPr lang="en-US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Hace</a:t>
            </a:r>
            <a:r>
              <a:rPr lang="en-US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mucho</a:t>
            </a:r>
            <a:r>
              <a:rPr lang="en-US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frío</a:t>
            </a:r>
            <a:r>
              <a:rPr lang="en-US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.</a:t>
            </a:r>
            <a:br>
              <a:rPr lang="en-US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r>
              <a:rPr lang="en-US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It ‘s very cold.</a:t>
            </a:r>
          </a:p>
          <a:p>
            <a:pPr algn="l"/>
            <a:r>
              <a:rPr lang="en-US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Hace</a:t>
            </a:r>
            <a:r>
              <a:rPr lang="en-US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un </a:t>
            </a:r>
            <a:r>
              <a:rPr lang="en-US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calor</a:t>
            </a:r>
            <a:r>
              <a:rPr lang="en-US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horrible.</a:t>
            </a:r>
            <a:br>
              <a:rPr lang="en-US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r>
              <a:rPr lang="en-US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It’s terribly hot. </a:t>
            </a:r>
          </a:p>
          <a:p>
            <a:pPr algn="l"/>
            <a:r>
              <a:rPr lang="en-US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Hace</a:t>
            </a:r>
            <a:r>
              <a:rPr lang="en-US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frío</a:t>
            </a:r>
            <a:r>
              <a:rPr lang="en-US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.</a:t>
            </a:r>
            <a:br>
              <a:rPr lang="en-US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r>
              <a:rPr lang="en-US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It’s cold.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1746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870BB-5006-8B6B-9026-D803D5455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Weather</a:t>
            </a:r>
            <a:r>
              <a:rPr lang="es-ES" dirty="0"/>
              <a:t> expresión </a:t>
            </a:r>
            <a:r>
              <a:rPr lang="es-ES" dirty="0" err="1"/>
              <a:t>with</a:t>
            </a:r>
            <a:r>
              <a:rPr lang="es-ES" dirty="0"/>
              <a:t> HACER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DC56A-D0FE-432A-F19B-BB3D7A214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 fontAlgn="base">
              <a:buNone/>
            </a:pPr>
            <a:endParaRPr lang="en-IN" b="0" i="0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Hace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frío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(It’s cold)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Hace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sol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sunny)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Hace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viento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windy)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Hace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calor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hot)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Hace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fresco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cool)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Hace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buen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tiempo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(The weather is nice)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Hace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mal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tiempo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(The weather is bad)</a:t>
            </a:r>
          </a:p>
          <a:p>
            <a:pPr marL="0" indent="0" algn="ctr" fontAlgn="base">
              <a:buNone/>
            </a:pPr>
            <a:endParaRPr lang="en-IN" b="0" i="0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33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642A-5373-3461-8B19-4F45CF472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Estar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IN" b="1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(to be)</a:t>
            </a:r>
            <a:br>
              <a:rPr lang="en-IN" b="1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40C1D-0A39-F1E7-5A1B-9CB55A000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0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Estar</a:t>
            </a:r>
            <a:r>
              <a:rPr lang="en-IN" b="0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(to be) is used to elaborate on what the weather is right now.</a:t>
            </a:r>
          </a:p>
          <a:p>
            <a:pPr marL="0" indent="0" algn="ctr">
              <a:buNone/>
            </a:pPr>
            <a:endParaRPr lang="en-IN" b="0" i="0" dirty="0">
              <a:solidFill>
                <a:srgbClr val="4E505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Está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soleado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;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vamos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a la piscina. </a:t>
            </a:r>
            <a:b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It’s sunny—let’s go to the pool. </a:t>
            </a:r>
          </a:p>
          <a:p>
            <a:pPr algn="l"/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Está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lloviendo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; no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salgas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hoy.</a:t>
            </a:r>
            <a:b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It’s raining—don’t go out. </a:t>
            </a:r>
          </a:p>
          <a:p>
            <a:pPr algn="l"/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Está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nevando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;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cuidado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en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la </a:t>
            </a:r>
            <a:r>
              <a:rPr lang="en-IN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carretera</a:t>
            </a:r>
            <a:r>
              <a:rPr lang="en-IN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.</a:t>
            </a:r>
            <a:b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r>
              <a:rPr lang="en-IN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It’s snowing—be careful on the road. 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73965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C109-425B-04EB-FCFA-23EBB9CA4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86D3F-0C89-0D1F-0270-AE655C974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Está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nublado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cloudy)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Está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frío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(It’s cold)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Está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soleado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sunny)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Está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despejado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clear)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Está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ventoso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(It’s windy)</a:t>
            </a:r>
            <a:endParaRPr lang="en-IN" b="0" i="0" dirty="0">
              <a:solidFill>
                <a:srgbClr val="666666"/>
              </a:solidFill>
              <a:effectLst/>
              <a:latin typeface="Lato" panose="020F0502020204030203" pitchFamily="34" charset="0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Está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tormentoso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stormy)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Está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lloviendo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/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lluvioso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raining / rainy)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Está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húmedo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humid)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Está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nevando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(It’s snowing)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Está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oscuro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(It’s dark)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Está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caluroso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hot)</a:t>
            </a:r>
          </a:p>
          <a:p>
            <a:pPr algn="ctr" fontAlgn="base"/>
            <a:r>
              <a:rPr lang="en-IN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Haber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9749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DE01-593B-C61E-B99F-AF916448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Hay </a:t>
            </a:r>
            <a:r>
              <a:rPr lang="en-US" b="1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(there is)</a:t>
            </a:r>
            <a:br>
              <a:rPr lang="en-US" b="1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A9FBE-0F2B-997C-4382-B24F6D7D1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The verb </a:t>
            </a:r>
            <a:r>
              <a:rPr lang="en-US" b="0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hay </a:t>
            </a:r>
            <a:r>
              <a:rPr lang="en-US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(there is) answers the question of “how is the weather over there?” Let’s examine some phrases with this verb.</a:t>
            </a:r>
          </a:p>
          <a:p>
            <a:pPr algn="l"/>
            <a:r>
              <a:rPr lang="en-US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Hay </a:t>
            </a:r>
            <a:r>
              <a:rPr lang="en-US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neblina</a:t>
            </a:r>
            <a:r>
              <a:rPr lang="en-US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US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en</a:t>
            </a:r>
            <a:r>
              <a:rPr lang="en-US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 la </a:t>
            </a:r>
            <a:r>
              <a:rPr lang="en-US" b="1" i="1" dirty="0" err="1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carretera</a:t>
            </a:r>
            <a:r>
              <a:rPr lang="en-US" b="1" i="1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.</a:t>
            </a:r>
            <a:br>
              <a:rPr lang="en-US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</a:br>
            <a:r>
              <a:rPr lang="en-US" b="0" i="0" dirty="0">
                <a:solidFill>
                  <a:srgbClr val="4E5053"/>
                </a:solidFill>
                <a:effectLst/>
                <a:latin typeface="Open Sans" panose="020B0606030504020204" pitchFamily="34" charset="0"/>
              </a:rPr>
              <a:t>The road is foggy.</a:t>
            </a:r>
          </a:p>
          <a:p>
            <a:pPr marL="0" indent="0" algn="l">
              <a:buNone/>
            </a:pPr>
            <a:endParaRPr lang="en-US" b="0" i="0" dirty="0">
              <a:solidFill>
                <a:srgbClr val="4E5053"/>
              </a:solidFill>
              <a:effectLst/>
              <a:latin typeface="Open Sans" panose="020B0606030504020204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208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3B7D7-1EB5-B9AF-6688-F1E0673A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B8436-F34D-2699-53E7-DF1CE0288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Hay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nubes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cloudy)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Hay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frío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(It’s cold)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Hay sol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sunny)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Hay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viento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windy)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Hay vendaval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extremely windy)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Hay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tormenta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stormy)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Hay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lluvia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raining)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Hay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humedad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humid)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Hay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nieve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(It’s snowing)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Hay fresco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cool)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Hay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niebla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foggy)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Hay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granizo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hailing)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Hay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relámpagos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(It’s lightning)</a:t>
            </a:r>
          </a:p>
          <a:p>
            <a:endParaRPr lang="en-IN" b="0" i="0" dirty="0">
              <a:solidFill>
                <a:srgbClr val="666666"/>
              </a:solidFill>
              <a:effectLst/>
              <a:latin typeface="Lato" panose="020F0502020204030203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4904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B4C645E-3BD1-38DE-D1E3-1C8E7BF156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7538312"/>
              </p:ext>
            </p:extLst>
          </p:nvPr>
        </p:nvGraphicFramePr>
        <p:xfrm>
          <a:off x="1947341" y="1825622"/>
          <a:ext cx="7548142" cy="4351344"/>
        </p:xfrm>
        <a:graphic>
          <a:graphicData uri="http://schemas.openxmlformats.org/drawingml/2006/table">
            <a:tbl>
              <a:tblPr/>
              <a:tblGrid>
                <a:gridCol w="3774071">
                  <a:extLst>
                    <a:ext uri="{9D8B030D-6E8A-4147-A177-3AD203B41FA5}">
                      <a16:colId xmlns:a16="http://schemas.microsoft.com/office/drawing/2014/main" val="4096274667"/>
                    </a:ext>
                  </a:extLst>
                </a:gridCol>
                <a:gridCol w="3774071">
                  <a:extLst>
                    <a:ext uri="{9D8B030D-6E8A-4147-A177-3AD203B41FA5}">
                      <a16:colId xmlns:a16="http://schemas.microsoft.com/office/drawing/2014/main" val="3879149733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 b="1">
                          <a:effectLst/>
                        </a:rPr>
                        <a:t>English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b="1">
                          <a:effectLst/>
                        </a:rPr>
                        <a:t>Spanish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869175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Cold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el frío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6496042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Heat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el calor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26156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Rain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la lluvia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37969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Snow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la nieve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64720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Wind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el viento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9352463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Fog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la niebla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445241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Breeze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la brisa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886733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Humidity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la humedad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87677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Storm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la tormenta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153836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Hurricane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el huracán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09778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Heat wave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la ola de calor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2904321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Cold front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el frente frío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8697490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Thunderstorm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la tormenta eléctrica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6881048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Tornado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>
                          <a:effectLst/>
                        </a:rPr>
                        <a:t>el tornado</a:t>
                      </a:r>
                      <a:endParaRPr lang="en-IN" sz="130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11914"/>
                  </a:ext>
                </a:extLst>
              </a:tr>
              <a:tr h="271959">
                <a:tc>
                  <a:txBody>
                    <a:bodyPr/>
                    <a:lstStyle/>
                    <a:p>
                      <a:pPr algn="ctr"/>
                      <a:r>
                        <a:rPr lang="en-IN" sz="1300">
                          <a:effectLst/>
                        </a:rPr>
                        <a:t>Cyclone</a:t>
                      </a: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300" i="1" dirty="0" err="1">
                          <a:effectLst/>
                        </a:rPr>
                        <a:t>el</a:t>
                      </a:r>
                      <a:r>
                        <a:rPr lang="en-IN" sz="1300" i="1" dirty="0">
                          <a:effectLst/>
                        </a:rPr>
                        <a:t> </a:t>
                      </a:r>
                      <a:r>
                        <a:rPr lang="en-IN" sz="1300" i="1" dirty="0" err="1">
                          <a:effectLst/>
                        </a:rPr>
                        <a:t>ciclón</a:t>
                      </a:r>
                      <a:endParaRPr lang="en-IN" sz="1300" dirty="0">
                        <a:effectLst/>
                      </a:endParaRPr>
                    </a:p>
                  </a:txBody>
                  <a:tcPr marL="67990" marR="67990" marT="33995" marB="33995" anchor="ctr">
                    <a:lnL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0790049"/>
                  </a:ext>
                </a:extLst>
              </a:tr>
            </a:tbl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425AA659-E1E4-F02C-517A-8DF6ED1E19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-320512" y="670782"/>
            <a:ext cx="11674311" cy="714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952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4E505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Types of Weather in Spanish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761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B11B9-C8F7-B178-F44A-5D35E861D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6E385-50D9-AA8F-6875-7F82283F8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The seasons in Spanish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: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temporada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/la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estación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(season),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las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estaciones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(seasons),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primavera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(spring),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verano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(summer),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otoño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(fall),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invierno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(winter)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Spanish weather nouns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: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frío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(cold),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calor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(heat),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sol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(sun),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rayo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del sol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(sunshine),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cielo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(sky),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viento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(wind),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las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nubes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(clouds),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lluvia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(rain),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granizo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(hail, sleet),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humedad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(humidity),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niebla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(fog),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nieve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(snow),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helada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/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escarcha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(frost),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brisa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(breeze),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tormenta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(storm),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trueno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(thunder),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relámpago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(lightning),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los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arco iris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(rainbow), 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temperatura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(temperature),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los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grados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(degrees),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pronóstico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del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clima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(weather forecast),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las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condiciones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del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clima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/las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condiciones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climáticas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(weather conditions)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Spanish weather adjectives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: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soleado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(sunny),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calor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(hot),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cálido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(warm),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despejado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(clear),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nublado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(cloudy),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ventoso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(windy),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fresco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(cool),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friolero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(chilly),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niebla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(foggy),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neblina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(misty),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húmedo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(humid)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Extreme weather conditions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: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ciclón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</a:t>
            </a:r>
            <a:r>
              <a:rPr lang="en-IN" b="0" i="0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cyclon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huracán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(hurricane),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tornado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(tornado),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frente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frío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(cold front),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ola de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calor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(heat wave),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tormenta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eléctrica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(thunderstorm),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granizada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(hailstorm),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tormenta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de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viento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(windstorm),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tormenta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de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nieve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(blizzard), 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el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terremoto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(earthquake),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inundación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(flood), </a:t>
            </a:r>
            <a:r>
              <a:rPr lang="en-IN" b="0" i="1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la </a:t>
            </a:r>
            <a:r>
              <a:rPr lang="en-IN" b="0" i="1" dirty="0" err="1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insolación</a:t>
            </a:r>
            <a:r>
              <a:rPr lang="en-IN" b="0" i="0" dirty="0">
                <a:solidFill>
                  <a:srgbClr val="666666"/>
                </a:solidFill>
                <a:effectLst/>
                <a:latin typeface="Lato" panose="020F0502020204030203" pitchFamily="34" charset="0"/>
              </a:rPr>
              <a:t> (sunstroke)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7321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97E5B-8B29-98C6-CE50-A6670D051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16CFB-5FC9-0FC5-4E60-9DC494894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Durante el verano el tiempo es caluroso.</a:t>
            </a:r>
          </a:p>
          <a:p>
            <a:endParaRPr lang="es-ES" dirty="0"/>
          </a:p>
          <a:p>
            <a:r>
              <a:rPr lang="es-ES" i="1" dirty="0">
                <a:effectLst/>
                <a:latin typeface="Lato" panose="020F0502020204030203" pitchFamily="34" charset="0"/>
              </a:rPr>
              <a:t>Durante el otoño, el clima es ventoso.</a:t>
            </a:r>
          </a:p>
          <a:p>
            <a:endParaRPr lang="es-ES" i="1" dirty="0">
              <a:latin typeface="Lato" panose="020F0502020204030203" pitchFamily="34" charset="0"/>
            </a:endParaRPr>
          </a:p>
          <a:p>
            <a:r>
              <a:rPr lang="es-ES" i="1" dirty="0">
                <a:effectLst/>
                <a:latin typeface="Lato" panose="020F0502020204030203" pitchFamily="34" charset="0"/>
              </a:rPr>
              <a:t>El invierno es muy frío</a:t>
            </a:r>
            <a:r>
              <a:rPr lang="es-ES" dirty="0"/>
              <a:t> </a:t>
            </a:r>
          </a:p>
          <a:p>
            <a:endParaRPr lang="es-ES" dirty="0"/>
          </a:p>
          <a:p>
            <a:r>
              <a:rPr lang="es-ES" i="1" dirty="0">
                <a:effectLst/>
                <a:latin typeface="Lato" panose="020F0502020204030203" pitchFamily="34" charset="0"/>
              </a:rPr>
              <a:t>Hace mucho </a:t>
            </a:r>
            <a:r>
              <a:rPr lang="es-ES" i="1">
                <a:effectLst/>
                <a:latin typeface="Lato" panose="020F0502020204030203" pitchFamily="34" charset="0"/>
              </a:rPr>
              <a:t>calor en </a:t>
            </a:r>
            <a:r>
              <a:rPr lang="es-ES" i="1" dirty="0">
                <a:effectLst/>
                <a:latin typeface="Lato" panose="020F0502020204030203" pitchFamily="34" charset="0"/>
              </a:rPr>
              <a:t>Los </a:t>
            </a:r>
            <a:r>
              <a:rPr lang="es-ES" i="1" dirty="0" err="1">
                <a:effectLst/>
                <a:latin typeface="Lato" panose="020F0502020204030203" pitchFamily="34" charset="0"/>
              </a:rPr>
              <a:t>Angeles</a:t>
            </a:r>
            <a:r>
              <a:rPr lang="es-ES" i="1" dirty="0">
                <a:effectLst/>
                <a:latin typeface="Lato" panose="020F0502020204030203" pitchFamily="34" charset="0"/>
              </a:rPr>
              <a:t>.</a:t>
            </a:r>
          </a:p>
          <a:p>
            <a:endParaRPr lang="es-ES" i="1" dirty="0">
              <a:latin typeface="Lato" panose="020F0502020204030203" pitchFamily="34" charset="0"/>
            </a:endParaRPr>
          </a:p>
          <a:p>
            <a:r>
              <a:rPr lang="es-ES" i="1" dirty="0">
                <a:effectLst/>
                <a:latin typeface="Lato" panose="020F0502020204030203" pitchFamily="34" charset="0"/>
              </a:rPr>
              <a:t>El día está soleado.</a:t>
            </a:r>
            <a:r>
              <a:rPr lang="es-ES" i="0" dirty="0">
                <a:effectLst/>
                <a:latin typeface="Lato" panose="020F0502020204030203" pitchFamily="34" charset="0"/>
              </a:rPr>
              <a:t> (</a:t>
            </a:r>
            <a:r>
              <a:rPr lang="es-ES" i="0" dirty="0" err="1">
                <a:effectLst/>
                <a:latin typeface="Lato" panose="020F0502020204030203" pitchFamily="34" charset="0"/>
              </a:rPr>
              <a:t>The</a:t>
            </a:r>
            <a:r>
              <a:rPr lang="es-ES" i="0" dirty="0">
                <a:effectLst/>
                <a:latin typeface="Lato" panose="020F0502020204030203" pitchFamily="34" charset="0"/>
              </a:rPr>
              <a:t> </a:t>
            </a:r>
            <a:r>
              <a:rPr lang="es-ES" i="0" dirty="0" err="1">
                <a:effectLst/>
                <a:latin typeface="Lato" panose="020F0502020204030203" pitchFamily="34" charset="0"/>
              </a:rPr>
              <a:t>day</a:t>
            </a:r>
            <a:r>
              <a:rPr lang="es-ES" i="0" dirty="0">
                <a:effectLst/>
                <a:latin typeface="Lato" panose="020F0502020204030203" pitchFamily="34" charset="0"/>
              </a:rPr>
              <a:t> </a:t>
            </a:r>
            <a:r>
              <a:rPr lang="es-ES" i="0" dirty="0" err="1">
                <a:effectLst/>
                <a:latin typeface="Lato" panose="020F0502020204030203" pitchFamily="34" charset="0"/>
              </a:rPr>
              <a:t>is</a:t>
            </a:r>
            <a:r>
              <a:rPr lang="es-ES" i="0" dirty="0">
                <a:effectLst/>
                <a:latin typeface="Lato" panose="020F0502020204030203" pitchFamily="34" charset="0"/>
              </a:rPr>
              <a:t> </a:t>
            </a:r>
            <a:r>
              <a:rPr lang="es-ES" i="0" dirty="0" err="1">
                <a:effectLst/>
                <a:latin typeface="Lato" panose="020F0502020204030203" pitchFamily="34" charset="0"/>
              </a:rPr>
              <a:t>sunny</a:t>
            </a:r>
            <a:r>
              <a:rPr lang="es-ES" i="0" dirty="0">
                <a:effectLst/>
                <a:latin typeface="Lato" panose="020F0502020204030203" pitchFamily="34" charset="0"/>
              </a:rPr>
              <a:t>.)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41598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842</Words>
  <Application>Microsoft Office PowerPoint</Application>
  <PresentationFormat>Widescreen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Lato</vt:lpstr>
      <vt:lpstr>Open Sans</vt:lpstr>
      <vt:lpstr>Roboto</vt:lpstr>
      <vt:lpstr>Office Theme</vt:lpstr>
      <vt:lpstr>El clima</vt:lpstr>
      <vt:lpstr>PowerPoint Presentation</vt:lpstr>
      <vt:lpstr>Hacer (to do or to make) </vt:lpstr>
      <vt:lpstr>Weather expresión with HACER</vt:lpstr>
      <vt:lpstr>Estar (to be) </vt:lpstr>
      <vt:lpstr>estar</vt:lpstr>
      <vt:lpstr>Hay (there is) </vt:lpstr>
      <vt:lpstr>hay</vt:lpstr>
      <vt:lpstr>Types of Weather in Spanish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clima</dc:title>
  <dc:creator>baishali choudhuri</dc:creator>
  <cp:lastModifiedBy>baishali choudhuri</cp:lastModifiedBy>
  <cp:revision>3</cp:revision>
  <dcterms:created xsi:type="dcterms:W3CDTF">2023-10-16T15:43:48Z</dcterms:created>
  <dcterms:modified xsi:type="dcterms:W3CDTF">2024-10-21T08:19:35Z</dcterms:modified>
</cp:coreProperties>
</file>