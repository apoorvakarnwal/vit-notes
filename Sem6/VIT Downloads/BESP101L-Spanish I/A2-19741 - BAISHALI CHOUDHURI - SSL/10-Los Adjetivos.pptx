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7" r:id="rId11"/>
    <p:sldId id="264" r:id="rId12"/>
    <p:sldId id="268" r:id="rId13"/>
    <p:sldId id="265" r:id="rId14"/>
    <p:sldId id="269" r:id="rId15"/>
    <p:sldId id="275" r:id="rId16"/>
    <p:sldId id="278" r:id="rId17"/>
    <p:sldId id="279" r:id="rId18"/>
    <p:sldId id="277" r:id="rId19"/>
    <p:sldId id="273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537F1-92F0-48E6-817A-6A83BBCBD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362B1-7AB7-47D0-87D5-D975C1DCD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E2DFC-B5E5-4AAC-BFBB-49B7FA961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215DD-9062-4B2B-B189-74F938A8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AE1A2-A53D-4251-8264-6A2AAE60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7268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0DC8-CB7B-4F1A-8996-66C0C0D0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9FB36-926B-4A84-985E-05E9B020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DFD20-CD56-4162-972F-581F4215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E352-DBAC-47F0-A03A-8D29A50F3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85948-AE63-4D1F-B13F-E20D6A397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873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DBF8-E3F4-4A1E-8763-C2A2DCD0A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34B95-DF1E-4C90-93DB-E17FD8FB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9261D-3CF3-4063-8BF4-3896E86B4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AB10D-392E-4B1F-9AE1-7FF257C2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C33B8-126B-4AE1-AC66-564583BD6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466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A8E5-79B8-4F5B-832C-6087218A3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32B4B-4946-47D8-AD26-061F13705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3FE87-52F8-4A06-B921-75585EEA2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87D82-F619-4D15-8D06-AE0E9C5A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DD2A8-22DC-4E27-B6DC-19ABE6D83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26F68-ABF1-4F33-A6FA-E07E5423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998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D60D-9F9C-462E-AD60-CC7723ED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D3D83-2C9D-4B3D-9C5B-7D255768F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AC0A2-3E76-4B09-848E-7802C60AD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06436-0058-4373-BF75-D895D9AAD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2A098-E2D5-4E3C-BC53-2F94BD040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0D10FA-78F3-481C-87AE-B9987EC4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4E48BE-724D-4230-9E75-C9FA4DBA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3DFCD-0102-490E-B74F-E0B60615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202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8925-1189-47E9-B77B-6175D4B3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38FB9-29FD-4248-AAF3-1D0C07DA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8B94F-0270-4ED0-9692-6EE529F3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5D71D-6A97-4ECF-8523-C17A39C5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23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61D57-9D9D-441E-A85B-A0424511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4489C-8810-4BC8-85A3-7DBCB8D1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6740E-DDD6-46EF-AB5D-48DF9FE0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79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E5C09-DBDB-4818-BAB8-195A41140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B7B57-7509-4FF1-9D74-EA1F2C9C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B29A4C-CC36-483A-B7D2-11043C461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F0871-472F-4902-B052-645D5134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CDA71-2470-465E-9C80-38E33A9E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A9A0F-ACD4-4DB1-A85C-0EBCBA80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59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669D-3CC9-4EB2-AEC6-8E194E25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869B5-E1A9-4160-8D77-C8A0C6A8B6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37A47-DB11-4151-91C2-F184C2571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FF9BB-2D52-495E-B6AC-895FC43F9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64EB3-1EC8-4315-AB25-AC255FFC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C3B16-2DB8-454E-9082-D19293AB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358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B9D6-FC01-4F13-95ED-31A58496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00016-F8E2-4E50-BDCC-65999DCB8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4AF88-7BD9-4CE6-B5B4-5D64AACB3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A832D-E61A-4CAE-8B33-FEF22EDB3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86025-DF7D-4B74-93C8-8E64D4655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14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57E95-B60D-4D19-9F31-6CF6FF110A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9D67B-A1A9-4AE5-9613-AF325F351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9973F-EFA5-4A5C-B88C-A32EA4A8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3C176-5CA6-46C9-B6E9-1DD008D0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A033F-73FD-415F-9529-176AEECD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140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790C91-A01F-4579-9B2A-1FE53C41A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30DA-4A39-4B54-9416-6FB6A974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0C2FB-0C7A-47D9-9C94-5EA80D451D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433AE-64B5-4FDE-AF29-2EE52F4174BA}" type="datetimeFigureOut">
              <a:rPr lang="es-ES" smtClean="0"/>
              <a:t>24/08/2024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91F01-921B-4D19-AB05-DFD1CADD6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A5DCB-25BE-4F0C-9456-F00356F46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DEC02-7532-48D9-AEB7-D2AA22527FF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253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E4BDE-5D4D-4E16-87E3-63577B513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Los Adjetivos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CB74C-BE34-410F-ABFE-35BAB3E788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63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139D1-8DF9-4464-AE1B-028C7D4D3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1. </a:t>
            </a:r>
            <a:r>
              <a:rPr lang="es-ES" b="1" dirty="0" err="1"/>
              <a:t>Dependent</a:t>
            </a:r>
            <a:r>
              <a:rPr lang="es-ES" b="1" dirty="0"/>
              <a:t> </a:t>
            </a:r>
            <a:r>
              <a:rPr lang="es-ES" b="1" dirty="0" err="1"/>
              <a:t>on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number</a:t>
            </a:r>
            <a:r>
              <a:rPr lang="es-ES" b="1" dirty="0"/>
              <a:t> and </a:t>
            </a:r>
            <a:r>
              <a:rPr lang="es-ES" b="1" dirty="0" err="1"/>
              <a:t>gender</a:t>
            </a:r>
            <a:r>
              <a:rPr lang="es-ES" b="1" dirty="0"/>
              <a:t> </a:t>
            </a:r>
            <a:r>
              <a:rPr lang="es-ES" b="1" dirty="0" err="1"/>
              <a:t>of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noun</a:t>
            </a:r>
            <a:endParaRPr lang="es-E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BE389-A49C-4094-A656-2E1059AD3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Spanish, most adjectives change form, depending upon whether the word they modify is masculine or feminine. Notice the difference between “the tall boy” and “the tall girl.”</a:t>
            </a:r>
          </a:p>
          <a:p>
            <a:pPr marL="0" indent="0">
              <a:buNone/>
            </a:pPr>
            <a:r>
              <a:rPr lang="es-ES" i="1" dirty="0"/>
              <a:t>	el chico </a:t>
            </a:r>
            <a:r>
              <a:rPr lang="es-ES" b="1" i="1" dirty="0"/>
              <a:t>alto</a:t>
            </a:r>
            <a:br>
              <a:rPr lang="es-ES" i="1" dirty="0"/>
            </a:br>
            <a:r>
              <a:rPr lang="es-ES" i="1" dirty="0"/>
              <a:t>	la chica </a:t>
            </a:r>
            <a:r>
              <a:rPr lang="es-ES" b="1" i="1" dirty="0"/>
              <a:t>alta</a:t>
            </a:r>
          </a:p>
          <a:p>
            <a:endParaRPr lang="en-US" dirty="0"/>
          </a:p>
          <a:p>
            <a:r>
              <a:rPr lang="en-US" dirty="0"/>
              <a:t>Adjectives also change form depending upon whether the word they modify is singular or plural. Notice the difference between “the tall boy” and “the tall boys”; “the tall girl” and “the tall girls.”</a:t>
            </a:r>
          </a:p>
          <a:p>
            <a:pPr marL="0" indent="0">
              <a:buNone/>
            </a:pPr>
            <a:r>
              <a:rPr lang="es-ES" i="1" dirty="0"/>
              <a:t>	el chico </a:t>
            </a:r>
            <a:r>
              <a:rPr lang="es-ES" b="1" i="1" dirty="0"/>
              <a:t>alto</a:t>
            </a:r>
            <a:br>
              <a:rPr lang="es-ES" i="1" dirty="0"/>
            </a:br>
            <a:r>
              <a:rPr lang="es-ES" i="1" dirty="0"/>
              <a:t>	los chicos </a:t>
            </a:r>
            <a:r>
              <a:rPr lang="es-ES" b="1" i="1" dirty="0"/>
              <a:t>altos</a:t>
            </a:r>
            <a:endParaRPr lang="en-US" dirty="0"/>
          </a:p>
          <a:p>
            <a:pPr marL="0" indent="0">
              <a:buNone/>
            </a:pPr>
            <a:r>
              <a:rPr lang="es-ES" i="1" dirty="0"/>
              <a:t>	la chica </a:t>
            </a:r>
            <a:r>
              <a:rPr lang="es-ES" b="1" i="1" dirty="0"/>
              <a:t>alta</a:t>
            </a:r>
            <a:br>
              <a:rPr lang="es-ES" i="1" dirty="0"/>
            </a:br>
            <a:r>
              <a:rPr lang="es-ES" i="1" dirty="0"/>
              <a:t>	las chicas </a:t>
            </a:r>
            <a:r>
              <a:rPr lang="es-ES" b="1" i="1" dirty="0"/>
              <a:t>altas</a:t>
            </a:r>
          </a:p>
          <a:p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955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BF9B0-3A2D-44DB-9C42-FBC18DB6E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6CD8A-65B6-4E84-8760-BCAF6187E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correct form of the adjective depends upon the noun it modifies. Is the noun masculine or feminine? Singular or plural?</a:t>
            </a:r>
          </a:p>
          <a:p>
            <a:r>
              <a:rPr lang="en-US" b="1" i="1" dirty="0"/>
              <a:t>casa </a:t>
            </a:r>
            <a:r>
              <a:rPr lang="en-US" b="1" i="1" dirty="0" err="1"/>
              <a:t>roja</a:t>
            </a:r>
            <a:r>
              <a:rPr lang="en-US" b="1" i="1" dirty="0"/>
              <a:t> </a:t>
            </a:r>
            <a:r>
              <a:rPr lang="en-US" i="1" dirty="0"/>
              <a:t>red house</a:t>
            </a:r>
            <a:endParaRPr lang="en-US" dirty="0"/>
          </a:p>
          <a:p>
            <a:r>
              <a:rPr lang="es-ES" b="1" i="1" dirty="0"/>
              <a:t>bolígrafo rojo </a:t>
            </a:r>
            <a:r>
              <a:rPr lang="es-ES" i="1" dirty="0"/>
              <a:t>red pen</a:t>
            </a:r>
            <a:endParaRPr lang="en-US" dirty="0"/>
          </a:p>
          <a:p>
            <a:r>
              <a:rPr lang="es-ES" b="1" i="1" dirty="0"/>
              <a:t>libros rojos </a:t>
            </a:r>
            <a:r>
              <a:rPr lang="es-ES" i="1" dirty="0"/>
              <a:t>red </a:t>
            </a:r>
            <a:r>
              <a:rPr lang="es-ES" i="1" dirty="0" err="1"/>
              <a:t>books</a:t>
            </a:r>
            <a:endParaRPr lang="en-US" dirty="0"/>
          </a:p>
          <a:p>
            <a:r>
              <a:rPr lang="en-US" b="1" i="1" dirty="0" err="1"/>
              <a:t>plumas</a:t>
            </a:r>
            <a:r>
              <a:rPr lang="en-US" b="1" i="1" dirty="0"/>
              <a:t> </a:t>
            </a:r>
            <a:r>
              <a:rPr lang="en-US" b="1" i="1" dirty="0" err="1"/>
              <a:t>rojas</a:t>
            </a:r>
            <a:r>
              <a:rPr lang="en-US" b="1" i="1" dirty="0"/>
              <a:t> </a:t>
            </a:r>
            <a:r>
              <a:rPr lang="en-US" i="1" dirty="0"/>
              <a:t>red pens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283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289BB-DB91-4E3C-88F5-668F073B9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B5CD2-00BA-4DDC-9421-D23F22679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Notice how the endings of the nouns and these adjectives are similar.</a:t>
            </a:r>
          </a:p>
          <a:p>
            <a:r>
              <a:rPr lang="es-ES" i="1" dirty="0"/>
              <a:t>libr</a:t>
            </a:r>
            <a:r>
              <a:rPr lang="es-ES" b="1" i="1" dirty="0"/>
              <a:t>o</a:t>
            </a:r>
            <a:r>
              <a:rPr lang="es-ES" i="1" dirty="0"/>
              <a:t> roj</a:t>
            </a:r>
            <a:r>
              <a:rPr lang="es-ES" b="1" i="1" dirty="0"/>
              <a:t>o</a:t>
            </a:r>
            <a:br>
              <a:rPr lang="es-ES" i="1" dirty="0"/>
            </a:br>
            <a:r>
              <a:rPr lang="es-ES" i="1" dirty="0"/>
              <a:t>plum</a:t>
            </a:r>
            <a:r>
              <a:rPr lang="es-ES" b="1" i="1" dirty="0"/>
              <a:t>a</a:t>
            </a:r>
            <a:r>
              <a:rPr lang="es-ES" i="1" dirty="0"/>
              <a:t> roj</a:t>
            </a:r>
            <a:r>
              <a:rPr lang="es-ES" b="1" i="1" dirty="0"/>
              <a:t>a</a:t>
            </a:r>
            <a:br>
              <a:rPr lang="es-ES" i="1" dirty="0"/>
            </a:br>
            <a:r>
              <a:rPr lang="es-ES" i="1" dirty="0"/>
              <a:t>libr</a:t>
            </a:r>
            <a:r>
              <a:rPr lang="es-ES" b="1" i="1" dirty="0"/>
              <a:t>os</a:t>
            </a:r>
            <a:r>
              <a:rPr lang="es-ES" i="1" dirty="0"/>
              <a:t> roj</a:t>
            </a:r>
            <a:r>
              <a:rPr lang="es-ES" b="1" i="1" dirty="0"/>
              <a:t>os</a:t>
            </a:r>
            <a:br>
              <a:rPr lang="es-ES" i="1" dirty="0"/>
            </a:br>
            <a:r>
              <a:rPr lang="es-ES" i="1" dirty="0"/>
              <a:t>plum</a:t>
            </a:r>
            <a:r>
              <a:rPr lang="es-ES" b="1" i="1" dirty="0"/>
              <a:t>as</a:t>
            </a:r>
            <a:r>
              <a:rPr lang="es-ES" i="1" dirty="0"/>
              <a:t> roj</a:t>
            </a:r>
            <a:r>
              <a:rPr lang="es-ES" b="1" i="1" dirty="0"/>
              <a:t>as</a:t>
            </a:r>
          </a:p>
          <a:p>
            <a:r>
              <a:rPr lang="en-US" dirty="0"/>
              <a:t>Many common adjectives end in -o. These adjectives have four forms. The following words all mean “tall”:</a:t>
            </a:r>
          </a:p>
          <a:p>
            <a:pPr marL="0" indent="0">
              <a:buNone/>
            </a:pPr>
            <a:r>
              <a:rPr lang="en-US" b="1" i="1" dirty="0"/>
              <a:t>alto</a:t>
            </a:r>
            <a:br>
              <a:rPr lang="en-US" b="1" i="1" dirty="0"/>
            </a:br>
            <a:r>
              <a:rPr lang="en-US" b="1" i="1" dirty="0" err="1"/>
              <a:t>alta</a:t>
            </a:r>
            <a:br>
              <a:rPr lang="en-US" b="1" i="1" dirty="0"/>
            </a:br>
            <a:r>
              <a:rPr lang="en-US" b="1" i="1" dirty="0"/>
              <a:t>altos</a:t>
            </a:r>
            <a:br>
              <a:rPr lang="en-US" b="1" i="1" dirty="0"/>
            </a:br>
            <a:r>
              <a:rPr lang="en-US" b="1" i="1" dirty="0" err="1"/>
              <a:t>altas</a:t>
            </a:r>
            <a:endParaRPr lang="en-US" dirty="0"/>
          </a:p>
          <a:p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946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BD740-855B-4C89-BD64-E9B51274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5FD56-DEC2-48D7-80D9-639292587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Adjectives that </a:t>
            </a:r>
            <a:r>
              <a:rPr lang="en-US" dirty="0">
                <a:highlight>
                  <a:srgbClr val="FFFF00"/>
                </a:highlight>
              </a:rPr>
              <a:t>end in -e </a:t>
            </a:r>
            <a:r>
              <a:rPr lang="en-US" dirty="0"/>
              <a:t>also change form for singular or plural. To form the plural, simply add -s.</a:t>
            </a:r>
          </a:p>
          <a:p>
            <a:r>
              <a:rPr lang="en-US" i="1" dirty="0"/>
              <a:t>la </a:t>
            </a:r>
            <a:r>
              <a:rPr lang="en-US" i="1" dirty="0" err="1"/>
              <a:t>chica</a:t>
            </a:r>
            <a:r>
              <a:rPr lang="en-US" i="1" dirty="0"/>
              <a:t> </a:t>
            </a:r>
            <a:r>
              <a:rPr lang="en-US" b="1" i="1" dirty="0" err="1"/>
              <a:t>inteligente</a:t>
            </a:r>
            <a:br>
              <a:rPr lang="en-US" i="1" dirty="0"/>
            </a:br>
            <a:r>
              <a:rPr lang="en-US" i="1" dirty="0"/>
              <a:t>las </a:t>
            </a:r>
            <a:r>
              <a:rPr lang="en-US" i="1" dirty="0" err="1"/>
              <a:t>chicas</a:t>
            </a:r>
            <a:r>
              <a:rPr lang="en-US" i="1" dirty="0"/>
              <a:t> </a:t>
            </a:r>
            <a:r>
              <a:rPr lang="en-US" b="1" i="1" dirty="0" err="1"/>
              <a:t>inteligentes</a:t>
            </a:r>
            <a:endParaRPr lang="en-US" dirty="0"/>
          </a:p>
          <a:p>
            <a:r>
              <a:rPr lang="en-US" dirty="0"/>
              <a:t>Adjectives that end in -e do not, however, change form for masculine or feminine.</a:t>
            </a:r>
          </a:p>
          <a:p>
            <a:r>
              <a:rPr lang="es-ES" b="1" i="1" dirty="0"/>
              <a:t>la</a:t>
            </a:r>
            <a:r>
              <a:rPr lang="es-ES" i="1" dirty="0"/>
              <a:t> chica </a:t>
            </a:r>
            <a:r>
              <a:rPr lang="es-ES" b="1" i="1" dirty="0">
                <a:highlight>
                  <a:srgbClr val="FFFF00"/>
                </a:highlight>
              </a:rPr>
              <a:t>inteligente</a:t>
            </a:r>
            <a:br>
              <a:rPr lang="es-ES" i="1" dirty="0"/>
            </a:br>
            <a:r>
              <a:rPr lang="es-ES" b="1" i="1" dirty="0"/>
              <a:t>el</a:t>
            </a:r>
            <a:r>
              <a:rPr lang="es-ES" i="1" dirty="0"/>
              <a:t> chico </a:t>
            </a:r>
            <a:r>
              <a:rPr lang="es-ES" b="1" i="1" dirty="0">
                <a:highlight>
                  <a:srgbClr val="FFFF00"/>
                </a:highlight>
              </a:rPr>
              <a:t>inteligente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s-ES" b="1" i="1" dirty="0"/>
              <a:t>las</a:t>
            </a:r>
            <a:r>
              <a:rPr lang="es-ES" i="1" dirty="0"/>
              <a:t> chicas </a:t>
            </a:r>
            <a:r>
              <a:rPr lang="es-ES" b="1" i="1" dirty="0"/>
              <a:t>inteligentes</a:t>
            </a:r>
            <a:br>
              <a:rPr lang="es-ES" i="1" dirty="0"/>
            </a:br>
            <a:r>
              <a:rPr lang="es-ES" b="1" i="1" dirty="0"/>
              <a:t>los</a:t>
            </a:r>
            <a:r>
              <a:rPr lang="es-ES" i="1" dirty="0"/>
              <a:t> chicos </a:t>
            </a:r>
            <a:r>
              <a:rPr lang="es-ES" b="1" i="1" dirty="0"/>
              <a:t>inteligentes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47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A4F5-3150-404B-87E4-C7F65DB6C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982A-533D-4BE5-A87B-9A4A5755A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Similarly, most adjectives that end in a </a:t>
            </a:r>
            <a:r>
              <a:rPr lang="en-US" dirty="0">
                <a:highlight>
                  <a:srgbClr val="FFFF00"/>
                </a:highlight>
              </a:rPr>
              <a:t>consonant</a:t>
            </a:r>
            <a:r>
              <a:rPr lang="en-US" dirty="0"/>
              <a:t> </a:t>
            </a:r>
            <a:r>
              <a:rPr lang="en-US" b="1" dirty="0"/>
              <a:t>do</a:t>
            </a:r>
            <a:r>
              <a:rPr lang="en-US" dirty="0"/>
              <a:t> change form for singular or plural, but </a:t>
            </a:r>
            <a:r>
              <a:rPr lang="en-US" b="1" dirty="0"/>
              <a:t>do not</a:t>
            </a:r>
            <a:r>
              <a:rPr lang="en-US" dirty="0"/>
              <a:t> change for masculine or feminine.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form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plural, </a:t>
            </a:r>
            <a:r>
              <a:rPr lang="es-ES" dirty="0" err="1"/>
              <a:t>add</a:t>
            </a:r>
            <a:r>
              <a:rPr lang="es-ES" dirty="0"/>
              <a:t> -es.</a:t>
            </a:r>
            <a:endParaRPr lang="en-US" dirty="0"/>
          </a:p>
          <a:p>
            <a:r>
              <a:rPr lang="es-ES" b="1" i="1" dirty="0"/>
              <a:t>la</a:t>
            </a:r>
            <a:r>
              <a:rPr lang="es-ES" i="1" dirty="0"/>
              <a:t> chica </a:t>
            </a:r>
            <a:r>
              <a:rPr lang="es-ES" b="1" i="1" dirty="0"/>
              <a:t>popular</a:t>
            </a:r>
            <a:br>
              <a:rPr lang="es-ES" i="1" dirty="0"/>
            </a:br>
            <a:r>
              <a:rPr lang="es-ES" b="1" i="1" dirty="0"/>
              <a:t>el</a:t>
            </a:r>
            <a:r>
              <a:rPr lang="es-ES" i="1" dirty="0"/>
              <a:t> chico </a:t>
            </a:r>
            <a:r>
              <a:rPr lang="es-ES" b="1" i="1" dirty="0"/>
              <a:t>popular</a:t>
            </a:r>
            <a:endParaRPr lang="en-US" dirty="0"/>
          </a:p>
          <a:p>
            <a:r>
              <a:rPr lang="es-ES" b="1" i="1" dirty="0"/>
              <a:t>las</a:t>
            </a:r>
            <a:r>
              <a:rPr lang="es-ES" i="1" dirty="0"/>
              <a:t> chicas </a:t>
            </a:r>
            <a:r>
              <a:rPr lang="es-ES" b="1" i="1" dirty="0"/>
              <a:t>populares</a:t>
            </a:r>
            <a:br>
              <a:rPr lang="es-ES" i="1" dirty="0"/>
            </a:br>
            <a:r>
              <a:rPr lang="es-ES" b="1" i="1" dirty="0"/>
              <a:t>los</a:t>
            </a:r>
            <a:r>
              <a:rPr lang="es-ES" i="1" dirty="0"/>
              <a:t> chicos </a:t>
            </a:r>
            <a:r>
              <a:rPr lang="es-ES" b="1" i="1" dirty="0"/>
              <a:t>populares</a:t>
            </a:r>
          </a:p>
          <a:p>
            <a:r>
              <a:rPr lang="es-ES" b="1" i="1" dirty="0"/>
              <a:t>El edificio azul los edificios azules</a:t>
            </a:r>
          </a:p>
          <a:p>
            <a:r>
              <a:rPr lang="es-ES" b="1" i="1" dirty="0"/>
              <a:t>La casa azul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802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AACE-C0D5-4804-A652-F4E903EEA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63653-8150-4F6C-9256-26C4CF3D5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Many adjectives of nationality end in -o. These adjectives follow the same rules as other adjectives ending in -o. That is, they have four forms.</a:t>
            </a:r>
          </a:p>
          <a:p>
            <a:r>
              <a:rPr lang="es-ES" i="1" dirty="0"/>
              <a:t>el muchacho </a:t>
            </a:r>
            <a:r>
              <a:rPr lang="es-ES" b="1" i="1" dirty="0"/>
              <a:t>mexicano, el hombre cubano</a:t>
            </a:r>
            <a:br>
              <a:rPr lang="es-ES" i="1" dirty="0"/>
            </a:br>
            <a:r>
              <a:rPr lang="es-ES" i="1" dirty="0"/>
              <a:t>la muchacha </a:t>
            </a:r>
            <a:r>
              <a:rPr lang="es-ES" b="1" i="1" dirty="0"/>
              <a:t>mexicana, la mujer cubana</a:t>
            </a:r>
            <a:endParaRPr lang="en-US" dirty="0"/>
          </a:p>
          <a:p>
            <a:r>
              <a:rPr lang="es-ES" i="1" dirty="0"/>
              <a:t>los muchachos </a:t>
            </a:r>
            <a:r>
              <a:rPr lang="es-ES" b="1" i="1" dirty="0"/>
              <a:t>mexicanos, los hombres cubanos</a:t>
            </a:r>
            <a:br>
              <a:rPr lang="es-ES" i="1" dirty="0"/>
            </a:br>
            <a:r>
              <a:rPr lang="es-ES" i="1" dirty="0"/>
              <a:t>las muchachas </a:t>
            </a:r>
            <a:r>
              <a:rPr lang="es-ES" b="1" i="1" dirty="0"/>
              <a:t>mexicanas, las mujeres cubanas</a:t>
            </a:r>
            <a:endParaRPr lang="en-US" dirty="0"/>
          </a:p>
          <a:p>
            <a:r>
              <a:rPr lang="en-US" dirty="0"/>
              <a:t>Many other adjectives of nationality end in a consonant. These adjectives </a:t>
            </a:r>
            <a:r>
              <a:rPr lang="en-US" b="1" dirty="0"/>
              <a:t>do not</a:t>
            </a:r>
            <a:r>
              <a:rPr lang="en-US" dirty="0"/>
              <a:t> follow the same rules as other adjectives ending in a consonant, rather, they have a distinct feminine form ending in -a.</a:t>
            </a:r>
          </a:p>
          <a:p>
            <a:r>
              <a:rPr lang="es-ES" i="1" dirty="0"/>
              <a:t>el muchacho </a:t>
            </a:r>
            <a:r>
              <a:rPr lang="es-ES" b="1" i="1" dirty="0"/>
              <a:t>español, el hombre ingles, el medico francés</a:t>
            </a:r>
            <a:br>
              <a:rPr lang="es-ES" i="1" dirty="0"/>
            </a:br>
            <a:r>
              <a:rPr lang="es-ES" i="1" dirty="0"/>
              <a:t>la muchacha </a:t>
            </a:r>
            <a:r>
              <a:rPr lang="es-ES" b="1" i="1" dirty="0"/>
              <a:t>española, la mujer inglesa, la medica francesa</a:t>
            </a:r>
            <a:endParaRPr lang="en-US" dirty="0"/>
          </a:p>
          <a:p>
            <a:r>
              <a:rPr lang="es-ES" i="1" dirty="0"/>
              <a:t>los muchachos </a:t>
            </a:r>
            <a:r>
              <a:rPr lang="es-ES" b="1" i="1" dirty="0"/>
              <a:t>españoles, los hombres ingleses, los médicos franceses</a:t>
            </a:r>
            <a:br>
              <a:rPr lang="es-ES" i="1" dirty="0"/>
            </a:br>
            <a:r>
              <a:rPr lang="es-ES" i="1" dirty="0"/>
              <a:t>las muchachas </a:t>
            </a:r>
            <a:r>
              <a:rPr lang="es-ES" b="1" i="1" dirty="0"/>
              <a:t>españolas, las mujeres inglesas, las medicas francesas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952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DBB30-F971-46F6-BE4D-A2B3B1E49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4AFC-07C9-4D62-ACFA-4C806855E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There is another group of adjectives that does not follow the normal rules. Adjectives ending in -or, -</a:t>
            </a:r>
            <a:r>
              <a:rPr lang="en-US" dirty="0" err="1"/>
              <a:t>án</a:t>
            </a:r>
            <a:r>
              <a:rPr lang="en-US" dirty="0"/>
              <a:t>, -</a:t>
            </a:r>
            <a:r>
              <a:rPr lang="en-US" dirty="0" err="1"/>
              <a:t>ón</a:t>
            </a:r>
            <a:r>
              <a:rPr lang="en-US" dirty="0"/>
              <a:t>, or -</a:t>
            </a:r>
            <a:r>
              <a:rPr lang="en-US" dirty="0" err="1"/>
              <a:t>ín</a:t>
            </a:r>
            <a:r>
              <a:rPr lang="en-US" dirty="0"/>
              <a:t> also have a feminine form.</a:t>
            </a:r>
          </a:p>
          <a:p>
            <a:r>
              <a:rPr lang="es-ES" i="1" dirty="0"/>
              <a:t>el chico </a:t>
            </a:r>
            <a:r>
              <a:rPr lang="es-ES" b="1" i="1" dirty="0"/>
              <a:t>hablador</a:t>
            </a:r>
            <a:br>
              <a:rPr lang="es-ES" i="1" dirty="0"/>
            </a:br>
            <a:r>
              <a:rPr lang="es-ES" i="1" dirty="0"/>
              <a:t>la chica </a:t>
            </a:r>
            <a:r>
              <a:rPr lang="es-ES" b="1" i="1" dirty="0"/>
              <a:t>habladora</a:t>
            </a:r>
            <a:endParaRPr lang="en-US" dirty="0"/>
          </a:p>
          <a:p>
            <a:r>
              <a:rPr lang="es-ES" i="1" dirty="0"/>
              <a:t>los chicos </a:t>
            </a:r>
            <a:r>
              <a:rPr lang="es-ES" b="1" i="1" dirty="0"/>
              <a:t>habladores</a:t>
            </a:r>
            <a:br>
              <a:rPr lang="es-ES" i="1" dirty="0"/>
            </a:br>
            <a:r>
              <a:rPr lang="es-ES" i="1" dirty="0"/>
              <a:t>las chicas </a:t>
            </a:r>
            <a:r>
              <a:rPr lang="es-ES" b="1" i="1" dirty="0"/>
              <a:t>habladoras</a:t>
            </a:r>
            <a:endParaRPr lang="en-US" dirty="0"/>
          </a:p>
          <a:p>
            <a:r>
              <a:rPr lang="es-ES" i="1" dirty="0"/>
              <a:t>el hombre </a:t>
            </a:r>
            <a:r>
              <a:rPr lang="es-ES" b="1" i="1" dirty="0"/>
              <a:t>trabajador</a:t>
            </a:r>
            <a:br>
              <a:rPr lang="es-ES" i="1" dirty="0"/>
            </a:br>
            <a:r>
              <a:rPr lang="es-ES" i="1" dirty="0"/>
              <a:t>la mujer </a:t>
            </a:r>
            <a:r>
              <a:rPr lang="es-ES" b="1" i="1" dirty="0"/>
              <a:t>trabajadora</a:t>
            </a:r>
            <a:endParaRPr lang="en-US" dirty="0"/>
          </a:p>
          <a:p>
            <a:r>
              <a:rPr lang="es-ES" i="1" dirty="0"/>
              <a:t>los hombres </a:t>
            </a:r>
            <a:r>
              <a:rPr lang="es-ES" b="1" i="1" dirty="0"/>
              <a:t>trabajadores</a:t>
            </a:r>
            <a:br>
              <a:rPr lang="es-ES" i="1" dirty="0"/>
            </a:br>
            <a:r>
              <a:rPr lang="es-ES" i="1" dirty="0"/>
              <a:t>las mujeres </a:t>
            </a:r>
            <a:r>
              <a:rPr lang="es-ES" b="1" i="1" dirty="0"/>
              <a:t>trabajadoras</a:t>
            </a:r>
            <a:endParaRPr lang="en-US" dirty="0"/>
          </a:p>
          <a:p>
            <a:r>
              <a:rPr lang="en-US" b="1" dirty="0"/>
              <a:t>Note:</a:t>
            </a:r>
            <a:r>
              <a:rPr lang="en-US" dirty="0"/>
              <a:t> Adjectives ending in “-</a:t>
            </a:r>
            <a:r>
              <a:rPr lang="en-US" dirty="0" err="1"/>
              <a:t>erior</a:t>
            </a:r>
            <a:r>
              <a:rPr lang="en-US" dirty="0"/>
              <a:t>” do </a:t>
            </a:r>
            <a:r>
              <a:rPr lang="en-US" b="1" dirty="0"/>
              <a:t>not</a:t>
            </a:r>
            <a:r>
              <a:rPr lang="en-US" dirty="0"/>
              <a:t> have a feminine form.</a:t>
            </a:r>
          </a:p>
          <a:p>
            <a:r>
              <a:rPr lang="en-US" dirty="0"/>
              <a:t>El </a:t>
            </a:r>
            <a:r>
              <a:rPr lang="en-US" dirty="0" err="1"/>
              <a:t>sujeto</a:t>
            </a:r>
            <a:r>
              <a:rPr lang="en-US" dirty="0"/>
              <a:t> inferior</a:t>
            </a:r>
          </a:p>
          <a:p>
            <a:r>
              <a:rPr lang="en-US" dirty="0"/>
              <a:t>La </a:t>
            </a:r>
            <a:r>
              <a:rPr lang="en-US" dirty="0" err="1"/>
              <a:t>noticia</a:t>
            </a:r>
            <a:r>
              <a:rPr lang="en-US" dirty="0"/>
              <a:t> inferior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930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637A-D07B-460B-AE0D-F6761117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2. </a:t>
            </a:r>
            <a:r>
              <a:rPr lang="es-ES" b="1" dirty="0" err="1"/>
              <a:t>Adjectives</a:t>
            </a:r>
            <a:r>
              <a:rPr lang="es-ES" b="1" dirty="0"/>
              <a:t> </a:t>
            </a:r>
            <a:r>
              <a:rPr lang="es-ES" b="1" dirty="0" err="1"/>
              <a:t>mostly</a:t>
            </a:r>
            <a:r>
              <a:rPr lang="es-ES" b="1" dirty="0"/>
              <a:t> come after </a:t>
            </a:r>
            <a:r>
              <a:rPr lang="es-ES" b="1" dirty="0" err="1"/>
              <a:t>nouns</a:t>
            </a:r>
            <a:endParaRPr lang="es-E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049B1-21E5-4D25-9653-6C9D0BCA2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Adjectives that are descriptive usually follow the noun they describe.</a:t>
            </a:r>
          </a:p>
          <a:p>
            <a:r>
              <a:rPr lang="es-ES" i="1" dirty="0"/>
              <a:t>el chico </a:t>
            </a:r>
            <a:r>
              <a:rPr lang="es-ES" b="1" i="1" dirty="0"/>
              <a:t>alto</a:t>
            </a:r>
            <a:br>
              <a:rPr lang="es-ES" i="1" dirty="0"/>
            </a:br>
            <a:r>
              <a:rPr lang="es-ES" i="1" dirty="0"/>
              <a:t>la chica </a:t>
            </a:r>
            <a:r>
              <a:rPr lang="es-ES" b="1" i="1" dirty="0"/>
              <a:t>alta</a:t>
            </a:r>
            <a:br>
              <a:rPr lang="es-ES" i="1" dirty="0"/>
            </a:br>
            <a:r>
              <a:rPr lang="es-ES" i="1" dirty="0"/>
              <a:t>los libros </a:t>
            </a:r>
            <a:r>
              <a:rPr lang="es-ES" b="1" i="1" dirty="0"/>
              <a:t>pequeños</a:t>
            </a:r>
            <a:br>
              <a:rPr lang="es-ES" i="1" dirty="0"/>
            </a:br>
            <a:r>
              <a:rPr lang="es-ES" i="1" dirty="0"/>
              <a:t>las plumas </a:t>
            </a:r>
            <a:r>
              <a:rPr lang="es-ES" b="1" i="1" dirty="0"/>
              <a:t>rojas</a:t>
            </a:r>
            <a:endParaRPr lang="en-US" dirty="0"/>
          </a:p>
          <a:p>
            <a:r>
              <a:rPr lang="en-US" dirty="0"/>
              <a:t>Adjectives of quantity almost always come before the noun. Such adjectives tell how much or how many.</a:t>
            </a:r>
          </a:p>
          <a:p>
            <a:r>
              <a:rPr lang="es-ES" b="1" i="1" dirty="0"/>
              <a:t>pocos</a:t>
            </a:r>
            <a:r>
              <a:rPr lang="es-ES" i="1" dirty="0"/>
              <a:t> libros</a:t>
            </a:r>
            <a:br>
              <a:rPr lang="es-ES" i="1" dirty="0"/>
            </a:br>
            <a:r>
              <a:rPr lang="es-ES" b="1" i="1" dirty="0"/>
              <a:t>mucha</a:t>
            </a:r>
            <a:r>
              <a:rPr lang="es-ES" i="1" dirty="0"/>
              <a:t> energía</a:t>
            </a:r>
            <a:br>
              <a:rPr lang="es-ES" i="1" dirty="0"/>
            </a:br>
            <a:r>
              <a:rPr lang="es-ES" b="1" i="1" dirty="0"/>
              <a:t>mucho</a:t>
            </a:r>
            <a:r>
              <a:rPr lang="es-ES" i="1" dirty="0"/>
              <a:t> trabajo</a:t>
            </a:r>
            <a:br>
              <a:rPr lang="es-ES" i="1" dirty="0"/>
            </a:br>
            <a:r>
              <a:rPr lang="es-ES" b="1" i="1" dirty="0"/>
              <a:t>pocas</a:t>
            </a:r>
            <a:r>
              <a:rPr lang="es-ES" i="1" dirty="0"/>
              <a:t> casas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716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E138D-3472-4AF3-8094-C2723EB9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543B-E2E9-48BC-87DB-C449DC347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Sometimes, a descriptive adjective can precede the noun. If the adjective is descriptive but speaks of a quality that is inherent and usually taken for granted, the adjective comes first.</a:t>
            </a:r>
          </a:p>
          <a:p>
            <a:r>
              <a:rPr lang="en-US" b="1" i="1" dirty="0"/>
              <a:t>la </a:t>
            </a:r>
            <a:r>
              <a:rPr lang="en-US" b="1" i="1" dirty="0" err="1"/>
              <a:t>blanca</a:t>
            </a:r>
            <a:r>
              <a:rPr lang="en-US" b="1" i="1" dirty="0"/>
              <a:t> </a:t>
            </a:r>
            <a:r>
              <a:rPr lang="en-US" b="1" i="1" dirty="0" err="1"/>
              <a:t>nieve</a:t>
            </a:r>
            <a:br>
              <a:rPr lang="en-US" i="1" dirty="0"/>
            </a:br>
            <a:r>
              <a:rPr lang="en-US" i="1" dirty="0"/>
              <a:t>the white snow (snow is inherently white)</a:t>
            </a:r>
            <a:endParaRPr lang="en-US" dirty="0"/>
          </a:p>
          <a:p>
            <a:r>
              <a:rPr lang="en-US" b="1" i="1" dirty="0"/>
              <a:t>los altos </a:t>
            </a:r>
            <a:r>
              <a:rPr lang="en-US" b="1" i="1" dirty="0" err="1"/>
              <a:t>picos</a:t>
            </a:r>
            <a:br>
              <a:rPr lang="en-US" i="1" dirty="0"/>
            </a:br>
            <a:r>
              <a:rPr lang="en-US" i="1" dirty="0"/>
              <a:t>the tall peaks (peaks are inherently tall)</a:t>
            </a:r>
          </a:p>
          <a:p>
            <a:r>
              <a:rPr lang="en-US" dirty="0"/>
              <a:t>Demonstrative adjectives also come before the noun</a:t>
            </a:r>
            <a:r>
              <a:rPr lang="en-US" i="1" dirty="0"/>
              <a:t>.</a:t>
            </a:r>
          </a:p>
          <a:p>
            <a:pPr marL="0" indent="0">
              <a:buNone/>
            </a:pPr>
            <a:r>
              <a:rPr lang="en-US" b="1" i="1" dirty="0" err="1"/>
              <a:t>Esta</a:t>
            </a:r>
            <a:r>
              <a:rPr lang="en-US" b="1" i="1" dirty="0"/>
              <a:t> casa es </a:t>
            </a:r>
            <a:r>
              <a:rPr lang="en-US" b="1" i="1" dirty="0" err="1"/>
              <a:t>blanca</a:t>
            </a:r>
            <a:r>
              <a:rPr lang="en-US" i="1" dirty="0"/>
              <a:t>. (This house is white)</a:t>
            </a:r>
          </a:p>
          <a:p>
            <a:pPr marL="0" indent="0">
              <a:buNone/>
            </a:pPr>
            <a:r>
              <a:rPr lang="en-US" b="1" i="1" dirty="0" err="1"/>
              <a:t>Esa</a:t>
            </a:r>
            <a:r>
              <a:rPr lang="en-US" b="1" i="1" dirty="0"/>
              <a:t> casa es </a:t>
            </a:r>
            <a:r>
              <a:rPr lang="en-US" b="1" i="1" dirty="0" err="1"/>
              <a:t>blanca</a:t>
            </a:r>
            <a:r>
              <a:rPr lang="en-US" i="1" dirty="0"/>
              <a:t>. (That house is white)</a:t>
            </a:r>
          </a:p>
          <a:p>
            <a:pPr marL="0" indent="0">
              <a:buNone/>
            </a:pPr>
            <a:r>
              <a:rPr lang="en-US" b="1" i="1" dirty="0" err="1"/>
              <a:t>Aquella</a:t>
            </a:r>
            <a:r>
              <a:rPr lang="en-US" b="1" i="1" dirty="0"/>
              <a:t> casa es </a:t>
            </a:r>
            <a:r>
              <a:rPr lang="en-US" b="1" i="1" dirty="0" err="1"/>
              <a:t>blanca</a:t>
            </a:r>
            <a:r>
              <a:rPr lang="en-US" i="1" dirty="0"/>
              <a:t>. (That house, over there, is white)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041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F3428-1234-4790-A0E7-3AFD24D9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1E75A-76B0-4FE3-9003-F7C5C7EF7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Adjectives that end in -o have four forms.</a:t>
            </a:r>
          </a:p>
          <a:p>
            <a:r>
              <a:rPr lang="en-US" i="1" dirty="0"/>
              <a:t>alto</a:t>
            </a:r>
            <a:br>
              <a:rPr lang="en-US" i="1" dirty="0"/>
            </a:br>
            <a:r>
              <a:rPr lang="en-US" i="1" dirty="0" err="1"/>
              <a:t>alta</a:t>
            </a:r>
            <a:br>
              <a:rPr lang="en-US" i="1" dirty="0"/>
            </a:br>
            <a:r>
              <a:rPr lang="en-US" i="1" dirty="0"/>
              <a:t>altos</a:t>
            </a:r>
            <a:br>
              <a:rPr lang="en-US" i="1" dirty="0"/>
            </a:br>
            <a:r>
              <a:rPr lang="en-US" i="1" dirty="0" err="1"/>
              <a:t>altas</a:t>
            </a:r>
            <a:endParaRPr lang="en-US" dirty="0"/>
          </a:p>
          <a:p>
            <a:r>
              <a:rPr lang="en-US" dirty="0"/>
              <a:t>Adjectives of nationality ending in -o are no different from other such adjectives.</a:t>
            </a:r>
          </a:p>
          <a:p>
            <a:r>
              <a:rPr lang="en-US" i="1" dirty="0" err="1"/>
              <a:t>guatemalteco</a:t>
            </a:r>
            <a:br>
              <a:rPr lang="en-US" i="1" dirty="0"/>
            </a:br>
            <a:r>
              <a:rPr lang="en-US" i="1" dirty="0" err="1"/>
              <a:t>guatemalteca</a:t>
            </a:r>
            <a:br>
              <a:rPr lang="en-US" i="1" dirty="0"/>
            </a:br>
            <a:r>
              <a:rPr lang="en-US" i="1" dirty="0" err="1"/>
              <a:t>guatemaltecos</a:t>
            </a:r>
            <a:br>
              <a:rPr lang="en-US" i="1" dirty="0"/>
            </a:br>
            <a:r>
              <a:rPr lang="en-US" i="1" dirty="0" err="1"/>
              <a:t>guatemaltecas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959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C9C5-EFA7-463F-8C87-C5107261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7823D-8091-4CAC-B2C8-9D55E100F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Adjectives that end in -e have two forms.</a:t>
            </a:r>
          </a:p>
          <a:p>
            <a:r>
              <a:rPr lang="en-US" i="1" dirty="0" err="1"/>
              <a:t>inteligente</a:t>
            </a:r>
            <a:br>
              <a:rPr lang="en-US" i="1" dirty="0"/>
            </a:br>
            <a:r>
              <a:rPr lang="en-US" i="1" dirty="0" err="1"/>
              <a:t>inteligentes</a:t>
            </a:r>
            <a:endParaRPr lang="en-US" dirty="0"/>
          </a:p>
          <a:p>
            <a:r>
              <a:rPr lang="en-US" dirty="0"/>
              <a:t>Most adjectives ending with a consonant have two forms.</a:t>
            </a:r>
          </a:p>
          <a:p>
            <a:r>
              <a:rPr lang="en-US" i="1" dirty="0"/>
              <a:t>popular</a:t>
            </a:r>
            <a:br>
              <a:rPr lang="en-US" i="1" dirty="0"/>
            </a:br>
            <a:r>
              <a:rPr lang="en-US" i="1" dirty="0" err="1"/>
              <a:t>populares</a:t>
            </a:r>
            <a:endParaRPr lang="en-US" dirty="0"/>
          </a:p>
          <a:p>
            <a:r>
              <a:rPr lang="en-US" dirty="0"/>
              <a:t>Adjectives of nationality ending in a consonant have four forms.</a:t>
            </a:r>
          </a:p>
          <a:p>
            <a:r>
              <a:rPr lang="es-ES" i="1" dirty="0"/>
              <a:t>español</a:t>
            </a:r>
            <a:br>
              <a:rPr lang="es-ES" i="1" dirty="0"/>
            </a:br>
            <a:r>
              <a:rPr lang="es-ES" i="1" dirty="0"/>
              <a:t>española</a:t>
            </a:r>
            <a:br>
              <a:rPr lang="es-ES" i="1" dirty="0"/>
            </a:br>
            <a:r>
              <a:rPr lang="es-ES" i="1" dirty="0"/>
              <a:t>españoles</a:t>
            </a:r>
            <a:br>
              <a:rPr lang="es-ES" i="1" dirty="0"/>
            </a:br>
            <a:r>
              <a:rPr lang="es-ES" i="1" dirty="0"/>
              <a:t>españolas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0690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A097-9F5D-4E88-B707-0643D197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34A8C-F8F4-4C7E-AD46-63D0D7BE0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Adjectives</a:t>
            </a:r>
            <a:r>
              <a:rPr lang="es-ES" dirty="0"/>
              <a:t> </a:t>
            </a:r>
            <a:r>
              <a:rPr lang="es-ES" dirty="0" err="1"/>
              <a:t>ending</a:t>
            </a:r>
            <a:r>
              <a:rPr lang="es-ES" dirty="0"/>
              <a:t> in -</a:t>
            </a:r>
            <a:r>
              <a:rPr lang="es-ES" dirty="0" err="1"/>
              <a:t>or</a:t>
            </a:r>
            <a:r>
              <a:rPr lang="es-ES" dirty="0"/>
              <a:t>, -</a:t>
            </a:r>
            <a:r>
              <a:rPr lang="es-ES" dirty="0" err="1"/>
              <a:t>án</a:t>
            </a:r>
            <a:r>
              <a:rPr lang="es-ES" dirty="0"/>
              <a:t>, -</a:t>
            </a:r>
            <a:r>
              <a:rPr lang="es-ES" dirty="0" err="1"/>
              <a:t>ón</a:t>
            </a:r>
            <a:r>
              <a:rPr lang="es-ES" dirty="0"/>
              <a:t>, </a:t>
            </a:r>
            <a:r>
              <a:rPr lang="es-ES" dirty="0" err="1"/>
              <a:t>or</a:t>
            </a:r>
            <a:r>
              <a:rPr lang="es-ES" dirty="0"/>
              <a:t> -</a:t>
            </a:r>
            <a:r>
              <a:rPr lang="es-ES" dirty="0" err="1"/>
              <a:t>ín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</a:t>
            </a:r>
            <a:r>
              <a:rPr lang="es-ES" dirty="0" err="1"/>
              <a:t>four</a:t>
            </a:r>
            <a:r>
              <a:rPr lang="es-ES" dirty="0"/>
              <a:t> </a:t>
            </a:r>
            <a:r>
              <a:rPr lang="es-ES" dirty="0" err="1"/>
              <a:t>forms</a:t>
            </a:r>
            <a:r>
              <a:rPr lang="es-ES" dirty="0"/>
              <a:t>.</a:t>
            </a:r>
            <a:endParaRPr lang="en-US" dirty="0"/>
          </a:p>
          <a:p>
            <a:r>
              <a:rPr lang="es-ES" i="1" dirty="0"/>
              <a:t>hablador</a:t>
            </a:r>
            <a:br>
              <a:rPr lang="es-ES" i="1" dirty="0"/>
            </a:br>
            <a:r>
              <a:rPr lang="es-ES" i="1" dirty="0"/>
              <a:t>habladora</a:t>
            </a:r>
            <a:br>
              <a:rPr lang="es-ES" i="1" dirty="0"/>
            </a:br>
            <a:r>
              <a:rPr lang="es-ES" i="1" dirty="0"/>
              <a:t>habladores</a:t>
            </a:r>
            <a:br>
              <a:rPr lang="es-ES" i="1" dirty="0"/>
            </a:br>
            <a:r>
              <a:rPr lang="es-ES" i="1" dirty="0"/>
              <a:t>habladoras</a:t>
            </a:r>
            <a:endParaRPr lang="en-US" dirty="0"/>
          </a:p>
          <a:p>
            <a:r>
              <a:rPr lang="es-ES" dirty="0" err="1"/>
              <a:t>Adjectives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are </a:t>
            </a:r>
            <a:r>
              <a:rPr lang="es-ES" dirty="0" err="1"/>
              <a:t>descriptive</a:t>
            </a:r>
            <a:r>
              <a:rPr lang="es-ES" dirty="0"/>
              <a:t> </a:t>
            </a:r>
            <a:r>
              <a:rPr lang="es-ES" dirty="0" err="1"/>
              <a:t>usually</a:t>
            </a:r>
            <a:r>
              <a:rPr lang="es-ES" dirty="0"/>
              <a:t> </a:t>
            </a:r>
            <a:r>
              <a:rPr lang="es-ES" dirty="0" err="1"/>
              <a:t>follow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noun</a:t>
            </a:r>
            <a:r>
              <a:rPr lang="es-ES" dirty="0"/>
              <a:t> </a:t>
            </a:r>
            <a:r>
              <a:rPr lang="es-ES" dirty="0" err="1"/>
              <a:t>they</a:t>
            </a:r>
            <a:r>
              <a:rPr lang="es-ES" dirty="0"/>
              <a:t> describe.</a:t>
            </a:r>
            <a:endParaRPr lang="en-US" dirty="0"/>
          </a:p>
          <a:p>
            <a:r>
              <a:rPr lang="es-ES" i="1" dirty="0"/>
              <a:t>casa blanca</a:t>
            </a:r>
            <a:br>
              <a:rPr lang="es-ES" i="1" dirty="0"/>
            </a:br>
            <a:r>
              <a:rPr lang="es-ES" i="1" dirty="0"/>
              <a:t>chica alta</a:t>
            </a:r>
            <a:endParaRPr lang="en-US" dirty="0"/>
          </a:p>
          <a:p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17451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F669-22AB-4B87-A511-4FAB3616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C9B50-18C7-40A6-B088-0F8B3396B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an adjective speaks of a quality that is inherent and usually taken for granted, the adjective precedes the noun.</a:t>
            </a:r>
          </a:p>
          <a:p>
            <a:r>
              <a:rPr lang="es-ES" i="1" dirty="0"/>
              <a:t>la blanca nieve</a:t>
            </a:r>
            <a:br>
              <a:rPr lang="es-ES" i="1" dirty="0"/>
            </a:br>
            <a:r>
              <a:rPr lang="es-ES" i="1" dirty="0"/>
              <a:t>los altos picos</a:t>
            </a:r>
          </a:p>
          <a:p>
            <a:r>
              <a:rPr lang="en-US" dirty="0"/>
              <a:t>Adjectives of quantity usually come before the noun.</a:t>
            </a:r>
          </a:p>
          <a:p>
            <a:r>
              <a:rPr lang="en-US" i="1" dirty="0" err="1"/>
              <a:t>pocos</a:t>
            </a:r>
            <a:r>
              <a:rPr lang="en-US" i="1" dirty="0"/>
              <a:t> </a:t>
            </a:r>
            <a:r>
              <a:rPr lang="en-US" i="1" dirty="0" err="1"/>
              <a:t>libros</a:t>
            </a:r>
            <a:br>
              <a:rPr lang="en-US" i="1" dirty="0"/>
            </a:br>
            <a:r>
              <a:rPr lang="en-US" i="1" dirty="0" err="1"/>
              <a:t>muchos</a:t>
            </a:r>
            <a:r>
              <a:rPr lang="en-US" i="1" dirty="0"/>
              <a:t> </a:t>
            </a:r>
            <a:r>
              <a:rPr lang="en-US" i="1" dirty="0" err="1"/>
              <a:t>libros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0096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5A72-7956-4C4E-AA7E-07BDAFFB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Descriptive </a:t>
            </a:r>
            <a:r>
              <a:rPr lang="es-ES" dirty="0" err="1"/>
              <a:t>adjectives</a:t>
            </a:r>
            <a:r>
              <a:rPr lang="es-ES" dirty="0"/>
              <a:t> </a:t>
            </a:r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physical</a:t>
            </a:r>
            <a:r>
              <a:rPr lang="es-ES" dirty="0"/>
              <a:t>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8CE80-2CC4-42E9-982C-A6FCBDFF8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 err="1"/>
              <a:t>Tall</a:t>
            </a:r>
            <a:r>
              <a:rPr lang="es-ES" dirty="0"/>
              <a:t> 				alto/a</a:t>
            </a:r>
          </a:p>
          <a:p>
            <a:r>
              <a:rPr lang="es-ES" dirty="0"/>
              <a:t>Short 			bajo/baja</a:t>
            </a:r>
          </a:p>
          <a:p>
            <a:r>
              <a:rPr lang="es-ES" dirty="0"/>
              <a:t>Slim 				delgado/delgada</a:t>
            </a:r>
          </a:p>
          <a:p>
            <a:r>
              <a:rPr lang="es-ES" dirty="0" err="1"/>
              <a:t>Fat</a:t>
            </a:r>
            <a:r>
              <a:rPr lang="es-ES" dirty="0"/>
              <a:t> 				gordo/a</a:t>
            </a:r>
          </a:p>
          <a:p>
            <a:r>
              <a:rPr lang="es-ES" dirty="0" err="1"/>
              <a:t>Fair</a:t>
            </a:r>
            <a:r>
              <a:rPr lang="es-ES" dirty="0"/>
              <a:t> 				rubio/a</a:t>
            </a:r>
          </a:p>
          <a:p>
            <a:r>
              <a:rPr lang="es-ES" dirty="0" err="1"/>
              <a:t>Dark</a:t>
            </a:r>
            <a:r>
              <a:rPr lang="es-ES" dirty="0"/>
              <a:t> 				moreno/a</a:t>
            </a:r>
          </a:p>
          <a:p>
            <a:r>
              <a:rPr lang="es-ES" dirty="0"/>
              <a:t>Old 				viejo/a</a:t>
            </a:r>
          </a:p>
          <a:p>
            <a:r>
              <a:rPr lang="es-ES" dirty="0"/>
              <a:t>Young 			joven</a:t>
            </a:r>
          </a:p>
          <a:p>
            <a:r>
              <a:rPr lang="es-ES" dirty="0" err="1"/>
              <a:t>Pretty</a:t>
            </a:r>
            <a:r>
              <a:rPr lang="es-ES" dirty="0"/>
              <a:t>/</a:t>
            </a:r>
            <a:r>
              <a:rPr lang="es-ES" dirty="0" err="1"/>
              <a:t>handsome</a:t>
            </a:r>
            <a:r>
              <a:rPr lang="es-ES" dirty="0"/>
              <a:t> 		guapa/guapo</a:t>
            </a:r>
          </a:p>
          <a:p>
            <a:r>
              <a:rPr lang="es-ES" dirty="0" err="1"/>
              <a:t>Beautiful</a:t>
            </a:r>
            <a:r>
              <a:rPr lang="es-ES" dirty="0"/>
              <a:t>			bonito/a</a:t>
            </a:r>
          </a:p>
          <a:p>
            <a:r>
              <a:rPr lang="es-ES" dirty="0"/>
              <a:t>Cute				lindo/a</a:t>
            </a:r>
          </a:p>
        </p:txBody>
      </p:sp>
    </p:spTree>
    <p:extLst>
      <p:ext uri="{BB962C8B-B14F-4D97-AF65-F5344CB8AC3E}">
        <p14:creationId xmlns:p14="http://schemas.microsoft.com/office/powerpoint/2010/main" val="3575802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28D0-3AFB-1972-5CE5-D3E325AE6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Related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inherent</a:t>
            </a:r>
            <a:r>
              <a:rPr lang="es-ES" dirty="0"/>
              <a:t> </a:t>
            </a:r>
            <a:r>
              <a:rPr lang="es-ES" dirty="0" err="1"/>
              <a:t>characteristics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95929-C6A9-7E2E-7044-79D0ED3B0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Amable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 Franklin" pitchFamily="2" charset="0"/>
              </a:rPr>
              <a:t>: Kind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 err="1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Agradable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 Franklin" pitchFamily="2" charset="0"/>
              </a:rPr>
              <a:t>: Nice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Bueno/a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 Franklin" pitchFamily="2" charset="0"/>
              </a:rPr>
              <a:t>: Good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 err="1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Divertido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/a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 Franklin" pitchFamily="2" charset="0"/>
              </a:rPr>
              <a:t>: Funny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 err="1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Enérgico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/a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 Franklin" pitchFamily="2" charset="0"/>
              </a:rPr>
              <a:t>: Energetic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 err="1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Honesto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/a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 Franklin" pitchFamily="2" charset="0"/>
              </a:rPr>
              <a:t>: Honest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i="0" dirty="0" err="1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_franklinbold"/>
              </a:rPr>
              <a:t>Inteligente</a:t>
            </a:r>
            <a:r>
              <a:rPr lang="en-IN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Libre Franklin" pitchFamily="2" charset="0"/>
              </a:rPr>
              <a:t>: Clever</a:t>
            </a:r>
          </a:p>
          <a:p>
            <a:r>
              <a:rPr lang="es-ES" dirty="0"/>
              <a:t>Sincero/a: sincere</a:t>
            </a:r>
          </a:p>
          <a:p>
            <a:r>
              <a:rPr lang="es-ES" dirty="0" err="1"/>
              <a:t>Estupido</a:t>
            </a:r>
            <a:r>
              <a:rPr lang="es-ES" dirty="0"/>
              <a:t>/a: </a:t>
            </a:r>
            <a:r>
              <a:rPr lang="es-ES" dirty="0" err="1"/>
              <a:t>stupid</a:t>
            </a:r>
            <a:endParaRPr lang="es-ES" dirty="0"/>
          </a:p>
          <a:p>
            <a:r>
              <a:rPr lang="es-ES" dirty="0"/>
              <a:t>Importante: </a:t>
            </a:r>
            <a:r>
              <a:rPr lang="es-ES" dirty="0" err="1"/>
              <a:t>important</a:t>
            </a:r>
            <a:endParaRPr lang="es-ES" dirty="0"/>
          </a:p>
          <a:p>
            <a:r>
              <a:rPr lang="es-ES" dirty="0"/>
              <a:t>Famoso/a: </a:t>
            </a:r>
            <a:r>
              <a:rPr lang="es-ES" dirty="0" err="1"/>
              <a:t>famous</a:t>
            </a:r>
            <a:endParaRPr lang="es-ES" dirty="0"/>
          </a:p>
          <a:p>
            <a:r>
              <a:rPr lang="es-ES" dirty="0"/>
              <a:t>Rápido/a: </a:t>
            </a:r>
            <a:r>
              <a:rPr lang="es-ES" dirty="0" err="1"/>
              <a:t>fast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773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1D12D-E328-C30B-B7EC-537E5F3C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adjectives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AA694-C4F1-5FC1-25FE-606D62EF4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Grande: </a:t>
            </a:r>
            <a:r>
              <a:rPr lang="es-ES" dirty="0" err="1"/>
              <a:t>big</a:t>
            </a:r>
            <a:endParaRPr lang="es-ES" dirty="0"/>
          </a:p>
          <a:p>
            <a:r>
              <a:rPr lang="es-ES" dirty="0"/>
              <a:t>Pequeño/a: </a:t>
            </a:r>
            <a:r>
              <a:rPr lang="es-ES" dirty="0" err="1"/>
              <a:t>small</a:t>
            </a:r>
            <a:endParaRPr lang="es-ES" dirty="0"/>
          </a:p>
          <a:p>
            <a:r>
              <a:rPr lang="es-ES" dirty="0"/>
              <a:t>Sucio/a: </a:t>
            </a:r>
            <a:r>
              <a:rPr lang="es-ES" dirty="0" err="1"/>
              <a:t>dirty</a:t>
            </a:r>
            <a:endParaRPr lang="es-ES" dirty="0"/>
          </a:p>
          <a:p>
            <a:r>
              <a:rPr lang="es-ES" dirty="0"/>
              <a:t>Limpio/a: </a:t>
            </a:r>
            <a:r>
              <a:rPr lang="es-ES" dirty="0" err="1"/>
              <a:t>clean</a:t>
            </a:r>
            <a:endParaRPr lang="es-ES" dirty="0"/>
          </a:p>
          <a:p>
            <a:r>
              <a:rPr lang="es-ES" dirty="0"/>
              <a:t>Rico/a: </a:t>
            </a:r>
            <a:r>
              <a:rPr lang="es-ES" dirty="0" err="1"/>
              <a:t>rich</a:t>
            </a:r>
            <a:endParaRPr lang="es-ES" dirty="0"/>
          </a:p>
          <a:p>
            <a:r>
              <a:rPr lang="es-ES" dirty="0"/>
              <a:t>Pobre: por</a:t>
            </a:r>
          </a:p>
          <a:p>
            <a:r>
              <a:rPr lang="es-ES" dirty="0"/>
              <a:t>Largo/a: </a:t>
            </a:r>
            <a:r>
              <a:rPr lang="es-ES" dirty="0" err="1"/>
              <a:t>large</a:t>
            </a:r>
            <a:r>
              <a:rPr lang="es-ES" dirty="0"/>
              <a:t>/ </a:t>
            </a:r>
            <a:r>
              <a:rPr lang="es-ES" dirty="0" err="1"/>
              <a:t>long</a:t>
            </a:r>
            <a:endParaRPr lang="es-ES" dirty="0"/>
          </a:p>
          <a:p>
            <a:r>
              <a:rPr lang="es-ES" dirty="0"/>
              <a:t>Corto/a: short (</a:t>
            </a:r>
            <a:r>
              <a:rPr lang="es-ES" dirty="0" err="1"/>
              <a:t>length</a:t>
            </a:r>
            <a:r>
              <a:rPr lang="es-ES" dirty="0"/>
              <a:t> </a:t>
            </a:r>
            <a:r>
              <a:rPr lang="es-ES" dirty="0" err="1"/>
              <a:t>wise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6329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817A-30EC-C994-EB44-58CAEFE2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F30E-6964-28F3-5921-879D772C3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2000" b="1" i="0" dirty="0">
                <a:solidFill>
                  <a:srgbClr val="363940"/>
                </a:solidFill>
                <a:effectLst/>
                <a:latin typeface="Roboto Condensed" panose="02000000000000000000" pitchFamily="2" charset="0"/>
              </a:rPr>
              <a:t>Food related adjectives in Spanish</a:t>
            </a:r>
          </a:p>
          <a:p>
            <a:pPr marL="0" indent="0" algn="l">
              <a:buNone/>
            </a:pPr>
            <a:endParaRPr lang="en-IN" sz="2000" b="0" i="0" dirty="0">
              <a:solidFill>
                <a:srgbClr val="363940"/>
              </a:solidFill>
              <a:effectLst/>
              <a:highlight>
                <a:srgbClr val="FFFFFF"/>
              </a:highlight>
              <a:latin typeface="Libre Franklin" pitchFamily="2" charset="0"/>
            </a:endParaRPr>
          </a:p>
          <a:p>
            <a:pPr marL="0" indent="0" algn="l">
              <a:buNone/>
            </a:pPr>
            <a:r>
              <a:rPr lang="en-IN" sz="2400" i="0" dirty="0" err="1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Delicioso</a:t>
            </a:r>
            <a:r>
              <a:rPr lang="en-IN" sz="2400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/a: Delicious </a:t>
            </a:r>
          </a:p>
          <a:p>
            <a:pPr marL="0" indent="0" algn="l">
              <a:buNone/>
            </a:pPr>
            <a:r>
              <a:rPr lang="en-IN" sz="2400" dirty="0" err="1">
                <a:solidFill>
                  <a:srgbClr val="36394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Saboroso</a:t>
            </a:r>
            <a:r>
              <a:rPr lang="en-IN" sz="2400" dirty="0">
                <a:solidFill>
                  <a:srgbClr val="363940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/a: Tasty</a:t>
            </a:r>
            <a:endParaRPr lang="en-IN" sz="2400" i="0" dirty="0">
              <a:solidFill>
                <a:srgbClr val="363940"/>
              </a:solidFill>
              <a:effectLst/>
              <a:highlight>
                <a:srgbClr val="FF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IN" sz="2400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Dulce: Sweet</a:t>
            </a:r>
          </a:p>
          <a:p>
            <a:pPr marL="0" indent="0">
              <a:buNone/>
            </a:pPr>
            <a:r>
              <a:rPr lang="en-IN" sz="2400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Caliente: Hot</a:t>
            </a:r>
          </a:p>
          <a:p>
            <a:pPr marL="0" indent="0" algn="l">
              <a:buNone/>
            </a:pPr>
            <a:r>
              <a:rPr lang="en-IN" sz="2400" i="0" dirty="0" err="1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Frío</a:t>
            </a:r>
            <a:r>
              <a:rPr lang="en-IN" sz="2400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/a: Cold</a:t>
            </a:r>
          </a:p>
          <a:p>
            <a:pPr marL="0" indent="0" algn="l">
              <a:buNone/>
            </a:pPr>
            <a:r>
              <a:rPr lang="en-IN" sz="2400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Frito/a: Fried</a:t>
            </a:r>
          </a:p>
          <a:p>
            <a:pPr marL="0" indent="0" algn="l">
              <a:buNone/>
            </a:pPr>
            <a:r>
              <a:rPr lang="en-IN" sz="2400" i="0" dirty="0">
                <a:solidFill>
                  <a:srgbClr val="36394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Fresco/a: Fresh</a:t>
            </a:r>
          </a:p>
          <a:p>
            <a:pPr marL="0" indent="0" algn="l">
              <a:buNone/>
            </a:pPr>
            <a:endParaRPr lang="en-IN" sz="2000" b="0" i="0" dirty="0">
              <a:solidFill>
                <a:srgbClr val="363940"/>
              </a:solidFill>
              <a:effectLst/>
              <a:highlight>
                <a:srgbClr val="FFFFFF"/>
              </a:highlight>
              <a:latin typeface="Libre Franklin" pitchFamily="2" charset="0"/>
            </a:endParaRPr>
          </a:p>
          <a:p>
            <a:pPr marL="0" indent="0" algn="l">
              <a:buNone/>
            </a:pPr>
            <a:endParaRPr lang="en-IN" sz="2000" b="0" i="0" dirty="0">
              <a:solidFill>
                <a:srgbClr val="363940"/>
              </a:solidFill>
              <a:effectLst/>
              <a:highlight>
                <a:srgbClr val="FFFFFF"/>
              </a:highlight>
              <a:latin typeface="Libre Franklin" pitchFamily="2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363940"/>
              </a:solidFill>
              <a:effectLst/>
              <a:highlight>
                <a:srgbClr val="FFFFFF"/>
              </a:highlight>
              <a:latin typeface="Libre Franklin" pitchFamily="2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13623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8FFD-BF21-4D6E-9B55-C9E07C1C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Los colores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168C4-A82C-46BA-B58B-C157FDAE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b="1" dirty="0"/>
              <a:t>			</a:t>
            </a:r>
          </a:p>
          <a:p>
            <a:r>
              <a:rPr lang="es-ES" dirty="0"/>
              <a:t>Rojo/a 		red</a:t>
            </a:r>
          </a:p>
          <a:p>
            <a:r>
              <a:rPr lang="es-ES" dirty="0"/>
              <a:t>Blanco/a 		</a:t>
            </a:r>
            <a:r>
              <a:rPr lang="es-ES" dirty="0" err="1"/>
              <a:t>white</a:t>
            </a:r>
            <a:endParaRPr lang="es-ES" dirty="0"/>
          </a:p>
          <a:p>
            <a:r>
              <a:rPr lang="es-ES" dirty="0"/>
              <a:t>Negro/a 		</a:t>
            </a:r>
            <a:r>
              <a:rPr lang="es-ES" dirty="0" err="1"/>
              <a:t>black</a:t>
            </a:r>
            <a:endParaRPr lang="es-ES" dirty="0"/>
          </a:p>
          <a:p>
            <a:r>
              <a:rPr lang="es-ES" dirty="0"/>
              <a:t>Amarillo/a 		</a:t>
            </a:r>
            <a:r>
              <a:rPr lang="es-ES" dirty="0" err="1"/>
              <a:t>yellow</a:t>
            </a:r>
            <a:endParaRPr lang="es-ES" dirty="0"/>
          </a:p>
          <a:p>
            <a:r>
              <a:rPr lang="es-ES" dirty="0"/>
              <a:t>Naranja (</a:t>
            </a:r>
            <a:r>
              <a:rPr lang="es-ES" dirty="0" err="1"/>
              <a:t>mf</a:t>
            </a:r>
            <a:r>
              <a:rPr lang="es-ES" dirty="0"/>
              <a:t>)	</a:t>
            </a:r>
            <a:r>
              <a:rPr lang="es-ES" dirty="0" err="1"/>
              <a:t>orange</a:t>
            </a:r>
            <a:endParaRPr lang="es-ES" dirty="0"/>
          </a:p>
          <a:p>
            <a:r>
              <a:rPr lang="es-ES" dirty="0"/>
              <a:t>Verde (</a:t>
            </a:r>
            <a:r>
              <a:rPr lang="es-ES" dirty="0" err="1"/>
              <a:t>mf</a:t>
            </a:r>
            <a:r>
              <a:rPr lang="es-ES" dirty="0"/>
              <a:t>)		</a:t>
            </a:r>
            <a:r>
              <a:rPr lang="es-ES" dirty="0" err="1"/>
              <a:t>green</a:t>
            </a:r>
            <a:endParaRPr lang="es-ES" dirty="0"/>
          </a:p>
          <a:p>
            <a:r>
              <a:rPr lang="es-ES" dirty="0"/>
              <a:t>Azul 	(</a:t>
            </a:r>
            <a:r>
              <a:rPr lang="es-ES" dirty="0" err="1"/>
              <a:t>mf</a:t>
            </a:r>
            <a:r>
              <a:rPr lang="es-ES" dirty="0"/>
              <a:t>)		blue</a:t>
            </a:r>
          </a:p>
          <a:p>
            <a:r>
              <a:rPr lang="es-ES" dirty="0"/>
              <a:t>Rosado/a 		</a:t>
            </a:r>
            <a:r>
              <a:rPr lang="es-ES" dirty="0" err="1"/>
              <a:t>pink</a:t>
            </a:r>
            <a:endParaRPr lang="es-ES" dirty="0"/>
          </a:p>
          <a:p>
            <a:r>
              <a:rPr lang="es-ES" dirty="0"/>
              <a:t>Marrón (</a:t>
            </a:r>
            <a:r>
              <a:rPr lang="es-ES" dirty="0" err="1"/>
              <a:t>mf</a:t>
            </a:r>
            <a:r>
              <a:rPr lang="es-ES" dirty="0"/>
              <a:t>)	</a:t>
            </a:r>
            <a:r>
              <a:rPr lang="es-ES" dirty="0" err="1"/>
              <a:t>brown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75840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89D9-5FF3-932F-76F2-870FF1F6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677FD-945F-0777-FF16-512B38723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fontAlgn="base">
              <a:buNone/>
            </a:pP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pPr algn="l" fontAlgn="base"/>
            <a:r>
              <a:rPr lang="en-IN" dirty="0">
                <a:solidFill>
                  <a:srgbClr val="151515"/>
                </a:solidFill>
                <a:effectLst/>
                <a:latin typeface="inherit"/>
              </a:rPr>
              <a:t>Violeta (mf)	violet</a:t>
            </a: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pPr algn="l" fontAlgn="base"/>
            <a:r>
              <a:rPr lang="en-IN" dirty="0">
                <a:solidFill>
                  <a:srgbClr val="151515"/>
                </a:solidFill>
                <a:latin typeface="inherit"/>
              </a:rPr>
              <a:t>Purpura (mf)	purple</a:t>
            </a: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pPr algn="l" fontAlgn="base"/>
            <a:r>
              <a:rPr lang="en-IN" dirty="0">
                <a:solidFill>
                  <a:srgbClr val="151515"/>
                </a:solidFill>
                <a:latin typeface="inherit"/>
              </a:rPr>
              <a:t>G</a:t>
            </a:r>
            <a:r>
              <a:rPr lang="en-IN" dirty="0">
                <a:solidFill>
                  <a:srgbClr val="151515"/>
                </a:solidFill>
                <a:effectLst/>
                <a:latin typeface="inherit"/>
              </a:rPr>
              <a:t>ris	(mf)		grey</a:t>
            </a: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pPr algn="l" fontAlgn="base"/>
            <a:r>
              <a:rPr lang="en-IN" dirty="0" err="1">
                <a:solidFill>
                  <a:srgbClr val="151515"/>
                </a:solidFill>
                <a:latin typeface="inherit"/>
              </a:rPr>
              <a:t>P</a:t>
            </a:r>
            <a:r>
              <a:rPr lang="en-IN" dirty="0" err="1">
                <a:solidFill>
                  <a:srgbClr val="151515"/>
                </a:solidFill>
                <a:effectLst/>
                <a:latin typeface="inherit"/>
              </a:rPr>
              <a:t>lateado</a:t>
            </a:r>
            <a:r>
              <a:rPr lang="en-IN" dirty="0">
                <a:solidFill>
                  <a:srgbClr val="151515"/>
                </a:solidFill>
                <a:effectLst/>
                <a:latin typeface="inherit"/>
              </a:rPr>
              <a:t>/a		silver</a:t>
            </a: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pPr fontAlgn="base"/>
            <a:r>
              <a:rPr lang="en-IN" dirty="0">
                <a:solidFill>
                  <a:srgbClr val="151515"/>
                </a:solidFill>
                <a:latin typeface="inherit"/>
              </a:rPr>
              <a:t>D</a:t>
            </a:r>
            <a:r>
              <a:rPr lang="en-IN" dirty="0">
                <a:solidFill>
                  <a:srgbClr val="151515"/>
                </a:solidFill>
                <a:effectLst/>
                <a:latin typeface="inherit"/>
              </a:rPr>
              <a:t>orado/a		golden</a:t>
            </a: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pPr algn="l" fontAlgn="base"/>
            <a:r>
              <a:rPr lang="en-IN" dirty="0">
                <a:solidFill>
                  <a:srgbClr val="151515"/>
                </a:solidFill>
                <a:effectLst/>
                <a:latin typeface="inherit"/>
              </a:rPr>
              <a:t>claro/a		light</a:t>
            </a: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pPr fontAlgn="base"/>
            <a:r>
              <a:rPr lang="en-IN" dirty="0" err="1">
                <a:solidFill>
                  <a:srgbClr val="151515"/>
                </a:solidFill>
                <a:effectLst/>
                <a:latin typeface="inherit"/>
              </a:rPr>
              <a:t>oscuro</a:t>
            </a:r>
            <a:r>
              <a:rPr lang="en-IN" dirty="0">
                <a:solidFill>
                  <a:srgbClr val="151515"/>
                </a:solidFill>
                <a:effectLst/>
                <a:latin typeface="inherit"/>
              </a:rPr>
              <a:t>/a		dark</a:t>
            </a:r>
            <a:endParaRPr lang="en-IN" dirty="0">
              <a:solidFill>
                <a:srgbClr val="151515"/>
              </a:solidFill>
              <a:effectLst/>
              <a:latin typeface="Graphik Babbel LCG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6824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1228</Words>
  <Application>Microsoft Office PowerPoint</Application>
  <PresentationFormat>Widescreen</PresentationFormat>
  <Paragraphs>135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Graphik Babbel LCG</vt:lpstr>
      <vt:lpstr>inherit</vt:lpstr>
      <vt:lpstr>libre_franklinbold</vt:lpstr>
      <vt:lpstr>Arial</vt:lpstr>
      <vt:lpstr>Calibri</vt:lpstr>
      <vt:lpstr>Calibri Light</vt:lpstr>
      <vt:lpstr>Libre Franklin</vt:lpstr>
      <vt:lpstr>Roboto Condensed</vt:lpstr>
      <vt:lpstr>Office Theme</vt:lpstr>
      <vt:lpstr>Los Adjetivos</vt:lpstr>
      <vt:lpstr>1. Dependent on the number and gender of the noun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Adjectives mostly come after nouns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Descriptive adjectives related to physical features</vt:lpstr>
      <vt:lpstr>Related to inherent characteristics</vt:lpstr>
      <vt:lpstr>Other adjectives</vt:lpstr>
      <vt:lpstr>PowerPoint Presentation</vt:lpstr>
      <vt:lpstr>Los colores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Adjetivos</dc:title>
  <dc:creator>baishali choudhuri</dc:creator>
  <cp:lastModifiedBy>baishali choudhuri</cp:lastModifiedBy>
  <cp:revision>21</cp:revision>
  <dcterms:created xsi:type="dcterms:W3CDTF">2020-11-12T03:12:01Z</dcterms:created>
  <dcterms:modified xsi:type="dcterms:W3CDTF">2024-08-24T06:09:09Z</dcterms:modified>
</cp:coreProperties>
</file>