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304" r:id="rId2"/>
    <p:sldId id="303" r:id="rId3"/>
    <p:sldId id="256" r:id="rId4"/>
    <p:sldId id="257" r:id="rId5"/>
    <p:sldId id="283" r:id="rId6"/>
    <p:sldId id="261" r:id="rId7"/>
    <p:sldId id="262" r:id="rId8"/>
    <p:sldId id="279" r:id="rId9"/>
    <p:sldId id="275" r:id="rId10"/>
    <p:sldId id="265" r:id="rId11"/>
    <p:sldId id="266" r:id="rId12"/>
    <p:sldId id="267" r:id="rId13"/>
    <p:sldId id="268" r:id="rId14"/>
    <p:sldId id="269" r:id="rId15"/>
    <p:sldId id="270" r:id="rId16"/>
    <p:sldId id="278" r:id="rId17"/>
    <p:sldId id="272" r:id="rId18"/>
    <p:sldId id="271" r:id="rId19"/>
    <p:sldId id="273" r:id="rId20"/>
    <p:sldId id="305" r:id="rId21"/>
    <p:sldId id="306" r:id="rId22"/>
    <p:sldId id="302" r:id="rId23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0366C5-2D9C-4F4C-B308-F97BE8D3CFD3}" v="116" dt="2025-01-07T03:04:23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4660"/>
  </p:normalViewPr>
  <p:slideViewPr>
    <p:cSldViewPr showGuides="1">
      <p:cViewPr varScale="1">
        <p:scale>
          <a:sx n="79" d="100"/>
          <a:sy n="79" d="100"/>
        </p:scale>
        <p:origin x="390" y="78"/>
      </p:cViewPr>
      <p:guideLst>
        <p:guide orient="horz" pos="219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36E11B2C-8A0E-49D0-A30F-117EE3124ACD}"/>
    <pc:docChg chg="custSel modSld">
      <pc:chgData name="shilpi gupta" userId="5ce4f23861899b28" providerId="LiveId" clId="{36E11B2C-8A0E-49D0-A30F-117EE3124ACD}" dt="2024-07-22T04:35:27.580" v="1" actId="478"/>
      <pc:docMkLst>
        <pc:docMk/>
      </pc:docMkLst>
      <pc:sldChg chg="addSp delSp modSp mod">
        <pc:chgData name="shilpi gupta" userId="5ce4f23861899b28" providerId="LiveId" clId="{36E11B2C-8A0E-49D0-A30F-117EE3124ACD}" dt="2024-07-22T04:35:27.580" v="1" actId="478"/>
        <pc:sldMkLst>
          <pc:docMk/>
          <pc:sldMk cId="0" sldId="279"/>
        </pc:sldMkLst>
      </pc:sldChg>
    </pc:docChg>
  </pc:docChgLst>
  <pc:docChgLst>
    <pc:chgData name="shilpi gupta" userId="5ce4f23861899b28" providerId="LiveId" clId="{310366C5-2D9C-4F4C-B308-F97BE8D3CFD3}"/>
    <pc:docChg chg="custSel modSld">
      <pc:chgData name="shilpi gupta" userId="5ce4f23861899b28" providerId="LiveId" clId="{310366C5-2D9C-4F4C-B308-F97BE8D3CFD3}" dt="2025-01-07T03:04:23.902" v="121" actId="1076"/>
      <pc:docMkLst>
        <pc:docMk/>
      </pc:docMkLst>
      <pc:sldChg chg="modSp mod modAnim">
        <pc:chgData name="shilpi gupta" userId="5ce4f23861899b28" providerId="LiveId" clId="{310366C5-2D9C-4F4C-B308-F97BE8D3CFD3}" dt="2025-01-07T02:46:34.519" v="40" actId="20577"/>
        <pc:sldMkLst>
          <pc:docMk/>
          <pc:sldMk cId="0" sldId="265"/>
        </pc:sldMkLst>
        <pc:spChg chg="mod">
          <ac:chgData name="shilpi gupta" userId="5ce4f23861899b28" providerId="LiveId" clId="{310366C5-2D9C-4F4C-B308-F97BE8D3CFD3}" dt="2025-01-07T02:46:34.519" v="40" actId="20577"/>
          <ac:spMkLst>
            <pc:docMk/>
            <pc:sldMk cId="0" sldId="265"/>
            <ac:spMk id="3" creationId="{00000000-0000-0000-0000-000000000000}"/>
          </ac:spMkLst>
        </pc:spChg>
      </pc:sldChg>
      <pc:sldChg chg="modSp mod modAnim">
        <pc:chgData name="shilpi gupta" userId="5ce4f23861899b28" providerId="LiveId" clId="{310366C5-2D9C-4F4C-B308-F97BE8D3CFD3}" dt="2025-01-07T02:50:34.022" v="120" actId="27636"/>
        <pc:sldMkLst>
          <pc:docMk/>
          <pc:sldMk cId="0" sldId="268"/>
        </pc:sldMkLst>
        <pc:spChg chg="mod">
          <ac:chgData name="shilpi gupta" userId="5ce4f23861899b28" providerId="LiveId" clId="{310366C5-2D9C-4F4C-B308-F97BE8D3CFD3}" dt="2025-01-07T02:50:34.022" v="120" actId="27636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shilpi gupta" userId="5ce4f23861899b28" providerId="LiveId" clId="{310366C5-2D9C-4F4C-B308-F97BE8D3CFD3}" dt="2025-01-07T03:04:23.902" v="121" actId="1076"/>
        <pc:sldMkLst>
          <pc:docMk/>
          <pc:sldMk cId="2873325748" sldId="305"/>
        </pc:sldMkLst>
        <pc:spChg chg="mod">
          <ac:chgData name="shilpi gupta" userId="5ce4f23861899b28" providerId="LiveId" clId="{310366C5-2D9C-4F4C-B308-F97BE8D3CFD3}" dt="2025-01-07T03:04:23.902" v="121" actId="1076"/>
          <ac:spMkLst>
            <pc:docMk/>
            <pc:sldMk cId="2873325748" sldId="305"/>
            <ac:spMk id="2" creationId="{AC674221-BC3B-3D8F-4E9A-CF84B6A2C2B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F3CE1F3-5572-4D5D-BC5C-1C54B9B46EBA}" type="slidenum">
              <a:rPr lang="en-US" altLang="en-US" smtClean="0"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772B142-8A2A-441B-AE50-CBBEE5B4A056}" type="slidenum">
              <a:rPr lang="en-US" altLang="en-US" smtClean="0"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739DFE2-492A-4626-9F43-4376743A7D23}" type="slidenum">
              <a:rPr lang="en-US" altLang="en-US" smtClean="0"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225540-3FD8-4F00-B675-516828124EE3}" type="slidenum">
              <a:rPr lang="en-US" altLang="en-US" smtClean="0"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BABDEFF-AB63-4C0B-BC17-4C59315A110F}" type="slidenum">
              <a:rPr lang="en-US" altLang="en-US" smtClean="0"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69DD9A8-0675-4387-86EB-78DB5A09DF68}" type="slidenum">
              <a:rPr lang="en-US" altLang="en-US" smtClean="0"/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57005AF-8CF2-496B-9413-5CD7A862418C}" type="slidenum">
              <a:rPr lang="en-US" altLang="en-US" smtClean="0"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86398C0-13E0-4019-BE13-15180ECAA350}" type="slidenum">
              <a:rPr lang="en-US" altLang="en-US" smtClean="0"/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092F91E-B629-4B7E-B2AC-67B6AFBF32AD}" type="slidenum">
              <a:rPr lang="en-US" altLang="en-US" smtClean="0"/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D837AD-0353-42D2-86A1-E3757B2ECEC5}" type="slidenum">
              <a:rPr lang="en-US" altLang="en-US" smtClean="0"/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CA8AA3F-239A-4930-B0B5-F37E1A10CCA2}" type="slidenum">
              <a:rPr lang="en-US" altLang="en-US" smtClean="0"/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F071401-9F3D-4FD0-A911-1EE522F2F54B}" type="slidenum">
              <a:rPr lang="en-US" altLang="en-US" smtClean="0"/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387563C-46DC-475D-83E1-4D79DCE7ADC3}" type="slidenum">
              <a:rPr lang="en-US" altLang="en-US" smtClean="0"/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088FC8-2A32-4808-9E46-6E7D1288BB3E}" type="slidenum">
              <a:rPr lang="en-US" altLang="en-US" smtClean="0"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1/7/2025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1/7/2025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1/7/2025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1/7/2025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1/7/2025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1/7/2025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1/7/2025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1/7/2025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1/7/2025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1/7/2025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 err="1"/>
              <a:t>Pronombres</a:t>
            </a:r>
            <a:r>
              <a:rPr lang="en-IN" altLang="en-US" sz="3200" dirty="0"/>
              <a:t> </a:t>
            </a:r>
            <a:r>
              <a:rPr lang="en-IN" altLang="en-US" sz="3200" dirty="0" err="1"/>
              <a:t>sujetos</a:t>
            </a:r>
            <a:r>
              <a:rPr lang="en-IN" altLang="en-US" sz="3200" dirty="0"/>
              <a:t> y </a:t>
            </a:r>
            <a:r>
              <a:rPr lang="en-IN" altLang="en-US" sz="3200" dirty="0" err="1"/>
              <a:t>el</a:t>
            </a:r>
            <a:r>
              <a:rPr lang="en-IN" altLang="en-US" sz="3200" dirty="0"/>
              <a:t> verbo ser</a:t>
            </a:r>
          </a:p>
          <a:p>
            <a:pPr marL="109220" indent="0">
              <a:buNone/>
            </a:pPr>
            <a:r>
              <a:rPr lang="en-IN" altLang="en-US" sz="3200" dirty="0"/>
              <a:t>(Subject Pronoun and Ser Verb)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altLang="en-US" dirty="0">
                <a:sym typeface="+mn-ea"/>
              </a:rPr>
              <a:t>Subject Pronoun </a:t>
            </a:r>
          </a:p>
          <a:p>
            <a:pPr algn="just"/>
            <a:r>
              <a:rPr lang="en-IN" altLang="en-US" dirty="0">
                <a:sym typeface="+mn-ea"/>
              </a:rPr>
              <a:t>Ser Verb (To Be)</a:t>
            </a:r>
          </a:p>
          <a:p>
            <a:pPr algn="just"/>
            <a:r>
              <a:rPr lang="en-IN" altLang="en-US" dirty="0">
                <a:sym typeface="+mn-ea"/>
              </a:rPr>
              <a:t>¿Qui</a:t>
            </a:r>
            <a:r>
              <a:rPr lang="es-ES" altLang="en-US" dirty="0" err="1">
                <a:sym typeface="+mn-ea"/>
              </a:rPr>
              <a:t>én</a:t>
            </a:r>
            <a:r>
              <a:rPr lang="es-ES" altLang="en-US" dirty="0">
                <a:sym typeface="+mn-ea"/>
              </a:rPr>
              <a:t> eres tú?</a:t>
            </a:r>
            <a:endParaRPr lang="en-IN" altLang="en-US" dirty="0"/>
          </a:p>
          <a:p>
            <a:pPr marL="109220" indent="0" algn="just">
              <a:buNone/>
            </a:pPr>
            <a:endParaRPr lang="en-IN" altLang="en-US" dirty="0"/>
          </a:p>
          <a:p>
            <a:pPr algn="just"/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Subject pronoun and Ser Verb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152401"/>
            <a:ext cx="10363200" cy="914400"/>
          </a:xfrm>
        </p:spPr>
        <p:txBody>
          <a:bodyPr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>
                <a:ln/>
                <a:solidFill>
                  <a:srgbClr val="1DE7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Subject pronouns</a:t>
            </a:r>
          </a:p>
        </p:txBody>
      </p:sp>
      <p:sp>
        <p:nvSpPr>
          <p:cNvPr id="10243" name="Subtitle 2"/>
          <p:cNvSpPr>
            <a:spLocks noGrp="1"/>
          </p:cNvSpPr>
          <p:nvPr>
            <p:ph type="subTitle" idx="1"/>
          </p:nvPr>
        </p:nvSpPr>
        <p:spPr>
          <a:xfrm>
            <a:off x="228600" y="2286000"/>
            <a:ext cx="12420600" cy="1200150"/>
          </a:xfrm>
        </p:spPr>
        <p:txBody>
          <a:bodyPr anchor="ctr"/>
          <a:lstStyle/>
          <a:p>
            <a:pPr marR="0" algn="l" eaLnBrk="1" hangingPunct="1">
              <a:lnSpc>
                <a:spcPct val="150000"/>
              </a:lnSpc>
            </a:pP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pronoun is a word that takes the place of a noun.</a:t>
            </a:r>
          </a:p>
          <a:p>
            <a:pPr marR="0" algn="l" eaLnBrk="1" hangingPunct="1">
              <a:lnSpc>
                <a:spcPct val="150000"/>
              </a:lnSpc>
            </a:pPr>
            <a:r>
              <a:rPr lang="es-E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Ex-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Bob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swimming. </a:t>
            </a:r>
            <a:r>
              <a:rPr lang="en-US" altLang="en-US" sz="32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en-US" altLang="en-US" sz="3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swimming.</a:t>
            </a:r>
          </a:p>
          <a:p>
            <a:pPr marR="0" algn="l" eaLnBrk="1" hangingPunct="1">
              <a:lnSpc>
                <a:spcPct val="150000"/>
              </a:lnSpc>
            </a:pPr>
            <a:endParaRPr lang="en-US" altLang="en-US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24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98298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/>
              <a:t>What are the English subject pronouns?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47800"/>
          <a:ext cx="10210800" cy="487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ctr"/>
                      <a:endParaRPr lang="en-US" sz="2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person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person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(all)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28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person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He, She, It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495800" y="2742541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495800" y="3971719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95800" y="5200897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848600" y="2742541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848600" y="3971719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848600" y="5200897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4499429" y="1532413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7848599" y="1507128"/>
            <a:ext cx="3048001" cy="108966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11125200" cy="838200"/>
          </a:xfrm>
        </p:spPr>
        <p:txBody>
          <a:bodyPr>
            <a:noAutofit/>
          </a:bodyPr>
          <a:lstStyle/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altLang="en-US" sz="2800" dirty="0"/>
              <a:t>Spanish subject pronouns are similar to English, but there are some differences.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9728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/>
              <a:t>English subject pronouns and their Spanish equivalents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2000" y="2590800"/>
          <a:ext cx="10591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3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Singular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Plural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24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person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 = </a:t>
                      </a:r>
                      <a:r>
                        <a:rPr lang="en-US" sz="20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</a:t>
                      </a:r>
                      <a:endParaRPr lang="en-US" sz="20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 =</a:t>
                      </a:r>
                      <a:r>
                        <a:rPr lang="en-US" sz="20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nosotros</a:t>
                      </a:r>
                      <a:r>
                        <a:rPr kumimoji="0" lang="en-US" sz="2000" kern="1200" dirty="0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(m)</a:t>
                      </a:r>
                    </a:p>
                    <a:p>
                      <a:pPr marL="0" algn="ctr" rtl="0" eaLnBrk="1" latinLnBrk="0" hangingPunct="1"/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Nosotras</a:t>
                      </a:r>
                      <a:r>
                        <a:rPr kumimoji="0" lang="en-US" sz="2000" kern="1200" dirty="0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(f)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r>
                        <a:rPr lang="en-US" sz="24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nd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person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 (familiar)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tú</a:t>
                      </a:r>
                      <a:endParaRPr kumimoji="0" lang="en-US" sz="2000" kern="12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(familiar)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vosotros</a:t>
                      </a:r>
                      <a:endParaRPr kumimoji="0" lang="en-US" sz="2000" kern="12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ctr" rtl="0" eaLnBrk="1" latinLnBrk="0" hangingPunct="1"/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vosotras</a:t>
                      </a:r>
                      <a:endParaRPr kumimoji="0" lang="en-US" sz="2000" kern="12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lang="en-US" sz="2400" baseline="30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rd</a:t>
                      </a:r>
                      <a:r>
                        <a:rPr lang="en-US" sz="2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person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él</a:t>
                      </a:r>
                      <a:r>
                        <a:rPr kumimoji="0" lang="en-US" sz="2000" kern="1200" dirty="0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She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ella</a:t>
                      </a:r>
                      <a:endParaRPr kumimoji="0" lang="en-US" sz="2000" kern="12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(formal)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Usted</a:t>
                      </a:r>
                      <a:r>
                        <a:rPr lang="en-US" sz="2000" baseline="0" dirty="0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kumimoji="0" lang="en-US" sz="2000" kern="12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 (masculine)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Ellos</a:t>
                      </a:r>
                      <a:endParaRPr kumimoji="0" lang="en-US" sz="2000" kern="12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algn="ctr"/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They (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femenine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Ellas</a:t>
                      </a:r>
                      <a:endParaRPr kumimoji="0" lang="en-US" sz="2000" kern="1200" dirty="0">
                        <a:solidFill>
                          <a:srgbClr val="FFD908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0" algn="ctr" rtl="0" eaLnBrk="1" latinLnBrk="0" hangingPunct="1"/>
                      <a:r>
                        <a:rPr lang="en-US" sz="2000" baseline="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You all (formal) = </a:t>
                      </a:r>
                      <a:r>
                        <a:rPr kumimoji="0" lang="en-US" sz="2000" kern="1200" dirty="0" err="1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Ustedes</a:t>
                      </a:r>
                      <a:r>
                        <a:rPr kumimoji="0" lang="en-US" sz="2000" kern="1200" dirty="0">
                          <a:solidFill>
                            <a:srgbClr val="FFD908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419600" y="3429000"/>
            <a:ext cx="3048000" cy="53339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4432300" y="4229415"/>
            <a:ext cx="3048000" cy="76826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555671" y="5137281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997370" y="3398393"/>
            <a:ext cx="3048000" cy="64541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997370" y="4189624"/>
            <a:ext cx="3048000" cy="76957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019141" y="5137281"/>
            <a:ext cx="3048000" cy="10390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4572000" y="2680855"/>
            <a:ext cx="3048000" cy="51954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8001000" y="2635003"/>
            <a:ext cx="3048001" cy="62889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  <p:bldP spid="2" grpId="0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17955"/>
            <a:ext cx="7467600" cy="4724400"/>
          </a:xfrm>
        </p:spPr>
        <p:txBody>
          <a:bodyPr/>
          <a:lstStyle/>
          <a:p>
            <a:pPr eaLnBrk="1" hangingPunct="1"/>
            <a:r>
              <a:rPr lang="en-US" altLang="en-US" sz="3200" dirty="0"/>
              <a:t>In English, there is only one way to express “YOU” </a:t>
            </a:r>
          </a:p>
          <a:p>
            <a:pPr eaLnBrk="1" hangingPunct="1"/>
            <a:r>
              <a:rPr lang="en-US" altLang="en-US" sz="3200" dirty="0"/>
              <a:t>In Spanish there are 2 ways to express “you”</a:t>
            </a:r>
          </a:p>
          <a:p>
            <a:pPr lvl="2" eaLnBrk="1" hangingPunct="1"/>
            <a:r>
              <a:rPr lang="en-US" altLang="en-US" sz="3200" dirty="0" err="1"/>
              <a:t>tú</a:t>
            </a:r>
            <a:endParaRPr lang="en-US" altLang="en-US" sz="3200" dirty="0"/>
          </a:p>
          <a:p>
            <a:pPr lvl="2" eaLnBrk="1" hangingPunct="1"/>
            <a:r>
              <a:rPr lang="en-US" altLang="en-US" sz="3200" dirty="0" err="1"/>
              <a:t>usted</a:t>
            </a:r>
            <a:r>
              <a:rPr lang="en-US" altLang="en-US" sz="3200" dirty="0"/>
              <a:t> 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5883"/>
            <a:ext cx="10972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YOU, You, and You</a:t>
            </a:r>
          </a:p>
        </p:txBody>
      </p:sp>
      <p:pic>
        <p:nvPicPr>
          <p:cNvPr id="39940" name="Picture 2" descr="http://tell.fll.purdue.edu/JapanProj/FLClipart/Pronouns/you-singula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99" t="15698" r="20000" b="10323"/>
          <a:stretch>
            <a:fillRect/>
          </a:stretch>
        </p:blipFill>
        <p:spPr bwMode="auto">
          <a:xfrm>
            <a:off x="6172200" y="3962401"/>
            <a:ext cx="2362200" cy="241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  <p:bldP spid="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Difference: Tú vs. </a:t>
            </a:r>
            <a:r>
              <a:rPr lang="en-US" dirty="0" err="1"/>
              <a:t>Usted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066800" y="1417638"/>
            <a:ext cx="47244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Tú</a:t>
            </a:r>
            <a:r>
              <a:rPr lang="en-US" altLang="en-US" sz="1800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you (informal/familiar)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“</a:t>
            </a:r>
            <a:r>
              <a:rPr lang="en-US" altLang="en-US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tú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when talking to people with whom you are on a first name basis. 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friends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family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small children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younger than you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pets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867400" y="1417638"/>
            <a:ext cx="52578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Lucida Sans Unicode" panose="020B0602030504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Lucida Sans Unicode" panose="020B0602030504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Lucida Sans Unicode" panose="020B0602030504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Lucida Sans Unicode" panose="020B0602030504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>
                <a:solidFill>
                  <a:schemeClr val="tx1"/>
                </a:solidFill>
                <a:latin typeface="Lucida Sans Unicode" panose="020B0602030504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Usted</a:t>
            </a:r>
            <a:r>
              <a:rPr lang="en-US" altLang="en-US" sz="1800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1800" u="sng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</a:t>
            </a:r>
            <a:r>
              <a:rPr lang="en-US" altLang="en-US" sz="1800" u="sng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.) = you (formal)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u="sng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“</a:t>
            </a:r>
            <a:r>
              <a:rPr lang="en-US" altLang="en-US" sz="1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Usted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when talking with people to whom you should show respect. 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People in authority 	(police, teachers, bosses, etc.)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Strangers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Acquaintances</a:t>
            </a:r>
          </a:p>
          <a:p>
            <a:pPr marL="285750" indent="-285750" eaLnBrk="1" hangingPunct="1">
              <a:spcBef>
                <a:spcPct val="0"/>
              </a:spcBef>
              <a:buClrTx/>
              <a:buSzTx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Adults</a:t>
            </a:r>
          </a:p>
          <a:p>
            <a:pPr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pic>
        <p:nvPicPr>
          <p:cNvPr id="44038" name="Picture 2" descr="http://tell.fll.purdue.edu/JapanProj/FLClipart/Pronouns/you-plural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9" t="23727" r="41042" b="17778"/>
          <a:stretch>
            <a:fillRect/>
          </a:stretch>
        </p:blipFill>
        <p:spPr bwMode="auto">
          <a:xfrm>
            <a:off x="1027284" y="4058589"/>
            <a:ext cx="2348627" cy="1946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4039" name="Group 9"/>
          <p:cNvGrpSpPr/>
          <p:nvPr/>
        </p:nvGrpSpPr>
        <p:grpSpPr bwMode="auto">
          <a:xfrm>
            <a:off x="5828674" y="4058589"/>
            <a:ext cx="2477125" cy="1946723"/>
            <a:chOff x="6400800" y="5410200"/>
            <a:chExt cx="1314187" cy="1213624"/>
          </a:xfrm>
        </p:grpSpPr>
        <p:pic>
          <p:nvPicPr>
            <p:cNvPr id="44040" name="Picture 2" descr="http://tell.fll.purdue.edu/JapanProj/FLClipart/Pronouns/you-plural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958" t="19809" r="23959" b="17778"/>
            <a:stretch>
              <a:fillRect/>
            </a:stretch>
          </p:blipFill>
          <p:spPr bwMode="auto">
            <a:xfrm>
              <a:off x="7238832" y="5410200"/>
              <a:ext cx="476155" cy="12135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4041" name="Picture 2" descr="http://tell.fll.purdue.edu/JapanProj/FLClipart/Pronouns/you-plural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6" t="19809" r="66666" b="17778"/>
            <a:stretch>
              <a:fillRect/>
            </a:stretch>
          </p:blipFill>
          <p:spPr bwMode="auto">
            <a:xfrm>
              <a:off x="6400800" y="5410200"/>
              <a:ext cx="838200" cy="1213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Content Placeholder 1"/>
          <p:cNvSpPr>
            <a:spLocks noGrp="1"/>
          </p:cNvSpPr>
          <p:nvPr>
            <p:ph idx="1"/>
          </p:nvPr>
        </p:nvSpPr>
        <p:spPr>
          <a:xfrm>
            <a:off x="533400" y="1219200"/>
            <a:ext cx="10972800" cy="4525962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lang="en-US" altLang="en-US" sz="3200" dirty="0"/>
              <a:t>Chico/Chica- Boy/ Girl</a:t>
            </a:r>
          </a:p>
          <a:p>
            <a:pPr>
              <a:spcAft>
                <a:spcPts val="400"/>
              </a:spcAft>
            </a:pPr>
            <a:r>
              <a:rPr lang="en-US" altLang="en-US" sz="3200" dirty="0"/>
              <a:t>Chicos/ </a:t>
            </a:r>
            <a:r>
              <a:rPr lang="en-US" altLang="en-US" sz="3200" dirty="0" err="1"/>
              <a:t>Chicas</a:t>
            </a:r>
            <a:r>
              <a:rPr lang="en-US" altLang="en-US" sz="3200" dirty="0"/>
              <a:t>- Boys/ Girls</a:t>
            </a:r>
          </a:p>
          <a:p>
            <a:pPr>
              <a:spcAft>
                <a:spcPts val="400"/>
              </a:spcAft>
            </a:pPr>
            <a:r>
              <a:rPr lang="en-US" altLang="en-US" sz="3200" dirty="0" err="1"/>
              <a:t>Estudiante</a:t>
            </a:r>
            <a:r>
              <a:rPr lang="en-US" altLang="en-US" sz="3200" dirty="0"/>
              <a:t> - Student </a:t>
            </a:r>
            <a:endParaRPr lang="en-US" altLang="en-US" sz="3200" dirty="0">
              <a:solidFill>
                <a:srgbClr val="FFFF00"/>
              </a:solidFill>
            </a:endParaRPr>
          </a:p>
          <a:p>
            <a:pPr>
              <a:spcAft>
                <a:spcPts val="400"/>
              </a:spcAft>
            </a:pPr>
            <a:r>
              <a:rPr lang="en-US" altLang="en-US" sz="3200" dirty="0" err="1"/>
              <a:t>Inteligente</a:t>
            </a:r>
            <a:r>
              <a:rPr lang="en-US" altLang="en-US" sz="3200" dirty="0"/>
              <a:t>- Intelligent </a:t>
            </a:r>
          </a:p>
          <a:p>
            <a:pPr>
              <a:spcAft>
                <a:spcPts val="400"/>
              </a:spcAft>
            </a:pPr>
            <a:r>
              <a:rPr lang="en-US" altLang="en-US" sz="3200" dirty="0"/>
              <a:t>Alto/Alta- Tall </a:t>
            </a:r>
          </a:p>
          <a:p>
            <a:pPr>
              <a:spcAft>
                <a:spcPts val="400"/>
              </a:spcAft>
            </a:pPr>
            <a:r>
              <a:rPr lang="en-US" altLang="en-US" sz="3200" dirty="0" err="1"/>
              <a:t>Bajo</a:t>
            </a:r>
            <a:r>
              <a:rPr lang="en-US" altLang="en-US" sz="3200" dirty="0"/>
              <a:t>/Baja- Short</a:t>
            </a:r>
          </a:p>
          <a:p>
            <a:pPr>
              <a:spcAft>
                <a:spcPts val="400"/>
              </a:spcAft>
            </a:pPr>
            <a:r>
              <a:rPr lang="en-US" altLang="en-US" sz="3200" dirty="0" err="1"/>
              <a:t>Guapo</a:t>
            </a:r>
            <a:r>
              <a:rPr lang="en-US" altLang="en-US" sz="3200" dirty="0"/>
              <a:t>/</a:t>
            </a:r>
            <a:r>
              <a:rPr lang="en-US" altLang="en-US" sz="3200" dirty="0" err="1"/>
              <a:t>Guapa</a:t>
            </a:r>
            <a:r>
              <a:rPr lang="en-US" altLang="en-US" sz="3200" dirty="0"/>
              <a:t>- Handsome/ Beautiful </a:t>
            </a:r>
          </a:p>
          <a:p>
            <a:pPr>
              <a:spcAft>
                <a:spcPts val="400"/>
              </a:spcAft>
            </a:pPr>
            <a:r>
              <a:rPr lang="en-US" altLang="en-US" sz="3200" dirty="0" err="1"/>
              <a:t>Listo</a:t>
            </a:r>
            <a:r>
              <a:rPr lang="en-US" altLang="en-US" sz="3200" dirty="0"/>
              <a:t>/Lista- Smart</a:t>
            </a:r>
          </a:p>
          <a:p>
            <a:pPr>
              <a:spcAft>
                <a:spcPts val="400"/>
              </a:spcAft>
            </a:pPr>
            <a:r>
              <a:rPr lang="en-US" altLang="en-US" sz="3200" dirty="0" err="1"/>
              <a:t>Aburrido</a:t>
            </a:r>
            <a:r>
              <a:rPr lang="en-US" altLang="en-US" sz="3200" dirty="0"/>
              <a:t>/</a:t>
            </a:r>
            <a:r>
              <a:rPr lang="en-US" altLang="en-US" sz="3200" dirty="0" err="1"/>
              <a:t>Aburrida</a:t>
            </a:r>
            <a:r>
              <a:rPr lang="en-US" altLang="en-US" sz="3200" dirty="0"/>
              <a:t>- Boring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972800" cy="1143000"/>
          </a:xfrm>
        </p:spPr>
        <p:txBody>
          <a:bodyPr/>
          <a:lstStyle/>
          <a:p>
            <a:pPr algn="ctr">
              <a:defRPr/>
            </a:pPr>
            <a:r>
              <a:rPr lang="en-US" sz="4000" dirty="0"/>
              <a:t>New vocabulary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build="p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400" y="838200"/>
            <a:ext cx="10972800" cy="4525962"/>
          </a:xfrm>
        </p:spPr>
        <p:txBody>
          <a:bodyPr>
            <a:noAutofit/>
          </a:bodyPr>
          <a:lstStyle/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Yo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ú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Él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Ella 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Usted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Nosotros/as		</a:t>
            </a:r>
            <a:r>
              <a:rPr lang="en-US" sz="4800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  </a:t>
            </a:r>
            <a:r>
              <a:rPr lang="en-US" sz="4800" dirty="0" err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</a:t>
            </a:r>
            <a:endParaRPr lang="es-ES" sz="2400" dirty="0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Vosotros/as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Ellos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Ellas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Ustedes 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latin typeface="Arial Black" panose="020B0A04020102020204" pitchFamily="34" charset="0"/>
              </a:rPr>
              <a:t>Subject + Verb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1067117"/>
            <a:ext cx="4343400" cy="5418138"/>
          </a:xfrm>
        </p:spPr>
        <p:txBody>
          <a:bodyPr>
            <a:normAutofit fontScale="85000" lnSpcReduction="20000"/>
          </a:bodyPr>
          <a:lstStyle/>
          <a:p>
            <a:pPr marL="452755" indent="-342900" eaLnBrk="1" fontAlgn="auto" hangingPunct="1">
              <a:lnSpc>
                <a:spcPct val="120000"/>
              </a:lnSpc>
              <a:spcAft>
                <a:spcPts val="0"/>
              </a:spcAft>
              <a:defRPr/>
            </a:pPr>
            <a:r>
              <a:rPr lang="en-US" altLang="en-US" dirty="0"/>
              <a:t>“</a:t>
            </a:r>
            <a:r>
              <a:rPr lang="en-US" altLang="en-US" dirty="0" err="1"/>
              <a:t>Yo</a:t>
            </a:r>
            <a:r>
              <a:rPr lang="en-US" altLang="en-US" dirty="0"/>
              <a:t>” means “I”  </a:t>
            </a:r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n-US" altLang="en-US" dirty="0" err="1"/>
              <a:t>Yo</a:t>
            </a:r>
            <a:r>
              <a:rPr lang="en-US" altLang="en-US" dirty="0"/>
              <a:t> soy </a:t>
            </a:r>
            <a:r>
              <a:rPr lang="en-US" altLang="en-US" dirty="0" err="1"/>
              <a:t>chico</a:t>
            </a:r>
            <a:r>
              <a:rPr lang="en-US" altLang="en-US" dirty="0"/>
              <a:t>/a</a:t>
            </a:r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n-US" altLang="en-US" dirty="0" err="1"/>
              <a:t>Yo</a:t>
            </a:r>
            <a:r>
              <a:rPr lang="en-US" altLang="en-US" dirty="0"/>
              <a:t> soy </a:t>
            </a:r>
            <a:r>
              <a:rPr lang="en-US" altLang="en-US" dirty="0" err="1"/>
              <a:t>estudiante</a:t>
            </a:r>
            <a:r>
              <a:rPr lang="en-US" altLang="en-US" dirty="0"/>
              <a:t> (student). </a:t>
            </a:r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s-ES" altLang="en-US" dirty="0"/>
              <a:t>Yo soy alto (</a:t>
            </a:r>
            <a:r>
              <a:rPr lang="es-ES" altLang="en-US" dirty="0" err="1"/>
              <a:t>tall</a:t>
            </a:r>
            <a:r>
              <a:rPr lang="es-ES" altLang="en-US" dirty="0"/>
              <a:t>).</a:t>
            </a:r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s-ES" altLang="en-US" dirty="0"/>
              <a:t>Yo soy alta.</a:t>
            </a:r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s-ES" altLang="en-US" dirty="0"/>
              <a:t>Yo soy listo (</a:t>
            </a:r>
            <a:r>
              <a:rPr lang="es-ES" altLang="en-US" dirty="0" err="1"/>
              <a:t>smart</a:t>
            </a:r>
            <a:r>
              <a:rPr lang="es-ES" altLang="en-US" dirty="0"/>
              <a:t>).</a:t>
            </a:r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s-ES" altLang="en-US" dirty="0"/>
              <a:t>Yo soy </a:t>
            </a:r>
            <a:r>
              <a:rPr lang="es-ES" altLang="en-US" dirty="0" err="1"/>
              <a:t>Amit</a:t>
            </a:r>
            <a:endParaRPr lang="es-ES" altLang="en-US" dirty="0"/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s-ES" altLang="en-US" dirty="0"/>
              <a:t>¿Quién eres tú?</a:t>
            </a:r>
          </a:p>
          <a:p>
            <a:pPr marL="278765" lvl="0" indent="-342900" eaLnBrk="1" fontAlgn="auto" hangingPunct="1">
              <a:lnSpc>
                <a:spcPct val="120000"/>
              </a:lnSpc>
              <a:spcBef>
                <a:spcPts val="325"/>
              </a:spcBef>
              <a:spcAft>
                <a:spcPts val="0"/>
              </a:spcAft>
              <a:defRPr/>
            </a:pPr>
            <a:r>
              <a:rPr lang="es-ES" altLang="en-US" dirty="0"/>
              <a:t>¿Qué eres tú?</a:t>
            </a:r>
            <a:endParaRPr lang="en-US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8382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/>
              <a:t> “</a:t>
            </a:r>
            <a:r>
              <a:rPr lang="en-US" sz="4000" dirty="0" err="1"/>
              <a:t>Yo</a:t>
            </a:r>
            <a:r>
              <a:rPr lang="en-US" sz="4000" dirty="0"/>
              <a:t>” + “Soy”</a:t>
            </a:r>
          </a:p>
        </p:txBody>
      </p:sp>
      <p:pic>
        <p:nvPicPr>
          <p:cNvPr id="20484" name="Picture 2" descr="http://tell.fll.purdue.edu/JapanProj/FLClipart/Pronouns/i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01" t="17204" r="35001" b="8817"/>
          <a:stretch>
            <a:fillRect/>
          </a:stretch>
        </p:blipFill>
        <p:spPr bwMode="auto">
          <a:xfrm>
            <a:off x="6934200" y="1485900"/>
            <a:ext cx="2286000" cy="409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0" y="1066801"/>
            <a:ext cx="4419600" cy="4873625"/>
          </a:xfrm>
        </p:spPr>
        <p:txBody>
          <a:bodyPr/>
          <a:lstStyle/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n-US" altLang="en-US" sz="3200" dirty="0"/>
              <a:t>Tú means you (familiar/ informal)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n-US" altLang="en-US" sz="3200" dirty="0"/>
              <a:t>Tú </a:t>
            </a:r>
            <a:r>
              <a:rPr lang="en-US" altLang="en-US" sz="3200" dirty="0" err="1"/>
              <a:t>eres</a:t>
            </a:r>
            <a:r>
              <a:rPr lang="en-US" altLang="en-US" sz="3200" dirty="0"/>
              <a:t> Maria.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n-US" altLang="en-US" sz="3200" dirty="0"/>
              <a:t>Tú </a:t>
            </a:r>
            <a:r>
              <a:rPr lang="en-US" altLang="en-US" sz="3200" dirty="0" err="1"/>
              <a:t>eres</a:t>
            </a:r>
            <a:r>
              <a:rPr lang="en-US" altLang="en-US" sz="3200" dirty="0"/>
              <a:t> </a:t>
            </a:r>
            <a:r>
              <a:rPr lang="en-US" altLang="en-US" sz="3200" dirty="0" err="1"/>
              <a:t>inteligente</a:t>
            </a:r>
            <a:r>
              <a:rPr lang="en-US" altLang="en-US" sz="3200" dirty="0"/>
              <a:t>.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n-US" altLang="en-US" sz="3200" dirty="0"/>
              <a:t>Tú </a:t>
            </a:r>
            <a:r>
              <a:rPr lang="en-US" altLang="en-US" sz="3200" dirty="0" err="1"/>
              <a:t>eres</a:t>
            </a:r>
            <a:r>
              <a:rPr lang="en-US" altLang="en-US" sz="3200" dirty="0"/>
              <a:t> </a:t>
            </a:r>
            <a:r>
              <a:rPr lang="en-US" altLang="en-US" sz="3200" dirty="0" err="1"/>
              <a:t>estudiante</a:t>
            </a:r>
            <a:r>
              <a:rPr lang="en-US" altLang="en-US" sz="3200" dirty="0"/>
              <a:t>. 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n-US" altLang="en-US" sz="3200" dirty="0"/>
              <a:t>Tú </a:t>
            </a:r>
            <a:r>
              <a:rPr lang="en-US" altLang="en-US" sz="3200" dirty="0" err="1"/>
              <a:t>eres</a:t>
            </a:r>
            <a:r>
              <a:rPr lang="en-US" altLang="en-US" sz="3200" dirty="0"/>
              <a:t> </a:t>
            </a:r>
            <a:r>
              <a:rPr lang="en-US" altLang="en-US" sz="3200" dirty="0" err="1"/>
              <a:t>guapa</a:t>
            </a:r>
            <a:r>
              <a:rPr lang="en-US" altLang="en-US" sz="3200" dirty="0"/>
              <a:t>.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n-US" altLang="en-US" sz="3200" dirty="0"/>
              <a:t>T</a:t>
            </a:r>
            <a:r>
              <a:rPr lang="es-ES" altLang="en-US" sz="3200" dirty="0"/>
              <a:t>ú eres alta. </a:t>
            </a:r>
            <a:r>
              <a:rPr lang="en-US" altLang="en-US" sz="3200" dirty="0"/>
              <a:t> 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endParaRPr lang="en-US" alt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84264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en-US" sz="3600" dirty="0"/>
            </a:br>
            <a:r>
              <a:rPr lang="en-US" sz="3600" dirty="0">
                <a:solidFill>
                  <a:srgbClr val="1DE7FF"/>
                </a:solidFill>
              </a:rPr>
              <a:t>“</a:t>
            </a:r>
            <a:r>
              <a:rPr lang="en-US" sz="3600" dirty="0" err="1">
                <a:solidFill>
                  <a:srgbClr val="1DE7FF"/>
                </a:solidFill>
              </a:rPr>
              <a:t>Tú</a:t>
            </a:r>
            <a:r>
              <a:rPr lang="en-US" sz="3600" dirty="0">
                <a:solidFill>
                  <a:srgbClr val="1DE7FF"/>
                </a:solidFill>
              </a:rPr>
              <a:t>” + “</a:t>
            </a:r>
            <a:r>
              <a:rPr lang="en-US" sz="3600" dirty="0" err="1">
                <a:solidFill>
                  <a:srgbClr val="1DE7FF"/>
                </a:solidFill>
              </a:rPr>
              <a:t>Eres</a:t>
            </a:r>
            <a:r>
              <a:rPr lang="en-US" sz="3600" dirty="0">
                <a:solidFill>
                  <a:srgbClr val="1DE7FF"/>
                </a:solidFill>
              </a:rPr>
              <a:t>”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  <p:pic>
        <p:nvPicPr>
          <p:cNvPr id="22532" name="Picture 2" descr="http://tell.fll.purdue.edu/JapanProj/FLClipart/Pronouns/you-singula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99" t="15698" r="20000" b="10323"/>
          <a:stretch>
            <a:fillRect/>
          </a:stretch>
        </p:blipFill>
        <p:spPr bwMode="auto">
          <a:xfrm>
            <a:off x="7010400" y="1828800"/>
            <a:ext cx="2971800" cy="304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447800"/>
            <a:ext cx="5791200" cy="4419600"/>
          </a:xfrm>
        </p:spPr>
        <p:txBody>
          <a:bodyPr>
            <a:normAutofit/>
          </a:bodyPr>
          <a:lstStyle/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altLang="en-US" dirty="0" err="1"/>
              <a:t>Él</a:t>
            </a:r>
            <a:r>
              <a:rPr lang="en-US" altLang="en-US" dirty="0"/>
              <a:t> means He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altLang="en-US" dirty="0"/>
              <a:t>It is used when talking </a:t>
            </a:r>
            <a:r>
              <a:rPr lang="en-US" altLang="en-US" b="1" u="sng" dirty="0">
                <a:solidFill>
                  <a:srgbClr val="0070C0"/>
                </a:solidFill>
              </a:rPr>
              <a:t>ABOUT</a:t>
            </a:r>
            <a:r>
              <a:rPr lang="en-US" altLang="en-US" dirty="0"/>
              <a:t> a boy/man.</a:t>
            </a:r>
          </a:p>
          <a:p>
            <a:pPr marL="365760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n-US" altLang="en-US" dirty="0"/>
              <a:t>Jorge es </a:t>
            </a:r>
            <a:r>
              <a:rPr lang="en-US" altLang="en-US" dirty="0" err="1"/>
              <a:t>mexicano</a:t>
            </a:r>
            <a:r>
              <a:rPr lang="en-US" altLang="en-US" dirty="0"/>
              <a:t>. </a:t>
            </a:r>
          </a:p>
          <a:p>
            <a:pPr marL="365760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s-ES" altLang="en-US" dirty="0"/>
              <a:t>Él es chico.</a:t>
            </a:r>
            <a:endParaRPr lang="en-US" altLang="en-US" dirty="0"/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endParaRPr lang="en-US" altLang="en-US" dirty="0"/>
          </a:p>
          <a:p>
            <a:pPr marL="365760" algn="ctr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n-US" altLang="en-US" dirty="0" err="1"/>
              <a:t>Él</a:t>
            </a:r>
            <a:r>
              <a:rPr lang="en-US" altLang="en-US" dirty="0"/>
              <a:t> = He	El = The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763905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en-US" dirty="0">
                <a:solidFill>
                  <a:srgbClr val="1DE7FF"/>
                </a:solidFill>
              </a:rPr>
            </a:br>
            <a:r>
              <a:rPr lang="en-US" dirty="0">
                <a:solidFill>
                  <a:srgbClr val="1DE7FF"/>
                </a:solidFill>
              </a:rPr>
              <a:t>“</a:t>
            </a:r>
            <a:r>
              <a:rPr lang="es-ES" sz="4400" dirty="0">
                <a:solidFill>
                  <a:srgbClr val="1DE7FF"/>
                </a:solidFill>
              </a:rPr>
              <a:t>É</a:t>
            </a:r>
            <a:r>
              <a:rPr lang="en-US" sz="4400" dirty="0">
                <a:solidFill>
                  <a:srgbClr val="1DE7FF"/>
                </a:solidFill>
              </a:rPr>
              <a:t>l” + “</a:t>
            </a:r>
            <a:r>
              <a:rPr lang="en-US" sz="4400" dirty="0" err="1">
                <a:solidFill>
                  <a:srgbClr val="1DE7FF"/>
                </a:solidFill>
              </a:rPr>
              <a:t>Es</a:t>
            </a:r>
            <a:r>
              <a:rPr lang="en-US" sz="4400" dirty="0">
                <a:solidFill>
                  <a:srgbClr val="1DE7FF"/>
                </a:solidFill>
              </a:rPr>
              <a:t>”</a:t>
            </a:r>
          </a:p>
        </p:txBody>
      </p:sp>
      <p:pic>
        <p:nvPicPr>
          <p:cNvPr id="24580" name="Picture 2" descr="http://tell.fll.purdue.edu/JapanProj/FLClipart/Pronouns/h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8" t="16846" r="7292" b="10896"/>
          <a:stretch>
            <a:fillRect/>
          </a:stretch>
        </p:blipFill>
        <p:spPr bwMode="auto">
          <a:xfrm>
            <a:off x="6400800" y="1752600"/>
            <a:ext cx="3124200" cy="198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http://tell.fll.purdue.edu/JapanProj/FLClipart/Pronouns/sh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8" t="9964" r="9792" b="17778"/>
          <a:stretch>
            <a:fillRect/>
          </a:stretch>
        </p:blipFill>
        <p:spPr bwMode="auto">
          <a:xfrm>
            <a:off x="7620000" y="1447800"/>
            <a:ext cx="3505200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6477000" cy="5638800"/>
          </a:xfrm>
        </p:spPr>
        <p:txBody>
          <a:bodyPr>
            <a:normAutofit/>
          </a:bodyPr>
          <a:lstStyle/>
          <a:p>
            <a:pPr marL="365760" lvl="1" indent="-255905" eaLnBrk="1" fontAlgn="auto" hangingPunct="1">
              <a:spcBef>
                <a:spcPts val="400"/>
              </a:spcBef>
              <a:spcAft>
                <a:spcPts val="0"/>
              </a:spcAft>
              <a:buSzPct val="68000"/>
              <a:buFont typeface="Wingdings 3" panose="05040102010807070707"/>
              <a:buChar char=""/>
              <a:defRPr/>
            </a:pPr>
            <a:r>
              <a:rPr lang="en-US" altLang="en-US" dirty="0"/>
              <a:t>Ella means she.</a:t>
            </a:r>
          </a:p>
          <a:p>
            <a:pPr marL="365760" lvl="1" indent="-255905" eaLnBrk="1" fontAlgn="auto" hangingPunct="1">
              <a:spcBef>
                <a:spcPts val="400"/>
              </a:spcBef>
              <a:spcAft>
                <a:spcPts val="0"/>
              </a:spcAft>
              <a:buSzPct val="68000"/>
              <a:buFont typeface="Wingdings 3" panose="05040102010807070707"/>
              <a:buChar char=""/>
              <a:defRPr/>
            </a:pPr>
            <a:r>
              <a:rPr lang="en-US" altLang="en-US" dirty="0"/>
              <a:t>It is used when talking </a:t>
            </a:r>
            <a:r>
              <a:rPr lang="en-US" altLang="en-US" b="1" u="sng" dirty="0">
                <a:solidFill>
                  <a:srgbClr val="0070C0"/>
                </a:solidFill>
              </a:rPr>
              <a:t>ABOUT</a:t>
            </a:r>
            <a:r>
              <a:rPr lang="en-US" altLang="en-US" dirty="0"/>
              <a:t> a girl/woman.</a:t>
            </a:r>
          </a:p>
          <a:p>
            <a:pPr marL="365760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n-US" altLang="en-US" dirty="0"/>
              <a:t>Rosa es </a:t>
            </a:r>
            <a:r>
              <a:rPr lang="en-US" altLang="en-US" dirty="0" err="1"/>
              <a:t>mexicana</a:t>
            </a:r>
            <a:r>
              <a:rPr lang="en-US" altLang="en-US" dirty="0"/>
              <a:t>.  </a:t>
            </a:r>
          </a:p>
          <a:p>
            <a:pPr marL="365760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n-US" altLang="en-US" dirty="0"/>
              <a:t>¿De </a:t>
            </a:r>
            <a:r>
              <a:rPr lang="en-US" altLang="en-US" dirty="0" err="1"/>
              <a:t>dónde</a:t>
            </a:r>
            <a:r>
              <a:rPr lang="en-US" altLang="en-US" dirty="0"/>
              <a:t> es </a:t>
            </a:r>
            <a:r>
              <a:rPr lang="en-US" altLang="en-US" dirty="0" err="1"/>
              <a:t>ella</a:t>
            </a:r>
            <a:r>
              <a:rPr lang="en-US" altLang="en-US" dirty="0"/>
              <a:t>?- Ella es de Acapulco. </a:t>
            </a:r>
          </a:p>
          <a:p>
            <a:pPr marL="365760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n-US" altLang="en-US" dirty="0"/>
              <a:t>Ella es </a:t>
            </a:r>
            <a:r>
              <a:rPr lang="en-US" altLang="en-US" dirty="0" err="1"/>
              <a:t>baja</a:t>
            </a:r>
            <a:r>
              <a:rPr lang="en-US" altLang="en-US" dirty="0"/>
              <a:t>. </a:t>
            </a:r>
          </a:p>
          <a:p>
            <a:pPr marL="365760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n-US" altLang="en-US" dirty="0"/>
              <a:t>Ella es </a:t>
            </a:r>
            <a:r>
              <a:rPr lang="en-US" altLang="en-US" dirty="0" err="1"/>
              <a:t>gorda</a:t>
            </a:r>
            <a:r>
              <a:rPr lang="en-US" altLang="en-US" dirty="0"/>
              <a:t> </a:t>
            </a:r>
          </a:p>
          <a:p>
            <a:pPr marL="365760" eaLnBrk="1" fontAlgn="auto" hangingPunct="1">
              <a:spcBef>
                <a:spcPts val="325"/>
              </a:spcBef>
              <a:spcAft>
                <a:spcPts val="0"/>
              </a:spcAft>
              <a:buFont typeface="Verdana" panose="020B0604030504040204"/>
              <a:buChar char="◦"/>
              <a:defRPr/>
            </a:pPr>
            <a:r>
              <a:rPr lang="en-US" altLang="en-US" dirty="0"/>
              <a:t>Ella es </a:t>
            </a:r>
            <a:r>
              <a:rPr lang="en-US" altLang="en-US" dirty="0" err="1"/>
              <a:t>chica</a:t>
            </a:r>
            <a:r>
              <a:rPr lang="en-US" altLang="en-US" dirty="0"/>
              <a:t> 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endParaRPr lang="en-US" alt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-76517"/>
            <a:ext cx="10972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1DE7FF"/>
                </a:solidFill>
              </a:rPr>
              <a:t>“Ella” + “</a:t>
            </a:r>
            <a:r>
              <a:rPr lang="en-US" sz="4000" dirty="0" err="1">
                <a:solidFill>
                  <a:srgbClr val="1DE7FF"/>
                </a:solidFill>
              </a:rPr>
              <a:t>Es</a:t>
            </a:r>
            <a:r>
              <a:rPr lang="en-US" sz="4000" dirty="0">
                <a:solidFill>
                  <a:srgbClr val="1DE7FF"/>
                </a:solidFill>
              </a:rPr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5"/>
          <p:cNvGrpSpPr/>
          <p:nvPr/>
        </p:nvGrpSpPr>
        <p:grpSpPr bwMode="auto">
          <a:xfrm>
            <a:off x="7315200" y="1423884"/>
            <a:ext cx="2743200" cy="2596515"/>
            <a:chOff x="6400800" y="5334000"/>
            <a:chExt cx="1278668" cy="1252772"/>
          </a:xfrm>
        </p:grpSpPr>
        <p:pic>
          <p:nvPicPr>
            <p:cNvPr id="28677" name="Picture 2" descr="http://tell.fll.purdue.edu/JapanProj/FLClipart/Pronouns/you-plural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958" t="19809" r="25233" b="17778"/>
            <a:stretch>
              <a:fillRect/>
            </a:stretch>
          </p:blipFill>
          <p:spPr bwMode="auto">
            <a:xfrm>
              <a:off x="7239038" y="5334000"/>
              <a:ext cx="440430" cy="1252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678" name="Picture 2" descr="http://tell.fll.purdue.edu/JapanProj/FLClipart/Pronouns/you-plural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6" t="19809" r="66666" b="17778"/>
            <a:stretch>
              <a:fillRect/>
            </a:stretch>
          </p:blipFill>
          <p:spPr bwMode="auto">
            <a:xfrm>
              <a:off x="6400800" y="5334626"/>
              <a:ext cx="838238" cy="12518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1000" y="1417638"/>
            <a:ext cx="6248400" cy="4373562"/>
          </a:xfrm>
        </p:spPr>
        <p:txBody>
          <a:bodyPr>
            <a:normAutofit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anose="05000000000000000000"/>
              <a:buChar char=""/>
              <a:defRPr/>
            </a:pPr>
            <a:r>
              <a:rPr lang="en-US" dirty="0" err="1"/>
              <a:t>Usted</a:t>
            </a:r>
            <a:r>
              <a:rPr lang="en-US" dirty="0"/>
              <a:t> means You (formal)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anose="05000000000000000000"/>
              <a:buChar char=""/>
              <a:defRPr/>
            </a:pPr>
            <a:r>
              <a:rPr lang="en-US" dirty="0"/>
              <a:t>Considered a 3</a:t>
            </a:r>
            <a:r>
              <a:rPr lang="en-US" baseline="30000" dirty="0"/>
              <a:t>rd</a:t>
            </a:r>
            <a:r>
              <a:rPr lang="en-US" dirty="0"/>
              <a:t>  person singular pronoun for verb conjugation, but it is a 2nd person pronoun.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anose="05000000000000000000"/>
              <a:buChar char=""/>
              <a:defRPr/>
            </a:pPr>
            <a:r>
              <a:rPr lang="en-US" dirty="0" err="1"/>
              <a:t>Usted</a:t>
            </a:r>
            <a:r>
              <a:rPr lang="en-US" dirty="0"/>
              <a:t> es Mar</a:t>
            </a:r>
            <a:r>
              <a:rPr lang="es-ES" dirty="0"/>
              <a:t>í</a:t>
            </a:r>
            <a:r>
              <a:rPr lang="en-US" dirty="0"/>
              <a:t>a. 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anose="05000000000000000000"/>
              <a:buChar char=""/>
              <a:defRPr/>
            </a:pPr>
            <a:r>
              <a:rPr lang="en-US" dirty="0" err="1"/>
              <a:t>Usted</a:t>
            </a:r>
            <a:r>
              <a:rPr lang="en-US" dirty="0"/>
              <a:t> es </a:t>
            </a:r>
            <a:r>
              <a:rPr lang="en-US" dirty="0" err="1"/>
              <a:t>colombiana</a:t>
            </a:r>
            <a:r>
              <a:rPr lang="en-US" dirty="0"/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b="0" dirty="0">
                <a:solidFill>
                  <a:srgbClr val="1DE7FF"/>
                </a:solidFill>
                <a:cs typeface="Arial Black" panose="020B0A04020102020204" pitchFamily="34" charset="0"/>
              </a:rPr>
              <a:t>“</a:t>
            </a:r>
            <a:r>
              <a:rPr lang="en-US" sz="4000" b="0" dirty="0" err="1">
                <a:solidFill>
                  <a:srgbClr val="1DE7FF"/>
                </a:solidFill>
                <a:cs typeface="Arial Black" panose="020B0A04020102020204" pitchFamily="34" charset="0"/>
              </a:rPr>
              <a:t>Usted</a:t>
            </a:r>
            <a:r>
              <a:rPr lang="en-US" sz="4000" b="0" dirty="0">
                <a:solidFill>
                  <a:srgbClr val="1DE7FF"/>
                </a:solidFill>
                <a:cs typeface="Arial Black" panose="020B0A04020102020204" pitchFamily="34" charset="0"/>
              </a:rPr>
              <a:t> (</a:t>
            </a:r>
            <a:r>
              <a:rPr lang="en-US" sz="4000" b="0" dirty="0" err="1">
                <a:solidFill>
                  <a:srgbClr val="1DE7FF"/>
                </a:solidFill>
                <a:cs typeface="Arial Black" panose="020B0A04020102020204" pitchFamily="34" charset="0"/>
              </a:rPr>
              <a:t>Ud</a:t>
            </a:r>
            <a:r>
              <a:rPr lang="en-US" sz="4000" b="0" dirty="0">
                <a:solidFill>
                  <a:srgbClr val="1DE7FF"/>
                </a:solidFill>
                <a:cs typeface="Arial Black" panose="020B0A04020102020204" pitchFamily="34" charset="0"/>
              </a:rPr>
              <a:t>.)”+ “Es”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  <p:bldP spid="4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447800"/>
            <a:ext cx="6248400" cy="5029200"/>
          </a:xfrm>
        </p:spPr>
        <p:txBody>
          <a:bodyPr>
            <a:normAutofit fontScale="77500" lnSpcReduction="20000"/>
          </a:bodyPr>
          <a:lstStyle/>
          <a:p>
            <a:pPr marL="274320" indent="-274320" eaLnBrk="1" fontAlgn="auto" hangingPunct="1">
              <a:spcAft>
                <a:spcPts val="0"/>
              </a:spcAft>
              <a:buFont typeface="Wingdings" panose="05000000000000000000"/>
              <a:buChar char=""/>
              <a:defRPr/>
            </a:pPr>
            <a:r>
              <a:rPr lang="en-US" dirty="0"/>
              <a:t>Use </a:t>
            </a:r>
            <a:r>
              <a:rPr lang="en-US" dirty="0" err="1"/>
              <a:t>nosotros</a:t>
            </a:r>
            <a:r>
              <a:rPr lang="en-US" dirty="0"/>
              <a:t>/</a:t>
            </a:r>
            <a:r>
              <a:rPr lang="en-US" dirty="0" err="1"/>
              <a:t>nosotras</a:t>
            </a:r>
            <a:r>
              <a:rPr lang="en-US" dirty="0"/>
              <a:t> to talk about a group of people that includes you. </a:t>
            </a:r>
          </a:p>
          <a:p>
            <a:pPr marL="274320" indent="-274320" eaLnBrk="1" fontAlgn="auto" hangingPunct="1">
              <a:spcAft>
                <a:spcPts val="0"/>
              </a:spcAft>
              <a:buFont typeface="Wingdings" panose="05000000000000000000"/>
              <a:buChar char=""/>
              <a:defRPr/>
            </a:pPr>
            <a:r>
              <a:rPr lang="en-US" dirty="0"/>
              <a:t>In Spanish, we distinguish between “we” masculine and feminine: </a:t>
            </a:r>
          </a:p>
          <a:p>
            <a:pPr marL="365760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r>
              <a:rPr lang="en-US" dirty="0" err="1"/>
              <a:t>Nosotros</a:t>
            </a:r>
            <a:r>
              <a:rPr lang="en-US" dirty="0"/>
              <a:t> </a:t>
            </a:r>
            <a:r>
              <a:rPr lang="en-US" dirty="0" err="1"/>
              <a:t>somos</a:t>
            </a:r>
            <a:r>
              <a:rPr lang="en-US" dirty="0"/>
              <a:t> </a:t>
            </a:r>
            <a:r>
              <a:rPr lang="en-US" dirty="0" err="1"/>
              <a:t>guapos</a:t>
            </a:r>
            <a:endParaRPr lang="en-US" dirty="0"/>
          </a:p>
          <a:p>
            <a:pPr marL="365760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r>
              <a:rPr lang="es-ES" dirty="0" err="1"/>
              <a:t>Sangeet</a:t>
            </a:r>
            <a:r>
              <a:rPr lang="es-ES" dirty="0"/>
              <a:t> y yo somos chicos. </a:t>
            </a:r>
          </a:p>
          <a:p>
            <a:pPr marL="365760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r>
              <a:rPr lang="es-ES" dirty="0"/>
              <a:t>Maria y yo somos guapas</a:t>
            </a:r>
          </a:p>
          <a:p>
            <a:pPr marL="365760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r>
              <a:rPr lang="es-ES" dirty="0"/>
              <a:t> (Abhishek y yo= nosotros)</a:t>
            </a:r>
          </a:p>
          <a:p>
            <a:pPr marL="365760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r>
              <a:rPr lang="es-ES" dirty="0"/>
              <a:t>Yo y Abhishek  </a:t>
            </a:r>
          </a:p>
          <a:p>
            <a:pPr marL="365760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endParaRPr lang="es-ES" dirty="0"/>
          </a:p>
          <a:p>
            <a:pPr marL="365760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r>
              <a:rPr lang="es-ES" dirty="0"/>
              <a:t>Y= and </a:t>
            </a:r>
            <a:endParaRPr lang="en-US" dirty="0"/>
          </a:p>
          <a:p>
            <a:pPr marL="676910" lvl="2" indent="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None/>
              <a:defRPr/>
            </a:pPr>
            <a:endParaRPr lang="es-ES" dirty="0"/>
          </a:p>
          <a:p>
            <a:pPr marL="676910" lvl="2" indent="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None/>
              <a:defRPr/>
            </a:pPr>
            <a:endParaRPr lang="en-US" dirty="0"/>
          </a:p>
          <a:p>
            <a:pPr marL="859790" lvl="2" indent="-182880" eaLnBrk="1" fontAlgn="auto" hangingPunct="1">
              <a:spcAft>
                <a:spcPts val="0"/>
              </a:spcAft>
              <a:buClr>
                <a:schemeClr val="accent1">
                  <a:shade val="75000"/>
                </a:schemeClr>
              </a:buClr>
              <a:buFont typeface="Wingdings" panose="05000000000000000000"/>
              <a:buChar char=""/>
              <a:defRPr/>
            </a:pPr>
            <a:endParaRPr lang="en-US" dirty="0"/>
          </a:p>
          <a:p>
            <a:pPr marL="274320" indent="-274320" eaLnBrk="1" fontAlgn="auto" hangingPunct="1">
              <a:spcAft>
                <a:spcPts val="0"/>
              </a:spcAft>
              <a:buFont typeface="Wingdings" panose="05000000000000000000"/>
              <a:buChar char=""/>
              <a:defRPr/>
            </a:pP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33400" y="75883"/>
            <a:ext cx="10972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1DE7FF"/>
                </a:solidFill>
              </a:rPr>
              <a:t>“</a:t>
            </a:r>
            <a:r>
              <a:rPr lang="en-US" dirty="0" err="1">
                <a:solidFill>
                  <a:srgbClr val="1DE7FF"/>
                </a:solidFill>
              </a:rPr>
              <a:t>Nosotros</a:t>
            </a:r>
            <a:r>
              <a:rPr lang="en-US" dirty="0">
                <a:solidFill>
                  <a:srgbClr val="1DE7FF"/>
                </a:solidFill>
              </a:rPr>
              <a:t>/</a:t>
            </a:r>
            <a:r>
              <a:rPr lang="en-US" dirty="0" err="1">
                <a:solidFill>
                  <a:srgbClr val="1DE7FF"/>
                </a:solidFill>
              </a:rPr>
              <a:t>Nosotras</a:t>
            </a:r>
            <a:r>
              <a:rPr lang="en-US" dirty="0">
                <a:solidFill>
                  <a:srgbClr val="1DE7FF"/>
                </a:solidFill>
              </a:rPr>
              <a:t>”+“</a:t>
            </a:r>
            <a:r>
              <a:rPr lang="en-US" dirty="0" err="1">
                <a:solidFill>
                  <a:srgbClr val="1DE7FF"/>
                </a:solidFill>
              </a:rPr>
              <a:t>Somos</a:t>
            </a:r>
            <a:r>
              <a:rPr lang="en-US" dirty="0">
                <a:solidFill>
                  <a:srgbClr val="1DE7FF"/>
                </a:solidFill>
              </a:rPr>
              <a:t>”</a:t>
            </a:r>
          </a:p>
        </p:txBody>
      </p:sp>
      <p:pic>
        <p:nvPicPr>
          <p:cNvPr id="30724" name="Picture 2" descr="http://tell.fll.purdue.edu/JapanProj/FLClipart/Pronouns/w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8" t="22008" r="28542" b="14337"/>
          <a:stretch>
            <a:fillRect/>
          </a:stretch>
        </p:blipFill>
        <p:spPr bwMode="auto">
          <a:xfrm>
            <a:off x="7696200" y="2209800"/>
            <a:ext cx="25908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4" grpId="0"/>
      <p:bldP spid="4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371283"/>
            <a:ext cx="10972800" cy="4525962"/>
          </a:xfrm>
        </p:spPr>
        <p:txBody>
          <a:bodyPr>
            <a:normAutofit fontScale="92500" lnSpcReduction="20000"/>
          </a:bodyPr>
          <a:lstStyle/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dirty="0" err="1"/>
              <a:t>Vosotros</a:t>
            </a:r>
            <a:r>
              <a:rPr lang="en-US" dirty="0"/>
              <a:t>/</a:t>
            </a:r>
            <a:r>
              <a:rPr lang="en-US" dirty="0" err="1"/>
              <a:t>vosotras</a:t>
            </a:r>
            <a:r>
              <a:rPr lang="en-US" dirty="0"/>
              <a:t> are the plural forms of </a:t>
            </a:r>
            <a:r>
              <a:rPr lang="en-US" dirty="0" err="1"/>
              <a:t>tú</a:t>
            </a:r>
            <a:r>
              <a:rPr lang="en-US" dirty="0"/>
              <a:t>.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dirty="0" err="1"/>
              <a:t>Vosotros</a:t>
            </a:r>
            <a:r>
              <a:rPr lang="en-US" dirty="0"/>
              <a:t> is used when talking to a familiar group of males or a mixed group.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dirty="0" err="1"/>
              <a:t>Vosotras</a:t>
            </a:r>
            <a:r>
              <a:rPr lang="en-US" dirty="0"/>
              <a:t> is used when talking to a familiar group of  females.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dirty="0" err="1"/>
              <a:t>Vosotros</a:t>
            </a:r>
            <a:r>
              <a:rPr lang="en-US" dirty="0"/>
              <a:t> </a:t>
            </a:r>
            <a:r>
              <a:rPr lang="en-US" dirty="0" err="1"/>
              <a:t>sois</a:t>
            </a:r>
            <a:r>
              <a:rPr lang="en-US" dirty="0"/>
              <a:t> </a:t>
            </a:r>
            <a:r>
              <a:rPr lang="en-US" dirty="0" err="1"/>
              <a:t>inteligentes</a:t>
            </a:r>
            <a:r>
              <a:rPr lang="en-US" dirty="0"/>
              <a:t>.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dirty="0" err="1"/>
              <a:t>Vosotros</a:t>
            </a:r>
            <a:r>
              <a:rPr lang="en-US" dirty="0"/>
              <a:t> </a:t>
            </a:r>
            <a:r>
              <a:rPr lang="en-US" dirty="0" err="1"/>
              <a:t>sois</a:t>
            </a:r>
            <a:r>
              <a:rPr lang="en-US" dirty="0"/>
              <a:t> </a:t>
            </a:r>
            <a:r>
              <a:rPr lang="en-US" dirty="0" err="1"/>
              <a:t>chicos</a:t>
            </a:r>
            <a:r>
              <a:rPr lang="en-US" dirty="0"/>
              <a:t>.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dirty="0" err="1"/>
              <a:t>Vosotras</a:t>
            </a:r>
            <a:r>
              <a:rPr lang="en-US" dirty="0"/>
              <a:t> </a:t>
            </a:r>
            <a:r>
              <a:rPr lang="en-US" dirty="0" err="1"/>
              <a:t>sois</a:t>
            </a:r>
            <a:r>
              <a:rPr lang="en-US" dirty="0"/>
              <a:t> </a:t>
            </a:r>
            <a:r>
              <a:rPr lang="en-US" dirty="0" err="1"/>
              <a:t>chicas</a:t>
            </a:r>
            <a:r>
              <a:rPr lang="en-US" dirty="0"/>
              <a:t>. 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n-US" dirty="0" err="1"/>
              <a:t>Vosotras</a:t>
            </a:r>
            <a:r>
              <a:rPr lang="en-US" dirty="0"/>
              <a:t> </a:t>
            </a:r>
            <a:r>
              <a:rPr lang="en-US" dirty="0" err="1"/>
              <a:t>sois</a:t>
            </a:r>
            <a:r>
              <a:rPr lang="en-US" dirty="0"/>
              <a:t> </a:t>
            </a:r>
            <a:r>
              <a:rPr lang="en-US" dirty="0" err="1"/>
              <a:t>mexicanas</a:t>
            </a:r>
            <a:r>
              <a:rPr lang="en-US" dirty="0"/>
              <a:t>.</a:t>
            </a:r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r>
              <a:rPr lang="es-ES" dirty="0"/>
              <a:t>(Atul y tú= Vosotros) sois indios.</a:t>
            </a:r>
            <a:endParaRPr lang="en-US" dirty="0"/>
          </a:p>
          <a:p>
            <a:pPr marL="109855" indent="0" eaLnBrk="1" fontAlgn="auto" hangingPunct="1">
              <a:spcAft>
                <a:spcPts val="0"/>
              </a:spcAft>
              <a:buNone/>
              <a:defRPr/>
            </a:pPr>
            <a:endParaRPr lang="en-US" dirty="0"/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endParaRPr lang="en-US" dirty="0"/>
          </a:p>
          <a:p>
            <a:pPr marL="365760" indent="-255905" eaLnBrk="1" fontAlgn="auto" hangingPunct="1">
              <a:spcAft>
                <a:spcPts val="0"/>
              </a:spcAft>
              <a:buFont typeface="Wingdings 3" panose="05040102010807070707"/>
              <a:buChar char=""/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09600" y="152083"/>
            <a:ext cx="10972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“</a:t>
            </a:r>
            <a:r>
              <a:rPr lang="en-US" dirty="0" err="1"/>
              <a:t>Vosotros</a:t>
            </a:r>
            <a:r>
              <a:rPr lang="en-US" dirty="0"/>
              <a:t>/</a:t>
            </a:r>
            <a:r>
              <a:rPr lang="en-US" dirty="0" err="1"/>
              <a:t>Vosotras</a:t>
            </a:r>
            <a:r>
              <a:rPr lang="en-US" dirty="0"/>
              <a:t>”+“</a:t>
            </a:r>
            <a:r>
              <a:rPr lang="en-US" dirty="0" err="1"/>
              <a:t>Sois</a:t>
            </a:r>
            <a:r>
              <a:rPr lang="en-US" dirty="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http://tell.fll.purdue.edu/JapanProj/FLClipart/Pronouns/the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08" t="15125" r="7292" b="10896"/>
          <a:stretch>
            <a:fillRect/>
          </a:stretch>
        </p:blipFill>
        <p:spPr bwMode="auto">
          <a:xfrm>
            <a:off x="6934201" y="2743200"/>
            <a:ext cx="3275013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4876800" cy="5029200"/>
          </a:xfrm>
        </p:spPr>
        <p:txBody>
          <a:bodyPr/>
          <a:lstStyle/>
          <a:p>
            <a:pPr marL="273050" lvl="1" indent="-273050" eaLnBrk="1" hangingPunct="1">
              <a:spcBef>
                <a:spcPts val="400"/>
              </a:spcBef>
              <a:buSzPct val="68000"/>
              <a:buFont typeface="Wingdings" panose="05000000000000000000" pitchFamily="2" charset="2"/>
              <a:buChar char=""/>
            </a:pPr>
            <a:r>
              <a:rPr lang="en-US" altLang="en-US" sz="2800" dirty="0" err="1"/>
              <a:t>Ellos</a:t>
            </a:r>
            <a:r>
              <a:rPr lang="en-US" altLang="en-US" sz="2800" dirty="0"/>
              <a:t> = They (masculine) </a:t>
            </a:r>
          </a:p>
          <a:p>
            <a:pPr marL="273050" lvl="1" indent="-273050" eaLnBrk="1" hangingPunct="1">
              <a:spcBef>
                <a:spcPts val="400"/>
              </a:spcBef>
              <a:buSzPct val="68000"/>
              <a:buFont typeface="Wingdings" panose="05000000000000000000" pitchFamily="2" charset="2"/>
              <a:buChar char=""/>
            </a:pPr>
            <a:r>
              <a:rPr lang="en-US" altLang="en-US" sz="2800" dirty="0"/>
              <a:t>It is used when talking </a:t>
            </a:r>
            <a:r>
              <a:rPr lang="en-US" altLang="en-US" sz="2800" b="1" u="sng" dirty="0">
                <a:solidFill>
                  <a:srgbClr val="0070C0"/>
                </a:solidFill>
              </a:rPr>
              <a:t>ABOUT</a:t>
            </a:r>
            <a:r>
              <a:rPr lang="en-US" altLang="en-US" sz="2800" dirty="0"/>
              <a:t> a group of boys/guys/men or a mixed group.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n-US" altLang="en-US" sz="2800" dirty="0" err="1"/>
              <a:t>Ellos</a:t>
            </a:r>
            <a:r>
              <a:rPr lang="en-US" altLang="en-US" sz="2800" dirty="0"/>
              <a:t> son </a:t>
            </a:r>
            <a:r>
              <a:rPr lang="en-US" altLang="en-US" sz="2800" dirty="0" err="1"/>
              <a:t>mexicanos</a:t>
            </a:r>
            <a:r>
              <a:rPr lang="en-US" altLang="en-US" sz="2800" dirty="0"/>
              <a:t>.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s-ES" altLang="en-US" sz="2800" dirty="0"/>
              <a:t>Ellos son inteligentes. </a:t>
            </a:r>
            <a:endParaRPr lang="en-US" altLang="en-US" sz="2800" dirty="0"/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s-ES" altLang="en-US" sz="2800" dirty="0"/>
              <a:t>Pablo y Juan son colombianos.</a:t>
            </a:r>
          </a:p>
          <a:p>
            <a:pPr marL="273050" indent="-273050" eaLnBrk="1" hangingPunct="1">
              <a:buFont typeface="Wingdings" panose="05000000000000000000" pitchFamily="2" charset="2"/>
              <a:buChar char=""/>
            </a:pPr>
            <a:r>
              <a:rPr lang="es-ES" altLang="en-US" sz="2800" dirty="0"/>
              <a:t>Rahul y Ankita son estudiantes.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5883"/>
            <a:ext cx="10972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>
                <a:solidFill>
                  <a:srgbClr val="1DE7FF"/>
                </a:solidFill>
              </a:rPr>
              <a:t>“</a:t>
            </a:r>
            <a:r>
              <a:rPr lang="en-US" sz="4000" dirty="0" err="1">
                <a:solidFill>
                  <a:srgbClr val="1DE7FF"/>
                </a:solidFill>
              </a:rPr>
              <a:t>Ellos</a:t>
            </a:r>
            <a:r>
              <a:rPr lang="en-US" sz="4000" dirty="0">
                <a:solidFill>
                  <a:srgbClr val="1DE7FF"/>
                </a:solidFill>
              </a:rPr>
              <a:t>”+ “Son”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  <p:bldP spid="2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42" name="Group 7"/>
          <p:cNvGrpSpPr/>
          <p:nvPr/>
        </p:nvGrpSpPr>
        <p:grpSpPr bwMode="auto">
          <a:xfrm>
            <a:off x="8686800" y="2133600"/>
            <a:ext cx="2133600" cy="2133600"/>
            <a:chOff x="4572000" y="4191000"/>
            <a:chExt cx="2133600" cy="2133600"/>
          </a:xfrm>
        </p:grpSpPr>
        <p:pic>
          <p:nvPicPr>
            <p:cNvPr id="35845" name="Picture 2" descr="http://tell.fll.purdue.edu/JapanProj/FLClipart/Pronouns/they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959" t="15125" r="7292" b="10896"/>
            <a:stretch>
              <a:fillRect/>
            </a:stretch>
          </p:blipFill>
          <p:spPr bwMode="auto">
            <a:xfrm>
              <a:off x="6096000" y="5095461"/>
              <a:ext cx="609600" cy="1139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846" name="Picture 2" descr="http://tell.fll.purdue.edu/JapanProj/FLClipart/Pronouns/they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08" t="15125" r="51399" b="10896"/>
            <a:stretch>
              <a:fillRect/>
            </a:stretch>
          </p:blipFill>
          <p:spPr bwMode="auto">
            <a:xfrm>
              <a:off x="4572000" y="4191000"/>
              <a:ext cx="1524000" cy="2133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762000" y="1752600"/>
            <a:ext cx="7543800" cy="3352800"/>
          </a:xfrm>
        </p:spPr>
        <p:txBody>
          <a:bodyPr/>
          <a:lstStyle/>
          <a:p>
            <a:pPr marL="365125" lvl="1" indent="-255905" eaLnBrk="1" hangingPunct="1">
              <a:spcBef>
                <a:spcPts val="400"/>
              </a:spcBef>
              <a:buSzPct val="68000"/>
              <a:buFont typeface="Wingdings 3" panose="05040102010807070707" pitchFamily="18" charset="2"/>
              <a:buChar char=""/>
              <a:defRPr/>
            </a:pPr>
            <a:r>
              <a:rPr lang="en-US" altLang="en-US" dirty="0" err="1"/>
              <a:t>Ellas</a:t>
            </a:r>
            <a:r>
              <a:rPr lang="en-US" altLang="en-US" dirty="0"/>
              <a:t> = They (feminine), Remember  </a:t>
            </a:r>
            <a:r>
              <a:rPr lang="en-US" altLang="en-US" dirty="0" err="1"/>
              <a:t>ll</a:t>
            </a:r>
            <a:r>
              <a:rPr lang="en-US" altLang="en-US" dirty="0"/>
              <a:t>= y sound.</a:t>
            </a:r>
          </a:p>
          <a:p>
            <a:pPr eaLnBrk="1" hangingPunct="1">
              <a:defRPr/>
            </a:pPr>
            <a:r>
              <a:rPr lang="en-US" altLang="en-US" dirty="0"/>
              <a:t>It is used when talking </a:t>
            </a:r>
            <a:r>
              <a:rPr lang="en-US" altLang="en-US" b="1" u="sng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ABOUT</a:t>
            </a:r>
            <a:r>
              <a:rPr lang="en-US" altLang="en-US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 </a:t>
            </a:r>
            <a:r>
              <a:rPr lang="en-US" altLang="en-US" dirty="0"/>
              <a:t>a group of only females.</a:t>
            </a:r>
          </a:p>
          <a:p>
            <a:pPr eaLnBrk="1" hangingPunct="1">
              <a:defRPr/>
            </a:pPr>
            <a:r>
              <a:rPr lang="en-US" altLang="en-US" dirty="0" err="1"/>
              <a:t>Ellas</a:t>
            </a:r>
            <a:r>
              <a:rPr lang="en-US" altLang="en-US" dirty="0"/>
              <a:t> son </a:t>
            </a:r>
            <a:r>
              <a:rPr lang="en-US" altLang="en-US" dirty="0" err="1"/>
              <a:t>mexicanas</a:t>
            </a:r>
            <a:endParaRPr lang="en-US" altLang="en-US" dirty="0"/>
          </a:p>
          <a:p>
            <a:pPr eaLnBrk="1" hangingPunct="1">
              <a:defRPr/>
            </a:pPr>
            <a:r>
              <a:rPr lang="en-US" altLang="en-US" dirty="0" err="1"/>
              <a:t>Ellas</a:t>
            </a:r>
            <a:r>
              <a:rPr lang="en-US" altLang="en-US" dirty="0"/>
              <a:t> son </a:t>
            </a:r>
            <a:r>
              <a:rPr lang="en-US" altLang="en-US" dirty="0" err="1"/>
              <a:t>guapas</a:t>
            </a:r>
            <a:endParaRPr lang="en-US" altLang="en-US" dirty="0"/>
          </a:p>
          <a:p>
            <a:pPr eaLnBrk="1" hangingPunct="1">
              <a:defRPr/>
            </a:pPr>
            <a:r>
              <a:rPr lang="en-US" altLang="en-US" dirty="0" err="1"/>
              <a:t>Sukriti</a:t>
            </a:r>
            <a:r>
              <a:rPr lang="en-US" altLang="en-US" dirty="0"/>
              <a:t> y Michelle son </a:t>
            </a:r>
            <a:r>
              <a:rPr lang="en-US" altLang="en-US" dirty="0" err="1"/>
              <a:t>altas</a:t>
            </a:r>
            <a:r>
              <a:rPr lang="en-US" altLang="en-US" dirty="0"/>
              <a:t> </a:t>
            </a:r>
          </a:p>
          <a:p>
            <a:pPr marL="109220" indent="0" eaLnBrk="1" hangingPunct="1">
              <a:buNone/>
              <a:defRPr/>
            </a:pPr>
            <a:r>
              <a:rPr lang="en-US" altLang="en-US" dirty="0"/>
              <a:t> </a:t>
            </a:r>
          </a:p>
          <a:p>
            <a:pPr eaLnBrk="1" hangingPunct="1">
              <a:defRPr/>
            </a:pPr>
            <a:endParaRPr lang="en-US" altLang="en-US" dirty="0"/>
          </a:p>
          <a:p>
            <a:pPr eaLnBrk="1" hangingPunct="1">
              <a:defRPr/>
            </a:pPr>
            <a:endParaRPr lang="en-US" alt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52400" y="-228917"/>
            <a:ext cx="109728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en-US" dirty="0">
                <a:solidFill>
                  <a:srgbClr val="1DE7FF"/>
                </a:solidFill>
              </a:rPr>
            </a:br>
            <a:r>
              <a:rPr lang="en-US" dirty="0">
                <a:solidFill>
                  <a:srgbClr val="1DE7FF"/>
                </a:solidFill>
              </a:rPr>
              <a:t>“</a:t>
            </a:r>
            <a:r>
              <a:rPr lang="en-US" dirty="0" err="1">
                <a:solidFill>
                  <a:srgbClr val="1DE7FF"/>
                </a:solidFill>
              </a:rPr>
              <a:t>Ellas</a:t>
            </a:r>
            <a:r>
              <a:rPr lang="en-US" dirty="0">
                <a:solidFill>
                  <a:srgbClr val="1DE7FF"/>
                </a:solidFill>
              </a:rPr>
              <a:t>” + “Son”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 build="p"/>
      <p:bldP spid="4" grpId="0"/>
      <p:bldP spid="4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81138"/>
            <a:ext cx="8305800" cy="4525962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Ustedes</a:t>
            </a:r>
            <a:r>
              <a:rPr lang="en-US" altLang="en-US" dirty="0"/>
              <a:t> means You all (formal)</a:t>
            </a:r>
          </a:p>
          <a:p>
            <a:pPr eaLnBrk="1" hangingPunct="1"/>
            <a:r>
              <a:rPr lang="en-US" altLang="en-US" dirty="0"/>
              <a:t>Considered a 3</a:t>
            </a:r>
            <a:r>
              <a:rPr lang="en-US" altLang="en-US" baseline="30000" dirty="0"/>
              <a:t>rd</a:t>
            </a:r>
            <a:r>
              <a:rPr lang="en-US" altLang="en-US" dirty="0"/>
              <a:t>  person plural pronoun in verb conjugation but it is second person plural. </a:t>
            </a:r>
          </a:p>
          <a:p>
            <a:pPr eaLnBrk="1" hangingPunct="1"/>
            <a:r>
              <a:rPr lang="en-US" altLang="en-US" dirty="0" err="1"/>
              <a:t>Ustedes</a:t>
            </a:r>
            <a:r>
              <a:rPr lang="en-US" altLang="en-US" dirty="0"/>
              <a:t> (male or female)</a:t>
            </a:r>
          </a:p>
          <a:p>
            <a:pPr eaLnBrk="1" hangingPunct="1"/>
            <a:r>
              <a:rPr lang="en-US" altLang="en-US" dirty="0" err="1"/>
              <a:t>Ustedes</a:t>
            </a:r>
            <a:r>
              <a:rPr lang="en-US" altLang="en-US" dirty="0"/>
              <a:t> son </a:t>
            </a:r>
            <a:r>
              <a:rPr lang="en-US" altLang="en-US" dirty="0" err="1"/>
              <a:t>peruanos</a:t>
            </a:r>
            <a:r>
              <a:rPr lang="en-US" altLang="en-US" dirty="0"/>
              <a:t>.</a:t>
            </a:r>
          </a:p>
          <a:p>
            <a:pPr eaLnBrk="1" hangingPunct="1"/>
            <a:r>
              <a:rPr lang="en-US" altLang="en-US" dirty="0" err="1"/>
              <a:t>Ustedes</a:t>
            </a:r>
            <a:r>
              <a:rPr lang="en-US" altLang="en-US" dirty="0"/>
              <a:t> son Maria y Jos</a:t>
            </a:r>
            <a:r>
              <a:rPr lang="es-ES" altLang="en-US" dirty="0"/>
              <a:t>é.</a:t>
            </a:r>
            <a:endParaRPr lang="en-US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“</a:t>
            </a:r>
            <a:r>
              <a:rPr lang="en-US" dirty="0" err="1">
                <a:solidFill>
                  <a:srgbClr val="1DE7FF"/>
                </a:solidFill>
              </a:rPr>
              <a:t>Ustedes</a:t>
            </a:r>
            <a:r>
              <a:rPr lang="en-US" dirty="0">
                <a:solidFill>
                  <a:srgbClr val="1DE7FF"/>
                </a:solidFill>
              </a:rPr>
              <a:t>” + “Son”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2" grpId="0"/>
      <p:bldP spid="2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C674221-BC3B-3D8F-4E9A-CF84B6A2C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354138"/>
            <a:ext cx="10972800" cy="4525962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Yo</a:t>
            </a:r>
            <a:r>
              <a:rPr lang="en-US" dirty="0"/>
              <a:t> soy </a:t>
            </a:r>
          </a:p>
          <a:p>
            <a:r>
              <a:rPr lang="en-US" dirty="0"/>
              <a:t>Tú </a:t>
            </a:r>
            <a:r>
              <a:rPr lang="en-US" dirty="0" err="1"/>
              <a:t>eres</a:t>
            </a:r>
            <a:endParaRPr lang="en-US" dirty="0"/>
          </a:p>
          <a:p>
            <a:r>
              <a:rPr lang="en-US" dirty="0" err="1"/>
              <a:t>Él</a:t>
            </a:r>
            <a:r>
              <a:rPr lang="en-US" dirty="0"/>
              <a:t>/ Ella/ </a:t>
            </a:r>
            <a:r>
              <a:rPr lang="en-US" dirty="0" err="1"/>
              <a:t>Usted</a:t>
            </a:r>
            <a:r>
              <a:rPr lang="en-US" dirty="0"/>
              <a:t> es</a:t>
            </a:r>
          </a:p>
          <a:p>
            <a:r>
              <a:rPr lang="en-US" dirty="0" err="1"/>
              <a:t>Nosotros</a:t>
            </a:r>
            <a:r>
              <a:rPr lang="en-US" dirty="0"/>
              <a:t>/ </a:t>
            </a:r>
            <a:r>
              <a:rPr lang="en-US" dirty="0" err="1"/>
              <a:t>Nosotras</a:t>
            </a:r>
            <a:r>
              <a:rPr lang="en-US" dirty="0"/>
              <a:t> </a:t>
            </a:r>
            <a:r>
              <a:rPr lang="en-US" dirty="0" err="1"/>
              <a:t>somos</a:t>
            </a:r>
            <a:r>
              <a:rPr lang="en-US" dirty="0"/>
              <a:t> </a:t>
            </a:r>
          </a:p>
          <a:p>
            <a:r>
              <a:rPr lang="en-US" dirty="0" err="1"/>
              <a:t>Vosotros</a:t>
            </a:r>
            <a:r>
              <a:rPr lang="en-US" dirty="0"/>
              <a:t>/ </a:t>
            </a:r>
            <a:r>
              <a:rPr lang="en-US" dirty="0" err="1"/>
              <a:t>Vosotras</a:t>
            </a:r>
            <a:r>
              <a:rPr lang="en-US" dirty="0"/>
              <a:t> </a:t>
            </a:r>
            <a:r>
              <a:rPr lang="en-US" dirty="0" err="1"/>
              <a:t>sois</a:t>
            </a:r>
            <a:endParaRPr lang="en-US" dirty="0"/>
          </a:p>
          <a:p>
            <a:r>
              <a:rPr lang="en-US" dirty="0" err="1"/>
              <a:t>Ellos</a:t>
            </a:r>
            <a:r>
              <a:rPr lang="en-US" dirty="0"/>
              <a:t>/ </a:t>
            </a:r>
            <a:r>
              <a:rPr lang="en-US" dirty="0" err="1"/>
              <a:t>Ellas</a:t>
            </a:r>
            <a:r>
              <a:rPr lang="en-US" dirty="0"/>
              <a:t>/ </a:t>
            </a:r>
            <a:r>
              <a:rPr lang="en-US" dirty="0" err="1"/>
              <a:t>Ustedes</a:t>
            </a:r>
            <a:r>
              <a:rPr lang="en-US" dirty="0"/>
              <a:t> son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B56A5AA-89EC-AD6A-EF02-F754B2C77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Subject Pronoun and Ser Verb </a:t>
            </a:r>
          </a:p>
        </p:txBody>
      </p:sp>
    </p:spTree>
    <p:extLst>
      <p:ext uri="{BB962C8B-B14F-4D97-AF65-F5344CB8AC3E}">
        <p14:creationId xmlns:p14="http://schemas.microsoft.com/office/powerpoint/2010/main" val="2873325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7FB7A8-EA42-BD93-6321-9F92A0654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Yo soy Shilpi </a:t>
            </a:r>
          </a:p>
          <a:p>
            <a:r>
              <a:rPr lang="es-ES" dirty="0"/>
              <a:t>Yo soy chica </a:t>
            </a:r>
          </a:p>
          <a:p>
            <a:r>
              <a:rPr lang="es-ES" dirty="0"/>
              <a:t>Yo soy estudiante </a:t>
            </a:r>
          </a:p>
          <a:p>
            <a:r>
              <a:rPr lang="es-ES" dirty="0"/>
              <a:t>Yo soy alta</a:t>
            </a:r>
          </a:p>
          <a:p>
            <a:r>
              <a:rPr lang="es-ES" dirty="0"/>
              <a:t>Yo soy guapa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1BFD53-B09F-3E1E-B71E-5341ED34F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Quién</a:t>
            </a:r>
            <a:r>
              <a:rPr lang="en-US" dirty="0"/>
              <a:t> </a:t>
            </a:r>
            <a:r>
              <a:rPr lang="en-US" dirty="0" err="1"/>
              <a:t>eres</a:t>
            </a:r>
            <a:r>
              <a:rPr lang="en-US" dirty="0"/>
              <a:t>?/ Who </a:t>
            </a:r>
            <a:r>
              <a:rPr lang="en-US"/>
              <a:t>are you?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98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3200" dirty="0"/>
              <a:t>Subject Pronoun (</a:t>
            </a:r>
            <a:r>
              <a:rPr lang="en-IN" altLang="en-US" sz="3200" dirty="0" err="1"/>
              <a:t>Pronombres</a:t>
            </a:r>
            <a:r>
              <a:rPr lang="en-IN" altLang="en-US" sz="3200" dirty="0"/>
              <a:t> </a:t>
            </a:r>
            <a:r>
              <a:rPr lang="en-IN" altLang="en-US" sz="3200" dirty="0" err="1"/>
              <a:t>Sujetos</a:t>
            </a:r>
            <a:r>
              <a:rPr lang="en-IN" altLang="en-US" sz="3200" dirty="0"/>
              <a:t>)</a:t>
            </a:r>
          </a:p>
          <a:p>
            <a:r>
              <a:rPr lang="en-IN" altLang="en-US" sz="3200" dirty="0"/>
              <a:t>Ser Verb and its Conjugation (El Verbo Ser)</a:t>
            </a:r>
          </a:p>
          <a:p>
            <a:r>
              <a:rPr lang="en-IN" altLang="en-US" sz="3200" dirty="0"/>
              <a:t>¿</a:t>
            </a:r>
            <a:r>
              <a:rPr lang="en-IN" altLang="en-US" sz="3200" dirty="0" err="1"/>
              <a:t>Quién</a:t>
            </a:r>
            <a:r>
              <a:rPr lang="en-IN" altLang="en-US" sz="3200" dirty="0"/>
              <a:t> </a:t>
            </a:r>
            <a:r>
              <a:rPr lang="en-IN" altLang="en-US" sz="3200" dirty="0" err="1"/>
              <a:t>eres</a:t>
            </a:r>
            <a:r>
              <a:rPr lang="en-IN" altLang="en-US" sz="3200" dirty="0"/>
              <a:t> </a:t>
            </a:r>
            <a:r>
              <a:rPr lang="en-IN" altLang="en-US" sz="3200" dirty="0" err="1"/>
              <a:t>tú</a:t>
            </a:r>
            <a:r>
              <a:rPr lang="en-IN" altLang="en-US" sz="3200" dirty="0"/>
              <a:t>?</a:t>
            </a:r>
          </a:p>
          <a:p>
            <a:pPr marL="109220" indent="0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8260</TotalTime>
  <Words>937</Words>
  <Application>Microsoft Office PowerPoint</Application>
  <PresentationFormat>Widescreen</PresentationFormat>
  <Paragraphs>196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Black</vt:lpstr>
      <vt:lpstr>Calibri</vt:lpstr>
      <vt:lpstr>Lucida Sans Unicode</vt:lpstr>
      <vt:lpstr>Verdana</vt:lpstr>
      <vt:lpstr>Wingdings</vt:lpstr>
      <vt:lpstr>Wingdings 2</vt:lpstr>
      <vt:lpstr>Wingdings 3</vt:lpstr>
      <vt:lpstr>Concourse</vt:lpstr>
      <vt:lpstr>Spanish I</vt:lpstr>
      <vt:lpstr>Subject pronoun and Ser Verb </vt:lpstr>
      <vt:lpstr>Subject pronouns</vt:lpstr>
      <vt:lpstr>What are the English subject pronouns?</vt:lpstr>
      <vt:lpstr>English subject pronouns and their Spanish equivalents</vt:lpstr>
      <vt:lpstr>YOU, You, and You</vt:lpstr>
      <vt:lpstr>Difference: Tú vs. Usted  </vt:lpstr>
      <vt:lpstr>New vocabulary</vt:lpstr>
      <vt:lpstr>Subject + Verb </vt:lpstr>
      <vt:lpstr> “Yo” + “Soy”</vt:lpstr>
      <vt:lpstr> “Tú” + “Eres” </vt:lpstr>
      <vt:lpstr> “Él” + “Es”</vt:lpstr>
      <vt:lpstr>“Ella” + “Es”</vt:lpstr>
      <vt:lpstr>“Usted (Ud.)”+ “Es”</vt:lpstr>
      <vt:lpstr>“Nosotros/Nosotras”+“Somos”</vt:lpstr>
      <vt:lpstr>“Vosotros/Vosotras”+“Sois”</vt:lpstr>
      <vt:lpstr>“Ellos”+ “Son”</vt:lpstr>
      <vt:lpstr> “Ellas” + “Son”</vt:lpstr>
      <vt:lpstr>“Ustedes” + “Son” </vt:lpstr>
      <vt:lpstr> Subject Pronoun and Ser Verb </vt:lpstr>
      <vt:lpstr>¿Quién eres?/ Who are you?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shilpi gupta</cp:lastModifiedBy>
  <cp:revision>150</cp:revision>
  <dcterms:created xsi:type="dcterms:W3CDTF">2007-10-19T05:42:00Z</dcterms:created>
  <dcterms:modified xsi:type="dcterms:W3CDTF">2025-01-07T03:04:33Z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