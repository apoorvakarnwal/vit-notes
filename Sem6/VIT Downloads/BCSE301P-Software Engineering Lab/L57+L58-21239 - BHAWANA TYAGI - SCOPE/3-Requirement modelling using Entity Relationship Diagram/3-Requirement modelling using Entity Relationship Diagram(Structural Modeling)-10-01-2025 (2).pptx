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59" r:id="rId20"/>
    <p:sldId id="262" r:id="rId21"/>
    <p:sldId id="263" r:id="rId22"/>
    <p:sldId id="264" r:id="rId23"/>
    <p:sldId id="265" r:id="rId24"/>
    <p:sldId id="266" r:id="rId25"/>
    <p:sldId id="267" r:id="rId26"/>
    <p:sldId id="261" r:id="rId27"/>
    <p:sldId id="268" r:id="rId28"/>
    <p:sldId id="271" r:id="rId29"/>
    <p:sldId id="269" r:id="rId30"/>
    <p:sldId id="272" r:id="rId31"/>
    <p:sldId id="270" r:id="rId32"/>
    <p:sldId id="273" r:id="rId33"/>
    <p:sldId id="292" r:id="rId34"/>
    <p:sldId id="291"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64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CB92EE0-283B-495E-826C-ED0FB5C40728}"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784292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B92EE0-283B-495E-826C-ED0FB5C40728}"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261300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B92EE0-283B-495E-826C-ED0FB5C40728}"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912759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B92EE0-283B-495E-826C-ED0FB5C40728}"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337585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CB92EE0-283B-495E-826C-ED0FB5C40728}"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96193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CB92EE0-283B-495E-826C-ED0FB5C40728}"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1578768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B92EE0-283B-495E-826C-ED0FB5C40728}"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730623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B92EE0-283B-495E-826C-ED0FB5C40728}"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63202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B92EE0-283B-495E-826C-ED0FB5C40728}"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348475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B92EE0-283B-495E-826C-ED0FB5C40728}"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2104582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B92EE0-283B-495E-826C-ED0FB5C40728}"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1016935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B92EE0-283B-495E-826C-ED0FB5C40728}" type="datetimeFigureOut">
              <a:rPr lang="en-US" smtClean="0"/>
              <a:t>1/24/2025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872C0-1E3F-4B20-B788-0B8BB0971053}" type="slidenum">
              <a:rPr lang="en-US" smtClean="0"/>
              <a:t>‹#›</a:t>
            </a:fld>
            <a:endParaRPr lang="en-US"/>
          </a:p>
        </p:txBody>
      </p:sp>
    </p:spTree>
    <p:extLst>
      <p:ext uri="{BB962C8B-B14F-4D97-AF65-F5344CB8AC3E}">
        <p14:creationId xmlns:p14="http://schemas.microsoft.com/office/powerpoint/2010/main" val="276697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geeksforgeeks.org/degree-of-relations-in-dbms/"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Requirement Modelling Techniques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3605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41922" y="84840"/>
            <a:ext cx="7899662" cy="6598763"/>
          </a:xfrm>
          <a:prstGeom prst="rect">
            <a:avLst/>
          </a:prstGeom>
        </p:spPr>
      </p:pic>
    </p:spTree>
    <p:extLst>
      <p:ext uri="{BB962C8B-B14F-4D97-AF65-F5344CB8AC3E}">
        <p14:creationId xmlns:p14="http://schemas.microsoft.com/office/powerpoint/2010/main" val="71798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ER Diagram</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87121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Model</a:t>
            </a:r>
            <a:endParaRPr lang="en-US" dirty="0"/>
          </a:p>
        </p:txBody>
      </p:sp>
      <p:sp>
        <p:nvSpPr>
          <p:cNvPr id="3" name="Content Placeholder 2"/>
          <p:cNvSpPr>
            <a:spLocks noGrp="1"/>
          </p:cNvSpPr>
          <p:nvPr>
            <p:ph idx="1"/>
          </p:nvPr>
        </p:nvSpPr>
        <p:spPr/>
        <p:txBody>
          <a:bodyPr/>
          <a:lstStyle/>
          <a:p>
            <a:r>
              <a:rPr lang="en-US" dirty="0"/>
              <a:t>The Entity Relationship Model is a model for identifying entities (like student, car or company) to be represented in the database and representation of how those entities are related. </a:t>
            </a:r>
            <a:endParaRPr lang="en-US" dirty="0" smtClean="0"/>
          </a:p>
          <a:p>
            <a:r>
              <a:rPr lang="en-US" dirty="0" smtClean="0"/>
              <a:t>The </a:t>
            </a:r>
            <a:r>
              <a:rPr lang="en-US" dirty="0"/>
              <a:t>ER data model specifies enterprise schema that represents the overall logical structure of a database graphically.</a:t>
            </a:r>
          </a:p>
        </p:txBody>
      </p:sp>
    </p:spTree>
    <p:extLst>
      <p:ext uri="{BB962C8B-B14F-4D97-AF65-F5344CB8AC3E}">
        <p14:creationId xmlns:p14="http://schemas.microsoft.com/office/powerpoint/2010/main" val="443372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Symbols Used</a:t>
            </a:r>
            <a:endParaRPr lang="en-US" dirty="0"/>
          </a:p>
        </p:txBody>
      </p:sp>
      <p:pic>
        <p:nvPicPr>
          <p:cNvPr id="4" name="Content Placeholder 3"/>
          <p:cNvPicPr>
            <a:picLocks noGrp="1" noChangeAspect="1"/>
          </p:cNvPicPr>
          <p:nvPr>
            <p:ph idx="1"/>
          </p:nvPr>
        </p:nvPicPr>
        <p:blipFill>
          <a:blip r:embed="rId2"/>
          <a:stretch>
            <a:fillRect/>
          </a:stretch>
        </p:blipFill>
        <p:spPr>
          <a:xfrm>
            <a:off x="3149600" y="2176463"/>
            <a:ext cx="5953125" cy="3362325"/>
          </a:xfrm>
          <a:prstGeom prst="rect">
            <a:avLst/>
          </a:prstGeom>
        </p:spPr>
      </p:pic>
    </p:spTree>
    <p:extLst>
      <p:ext uri="{BB962C8B-B14F-4D97-AF65-F5344CB8AC3E}">
        <p14:creationId xmlns:p14="http://schemas.microsoft.com/office/powerpoint/2010/main" val="4118330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ER Diagram </a:t>
            </a:r>
            <a:endParaRPr lang="en-US" dirty="0"/>
          </a:p>
        </p:txBody>
      </p:sp>
      <p:sp>
        <p:nvSpPr>
          <p:cNvPr id="3" name="Content Placeholder 2"/>
          <p:cNvSpPr>
            <a:spLocks noGrp="1"/>
          </p:cNvSpPr>
          <p:nvPr>
            <p:ph idx="1"/>
          </p:nvPr>
        </p:nvSpPr>
        <p:spPr/>
        <p:txBody>
          <a:bodyPr/>
          <a:lstStyle/>
          <a:p>
            <a:r>
              <a:rPr lang="en-US" dirty="0"/>
              <a:t>ER Model consists of Entities, Attributes, and Relationships among Entities in a Database System.</a:t>
            </a:r>
          </a:p>
        </p:txBody>
      </p:sp>
      <p:pic>
        <p:nvPicPr>
          <p:cNvPr id="4" name="Picture 3"/>
          <p:cNvPicPr>
            <a:picLocks noChangeAspect="1"/>
          </p:cNvPicPr>
          <p:nvPr/>
        </p:nvPicPr>
        <p:blipFill>
          <a:blip r:embed="rId2"/>
          <a:stretch>
            <a:fillRect/>
          </a:stretch>
        </p:blipFill>
        <p:spPr>
          <a:xfrm>
            <a:off x="1840230" y="2563919"/>
            <a:ext cx="8572500" cy="3305175"/>
          </a:xfrm>
          <a:prstGeom prst="rect">
            <a:avLst/>
          </a:prstGeom>
        </p:spPr>
      </p:pic>
    </p:spTree>
    <p:extLst>
      <p:ext uri="{BB962C8B-B14F-4D97-AF65-F5344CB8AC3E}">
        <p14:creationId xmlns:p14="http://schemas.microsoft.com/office/powerpoint/2010/main" val="53033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a:t>
            </a:r>
            <a:endParaRPr lang="en-US" dirty="0"/>
          </a:p>
        </p:txBody>
      </p:sp>
      <p:sp>
        <p:nvSpPr>
          <p:cNvPr id="3" name="Content Placeholder 2"/>
          <p:cNvSpPr>
            <a:spLocks noGrp="1"/>
          </p:cNvSpPr>
          <p:nvPr>
            <p:ph idx="1"/>
          </p:nvPr>
        </p:nvSpPr>
        <p:spPr/>
        <p:txBody>
          <a:bodyPr/>
          <a:lstStyle/>
          <a:p>
            <a:pPr algn="just"/>
            <a:r>
              <a:rPr lang="en-US" dirty="0"/>
              <a:t>An Entity may be an object with a physical existence – a particular person, car, house, or employee – or it may be an object with a conceptual existence – a company, a job, or a university course</a:t>
            </a:r>
            <a:r>
              <a:rPr lang="en-US" dirty="0" smtClean="0"/>
              <a:t>.</a:t>
            </a:r>
          </a:p>
          <a:p>
            <a:pPr algn="just"/>
            <a:r>
              <a:rPr lang="en-US" b="1" dirty="0" smtClean="0"/>
              <a:t>Entity Set</a:t>
            </a:r>
          </a:p>
          <a:p>
            <a:pPr algn="just"/>
            <a:r>
              <a:rPr lang="en-US" dirty="0"/>
              <a:t>An Entity is an object of Entity Type and a set of all entities is called an entity set. For Example, E1 is an entity having Entity Type Student and the set of all students is called Entity Set. In ER diagram, Entity Type is represented as:</a:t>
            </a:r>
          </a:p>
        </p:txBody>
      </p:sp>
      <p:pic>
        <p:nvPicPr>
          <p:cNvPr id="4" name="Picture 3"/>
          <p:cNvPicPr>
            <a:picLocks noChangeAspect="1"/>
          </p:cNvPicPr>
          <p:nvPr/>
        </p:nvPicPr>
        <p:blipFill>
          <a:blip r:embed="rId2"/>
          <a:stretch>
            <a:fillRect/>
          </a:stretch>
        </p:blipFill>
        <p:spPr>
          <a:xfrm>
            <a:off x="4485951" y="4297440"/>
            <a:ext cx="2314575" cy="1352550"/>
          </a:xfrm>
          <a:prstGeom prst="rect">
            <a:avLst/>
          </a:prstGeom>
        </p:spPr>
      </p:pic>
    </p:spTree>
    <p:extLst>
      <p:ext uri="{BB962C8B-B14F-4D97-AF65-F5344CB8AC3E}">
        <p14:creationId xmlns:p14="http://schemas.microsoft.com/office/powerpoint/2010/main" val="122978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Entity</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b="1" dirty="0" smtClean="0"/>
              <a:t>Strong Entity</a:t>
            </a:r>
          </a:p>
          <a:p>
            <a:pPr marL="0" indent="0">
              <a:buNone/>
            </a:pPr>
            <a:r>
              <a:rPr lang="en-US" dirty="0" smtClean="0"/>
              <a:t>	A</a:t>
            </a:r>
            <a:r>
              <a:rPr lang="en-US" dirty="0"/>
              <a:t> Strong Entity is a type of entity that has a key Attribute. </a:t>
            </a:r>
            <a:endParaRPr lang="en-US" dirty="0" smtClean="0"/>
          </a:p>
          <a:p>
            <a:pPr marL="0" indent="0">
              <a:buNone/>
            </a:pPr>
            <a:r>
              <a:rPr lang="en-US" dirty="0"/>
              <a:t>	</a:t>
            </a:r>
            <a:r>
              <a:rPr lang="en-US" dirty="0" smtClean="0"/>
              <a:t>Strong </a:t>
            </a:r>
            <a:r>
              <a:rPr lang="en-US" dirty="0"/>
              <a:t>Entity does not depend on other Entity in the Schema. </a:t>
            </a:r>
            <a:endParaRPr lang="en-US" dirty="0" smtClean="0"/>
          </a:p>
          <a:p>
            <a:pPr marL="0" indent="0">
              <a:buNone/>
            </a:pPr>
            <a:r>
              <a:rPr lang="en-US" dirty="0"/>
              <a:t>	</a:t>
            </a:r>
            <a:r>
              <a:rPr lang="en-US" dirty="0" smtClean="0"/>
              <a:t>It </a:t>
            </a:r>
            <a:r>
              <a:rPr lang="en-US" dirty="0"/>
              <a:t>has a primary key, that helps in identifying it uniquely, </a:t>
            </a:r>
            <a:endParaRPr lang="en-US" dirty="0" smtClean="0"/>
          </a:p>
          <a:p>
            <a:pPr marL="0" indent="0">
              <a:buNone/>
            </a:pPr>
            <a:r>
              <a:rPr lang="en-US" dirty="0"/>
              <a:t>	</a:t>
            </a:r>
            <a:r>
              <a:rPr lang="en-US" dirty="0" smtClean="0"/>
              <a:t>and </a:t>
            </a:r>
            <a:r>
              <a:rPr lang="en-US" dirty="0"/>
              <a:t>it is represented by a rectangle. </a:t>
            </a:r>
            <a:endParaRPr lang="en-US" b="1" dirty="0" smtClean="0"/>
          </a:p>
          <a:p>
            <a:pPr marL="0" indent="0">
              <a:buNone/>
            </a:pPr>
            <a:endParaRPr lang="en-US" b="1" dirty="0"/>
          </a:p>
        </p:txBody>
      </p:sp>
    </p:spTree>
    <p:extLst>
      <p:ext uri="{BB962C8B-B14F-4D97-AF65-F5344CB8AC3E}">
        <p14:creationId xmlns:p14="http://schemas.microsoft.com/office/powerpoint/2010/main" val="159642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US" b="1" dirty="0"/>
              <a:t>Weak Entity</a:t>
            </a:r>
          </a:p>
          <a:p>
            <a:pPr lvl="1" fontAlgn="base"/>
            <a:r>
              <a:rPr lang="en-US" dirty="0"/>
              <a:t>An Entity type has a key attribute that uniquely identifies each entity in the entity set. But some entity type exists for which key attributes can’t be defined. </a:t>
            </a:r>
          </a:p>
          <a:p>
            <a:pPr lvl="1" fontAlgn="base"/>
            <a:r>
              <a:rPr lang="en-US" b="1" dirty="0"/>
              <a:t>For Example, </a:t>
            </a:r>
            <a:r>
              <a:rPr lang="en-US" dirty="0"/>
              <a:t>A company may store the information of dependents (Parents, Children, Spouse) of an Employee. But the dependents can’t exist without the employee. </a:t>
            </a:r>
          </a:p>
          <a:p>
            <a:pPr lvl="1" fontAlgn="base"/>
            <a:r>
              <a:rPr lang="en-US" dirty="0"/>
              <a:t>So Dependent will be a </a:t>
            </a:r>
            <a:r>
              <a:rPr lang="en-US" b="1" dirty="0"/>
              <a:t>Weak Entity Type </a:t>
            </a:r>
            <a:r>
              <a:rPr lang="en-US" dirty="0"/>
              <a:t>and Employee will be Identifying Entity type for Dependent, which means it is </a:t>
            </a:r>
            <a:r>
              <a:rPr lang="en-US" b="1" dirty="0"/>
              <a:t>Strong Entity Type </a:t>
            </a:r>
            <a:r>
              <a:rPr lang="en-US" dirty="0"/>
              <a:t>.</a:t>
            </a:r>
          </a:p>
          <a:p>
            <a:pPr fontAlgn="base"/>
            <a:r>
              <a:rPr lang="en-US" dirty="0"/>
              <a:t>A weak entity type is represented by a Double Rectangle. </a:t>
            </a:r>
          </a:p>
          <a:p>
            <a:pPr fontAlgn="base"/>
            <a:r>
              <a:rPr lang="en-US" dirty="0"/>
              <a:t>The participation of weak entity types is always total. The relationship between the weak entity type and its identifying strong entity type is called identifying relationship and it is represented by a double diamond.</a:t>
            </a:r>
          </a:p>
          <a:p>
            <a:endParaRPr lang="en-US" dirty="0"/>
          </a:p>
        </p:txBody>
      </p:sp>
      <p:pic>
        <p:nvPicPr>
          <p:cNvPr id="4" name="Picture 3"/>
          <p:cNvPicPr>
            <a:picLocks noChangeAspect="1"/>
          </p:cNvPicPr>
          <p:nvPr/>
        </p:nvPicPr>
        <p:blipFill>
          <a:blip r:embed="rId2"/>
          <a:stretch>
            <a:fillRect/>
          </a:stretch>
        </p:blipFill>
        <p:spPr>
          <a:xfrm>
            <a:off x="2009728" y="5330230"/>
            <a:ext cx="7781925" cy="1294475"/>
          </a:xfrm>
          <a:prstGeom prst="rect">
            <a:avLst/>
          </a:prstGeom>
        </p:spPr>
      </p:pic>
    </p:spTree>
    <p:extLst>
      <p:ext uri="{BB962C8B-B14F-4D97-AF65-F5344CB8AC3E}">
        <p14:creationId xmlns:p14="http://schemas.microsoft.com/office/powerpoint/2010/main" val="3697263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Attributes</a:t>
            </a:r>
            <a:endParaRPr lang="en-US" dirty="0"/>
          </a:p>
        </p:txBody>
      </p:sp>
      <p:sp>
        <p:nvSpPr>
          <p:cNvPr id="3" name="Content Placeholder 2"/>
          <p:cNvSpPr>
            <a:spLocks noGrp="1"/>
          </p:cNvSpPr>
          <p:nvPr>
            <p:ph idx="1"/>
          </p:nvPr>
        </p:nvSpPr>
        <p:spPr/>
        <p:txBody>
          <a:bodyPr/>
          <a:lstStyle/>
          <a:p>
            <a:r>
              <a:rPr lang="en-US" u="sng" dirty="0"/>
              <a:t>Attributes </a:t>
            </a:r>
            <a:r>
              <a:rPr lang="en-US" dirty="0"/>
              <a:t>are the properties that define the entity type. </a:t>
            </a:r>
            <a:endParaRPr lang="en-US" dirty="0" smtClean="0"/>
          </a:p>
          <a:p>
            <a:r>
              <a:rPr lang="en-US" dirty="0" smtClean="0"/>
              <a:t>For </a:t>
            </a:r>
            <a:r>
              <a:rPr lang="en-US" dirty="0"/>
              <a:t>example, </a:t>
            </a:r>
            <a:r>
              <a:rPr lang="en-US" dirty="0" err="1"/>
              <a:t>Roll_No</a:t>
            </a:r>
            <a:r>
              <a:rPr lang="en-US" dirty="0"/>
              <a:t>, Name, DOB, Age, Address, and </a:t>
            </a:r>
            <a:r>
              <a:rPr lang="en-US" dirty="0" err="1"/>
              <a:t>Mobile_No</a:t>
            </a:r>
            <a:r>
              <a:rPr lang="en-US" dirty="0"/>
              <a:t> are the attributes that define entity type Student. In ER diagram, the attribute is represented by an oval</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3550004" y="3570646"/>
            <a:ext cx="3209925" cy="1381125"/>
          </a:xfrm>
          <a:prstGeom prst="rect">
            <a:avLst/>
          </a:prstGeom>
        </p:spPr>
      </p:pic>
    </p:spTree>
    <p:extLst>
      <p:ext uri="{BB962C8B-B14F-4D97-AF65-F5344CB8AC3E}">
        <p14:creationId xmlns:p14="http://schemas.microsoft.com/office/powerpoint/2010/main" val="4209725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Attributes</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b="1" dirty="0"/>
              <a:t>1. Key Attribute</a:t>
            </a:r>
          </a:p>
          <a:p>
            <a:pPr algn="just" fontAlgn="base"/>
            <a:r>
              <a:rPr lang="en-US" dirty="0"/>
              <a:t>The attribute which </a:t>
            </a:r>
            <a:r>
              <a:rPr lang="en-US" b="1" dirty="0"/>
              <a:t>uniquely identifies each entity </a:t>
            </a:r>
            <a:r>
              <a:rPr lang="en-US" dirty="0"/>
              <a:t>in the entity set is called the key attribute. For example, </a:t>
            </a:r>
            <a:r>
              <a:rPr lang="en-US" dirty="0" err="1"/>
              <a:t>Roll_No</a:t>
            </a:r>
            <a:r>
              <a:rPr lang="en-US" dirty="0"/>
              <a:t> will be unique for each student. In ER diagram, the key attribute is represented by an oval with underlying lines</a:t>
            </a:r>
            <a:r>
              <a:rPr lang="en-US" dirty="0" smtClean="0"/>
              <a:t>.</a:t>
            </a:r>
          </a:p>
          <a:p>
            <a:pPr algn="just" fontAlgn="base"/>
            <a:endParaRPr lang="en-US" dirty="0" smtClean="0"/>
          </a:p>
          <a:p>
            <a:pPr algn="just" fontAlgn="base"/>
            <a:r>
              <a:rPr lang="en-US" dirty="0" smtClean="0"/>
              <a:t>2.</a:t>
            </a:r>
            <a:r>
              <a:rPr lang="en-US" b="1" dirty="0"/>
              <a:t> Composite Attribute</a:t>
            </a:r>
          </a:p>
          <a:p>
            <a:pPr algn="just" fontAlgn="base"/>
            <a:r>
              <a:rPr lang="en-US" dirty="0"/>
              <a:t>An attribute </a:t>
            </a:r>
            <a:r>
              <a:rPr lang="en-US" b="1" dirty="0"/>
              <a:t>composed of many other attributes </a:t>
            </a:r>
            <a:r>
              <a:rPr lang="en-US" dirty="0"/>
              <a:t>is called a composite attribute. For example, the Address attribute of the student Entity type consists of Street, City, State, and Country. In ER diagram, the composite attribute is represented by an oval comprising of ovals.</a:t>
            </a:r>
          </a:p>
          <a:p>
            <a:pPr algn="just" fontAlgn="base"/>
            <a:endParaRPr lang="en-US" dirty="0"/>
          </a:p>
          <a:p>
            <a:endParaRPr lang="en-US" dirty="0"/>
          </a:p>
        </p:txBody>
      </p:sp>
      <p:pic>
        <p:nvPicPr>
          <p:cNvPr id="4" name="Picture 3"/>
          <p:cNvPicPr>
            <a:picLocks noChangeAspect="1"/>
          </p:cNvPicPr>
          <p:nvPr/>
        </p:nvPicPr>
        <p:blipFill>
          <a:blip r:embed="rId2"/>
          <a:stretch>
            <a:fillRect/>
          </a:stretch>
        </p:blipFill>
        <p:spPr>
          <a:xfrm>
            <a:off x="8565240" y="2851674"/>
            <a:ext cx="3228975" cy="1314450"/>
          </a:xfrm>
          <a:prstGeom prst="rect">
            <a:avLst/>
          </a:prstGeom>
        </p:spPr>
      </p:pic>
      <p:pic>
        <p:nvPicPr>
          <p:cNvPr id="5" name="Picture 4"/>
          <p:cNvPicPr>
            <a:picLocks noChangeAspect="1"/>
          </p:cNvPicPr>
          <p:nvPr/>
        </p:nvPicPr>
        <p:blipFill>
          <a:blip r:embed="rId3"/>
          <a:stretch>
            <a:fillRect/>
          </a:stretch>
        </p:blipFill>
        <p:spPr>
          <a:xfrm>
            <a:off x="4369942" y="5114646"/>
            <a:ext cx="6294127" cy="1676771"/>
          </a:xfrm>
          <a:prstGeom prst="rect">
            <a:avLst/>
          </a:prstGeom>
        </p:spPr>
      </p:pic>
    </p:spTree>
    <p:extLst>
      <p:ext uri="{BB962C8B-B14F-4D97-AF65-F5344CB8AC3E}">
        <p14:creationId xmlns:p14="http://schemas.microsoft.com/office/powerpoint/2010/main" val="3480271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fontAlgn="base"/>
            <a:r>
              <a:rPr lang="en-US" b="1" dirty="0"/>
              <a:t>3. Multivalued Attribute</a:t>
            </a:r>
          </a:p>
          <a:p>
            <a:pPr fontAlgn="base"/>
            <a:r>
              <a:rPr lang="en-US" dirty="0"/>
              <a:t>An attribute consisting of more than one value for a given entity. For example, </a:t>
            </a:r>
            <a:r>
              <a:rPr lang="en-US" dirty="0" err="1"/>
              <a:t>Phone_No</a:t>
            </a:r>
            <a:r>
              <a:rPr lang="en-US" dirty="0"/>
              <a:t> (can be more than one for a given student). In ER diagram, a multivalued attribute is represented by a double oval.</a:t>
            </a:r>
          </a:p>
          <a:p>
            <a:endParaRPr lang="en-US" dirty="0" smtClean="0"/>
          </a:p>
          <a:p>
            <a:endParaRPr lang="en-US" dirty="0"/>
          </a:p>
          <a:p>
            <a:pPr fontAlgn="base"/>
            <a:r>
              <a:rPr lang="en-US" b="1" dirty="0"/>
              <a:t>4. Derived Attribute</a:t>
            </a:r>
          </a:p>
          <a:p>
            <a:pPr fontAlgn="base"/>
            <a:r>
              <a:rPr lang="en-US" dirty="0"/>
              <a:t>An attribute that can be derived from other attributes of the entity type is known as a derived attribute. e.g.; Age (can be derived from DOB). In ER diagram, the derived attribute is represented by a dashed oval.</a:t>
            </a:r>
          </a:p>
          <a:p>
            <a:endParaRPr lang="en-US" dirty="0"/>
          </a:p>
        </p:txBody>
      </p:sp>
      <p:pic>
        <p:nvPicPr>
          <p:cNvPr id="5" name="Picture 4"/>
          <p:cNvPicPr>
            <a:picLocks noChangeAspect="1"/>
          </p:cNvPicPr>
          <p:nvPr/>
        </p:nvPicPr>
        <p:blipFill>
          <a:blip r:embed="rId2"/>
          <a:stretch>
            <a:fillRect/>
          </a:stretch>
        </p:blipFill>
        <p:spPr>
          <a:xfrm>
            <a:off x="8526780" y="3103716"/>
            <a:ext cx="2628900" cy="1343025"/>
          </a:xfrm>
          <a:prstGeom prst="rect">
            <a:avLst/>
          </a:prstGeom>
        </p:spPr>
      </p:pic>
    </p:spTree>
    <p:extLst>
      <p:ext uri="{BB962C8B-B14F-4D97-AF65-F5344CB8AC3E}">
        <p14:creationId xmlns:p14="http://schemas.microsoft.com/office/powerpoint/2010/main" val="3973824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Relationship Type and Relationship </a:t>
            </a:r>
            <a:r>
              <a:rPr lang="en-US" b="1" dirty="0" smtClean="0"/>
              <a:t>Set</a:t>
            </a:r>
            <a:endParaRPr lang="en-US" dirty="0"/>
          </a:p>
        </p:txBody>
      </p:sp>
      <p:sp>
        <p:nvSpPr>
          <p:cNvPr id="3" name="Content Placeholder 2"/>
          <p:cNvSpPr>
            <a:spLocks noGrp="1"/>
          </p:cNvSpPr>
          <p:nvPr>
            <p:ph idx="1"/>
          </p:nvPr>
        </p:nvSpPr>
        <p:spPr/>
        <p:txBody>
          <a:bodyPr/>
          <a:lstStyle/>
          <a:p>
            <a:pPr algn="just"/>
            <a:r>
              <a:rPr lang="en-US" dirty="0"/>
              <a:t>A Relationship Type represents the association between entity types. For example, ‘Enrolled in’ is a relationship type that exists between entity type Student and Course. In ER diagram, the relationship type is represented by a diamond and </a:t>
            </a:r>
            <a:r>
              <a:rPr lang="en-US" dirty="0" smtClean="0"/>
              <a:t>connecting </a:t>
            </a:r>
            <a:r>
              <a:rPr lang="en-US" dirty="0"/>
              <a:t>the entities with lines</a:t>
            </a:r>
            <a:r>
              <a:rPr lang="en-US" dirty="0" smtClean="0"/>
              <a:t>.</a:t>
            </a:r>
          </a:p>
          <a:p>
            <a:pPr algn="just"/>
            <a:endParaRPr lang="en-US" dirty="0"/>
          </a:p>
          <a:p>
            <a:pPr algn="just"/>
            <a:endParaRPr lang="en-US" dirty="0" smtClean="0"/>
          </a:p>
          <a:p>
            <a:pPr algn="just"/>
            <a:endParaRPr lang="en-US" dirty="0"/>
          </a:p>
          <a:p>
            <a:pPr algn="just"/>
            <a:endParaRPr lang="en-US" dirty="0" smtClean="0"/>
          </a:p>
          <a:p>
            <a:pPr algn="just"/>
            <a:endParaRPr lang="en-US" dirty="0"/>
          </a:p>
        </p:txBody>
      </p:sp>
      <p:pic>
        <p:nvPicPr>
          <p:cNvPr id="4" name="Picture 3"/>
          <p:cNvPicPr>
            <a:picLocks noChangeAspect="1"/>
          </p:cNvPicPr>
          <p:nvPr/>
        </p:nvPicPr>
        <p:blipFill>
          <a:blip r:embed="rId2"/>
          <a:stretch>
            <a:fillRect/>
          </a:stretch>
        </p:blipFill>
        <p:spPr>
          <a:xfrm>
            <a:off x="1404937" y="2662237"/>
            <a:ext cx="9382125" cy="1533525"/>
          </a:xfrm>
          <a:prstGeom prst="rect">
            <a:avLst/>
          </a:prstGeom>
        </p:spPr>
      </p:pic>
    </p:spTree>
    <p:extLst>
      <p:ext uri="{BB962C8B-B14F-4D97-AF65-F5344CB8AC3E}">
        <p14:creationId xmlns:p14="http://schemas.microsoft.com/office/powerpoint/2010/main" val="1452715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Degree of a Relationship </a:t>
            </a:r>
            <a:r>
              <a:rPr lang="en-US" b="1" dirty="0" smtClean="0"/>
              <a:t>Set</a:t>
            </a:r>
            <a:endParaRPr lang="en-US" dirty="0"/>
          </a:p>
        </p:txBody>
      </p:sp>
      <p:sp>
        <p:nvSpPr>
          <p:cNvPr id="3" name="Content Placeholder 2"/>
          <p:cNvSpPr>
            <a:spLocks noGrp="1"/>
          </p:cNvSpPr>
          <p:nvPr>
            <p:ph idx="1"/>
          </p:nvPr>
        </p:nvSpPr>
        <p:spPr>
          <a:xfrm>
            <a:off x="213063" y="1845734"/>
            <a:ext cx="11754035" cy="4883540"/>
          </a:xfrm>
        </p:spPr>
        <p:txBody>
          <a:bodyPr>
            <a:normAutofit fontScale="85000" lnSpcReduction="20000"/>
          </a:bodyPr>
          <a:lstStyle/>
          <a:p>
            <a:pPr algn="just" fontAlgn="base"/>
            <a:r>
              <a:rPr lang="en-US" dirty="0"/>
              <a:t>The number of different entity sets participating in a relationship set is called the </a:t>
            </a:r>
            <a:r>
              <a:rPr lang="en-US" u="sng" dirty="0">
                <a:hlinkClick r:id="rId2"/>
              </a:rPr>
              <a:t>degree of a relationship set.</a:t>
            </a:r>
            <a:endParaRPr lang="en-US" dirty="0"/>
          </a:p>
          <a:p>
            <a:pPr algn="just" fontAlgn="base"/>
            <a:r>
              <a:rPr lang="en-US" b="1" dirty="0"/>
              <a:t>1. Unary Relationship: </a:t>
            </a:r>
            <a:r>
              <a:rPr lang="en-US" dirty="0"/>
              <a:t>When there is only ONE entity set participating in a relation, the relationship is called a unary relationship. For example, one person is married to only one person</a:t>
            </a:r>
            <a:r>
              <a:rPr lang="en-US" dirty="0" smtClean="0"/>
              <a:t>.</a:t>
            </a:r>
          </a:p>
          <a:p>
            <a:pPr algn="just" fontAlgn="base"/>
            <a:endParaRPr lang="en-US" dirty="0"/>
          </a:p>
          <a:p>
            <a:pPr algn="just"/>
            <a:r>
              <a:rPr lang="en-US" dirty="0"/>
              <a:t/>
            </a:r>
            <a:br>
              <a:rPr lang="en-US" dirty="0"/>
            </a:br>
            <a:r>
              <a:rPr lang="en-US" b="1" dirty="0"/>
              <a:t>2. Binary Relationship: </a:t>
            </a:r>
            <a:r>
              <a:rPr lang="en-US" dirty="0"/>
              <a:t>When there are TWO entities set participating in a relationship, the relationship is called a binary relationship. For example, a Student is enrolled in a Course</a:t>
            </a:r>
            <a:r>
              <a:rPr lang="en-US" dirty="0" smtClean="0"/>
              <a:t>.</a:t>
            </a:r>
          </a:p>
          <a:p>
            <a:pPr algn="just"/>
            <a:endParaRPr lang="en-US" dirty="0" smtClean="0"/>
          </a:p>
          <a:p>
            <a:pPr algn="just" fontAlgn="base"/>
            <a:endParaRPr lang="en-US" b="1" dirty="0" smtClean="0"/>
          </a:p>
          <a:p>
            <a:pPr algn="just" fontAlgn="base"/>
            <a:r>
              <a:rPr lang="en-US" b="1" dirty="0" smtClean="0"/>
              <a:t>3. Ternary </a:t>
            </a:r>
            <a:r>
              <a:rPr lang="en-US" b="1" dirty="0"/>
              <a:t>Relationship: </a:t>
            </a:r>
            <a:r>
              <a:rPr lang="en-US" dirty="0"/>
              <a:t>When there are three entity sets participating in a relationship, the relationship is called a ternary relationship.</a:t>
            </a:r>
          </a:p>
          <a:p>
            <a:pPr algn="just" fontAlgn="base"/>
            <a:r>
              <a:rPr lang="en-US" b="1" dirty="0"/>
              <a:t>4. N-</a:t>
            </a:r>
            <a:r>
              <a:rPr lang="en-US" b="1" dirty="0" err="1"/>
              <a:t>ary</a:t>
            </a:r>
            <a:r>
              <a:rPr lang="en-US" b="1" dirty="0"/>
              <a:t> Relationship: </a:t>
            </a:r>
            <a:r>
              <a:rPr lang="en-US" dirty="0"/>
              <a:t>When there are n entities set participating in a relationship, the relationship is called an n-</a:t>
            </a:r>
            <a:r>
              <a:rPr lang="en-US" dirty="0" err="1"/>
              <a:t>ary</a:t>
            </a:r>
            <a:r>
              <a:rPr lang="en-US" dirty="0"/>
              <a:t> relationship.</a:t>
            </a:r>
          </a:p>
          <a:p>
            <a:endParaRPr lang="en-US" dirty="0"/>
          </a:p>
        </p:txBody>
      </p:sp>
      <p:pic>
        <p:nvPicPr>
          <p:cNvPr id="4" name="Picture 3"/>
          <p:cNvPicPr>
            <a:picLocks noChangeAspect="1"/>
          </p:cNvPicPr>
          <p:nvPr/>
        </p:nvPicPr>
        <p:blipFill>
          <a:blip r:embed="rId3"/>
          <a:stretch>
            <a:fillRect/>
          </a:stretch>
        </p:blipFill>
        <p:spPr>
          <a:xfrm>
            <a:off x="2979429" y="2840854"/>
            <a:ext cx="6677025" cy="754602"/>
          </a:xfrm>
          <a:prstGeom prst="rect">
            <a:avLst/>
          </a:prstGeom>
        </p:spPr>
      </p:pic>
      <p:pic>
        <p:nvPicPr>
          <p:cNvPr id="5" name="Picture 4"/>
          <p:cNvPicPr>
            <a:picLocks noChangeAspect="1"/>
          </p:cNvPicPr>
          <p:nvPr/>
        </p:nvPicPr>
        <p:blipFill>
          <a:blip r:embed="rId4"/>
          <a:stretch>
            <a:fillRect/>
          </a:stretch>
        </p:blipFill>
        <p:spPr>
          <a:xfrm>
            <a:off x="1645928" y="4076282"/>
            <a:ext cx="9344025" cy="788679"/>
          </a:xfrm>
          <a:prstGeom prst="rect">
            <a:avLst/>
          </a:prstGeom>
        </p:spPr>
      </p:pic>
    </p:spTree>
    <p:extLst>
      <p:ext uri="{BB962C8B-B14F-4D97-AF65-F5344CB8AC3E}">
        <p14:creationId xmlns:p14="http://schemas.microsoft.com/office/powerpoint/2010/main" val="4106062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Cardinality</a:t>
            </a:r>
            <a:r>
              <a:rPr lang="en-US" b="1" dirty="0" smtClean="0"/>
              <a:t>?</a:t>
            </a:r>
            <a:endParaRPr lang="en-US" dirty="0"/>
          </a:p>
        </p:txBody>
      </p:sp>
      <p:sp>
        <p:nvSpPr>
          <p:cNvPr id="3" name="Content Placeholder 2"/>
          <p:cNvSpPr>
            <a:spLocks noGrp="1"/>
          </p:cNvSpPr>
          <p:nvPr>
            <p:ph idx="1"/>
          </p:nvPr>
        </p:nvSpPr>
        <p:spPr/>
        <p:txBody>
          <a:bodyPr/>
          <a:lstStyle/>
          <a:p>
            <a:pPr algn="just" fontAlgn="base"/>
            <a:r>
              <a:rPr lang="en-US" dirty="0" smtClean="0"/>
              <a:t>The </a:t>
            </a:r>
            <a:r>
              <a:rPr lang="en-US" dirty="0"/>
              <a:t>number of times an entity of an entity set participates in a relationship set is known as </a:t>
            </a:r>
            <a:r>
              <a:rPr lang="en-US" u="sng" dirty="0"/>
              <a:t>cardinality </a:t>
            </a:r>
            <a:r>
              <a:rPr lang="en-US" dirty="0"/>
              <a:t>. Cardinality can be of different types:</a:t>
            </a:r>
          </a:p>
          <a:p>
            <a:pPr algn="just" fontAlgn="base"/>
            <a:r>
              <a:rPr lang="en-US" b="1" dirty="0"/>
              <a:t>1. One-to-One: </a:t>
            </a:r>
            <a:r>
              <a:rPr lang="en-US" dirty="0"/>
              <a:t>When each entity in each entity set can take part only once in the relationship, the cardinality is one-to-one. </a:t>
            </a:r>
            <a:r>
              <a:rPr lang="en-US" dirty="0" smtClean="0"/>
              <a:t>The </a:t>
            </a:r>
            <a:r>
              <a:rPr lang="en-US" dirty="0"/>
              <a:t>total number of tables that can be used in this is 2.</a:t>
            </a:r>
          </a:p>
          <a:p>
            <a:endParaRPr lang="en-US" dirty="0"/>
          </a:p>
        </p:txBody>
      </p:sp>
      <p:pic>
        <p:nvPicPr>
          <p:cNvPr id="4" name="Picture 3"/>
          <p:cNvPicPr>
            <a:picLocks noChangeAspect="1"/>
          </p:cNvPicPr>
          <p:nvPr/>
        </p:nvPicPr>
        <p:blipFill>
          <a:blip r:embed="rId2"/>
          <a:stretch>
            <a:fillRect/>
          </a:stretch>
        </p:blipFill>
        <p:spPr>
          <a:xfrm>
            <a:off x="1950359" y="4240319"/>
            <a:ext cx="7439025" cy="1628775"/>
          </a:xfrm>
          <a:prstGeom prst="rect">
            <a:avLst/>
          </a:prstGeom>
        </p:spPr>
      </p:pic>
    </p:spTree>
    <p:extLst>
      <p:ext uri="{BB962C8B-B14F-4D97-AF65-F5344CB8AC3E}">
        <p14:creationId xmlns:p14="http://schemas.microsoft.com/office/powerpoint/2010/main" val="124250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fontAlgn="base"/>
            <a:r>
              <a:rPr lang="en-US" b="1" dirty="0"/>
              <a:t>One-to-Many: </a:t>
            </a:r>
            <a:r>
              <a:rPr lang="en-US" dirty="0"/>
              <a:t>In one-to-many mapping as well where each entity can be related to more than one entity and the total number of tables that can be used in this is 2. Let us assume that one surgeon department can accommodate many doctors. So the Cardinality will be 1 to M. It means one department has many </a:t>
            </a:r>
            <a:r>
              <a:rPr lang="en-US" dirty="0" smtClean="0"/>
              <a:t>Doctors. Total </a:t>
            </a:r>
            <a:r>
              <a:rPr lang="en-US" dirty="0"/>
              <a:t>number of tables that can used is 3</a:t>
            </a:r>
            <a:r>
              <a:rPr lang="en-US" dirty="0" smtClean="0"/>
              <a:t>.</a:t>
            </a:r>
          </a:p>
          <a:p>
            <a:pPr algn="just" fontAlgn="base"/>
            <a:endParaRPr lang="en-US" dirty="0"/>
          </a:p>
          <a:p>
            <a:endParaRPr lang="en-US" dirty="0"/>
          </a:p>
        </p:txBody>
      </p:sp>
      <p:pic>
        <p:nvPicPr>
          <p:cNvPr id="4" name="Picture 3"/>
          <p:cNvPicPr>
            <a:picLocks noChangeAspect="1"/>
          </p:cNvPicPr>
          <p:nvPr/>
        </p:nvPicPr>
        <p:blipFill>
          <a:blip r:embed="rId2"/>
          <a:stretch>
            <a:fillRect/>
          </a:stretch>
        </p:blipFill>
        <p:spPr>
          <a:xfrm>
            <a:off x="2009498" y="3095414"/>
            <a:ext cx="7658100" cy="1524000"/>
          </a:xfrm>
          <a:prstGeom prst="rect">
            <a:avLst/>
          </a:prstGeom>
        </p:spPr>
      </p:pic>
    </p:spTree>
    <p:extLst>
      <p:ext uri="{BB962C8B-B14F-4D97-AF65-F5344CB8AC3E}">
        <p14:creationId xmlns:p14="http://schemas.microsoft.com/office/powerpoint/2010/main" val="1958962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fontAlgn="base"/>
            <a:r>
              <a:rPr lang="en-US" b="1" dirty="0"/>
              <a:t>Many-to-One: </a:t>
            </a:r>
            <a:r>
              <a:rPr lang="en-US" dirty="0"/>
              <a:t>When entities in one entity set can take part only once in the relationship set and entities in other entity sets can take part more than once in the relationship set, cardinality is many to one. Let us assume that a student can take only one course but one course can be taken by many students. So the cardinality will be n to 1. It means that for one course there can be n students but for one student, there will be only one course.</a:t>
            </a:r>
          </a:p>
          <a:p>
            <a:pPr algn="just" fontAlgn="base"/>
            <a:r>
              <a:rPr lang="en-US" dirty="0"/>
              <a:t>The total number of tables that can be used in this is 3.</a:t>
            </a:r>
          </a:p>
          <a:p>
            <a:endParaRPr lang="en-US" dirty="0"/>
          </a:p>
        </p:txBody>
      </p:sp>
      <p:pic>
        <p:nvPicPr>
          <p:cNvPr id="4" name="Picture 3"/>
          <p:cNvPicPr>
            <a:picLocks noChangeAspect="1"/>
          </p:cNvPicPr>
          <p:nvPr/>
        </p:nvPicPr>
        <p:blipFill>
          <a:blip r:embed="rId2"/>
          <a:stretch>
            <a:fillRect/>
          </a:stretch>
        </p:blipFill>
        <p:spPr>
          <a:xfrm>
            <a:off x="2096101" y="3963787"/>
            <a:ext cx="7591425" cy="1504950"/>
          </a:xfrm>
          <a:prstGeom prst="rect">
            <a:avLst/>
          </a:prstGeom>
        </p:spPr>
      </p:pic>
    </p:spTree>
    <p:extLst>
      <p:ext uri="{BB962C8B-B14F-4D97-AF65-F5344CB8AC3E}">
        <p14:creationId xmlns:p14="http://schemas.microsoft.com/office/powerpoint/2010/main" val="1961925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Many-to-Many: </a:t>
            </a:r>
            <a:r>
              <a:rPr lang="en-US" dirty="0"/>
              <a:t>When entities in all entity sets can take part more than once in the relationship cardinality is many to many. Let us assume that a student can take more than one course and one course can be taken by many students. So the relationship will be many to many.</a:t>
            </a:r>
          </a:p>
          <a:p>
            <a:pPr fontAlgn="base"/>
            <a:r>
              <a:rPr lang="en-US" dirty="0"/>
              <a:t>the total number of tables that can be used in this is 3.</a:t>
            </a:r>
          </a:p>
          <a:p>
            <a:endParaRPr lang="en-US" dirty="0"/>
          </a:p>
        </p:txBody>
      </p:sp>
      <p:pic>
        <p:nvPicPr>
          <p:cNvPr id="4" name="Picture 3"/>
          <p:cNvPicPr>
            <a:picLocks noChangeAspect="1"/>
          </p:cNvPicPr>
          <p:nvPr/>
        </p:nvPicPr>
        <p:blipFill>
          <a:blip r:embed="rId2"/>
          <a:stretch>
            <a:fillRect/>
          </a:stretch>
        </p:blipFill>
        <p:spPr>
          <a:xfrm>
            <a:off x="2115151" y="3438478"/>
            <a:ext cx="7553325" cy="1419225"/>
          </a:xfrm>
          <a:prstGeom prst="rect">
            <a:avLst/>
          </a:prstGeom>
        </p:spPr>
      </p:pic>
    </p:spTree>
    <p:extLst>
      <p:ext uri="{BB962C8B-B14F-4D97-AF65-F5344CB8AC3E}">
        <p14:creationId xmlns:p14="http://schemas.microsoft.com/office/powerpoint/2010/main" val="2917680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Modelling</a:t>
            </a:r>
            <a:endParaRPr lang="en-US" dirty="0"/>
          </a:p>
        </p:txBody>
      </p:sp>
      <p:sp>
        <p:nvSpPr>
          <p:cNvPr id="3" name="Content Placeholder 2"/>
          <p:cNvSpPr>
            <a:spLocks noGrp="1"/>
          </p:cNvSpPr>
          <p:nvPr>
            <p:ph idx="1"/>
          </p:nvPr>
        </p:nvSpPr>
        <p:spPr/>
        <p:txBody>
          <a:bodyPr>
            <a:normAutofit fontScale="92500"/>
          </a:bodyPr>
          <a:lstStyle/>
          <a:p>
            <a:pPr algn="just"/>
            <a:r>
              <a:rPr lang="en-US" dirty="0" smtClean="0"/>
              <a:t>Information is transformed as it flows through a computer-based system.</a:t>
            </a:r>
          </a:p>
          <a:p>
            <a:pPr algn="just"/>
            <a:r>
              <a:rPr lang="en-US" dirty="0" smtClean="0"/>
              <a:t>As information moves through software, it is modified by a series of transformations. </a:t>
            </a:r>
          </a:p>
          <a:p>
            <a:pPr algn="just"/>
            <a:r>
              <a:rPr lang="en-US" dirty="0" smtClean="0"/>
              <a:t>A data flow diagram is a graphical representation that depicts information flow and the transforms that are applied as data move from input to output. </a:t>
            </a:r>
          </a:p>
          <a:p>
            <a:pPr algn="just"/>
            <a:r>
              <a:rPr lang="en-US" dirty="0" smtClean="0"/>
              <a:t>The data flow diagram may be used to represent a system or software at any level of abstraction. </a:t>
            </a:r>
          </a:p>
          <a:p>
            <a:pPr algn="just"/>
            <a:r>
              <a:rPr lang="en-US" dirty="0" smtClean="0"/>
              <a:t>In fact, DFDs may be partitioned into levels that represent increasing information flow and functional detail. </a:t>
            </a:r>
          </a:p>
          <a:p>
            <a:pPr algn="just"/>
            <a:endParaRPr lang="en-US" dirty="0"/>
          </a:p>
        </p:txBody>
      </p:sp>
    </p:spTree>
    <p:extLst>
      <p:ext uri="{BB962C8B-B14F-4D97-AF65-F5344CB8AC3E}">
        <p14:creationId xmlns:p14="http://schemas.microsoft.com/office/powerpoint/2010/main" val="4071226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DFD (Functional Modelling)</a:t>
            </a:r>
            <a:endParaRPr lang="en-US"/>
          </a:p>
        </p:txBody>
      </p:sp>
      <p:sp>
        <p:nvSpPr>
          <p:cNvPr id="3" name="Content Placeholder 2"/>
          <p:cNvSpPr>
            <a:spLocks noGrp="1"/>
          </p:cNvSpPr>
          <p:nvPr>
            <p:ph idx="1"/>
          </p:nvPr>
        </p:nvSpPr>
        <p:spPr>
          <a:xfrm>
            <a:off x="838200" y="1825624"/>
            <a:ext cx="10515600" cy="4782565"/>
          </a:xfrm>
        </p:spPr>
        <p:txBody>
          <a:bodyPr>
            <a:noAutofit/>
          </a:bodyPr>
          <a:lstStyle/>
          <a:p>
            <a:pPr algn="just" fontAlgn="base"/>
            <a:r>
              <a:rPr lang="en-US" sz="2500" b="1" dirty="0"/>
              <a:t>DFD</a:t>
            </a:r>
            <a:r>
              <a:rPr lang="en-US" sz="2500" dirty="0"/>
              <a:t> is the abbreviation for </a:t>
            </a:r>
            <a:r>
              <a:rPr lang="en-US" sz="2500" b="1" dirty="0"/>
              <a:t>Data Flow Diagram</a:t>
            </a:r>
            <a:r>
              <a:rPr lang="en-US" sz="2500" dirty="0"/>
              <a:t>. </a:t>
            </a:r>
            <a:endParaRPr lang="en-US" sz="2500" dirty="0" smtClean="0"/>
          </a:p>
          <a:p>
            <a:pPr algn="just" fontAlgn="base"/>
            <a:r>
              <a:rPr lang="en-US" sz="2500" dirty="0" smtClean="0"/>
              <a:t>The </a:t>
            </a:r>
            <a:r>
              <a:rPr lang="en-US" sz="2500" dirty="0"/>
              <a:t>flow of data in a system or process is represented by a Data Flow Diagram (DFD). </a:t>
            </a:r>
            <a:endParaRPr lang="en-US" sz="2500" dirty="0" smtClean="0"/>
          </a:p>
          <a:p>
            <a:pPr algn="just" fontAlgn="base"/>
            <a:r>
              <a:rPr lang="en-US" sz="2500" dirty="0" smtClean="0"/>
              <a:t>It </a:t>
            </a:r>
            <a:r>
              <a:rPr lang="en-US" sz="2500" dirty="0"/>
              <a:t>also gives insight into the inputs and outputs of each entity and the process itself. </a:t>
            </a:r>
            <a:endParaRPr lang="en-US" sz="2500" dirty="0" smtClean="0"/>
          </a:p>
          <a:p>
            <a:pPr algn="just" fontAlgn="base"/>
            <a:r>
              <a:rPr lang="en-US" sz="2500" dirty="0" smtClean="0"/>
              <a:t>Data </a:t>
            </a:r>
            <a:r>
              <a:rPr lang="en-US" sz="2500" dirty="0"/>
              <a:t>Flow Diagram (DFD) does not have a control flow and no loops or decision rules are present. </a:t>
            </a:r>
            <a:endParaRPr lang="en-US" sz="2500" dirty="0" smtClean="0"/>
          </a:p>
          <a:p>
            <a:pPr algn="just" fontAlgn="base"/>
            <a:r>
              <a:rPr lang="en-US" sz="2500" dirty="0" smtClean="0"/>
              <a:t>Specific </a:t>
            </a:r>
            <a:r>
              <a:rPr lang="en-US" sz="2500" dirty="0"/>
              <a:t>operations, depending on the type of data, can be explained by a flowchart. </a:t>
            </a:r>
            <a:endParaRPr lang="en-US" sz="2500" dirty="0" smtClean="0"/>
          </a:p>
          <a:p>
            <a:pPr algn="just" fontAlgn="base"/>
            <a:r>
              <a:rPr lang="en-US" sz="2500" dirty="0" smtClean="0"/>
              <a:t>It </a:t>
            </a:r>
            <a:r>
              <a:rPr lang="en-US" sz="2500" dirty="0"/>
              <a:t>is a graphical tool, useful for communicating with users, managers and other personnel. </a:t>
            </a:r>
            <a:endParaRPr lang="en-US" sz="2500" dirty="0" smtClean="0"/>
          </a:p>
          <a:p>
            <a:pPr algn="just" fontAlgn="base"/>
            <a:r>
              <a:rPr lang="en-US" sz="2500" dirty="0"/>
              <a:t>I</a:t>
            </a:r>
            <a:r>
              <a:rPr lang="en-US" sz="2500" dirty="0" smtClean="0"/>
              <a:t>t </a:t>
            </a:r>
            <a:r>
              <a:rPr lang="en-US" sz="2500" dirty="0"/>
              <a:t>is useful for analyzing existing as well as proposed systems</a:t>
            </a:r>
            <a:r>
              <a:rPr lang="en-US" sz="2500" dirty="0" smtClean="0"/>
              <a:t>.</a:t>
            </a:r>
            <a:br>
              <a:rPr lang="en-US" sz="2500" dirty="0" smtClean="0"/>
            </a:br>
            <a:endParaRPr lang="en-US" sz="2500" dirty="0"/>
          </a:p>
        </p:txBody>
      </p:sp>
    </p:spTree>
    <p:extLst>
      <p:ext uri="{BB962C8B-B14F-4D97-AF65-F5344CB8AC3E}">
        <p14:creationId xmlns:p14="http://schemas.microsoft.com/office/powerpoint/2010/main" val="1827546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fontAlgn="base">
              <a:buNone/>
            </a:pPr>
            <a:r>
              <a:rPr lang="en-US" dirty="0" smtClean="0"/>
              <a:t>Data flow diagram </a:t>
            </a:r>
            <a:r>
              <a:rPr lang="en-US" dirty="0"/>
              <a:t>provides an overview of </a:t>
            </a:r>
          </a:p>
          <a:p>
            <a:pPr fontAlgn="base"/>
            <a:r>
              <a:rPr lang="en-US" dirty="0"/>
              <a:t>What data is system processes.</a:t>
            </a:r>
          </a:p>
          <a:p>
            <a:pPr fontAlgn="base"/>
            <a:r>
              <a:rPr lang="en-US" dirty="0"/>
              <a:t>What transformation are performed.</a:t>
            </a:r>
          </a:p>
          <a:p>
            <a:pPr fontAlgn="base"/>
            <a:r>
              <a:rPr lang="en-US" dirty="0"/>
              <a:t>What data are stored.</a:t>
            </a:r>
          </a:p>
          <a:p>
            <a:pPr fontAlgn="base"/>
            <a:r>
              <a:rPr lang="en-US" dirty="0"/>
              <a:t>What results are produced , etc.</a:t>
            </a:r>
          </a:p>
          <a:p>
            <a:endParaRPr lang="en-US" dirty="0"/>
          </a:p>
        </p:txBody>
      </p:sp>
    </p:spTree>
    <p:extLst>
      <p:ext uri="{BB962C8B-B14F-4D97-AF65-F5344CB8AC3E}">
        <p14:creationId xmlns:p14="http://schemas.microsoft.com/office/powerpoint/2010/main" val="2273635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Elements </a:t>
            </a:r>
            <a:r>
              <a:rPr lang="en-IN" dirty="0"/>
              <a:t>of a DFD</a:t>
            </a:r>
            <a:endParaRPr lang="en-US" dirty="0"/>
          </a:p>
        </p:txBody>
      </p:sp>
      <p:sp>
        <p:nvSpPr>
          <p:cNvPr id="3" name="Content Placeholder 2"/>
          <p:cNvSpPr>
            <a:spLocks noGrp="1"/>
          </p:cNvSpPr>
          <p:nvPr>
            <p:ph idx="1"/>
          </p:nvPr>
        </p:nvSpPr>
        <p:spPr/>
        <p:txBody>
          <a:bodyPr>
            <a:normAutofit fontScale="92500" lnSpcReduction="10000"/>
          </a:bodyPr>
          <a:lstStyle/>
          <a:p>
            <a:pPr lvl="0" algn="just" fontAlgn="base"/>
            <a:r>
              <a:rPr lang="en-IN" b="1" dirty="0" smtClean="0"/>
              <a:t>Processes</a:t>
            </a:r>
            <a:r>
              <a:rPr lang="en-IN" dirty="0"/>
              <a:t>: These are the core activities within the system, ranging from simple tasks like data collection to complex processes such as generating comprehensive reports.</a:t>
            </a:r>
            <a:endParaRPr lang="en-US" dirty="0"/>
          </a:p>
          <a:p>
            <a:pPr lvl="0" algn="just" fontAlgn="base"/>
            <a:r>
              <a:rPr lang="en-IN" b="1" dirty="0"/>
              <a:t>External Entities</a:t>
            </a:r>
            <a:r>
              <a:rPr lang="en-IN" dirty="0"/>
              <a:t>: These are the sources or destinations of information that interact with the system, including individuals, organizations, computers, or other systems.</a:t>
            </a:r>
            <a:endParaRPr lang="en-US" dirty="0"/>
          </a:p>
          <a:p>
            <a:pPr lvl="0" algn="just" fontAlgn="base"/>
            <a:r>
              <a:rPr lang="en-IN" b="1" dirty="0"/>
              <a:t>Data Stores</a:t>
            </a:r>
            <a:r>
              <a:rPr lang="en-IN" dirty="0"/>
              <a:t>: Repositories where data is held, representing information that is static and not in motion.</a:t>
            </a:r>
            <a:endParaRPr lang="en-US" dirty="0"/>
          </a:p>
          <a:p>
            <a:pPr lvl="0" algn="just" fontAlgn="base"/>
            <a:r>
              <a:rPr lang="en-IN" b="1" dirty="0"/>
              <a:t>Data Flows</a:t>
            </a:r>
            <a:r>
              <a:rPr lang="en-IN" dirty="0"/>
              <a:t>: These illustrate the movement of data between external entities, data stores, and processes, mapping the paths data take within the system.</a:t>
            </a:r>
            <a:endParaRPr lang="en-US" dirty="0"/>
          </a:p>
          <a:p>
            <a:pPr algn="just"/>
            <a:endParaRPr lang="en-US" dirty="0"/>
          </a:p>
        </p:txBody>
      </p:sp>
    </p:spTree>
    <p:extLst>
      <p:ext uri="{BB962C8B-B14F-4D97-AF65-F5344CB8AC3E}">
        <p14:creationId xmlns:p14="http://schemas.microsoft.com/office/powerpoint/2010/main" val="3445553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Rules and Guidelines for Creating DFD</a:t>
            </a:r>
            <a:r>
              <a:rPr lang="en-IN" b="1" dirty="0" smtClean="0"/>
              <a:t>:</a:t>
            </a:r>
            <a:endParaRPr lang="en-US" dirty="0"/>
          </a:p>
        </p:txBody>
      </p:sp>
      <p:sp>
        <p:nvSpPr>
          <p:cNvPr id="3" name="Content Placeholder 2"/>
          <p:cNvSpPr>
            <a:spLocks noGrp="1"/>
          </p:cNvSpPr>
          <p:nvPr>
            <p:ph idx="1"/>
          </p:nvPr>
        </p:nvSpPr>
        <p:spPr/>
        <p:txBody>
          <a:bodyPr>
            <a:normAutofit fontScale="92500"/>
          </a:bodyPr>
          <a:lstStyle/>
          <a:p>
            <a:pPr marL="0" indent="0" algn="just" fontAlgn="base">
              <a:buNone/>
            </a:pPr>
            <a:r>
              <a:rPr lang="en-IN" dirty="0" smtClean="0"/>
              <a:t>Creating </a:t>
            </a:r>
            <a:r>
              <a:rPr lang="en-IN" dirty="0"/>
              <a:t>a coherent and intelligible DFD requires adherence to certain rules:</a:t>
            </a:r>
            <a:endParaRPr lang="en-US" dirty="0"/>
          </a:p>
          <a:p>
            <a:pPr lvl="0" algn="just" fontAlgn="base"/>
            <a:r>
              <a:rPr lang="en-IN" b="1" dirty="0"/>
              <a:t>Process Flows:</a:t>
            </a:r>
            <a:r>
              <a:rPr lang="en-IN" dirty="0"/>
              <a:t> Each process must have at least one outgoing and one ingoing data flow.</a:t>
            </a:r>
            <a:endParaRPr lang="en-US" dirty="0"/>
          </a:p>
          <a:p>
            <a:pPr lvl="0" algn="just" fontAlgn="base"/>
            <a:r>
              <a:rPr lang="en-IN" b="1" dirty="0"/>
              <a:t>Data Store Connectivity:</a:t>
            </a:r>
            <a:r>
              <a:rPr lang="en-IN" dirty="0"/>
              <a:t> Data stores should have at least one incoming and outgoing data flow.</a:t>
            </a:r>
            <a:endParaRPr lang="en-US" dirty="0"/>
          </a:p>
          <a:p>
            <a:pPr lvl="0" algn="just" fontAlgn="base"/>
            <a:r>
              <a:rPr lang="en-IN" b="1" dirty="0"/>
              <a:t>Entity-Process Link:</a:t>
            </a:r>
            <a:r>
              <a:rPr lang="en-IN" dirty="0"/>
              <a:t> Entities must be connected to a process by a data flow.</a:t>
            </a:r>
            <a:endParaRPr lang="en-US" dirty="0"/>
          </a:p>
          <a:p>
            <a:pPr lvl="0" algn="just" fontAlgn="base"/>
            <a:r>
              <a:rPr lang="en-IN" b="1" dirty="0"/>
              <a:t>Avoiding Crossings:</a:t>
            </a:r>
            <a:r>
              <a:rPr lang="en-IN" dirty="0"/>
              <a:t> Data flows cannot cross with each other.</a:t>
            </a:r>
            <a:endParaRPr lang="en-US" dirty="0"/>
          </a:p>
          <a:p>
            <a:pPr lvl="0" algn="just" fontAlgn="base"/>
            <a:r>
              <a:rPr lang="en-IN" b="1" dirty="0"/>
              <a:t>External Entity Access:</a:t>
            </a:r>
            <a:r>
              <a:rPr lang="en-IN" dirty="0"/>
              <a:t> Data stores cannot directly connect to external entities.</a:t>
            </a:r>
            <a:endParaRPr lang="en-US" dirty="0"/>
          </a:p>
          <a:p>
            <a:pPr algn="just"/>
            <a:endParaRPr lang="en-US" dirty="0"/>
          </a:p>
        </p:txBody>
      </p:sp>
    </p:spTree>
    <p:extLst>
      <p:ext uri="{BB962C8B-B14F-4D97-AF65-F5344CB8AC3E}">
        <p14:creationId xmlns:p14="http://schemas.microsoft.com/office/powerpoint/2010/main" val="3807981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170587" y="1825625"/>
            <a:ext cx="7850826" cy="4351338"/>
          </a:xfrm>
          <a:prstGeom prst="rect">
            <a:avLst/>
          </a:prstGeom>
        </p:spPr>
      </p:pic>
    </p:spTree>
    <p:extLst>
      <p:ext uri="{BB962C8B-B14F-4D97-AF65-F5344CB8AC3E}">
        <p14:creationId xmlns:p14="http://schemas.microsoft.com/office/powerpoint/2010/main" val="3071191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Data flow diagrams are also categorized by level. </a:t>
            </a:r>
            <a:endParaRPr lang="en-US" dirty="0" smtClean="0"/>
          </a:p>
          <a:p>
            <a:r>
              <a:rPr lang="en-US" dirty="0" smtClean="0"/>
              <a:t>Starting </a:t>
            </a:r>
            <a:r>
              <a:rPr lang="en-US" dirty="0"/>
              <a:t>with the most basic, level 0, </a:t>
            </a:r>
            <a:endParaRPr lang="en-US" dirty="0" smtClean="0"/>
          </a:p>
          <a:p>
            <a:r>
              <a:rPr lang="en-US" dirty="0" smtClean="0"/>
              <a:t>DFDs </a:t>
            </a:r>
            <a:r>
              <a:rPr lang="en-US" dirty="0"/>
              <a:t>get increasingly complex as the level increases. </a:t>
            </a:r>
            <a:endParaRPr lang="en-US" dirty="0" smtClean="0"/>
          </a:p>
          <a:p>
            <a:r>
              <a:rPr lang="en-US" dirty="0" smtClean="0"/>
              <a:t>As </a:t>
            </a:r>
            <a:r>
              <a:rPr lang="en-US" dirty="0"/>
              <a:t>you build your own data flow diagram, you will need to decide which level your diagram will be. </a:t>
            </a:r>
          </a:p>
          <a:p>
            <a:endParaRPr lang="en-US" dirty="0"/>
          </a:p>
        </p:txBody>
      </p:sp>
    </p:spTree>
    <p:extLst>
      <p:ext uri="{BB962C8B-B14F-4D97-AF65-F5344CB8AC3E}">
        <p14:creationId xmlns:p14="http://schemas.microsoft.com/office/powerpoint/2010/main" val="1721096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 0 DFD</a:t>
            </a:r>
            <a:endParaRPr lang="en-US" dirty="0"/>
          </a:p>
        </p:txBody>
      </p:sp>
      <p:sp>
        <p:nvSpPr>
          <p:cNvPr id="3" name="Content Placeholder 2"/>
          <p:cNvSpPr>
            <a:spLocks noGrp="1"/>
          </p:cNvSpPr>
          <p:nvPr>
            <p:ph idx="1"/>
          </p:nvPr>
        </p:nvSpPr>
        <p:spPr/>
        <p:txBody>
          <a:bodyPr/>
          <a:lstStyle/>
          <a:p>
            <a:pPr algn="just"/>
            <a:r>
              <a:rPr lang="en-US" dirty="0"/>
              <a:t>Level 0 DFDs, also known as context diagrams, are the most basic data flow diagrams. </a:t>
            </a:r>
            <a:endParaRPr lang="en-US" dirty="0" smtClean="0"/>
          </a:p>
          <a:p>
            <a:pPr algn="just"/>
            <a:r>
              <a:rPr lang="en-US" dirty="0" smtClean="0"/>
              <a:t>They </a:t>
            </a:r>
            <a:r>
              <a:rPr lang="en-US" dirty="0"/>
              <a:t>provide a broad view that is easily digestible but offers little detail. </a:t>
            </a:r>
            <a:endParaRPr lang="en-US" dirty="0" smtClean="0"/>
          </a:p>
          <a:p>
            <a:pPr algn="just"/>
            <a:r>
              <a:rPr lang="en-US" dirty="0" smtClean="0"/>
              <a:t>Level </a:t>
            </a:r>
            <a:r>
              <a:rPr lang="en-US" dirty="0"/>
              <a:t>0 data flow diagrams show a single process node and its connections to external entities. </a:t>
            </a:r>
          </a:p>
          <a:p>
            <a:pPr algn="just"/>
            <a:endParaRPr lang="en-US" dirty="0"/>
          </a:p>
        </p:txBody>
      </p:sp>
    </p:spTree>
    <p:extLst>
      <p:ext uri="{BB962C8B-B14F-4D97-AF65-F5344CB8AC3E}">
        <p14:creationId xmlns:p14="http://schemas.microsoft.com/office/powerpoint/2010/main" val="342261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611984" y="365126"/>
            <a:ext cx="8559538" cy="5443112"/>
          </a:xfrm>
          <a:prstGeom prst="rect">
            <a:avLst/>
          </a:prstGeom>
        </p:spPr>
      </p:pic>
    </p:spTree>
    <p:extLst>
      <p:ext uri="{BB962C8B-B14F-4D97-AF65-F5344CB8AC3E}">
        <p14:creationId xmlns:p14="http://schemas.microsoft.com/office/powerpoint/2010/main" val="1692953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 1 DFD</a:t>
            </a:r>
            <a:endParaRPr lang="en-US" dirty="0"/>
          </a:p>
        </p:txBody>
      </p:sp>
      <p:sp>
        <p:nvSpPr>
          <p:cNvPr id="3" name="Content Placeholder 2"/>
          <p:cNvSpPr>
            <a:spLocks noGrp="1"/>
          </p:cNvSpPr>
          <p:nvPr>
            <p:ph idx="1"/>
          </p:nvPr>
        </p:nvSpPr>
        <p:spPr/>
        <p:txBody>
          <a:bodyPr/>
          <a:lstStyle/>
          <a:p>
            <a:r>
              <a:rPr lang="en-US" dirty="0"/>
              <a:t>Level 1 DFDs are still a general overview, but they go into more detail than a context diagram. </a:t>
            </a:r>
            <a:endParaRPr lang="en-US" dirty="0" smtClean="0"/>
          </a:p>
          <a:p>
            <a:r>
              <a:rPr lang="en-US" dirty="0" smtClean="0"/>
              <a:t>In </a:t>
            </a:r>
            <a:r>
              <a:rPr lang="en-US" dirty="0"/>
              <a:t>level 1 DFD, the single process node from the context diagram is broken down into sub-processes. </a:t>
            </a:r>
            <a:endParaRPr lang="en-US" dirty="0" smtClean="0"/>
          </a:p>
          <a:p>
            <a:r>
              <a:rPr lang="en-US" dirty="0" smtClean="0"/>
              <a:t>As </a:t>
            </a:r>
            <a:r>
              <a:rPr lang="en-US" dirty="0"/>
              <a:t>these processes are added, the diagram will need additional data flows and data stores to link them together. </a:t>
            </a:r>
          </a:p>
          <a:p>
            <a:endParaRPr lang="en-US" dirty="0"/>
          </a:p>
        </p:txBody>
      </p:sp>
    </p:spTree>
    <p:extLst>
      <p:ext uri="{BB962C8B-B14F-4D97-AF65-F5344CB8AC3E}">
        <p14:creationId xmlns:p14="http://schemas.microsoft.com/office/powerpoint/2010/main" val="136133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DFD Level 1</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4100168" y="166507"/>
            <a:ext cx="7758751" cy="6498244"/>
          </a:xfrm>
          <a:prstGeom prst="rect">
            <a:avLst/>
          </a:prstGeom>
        </p:spPr>
      </p:pic>
    </p:spTree>
    <p:extLst>
      <p:ext uri="{BB962C8B-B14F-4D97-AF65-F5344CB8AC3E}">
        <p14:creationId xmlns:p14="http://schemas.microsoft.com/office/powerpoint/2010/main" val="620380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DFD Level 2</a:t>
            </a:r>
            <a:endParaRPr lang="en-US" dirty="0"/>
          </a:p>
        </p:txBody>
      </p:sp>
      <p:sp>
        <p:nvSpPr>
          <p:cNvPr id="3" name="Content Placeholder 2"/>
          <p:cNvSpPr>
            <a:spLocks noGrp="1"/>
          </p:cNvSpPr>
          <p:nvPr>
            <p:ph idx="1"/>
          </p:nvPr>
        </p:nvSpPr>
        <p:spPr/>
        <p:txBody>
          <a:bodyPr>
            <a:normAutofit lnSpcReduction="10000"/>
          </a:bodyPr>
          <a:lstStyle/>
          <a:p>
            <a:pPr algn="just" fontAlgn="base"/>
            <a:r>
              <a:rPr lang="en-US" dirty="0"/>
              <a:t>2-Level provides an even more detailed view of the system by breaking down the sub-processes identified in the level 1 Data Flow Diagram (DFD) into further sub-processes. </a:t>
            </a:r>
            <a:endParaRPr lang="en-US" dirty="0" smtClean="0"/>
          </a:p>
          <a:p>
            <a:pPr algn="just" fontAlgn="base"/>
            <a:r>
              <a:rPr lang="en-US" dirty="0" smtClean="0"/>
              <a:t>Each </a:t>
            </a:r>
            <a:r>
              <a:rPr lang="en-US" dirty="0"/>
              <a:t>sub-process is depicted as a separate process on the level 2 DFD. </a:t>
            </a:r>
            <a:endParaRPr lang="en-US" dirty="0" smtClean="0"/>
          </a:p>
          <a:p>
            <a:pPr algn="just" fontAlgn="base"/>
            <a:r>
              <a:rPr lang="en-US" dirty="0" smtClean="0"/>
              <a:t>The </a:t>
            </a:r>
            <a:r>
              <a:rPr lang="en-US" dirty="0"/>
              <a:t>data flows and data stores associated with each sub-process are also shown.</a:t>
            </a:r>
          </a:p>
          <a:p>
            <a:pPr algn="just" fontAlgn="base"/>
            <a:r>
              <a:rPr lang="en-US" dirty="0"/>
              <a:t>2-Level Data Flow Diagram (DFD) goes one step deeper into parts of 1-level DFD. </a:t>
            </a:r>
            <a:endParaRPr lang="en-US" dirty="0" smtClean="0"/>
          </a:p>
          <a:p>
            <a:pPr algn="just" fontAlgn="base"/>
            <a:r>
              <a:rPr lang="en-US" dirty="0" smtClean="0"/>
              <a:t>It </a:t>
            </a:r>
            <a:r>
              <a:rPr lang="en-US" dirty="0"/>
              <a:t>can be used to plan or record the specific/necessary detail about the system’s functioning.</a:t>
            </a:r>
          </a:p>
          <a:p>
            <a:pPr algn="just"/>
            <a:endParaRPr lang="en-US" dirty="0"/>
          </a:p>
        </p:txBody>
      </p:sp>
    </p:spTree>
    <p:extLst>
      <p:ext uri="{BB962C8B-B14F-4D97-AF65-F5344CB8AC3E}">
        <p14:creationId xmlns:p14="http://schemas.microsoft.com/office/powerpoint/2010/main" val="1760232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DFD Level 2</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03315" y="1766887"/>
            <a:ext cx="10963374" cy="4549072"/>
          </a:xfrm>
          <a:prstGeom prst="rect">
            <a:avLst/>
          </a:prstGeom>
        </p:spPr>
      </p:pic>
    </p:spTree>
    <p:extLst>
      <p:ext uri="{BB962C8B-B14F-4D97-AF65-F5344CB8AC3E}">
        <p14:creationId xmlns:p14="http://schemas.microsoft.com/office/powerpoint/2010/main" val="3326294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Transition Diagram (Behavioral Modelling)</a:t>
            </a:r>
            <a:endParaRPr lang="en-US" dirty="0"/>
          </a:p>
        </p:txBody>
      </p:sp>
      <p:sp>
        <p:nvSpPr>
          <p:cNvPr id="3" name="Content Placeholder 2"/>
          <p:cNvSpPr>
            <a:spLocks noGrp="1"/>
          </p:cNvSpPr>
          <p:nvPr>
            <p:ph idx="1"/>
          </p:nvPr>
        </p:nvSpPr>
        <p:spPr/>
        <p:txBody>
          <a:bodyPr/>
          <a:lstStyle/>
          <a:p>
            <a:pPr algn="just"/>
            <a:r>
              <a:rPr lang="en-US" b="1" dirty="0"/>
              <a:t>State Transition Diagram</a:t>
            </a:r>
            <a:r>
              <a:rPr lang="en-US" dirty="0"/>
              <a:t> are also known as Dynamic </a:t>
            </a:r>
            <a:r>
              <a:rPr lang="en-US" dirty="0" smtClean="0"/>
              <a:t>models.</a:t>
            </a:r>
          </a:p>
          <a:p>
            <a:pPr algn="just"/>
            <a:r>
              <a:rPr lang="en-US" dirty="0" smtClean="0"/>
              <a:t>It </a:t>
            </a:r>
            <a:r>
              <a:rPr lang="en-US" dirty="0"/>
              <a:t>is a type of diagram that is used to represent different transition (changing) states of a System. </a:t>
            </a:r>
            <a:endParaRPr lang="en-US" dirty="0" smtClean="0"/>
          </a:p>
          <a:p>
            <a:pPr algn="just"/>
            <a:r>
              <a:rPr lang="en-US" dirty="0" smtClean="0"/>
              <a:t>It </a:t>
            </a:r>
            <a:r>
              <a:rPr lang="en-US" dirty="0"/>
              <a:t>is generally used to graphically represent all possible transition states a system can have and model such systems. </a:t>
            </a:r>
            <a:endParaRPr lang="en-US" dirty="0" smtClean="0"/>
          </a:p>
          <a:p>
            <a:pPr algn="just"/>
            <a:r>
              <a:rPr lang="en-US" dirty="0" smtClean="0"/>
              <a:t>It </a:t>
            </a:r>
            <a:r>
              <a:rPr lang="en-US" dirty="0"/>
              <a:t>is very essential and important and right for object-oriented modeling from the beginning. </a:t>
            </a:r>
            <a:endParaRPr lang="en-US" dirty="0" smtClean="0"/>
          </a:p>
          <a:p>
            <a:pPr algn="just"/>
            <a:r>
              <a:rPr lang="en-US" dirty="0" smtClean="0"/>
              <a:t>The </a:t>
            </a:r>
            <a:r>
              <a:rPr lang="en-US" dirty="0"/>
              <a:t>System consists of various states that are being represented using various symbols in the state transition diagram. </a:t>
            </a:r>
            <a:endParaRPr lang="en-US" dirty="0" smtClean="0"/>
          </a:p>
          <a:p>
            <a:pPr algn="just"/>
            <a:endParaRPr lang="en-US" dirty="0"/>
          </a:p>
        </p:txBody>
      </p:sp>
    </p:spTree>
    <p:extLst>
      <p:ext uri="{BB962C8B-B14F-4D97-AF65-F5344CB8AC3E}">
        <p14:creationId xmlns:p14="http://schemas.microsoft.com/office/powerpoint/2010/main" val="605807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66540" y="735292"/>
            <a:ext cx="11858919" cy="5563246"/>
          </a:xfrm>
          <a:prstGeom prst="rect">
            <a:avLst/>
          </a:prstGeom>
        </p:spPr>
      </p:pic>
    </p:spTree>
    <p:extLst>
      <p:ext uri="{BB962C8B-B14F-4D97-AF65-F5344CB8AC3E}">
        <p14:creationId xmlns:p14="http://schemas.microsoft.com/office/powerpoint/2010/main" val="3777799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Symbols Used</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825625"/>
            <a:ext cx="6238875" cy="4457700"/>
          </a:xfrm>
          <a:prstGeom prst="rect">
            <a:avLst/>
          </a:prstGeom>
        </p:spPr>
      </p:pic>
    </p:spTree>
    <p:extLst>
      <p:ext uri="{BB962C8B-B14F-4D97-AF65-F5344CB8AC3E}">
        <p14:creationId xmlns:p14="http://schemas.microsoft.com/office/powerpoint/2010/main" val="3450592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643062" y="819150"/>
            <a:ext cx="8905875" cy="5219700"/>
          </a:xfrm>
          <a:prstGeom prst="rect">
            <a:avLst/>
          </a:prstGeom>
        </p:spPr>
      </p:pic>
    </p:spTree>
    <p:extLst>
      <p:ext uri="{BB962C8B-B14F-4D97-AF65-F5344CB8AC3E}">
        <p14:creationId xmlns:p14="http://schemas.microsoft.com/office/powerpoint/2010/main" val="2491693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740</Words>
  <Application>Microsoft Office PowerPoint</Application>
  <PresentationFormat>Widescreen</PresentationFormat>
  <Paragraphs>119</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Wingdings</vt:lpstr>
      <vt:lpstr>Office Theme</vt:lpstr>
      <vt:lpstr>Requirement Modelling Techniques</vt:lpstr>
      <vt:lpstr>PowerPoint Presentation</vt:lpstr>
      <vt:lpstr>ER Diagram</vt:lpstr>
      <vt:lpstr>ER Model</vt:lpstr>
      <vt:lpstr>Symbols Used</vt:lpstr>
      <vt:lpstr>Components of ER Diagram </vt:lpstr>
      <vt:lpstr>Entity</vt:lpstr>
      <vt:lpstr>Types of Entity</vt:lpstr>
      <vt:lpstr>PowerPoint Presentation</vt:lpstr>
      <vt:lpstr>Attributes</vt:lpstr>
      <vt:lpstr>Types of Attributes</vt:lpstr>
      <vt:lpstr>PowerPoint Presentation</vt:lpstr>
      <vt:lpstr>Relationship Type and Relationship Set</vt:lpstr>
      <vt:lpstr>Degree of a Relationship Set</vt:lpstr>
      <vt:lpstr>What is Cardinality?</vt:lpstr>
      <vt:lpstr>PowerPoint Presentation</vt:lpstr>
      <vt:lpstr>PowerPoint Presentation</vt:lpstr>
      <vt:lpstr>PowerPoint Presentation</vt:lpstr>
      <vt:lpstr>Functional Modelling</vt:lpstr>
      <vt:lpstr>DFD (Functional Modelling)</vt:lpstr>
      <vt:lpstr>PowerPoint Presentation</vt:lpstr>
      <vt:lpstr>Key Elements of a DFD</vt:lpstr>
      <vt:lpstr>Rules and Guidelines for Creating DFD:</vt:lpstr>
      <vt:lpstr>PowerPoint Presentation</vt:lpstr>
      <vt:lpstr>PowerPoint Presentation</vt:lpstr>
      <vt:lpstr>Level 0 DFD</vt:lpstr>
      <vt:lpstr>PowerPoint Presentation</vt:lpstr>
      <vt:lpstr>Level 1 DFD</vt:lpstr>
      <vt:lpstr>DFD Level 1</vt:lpstr>
      <vt:lpstr>DFD Level 2</vt:lpstr>
      <vt:lpstr>DFD Level 2</vt:lpstr>
      <vt:lpstr>State Transition Diagram (Behavioral Modelling)</vt:lpstr>
      <vt:lpstr>PowerPoint Presentation</vt:lpstr>
      <vt:lpstr>Symbols Used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Modelling Techniques</dc:title>
  <dc:creator>dell</dc:creator>
  <cp:lastModifiedBy>dell</cp:lastModifiedBy>
  <cp:revision>17</cp:revision>
  <dcterms:created xsi:type="dcterms:W3CDTF">2025-01-20T11:32:24Z</dcterms:created>
  <dcterms:modified xsi:type="dcterms:W3CDTF">2025-01-24T07:52:49Z</dcterms:modified>
</cp:coreProperties>
</file>